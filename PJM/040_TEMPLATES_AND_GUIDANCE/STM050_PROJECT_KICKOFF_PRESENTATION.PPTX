
<file path=[Content_Types].xml><?xml version="1.0" encoding="utf-8"?>
<Types xmlns="http://schemas.openxmlformats.org/package/2006/content-types">
  <Override PartName="/ppt/slideLayouts/slideLayout3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354" r:id="rId2"/>
    <p:sldId id="258" r:id="rId3"/>
    <p:sldId id="398" r:id="rId4"/>
    <p:sldId id="400" r:id="rId5"/>
    <p:sldId id="401" r:id="rId6"/>
    <p:sldId id="402" r:id="rId7"/>
    <p:sldId id="403" r:id="rId8"/>
    <p:sldId id="404" r:id="rId9"/>
    <p:sldId id="405" r:id="rId10"/>
    <p:sldId id="406" r:id="rId11"/>
    <p:sldId id="407" r:id="rId12"/>
    <p:sldId id="408" r:id="rId13"/>
    <p:sldId id="409" r:id="rId14"/>
    <p:sldId id="410" r:id="rId15"/>
    <p:sldId id="411" r:id="rId16"/>
    <p:sldId id="412" r:id="rId17"/>
    <p:sldId id="413" r:id="rId18"/>
    <p:sldId id="414" r:id="rId19"/>
    <p:sldId id="415" r:id="rId20"/>
    <p:sldId id="416" r:id="rId21"/>
    <p:sldId id="397" r:id="rId22"/>
    <p:sldId id="289" r:id="rId23"/>
  </p:sldIdLst>
  <p:sldSz cx="12188825"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F7F7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p:cViewPr varScale="1">
        <p:scale>
          <a:sx n="64" d="100"/>
          <a:sy n="64" d="100"/>
        </p:scale>
        <p:origin x="-1578"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8/15/2014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p14="http://schemas.microsoft.com/office/powerpoint/2010/main" xmlns=""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dirty="0" smtClean="0">
                <a:cs typeface="Times New Roman" charset="0"/>
              </a:rPr>
              <a:t>Introduce each team member.  Use a game if time allows.  If social event held the night before, use results from </a:t>
            </a:r>
            <a:r>
              <a:rPr lang="en-US" dirty="0" smtClean="0">
                <a:latin typeface="Times New Roman" charset="0"/>
                <a:cs typeface="Times New Roman" charset="0"/>
              </a:rPr>
              <a:t>“</a:t>
            </a:r>
            <a:r>
              <a:rPr lang="en-US" dirty="0" smtClean="0">
                <a:cs typeface="Times New Roman" charset="0"/>
              </a:rPr>
              <a:t>Guess Who You Are</a:t>
            </a:r>
            <a:r>
              <a:rPr lang="en-US" dirty="0" smtClean="0">
                <a:latin typeface="Times New Roman" charset="0"/>
                <a:cs typeface="Times New Roman" charset="0"/>
              </a:rPr>
              <a:t>”</a:t>
            </a:r>
            <a:r>
              <a:rPr lang="en-US" dirty="0" smtClean="0">
                <a:cs typeface="Times New Roman" charset="0"/>
              </a:rPr>
              <a:t> game.  If not, before the introductions, pair up team members and have them interview each other to find out three facts </a:t>
            </a:r>
            <a:r>
              <a:rPr lang="en-US" dirty="0" smtClean="0">
                <a:latin typeface="Times New Roman" charset="0"/>
                <a:cs typeface="Times New Roman" charset="0"/>
              </a:rPr>
              <a:t>–</a:t>
            </a:r>
            <a:r>
              <a:rPr lang="en-US" dirty="0" smtClean="0">
                <a:cs typeface="Times New Roman" charset="0"/>
              </a:rPr>
              <a:t> name, home town, favorite thing (movie, music, ice cream, etc.).  Or have the team introduce each other and ask them to tell something you would not know by looking at them.</a:t>
            </a:r>
          </a:p>
        </p:txBody>
      </p:sp>
      <p:sp>
        <p:nvSpPr>
          <p:cNvPr id="4" name="Slide Number Placeholder 3"/>
          <p:cNvSpPr>
            <a:spLocks noGrp="1"/>
          </p:cNvSpPr>
          <p:nvPr>
            <p:ph type="sldNum" sz="quarter" idx="10"/>
          </p:nvPr>
        </p:nvSpPr>
        <p:spPr/>
        <p:txBody>
          <a:bodyPr/>
          <a:lstStyle/>
          <a:p>
            <a:fld id="{8C72D9AE-7182-4680-8F79-479C4181FF08}" type="slidenum">
              <a:rPr lang="en-US" smtClean="0"/>
              <a:pPr/>
              <a:t>5</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Opening remarks should be made by the customer sponsor (if available) or a higher-level manager from the customer.  These remarks should include a history of why the project was chosen, why the project is important, why the team members were selected, etc.</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7</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Enter the project mission statement if one exists.</a:t>
            </a:r>
          </a:p>
        </p:txBody>
      </p:sp>
      <p:sp>
        <p:nvSpPr>
          <p:cNvPr id="4" name="Slide Number Placeholder 3"/>
          <p:cNvSpPr>
            <a:spLocks noGrp="1"/>
          </p:cNvSpPr>
          <p:nvPr>
            <p:ph type="sldNum" sz="quarter" idx="10"/>
          </p:nvPr>
        </p:nvSpPr>
        <p:spPr/>
        <p:txBody>
          <a:bodyPr/>
          <a:lstStyle/>
          <a:p>
            <a:fld id="{8C72D9AE-7182-4680-8F79-479C4181FF08}" type="slidenum">
              <a:rPr lang="en-US" smtClean="0"/>
              <a:pPr/>
              <a:t>8</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List the objectives of the project. These should be presented by the Project Sponsor.  Relate them back to Key Success factors and overall customer goals.</a:t>
            </a:r>
          </a:p>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Enter guiding principles for the project.  These can be gleaned from the sales process.  The customer should supply these and translate them to fit the customer</a:t>
            </a:r>
            <a:r>
              <a:rPr lang="en-US" dirty="0" smtClean="0">
                <a:latin typeface="Times New Roman" charset="0"/>
                <a:cs typeface="Times New Roman" charset="0"/>
              </a:rPr>
              <a:t>’</a:t>
            </a:r>
            <a:r>
              <a:rPr lang="en-US" dirty="0" smtClean="0">
                <a:cs typeface="Times New Roman" charset="0"/>
              </a:rPr>
              <a:t>s culture.</a:t>
            </a:r>
          </a:p>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100" dirty="0" smtClean="0"/>
              <a:t>Insert diagram showing</a:t>
            </a:r>
            <a:r>
              <a:rPr lang="en-US" sz="1100" baseline="0" dirty="0" smtClean="0"/>
              <a:t> </a:t>
            </a:r>
            <a:r>
              <a:rPr lang="en-US" sz="1100" dirty="0" smtClean="0"/>
              <a:t>high-level description of the business processes and functions.</a:t>
            </a:r>
            <a:endParaRPr lang="en-US" dirty="0" smtClean="0"/>
          </a:p>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11</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100" dirty="0" smtClean="0"/>
              <a:t>Insert </a:t>
            </a:r>
            <a:r>
              <a:rPr lang="en-US" dirty="0" smtClean="0">
                <a:cs typeface="Times New Roman" charset="0"/>
              </a:rPr>
              <a:t>Project Organization Chart.</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12</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100" dirty="0" smtClean="0"/>
              <a:t>Enter the project timeline.</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13</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Append OUM</a:t>
            </a:r>
            <a:r>
              <a:rPr lang="en-US" baseline="0" dirty="0" smtClean="0">
                <a:cs typeface="Times New Roman" charset="0"/>
              </a:rPr>
              <a:t> </a:t>
            </a:r>
            <a:r>
              <a:rPr lang="en-US" dirty="0" smtClean="0">
                <a:cs typeface="Times New Roman" charset="0"/>
              </a:rPr>
              <a:t>overview slides to this presentation after this slide.</a:t>
            </a:r>
          </a:p>
        </p:txBody>
      </p:sp>
      <p:sp>
        <p:nvSpPr>
          <p:cNvPr id="4" name="Slide Number Placeholder 3"/>
          <p:cNvSpPr>
            <a:spLocks noGrp="1"/>
          </p:cNvSpPr>
          <p:nvPr>
            <p:ph type="sldNum" sz="quarter" idx="10"/>
          </p:nvPr>
        </p:nvSpPr>
        <p:spPr/>
        <p:txBody>
          <a:bodyPr/>
          <a:lstStyle/>
          <a:p>
            <a:fld id="{8C72D9AE-7182-4680-8F79-479C4181FF08}" type="slidenum">
              <a:rPr lang="en-US" smtClean="0"/>
              <a:pPr/>
              <a:t>15</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Go over basic system access information, team room location, directory structures, etc..</a:t>
            </a:r>
          </a:p>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18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Times New Roman" charset="0"/>
              </a:rPr>
              <a:t>Add pertinent next steps and dates.</a:t>
            </a:r>
          </a:p>
          <a:p>
            <a:endParaRPr lang="en-US" dirty="0"/>
          </a:p>
        </p:txBody>
      </p:sp>
      <p:sp>
        <p:nvSpPr>
          <p:cNvPr id="4" name="Slide Number Placeholder 3"/>
          <p:cNvSpPr>
            <a:spLocks noGrp="1"/>
          </p:cNvSpPr>
          <p:nvPr>
            <p:ph type="sldNum" sz="quarter" idx="10"/>
          </p:nvPr>
        </p:nvSpPr>
        <p:spPr/>
        <p:txBody>
          <a:bodyPr/>
          <a:lstStyle/>
          <a:p>
            <a:fld id="{36E82501-53DA-4152-84B0-51135B15EEA8}" type="slidenum">
              <a:rPr lang="en-US" smtClean="0"/>
              <a:pPr/>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sldNum" sz="quarter" idx="5"/>
          </p:nvPr>
        </p:nvSpPr>
        <p:spPr>
          <a:noFill/>
        </p:spPr>
        <p:txBody>
          <a:bodyPr/>
          <a:lstStyle/>
          <a:p>
            <a:fld id="{4E846EB3-491D-46EA-9F3D-D6DB1BBDF172}" type="slidenum">
              <a:rPr lang="en-US"/>
              <a:pPr/>
              <a:t>21</a:t>
            </a:fld>
            <a:endParaRPr lang="en-US" dirty="0"/>
          </a:p>
        </p:txBody>
      </p:sp>
      <p:sp>
        <p:nvSpPr>
          <p:cNvPr id="12291" name="Rectangle 2"/>
          <p:cNvSpPr>
            <a:spLocks noGrp="1" noRot="1" noChangeAspect="1" noChangeArrowheads="1" noTextEdit="1"/>
          </p:cNvSpPr>
          <p:nvPr>
            <p:ph type="sldImg"/>
          </p:nvPr>
        </p:nvSpPr>
        <p:spPr>
          <a:xfrm>
            <a:off x="385763" y="687388"/>
            <a:ext cx="6088062" cy="3425825"/>
          </a:xfrm>
          <a:ln cap="flat"/>
        </p:spPr>
      </p:sp>
      <p:sp>
        <p:nvSpPr>
          <p:cNvPr id="12292" name="Rectangle 3"/>
          <p:cNvSpPr>
            <a:spLocks noGrp="1" noChangeArrowheads="1"/>
          </p:cNvSpPr>
          <p:nvPr>
            <p:ph type="body" idx="1"/>
          </p:nvPr>
        </p:nvSpPr>
        <p:spPr>
          <a:xfrm>
            <a:off x="914400" y="4343400"/>
            <a:ext cx="5029200" cy="4114800"/>
          </a:xfrm>
          <a:noFill/>
          <a:ln/>
        </p:spPr>
        <p:txBody>
          <a:bodyPr lIns="92066" tIns="46033" rIns="92066" bIns="46033"/>
          <a:lstStyle/>
          <a:p>
            <a:pPr defTabSz="914400">
              <a:lnSpc>
                <a:spcPct val="100000"/>
              </a:lnSpc>
              <a:spcBef>
                <a:spcPct val="30000"/>
              </a:spcBef>
            </a:pPr>
            <a:endParaRPr lang="nl-NL"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22</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80E36072-08FD-4FC3-AF5B-975EB2486CBF}"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1863B126-76DC-4E09-BCB5-ED894D59A783}"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DB913057-5E85-4792-9C5B-B23F1662067A}"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18958E43-2813-4D6D-87AD-70EA1126FF9A}"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703441C8-C5FC-40A1-AF0D-475FFEE2FE1B}"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50F2E14-61B2-4554-B035-0BB55D873F6E}" type="datetime1">
              <a:rPr lang="en-US" smtClean="0"/>
              <a:t>8/15/2014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0E3B5DEE-7C2E-4FC2-BEB6-C9FB30F7E3B7}" type="datetime1">
              <a:rPr lang="en-US" smtClean="0"/>
              <a:t>8/15/2014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004FDB4D-B48E-40D6-8D34-9FC9014127D9}" type="datetime1">
              <a:rPr lang="en-US" smtClean="0"/>
              <a:t>8/15/2014</a:t>
            </a:fld>
            <a:endParaRPr dirty="0"/>
          </a:p>
        </p:txBody>
      </p:sp>
      <p:sp>
        <p:nvSpPr>
          <p:cNvPr id="5" name="Footer Placeholder 4"/>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8002E2-7CAE-466D-9EAD-273700C212D0}" type="datetime1">
              <a:rPr lang="en-US" smtClean="0"/>
              <a:t>8/15/2014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26C897D5-19C6-41D0-9071-DC6422302645}" type="datetime1">
              <a:rPr lang="en-US" smtClean="0"/>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369FB297-9133-42E4-87E7-C98453E97E12}"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B9D6AB6-5122-4E15-A016-56D76B9177E9}" type="datetime1">
              <a:rPr lang="en-US" smtClean="0"/>
              <a:t>8/15/2014</a:t>
            </a:fld>
            <a:endParaRPr lang="en-US"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21904A18-FB3D-4229-8767-1DC725CD7AF1}"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0BE818B2-1CC2-4F15-B83D-B598AD3C4075}"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5BF11AF4-D8F3-4BA1-B78A-F2CED5AB9CA3}"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7974E78C-BD17-4D15-B3C9-9A1BBDB89D63}"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45A257D-FEFA-43FD-AB27-9836BD8351B9}"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482546-AD4C-4AA3-BD94-573B37ABC0CE}"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E1E6FA-C14F-4C40-BDE5-54490FBF40A3}"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54852A12-58EC-4C49-84C1-BCEE40C9A701}" type="datetime1">
              <a:rPr lang="en-US" smtClean="0"/>
              <a:t>8/15/2014</a:t>
            </a:fld>
            <a:endParaRPr dirty="0"/>
          </a:p>
        </p:txBody>
      </p:sp>
      <p:sp>
        <p:nvSpPr>
          <p:cNvPr id="8" name="Footer Placeholder 7"/>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0693306-5769-476E-ACCB-2FFC3E9D40C7}" type="datetime1">
              <a:rPr lang="en-US" smtClean="0"/>
              <a:t>8/15/2014</a:t>
            </a:fld>
            <a:endParaRPr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7F38F08E-D566-4A4A-B0EE-9729A912D224}" type="datetime1">
              <a:rPr lang="en-US" smtClean="0"/>
              <a:t>8/15/2014</a:t>
            </a:fld>
            <a:endParaRPr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D33E08-4B96-4695-9B7E-C71B97963A04}" type="datetime1">
              <a:rPr lang="en-US" smtClean="0"/>
              <a:t>8/15/2014</a:t>
            </a:fld>
            <a:endParaRPr dirty="0"/>
          </a:p>
        </p:txBody>
      </p:sp>
      <p:sp>
        <p:nvSpPr>
          <p:cNvPr id="3" name="Footer Placeholder 2"/>
          <p:cNvSpPr>
            <a:spLocks noGrp="1"/>
          </p:cNvSpPr>
          <p:nvPr>
            <p:ph type="ftr" sz="quarter" idx="11"/>
          </p:nvPr>
        </p:nvSpPr>
        <p:spPr/>
        <p:txBody>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DF221A-AC1D-4C55-A6D7-6FD6DE3EA326}"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B4E4D9-0897-4EDC-B3D7-9FAD3BBB4AF4}"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B69CD8-692E-4851-B00B-4F34EACE2107}"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DAB94DD-C2C6-4075-A613-B33877F1BCBF}"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58D23CEB-1B48-4CA6-9171-E41277DB5579}"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AB095429-7496-4037-BE6B-7D09EF75175E}"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DF667A4E-0563-480C-9CC5-84BAE094F80C}"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C445431A-66D9-4FF4-9F6B-B0097804F922}"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C1FEB2C1-4D13-4C63-BEF1-B2C445DA560C}" type="datetime1">
              <a:rPr lang="en-US" smtClean="0"/>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E7666E2E-576E-4E33-B7E8-5AEC8C3085CF}" type="datetime1">
              <a:rPr lang="en-US" smtClean="0"/>
              <a:t>8/15/2014</a:t>
            </a:fld>
            <a:endParaRPr dirty="0"/>
          </a:p>
        </p:txBody>
      </p:sp>
      <p:sp>
        <p:nvSpPr>
          <p:cNvPr id="3" name="Footer Placeholder 2"/>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3B373E51-ADE5-4F9C-81A9-DC77E00CFBB8}" type="datetime1">
              <a:rPr lang="en-US" smtClean="0"/>
              <a:t>8/15/2014</a:t>
            </a:fld>
            <a:endParaRPr dirty="0"/>
          </a:p>
        </p:txBody>
      </p:sp>
      <p:sp>
        <p:nvSpPr>
          <p:cNvPr id="3" name="Footer Placeholder 2"/>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805C66-874F-4DA4-A2F9-D4C4F7C744A8}" type="datetime1">
              <a:rPr lang="en-US" smtClean="0"/>
              <a:t>8/15/2014</a:t>
            </a:fld>
            <a:endParaRPr dirty="0"/>
          </a:p>
        </p:txBody>
      </p:sp>
      <p:sp>
        <p:nvSpPr>
          <p:cNvPr id="3" name="Footer Placeholder 2"/>
          <p:cNvSpPr>
            <a:spLocks noGrp="1"/>
          </p:cNvSpPr>
          <p:nvPr>
            <p:ph type="ftr" sz="quarter" idx="11"/>
          </p:nvPr>
        </p:nvSpPr>
        <p:spPr/>
        <p:txBody>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EBD05D26-9C3B-4A1E-B3BF-EB6B0415DC2B}" type="datetime1">
              <a:rPr lang="en-US" smtClean="0"/>
              <a:t>8/15/2014</a:t>
            </a:fld>
            <a:endParaRPr lang="en-US"/>
          </a:p>
        </p:txBody>
      </p:sp>
      <p:sp>
        <p:nvSpPr>
          <p:cNvPr id="5" name="Footer Placeholder 4"/>
          <p:cNvSpPr>
            <a:spLocks noGrp="1"/>
          </p:cNvSpPr>
          <p:nvPr>
            <p:ph type="ftr" sz="quarter" idx="11"/>
          </p:nvPr>
        </p:nvSpPr>
        <p:spPr/>
        <p:txBody>
          <a:bodyPr>
            <a:noAutofit/>
          </a:bodyPr>
          <a:lstStyle/>
          <a:p>
            <a:r>
              <a:rPr lang="en-US" smtClean="0"/>
              <a:t>Use Insert &gt; Header and Footer to Update Confidentiality Requirements</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B9923858-F5AE-479B-B584-A0BC63EC3035}" type="datetime1">
              <a:rPr lang="en-US" smtClean="0"/>
              <a:t>8/15/2014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New Template_Content 2 Line Title">
    <p:spTree>
      <p:nvGrpSpPr>
        <p:cNvPr id="1" name=""/>
        <p:cNvGrpSpPr/>
        <p:nvPr/>
      </p:nvGrpSpPr>
      <p:grpSpPr>
        <a:xfrm>
          <a:off x="0" y="0"/>
          <a:ext cx="0" cy="0"/>
          <a:chOff x="0" y="0"/>
          <a:chExt cx="0" cy="0"/>
        </a:xfrm>
      </p:grpSpPr>
      <p:sp>
        <p:nvSpPr>
          <p:cNvPr id="2" name="Title 1"/>
          <p:cNvSpPr>
            <a:spLocks noGrp="1"/>
          </p:cNvSpPr>
          <p:nvPr>
            <p:ph type="title"/>
          </p:nvPr>
        </p:nvSpPr>
        <p:spPr>
          <a:xfrm>
            <a:off x="1072183" y="327385"/>
            <a:ext cx="10969924" cy="1025071"/>
          </a:xfrm>
        </p:spPr>
        <p:txBody>
          <a:bodyPr anchor="t" anchorCtr="0"/>
          <a:lstStyle/>
          <a:p>
            <a:r>
              <a:rPr lang="en-US" smtClean="0"/>
              <a:t>Click to edit Master title style</a:t>
            </a:r>
            <a:endParaRPr lang="en-US" dirty="0"/>
          </a:p>
        </p:txBody>
      </p:sp>
      <p:sp>
        <p:nvSpPr>
          <p:cNvPr id="6" name="Content Placeholder 5"/>
          <p:cNvSpPr>
            <a:spLocks noGrp="1"/>
          </p:cNvSpPr>
          <p:nvPr>
            <p:ph sz="quarter" idx="12"/>
          </p:nvPr>
        </p:nvSpPr>
        <p:spPr>
          <a:xfrm>
            <a:off x="1072183" y="2029468"/>
            <a:ext cx="10969943" cy="4083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Text Placeholder 4"/>
          <p:cNvSpPr>
            <a:spLocks noGrp="1"/>
          </p:cNvSpPr>
          <p:nvPr>
            <p:ph type="body" sz="quarter" idx="13"/>
          </p:nvPr>
        </p:nvSpPr>
        <p:spPr>
          <a:xfrm>
            <a:off x="1072183" y="1372308"/>
            <a:ext cx="10969943" cy="406400"/>
          </a:xfrm>
        </p:spPr>
        <p:txBody>
          <a:bodyPr anchor="t" anchorCtr="0">
            <a:noAutofit/>
          </a:bodyPr>
          <a:lstStyle>
            <a:lvl1pPr marL="0" indent="0">
              <a:spcAft>
                <a:spcPts val="0"/>
              </a:spcAft>
              <a:buFontTx/>
              <a:buNone/>
              <a:defRPr sz="2700">
                <a:solidFill>
                  <a:schemeClr val="accent1"/>
                </a:solidFill>
              </a:defRPr>
            </a:lvl1pPr>
            <a:lvl2pPr marL="609493" indent="0">
              <a:buFontTx/>
              <a:buNone/>
              <a:defRPr/>
            </a:lvl2pPr>
            <a:lvl3pPr marL="1218987" indent="0">
              <a:buFontTx/>
              <a:buNone/>
              <a:defRPr/>
            </a:lvl3pPr>
            <a:lvl4pPr marL="1828480" indent="0">
              <a:buFontTx/>
              <a:buNone/>
              <a:defRPr/>
            </a:lvl4pPr>
            <a:lvl5pPr marL="2437973" indent="0">
              <a:buFontTx/>
              <a:buNone/>
              <a:defRPr/>
            </a:lvl5pPr>
          </a:lstStyle>
          <a:p>
            <a:pPr lvl="0"/>
            <a:r>
              <a:rPr lang="en-US" smtClean="0"/>
              <a:t>Click to edit Master text styles</a:t>
            </a:r>
          </a:p>
        </p:txBody>
      </p:sp>
    </p:spTree>
    <p:extLst>
      <p:ext uri="{BB962C8B-B14F-4D97-AF65-F5344CB8AC3E}">
        <p14:creationId xmlns:p14="http://schemas.microsoft.com/office/powerpoint/2010/main" xmlns="" val="7790599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1"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7B8DF241-F21F-4C0A-9C06-086C15490199}" type="datetime1">
              <a:rPr lang="en-US" smtClean="0"/>
              <a:t>8/15/2014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smtClean="0"/>
              <a:t>Use Insert &gt; Header and Footer to Update Confidentiality Requirements</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 id="2147483695" r:id="rId39"/>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Project Kickoff</a:t>
            </a:r>
            <a:endParaRPr lang="en-US"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endParaRPr lang="en-US" dirty="0"/>
          </a:p>
        </p:txBody>
      </p:sp>
      <p:sp>
        <p:nvSpPr>
          <p:cNvPr id="6" name="Text Placeholder 5"/>
          <p:cNvSpPr>
            <a:spLocks noGrp="1"/>
          </p:cNvSpPr>
          <p:nvPr>
            <p:ph type="body" sz="quarter" idx="13"/>
          </p:nvPr>
        </p:nvSpPr>
        <p:spPr/>
        <p:txBody>
          <a:bodyPr/>
          <a:lstStyle/>
          <a:p>
            <a:r>
              <a:rPr lang="en-US" dirty="0" smtClean="0"/>
              <a:t>Presenter’s Name</a:t>
            </a:r>
          </a:p>
          <a:p>
            <a:r>
              <a:rPr lang="en-US" dirty="0" smtClean="0"/>
              <a:t>Presenter’s Title</a:t>
            </a:r>
          </a:p>
          <a:p>
            <a:r>
              <a:rPr lang="en-US" dirty="0" smtClean="0"/>
              <a:t>Organization, Division or Business Unit</a:t>
            </a:r>
          </a:p>
          <a:p>
            <a:r>
              <a:rPr lang="en-US" dirty="0" smtClean="0"/>
              <a:t>Month 00, 2014</a:t>
            </a:r>
            <a:endParaRPr lang="en-US" dirty="0"/>
          </a:p>
        </p:txBody>
      </p:sp>
      <p:sp>
        <p:nvSpPr>
          <p:cNvPr id="7" name="TextBox 6"/>
          <p:cNvSpPr txBox="1"/>
          <p:nvPr/>
        </p:nvSpPr>
        <p:spPr>
          <a:xfrm>
            <a:off x="60182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9" name="Picture 8" descr="Oracle_Unified_Method_485C.gif"/>
          <p:cNvPicPr>
            <a:picLocks noChangeAspect="1"/>
          </p:cNvPicPr>
          <p:nvPr/>
        </p:nvPicPr>
        <p:blipFill>
          <a:blip r:embed="rId4"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p14="http://schemas.microsoft.com/office/powerpoint/2010/main" xmlns="" val="336776055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Welcome</a:t>
            </a:r>
            <a:endParaRPr lang="en-US" dirty="0"/>
          </a:p>
        </p:txBody>
      </p:sp>
      <p:sp>
        <p:nvSpPr>
          <p:cNvPr id="4" name="Text Placeholder 3"/>
          <p:cNvSpPr>
            <a:spLocks noGrp="1"/>
          </p:cNvSpPr>
          <p:nvPr>
            <p:ph type="body" sz="quarter" idx="13"/>
          </p:nvPr>
        </p:nvSpPr>
        <p:spPr/>
        <p:txBody>
          <a:bodyPr/>
          <a:lstStyle/>
          <a:p>
            <a:r>
              <a:rPr lang="en-US" dirty="0" smtClean="0"/>
              <a:t>&lt;Meeting Objectives&gt;</a:t>
            </a:r>
            <a:endParaRPr lang="en-US" dirty="0"/>
          </a:p>
        </p:txBody>
      </p:sp>
      <p:sp>
        <p:nvSpPr>
          <p:cNvPr id="3" name="Content Placeholder 2"/>
          <p:cNvSpPr>
            <a:spLocks noGrp="1"/>
          </p:cNvSpPr>
          <p:nvPr>
            <p:ph idx="1"/>
          </p:nvPr>
        </p:nvSpPr>
        <p:spPr/>
        <p:txBody>
          <a:bodyPr/>
          <a:lstStyle/>
          <a:p>
            <a:r>
              <a:rPr lang="en-US" dirty="0" smtClean="0"/>
              <a:t>Get to know each other.</a:t>
            </a:r>
          </a:p>
          <a:p>
            <a:r>
              <a:rPr lang="en-US" dirty="0" smtClean="0"/>
              <a:t>Establish project objectives.</a:t>
            </a:r>
          </a:p>
          <a:p>
            <a:r>
              <a:rPr lang="en-US" dirty="0" smtClean="0"/>
              <a:t>Learn about project structure.</a:t>
            </a:r>
          </a:p>
          <a:p>
            <a:r>
              <a:rPr lang="en-US" dirty="0" smtClean="0"/>
              <a:t>Have fun!</a:t>
            </a:r>
          </a:p>
          <a:p>
            <a:endParaRPr lang="en-US" dirty="0" smtClean="0"/>
          </a:p>
          <a:p>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graphicFrame>
        <p:nvGraphicFramePr>
          <p:cNvPr id="6" name="Content Placeholder 5"/>
          <p:cNvGraphicFramePr>
            <a:graphicFrameLocks noGrp="1"/>
          </p:cNvGraphicFramePr>
          <p:nvPr>
            <p:ph idx="1"/>
          </p:nvPr>
        </p:nvGraphicFramePr>
        <p:xfrm>
          <a:off x="531813" y="1524000"/>
          <a:ext cx="11125200" cy="3708400"/>
        </p:xfrm>
        <a:graphic>
          <a:graphicData uri="http://schemas.openxmlformats.org/drawingml/2006/table">
            <a:tbl>
              <a:tblPr firstRow="1" bandRow="1">
                <a:tableStyleId>{5FD0F851-EC5A-4D38-B0AD-8093EC10F338}</a:tableStyleId>
              </a:tblPr>
              <a:tblGrid>
                <a:gridCol w="3708400"/>
                <a:gridCol w="3708400"/>
                <a:gridCol w="3708400"/>
              </a:tblGrid>
              <a:tr h="370840">
                <a:tc>
                  <a:txBody>
                    <a:bodyPr/>
                    <a:lstStyle/>
                    <a:p>
                      <a:r>
                        <a:rPr lang="en-US" b="1" dirty="0" smtClean="0"/>
                        <a:t>Topic</a:t>
                      </a:r>
                      <a:endParaRPr lang="en-US" b="1" dirty="0"/>
                    </a:p>
                  </a:txBody>
                  <a:tcPr/>
                </a:tc>
                <a:tc>
                  <a:txBody>
                    <a:bodyPr/>
                    <a:lstStyle/>
                    <a:p>
                      <a:pPr algn="ctr"/>
                      <a:r>
                        <a:rPr lang="en-US" b="1" dirty="0" smtClean="0"/>
                        <a:t>Time</a:t>
                      </a:r>
                      <a:endParaRPr lang="en-US" b="1" dirty="0"/>
                    </a:p>
                  </a:txBody>
                  <a:tcPr/>
                </a:tc>
                <a:tc>
                  <a:txBody>
                    <a:bodyPr/>
                    <a:lstStyle/>
                    <a:p>
                      <a:pPr algn="ctr"/>
                      <a:r>
                        <a:rPr lang="en-US" b="1" dirty="0" smtClean="0"/>
                        <a:t>Presenter</a:t>
                      </a:r>
                      <a:endParaRPr lang="en-US" b="1" dirty="0"/>
                    </a:p>
                  </a:txBody>
                  <a:tcPr/>
                </a:tc>
              </a:tr>
              <a:tr h="370840">
                <a:tc>
                  <a:txBody>
                    <a:bodyPr/>
                    <a:lstStyle/>
                    <a:p>
                      <a:r>
                        <a:rPr lang="en-US" b="0" dirty="0" smtClean="0"/>
                        <a:t>Team</a:t>
                      </a:r>
                      <a:r>
                        <a:rPr lang="en-US" b="0" baseline="0" dirty="0" smtClean="0"/>
                        <a:t> Introductions</a:t>
                      </a:r>
                      <a:endParaRPr lang="en-US" b="0" dirty="0"/>
                    </a:p>
                  </a:txBody>
                  <a:tcPr/>
                </a:tc>
                <a:tc>
                  <a:txBody>
                    <a:bodyPr/>
                    <a:lstStyle/>
                    <a:p>
                      <a:pPr algn="ctr"/>
                      <a:r>
                        <a:rPr lang="en-US" b="0" dirty="0" smtClean="0"/>
                        <a:t>8:30 – 9:15</a:t>
                      </a:r>
                      <a:endParaRPr lang="en-US" b="0" dirty="0"/>
                    </a:p>
                  </a:txBody>
                  <a:tcPr/>
                </a:tc>
                <a:tc>
                  <a:txBody>
                    <a:bodyPr/>
                    <a:lstStyle/>
                    <a:p>
                      <a:pPr algn="ctr"/>
                      <a:r>
                        <a:rPr lang="en-US" b="0" dirty="0" smtClean="0"/>
                        <a:t>Team</a:t>
                      </a:r>
                      <a:endParaRPr lang="en-US" b="0" dirty="0"/>
                    </a:p>
                  </a:txBody>
                  <a:tcPr/>
                </a:tc>
              </a:tr>
              <a:tr h="370840">
                <a:tc>
                  <a:txBody>
                    <a:bodyPr/>
                    <a:lstStyle/>
                    <a:p>
                      <a:r>
                        <a:rPr lang="en-US" dirty="0" smtClean="0"/>
                        <a:t>Opening Remarks</a:t>
                      </a:r>
                      <a:endParaRPr lang="en-US" dirty="0"/>
                    </a:p>
                  </a:txBody>
                  <a:tcPr/>
                </a:tc>
                <a:tc>
                  <a:txBody>
                    <a:bodyPr/>
                    <a:lstStyle/>
                    <a:p>
                      <a:pPr algn="ctr"/>
                      <a:r>
                        <a:rPr lang="en-US" dirty="0" smtClean="0"/>
                        <a:t>9:15</a:t>
                      </a:r>
                      <a:r>
                        <a:rPr lang="en-US" baseline="0" dirty="0" smtClean="0"/>
                        <a:t> – 9:30</a:t>
                      </a:r>
                      <a:endParaRPr lang="en-US" dirty="0"/>
                    </a:p>
                  </a:txBody>
                  <a:tcPr/>
                </a:tc>
                <a:tc>
                  <a:txBody>
                    <a:bodyPr/>
                    <a:lstStyle/>
                    <a:p>
                      <a:pPr algn="ctr"/>
                      <a:r>
                        <a:rPr lang="en-US" dirty="0" smtClean="0"/>
                        <a:t>Sponsor</a:t>
                      </a:r>
                      <a:endParaRPr lang="en-US" dirty="0"/>
                    </a:p>
                  </a:txBody>
                  <a:tcPr/>
                </a:tc>
              </a:tr>
              <a:tr h="370840">
                <a:tc>
                  <a:txBody>
                    <a:bodyPr/>
                    <a:lstStyle/>
                    <a:p>
                      <a:r>
                        <a:rPr lang="en-US" dirty="0" smtClean="0"/>
                        <a:t>Project Overview</a:t>
                      </a:r>
                      <a:endParaRPr lang="en-US" dirty="0"/>
                    </a:p>
                  </a:txBody>
                  <a:tcPr/>
                </a:tc>
                <a:tc>
                  <a:txBody>
                    <a:bodyPr/>
                    <a:lstStyle/>
                    <a:p>
                      <a:pPr algn="ctr"/>
                      <a:r>
                        <a:rPr lang="en-US" dirty="0" smtClean="0"/>
                        <a:t>9:15</a:t>
                      </a:r>
                      <a:r>
                        <a:rPr lang="en-US" baseline="0" dirty="0" smtClean="0"/>
                        <a:t> – 9:30</a:t>
                      </a:r>
                      <a:endParaRPr lang="en-US" dirty="0"/>
                    </a:p>
                  </a:txBody>
                  <a:tcPr/>
                </a:tc>
                <a:tc>
                  <a:txBody>
                    <a:bodyPr/>
                    <a:lstStyle/>
                    <a:p>
                      <a:pPr algn="ctr"/>
                      <a:r>
                        <a:rPr lang="en-US" dirty="0" smtClean="0"/>
                        <a:t>PMs</a:t>
                      </a:r>
                      <a:endParaRPr lang="en-US" dirty="0"/>
                    </a:p>
                  </a:txBody>
                  <a:tcPr/>
                </a:tc>
              </a:tr>
              <a:tr h="370840">
                <a:tc>
                  <a:txBody>
                    <a:bodyPr/>
                    <a:lstStyle/>
                    <a:p>
                      <a:r>
                        <a:rPr lang="en-US" dirty="0" smtClean="0"/>
                        <a:t>Break</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9:30</a:t>
                      </a:r>
                      <a:r>
                        <a:rPr lang="en-US" baseline="0" dirty="0" smtClean="0"/>
                        <a:t> – 10:15</a:t>
                      </a:r>
                      <a:endParaRPr lang="en-US" dirty="0" smtClean="0"/>
                    </a:p>
                  </a:txBody>
                  <a:tcPr/>
                </a:tc>
                <a:tc>
                  <a:txBody>
                    <a:bodyPr/>
                    <a:lstStyle/>
                    <a:p>
                      <a:pPr algn="ctr"/>
                      <a:endParaRPr lang="en-US" dirty="0"/>
                    </a:p>
                  </a:txBody>
                  <a:tcPr/>
                </a:tc>
              </a:tr>
              <a:tr h="370840">
                <a:tc>
                  <a:txBody>
                    <a:bodyPr/>
                    <a:lstStyle/>
                    <a:p>
                      <a:r>
                        <a:rPr lang="en-US" dirty="0" smtClean="0"/>
                        <a:t>Project Methodology</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10:15</a:t>
                      </a:r>
                      <a:r>
                        <a:rPr lang="en-US" baseline="0" dirty="0" smtClean="0"/>
                        <a:t> – 10:30</a:t>
                      </a:r>
                      <a:endParaRPr lang="en-US" dirty="0" smtClean="0"/>
                    </a:p>
                  </a:txBody>
                  <a:tcPr/>
                </a:tc>
                <a:tc>
                  <a:txBody>
                    <a:bodyPr/>
                    <a:lstStyle/>
                    <a:p>
                      <a:pPr algn="ctr"/>
                      <a:r>
                        <a:rPr lang="en-US" dirty="0" smtClean="0"/>
                        <a:t>PMs</a:t>
                      </a:r>
                      <a:endParaRPr lang="en-US" dirty="0"/>
                    </a:p>
                  </a:txBody>
                  <a:tcPr/>
                </a:tc>
              </a:tr>
              <a:tr h="370840">
                <a:tc>
                  <a:txBody>
                    <a:bodyPr/>
                    <a:lstStyle/>
                    <a:p>
                      <a:r>
                        <a:rPr lang="en-US" dirty="0" smtClean="0"/>
                        <a:t>Project</a:t>
                      </a:r>
                      <a:r>
                        <a:rPr lang="en-US" baseline="0" dirty="0" smtClean="0"/>
                        <a:t> Essentials</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10:30</a:t>
                      </a:r>
                      <a:r>
                        <a:rPr lang="en-US" baseline="0" dirty="0" smtClean="0"/>
                        <a:t> – 11:15</a:t>
                      </a:r>
                      <a:endParaRPr lang="en-US" dirty="0" smtClean="0"/>
                    </a:p>
                  </a:txBody>
                  <a:tcPr/>
                </a:tc>
                <a:tc>
                  <a:txBody>
                    <a:bodyPr/>
                    <a:lstStyle/>
                    <a:p>
                      <a:pPr algn="ctr"/>
                      <a:r>
                        <a:rPr lang="en-US" dirty="0" smtClean="0"/>
                        <a:t>PMs</a:t>
                      </a:r>
                      <a:endParaRPr lang="en-US" dirty="0"/>
                    </a:p>
                  </a:txBody>
                  <a:tcPr/>
                </a:tc>
              </a:tr>
              <a:tr h="370840">
                <a:tc>
                  <a:txBody>
                    <a:bodyPr/>
                    <a:lstStyle/>
                    <a:p>
                      <a:r>
                        <a:rPr lang="en-US" dirty="0" smtClean="0"/>
                        <a:t>Break</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11:15</a:t>
                      </a:r>
                      <a:r>
                        <a:rPr lang="en-US" baseline="0" dirty="0" smtClean="0"/>
                        <a:t> – 12:00</a:t>
                      </a:r>
                      <a:endParaRPr lang="en-US" dirty="0" smtClean="0"/>
                    </a:p>
                  </a:txBody>
                  <a:tcPr/>
                </a:tc>
                <a:tc>
                  <a:txBody>
                    <a:bodyPr/>
                    <a:lstStyle/>
                    <a:p>
                      <a:pPr algn="ctr"/>
                      <a:endParaRPr lang="en-US" dirty="0"/>
                    </a:p>
                  </a:txBody>
                  <a:tcPr/>
                </a:tc>
              </a:tr>
              <a:tr h="370840">
                <a:tc>
                  <a:txBody>
                    <a:bodyPr/>
                    <a:lstStyle/>
                    <a:p>
                      <a:r>
                        <a:rPr lang="en-US" dirty="0" smtClean="0"/>
                        <a:t>Next Steps</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12:15</a:t>
                      </a:r>
                      <a:r>
                        <a:rPr lang="en-US" baseline="0" dirty="0" smtClean="0"/>
                        <a:t> – 12:45</a:t>
                      </a:r>
                      <a:endParaRPr lang="en-US" dirty="0" smtClean="0"/>
                    </a:p>
                  </a:txBody>
                  <a:tcPr/>
                </a:tc>
                <a:tc>
                  <a:txBody>
                    <a:bodyPr/>
                    <a:lstStyle/>
                    <a:p>
                      <a:pPr algn="ctr"/>
                      <a:r>
                        <a:rPr lang="en-US" dirty="0" smtClean="0"/>
                        <a:t>PMs</a:t>
                      </a:r>
                      <a:endParaRPr lang="en-US" dirty="0"/>
                    </a:p>
                  </a:txBody>
                  <a:tcPr/>
                </a:tc>
              </a:tr>
              <a:tr h="370840">
                <a:tc>
                  <a:txBody>
                    <a:bodyPr/>
                    <a:lstStyle/>
                    <a:p>
                      <a:r>
                        <a:rPr lang="en-US" dirty="0" smtClean="0"/>
                        <a:t>Lunch</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12:45</a:t>
                      </a:r>
                      <a:r>
                        <a:rPr lang="en-US" baseline="0" dirty="0" smtClean="0"/>
                        <a:t> – 1:30</a:t>
                      </a:r>
                      <a:endParaRPr lang="en-US" dirty="0" smtClean="0"/>
                    </a:p>
                  </a:txBody>
                  <a:tcPr/>
                </a:tc>
                <a:tc>
                  <a:txBody>
                    <a:bodyPr/>
                    <a:lstStyle/>
                    <a:p>
                      <a:pPr algn="ctr"/>
                      <a:r>
                        <a:rPr lang="en-US" dirty="0" smtClean="0"/>
                        <a:t>Team</a:t>
                      </a:r>
                      <a:endParaRPr lang="en-US" dirty="0"/>
                    </a:p>
                  </a:txBody>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 Introductions</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Opening Remarks</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Mission Statement</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Objectives</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r>
              <a:rPr lang="en-US" dirty="0" smtClean="0"/>
              <a:t>Improve &lt;customer name&gt; competitive advantage  by doing xyz by mm/</a:t>
            </a:r>
            <a:r>
              <a:rPr lang="en-US" dirty="0" err="1" smtClean="0"/>
              <a:t>yy</a:t>
            </a:r>
            <a:r>
              <a:rPr lang="en-US" dirty="0" smtClean="0"/>
              <a:t>.</a:t>
            </a:r>
          </a:p>
          <a:p>
            <a:r>
              <a:rPr lang="en-US" dirty="0" smtClean="0"/>
              <a:t>Improve metrics:</a:t>
            </a:r>
          </a:p>
          <a:p>
            <a:pPr lvl="1"/>
            <a:r>
              <a:rPr lang="en-US" dirty="0" smtClean="0"/>
              <a:t>Metric 1</a:t>
            </a:r>
          </a:p>
          <a:p>
            <a:pPr lvl="1"/>
            <a:r>
              <a:rPr lang="en-US" dirty="0" smtClean="0"/>
              <a:t>Metric 2</a:t>
            </a:r>
          </a:p>
          <a:p>
            <a:r>
              <a:rPr lang="en-US" dirty="0" smtClean="0"/>
              <a:t>Lower costs by xx percent.</a:t>
            </a:r>
          </a:p>
          <a:p>
            <a:r>
              <a:rPr lang="en-US" dirty="0" smtClean="0"/>
              <a:t>Increase revenue by xx percent.</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Guiding Principles</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r>
              <a:rPr lang="en-US" dirty="0" smtClean="0"/>
              <a:t>Focus on ‘best practice’ business processes.</a:t>
            </a:r>
          </a:p>
          <a:p>
            <a:r>
              <a:rPr lang="en-US" dirty="0" smtClean="0"/>
              <a:t>Minimize customizations.</a:t>
            </a:r>
          </a:p>
          <a:p>
            <a:r>
              <a:rPr lang="en-US" dirty="0" smtClean="0"/>
              <a:t>Seek a global solution.</a:t>
            </a:r>
          </a:p>
          <a:p>
            <a:r>
              <a:rPr lang="en-US" dirty="0" smtClean="0"/>
              <a:t>Minimize changes to current systems during project.</a:t>
            </a:r>
          </a:p>
          <a:p>
            <a:r>
              <a:rPr lang="en-US" dirty="0" smtClean="0"/>
              <a:t>Involve end users and stakeholders.</a:t>
            </a:r>
          </a:p>
          <a:p>
            <a:r>
              <a:rPr lang="en-US" dirty="0" smtClean="0"/>
              <a:t>Communicate, communicate, communicate…</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High-Level Schedule</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Break Time</a:t>
            </a:r>
            <a:endParaRPr lang="en-US" dirty="0"/>
          </a:p>
        </p:txBody>
      </p:sp>
      <p:sp>
        <p:nvSpPr>
          <p:cNvPr id="3" name="Content Placeholder 2"/>
          <p:cNvSpPr>
            <a:spLocks noGrp="1"/>
          </p:cNvSpPr>
          <p:nvPr>
            <p:ph idx="1"/>
          </p:nvPr>
        </p:nvSpPr>
        <p:spPr/>
        <p:txBody>
          <a:bodyPr/>
          <a:lstStyle/>
          <a:p>
            <a:r>
              <a:rPr lang="en-US" dirty="0" smtClean="0"/>
              <a:t>Please be back in 15 minutes.</a:t>
            </a:r>
            <a:endParaRPr lang="en-US" dirty="0"/>
          </a:p>
        </p:txBody>
      </p:sp>
      <p:pic>
        <p:nvPicPr>
          <p:cNvPr id="6" name="Picture 4" descr="C:\Documents and Settings\LClark\Application Data\Microsoft\Media Catalog\Downloaded Clips\cl29\j0103830.wmf"/>
          <p:cNvPicPr>
            <a:picLocks noChangeAspect="1" noChangeArrowheads="1"/>
          </p:cNvPicPr>
          <p:nvPr/>
        </p:nvPicPr>
        <p:blipFill>
          <a:blip r:embed="rId2" cstate="print"/>
          <a:srcRect/>
          <a:stretch>
            <a:fillRect/>
          </a:stretch>
        </p:blipFill>
        <p:spPr>
          <a:xfrm>
            <a:off x="7466012" y="2133600"/>
            <a:ext cx="2830512" cy="2976562"/>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Methodology</a:t>
            </a:r>
            <a:endParaRPr lang="en-US" dirty="0"/>
          </a:p>
        </p:txBody>
      </p:sp>
      <p:sp>
        <p:nvSpPr>
          <p:cNvPr id="3" name="Text Placeholder 2"/>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Access</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r>
              <a:rPr lang="en-US" dirty="0" smtClean="0"/>
              <a:t>Team Location</a:t>
            </a:r>
          </a:p>
          <a:p>
            <a:r>
              <a:rPr lang="en-US" dirty="0" smtClean="0"/>
              <a:t>Development Environment</a:t>
            </a:r>
          </a:p>
          <a:p>
            <a:r>
              <a:rPr lang="en-US" dirty="0" smtClean="0"/>
              <a:t>Project Workstations</a:t>
            </a:r>
          </a:p>
          <a:p>
            <a:r>
              <a:rPr lang="en-US" dirty="0" smtClean="0"/>
              <a:t>User IDs and Passwords</a:t>
            </a:r>
            <a:endParaRPr lang="en-US" dirty="0"/>
          </a:p>
        </p:txBody>
      </p:sp>
      <p:pic>
        <p:nvPicPr>
          <p:cNvPr id="6" name="Picture 4" descr="C:\Documents and Settings\LClark\Application Data\Microsoft\Media Catalog\Downloaded Clips\cl72\j0286522.wmf"/>
          <p:cNvPicPr>
            <a:picLocks noChangeAspect="1" noChangeArrowheads="1"/>
          </p:cNvPicPr>
          <p:nvPr/>
        </p:nvPicPr>
        <p:blipFill>
          <a:blip r:embed="rId3" cstate="print"/>
          <a:srcRect/>
          <a:stretch>
            <a:fillRect/>
          </a:stretch>
        </p:blipFill>
        <p:spPr bwMode="auto">
          <a:xfrm>
            <a:off x="6945091" y="3012018"/>
            <a:ext cx="4403637" cy="3109383"/>
          </a:xfrm>
          <a:prstGeom prst="rect">
            <a:avLst/>
          </a:prstGeom>
          <a:noFill/>
          <a:ln w="9525">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Diary</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pPr>
              <a:lnSpc>
                <a:spcPct val="90000"/>
              </a:lnSpc>
            </a:pPr>
            <a:r>
              <a:rPr lang="en-US" dirty="0" smtClean="0"/>
              <a:t>The purpose of the project diary is to provide a single location for all relevant project documents.</a:t>
            </a:r>
          </a:p>
          <a:p>
            <a:pPr>
              <a:lnSpc>
                <a:spcPct val="90000"/>
              </a:lnSpc>
            </a:pPr>
            <a:r>
              <a:rPr lang="en-US" dirty="0" smtClean="0"/>
              <a:t>The project administrator will maintain the project diary entries.</a:t>
            </a:r>
          </a:p>
          <a:p>
            <a:pPr>
              <a:lnSpc>
                <a:spcPct val="90000"/>
              </a:lnSpc>
            </a:pPr>
            <a:r>
              <a:rPr lang="en-US" dirty="0" smtClean="0"/>
              <a:t>The electronic location of the project diary is Y:\xxx\yyyy\zzz…</a:t>
            </a:r>
          </a:p>
          <a:p>
            <a:pPr>
              <a:lnSpc>
                <a:spcPct val="90000"/>
              </a:lnSpc>
            </a:pPr>
            <a:r>
              <a:rPr lang="en-US" dirty="0" smtClean="0"/>
              <a:t>The hard-copy binder will be located at &lt;so and </a:t>
            </a:r>
            <a:r>
              <a:rPr lang="en-US" dirty="0" err="1" smtClean="0"/>
              <a:t>so’s</a:t>
            </a:r>
            <a:r>
              <a:rPr lang="en-US" dirty="0" smtClean="0"/>
              <a:t> desk&gt;.</a:t>
            </a:r>
          </a:p>
          <a:p>
            <a:endParaRPr lang="en-US" dirty="0"/>
          </a:p>
        </p:txBody>
      </p:sp>
      <p:pic>
        <p:nvPicPr>
          <p:cNvPr id="6" name="Picture 4" descr="C:\Documents and Settings\LClark\Application Data\Microsoft\Media Catalog\Downloaded Clips\cl77\j0299549.wmf"/>
          <p:cNvPicPr>
            <a:picLocks noChangeAspect="1" noChangeArrowheads="1"/>
          </p:cNvPicPr>
          <p:nvPr/>
        </p:nvPicPr>
        <p:blipFill>
          <a:blip r:embed="rId3" cstate="print"/>
          <a:srcRect/>
          <a:stretch>
            <a:fillRect/>
          </a:stretch>
        </p:blipFill>
        <p:spPr bwMode="auto">
          <a:xfrm>
            <a:off x="9514636" y="3607567"/>
            <a:ext cx="2588010" cy="2455333"/>
          </a:xfrm>
          <a:prstGeom prst="rect">
            <a:avLst/>
          </a:prstGeom>
          <a:noFill/>
          <a:ln w="9525">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Operating Rules</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r>
              <a:rPr lang="en-US" dirty="0" smtClean="0"/>
              <a:t>Issue Management</a:t>
            </a:r>
          </a:p>
          <a:p>
            <a:r>
              <a:rPr lang="en-US" dirty="0" smtClean="0"/>
              <a:t>Risk Management</a:t>
            </a:r>
          </a:p>
          <a:p>
            <a:r>
              <a:rPr lang="en-US" dirty="0" smtClean="0"/>
              <a:t>Issue and Problem log</a:t>
            </a:r>
          </a:p>
          <a:p>
            <a:r>
              <a:rPr lang="en-US" dirty="0" smtClean="0"/>
              <a:t>Status Reporting</a:t>
            </a:r>
          </a:p>
          <a:p>
            <a:r>
              <a:rPr lang="en-US" dirty="0" smtClean="0"/>
              <a:t>Change Requests</a:t>
            </a:r>
          </a:p>
          <a:p>
            <a:r>
              <a:rPr lang="en-US" dirty="0" smtClean="0"/>
              <a:t>Updates and Fixes</a:t>
            </a:r>
          </a:p>
          <a:p>
            <a:r>
              <a:rPr lang="en-US" dirty="0" smtClean="0"/>
              <a:t>Reports</a:t>
            </a:r>
          </a:p>
        </p:txBody>
      </p:sp>
      <p:pic>
        <p:nvPicPr>
          <p:cNvPr id="6" name="Picture 4" descr="C:\Documents and Settings\LClark\Application Data\Microsoft\Media Catalog\Downloaded Clips\cl75\j0294214.wmf"/>
          <p:cNvPicPr>
            <a:picLocks noChangeAspect="1" noChangeArrowheads="1"/>
          </p:cNvPicPr>
          <p:nvPr/>
        </p:nvPicPr>
        <p:blipFill>
          <a:blip r:embed="rId3" cstate="print"/>
          <a:srcRect/>
          <a:stretch>
            <a:fillRect/>
          </a:stretch>
        </p:blipFill>
        <p:spPr bwMode="auto">
          <a:xfrm>
            <a:off x="6459539" y="2311015"/>
            <a:ext cx="3677809" cy="2901951"/>
          </a:xfrm>
          <a:prstGeom prst="rect">
            <a:avLst/>
          </a:prstGeom>
          <a:noFill/>
          <a:ln w="9525">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Break Time</a:t>
            </a:r>
            <a:endParaRPr lang="en-US" dirty="0"/>
          </a:p>
        </p:txBody>
      </p:sp>
      <p:sp>
        <p:nvSpPr>
          <p:cNvPr id="3" name="Content Placeholder 2"/>
          <p:cNvSpPr>
            <a:spLocks noGrp="1"/>
          </p:cNvSpPr>
          <p:nvPr>
            <p:ph idx="1"/>
          </p:nvPr>
        </p:nvSpPr>
        <p:spPr/>
        <p:txBody>
          <a:bodyPr/>
          <a:lstStyle/>
          <a:p>
            <a:r>
              <a:rPr lang="en-US" dirty="0" smtClean="0"/>
              <a:t>Please be back in 15 minutes.</a:t>
            </a:r>
            <a:endParaRPr lang="en-US" dirty="0"/>
          </a:p>
        </p:txBody>
      </p:sp>
      <p:pic>
        <p:nvPicPr>
          <p:cNvPr id="6" name="Picture 4" descr="C:\Documents and Settings\LClark\Application Data\Microsoft\Media Catalog\Downloaded Clips\cl29\j0103830.wmf"/>
          <p:cNvPicPr>
            <a:picLocks noChangeAspect="1" noChangeArrowheads="1"/>
          </p:cNvPicPr>
          <p:nvPr/>
        </p:nvPicPr>
        <p:blipFill>
          <a:blip r:embed="rId2" cstate="print"/>
          <a:srcRect/>
          <a:stretch>
            <a:fillRect/>
          </a:stretch>
        </p:blipFill>
        <p:spPr>
          <a:xfrm>
            <a:off x="7466012" y="2133600"/>
            <a:ext cx="2830512" cy="2976562"/>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Steps</a:t>
            </a:r>
            <a:endParaRPr lang="en-US" dirty="0"/>
          </a:p>
        </p:txBody>
      </p:sp>
      <p:sp>
        <p:nvSpPr>
          <p:cNvPr id="5" name="Text Placeholder 4"/>
          <p:cNvSpPr>
            <a:spLocks noGrp="1"/>
          </p:cNvSpPr>
          <p:nvPr>
            <p:ph type="body" sz="quarter" idx="13"/>
          </p:nvPr>
        </p:nvSpPr>
        <p:spPr/>
        <p:txBody>
          <a:bodyPr/>
          <a:lstStyle/>
          <a:p>
            <a:r>
              <a:rPr lang="en-US" dirty="0" smtClean="0"/>
              <a:t>&lt;Project Name&gt;</a:t>
            </a:r>
            <a:endParaRPr lang="en-US" dirty="0"/>
          </a:p>
        </p:txBody>
      </p:sp>
      <p:sp>
        <p:nvSpPr>
          <p:cNvPr id="4" name="Content Placeholder 3"/>
          <p:cNvSpPr>
            <a:spLocks noGrp="1"/>
          </p:cNvSpPr>
          <p:nvPr>
            <p:ph idx="1"/>
          </p:nvPr>
        </p:nvSpPr>
        <p:spPr/>
        <p:txBody>
          <a:bodyPr/>
          <a:lstStyle/>
          <a:p>
            <a:r>
              <a:rPr lang="en-US" dirty="0" smtClean="0"/>
              <a:t>Hardware in place by </a:t>
            </a:r>
            <a:r>
              <a:rPr lang="en-US" dirty="0" err="1" smtClean="0"/>
              <a:t>dd</a:t>
            </a:r>
            <a:r>
              <a:rPr lang="en-US" dirty="0" smtClean="0"/>
              <a:t>/mm.</a:t>
            </a:r>
          </a:p>
          <a:p>
            <a:r>
              <a:rPr lang="en-US" dirty="0" smtClean="0"/>
              <a:t>Move to project room by </a:t>
            </a:r>
            <a:r>
              <a:rPr lang="en-US" dirty="0" err="1" smtClean="0"/>
              <a:t>dd</a:t>
            </a:r>
            <a:r>
              <a:rPr lang="en-US" dirty="0" smtClean="0"/>
              <a:t>/mm.</a:t>
            </a:r>
          </a:p>
          <a:p>
            <a:r>
              <a:rPr lang="en-US" dirty="0" smtClean="0"/>
              <a:t>Attend first training by </a:t>
            </a:r>
            <a:r>
              <a:rPr lang="en-US" dirty="0" err="1" smtClean="0"/>
              <a:t>dd</a:t>
            </a:r>
            <a:r>
              <a:rPr lang="en-US" dirty="0" smtClean="0"/>
              <a:t>/mm.</a:t>
            </a:r>
            <a:r>
              <a:rPr lang="en-US" sz="3700" b="1" dirty="0" smtClean="0"/>
              <a:t> </a:t>
            </a:r>
          </a:p>
          <a:p>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ChangeArrowheads="1"/>
          </p:cNvSpPr>
          <p:nvPr/>
        </p:nvSpPr>
        <p:spPr bwMode="invGray">
          <a:xfrm>
            <a:off x="6018212" y="2264222"/>
            <a:ext cx="3478914" cy="4666727"/>
          </a:xfrm>
          <a:prstGeom prst="rect">
            <a:avLst/>
          </a:prstGeom>
          <a:noFill/>
          <a:ln w="9525">
            <a:noFill/>
            <a:miter lim="800000"/>
            <a:headEnd/>
            <a:tailEnd/>
          </a:ln>
        </p:spPr>
        <p:txBody>
          <a:bodyPr wrap="square" lIns="122745" tIns="61373" rIns="122745" bIns="61373">
            <a:spAutoFit/>
          </a:bodyPr>
          <a:lstStyle/>
          <a:p>
            <a:pPr algn="ctr">
              <a:lnSpc>
                <a:spcPct val="80000"/>
              </a:lnSpc>
              <a:spcBef>
                <a:spcPct val="50000"/>
              </a:spcBef>
            </a:pPr>
            <a:r>
              <a:rPr lang="en-US" sz="36900" b="1" i="1" dirty="0">
                <a:solidFill>
                  <a:srgbClr val="292929"/>
                </a:solidFill>
                <a:latin typeface="Times" pitchFamily="18" charset="0"/>
              </a:rPr>
              <a:t>A</a:t>
            </a:r>
          </a:p>
        </p:txBody>
      </p:sp>
      <p:grpSp>
        <p:nvGrpSpPr>
          <p:cNvPr id="2" name="Group 1027"/>
          <p:cNvGrpSpPr>
            <a:grpSpLocks/>
          </p:cNvGrpSpPr>
          <p:nvPr/>
        </p:nvGrpSpPr>
        <p:grpSpPr bwMode="auto">
          <a:xfrm>
            <a:off x="2590125" y="228600"/>
            <a:ext cx="5713512" cy="5930900"/>
            <a:chOff x="1224" y="336"/>
            <a:chExt cx="2700" cy="3736"/>
          </a:xfrm>
        </p:grpSpPr>
        <p:sp>
          <p:nvSpPr>
            <p:cNvPr id="10244" name="Rectangle 1028"/>
            <p:cNvSpPr>
              <a:spLocks noChangeArrowheads="1"/>
            </p:cNvSpPr>
            <p:nvPr/>
          </p:nvSpPr>
          <p:spPr bwMode="invGray">
            <a:xfrm>
              <a:off x="1224" y="336"/>
              <a:ext cx="1872" cy="2920"/>
            </a:xfrm>
            <a:prstGeom prst="rect">
              <a:avLst/>
            </a:prstGeom>
            <a:noFill/>
            <a:ln w="9525">
              <a:noFill/>
              <a:miter lim="800000"/>
              <a:headEnd/>
              <a:tailEnd/>
            </a:ln>
          </p:spPr>
          <p:txBody>
            <a:bodyPr wrap="square" lIns="92075" tIns="46038" rIns="92075" bIns="46038">
              <a:spAutoFit/>
            </a:bodyPr>
            <a:lstStyle/>
            <a:p>
              <a:pPr algn="ctr">
                <a:lnSpc>
                  <a:spcPct val="80000"/>
                </a:lnSpc>
                <a:spcBef>
                  <a:spcPct val="50000"/>
                </a:spcBef>
              </a:pPr>
              <a:r>
                <a:rPr lang="en-US" sz="36900" b="1" i="1" dirty="0" smtClean="0">
                  <a:solidFill>
                    <a:srgbClr val="292929"/>
                  </a:solidFill>
                  <a:latin typeface="Times" pitchFamily="18" charset="0"/>
                </a:rPr>
                <a:t>Q</a:t>
              </a:r>
              <a:endParaRPr lang="en-US" sz="36900" b="1" i="1" dirty="0">
                <a:solidFill>
                  <a:srgbClr val="292929"/>
                </a:solidFill>
                <a:latin typeface="Times" pitchFamily="18" charset="0"/>
              </a:endParaRPr>
            </a:p>
          </p:txBody>
        </p:sp>
        <p:sp>
          <p:nvSpPr>
            <p:cNvPr id="10245" name="Rectangle 1029"/>
            <p:cNvSpPr>
              <a:spLocks noChangeArrowheads="1"/>
            </p:cNvSpPr>
            <p:nvPr/>
          </p:nvSpPr>
          <p:spPr bwMode="invGray">
            <a:xfrm>
              <a:off x="2088" y="1152"/>
              <a:ext cx="1836" cy="2920"/>
            </a:xfrm>
            <a:prstGeom prst="rect">
              <a:avLst/>
            </a:prstGeom>
            <a:noFill/>
            <a:ln w="9525">
              <a:noFill/>
              <a:miter lim="800000"/>
              <a:headEnd/>
              <a:tailEnd/>
            </a:ln>
          </p:spPr>
          <p:txBody>
            <a:bodyPr wrap="square" lIns="92075" tIns="46038" rIns="92075" bIns="46038">
              <a:spAutoFit/>
            </a:bodyPr>
            <a:lstStyle/>
            <a:p>
              <a:pPr algn="ctr">
                <a:lnSpc>
                  <a:spcPct val="80000"/>
                </a:lnSpc>
                <a:spcBef>
                  <a:spcPct val="50000"/>
                </a:spcBef>
              </a:pPr>
              <a:r>
                <a:rPr lang="en-US" sz="36900" b="1" i="1" dirty="0">
                  <a:solidFill>
                    <a:schemeClr val="accent1"/>
                  </a:solidFill>
                  <a:latin typeface="Times" pitchFamily="18" charset="0"/>
                </a:rPr>
                <a:t>&amp;</a:t>
              </a:r>
            </a:p>
          </p:txBody>
        </p:sp>
      </p:gr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5373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49</TotalTime>
  <Words>755</Words>
  <Application>Microsoft Office PowerPoint</Application>
  <PresentationFormat>Custom</PresentationFormat>
  <Paragraphs>142</Paragraphs>
  <Slides>22</Slides>
  <Notes>17</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blank</vt:lpstr>
      <vt:lpstr>Slide 1</vt:lpstr>
      <vt:lpstr>Project Kickoff</vt:lpstr>
      <vt:lpstr>Welcome</vt:lpstr>
      <vt:lpstr>Agenda</vt:lpstr>
      <vt:lpstr>Team Introductions</vt:lpstr>
      <vt:lpstr>Project Overview</vt:lpstr>
      <vt:lpstr>Opening Remarks</vt:lpstr>
      <vt:lpstr>Mission Statement</vt:lpstr>
      <vt:lpstr>Project Objectives</vt:lpstr>
      <vt:lpstr>Guiding Principles</vt:lpstr>
      <vt:lpstr>Scope</vt:lpstr>
      <vt:lpstr>Organization</vt:lpstr>
      <vt:lpstr>High-Level Schedule</vt:lpstr>
      <vt:lpstr>Break Time</vt:lpstr>
      <vt:lpstr>Project Methodology</vt:lpstr>
      <vt:lpstr>System Access</vt:lpstr>
      <vt:lpstr>Project Diary</vt:lpstr>
      <vt:lpstr>Operating Rules</vt:lpstr>
      <vt:lpstr>Break Time</vt:lpstr>
      <vt:lpstr>Next Steps</vt:lpstr>
      <vt:lpstr>Slide 21</vt:lpstr>
      <vt:lpstr>Slide 22</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STM.050 Project Kickoff Presentation</dc:title>
  <dc:creator>Oracle Global Methods</dc:creator>
  <cp:keywords>OUM</cp:keywords>
  <dc:description>Copyright © 2014 Oracle and/or its affiliates.  All rights reserved.</dc:description>
  <cp:lastModifiedBy>masander</cp:lastModifiedBy>
  <cp:revision>7</cp:revision>
  <dcterms:created xsi:type="dcterms:W3CDTF">2014-06-17T20:36:48Z</dcterms:created>
  <dcterms:modified xsi:type="dcterms:W3CDTF">2014-08-15T17:13:37Z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