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354" r:id="rId2"/>
    <p:sldId id="258" r:id="rId3"/>
    <p:sldId id="370" r:id="rId4"/>
    <p:sldId id="371" r:id="rId5"/>
    <p:sldId id="372" r:id="rId6"/>
    <p:sldId id="373" r:id="rId7"/>
    <p:sldId id="374" r:id="rId8"/>
    <p:sldId id="375" r:id="rId9"/>
    <p:sldId id="376" r:id="rId10"/>
    <p:sldId id="377" r:id="rId11"/>
    <p:sldId id="378" r:id="rId12"/>
  </p:sldIdLst>
  <p:sldSz cx="12188825"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7F7F7F"/>
    <a:srgbClr val="00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359" autoAdjust="0"/>
  </p:normalViewPr>
  <p:slideViewPr>
    <p:cSldViewPr>
      <p:cViewPr varScale="1">
        <p:scale>
          <a:sx n="65" d="100"/>
          <a:sy n="65" d="100"/>
        </p:scale>
        <p:origin x="-1536" y="-96"/>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8/31/2016</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 xmlns:p14="http://schemas.microsoft.com/office/powerpoint/2010/main"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C87FD523-6A9D-431F-9006-8F984D4E0CCC}" type="slidenum">
              <a:rPr lang="en-US" smtClean="0"/>
              <a:pPr>
                <a:defRPr/>
              </a:pPr>
              <a:t>4</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en-GB" dirty="0" smtClean="0"/>
              <a:t>This slide presents</a:t>
            </a:r>
            <a:r>
              <a:rPr lang="en-GB" baseline="0" dirty="0" smtClean="0"/>
              <a:t> the initial project governance.  On a larger project these are items that are expected to be contained in the work products that make up the Project Management Plan.</a:t>
            </a:r>
            <a:endParaRPr lang="en-GB" dirty="0"/>
          </a:p>
        </p:txBody>
      </p:sp>
      <p:sp>
        <p:nvSpPr>
          <p:cNvPr id="4" name="Slide Number Placeholder 3"/>
          <p:cNvSpPr>
            <a:spLocks noGrp="1"/>
          </p:cNvSpPr>
          <p:nvPr>
            <p:ph type="sldNum" sz="quarter" idx="10"/>
          </p:nvPr>
        </p:nvSpPr>
        <p:spPr/>
        <p:txBody>
          <a:bodyPr/>
          <a:lstStyle/>
          <a:p>
            <a:pPr>
              <a:defRPr/>
            </a:pPr>
            <a:fld id="{C87FD523-6A9D-431F-9006-8F984D4E0CCC}" type="slidenum">
              <a:rPr lang="en-US" smtClean="0"/>
              <a:pPr>
                <a:defRPr/>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is the initial Stakeholder Analysis,</a:t>
            </a:r>
            <a:r>
              <a:rPr lang="en-US" baseline="0" dirty="0" smtClean="0"/>
              <a:t> additional Stakeholders are likely to be identified as the project work begins.  Remember missing stakeholders could mean missing requirements.  Make sure that you investigate any “potential” stakeholders rather than rule them out without any investigation.</a:t>
            </a:r>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6</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C87FD523-6A9D-431F-9006-8F984D4E0CCC}" type="slidenum">
              <a:rPr lang="en-US" smtClean="0"/>
              <a:pPr>
                <a:defRPr/>
              </a:pPr>
              <a:t>7</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en-GB" dirty="0" smtClean="0"/>
              <a:t>If there is something</a:t>
            </a:r>
            <a:r>
              <a:rPr lang="en-GB" baseline="0" dirty="0" smtClean="0"/>
              <a:t> that you feel is missing, or something that needs to be here for your specific project needs, insert it as appropriate.  Likewise, if there are slides that don’t make sense the way they are in this presentation, do what is right for your project.</a:t>
            </a:r>
            <a:endParaRPr lang="en-GB" dirty="0"/>
          </a:p>
        </p:txBody>
      </p:sp>
      <p:sp>
        <p:nvSpPr>
          <p:cNvPr id="4" name="Slide Number Placeholder 3"/>
          <p:cNvSpPr>
            <a:spLocks noGrp="1"/>
          </p:cNvSpPr>
          <p:nvPr>
            <p:ph type="sldNum" sz="quarter" idx="10"/>
          </p:nvPr>
        </p:nvSpPr>
        <p:spPr/>
        <p:txBody>
          <a:bodyPr/>
          <a:lstStyle/>
          <a:p>
            <a:pPr>
              <a:defRPr/>
            </a:pPr>
            <a:fld id="{C87FD523-6A9D-431F-9006-8F984D4E0CCC}" type="slidenum">
              <a:rPr lang="en-US" smtClean="0"/>
              <a:pPr>
                <a:defRPr/>
              </a:pPr>
              <a:t>8</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en-GB" dirty="0" smtClean="0"/>
              <a:t>For small projects you may be able to insert an image of your project plan on this slide.</a:t>
            </a:r>
            <a:endParaRPr lang="en-GB" dirty="0"/>
          </a:p>
        </p:txBody>
      </p:sp>
      <p:sp>
        <p:nvSpPr>
          <p:cNvPr id="4" name="Slide Number Placeholder 3"/>
          <p:cNvSpPr>
            <a:spLocks noGrp="1"/>
          </p:cNvSpPr>
          <p:nvPr>
            <p:ph type="sldNum" sz="quarter" idx="10"/>
          </p:nvPr>
        </p:nvSpPr>
        <p:spPr/>
        <p:txBody>
          <a:bodyPr/>
          <a:lstStyle/>
          <a:p>
            <a:pPr>
              <a:defRPr/>
            </a:pPr>
            <a:fld id="{C87FD523-6A9D-431F-9006-8F984D4E0CCC}" type="slidenum">
              <a:rPr lang="en-US" smtClean="0"/>
              <a:pPr>
                <a:defRPr/>
              </a:pPr>
              <a:t>9</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r>
              <a:rPr lang="en-GB" dirty="0" smtClean="0"/>
              <a:t>Insert</a:t>
            </a:r>
            <a:r>
              <a:rPr lang="en-GB" baseline="0" dirty="0" smtClean="0"/>
              <a:t> additional Appendix slides as needed.</a:t>
            </a:r>
            <a:endParaRPr lang="en-GB" dirty="0"/>
          </a:p>
        </p:txBody>
      </p:sp>
      <p:sp>
        <p:nvSpPr>
          <p:cNvPr id="4" name="Slide Number Placeholder 3"/>
          <p:cNvSpPr>
            <a:spLocks noGrp="1"/>
          </p:cNvSpPr>
          <p:nvPr>
            <p:ph type="sldNum" sz="quarter" idx="10"/>
          </p:nvPr>
        </p:nvSpPr>
        <p:spPr/>
        <p:txBody>
          <a:bodyPr/>
          <a:lstStyle/>
          <a:p>
            <a:pPr>
              <a:defRPr/>
            </a:pPr>
            <a:fld id="{C87FD523-6A9D-431F-9006-8F984D4E0CCC}" type="slidenum">
              <a:rPr lang="en-US" smtClean="0"/>
              <a:pPr>
                <a:defRPr/>
              </a:pPr>
              <a:t>10</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11</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D2C193D5-328F-41DF-B336-5BFD61BB62CD}" type="datetime1">
              <a:rPr lang="en-US" smtClean="0"/>
              <a:pPr/>
              <a:t>8/31/2016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9932002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BB801CED-372C-4F10-8D8F-1F91B6EB4817}" type="datetime1">
              <a:rPr lang="en-US" smtClean="0"/>
              <a:pPr/>
              <a:t>8/31/2016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40415743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1067D49B-AF72-4F76-98E6-861D14A98282}" type="datetime1">
              <a:rPr lang="en-US" smtClean="0"/>
              <a:pPr/>
              <a:t>8/31/2016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9FBB2E2B-9CE2-4155-9222-6BD19D943837}" type="datetime1">
              <a:rPr lang="en-US" smtClean="0"/>
              <a:pPr/>
              <a:t>8/31/2016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43E6D21D-4C35-42BE-83E5-9EE0267FAA05}" type="datetime1">
              <a:rPr lang="en-US" smtClean="0"/>
              <a:pPr/>
              <a:t>8/31/2016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 xmlns:p14="http://schemas.microsoft.com/office/powerpoint/2010/main"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DF6725A6-30D3-40B9-8D01-C01141E0E528}" type="datetime1">
              <a:rPr lang="en-US" smtClean="0"/>
              <a:pPr/>
              <a:t>8/31/2016</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075238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7CE659BC-6ABF-4A22-B4D9-754B7D4368D6}" type="datetime1">
              <a:rPr lang="en-US" smtClean="0"/>
              <a:pPr/>
              <a:t>8/31/2016</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717683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1327C5CC-1DAC-4884-A5F4-3DC5D80DD8DE}" type="datetime1">
              <a:rPr lang="en-US" smtClean="0"/>
              <a:pPr/>
              <a:t>8/31/2016</a:t>
            </a:fld>
            <a:endParaRPr dirty="0"/>
          </a:p>
        </p:txBody>
      </p:sp>
      <p:sp>
        <p:nvSpPr>
          <p:cNvPr id="5" name="Footer Placeholder 4"/>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6812296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A3C344-CDDA-4390-9E14-A084770E579E}" type="datetime1">
              <a:rPr lang="en-US" smtClean="0"/>
              <a:pPr/>
              <a:t>8/31/2016</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5138533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DD5F0108-DBAC-4D5F-8FDC-0ABCBDC43BC0}" type="datetime1">
              <a:rPr lang="en-US" smtClean="0"/>
              <a:pPr/>
              <a:t>8/31/2016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5D0C5A22-DD5D-41BA-BA2A-B92213631C9E}"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6703705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45EA4D4-B08A-4046-8FA8-2392BC7F0607}" type="datetime1">
              <a:rPr lang="en-US" smtClean="0"/>
              <a:pPr/>
              <a:t>8/31/2016</a:t>
            </a:fld>
            <a:endParaRPr lang="en-US"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5962563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83AB3824-4549-45DD-84E7-EAF263EEC4EE}"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450984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296F622D-C5DA-42BB-83BF-721A1669836D}"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0277668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38DF5091-F285-4654-AAF4-BBFF9DBCD8F5}"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201661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7ABEF24F-F71F-4735-B3DD-8D7BF56315BF}"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33714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70606776-9195-4C89-A65B-38B0C59F66F5}"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12263345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17AA91-96F2-4B07-B589-2C31D530A803}"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42812501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561C185-870E-444E-A516-229F182D8167}"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7393865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A82E76FC-0A8F-4723-ADCF-24816DB5D303}" type="datetime1">
              <a:rPr lang="en-US" smtClean="0"/>
              <a:pPr/>
              <a:t>8/31/2016</a:t>
            </a:fld>
            <a:endParaRPr dirty="0"/>
          </a:p>
        </p:txBody>
      </p:sp>
      <p:sp>
        <p:nvSpPr>
          <p:cNvPr id="8" name="Footer Placeholder 7"/>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37870018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6072CAC-EEAD-4EDC-A422-DF845DE1FA93}" type="datetime1">
              <a:rPr lang="en-US" smtClean="0"/>
              <a:pPr/>
              <a:t>8/31/2016</a:t>
            </a:fld>
            <a:endParaRPr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376993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4C0F2239-36E0-447B-BC26-F1B5D4C02A3C}" type="datetime1">
              <a:rPr lang="en-US" smtClean="0"/>
              <a:pPr/>
              <a:t>8/31/2016</a:t>
            </a:fld>
            <a:endParaRPr dirty="0"/>
          </a:p>
        </p:txBody>
      </p:sp>
      <p:sp>
        <p:nvSpPr>
          <p:cNvPr id="4" name="Footer Placeholder 3"/>
          <p:cNvSpPr>
            <a:spLocks noGrp="1"/>
          </p:cNvSpPr>
          <p:nvPr>
            <p:ph type="ftr" sz="quarter" idx="11"/>
          </p:nvPr>
        </p:nvSpPr>
        <p:spPr/>
        <p:txBody>
          <a:bodyPr/>
          <a:lstStyle/>
          <a:p>
            <a:r>
              <a:rPr lang="en-US" smtClean="0"/>
              <a:t>Use Insert &gt; Header and Footer to Update Confidentiality Requirements</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4163620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A7EF19-D0C1-4003-872A-B1D657D82010}" type="datetime1">
              <a:rPr lang="en-US" smtClean="0"/>
              <a:pPr/>
              <a:t>8/31/2016</a:t>
            </a:fld>
            <a:endParaRPr dirty="0"/>
          </a:p>
        </p:txBody>
      </p:sp>
      <p:sp>
        <p:nvSpPr>
          <p:cNvPr id="3" name="Footer Placeholder 2"/>
          <p:cNvSpPr>
            <a:spLocks noGrp="1"/>
          </p:cNvSpPr>
          <p:nvPr>
            <p:ph type="ftr" sz="quarter" idx="11"/>
          </p:nvPr>
        </p:nvSpPr>
        <p:spPr/>
        <p:txBody>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6082293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BB17C6-020C-401D-B0BA-C3B91C03B7B9}"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4578507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D744FC-8F58-4545-9CBE-681206890172}"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0582747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96C065-2418-4BE0-8459-169388A15ED7}"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089822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943484F-7EF3-4E0F-A7AC-82ACCFB6D1C6}"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908547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1130317A-453F-4546-BC82-A1BCD6FD3C52}"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7454445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 xmlns:a14="http://schemas.microsoft.com/office/drawing/2010/main"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B97EE7DD-455E-4BB7-8C08-1E9CA9445235}"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206340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CF2C2D30-8B63-46A6-A4A5-4C4203BD7AE0}"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 xmlns:a14="http://schemas.microsoft.com/office/drawing/2010/main"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86081927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F8C7C5A8-36C8-4E79-ADA0-7D146EB8203D}" type="datetime1">
              <a:rPr lang="en-US" smtClean="0"/>
              <a:pPr/>
              <a:t>8/31/2016</a:t>
            </a:fld>
            <a:endParaRPr dirty="0"/>
          </a:p>
        </p:txBody>
      </p:sp>
      <p:sp>
        <p:nvSpPr>
          <p:cNvPr id="6" name="Footer Placeholder 5"/>
          <p:cNvSpPr>
            <a:spLocks noGrp="1"/>
          </p:cNvSpPr>
          <p:nvPr>
            <p:ph type="ftr" sz="quarter" idx="11"/>
          </p:nvPr>
        </p:nvSpPr>
        <p:spPr/>
        <p:txBody>
          <a:body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 xmlns:a14="http://schemas.microsoft.com/office/drawing/2010/main"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1876601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2CF80C67-3E4A-4767-9617-6EFE351808B2}" type="datetime1">
              <a:rPr lang="en-US" smtClean="0"/>
              <a:pPr/>
              <a:t>8/31/2016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lang="en-US" smtClean="0"/>
              <a:t>Use Insert &gt; Header and Footer to Update Confidentiality Requirements</a:t>
            </a:r>
            <a:endParaRPr dirty="0"/>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44EC4E8E-1CF0-49B8-87F9-DE21F28EA0ED}" type="datetime1">
              <a:rPr lang="en-US" smtClean="0"/>
              <a:pPr/>
              <a:t>8/31/2016</a:t>
            </a:fld>
            <a:endParaRPr dirty="0"/>
          </a:p>
        </p:txBody>
      </p:sp>
      <p:sp>
        <p:nvSpPr>
          <p:cNvPr id="3" name="Footer Placeholder 2"/>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5978894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5906584-D323-458E-933A-12DE01356D60}" type="datetime1">
              <a:rPr lang="en-US" smtClean="0"/>
              <a:pPr/>
              <a:t>8/31/2016</a:t>
            </a:fld>
            <a:endParaRPr dirty="0"/>
          </a:p>
        </p:txBody>
      </p:sp>
      <p:sp>
        <p:nvSpPr>
          <p:cNvPr id="3" name="Footer Placeholder 2"/>
          <p:cNvSpPr>
            <a:spLocks noGrp="1"/>
          </p:cNvSpPr>
          <p:nvPr>
            <p:ph type="ftr" sz="quarter" idx="11"/>
          </p:nvPr>
        </p:nvSpPr>
        <p:spPr/>
        <p:txBody>
          <a:bodyPr>
            <a:noAutofit/>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3588719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F5D9E4-0970-401E-9EBE-6B63CC9F4147}" type="datetime1">
              <a:rPr lang="en-US" smtClean="0"/>
              <a:pPr/>
              <a:t>8/31/2016</a:t>
            </a:fld>
            <a:endParaRPr dirty="0"/>
          </a:p>
        </p:txBody>
      </p:sp>
      <p:sp>
        <p:nvSpPr>
          <p:cNvPr id="3" name="Footer Placeholder 2"/>
          <p:cNvSpPr>
            <a:spLocks noGrp="1"/>
          </p:cNvSpPr>
          <p:nvPr>
            <p:ph type="ftr" sz="quarter" idx="11"/>
          </p:nvPr>
        </p:nvSpPr>
        <p:spPr/>
        <p:txBody>
          <a:bodyPr/>
          <a:lstStyle/>
          <a:p>
            <a:r>
              <a:rPr lang="en-US" smtClean="0"/>
              <a:t>Use Insert &gt; Header and Footer to Update Confidentiality Requirements</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820860" y="2313432"/>
            <a:ext cx="6547104" cy="1832339"/>
          </a:xfrm>
          <a:prstGeom prst="rect">
            <a:avLst/>
          </a:prstGeom>
        </p:spPr>
      </p:pic>
    </p:spTree>
    <p:extLst>
      <p:ext uri="{BB962C8B-B14F-4D97-AF65-F5344CB8AC3E}">
        <p14:creationId xmlns="" xmlns:p14="http://schemas.microsoft.com/office/powerpoint/2010/main" val="37091374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 xmlns:a14="http://schemas.microsoft.com/office/drawing/2010/main" val="0"/>
              </a:ext>
            </a:extLst>
          </a:blip>
          <a:stretch>
            <a:fillRect/>
          </a:stretch>
        </p:blipFill>
        <p:spPr bwMode="black">
          <a:xfrm>
            <a:off x="3822128" y="2843826"/>
            <a:ext cx="4544568" cy="569547"/>
          </a:xfrm>
          <a:prstGeom prst="rect">
            <a:avLst/>
          </a:prstGeom>
        </p:spPr>
      </p:pic>
    </p:spTree>
    <p:extLst>
      <p:ext uri="{BB962C8B-B14F-4D97-AF65-F5344CB8AC3E}">
        <p14:creationId xmlns="" xmlns:p14="http://schemas.microsoft.com/office/powerpoint/2010/main" val="10657555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B45A975C-F818-4241-A389-3BCE093CC1A5}" type="datetime1">
              <a:rPr lang="en-US" smtClean="0"/>
              <a:pPr/>
              <a:t>8/31/2016</a:t>
            </a:fld>
            <a:endParaRPr lang="en-US"/>
          </a:p>
        </p:txBody>
      </p:sp>
      <p:sp>
        <p:nvSpPr>
          <p:cNvPr id="5" name="Footer Placeholder 4"/>
          <p:cNvSpPr>
            <a:spLocks noGrp="1"/>
          </p:cNvSpPr>
          <p:nvPr>
            <p:ph type="ftr" sz="quarter" idx="11"/>
          </p:nvPr>
        </p:nvSpPr>
        <p:spPr/>
        <p:txBody>
          <a:bodyPr>
            <a:noAutofit/>
          </a:bodyPr>
          <a:lstStyle/>
          <a:p>
            <a:r>
              <a:rPr lang="en-US" smtClean="0"/>
              <a:t>Use Insert &gt; Header and Footer to Update Confidentiality Requirements</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 xmlns:p14="http://schemas.microsoft.com/office/powerpoint/2010/main" val="38621871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F4E7D0E9-BB8A-47F0-97BD-CF986CD0E76D}" type="datetime1">
              <a:rPr lang="en-US" smtClean="0"/>
              <a:pPr/>
              <a:t>8/31/2016</a:t>
            </a:fld>
            <a:endParaRPr dirty="0"/>
          </a:p>
        </p:txBody>
      </p:sp>
      <p:sp>
        <p:nvSpPr>
          <p:cNvPr id="5" name="Footer Placeholder 4"/>
          <p:cNvSpPr>
            <a:spLocks noGrp="1"/>
          </p:cNvSpPr>
          <p:nvPr>
            <p:ph type="ftr" sz="quarter" idx="11"/>
          </p:nvPr>
        </p:nvSpPr>
        <p:spPr/>
        <p:txBody>
          <a:bodyPr/>
          <a:lstStyle/>
          <a:p>
            <a:r>
              <a:rPr lang="en-US" smtClean="0"/>
              <a:t>Use Insert &gt; Header and Footer to Update Confidentiality Requirements</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1734545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xmlns="" val="870882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1"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EB370EEF-2861-41F2-8145-CC7B706EF47D}" type="datetime1">
              <a:rPr lang="en-US" smtClean="0"/>
              <a:pPr/>
              <a:t>8/31/2016</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lang="en-US" smtClean="0"/>
              <a:t>Use Insert &gt; Header and Footer to Update Confidentiality Requirements</a:t>
            </a:r>
            <a:endParaRPr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 id="2147483694" r:id="rId39"/>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sldNum="0" hdr="0" ft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5505626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Project Management Plan</a:t>
            </a:r>
            <a:endParaRPr lang="en-US" dirty="0"/>
          </a:p>
        </p:txBody>
      </p:sp>
      <p:sp>
        <p:nvSpPr>
          <p:cNvPr id="3" name="Subtitle 2"/>
          <p:cNvSpPr>
            <a:spLocks noGrp="1"/>
          </p:cNvSpPr>
          <p:nvPr>
            <p:ph type="subTitle" idx="1"/>
          </p:nvPr>
        </p:nvSpPr>
        <p:spPr/>
        <p:txBody>
          <a:bodyPr/>
          <a:lstStyle/>
          <a:p>
            <a:r>
              <a:rPr lang="en-US" dirty="0" smtClean="0"/>
              <a:t>&lt;Company Name&gt;</a:t>
            </a:r>
          </a:p>
          <a:p>
            <a:r>
              <a:rPr lang="en-US" smtClean="0"/>
              <a:t>&lt;Project Name&gt;</a:t>
            </a:r>
            <a:endParaRPr lang="en-US" dirty="0"/>
          </a:p>
        </p:txBody>
      </p:sp>
      <p:sp>
        <p:nvSpPr>
          <p:cNvPr id="6" name="Text Placeholder 5"/>
          <p:cNvSpPr>
            <a:spLocks noGrp="1"/>
          </p:cNvSpPr>
          <p:nvPr>
            <p:ph type="body" sz="quarter" idx="13"/>
          </p:nvPr>
        </p:nvSpPr>
        <p:spPr/>
        <p:txBody>
          <a:bodyPr/>
          <a:lstStyle/>
          <a:p>
            <a:r>
              <a:rPr lang="en-US" smtClean="0"/>
              <a:t>Presenter’s Name</a:t>
            </a:r>
          </a:p>
          <a:p>
            <a:r>
              <a:rPr lang="en-US" smtClean="0"/>
              <a:t>Presenter’s Title</a:t>
            </a:r>
          </a:p>
          <a:p>
            <a:r>
              <a:rPr lang="en-US" smtClean="0"/>
              <a:t>Organization, Division or Business Unit</a:t>
            </a:r>
          </a:p>
          <a:p>
            <a:r>
              <a:rPr lang="en-US" smtClean="0"/>
              <a:t>Month 00, 2014</a:t>
            </a:r>
            <a:endParaRPr lang="en-US" dirty="0"/>
          </a:p>
        </p:txBody>
      </p:sp>
      <p:sp>
        <p:nvSpPr>
          <p:cNvPr id="7" name="TextBox 6"/>
          <p:cNvSpPr txBox="1"/>
          <p:nvPr/>
        </p:nvSpPr>
        <p:spPr>
          <a:xfrm>
            <a:off x="60182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9" name="Picture 8" descr="Oracle_Unified_Method_485C.gif"/>
          <p:cNvPicPr>
            <a:picLocks noChangeAspect="1"/>
          </p:cNvPicPr>
          <p:nvPr/>
        </p:nvPicPr>
        <p:blipFill>
          <a:blip r:embed="rId4" cstate="print"/>
          <a:srcRect/>
          <a:stretch>
            <a:fillRect/>
          </a:stretch>
        </p:blipFill>
        <p:spPr bwMode="auto">
          <a:xfrm>
            <a:off x="9752013" y="5562600"/>
            <a:ext cx="1619250" cy="638175"/>
          </a:xfrm>
          <a:prstGeom prst="rect">
            <a:avLst/>
          </a:prstGeom>
          <a:noFill/>
          <a:ln w="9525">
            <a:noFill/>
            <a:miter lim="800000"/>
            <a:headEnd/>
            <a:tailEnd/>
          </a:ln>
        </p:spPr>
      </p:pic>
    </p:spTree>
    <p:extLst>
      <p:ext uri="{BB962C8B-B14F-4D97-AF65-F5344CB8AC3E}">
        <p14:creationId xmlns="" xmlns:p14="http://schemas.microsoft.com/office/powerpoint/2010/main" val="336776055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97"/>
          <p:cNvSpPr>
            <a:spLocks noChangeArrowheads="1"/>
          </p:cNvSpPr>
          <p:nvPr/>
        </p:nvSpPr>
        <p:spPr bwMode="auto">
          <a:xfrm>
            <a:off x="455612" y="1447800"/>
            <a:ext cx="10855672" cy="43434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600" b="1" u="sng" dirty="0" smtClean="0">
                <a:solidFill>
                  <a:srgbClr val="FF0000"/>
                </a:solidFill>
              </a:rPr>
              <a:t>DELETE THIS SLIDE (PAGE) AFTER USE:</a:t>
            </a:r>
          </a:p>
          <a:p>
            <a:pPr lvl="0"/>
            <a:endParaRPr lang="en-US" sz="1200" b="1" dirty="0" smtClean="0">
              <a:solidFill>
                <a:srgbClr val="FF0000"/>
              </a:solidFill>
            </a:endParaRPr>
          </a:p>
          <a:p>
            <a:pPr lvl="0"/>
            <a:r>
              <a:rPr lang="en-US" sz="1200" b="1" dirty="0" smtClean="0"/>
              <a:t>HOW TO USE THIS ABBREVIATED PMP TEMPLATE, SUITABLE FOR SMALLER (&lt;500 DAY PROJECTS) AND/OR AGILE PROJECTS.</a:t>
            </a:r>
          </a:p>
          <a:p>
            <a:pPr lvl="0"/>
            <a:endParaRPr lang="en-US" sz="1200" b="1" dirty="0" smtClean="0"/>
          </a:p>
          <a:p>
            <a:pPr lvl="0"/>
            <a:r>
              <a:rPr lang="en-US" sz="1200" b="1" dirty="0" smtClean="0"/>
              <a:t>THIS PMP IS A TEMPLATE AND SHOULD BE REVISED TO FIT THE NEEDS OF YOUR PROJECT.  ONCE COMPLETED, THE PRESENTATION MAY BE USED DURINGTHE PROJECT KICK-OFF FOR CUSTOMER/PROJECT TEAM ORIENTATION AND WITH THE USE OF VERSIONING, IT PROVIDES A PROJECT OVERVIEW FOR CHANGES FOLLOWING STAFFING AND/OR CONTRACT REVISIONS, ETC.  </a:t>
            </a:r>
          </a:p>
          <a:p>
            <a:pPr lvl="0"/>
            <a:endParaRPr lang="en-US" sz="1200" dirty="0" smtClean="0"/>
          </a:p>
          <a:p>
            <a:pPr lvl="0"/>
            <a:r>
              <a:rPr lang="en-US" sz="1200" b="1" dirty="0" smtClean="0"/>
              <a:t>PAGE ONE – PROJECT OVERVIEW:  </a:t>
            </a:r>
            <a:r>
              <a:rPr lang="en-US" sz="1200" dirty="0" smtClean="0"/>
              <a:t>Add detail as directed in italics, and remove any text that exists that is not applicable for your project.</a:t>
            </a:r>
          </a:p>
          <a:p>
            <a:pPr lvl="0"/>
            <a:r>
              <a:rPr lang="en-US" sz="1200" b="1" dirty="0" smtClean="0"/>
              <a:t>PAGE TWO – PROJECT MANAGEMENT &amp; CONTROL:  </a:t>
            </a:r>
            <a:r>
              <a:rPr lang="en-US" sz="1200" dirty="0" smtClean="0"/>
              <a:t>Add detail as directed in italics, and remove any text that exists that is not applicable for your project.</a:t>
            </a:r>
          </a:p>
          <a:p>
            <a:pPr lvl="0"/>
            <a:r>
              <a:rPr lang="en-US" sz="1200" b="1" dirty="0" smtClean="0"/>
              <a:t>PAGE THREE – PEOPLE MANAGEMENT:  </a:t>
            </a:r>
            <a:r>
              <a:rPr lang="en-US" sz="1200" dirty="0" smtClean="0"/>
              <a:t>Add detail as directed – for the org chart, move cells around to fit the design of your project.</a:t>
            </a:r>
            <a:endParaRPr lang="en-GB" sz="1200" dirty="0" smtClean="0"/>
          </a:p>
          <a:p>
            <a:pPr lvl="0"/>
            <a:r>
              <a:rPr lang="en-GB" sz="1200" b="1" dirty="0" smtClean="0"/>
              <a:t>PAGE FOUR – PROJECT SUCCESS FACTORS, ASSUMPTIONS, OBLIGATIONS AND ACCEPTANCE:  </a:t>
            </a:r>
          </a:p>
          <a:p>
            <a:pPr lvl="0"/>
            <a:r>
              <a:rPr lang="en-GB" sz="1200" b="1" dirty="0" smtClean="0"/>
              <a:t>PAGE FIVE – DOCUMENT CONTROL, GENERAL ADMINISTRATION, PROJECT ESCALATION/PROJECT SURVEYS</a:t>
            </a:r>
            <a:endParaRPr lang="en-GB" sz="1200" dirty="0" smtClean="0"/>
          </a:p>
          <a:p>
            <a:pPr lvl="0"/>
            <a:r>
              <a:rPr lang="en-GB" sz="1200" b="1" dirty="0" smtClean="0"/>
              <a:t>PAGE SIX – PROJECT BASELINE, APPENDICES : </a:t>
            </a:r>
            <a:r>
              <a:rPr lang="en-GB" sz="1200" dirty="0" smtClean="0"/>
              <a:t>The baseline project plan is needed  </a:t>
            </a:r>
            <a:r>
              <a:rPr lang="en-GB" sz="1200" i="1" dirty="0" smtClean="0"/>
              <a:t>(print screen) </a:t>
            </a:r>
            <a:r>
              <a:rPr lang="en-GB" sz="1200" dirty="0" smtClean="0"/>
              <a:t>to provide detail of timelines and deliverables.  This is to confirm project expectations for the team early on in the project, prior to the detailed Project Plan (Workplan) being available.</a:t>
            </a:r>
          </a:p>
          <a:p>
            <a:pPr lvl="0" algn="ctr"/>
            <a:endParaRPr lang="en-GB" sz="1200" b="1" dirty="0" smtClean="0">
              <a:solidFill>
                <a:srgbClr val="0070C0"/>
              </a:solidFill>
            </a:endParaRPr>
          </a:p>
          <a:p>
            <a:pPr lvl="0" algn="ctr"/>
            <a:r>
              <a:rPr lang="en-GB" sz="1200" b="1" dirty="0" smtClean="0">
                <a:solidFill>
                  <a:srgbClr val="0070C0"/>
                </a:solidFill>
              </a:rPr>
              <a:t>ADD MORE SLIDES IF THERE IS FURTHER INFORMATION NEEDED AND/OR IF ADDITIONAL DETAIL IS REQUIRED ON ANY OF THE PAGES THAT ARE CURRENTLY IN PLACE (e.g. , if any section is not big enough,  within the section, refer to an Appendix and add a new slide at the end of PMP)</a:t>
            </a:r>
            <a:endParaRPr lang="en-GB" sz="1200" b="1" dirty="0" smtClean="0">
              <a:solidFill>
                <a:srgbClr val="FF0000"/>
              </a:solidFill>
            </a:endParaRPr>
          </a:p>
          <a:p>
            <a:pPr lvl="0" algn="ctr"/>
            <a:r>
              <a:rPr lang="en-GB" sz="1200" b="1" dirty="0" smtClean="0">
                <a:solidFill>
                  <a:srgbClr val="FF0000"/>
                </a:solidFill>
              </a:rPr>
              <a:t>SAVE THE DOCUMENT AS V1.0 DRAFT / ISSUE &amp; UPDATE THE FOOTERS ON PAGES 1-6 AND REPLACE &lt;CUSTOMER&gt;</a:t>
            </a:r>
          </a:p>
          <a:p>
            <a:pPr lvl="0" algn="ctr"/>
            <a:endParaRPr lang="en-GB" sz="1200" b="1" dirty="0" smtClean="0">
              <a:solidFill>
                <a:srgbClr val="FF0000"/>
              </a:solidFill>
            </a:endParaRPr>
          </a:p>
          <a:p>
            <a:pPr lvl="0" algn="ctr"/>
            <a:r>
              <a:rPr lang="en-GB" sz="1200" b="1" dirty="0" smtClean="0">
                <a:solidFill>
                  <a:srgbClr val="FF0000"/>
                </a:solidFill>
              </a:rPr>
              <a:t>IMPORTANT:  This is a living document that will be shared with the customer as well as the Project Team.  Any project process changes in the future need to be documented in the PMP and the Change Log / Reviewers Details need to be updated on Page 5 for Version Control Purposes</a:t>
            </a:r>
            <a:endParaRPr lang="en-US" sz="1200" b="1" dirty="0" smtClean="0">
              <a:solidFill>
                <a:srgbClr val="FF0000"/>
              </a:solidFill>
            </a:endParaRPr>
          </a:p>
          <a:p>
            <a:pPr lvl="0"/>
            <a:endParaRPr lang="en-US" sz="1200" dirty="0" smtClean="0">
              <a:solidFill>
                <a:srgbClr val="FF0000"/>
              </a:solidFill>
            </a:endParaRPr>
          </a:p>
          <a:p>
            <a:pPr lvl="0"/>
            <a:endParaRPr lang="en-US" sz="1200" dirty="0" smtClean="0"/>
          </a:p>
          <a:p>
            <a:pPr lvl="0"/>
            <a:endParaRPr lang="en-US" sz="1200" dirty="0" smtClean="0"/>
          </a:p>
        </p:txBody>
      </p:sp>
      <p:sp>
        <p:nvSpPr>
          <p:cNvPr id="4" name="Title 3"/>
          <p:cNvSpPr>
            <a:spLocks noGrp="1"/>
          </p:cNvSpPr>
          <p:nvPr>
            <p:ph type="title"/>
          </p:nvPr>
        </p:nvSpPr>
        <p:spPr/>
        <p:txBody>
          <a:bodyPr/>
          <a:lstStyle/>
          <a:p>
            <a:r>
              <a:rPr lang="en-US" dirty="0" smtClean="0"/>
              <a:t>Instructions</a:t>
            </a:r>
            <a:endParaRPr lang="en-US" dirty="0"/>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90"/>
          <p:cNvSpPr txBox="1">
            <a:spLocks noChangeArrowheads="1"/>
          </p:cNvSpPr>
          <p:nvPr/>
        </p:nvSpPr>
        <p:spPr bwMode="auto">
          <a:xfrm>
            <a:off x="188774" y="841166"/>
            <a:ext cx="417409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Project Background</a:t>
            </a:r>
            <a:endParaRPr lang="en-US" sz="1600" b="1" dirty="0">
              <a:solidFill>
                <a:schemeClr val="tx1">
                  <a:lumMod val="95000"/>
                  <a:lumOff val="5000"/>
                </a:schemeClr>
              </a:solidFill>
            </a:endParaRPr>
          </a:p>
        </p:txBody>
      </p:sp>
      <p:sp>
        <p:nvSpPr>
          <p:cNvPr id="11" name="Text Box 1091"/>
          <p:cNvSpPr txBox="1">
            <a:spLocks noChangeArrowheads="1"/>
          </p:cNvSpPr>
          <p:nvPr/>
        </p:nvSpPr>
        <p:spPr bwMode="auto">
          <a:xfrm>
            <a:off x="210502" y="4178301"/>
            <a:ext cx="726785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Project Scope</a:t>
            </a:r>
            <a:endParaRPr lang="en-US" sz="1600" b="1" dirty="0">
              <a:solidFill>
                <a:schemeClr val="tx1">
                  <a:lumMod val="95000"/>
                  <a:lumOff val="5000"/>
                </a:schemeClr>
              </a:solidFill>
            </a:endParaRPr>
          </a:p>
        </p:txBody>
      </p:sp>
      <p:sp>
        <p:nvSpPr>
          <p:cNvPr id="12" name="Text Box 1092"/>
          <p:cNvSpPr txBox="1">
            <a:spLocks noChangeArrowheads="1"/>
          </p:cNvSpPr>
          <p:nvPr/>
        </p:nvSpPr>
        <p:spPr bwMode="auto">
          <a:xfrm>
            <a:off x="171286" y="2500845"/>
            <a:ext cx="2518177"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a:solidFill>
                  <a:schemeClr val="tx1">
                    <a:lumMod val="95000"/>
                    <a:lumOff val="5000"/>
                  </a:schemeClr>
                </a:solidFill>
              </a:rPr>
              <a:t>Project Objective/Goal</a:t>
            </a:r>
          </a:p>
        </p:txBody>
      </p:sp>
      <p:sp>
        <p:nvSpPr>
          <p:cNvPr id="14" name="Rectangle 1096"/>
          <p:cNvSpPr>
            <a:spLocks noChangeArrowheads="1"/>
          </p:cNvSpPr>
          <p:nvPr/>
        </p:nvSpPr>
        <p:spPr bwMode="auto">
          <a:xfrm>
            <a:off x="172482" y="1181101"/>
            <a:ext cx="7305869" cy="13461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200" i="1" dirty="0" smtClean="0"/>
              <a:t>This is from Envision, pre-sales artifacts or as agreed with customer</a:t>
            </a:r>
          </a:p>
        </p:txBody>
      </p:sp>
      <p:sp>
        <p:nvSpPr>
          <p:cNvPr id="15" name="Rectangle 1097"/>
          <p:cNvSpPr>
            <a:spLocks noChangeArrowheads="1"/>
          </p:cNvSpPr>
          <p:nvPr/>
        </p:nvSpPr>
        <p:spPr bwMode="auto">
          <a:xfrm>
            <a:off x="206652" y="4546601"/>
            <a:ext cx="7309791" cy="14858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300" dirty="0" smtClean="0"/>
              <a:t> </a:t>
            </a:r>
            <a:r>
              <a:rPr lang="en-US" sz="1300" i="1" dirty="0" smtClean="0"/>
              <a:t>This is from the contract, Envision or other pre-project artifact </a:t>
            </a:r>
          </a:p>
        </p:txBody>
      </p:sp>
      <p:sp>
        <p:nvSpPr>
          <p:cNvPr id="17" name="Rectangle 1099"/>
          <p:cNvSpPr>
            <a:spLocks noChangeArrowheads="1"/>
          </p:cNvSpPr>
          <p:nvPr/>
        </p:nvSpPr>
        <p:spPr bwMode="auto">
          <a:xfrm>
            <a:off x="175357" y="2895601"/>
            <a:ext cx="7328388" cy="13081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300" i="1" dirty="0" smtClean="0"/>
              <a:t>This is from Envision, pre-sales artifacts or as agreed with customer</a:t>
            </a:r>
          </a:p>
        </p:txBody>
      </p:sp>
      <p:sp>
        <p:nvSpPr>
          <p:cNvPr id="32" name="Text Box 1091"/>
          <p:cNvSpPr txBox="1">
            <a:spLocks noChangeArrowheads="1"/>
          </p:cNvSpPr>
          <p:nvPr/>
        </p:nvSpPr>
        <p:spPr bwMode="auto">
          <a:xfrm>
            <a:off x="7865117" y="3059668"/>
            <a:ext cx="3181006"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en-US" sz="1600" b="1" dirty="0" smtClean="0">
                <a:solidFill>
                  <a:schemeClr val="tx1">
                    <a:lumMod val="95000"/>
                    <a:lumOff val="5000"/>
                  </a:schemeClr>
                </a:solidFill>
              </a:rPr>
              <a:t>Associated Documents</a:t>
            </a:r>
            <a:endParaRPr lang="en-US" sz="1600" b="1" dirty="0"/>
          </a:p>
        </p:txBody>
      </p:sp>
      <p:sp>
        <p:nvSpPr>
          <p:cNvPr id="37" name="Rectangle 1097"/>
          <p:cNvSpPr>
            <a:spLocks noChangeArrowheads="1"/>
          </p:cNvSpPr>
          <p:nvPr/>
        </p:nvSpPr>
        <p:spPr bwMode="auto">
          <a:xfrm>
            <a:off x="7846555" y="3467100"/>
            <a:ext cx="3974066" cy="12573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defRPr/>
            </a:pPr>
            <a:r>
              <a:rPr lang="en-US" sz="1100" b="1" dirty="0" smtClean="0"/>
              <a:t>OD Reference: </a:t>
            </a:r>
            <a:r>
              <a:rPr lang="en-US" sz="1100" b="1" i="1" dirty="0" smtClean="0">
                <a:solidFill>
                  <a:srgbClr val="FF0000"/>
                </a:solidFill>
              </a:rPr>
              <a:t>Add date and reference and location in Project Workspace</a:t>
            </a:r>
          </a:p>
          <a:p>
            <a:pPr>
              <a:defRPr/>
            </a:pPr>
            <a:endParaRPr lang="en-GB" sz="1100" b="1" dirty="0" smtClean="0"/>
          </a:p>
          <a:p>
            <a:pPr marL="304747" indent="-304747">
              <a:buAutoNum type="arabicPeriod"/>
              <a:defRPr/>
            </a:pPr>
            <a:r>
              <a:rPr lang="en-GB" sz="1100" b="1" dirty="0" smtClean="0"/>
              <a:t>Add any other documents not referenced in this PMP that will be used and their location in the Project Workspace</a:t>
            </a:r>
          </a:p>
          <a:p>
            <a:pPr marL="304747" indent="-304747">
              <a:buAutoNum type="arabicPeriod"/>
              <a:defRPr/>
            </a:pPr>
            <a:r>
              <a:rPr lang="en-GB" sz="1100" b="1" dirty="0" smtClean="0"/>
              <a:t>Any other document</a:t>
            </a:r>
          </a:p>
        </p:txBody>
      </p:sp>
      <p:sp>
        <p:nvSpPr>
          <p:cNvPr id="35" name="Rectangle 1097"/>
          <p:cNvSpPr>
            <a:spLocks noChangeArrowheads="1"/>
          </p:cNvSpPr>
          <p:nvPr/>
        </p:nvSpPr>
        <p:spPr bwMode="auto">
          <a:xfrm>
            <a:off x="7815558" y="5366836"/>
            <a:ext cx="3986762" cy="221163"/>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dirty="0" smtClean="0"/>
              <a:t>Planned  End Date: </a:t>
            </a:r>
            <a:r>
              <a:rPr lang="en-US" sz="1200" i="1" dirty="0" smtClean="0">
                <a:solidFill>
                  <a:srgbClr val="FF0000"/>
                </a:solidFill>
              </a:rPr>
              <a:t>date from contract</a:t>
            </a:r>
            <a:endParaRPr lang="en-US" sz="1200" dirty="0" smtClean="0">
              <a:solidFill>
                <a:srgbClr val="FF0000"/>
              </a:solidFill>
            </a:endParaRPr>
          </a:p>
        </p:txBody>
      </p:sp>
      <p:sp>
        <p:nvSpPr>
          <p:cNvPr id="38" name="Rectangle 1097"/>
          <p:cNvSpPr>
            <a:spLocks noChangeArrowheads="1"/>
          </p:cNvSpPr>
          <p:nvPr/>
        </p:nvSpPr>
        <p:spPr bwMode="auto">
          <a:xfrm>
            <a:off x="7809210" y="5734536"/>
            <a:ext cx="3999458" cy="285264"/>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dirty="0" smtClean="0"/>
              <a:t>Fixed Price  / Time &amp; Materials / Staff Augmentation</a:t>
            </a:r>
          </a:p>
        </p:txBody>
      </p:sp>
      <p:sp>
        <p:nvSpPr>
          <p:cNvPr id="40" name="Rectangle 1097"/>
          <p:cNvSpPr>
            <a:spLocks noChangeArrowheads="1"/>
          </p:cNvSpPr>
          <p:nvPr/>
        </p:nvSpPr>
        <p:spPr bwMode="auto">
          <a:xfrm>
            <a:off x="7821907" y="4999136"/>
            <a:ext cx="3974065" cy="245963"/>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dirty="0" smtClean="0"/>
              <a:t>Project Start Date: </a:t>
            </a:r>
            <a:r>
              <a:rPr lang="en-US" sz="1200" i="1" dirty="0" smtClean="0">
                <a:solidFill>
                  <a:srgbClr val="FF0000"/>
                </a:solidFill>
              </a:rPr>
              <a:t>date from contract</a:t>
            </a:r>
            <a:endParaRPr lang="en-US" sz="1200" dirty="0" smtClean="0">
              <a:solidFill>
                <a:srgbClr val="FF0000"/>
              </a:solidFill>
            </a:endParaRPr>
          </a:p>
        </p:txBody>
      </p:sp>
      <p:sp>
        <p:nvSpPr>
          <p:cNvPr id="30" name="Footer Placeholder 4"/>
          <p:cNvSpPr txBox="1">
            <a:spLocks/>
          </p:cNvSpPr>
          <p:nvPr/>
        </p:nvSpPr>
        <p:spPr>
          <a:xfrm>
            <a:off x="2158417" y="6415617"/>
            <a:ext cx="3859795" cy="366183"/>
          </a:xfrm>
          <a:prstGeom prst="rect">
            <a:avLst/>
          </a:prstGeom>
        </p:spPr>
        <p:txBody>
          <a:bodyPr lIns="121899" tIns="60949" rIns="121899" bIns="60949"/>
          <a:lstStyle>
            <a:lvl1pPr>
              <a:defRPr/>
            </a:lvl1pPr>
          </a:lstStyle>
          <a:p>
            <a:pPr lvl="0">
              <a:defRPr/>
            </a:pPr>
            <a:r>
              <a:rPr lang="en-US" sz="800" dirty="0" smtClean="0"/>
              <a:t>&lt;CUST&gt;</a:t>
            </a:r>
            <a:r>
              <a:rPr lang="en-US" sz="800" dirty="0" smtClean="0">
                <a:latin typeface="Arial" pitchFamily="34" charset="0"/>
                <a:ea typeface="ＭＳ Ｐゴシック" pitchFamily="34" charset="-128"/>
                <a:cs typeface="Arial" pitchFamily="34" charset="0"/>
              </a:rPr>
              <a:t>-ORCL-PMP-005 </a:t>
            </a:r>
            <a:r>
              <a:rPr lang="en-US" sz="800" b="1" dirty="0" smtClean="0"/>
              <a:t>3003XXXXX</a:t>
            </a:r>
            <a:endParaRPr lang="en-US" sz="800" dirty="0" smtClean="0">
              <a:latin typeface="Arial" pitchFamily="34" charset="0"/>
              <a:ea typeface="ＭＳ Ｐゴシック" pitchFamily="34" charset="-128"/>
              <a:cs typeface="Arial" pitchFamily="34" charset="0"/>
            </a:endParaRPr>
          </a:p>
          <a:p>
            <a:pPr lvl="0">
              <a:defRPr/>
            </a:pPr>
            <a:r>
              <a:rPr lang="en-US" sz="800" b="1" dirty="0" smtClean="0"/>
              <a:t>Version:               Date:  	</a:t>
            </a:r>
            <a:r>
              <a:rPr lang="en-US" sz="800" dirty="0" smtClean="0">
                <a:latin typeface="Arial" pitchFamily="34" charset="0"/>
                <a:ea typeface="ＭＳ Ｐゴシック" pitchFamily="34" charset="-128"/>
                <a:cs typeface="Arial" pitchFamily="34" charset="0"/>
              </a:rPr>
              <a:t>Page 1 of 6</a:t>
            </a:r>
            <a:endParaRPr lang="en-US" sz="800" dirty="0">
              <a:latin typeface="Arial" pitchFamily="34" charset="0"/>
              <a:ea typeface="ＭＳ Ｐゴシック" pitchFamily="34" charset="-128"/>
              <a:cs typeface="Arial" pitchFamily="34" charset="0"/>
            </a:endParaRPr>
          </a:p>
        </p:txBody>
      </p:sp>
      <p:sp>
        <p:nvSpPr>
          <p:cNvPr id="31" name="Text Box 1091"/>
          <p:cNvSpPr txBox="1">
            <a:spLocks noChangeArrowheads="1"/>
          </p:cNvSpPr>
          <p:nvPr/>
        </p:nvSpPr>
        <p:spPr bwMode="auto">
          <a:xfrm>
            <a:off x="7763543" y="892591"/>
            <a:ext cx="401898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en-US" sz="1600" b="1" dirty="0" smtClean="0">
                <a:solidFill>
                  <a:schemeClr val="tx1">
                    <a:lumMod val="95000"/>
                    <a:lumOff val="5000"/>
                  </a:schemeClr>
                </a:solidFill>
              </a:rPr>
              <a:t>Milestones / Payment Milestones</a:t>
            </a:r>
            <a:endParaRPr lang="en-US" sz="1600" b="1" dirty="0"/>
          </a:p>
        </p:txBody>
      </p:sp>
      <p:sp>
        <p:nvSpPr>
          <p:cNvPr id="33" name="Rectangle 1097"/>
          <p:cNvSpPr>
            <a:spLocks noChangeArrowheads="1"/>
          </p:cNvSpPr>
          <p:nvPr/>
        </p:nvSpPr>
        <p:spPr bwMode="auto">
          <a:xfrm>
            <a:off x="7808465" y="1206501"/>
            <a:ext cx="3974066" cy="10794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marL="304747" indent="-304747">
              <a:buAutoNum type="arabicPeriod"/>
              <a:defRPr/>
            </a:pPr>
            <a:r>
              <a:rPr lang="en-US" sz="1100" i="1" dirty="0" smtClean="0"/>
              <a:t>Add details</a:t>
            </a:r>
          </a:p>
          <a:p>
            <a:pPr marL="304747" indent="-304747">
              <a:buAutoNum type="arabicPeriod"/>
              <a:defRPr/>
            </a:pPr>
            <a:r>
              <a:rPr lang="en-US" sz="1100" i="1" dirty="0" smtClean="0"/>
              <a:t>Add details</a:t>
            </a:r>
          </a:p>
          <a:p>
            <a:pPr marL="304747" indent="-304747">
              <a:buAutoNum type="arabicPeriod"/>
              <a:defRPr/>
            </a:pPr>
            <a:r>
              <a:rPr lang="en-GB" sz="1100" i="1" dirty="0" smtClean="0"/>
              <a:t>Add Details</a:t>
            </a:r>
          </a:p>
          <a:p>
            <a:pPr marL="304747" indent="-304747">
              <a:buAutoNum type="arabicPeriod"/>
              <a:defRPr/>
            </a:pPr>
            <a:endParaRPr lang="en-GB" sz="1100" i="1" dirty="0" smtClean="0"/>
          </a:p>
          <a:p>
            <a:pPr marL="304747" indent="-304747">
              <a:defRPr/>
            </a:pPr>
            <a:r>
              <a:rPr lang="en-GB" sz="1100" i="1" dirty="0" smtClean="0">
                <a:solidFill>
                  <a:srgbClr val="FF0000"/>
                </a:solidFill>
              </a:rPr>
              <a:t>	If this is a T&amp;M Project, refer to the Financial Management Plan also</a:t>
            </a:r>
            <a:endParaRPr lang="en-US" sz="1100" i="1" dirty="0" smtClean="0">
              <a:solidFill>
                <a:srgbClr val="FF0000"/>
              </a:solidFill>
            </a:endParaRPr>
          </a:p>
          <a:p>
            <a:pPr lvl="0"/>
            <a:endParaRPr lang="en-US" sz="1100" dirty="0"/>
          </a:p>
        </p:txBody>
      </p:sp>
      <p:sp>
        <p:nvSpPr>
          <p:cNvPr id="21" name="Rectangle 1097"/>
          <p:cNvSpPr>
            <a:spLocks noChangeArrowheads="1"/>
          </p:cNvSpPr>
          <p:nvPr/>
        </p:nvSpPr>
        <p:spPr bwMode="auto">
          <a:xfrm>
            <a:off x="8938473" y="2400301"/>
            <a:ext cx="2831362" cy="5587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lgn="l">
              <a:defRPr/>
            </a:pPr>
            <a:r>
              <a:rPr lang="en-US" sz="1200" i="1" dirty="0" smtClean="0">
                <a:solidFill>
                  <a:srgbClr val="FF0000"/>
                </a:solidFill>
              </a:rPr>
              <a:t>Add Health Check Date if Applicable</a:t>
            </a:r>
          </a:p>
          <a:p>
            <a:pPr algn="l">
              <a:defRPr/>
            </a:pPr>
            <a:r>
              <a:rPr lang="en-GB" sz="1200" i="1" dirty="0" smtClean="0">
                <a:solidFill>
                  <a:srgbClr val="FF0000"/>
                </a:solidFill>
              </a:rPr>
              <a:t>Add Audit Date if Applicable</a:t>
            </a:r>
            <a:endParaRPr lang="en-US" sz="1200" i="1" dirty="0">
              <a:solidFill>
                <a:srgbClr val="FF0000"/>
              </a:solidFill>
            </a:endParaRPr>
          </a:p>
        </p:txBody>
      </p:sp>
      <p:sp>
        <p:nvSpPr>
          <p:cNvPr id="22" name="Text Box 1067"/>
          <p:cNvSpPr txBox="1">
            <a:spLocks noChangeArrowheads="1"/>
          </p:cNvSpPr>
          <p:nvPr/>
        </p:nvSpPr>
        <p:spPr bwMode="auto">
          <a:xfrm>
            <a:off x="7592623" y="2349500"/>
            <a:ext cx="1409333" cy="6552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tabLst>
                <a:tab pos="1428750" algn="l"/>
              </a:tabLst>
              <a:defRPr sz="2400">
                <a:solidFill>
                  <a:schemeClr val="tx1"/>
                </a:solidFill>
                <a:latin typeface="Arial" pitchFamily="34" charset="0"/>
              </a:defRPr>
            </a:lvl1pPr>
            <a:lvl2pPr marL="742950" indent="-285750" eaLnBrk="0" hangingPunct="0">
              <a:tabLst>
                <a:tab pos="1428750" algn="l"/>
              </a:tabLst>
              <a:defRPr sz="2400">
                <a:solidFill>
                  <a:schemeClr val="tx1"/>
                </a:solidFill>
                <a:latin typeface="Arial" pitchFamily="34" charset="0"/>
              </a:defRPr>
            </a:lvl2pPr>
            <a:lvl3pPr marL="1143000" indent="-228600" eaLnBrk="0" hangingPunct="0">
              <a:tabLst>
                <a:tab pos="1428750" algn="l"/>
              </a:tabLst>
              <a:defRPr sz="2400">
                <a:solidFill>
                  <a:schemeClr val="tx1"/>
                </a:solidFill>
                <a:latin typeface="Arial" pitchFamily="34" charset="0"/>
              </a:defRPr>
            </a:lvl3pPr>
            <a:lvl4pPr marL="1600200" indent="-228600" eaLnBrk="0" hangingPunct="0">
              <a:tabLst>
                <a:tab pos="1428750" algn="l"/>
              </a:tabLst>
              <a:defRPr sz="2400">
                <a:solidFill>
                  <a:schemeClr val="tx1"/>
                </a:solidFill>
                <a:latin typeface="Arial" pitchFamily="34" charset="0"/>
              </a:defRPr>
            </a:lvl4pPr>
            <a:lvl5pPr marL="2057400" indent="-228600" eaLnBrk="0" hangingPunct="0">
              <a:tabLst>
                <a:tab pos="1428750" algn="l"/>
              </a:tabLst>
              <a:defRPr sz="2400">
                <a:solidFill>
                  <a:schemeClr val="tx1"/>
                </a:solidFill>
                <a:latin typeface="Arial" pitchFamily="34" charset="0"/>
              </a:defRPr>
            </a:lvl5pPr>
            <a:lvl6pPr marL="2514600" indent="-228600" eaLnBrk="0" fontAlgn="base" hangingPunct="0">
              <a:spcBef>
                <a:spcPct val="0"/>
              </a:spcBef>
              <a:spcAft>
                <a:spcPct val="0"/>
              </a:spcAft>
              <a:tabLst>
                <a:tab pos="1428750" algn="l"/>
              </a:tabLst>
              <a:defRPr sz="2400">
                <a:solidFill>
                  <a:schemeClr val="tx1"/>
                </a:solidFill>
                <a:latin typeface="Arial" pitchFamily="34" charset="0"/>
              </a:defRPr>
            </a:lvl6pPr>
            <a:lvl7pPr marL="2971800" indent="-228600" eaLnBrk="0" fontAlgn="base" hangingPunct="0">
              <a:spcBef>
                <a:spcPct val="0"/>
              </a:spcBef>
              <a:spcAft>
                <a:spcPct val="0"/>
              </a:spcAft>
              <a:tabLst>
                <a:tab pos="1428750" algn="l"/>
              </a:tabLst>
              <a:defRPr sz="2400">
                <a:solidFill>
                  <a:schemeClr val="tx1"/>
                </a:solidFill>
                <a:latin typeface="Arial" pitchFamily="34" charset="0"/>
              </a:defRPr>
            </a:lvl7pPr>
            <a:lvl8pPr marL="3429000" indent="-228600" eaLnBrk="0" fontAlgn="base" hangingPunct="0">
              <a:spcBef>
                <a:spcPct val="0"/>
              </a:spcBef>
              <a:spcAft>
                <a:spcPct val="0"/>
              </a:spcAft>
              <a:tabLst>
                <a:tab pos="1428750" algn="l"/>
              </a:tabLst>
              <a:defRPr sz="2400">
                <a:solidFill>
                  <a:schemeClr val="tx1"/>
                </a:solidFill>
                <a:latin typeface="Arial" pitchFamily="34" charset="0"/>
              </a:defRPr>
            </a:lvl8pPr>
            <a:lvl9pPr marL="3886200" indent="-228600" eaLnBrk="0" fontAlgn="base" hangingPunct="0">
              <a:spcBef>
                <a:spcPct val="0"/>
              </a:spcBef>
              <a:spcAft>
                <a:spcPct val="0"/>
              </a:spcAft>
              <a:tabLst>
                <a:tab pos="1428750" algn="l"/>
              </a:tabLst>
              <a:defRPr sz="2400">
                <a:solidFill>
                  <a:schemeClr val="tx1"/>
                </a:solidFill>
                <a:latin typeface="Arial" pitchFamily="34" charset="0"/>
              </a:defRPr>
            </a:lvl9pPr>
          </a:lstStyle>
          <a:p>
            <a:pPr>
              <a:lnSpc>
                <a:spcPct val="133000"/>
              </a:lnSpc>
              <a:spcBef>
                <a:spcPts val="533"/>
              </a:spcBef>
            </a:pPr>
            <a:r>
              <a:rPr lang="en-US" sz="1300" dirty="0" smtClean="0">
                <a:solidFill>
                  <a:schemeClr val="tx1">
                    <a:lumMod val="95000"/>
                    <a:lumOff val="5000"/>
                  </a:schemeClr>
                </a:solidFill>
              </a:rPr>
              <a:t>Health Checks:</a:t>
            </a:r>
            <a:br>
              <a:rPr lang="en-US" sz="1300" dirty="0" smtClean="0">
                <a:solidFill>
                  <a:schemeClr val="tx1">
                    <a:lumMod val="95000"/>
                    <a:lumOff val="5000"/>
                  </a:schemeClr>
                </a:solidFill>
              </a:rPr>
            </a:br>
            <a:r>
              <a:rPr lang="en-US" sz="1300" dirty="0" smtClean="0">
                <a:solidFill>
                  <a:schemeClr val="tx1">
                    <a:lumMod val="95000"/>
                    <a:lumOff val="5000"/>
                  </a:schemeClr>
                </a:solidFill>
              </a:rPr>
              <a:t>Audits:</a:t>
            </a:r>
            <a:endParaRPr lang="en-US" sz="1100" dirty="0">
              <a:solidFill>
                <a:schemeClr val="tx1">
                  <a:lumMod val="95000"/>
                  <a:lumOff val="5000"/>
                </a:schemeClr>
              </a:solidFill>
            </a:endParaRPr>
          </a:p>
        </p:txBody>
      </p:sp>
      <p:sp>
        <p:nvSpPr>
          <p:cNvPr id="23" name="Title 22"/>
          <p:cNvSpPr>
            <a:spLocks noGrp="1"/>
          </p:cNvSpPr>
          <p:nvPr>
            <p:ph type="title"/>
          </p:nvPr>
        </p:nvSpPr>
        <p:spPr>
          <a:xfrm>
            <a:off x="531812" y="0"/>
            <a:ext cx="11125200" cy="889000"/>
          </a:xfrm>
        </p:spPr>
        <p:txBody>
          <a:bodyPr/>
          <a:lstStyle/>
          <a:p>
            <a:r>
              <a:rPr lang="en-US" dirty="0" smtClean="0"/>
              <a:t>&lt;Customer&gt; &lt;Project Name&gt;</a:t>
            </a:r>
            <a:endParaRPr lang="en-US" dirty="0"/>
          </a:p>
        </p:txBody>
      </p:sp>
    </p:spTree>
    <p:extLst>
      <p:ext uri="{BB962C8B-B14F-4D97-AF65-F5344CB8AC3E}">
        <p14:creationId xmlns:p14="http://schemas.microsoft.com/office/powerpoint/2010/main" xmlns="" val="71950556"/>
      </p:ext>
    </p:extLst>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1091"/>
          <p:cNvSpPr txBox="1">
            <a:spLocks noChangeArrowheads="1"/>
          </p:cNvSpPr>
          <p:nvPr/>
        </p:nvSpPr>
        <p:spPr bwMode="auto">
          <a:xfrm>
            <a:off x="159715" y="2744521"/>
            <a:ext cx="726785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Financial  Management Plan (Finance Tracking, Tools etc)</a:t>
            </a:r>
            <a:endParaRPr lang="en-US" sz="1600" b="1" dirty="0">
              <a:solidFill>
                <a:schemeClr val="tx1">
                  <a:lumMod val="95000"/>
                  <a:lumOff val="5000"/>
                </a:schemeClr>
              </a:solidFill>
            </a:endParaRPr>
          </a:p>
        </p:txBody>
      </p:sp>
      <p:sp>
        <p:nvSpPr>
          <p:cNvPr id="12" name="Text Box 1092"/>
          <p:cNvSpPr txBox="1">
            <a:spLocks noChangeArrowheads="1"/>
          </p:cNvSpPr>
          <p:nvPr/>
        </p:nvSpPr>
        <p:spPr bwMode="auto">
          <a:xfrm>
            <a:off x="2671790" y="824649"/>
            <a:ext cx="313984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Communication Plan</a:t>
            </a:r>
            <a:endParaRPr lang="en-US" sz="1600" b="1" dirty="0">
              <a:solidFill>
                <a:schemeClr val="tx1">
                  <a:lumMod val="95000"/>
                  <a:lumOff val="5000"/>
                </a:schemeClr>
              </a:solidFill>
            </a:endParaRPr>
          </a:p>
        </p:txBody>
      </p:sp>
      <p:sp>
        <p:nvSpPr>
          <p:cNvPr id="15" name="Rectangle 1097"/>
          <p:cNvSpPr>
            <a:spLocks noChangeArrowheads="1"/>
          </p:cNvSpPr>
          <p:nvPr/>
        </p:nvSpPr>
        <p:spPr bwMode="auto">
          <a:xfrm>
            <a:off x="199847" y="3062630"/>
            <a:ext cx="7309791" cy="118994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lgn="l">
              <a:buFont typeface="Wingdings" pitchFamily="2" charset="2"/>
              <a:buNone/>
              <a:defRPr/>
            </a:pPr>
            <a:r>
              <a:rPr lang="en-US" sz="1200" dirty="0" smtClean="0"/>
              <a:t>Internal Tracking System </a:t>
            </a:r>
            <a:r>
              <a:rPr lang="en-US" sz="1200" b="1" dirty="0" smtClean="0"/>
              <a:t>OR</a:t>
            </a:r>
            <a:r>
              <a:rPr lang="en-US" sz="1200" dirty="0" smtClean="0"/>
              <a:t> Project Expenses Spreadsheet </a:t>
            </a:r>
            <a:r>
              <a:rPr lang="en-US" sz="1200" i="1" dirty="0" smtClean="0">
                <a:solidFill>
                  <a:srgbClr val="FF0000"/>
                </a:solidFill>
              </a:rPr>
              <a:t>(add project work location for the spreadsheet)</a:t>
            </a:r>
          </a:p>
          <a:p>
            <a:pPr>
              <a:defRPr/>
            </a:pPr>
            <a:r>
              <a:rPr lang="en-US" sz="1200" dirty="0" smtClean="0"/>
              <a:t>Expense Non billable expenses – per PM authority / Billable – per contract (OD): </a:t>
            </a:r>
            <a:r>
              <a:rPr lang="en-US" sz="1200" i="1" dirty="0" smtClean="0">
                <a:solidFill>
                  <a:srgbClr val="FF0000"/>
                </a:solidFill>
              </a:rPr>
              <a:t>provide details from contract</a:t>
            </a:r>
            <a:r>
              <a:rPr lang="en-US" sz="1200" dirty="0" smtClean="0">
                <a:solidFill>
                  <a:srgbClr val="FF0000"/>
                </a:solidFill>
              </a:rPr>
              <a:t>  / </a:t>
            </a:r>
            <a:r>
              <a:rPr lang="en-US" sz="1200" dirty="0" smtClean="0"/>
              <a:t>Timesheet Codes:  </a:t>
            </a:r>
            <a:r>
              <a:rPr lang="en-US" sz="1200" i="1" dirty="0" smtClean="0">
                <a:solidFill>
                  <a:srgbClr val="FF0000"/>
                </a:solidFill>
              </a:rPr>
              <a:t>Set these up with Project Finance and detail them here</a:t>
            </a:r>
            <a:endParaRPr lang="en-US" sz="1200" dirty="0" smtClean="0">
              <a:solidFill>
                <a:srgbClr val="FF0000"/>
              </a:solidFill>
            </a:endParaRPr>
          </a:p>
          <a:p>
            <a:pPr>
              <a:defRPr/>
            </a:pPr>
            <a:r>
              <a:rPr lang="en-GB" sz="1200" dirty="0" smtClean="0"/>
              <a:t>Invoicing:  </a:t>
            </a:r>
            <a:r>
              <a:rPr lang="en-GB" sz="1200" i="1" dirty="0" smtClean="0">
                <a:solidFill>
                  <a:srgbClr val="FF0000"/>
                </a:solidFill>
              </a:rPr>
              <a:t>Provide details on how invoicing will be managed </a:t>
            </a:r>
          </a:p>
          <a:p>
            <a:pPr>
              <a:defRPr/>
            </a:pPr>
            <a:r>
              <a:rPr lang="en-GB" sz="1200" b="1" i="1" dirty="0" smtClean="0">
                <a:solidFill>
                  <a:srgbClr val="FF0000"/>
                </a:solidFill>
              </a:rPr>
              <a:t>NOTE: </a:t>
            </a:r>
            <a:r>
              <a:rPr lang="en-GB" sz="1200" i="1" dirty="0" smtClean="0">
                <a:solidFill>
                  <a:srgbClr val="FF0000"/>
                </a:solidFill>
              </a:rPr>
              <a:t>T&amp;M Projects only: External Tracking is usually via the weekly Budget statements that are reconciled with the Monthly Invoice prior to the invoice being sent to the customer for payment</a:t>
            </a:r>
            <a:endParaRPr lang="en-US" sz="1200" dirty="0" smtClean="0">
              <a:solidFill>
                <a:srgbClr val="FF0000"/>
              </a:solidFill>
            </a:endParaRPr>
          </a:p>
          <a:p>
            <a:pPr>
              <a:defRPr/>
            </a:pPr>
            <a:endParaRPr lang="en-US" sz="1200" dirty="0" smtClean="0">
              <a:solidFill>
                <a:srgbClr val="FF0000"/>
              </a:solidFill>
            </a:endParaRPr>
          </a:p>
        </p:txBody>
      </p:sp>
      <p:sp>
        <p:nvSpPr>
          <p:cNvPr id="17" name="Rectangle 1099"/>
          <p:cNvSpPr>
            <a:spLocks noChangeArrowheads="1"/>
          </p:cNvSpPr>
          <p:nvPr/>
        </p:nvSpPr>
        <p:spPr bwMode="auto">
          <a:xfrm>
            <a:off x="188052" y="1136396"/>
            <a:ext cx="3824103" cy="1565352"/>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defRPr/>
            </a:pPr>
            <a:r>
              <a:rPr lang="en-US" sz="1200" b="1" dirty="0" smtClean="0">
                <a:solidFill>
                  <a:schemeClr val="tx1">
                    <a:lumMod val="95000"/>
                    <a:lumOff val="5000"/>
                  </a:schemeClr>
                </a:solidFill>
              </a:rPr>
              <a:t>REPORTING</a:t>
            </a:r>
          </a:p>
          <a:p>
            <a:pPr>
              <a:defRPr/>
            </a:pPr>
            <a:r>
              <a:rPr lang="en-US" sz="1200" dirty="0" smtClean="0">
                <a:solidFill>
                  <a:schemeClr val="tx1">
                    <a:lumMod val="95000"/>
                    <a:lumOff val="5000"/>
                  </a:schemeClr>
                </a:solidFill>
              </a:rPr>
              <a:t>Status Reporting:  </a:t>
            </a:r>
            <a:r>
              <a:rPr lang="en-US" sz="1200" dirty="0" smtClean="0">
                <a:solidFill>
                  <a:srgbClr val="FF0000"/>
                </a:solidFill>
              </a:rPr>
              <a:t>Provide details of how this will be done (e.g.  / Tracking Spreadsheet, System)</a:t>
            </a:r>
          </a:p>
          <a:p>
            <a:pPr>
              <a:defRPr/>
            </a:pPr>
            <a:r>
              <a:rPr lang="en-US" sz="1200" dirty="0" smtClean="0">
                <a:solidFill>
                  <a:schemeClr val="tx1">
                    <a:lumMod val="95000"/>
                    <a:lumOff val="5000"/>
                  </a:schemeClr>
                </a:solidFill>
              </a:rPr>
              <a:t>Weekly customer Report: </a:t>
            </a:r>
            <a:r>
              <a:rPr lang="en-US" sz="1200" i="1" dirty="0" smtClean="0">
                <a:solidFill>
                  <a:srgbClr val="FF0000"/>
                </a:solidFill>
              </a:rPr>
              <a:t>Add the date that this is due and to whom it is due / add location in project filing</a:t>
            </a:r>
          </a:p>
          <a:p>
            <a:pPr>
              <a:defRPr/>
            </a:pPr>
            <a:r>
              <a:rPr lang="en-US" sz="1200" dirty="0" smtClean="0">
                <a:solidFill>
                  <a:schemeClr val="tx1">
                    <a:lumMod val="95000"/>
                    <a:lumOff val="5000"/>
                  </a:schemeClr>
                </a:solidFill>
              </a:rPr>
              <a:t>Time &amp; Expense Report: </a:t>
            </a:r>
            <a:r>
              <a:rPr lang="en-US" sz="1200" i="1" dirty="0" smtClean="0">
                <a:solidFill>
                  <a:srgbClr val="FF0000"/>
                </a:solidFill>
              </a:rPr>
              <a:t>Add the date that this is due and to whom it is due / add location in project filing</a:t>
            </a:r>
            <a:endParaRPr lang="en-US" sz="1200" dirty="0" smtClean="0">
              <a:solidFill>
                <a:srgbClr val="FF0000"/>
              </a:solidFill>
            </a:endParaRPr>
          </a:p>
          <a:p>
            <a:pPr>
              <a:defRPr/>
            </a:pPr>
            <a:endParaRPr lang="en-US" sz="1200" dirty="0" smtClean="0">
              <a:solidFill>
                <a:srgbClr val="FF0000"/>
              </a:solidFill>
            </a:endParaRPr>
          </a:p>
        </p:txBody>
      </p:sp>
      <p:sp>
        <p:nvSpPr>
          <p:cNvPr id="23" name="Text Box 1094"/>
          <p:cNvSpPr txBox="1">
            <a:spLocks noChangeArrowheads="1"/>
          </p:cNvSpPr>
          <p:nvPr/>
        </p:nvSpPr>
        <p:spPr bwMode="auto">
          <a:xfrm>
            <a:off x="7580128" y="895594"/>
            <a:ext cx="4113728" cy="3539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en-US" sz="1500" b="1" dirty="0" smtClean="0">
                <a:solidFill>
                  <a:schemeClr val="tx1">
                    <a:lumMod val="95000"/>
                    <a:lumOff val="5000"/>
                  </a:schemeClr>
                </a:solidFill>
              </a:rPr>
              <a:t>Project Procedures – Document Locations</a:t>
            </a:r>
            <a:endParaRPr lang="en-US" sz="1500" b="1" dirty="0">
              <a:solidFill>
                <a:schemeClr val="tx1">
                  <a:lumMod val="95000"/>
                  <a:lumOff val="5000"/>
                </a:schemeClr>
              </a:solidFill>
            </a:endParaRPr>
          </a:p>
        </p:txBody>
      </p:sp>
      <p:sp>
        <p:nvSpPr>
          <p:cNvPr id="40" name="Rectangle 1097"/>
          <p:cNvSpPr>
            <a:spLocks noChangeArrowheads="1"/>
          </p:cNvSpPr>
          <p:nvPr/>
        </p:nvSpPr>
        <p:spPr bwMode="auto">
          <a:xfrm>
            <a:off x="7596077" y="2940313"/>
            <a:ext cx="4346477" cy="580736"/>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r>
              <a:rPr lang="en-US" sz="1200" b="1" dirty="0" smtClean="0"/>
              <a:t>QUALITY PLAN:  </a:t>
            </a:r>
            <a:r>
              <a:rPr lang="en-US" sz="1100" dirty="0" smtClean="0">
                <a:solidFill>
                  <a:srgbClr val="FF0000"/>
                </a:solidFill>
              </a:rPr>
              <a:t>Insert document name and location link.</a:t>
            </a:r>
            <a:endParaRPr lang="en-US" sz="1100" i="1" dirty="0" smtClean="0"/>
          </a:p>
          <a:p>
            <a:pPr lvl="0"/>
            <a:endParaRPr lang="en-US" sz="1200" dirty="0" smtClean="0"/>
          </a:p>
        </p:txBody>
      </p:sp>
      <p:sp>
        <p:nvSpPr>
          <p:cNvPr id="25" name="Rectangle 1097"/>
          <p:cNvSpPr>
            <a:spLocks noChangeArrowheads="1"/>
          </p:cNvSpPr>
          <p:nvPr/>
        </p:nvSpPr>
        <p:spPr bwMode="auto">
          <a:xfrm>
            <a:off x="7596076" y="3618585"/>
            <a:ext cx="4322555" cy="1999488"/>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r>
              <a:rPr lang="en-US" sz="1200" b="1" dirty="0" smtClean="0"/>
              <a:t>INFRASTRUCTURE AND CONFIGURATION MANAGEMENT: </a:t>
            </a:r>
            <a:r>
              <a:rPr lang="en-US" sz="1100" dirty="0" smtClean="0">
                <a:solidFill>
                  <a:srgbClr val="FF0000"/>
                </a:solidFill>
              </a:rPr>
              <a:t>Provide location or use</a:t>
            </a:r>
            <a:endParaRPr lang="en-US" sz="1200" i="1" dirty="0" smtClean="0">
              <a:solidFill>
                <a:srgbClr val="FF0000"/>
              </a:solidFill>
            </a:endParaRPr>
          </a:p>
          <a:p>
            <a:endParaRPr lang="en-GB" sz="1200" i="1" dirty="0" smtClean="0">
              <a:solidFill>
                <a:srgbClr val="FF0000"/>
              </a:solidFill>
            </a:endParaRPr>
          </a:p>
          <a:p>
            <a:pPr lvl="0"/>
            <a:r>
              <a:rPr lang="en-GB" sz="1200" i="1" dirty="0" smtClean="0">
                <a:solidFill>
                  <a:srgbClr val="FF0000"/>
                </a:solidFill>
              </a:rPr>
              <a:t>Provide details on anything that is not mentioned separately within this PMP (e.g. work environments, document naming conventions, project library location and structure, back-up plans, project environment (s) access etc)</a:t>
            </a:r>
          </a:p>
          <a:p>
            <a:pPr lvl="0"/>
            <a:endParaRPr lang="en-US" sz="1200" i="1" dirty="0" smtClean="0"/>
          </a:p>
        </p:txBody>
      </p:sp>
      <p:sp>
        <p:nvSpPr>
          <p:cNvPr id="30" name="Footer Placeholder 4"/>
          <p:cNvSpPr txBox="1">
            <a:spLocks/>
          </p:cNvSpPr>
          <p:nvPr/>
        </p:nvSpPr>
        <p:spPr>
          <a:xfrm>
            <a:off x="2158417" y="6415617"/>
            <a:ext cx="3859795" cy="366183"/>
          </a:xfrm>
          <a:prstGeom prst="rect">
            <a:avLst/>
          </a:prstGeom>
        </p:spPr>
        <p:txBody>
          <a:bodyPr lIns="121899" tIns="60949" rIns="121899" bIns="60949"/>
          <a:lstStyle>
            <a:lvl1pPr>
              <a:defRPr/>
            </a:lvl1pPr>
          </a:lstStyle>
          <a:p>
            <a:pPr lvl="0">
              <a:defRPr/>
            </a:pPr>
            <a:r>
              <a:rPr lang="en-US" sz="800" dirty="0" smtClean="0"/>
              <a:t>&lt;CUST&gt;-ORCL-PMP-005 </a:t>
            </a:r>
            <a:r>
              <a:rPr lang="en-US" sz="800" b="1" dirty="0" smtClean="0"/>
              <a:t>3003XXXXX</a:t>
            </a:r>
            <a:endParaRPr lang="en-US" sz="800" dirty="0" smtClean="0"/>
          </a:p>
          <a:p>
            <a:pPr lvl="0">
              <a:defRPr/>
            </a:pPr>
            <a:r>
              <a:rPr lang="en-US" sz="800" b="1" dirty="0" smtClean="0"/>
              <a:t>Version:               Date:  	</a:t>
            </a:r>
            <a:r>
              <a:rPr lang="en-US" sz="800" dirty="0" smtClean="0"/>
              <a:t>Page 2 of 6</a:t>
            </a:r>
            <a:endParaRPr lang="en-US" sz="800" dirty="0">
              <a:latin typeface="Arial" pitchFamily="34" charset="0"/>
              <a:ea typeface="ＭＳ Ｐゴシック" pitchFamily="34" charset="-128"/>
              <a:cs typeface="Arial" pitchFamily="34" charset="0"/>
            </a:endParaRPr>
          </a:p>
        </p:txBody>
      </p:sp>
      <p:sp>
        <p:nvSpPr>
          <p:cNvPr id="27" name="Text Box 1091"/>
          <p:cNvSpPr txBox="1">
            <a:spLocks noChangeArrowheads="1"/>
          </p:cNvSpPr>
          <p:nvPr/>
        </p:nvSpPr>
        <p:spPr bwMode="auto">
          <a:xfrm>
            <a:off x="205416" y="5725363"/>
            <a:ext cx="11577114" cy="5385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en-US" sz="800" b="1" i="1" dirty="0" smtClean="0"/>
              <a:t>Quality Plan Disclaimer: </a:t>
            </a:r>
            <a:r>
              <a:rPr lang="en-US" sz="800" i="1" dirty="0" smtClean="0"/>
              <a:t>The Project Quality Plan document is a deliverable under the Statement of Work and does not modify the terms of the statement of Work, including the scope of the work that Oracle will perform. The Project Quality Plan document describes the work, to be performed by Oracle as set forth in the Statement of Work, in greater detail. The terms of the Statement of Work will control over any conflicting terms in this Project Quality Plan.</a:t>
            </a:r>
            <a:endParaRPr lang="en-US" sz="800" dirty="0" smtClean="0"/>
          </a:p>
          <a:p>
            <a:pPr algn="l"/>
            <a:r>
              <a:rPr lang="en-US" sz="1100" b="1" i="1" dirty="0" smtClean="0"/>
              <a:t>  </a:t>
            </a:r>
            <a:endParaRPr lang="en-US" sz="1100" b="1" i="1" dirty="0"/>
          </a:p>
        </p:txBody>
      </p:sp>
      <p:sp>
        <p:nvSpPr>
          <p:cNvPr id="20" name="Rectangle 1097"/>
          <p:cNvSpPr>
            <a:spLocks noChangeArrowheads="1"/>
          </p:cNvSpPr>
          <p:nvPr/>
        </p:nvSpPr>
        <p:spPr bwMode="auto">
          <a:xfrm>
            <a:off x="4116673" y="1136395"/>
            <a:ext cx="3364624" cy="158486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defRPr/>
            </a:pPr>
            <a:r>
              <a:rPr lang="en-US" sz="1200" b="1" dirty="0" smtClean="0">
                <a:solidFill>
                  <a:schemeClr val="tx1">
                    <a:lumMod val="95000"/>
                    <a:lumOff val="5000"/>
                  </a:schemeClr>
                </a:solidFill>
              </a:rPr>
              <a:t>MEETINGS</a:t>
            </a:r>
          </a:p>
          <a:p>
            <a:pPr>
              <a:defRPr/>
            </a:pPr>
            <a:r>
              <a:rPr lang="en-US" sz="1100" b="1" dirty="0" smtClean="0">
                <a:solidFill>
                  <a:schemeClr val="tx1">
                    <a:lumMod val="95000"/>
                    <a:lumOff val="5000"/>
                  </a:schemeClr>
                </a:solidFill>
              </a:rPr>
              <a:t>customer Meetings:  </a:t>
            </a:r>
            <a:r>
              <a:rPr lang="en-US" sz="1100" dirty="0" smtClean="0">
                <a:solidFill>
                  <a:schemeClr val="tx1">
                    <a:lumMod val="95000"/>
                    <a:lumOff val="5000"/>
                  </a:schemeClr>
                </a:solidFill>
              </a:rPr>
              <a:t>e.g. PM Weekly Meeting (Friday)</a:t>
            </a:r>
          </a:p>
          <a:p>
            <a:pPr>
              <a:defRPr/>
            </a:pPr>
            <a:r>
              <a:rPr lang="en-US" sz="1100" b="1" dirty="0" smtClean="0"/>
              <a:t>Project Team Meeting: </a:t>
            </a:r>
            <a:br>
              <a:rPr lang="en-US" sz="1100" b="1" dirty="0" smtClean="0"/>
            </a:br>
            <a:r>
              <a:rPr lang="en-US" sz="1100" dirty="0" smtClean="0"/>
              <a:t>e.g. Weekly (Thursday)</a:t>
            </a:r>
          </a:p>
          <a:p>
            <a:pPr>
              <a:defRPr/>
            </a:pPr>
            <a:r>
              <a:rPr lang="en-US" sz="1100" b="1" dirty="0" smtClean="0"/>
              <a:t>Steering Comm Meeting</a:t>
            </a:r>
            <a:r>
              <a:rPr lang="en-US" sz="1100" dirty="0" smtClean="0"/>
              <a:t>: e.g. first Monday monthly</a:t>
            </a:r>
          </a:p>
          <a:p>
            <a:pPr>
              <a:defRPr/>
            </a:pPr>
            <a:r>
              <a:rPr lang="en-GB" sz="1100" b="1" dirty="0" smtClean="0"/>
              <a:t>Configuration Review Meeting: </a:t>
            </a:r>
            <a:r>
              <a:rPr lang="en-GB" sz="1100" dirty="0" smtClean="0"/>
              <a:t>e.g. bi-weekly Tuesdays</a:t>
            </a:r>
            <a:endParaRPr lang="en-GB" sz="1100" b="1" dirty="0" smtClean="0"/>
          </a:p>
          <a:p>
            <a:pPr>
              <a:defRPr/>
            </a:pPr>
            <a:r>
              <a:rPr lang="en-GB" sz="1100" b="1" dirty="0" smtClean="0"/>
              <a:t>Product Review Meeting: </a:t>
            </a:r>
            <a:r>
              <a:rPr lang="en-GB" sz="1100" dirty="0" smtClean="0"/>
              <a:t>e.g. bi-weekly Tuesdays</a:t>
            </a:r>
            <a:endParaRPr lang="en-US" sz="1100" b="1" dirty="0"/>
          </a:p>
        </p:txBody>
      </p:sp>
      <p:sp>
        <p:nvSpPr>
          <p:cNvPr id="26" name="Rectangle 1097"/>
          <p:cNvSpPr>
            <a:spLocks noChangeArrowheads="1"/>
          </p:cNvSpPr>
          <p:nvPr/>
        </p:nvSpPr>
        <p:spPr bwMode="auto">
          <a:xfrm>
            <a:off x="7586324" y="2422549"/>
            <a:ext cx="4351808" cy="445008"/>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CHANGE CONTROL:  </a:t>
            </a:r>
            <a:r>
              <a:rPr lang="en-US" sz="1100" dirty="0" smtClean="0">
                <a:solidFill>
                  <a:srgbClr val="FF0000"/>
                </a:solidFill>
              </a:rPr>
              <a:t>Insert document name and location link.</a:t>
            </a:r>
            <a:endParaRPr lang="en-US" sz="1100" i="1" dirty="0" smtClean="0">
              <a:solidFill>
                <a:srgbClr val="FF0000"/>
              </a:solidFill>
            </a:endParaRPr>
          </a:p>
        </p:txBody>
      </p:sp>
      <p:sp>
        <p:nvSpPr>
          <p:cNvPr id="28" name="Rectangle 1097"/>
          <p:cNvSpPr>
            <a:spLocks noChangeArrowheads="1"/>
          </p:cNvSpPr>
          <p:nvPr/>
        </p:nvSpPr>
        <p:spPr bwMode="auto">
          <a:xfrm>
            <a:off x="7586325" y="1231900"/>
            <a:ext cx="4347385" cy="6096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RISK-ISSUES-PROBLEMS-DECISIONS:</a:t>
            </a:r>
            <a:r>
              <a:rPr lang="en-US" sz="1200" dirty="0" smtClean="0">
                <a:solidFill>
                  <a:srgbClr val="FF0000"/>
                </a:solidFill>
              </a:rPr>
              <a:t> Insert document name and location link.</a:t>
            </a:r>
            <a:endParaRPr lang="en-US" sz="1200" dirty="0" smtClean="0"/>
          </a:p>
        </p:txBody>
      </p:sp>
      <p:sp>
        <p:nvSpPr>
          <p:cNvPr id="31" name="Rectangle 1097"/>
          <p:cNvSpPr>
            <a:spLocks noChangeArrowheads="1"/>
          </p:cNvSpPr>
          <p:nvPr/>
        </p:nvSpPr>
        <p:spPr bwMode="auto">
          <a:xfrm>
            <a:off x="7596077" y="1917700"/>
            <a:ext cx="4337634" cy="46217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dirty="0" smtClean="0"/>
              <a:t>&lt;customer&gt; Change Control: </a:t>
            </a:r>
            <a:r>
              <a:rPr lang="en-US" sz="1100" i="1" dirty="0" smtClean="0">
                <a:solidFill>
                  <a:srgbClr val="FF0000"/>
                </a:solidFill>
              </a:rPr>
              <a:t>If there is no customer Change Control Plan, delete this box or state Not Applicable</a:t>
            </a:r>
            <a:endParaRPr lang="en-US" sz="1100" dirty="0" smtClean="0"/>
          </a:p>
        </p:txBody>
      </p:sp>
      <p:sp>
        <p:nvSpPr>
          <p:cNvPr id="21" name="Rectangle 1097"/>
          <p:cNvSpPr>
            <a:spLocks noChangeArrowheads="1"/>
          </p:cNvSpPr>
          <p:nvPr/>
        </p:nvSpPr>
        <p:spPr bwMode="auto">
          <a:xfrm>
            <a:off x="195023" y="4369613"/>
            <a:ext cx="7313294" cy="1238707"/>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WORK MANAGEMENT PLAN</a:t>
            </a:r>
            <a:r>
              <a:rPr lang="en-US" sz="1200" dirty="0" smtClean="0"/>
              <a:t>: </a:t>
            </a:r>
            <a:r>
              <a:rPr lang="en-US" sz="1100" dirty="0" smtClean="0"/>
              <a:t>The work breakdown for this project, including tasks, work products and milestones is available in a detailed Workplan Gantt chart (MS Project 2010, updated weekly).  For version control, the Gantt chart will be base-lined each week by saving it to a file with a new version number.   Each version of the workplan will be stored in the Oracle Beehive workspace under the name (INSERT NAME AND DOCUMENT LINK) every Friday.  A pdf snapshot of the most current plan will also be stored in the workspace since not all project team members have the MS Project software.  A copy of the baseline Gantt chart agreed after planning and preparation is provided on Slide 6</a:t>
            </a:r>
            <a:endParaRPr lang="en-US" sz="1100" i="1" dirty="0" smtClean="0">
              <a:solidFill>
                <a:srgbClr val="FF0000"/>
              </a:solidFill>
            </a:endParaRPr>
          </a:p>
        </p:txBody>
      </p:sp>
      <p:sp>
        <p:nvSpPr>
          <p:cNvPr id="18" name="Title 17"/>
          <p:cNvSpPr>
            <a:spLocks noGrp="1"/>
          </p:cNvSpPr>
          <p:nvPr>
            <p:ph type="title"/>
          </p:nvPr>
        </p:nvSpPr>
        <p:spPr>
          <a:xfrm>
            <a:off x="531812" y="0"/>
            <a:ext cx="11125200" cy="889000"/>
          </a:xfrm>
        </p:spPr>
        <p:txBody>
          <a:bodyPr/>
          <a:lstStyle/>
          <a:p>
            <a:r>
              <a:rPr lang="en-US" dirty="0" smtClean="0"/>
              <a:t>&lt;Customer&gt; &lt;Project Name&gt;  Project Governance highlights</a:t>
            </a:r>
            <a:endParaRPr lang="en-US" dirty="0"/>
          </a:p>
        </p:txBody>
      </p:sp>
    </p:spTree>
    <p:extLst>
      <p:ext uri="{BB962C8B-B14F-4D97-AF65-F5344CB8AC3E}">
        <p14:creationId xmlns:p14="http://schemas.microsoft.com/office/powerpoint/2010/main" xmlns="" val="71950556"/>
      </p:ext>
    </p:extLst>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txBox="1">
            <a:spLocks/>
          </p:cNvSpPr>
          <p:nvPr/>
        </p:nvSpPr>
        <p:spPr>
          <a:xfrm>
            <a:off x="2158417" y="6400800"/>
            <a:ext cx="3859795" cy="366183"/>
          </a:xfrm>
          <a:prstGeom prst="rect">
            <a:avLst/>
          </a:prstGeom>
        </p:spPr>
        <p:txBody>
          <a:bodyPr lIns="121899" tIns="60949" rIns="121899" bIns="60949"/>
          <a:lstStyle>
            <a:lvl1pPr>
              <a:defRPr/>
            </a:lvl1pPr>
          </a:lstStyle>
          <a:p>
            <a:pPr lvl="0">
              <a:defRPr/>
            </a:pPr>
            <a:r>
              <a:rPr lang="en-US" sz="800" dirty="0" smtClean="0"/>
              <a:t>&lt;CUST&gt;-ORCL-PMP-005 </a:t>
            </a:r>
            <a:r>
              <a:rPr lang="en-US" sz="800" b="1" dirty="0" smtClean="0"/>
              <a:t>3003XXXXX</a:t>
            </a:r>
            <a:endParaRPr lang="en-US" sz="800" dirty="0" smtClean="0"/>
          </a:p>
          <a:p>
            <a:pPr lvl="0">
              <a:defRPr/>
            </a:pPr>
            <a:r>
              <a:rPr lang="en-US" sz="800" b="1" dirty="0" smtClean="0"/>
              <a:t>Version:               Date:  	</a:t>
            </a:r>
            <a:r>
              <a:rPr lang="en-US" sz="800" dirty="0" smtClean="0"/>
              <a:t>Page 3 of 6</a:t>
            </a:r>
            <a:endParaRPr lang="en-US" sz="800" dirty="0">
              <a:latin typeface="Arial" pitchFamily="34" charset="0"/>
              <a:ea typeface="ＭＳ Ｐゴシック" pitchFamily="34" charset="-128"/>
              <a:cs typeface="Arial" pitchFamily="34" charset="0"/>
            </a:endParaRPr>
          </a:p>
        </p:txBody>
      </p:sp>
      <p:sp>
        <p:nvSpPr>
          <p:cNvPr id="6" name="Rectangle 1068"/>
          <p:cNvSpPr>
            <a:spLocks noChangeArrowheads="1"/>
          </p:cNvSpPr>
          <p:nvPr/>
        </p:nvSpPr>
        <p:spPr bwMode="auto">
          <a:xfrm>
            <a:off x="6269221" y="2331111"/>
            <a:ext cx="5726208" cy="3582519"/>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lIns="121899" tIns="60949" rIns="121899" bIns="60949" anchor="ctr"/>
          <a:lstStyle/>
          <a:p>
            <a:endParaRPr lang="en-US" dirty="0">
              <a:solidFill>
                <a:schemeClr val="tx1">
                  <a:lumMod val="95000"/>
                  <a:lumOff val="5000"/>
                </a:schemeClr>
              </a:solidFill>
            </a:endParaRPr>
          </a:p>
        </p:txBody>
      </p:sp>
      <p:sp>
        <p:nvSpPr>
          <p:cNvPr id="11" name="Text Box 1094"/>
          <p:cNvSpPr txBox="1">
            <a:spLocks noChangeArrowheads="1"/>
          </p:cNvSpPr>
          <p:nvPr/>
        </p:nvSpPr>
        <p:spPr bwMode="auto">
          <a:xfrm>
            <a:off x="6398219" y="2423149"/>
            <a:ext cx="537070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en-US" sz="1600" b="1" dirty="0" smtClean="0">
                <a:solidFill>
                  <a:schemeClr val="tx1">
                    <a:lumMod val="95000"/>
                    <a:lumOff val="5000"/>
                  </a:schemeClr>
                </a:solidFill>
              </a:rPr>
              <a:t>Oracle Project Team Roles &amp; Responsibilities</a:t>
            </a:r>
            <a:endParaRPr lang="en-US" sz="1600" b="1" dirty="0">
              <a:solidFill>
                <a:schemeClr val="tx1">
                  <a:lumMod val="95000"/>
                  <a:lumOff val="5000"/>
                </a:schemeClr>
              </a:solidFill>
            </a:endParaRPr>
          </a:p>
        </p:txBody>
      </p:sp>
      <p:sp>
        <p:nvSpPr>
          <p:cNvPr id="12" name="Rectangle 1097"/>
          <p:cNvSpPr>
            <a:spLocks noChangeArrowheads="1"/>
          </p:cNvSpPr>
          <p:nvPr/>
        </p:nvSpPr>
        <p:spPr bwMode="auto">
          <a:xfrm>
            <a:off x="6390298" y="2789530"/>
            <a:ext cx="5599241" cy="558903"/>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PROJECT MANAGER R&amp;R:</a:t>
            </a:r>
          </a:p>
          <a:p>
            <a:pPr lvl="0"/>
            <a:r>
              <a:rPr lang="en-US" sz="1200" dirty="0" smtClean="0"/>
              <a:t>XXXXX</a:t>
            </a:r>
          </a:p>
        </p:txBody>
      </p:sp>
      <p:sp>
        <p:nvSpPr>
          <p:cNvPr id="13" name="Rectangle 1097"/>
          <p:cNvSpPr>
            <a:spLocks noChangeArrowheads="1"/>
          </p:cNvSpPr>
          <p:nvPr/>
        </p:nvSpPr>
        <p:spPr bwMode="auto">
          <a:xfrm>
            <a:off x="6390296" y="3417823"/>
            <a:ext cx="5586543" cy="4953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A N OTHER 1 R&amp;R:</a:t>
            </a:r>
          </a:p>
          <a:p>
            <a:pPr lvl="0"/>
            <a:r>
              <a:rPr lang="en-US" sz="1200" dirty="0" smtClean="0"/>
              <a:t>XXXXX</a:t>
            </a:r>
          </a:p>
        </p:txBody>
      </p:sp>
      <p:sp>
        <p:nvSpPr>
          <p:cNvPr id="25" name="Text Box 1091"/>
          <p:cNvSpPr txBox="1">
            <a:spLocks noChangeArrowheads="1"/>
          </p:cNvSpPr>
          <p:nvPr/>
        </p:nvSpPr>
        <p:spPr bwMode="auto">
          <a:xfrm>
            <a:off x="408564" y="3733802"/>
            <a:ext cx="1889537" cy="8617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ctr"/>
            <a:r>
              <a:rPr lang="en-US" sz="1600" b="1" dirty="0" smtClean="0"/>
              <a:t>Oracle Project</a:t>
            </a:r>
          </a:p>
          <a:p>
            <a:pPr algn="ctr"/>
            <a:r>
              <a:rPr lang="en-US" sz="1600" b="1" dirty="0" smtClean="0"/>
              <a:t>Org Chart &amp; Escalation</a:t>
            </a:r>
            <a:endParaRPr lang="en-US" sz="1600" b="1" dirty="0"/>
          </a:p>
        </p:txBody>
      </p:sp>
      <p:sp>
        <p:nvSpPr>
          <p:cNvPr id="26" name="Flowchart: Alternate Process 25"/>
          <p:cNvSpPr/>
          <p:nvPr/>
        </p:nvSpPr>
        <p:spPr bwMode="auto">
          <a:xfrm>
            <a:off x="2564732" y="3886200"/>
            <a:ext cx="1168096" cy="508000"/>
          </a:xfrm>
          <a:prstGeom prst="flowChartAlternateProcess">
            <a:avLst/>
          </a:prstGeom>
          <a:solidFill>
            <a:srgbClr val="B8B8B8"/>
          </a:solidFill>
          <a:ln w="3175" cap="rnd">
            <a:solidFill>
              <a:srgbClr val="000000"/>
            </a:solidFill>
            <a:prstDash val="solid"/>
            <a:round/>
            <a:headEnd/>
            <a:tailEnd/>
          </a:ln>
        </p:spPr>
        <p:txBody>
          <a:bodyPr vert="horz" wrap="square" lIns="121899" tIns="60949" rIns="121899" bIns="60949" numCol="1" rtlCol="0" anchor="t" anchorCtr="0" compatLnSpc="1">
            <a:prstTxWarp prst="textNoShape">
              <a:avLst/>
            </a:prstTxWarp>
          </a:bodyPr>
          <a:lstStyle/>
          <a:p>
            <a:pPr algn="ctr"/>
            <a:endParaRPr lang="en-US" dirty="0"/>
          </a:p>
        </p:txBody>
      </p:sp>
      <p:sp>
        <p:nvSpPr>
          <p:cNvPr id="28" name="Flowchart: Alternate Process 27"/>
          <p:cNvSpPr/>
          <p:nvPr/>
        </p:nvSpPr>
        <p:spPr bwMode="auto">
          <a:xfrm>
            <a:off x="2552035" y="4572000"/>
            <a:ext cx="1168096" cy="508000"/>
          </a:xfrm>
          <a:prstGeom prst="flowChartAlternateProcess">
            <a:avLst/>
          </a:prstGeom>
          <a:noFill/>
          <a:ln w="3175" cap="rnd">
            <a:solidFill>
              <a:srgbClr val="000000"/>
            </a:solidFill>
            <a:prstDash val="solid"/>
            <a:round/>
            <a:headEnd/>
            <a:tailEnd/>
          </a:ln>
        </p:spPr>
        <p:txBody>
          <a:bodyPr vert="horz" wrap="square" lIns="121899" tIns="60949" rIns="121899" bIns="60949" numCol="1" rtlCol="0" anchor="t" anchorCtr="0" compatLnSpc="1">
            <a:prstTxWarp prst="textNoShape">
              <a:avLst/>
            </a:prstTxWarp>
          </a:bodyPr>
          <a:lstStyle/>
          <a:p>
            <a:pPr algn="ctr"/>
            <a:endParaRPr lang="en-US" dirty="0"/>
          </a:p>
        </p:txBody>
      </p:sp>
      <p:sp>
        <p:nvSpPr>
          <p:cNvPr id="30" name="Flowchart: Alternate Process 29"/>
          <p:cNvSpPr/>
          <p:nvPr/>
        </p:nvSpPr>
        <p:spPr bwMode="auto">
          <a:xfrm>
            <a:off x="774498" y="5295900"/>
            <a:ext cx="1168096" cy="508000"/>
          </a:xfrm>
          <a:prstGeom prst="flowChartAlternateProcess">
            <a:avLst/>
          </a:prstGeom>
          <a:noFill/>
          <a:ln w="3175" cap="rnd">
            <a:solidFill>
              <a:srgbClr val="000000"/>
            </a:solidFill>
            <a:prstDash val="solid"/>
            <a:round/>
            <a:headEnd/>
            <a:tailEnd/>
          </a:ln>
        </p:spPr>
        <p:txBody>
          <a:bodyPr vert="horz" wrap="square" lIns="121899" tIns="60949" rIns="121899" bIns="60949" numCol="1" rtlCol="0" anchor="t" anchorCtr="0" compatLnSpc="1">
            <a:prstTxWarp prst="textNoShape">
              <a:avLst/>
            </a:prstTxWarp>
          </a:bodyPr>
          <a:lstStyle/>
          <a:p>
            <a:pPr algn="ctr"/>
            <a:endParaRPr lang="en-US" b="1" dirty="0"/>
          </a:p>
        </p:txBody>
      </p:sp>
      <p:sp>
        <p:nvSpPr>
          <p:cNvPr id="31" name="Flowchart: Alternate Process 30"/>
          <p:cNvSpPr/>
          <p:nvPr/>
        </p:nvSpPr>
        <p:spPr bwMode="auto">
          <a:xfrm>
            <a:off x="2564732" y="5295900"/>
            <a:ext cx="1168096" cy="508000"/>
          </a:xfrm>
          <a:prstGeom prst="flowChartAlternateProcess">
            <a:avLst/>
          </a:prstGeom>
          <a:noFill/>
          <a:ln w="3175" cap="rnd">
            <a:solidFill>
              <a:srgbClr val="000000"/>
            </a:solidFill>
            <a:prstDash val="solid"/>
            <a:round/>
            <a:headEnd/>
            <a:tailEnd/>
          </a:ln>
        </p:spPr>
        <p:txBody>
          <a:bodyPr vert="horz" wrap="square" lIns="121899" tIns="60949" rIns="121899" bIns="60949" numCol="1" rtlCol="0" anchor="t" anchorCtr="0" compatLnSpc="1">
            <a:prstTxWarp prst="textNoShape">
              <a:avLst/>
            </a:prstTxWarp>
          </a:bodyPr>
          <a:lstStyle/>
          <a:p>
            <a:pPr algn="ctr"/>
            <a:endParaRPr lang="en-US" dirty="0"/>
          </a:p>
        </p:txBody>
      </p:sp>
      <p:sp>
        <p:nvSpPr>
          <p:cNvPr id="32" name="Flowchart: Alternate Process 31"/>
          <p:cNvSpPr/>
          <p:nvPr/>
        </p:nvSpPr>
        <p:spPr bwMode="auto">
          <a:xfrm>
            <a:off x="4316875" y="5295900"/>
            <a:ext cx="1168096" cy="508000"/>
          </a:xfrm>
          <a:prstGeom prst="flowChartAlternateProcess">
            <a:avLst/>
          </a:prstGeom>
          <a:noFill/>
          <a:ln w="3175" cap="rnd">
            <a:solidFill>
              <a:srgbClr val="000000"/>
            </a:solidFill>
            <a:prstDash val="solid"/>
            <a:round/>
            <a:headEnd/>
            <a:tailEnd/>
          </a:ln>
        </p:spPr>
        <p:txBody>
          <a:bodyPr vert="horz" wrap="square" lIns="121899" tIns="60949" rIns="121899" bIns="60949" numCol="1" rtlCol="0" anchor="t" anchorCtr="0" compatLnSpc="1">
            <a:prstTxWarp prst="textNoShape">
              <a:avLst/>
            </a:prstTxWarp>
          </a:bodyPr>
          <a:lstStyle/>
          <a:p>
            <a:pPr algn="ctr"/>
            <a:endParaRPr lang="en-US" dirty="0"/>
          </a:p>
        </p:txBody>
      </p:sp>
      <p:cxnSp>
        <p:nvCxnSpPr>
          <p:cNvPr id="42" name="Straight Connector 41"/>
          <p:cNvCxnSpPr>
            <a:stCxn id="26" idx="2"/>
            <a:endCxn id="28" idx="0"/>
          </p:cNvCxnSpPr>
          <p:nvPr/>
        </p:nvCxnSpPr>
        <p:spPr>
          <a:xfrm flipH="1">
            <a:off x="3136084" y="4394200"/>
            <a:ext cx="12697" cy="177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8" idx="2"/>
            <a:endCxn id="31" idx="0"/>
          </p:cNvCxnSpPr>
          <p:nvPr/>
        </p:nvCxnSpPr>
        <p:spPr>
          <a:xfrm>
            <a:off x="3136084" y="5080001"/>
            <a:ext cx="12697" cy="215900"/>
          </a:xfrm>
          <a:prstGeom prst="line">
            <a:avLst/>
          </a:prstGeom>
        </p:spPr>
        <p:style>
          <a:lnRef idx="1">
            <a:schemeClr val="accent1"/>
          </a:lnRef>
          <a:fillRef idx="0">
            <a:schemeClr val="accent1"/>
          </a:fillRef>
          <a:effectRef idx="0">
            <a:schemeClr val="accent1"/>
          </a:effectRef>
          <a:fontRef idx="minor">
            <a:schemeClr val="tx1"/>
          </a:fontRef>
        </p:style>
      </p:cxnSp>
      <p:sp>
        <p:nvSpPr>
          <p:cNvPr id="58" name="Rectangle 1097"/>
          <p:cNvSpPr>
            <a:spLocks noChangeArrowheads="1"/>
          </p:cNvSpPr>
          <p:nvPr/>
        </p:nvSpPr>
        <p:spPr bwMode="auto">
          <a:xfrm>
            <a:off x="6397104" y="3985462"/>
            <a:ext cx="5561150" cy="4445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A N OTHER 2 R&amp;R:</a:t>
            </a:r>
          </a:p>
          <a:p>
            <a:pPr lvl="0"/>
            <a:r>
              <a:rPr lang="en-US" sz="1200" dirty="0" smtClean="0"/>
              <a:t>XXXXX</a:t>
            </a:r>
          </a:p>
        </p:txBody>
      </p:sp>
      <p:sp>
        <p:nvSpPr>
          <p:cNvPr id="79" name="Rectangle 1097"/>
          <p:cNvSpPr>
            <a:spLocks noChangeArrowheads="1"/>
          </p:cNvSpPr>
          <p:nvPr/>
        </p:nvSpPr>
        <p:spPr bwMode="auto">
          <a:xfrm>
            <a:off x="6386436" y="4508194"/>
            <a:ext cx="5522351" cy="4445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A N OTHER 3 R&amp;R:</a:t>
            </a:r>
          </a:p>
          <a:p>
            <a:pPr lvl="0"/>
            <a:r>
              <a:rPr lang="en-US" sz="1200" dirty="0" smtClean="0"/>
              <a:t>XXXXX</a:t>
            </a:r>
          </a:p>
        </p:txBody>
      </p:sp>
      <p:cxnSp>
        <p:nvCxnSpPr>
          <p:cNvPr id="85" name="Elbow Connector 84"/>
          <p:cNvCxnSpPr>
            <a:stCxn id="28" idx="2"/>
            <a:endCxn id="32" idx="0"/>
          </p:cNvCxnSpPr>
          <p:nvPr/>
        </p:nvCxnSpPr>
        <p:spPr>
          <a:xfrm rot="16200000" flipH="1">
            <a:off x="3910554" y="4305529"/>
            <a:ext cx="215900" cy="176484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7" name="Elbow Connector 86"/>
          <p:cNvCxnSpPr>
            <a:stCxn id="28" idx="2"/>
            <a:endCxn id="30" idx="0"/>
          </p:cNvCxnSpPr>
          <p:nvPr/>
        </p:nvCxnSpPr>
        <p:spPr>
          <a:xfrm rot="5400000">
            <a:off x="2139366" y="4299181"/>
            <a:ext cx="215900" cy="177753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88" name="TextBox 87"/>
          <p:cNvSpPr txBox="1"/>
          <p:nvPr/>
        </p:nvSpPr>
        <p:spPr>
          <a:xfrm>
            <a:off x="2653608" y="3975100"/>
            <a:ext cx="1028432" cy="330200"/>
          </a:xfrm>
          <a:prstGeom prst="rect">
            <a:avLst/>
          </a:prstGeom>
          <a:noFill/>
          <a:ln>
            <a:noFill/>
          </a:ln>
        </p:spPr>
        <p:txBody>
          <a:bodyPr wrap="square" lIns="0" tIns="0" rIns="0" bIns="0" rtlCol="0">
            <a:noAutofit/>
          </a:bodyPr>
          <a:lstStyle/>
          <a:p>
            <a:pPr algn="ctr"/>
            <a:r>
              <a:rPr lang="en-US" sz="1100" b="1" dirty="0" smtClean="0"/>
              <a:t>Practice</a:t>
            </a:r>
          </a:p>
          <a:p>
            <a:pPr algn="ctr"/>
            <a:r>
              <a:rPr lang="en-US" sz="1100" b="1" dirty="0" smtClean="0"/>
              <a:t>Director</a:t>
            </a:r>
          </a:p>
        </p:txBody>
      </p:sp>
      <p:sp>
        <p:nvSpPr>
          <p:cNvPr id="89" name="TextBox 88"/>
          <p:cNvSpPr txBox="1"/>
          <p:nvPr/>
        </p:nvSpPr>
        <p:spPr>
          <a:xfrm>
            <a:off x="2628215" y="4660900"/>
            <a:ext cx="1028432" cy="330200"/>
          </a:xfrm>
          <a:prstGeom prst="rect">
            <a:avLst/>
          </a:prstGeom>
          <a:noFill/>
          <a:ln>
            <a:noFill/>
          </a:ln>
        </p:spPr>
        <p:txBody>
          <a:bodyPr wrap="square" lIns="0" tIns="0" rIns="0" bIns="0" rtlCol="0">
            <a:noAutofit/>
          </a:bodyPr>
          <a:lstStyle/>
          <a:p>
            <a:pPr algn="ctr"/>
            <a:r>
              <a:rPr lang="en-US" sz="1100" b="1" dirty="0" smtClean="0"/>
              <a:t>Oracle</a:t>
            </a:r>
          </a:p>
          <a:p>
            <a:pPr algn="ctr"/>
            <a:r>
              <a:rPr lang="en-US" sz="1100" b="1" dirty="0" smtClean="0"/>
              <a:t>PM</a:t>
            </a:r>
          </a:p>
        </p:txBody>
      </p:sp>
      <p:sp>
        <p:nvSpPr>
          <p:cNvPr id="90" name="TextBox 89"/>
          <p:cNvSpPr txBox="1"/>
          <p:nvPr/>
        </p:nvSpPr>
        <p:spPr>
          <a:xfrm>
            <a:off x="863374" y="5346700"/>
            <a:ext cx="1028432" cy="330200"/>
          </a:xfrm>
          <a:prstGeom prst="rect">
            <a:avLst/>
          </a:prstGeom>
          <a:noFill/>
          <a:ln>
            <a:noFill/>
          </a:ln>
        </p:spPr>
        <p:txBody>
          <a:bodyPr wrap="square" lIns="0" tIns="0" rIns="0" bIns="0" rtlCol="0">
            <a:noAutofit/>
          </a:bodyPr>
          <a:lstStyle/>
          <a:p>
            <a:pPr algn="ctr"/>
            <a:r>
              <a:rPr lang="en-US" sz="1100" b="1" dirty="0" smtClean="0"/>
              <a:t>ANOTHER</a:t>
            </a:r>
          </a:p>
          <a:p>
            <a:pPr algn="ctr"/>
            <a:r>
              <a:rPr lang="en-US" sz="1100" b="1" dirty="0" smtClean="0"/>
              <a:t>ROLE 1</a:t>
            </a:r>
          </a:p>
        </p:txBody>
      </p:sp>
      <p:sp>
        <p:nvSpPr>
          <p:cNvPr id="91" name="TextBox 90"/>
          <p:cNvSpPr txBox="1"/>
          <p:nvPr/>
        </p:nvSpPr>
        <p:spPr>
          <a:xfrm>
            <a:off x="2640911" y="5397500"/>
            <a:ext cx="1028432" cy="330200"/>
          </a:xfrm>
          <a:prstGeom prst="rect">
            <a:avLst/>
          </a:prstGeom>
          <a:noFill/>
          <a:ln>
            <a:noFill/>
          </a:ln>
        </p:spPr>
        <p:txBody>
          <a:bodyPr wrap="square" lIns="0" tIns="0" rIns="0" bIns="0" rtlCol="0">
            <a:noAutofit/>
          </a:bodyPr>
          <a:lstStyle/>
          <a:p>
            <a:pPr algn="ctr"/>
            <a:r>
              <a:rPr lang="en-US" sz="1100" b="1" dirty="0" smtClean="0"/>
              <a:t>ANOTHER</a:t>
            </a:r>
          </a:p>
          <a:p>
            <a:pPr algn="ctr"/>
            <a:r>
              <a:rPr lang="en-US" sz="1100" b="1" dirty="0" smtClean="0"/>
              <a:t>ROLE 2</a:t>
            </a:r>
          </a:p>
        </p:txBody>
      </p:sp>
      <p:sp>
        <p:nvSpPr>
          <p:cNvPr id="92" name="TextBox 91"/>
          <p:cNvSpPr txBox="1"/>
          <p:nvPr/>
        </p:nvSpPr>
        <p:spPr>
          <a:xfrm>
            <a:off x="4393055" y="5397500"/>
            <a:ext cx="1028432" cy="330200"/>
          </a:xfrm>
          <a:prstGeom prst="rect">
            <a:avLst/>
          </a:prstGeom>
          <a:noFill/>
          <a:ln>
            <a:noFill/>
          </a:ln>
        </p:spPr>
        <p:txBody>
          <a:bodyPr wrap="square" lIns="0" tIns="0" rIns="0" bIns="0" rtlCol="0">
            <a:noAutofit/>
          </a:bodyPr>
          <a:lstStyle/>
          <a:p>
            <a:pPr algn="ctr"/>
            <a:r>
              <a:rPr lang="en-US" sz="1100" b="1" dirty="0" smtClean="0"/>
              <a:t>ANOTHER</a:t>
            </a:r>
          </a:p>
          <a:p>
            <a:pPr algn="ctr"/>
            <a:r>
              <a:rPr lang="en-US" sz="1100" b="1" dirty="0" smtClean="0"/>
              <a:t>ROLE 3</a:t>
            </a:r>
          </a:p>
        </p:txBody>
      </p:sp>
      <p:sp>
        <p:nvSpPr>
          <p:cNvPr id="39" name="Rectangle 1097"/>
          <p:cNvSpPr>
            <a:spLocks noChangeArrowheads="1"/>
          </p:cNvSpPr>
          <p:nvPr/>
        </p:nvSpPr>
        <p:spPr bwMode="auto">
          <a:xfrm>
            <a:off x="6291669" y="1161798"/>
            <a:ext cx="5700816" cy="1003501"/>
          </a:xfrm>
          <a:prstGeom prst="rect">
            <a:avLst/>
          </a:prstGeom>
          <a:noFill/>
          <a:ln w="9525">
            <a:solidFill>
              <a:schemeClr val="bg2"/>
            </a:solidFill>
            <a:miter lim="800000"/>
            <a:headEnd/>
            <a:tailEnd/>
          </a:ln>
          <a:effectLst/>
        </p:spPr>
        <p:txBody>
          <a:bodyPr lIns="60949" tIns="60949" rIns="60949" bIns="60949"/>
          <a:lstStyle/>
          <a:p>
            <a:pPr lvl="0"/>
            <a:r>
              <a:rPr lang="en-US" sz="1100" dirty="0" smtClean="0"/>
              <a:t>Oracle:           	</a:t>
            </a:r>
            <a:r>
              <a:rPr lang="en-US" sz="1100" dirty="0" smtClean="0">
                <a:solidFill>
                  <a:srgbClr val="FF0000"/>
                </a:solidFill>
              </a:rPr>
              <a:t>Name, Project Role, e-mail, phone</a:t>
            </a:r>
          </a:p>
          <a:p>
            <a:pPr lvl="0"/>
            <a:r>
              <a:rPr lang="en-US" sz="1100" dirty="0" smtClean="0"/>
              <a:t>Oracle: 	</a:t>
            </a:r>
            <a:r>
              <a:rPr lang="en-US" sz="1100" dirty="0" smtClean="0">
                <a:solidFill>
                  <a:srgbClr val="FF0000"/>
                </a:solidFill>
              </a:rPr>
              <a:t>Name, Project Role, e-mail, phone</a:t>
            </a:r>
            <a:endParaRPr lang="en-US" sz="1100" dirty="0" smtClean="0"/>
          </a:p>
          <a:p>
            <a:pPr>
              <a:defRPr/>
            </a:pPr>
            <a:r>
              <a:rPr lang="en-US" sz="1100" dirty="0" smtClean="0"/>
              <a:t>&lt;customer&gt; 	</a:t>
            </a:r>
            <a:r>
              <a:rPr lang="en-US" sz="1100" dirty="0" smtClean="0">
                <a:solidFill>
                  <a:srgbClr val="FF0000"/>
                </a:solidFill>
              </a:rPr>
              <a:t>Name, Project Role, e-mail, phone</a:t>
            </a:r>
            <a:endParaRPr lang="en-US" sz="1100" dirty="0" smtClean="0"/>
          </a:p>
          <a:p>
            <a:pPr lvl="0"/>
            <a:r>
              <a:rPr lang="en-US" sz="1100" dirty="0" smtClean="0"/>
              <a:t>&lt;customer&gt;  	</a:t>
            </a:r>
            <a:r>
              <a:rPr lang="en-US" sz="1100" dirty="0" smtClean="0">
                <a:solidFill>
                  <a:srgbClr val="FF0000"/>
                </a:solidFill>
              </a:rPr>
              <a:t>Name, Project Role, e-mail, phone</a:t>
            </a:r>
          </a:p>
          <a:p>
            <a:pPr lvl="0"/>
            <a:endParaRPr lang="en-GB" sz="1100" dirty="0" smtClean="0">
              <a:solidFill>
                <a:srgbClr val="FF0000"/>
              </a:solidFill>
            </a:endParaRPr>
          </a:p>
        </p:txBody>
      </p:sp>
      <p:sp>
        <p:nvSpPr>
          <p:cNvPr id="40" name="Text Box 1091"/>
          <p:cNvSpPr txBox="1">
            <a:spLocks noChangeArrowheads="1"/>
          </p:cNvSpPr>
          <p:nvPr/>
        </p:nvSpPr>
        <p:spPr bwMode="auto">
          <a:xfrm>
            <a:off x="6249043" y="800089"/>
            <a:ext cx="3250353"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a:solidFill>
                  <a:srgbClr val="FF0000"/>
                </a:solidFill>
              </a:rPr>
              <a:t> </a:t>
            </a:r>
            <a:r>
              <a:rPr lang="en-US" sz="1600" b="1" dirty="0" smtClean="0"/>
              <a:t>Project</a:t>
            </a:r>
            <a:r>
              <a:rPr lang="en-US" sz="1600" b="1" dirty="0" smtClean="0">
                <a:solidFill>
                  <a:srgbClr val="FF0000"/>
                </a:solidFill>
              </a:rPr>
              <a:t> </a:t>
            </a:r>
            <a:r>
              <a:rPr lang="en-US" sz="1600" b="1" dirty="0" smtClean="0"/>
              <a:t>Stakeholders</a:t>
            </a:r>
            <a:endParaRPr lang="en-US" sz="1600" b="1" dirty="0"/>
          </a:p>
        </p:txBody>
      </p:sp>
      <p:sp>
        <p:nvSpPr>
          <p:cNvPr id="35" name="Rectangle 1097"/>
          <p:cNvSpPr>
            <a:spLocks noChangeArrowheads="1"/>
          </p:cNvSpPr>
          <p:nvPr/>
        </p:nvSpPr>
        <p:spPr bwMode="auto">
          <a:xfrm>
            <a:off x="6376686" y="5034787"/>
            <a:ext cx="5522351" cy="4445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A N OTHER 4 R&amp;R:</a:t>
            </a:r>
          </a:p>
          <a:p>
            <a:pPr lvl="0"/>
            <a:r>
              <a:rPr lang="en-US" sz="1200" dirty="0" smtClean="0"/>
              <a:t>XXXXX</a:t>
            </a:r>
          </a:p>
        </p:txBody>
      </p:sp>
      <p:sp>
        <p:nvSpPr>
          <p:cNvPr id="33" name="Rectangle 1097"/>
          <p:cNvSpPr>
            <a:spLocks noChangeArrowheads="1"/>
          </p:cNvSpPr>
          <p:nvPr/>
        </p:nvSpPr>
        <p:spPr bwMode="auto">
          <a:xfrm>
            <a:off x="647532" y="968350"/>
            <a:ext cx="5294521" cy="2328367"/>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lvl="0"/>
            <a:r>
              <a:rPr lang="en-US" sz="1200" b="1" dirty="0" smtClean="0"/>
              <a:t>Project Team On-Boarding: </a:t>
            </a:r>
            <a:r>
              <a:rPr lang="en-US" sz="1200" i="1" dirty="0" smtClean="0">
                <a:solidFill>
                  <a:srgbClr val="FF0000"/>
                </a:solidFill>
              </a:rPr>
              <a:t>add details about anything that needs to happen when starting work on the project (e.g. customer equipment  / system access / access to project documents / training / Compliance etc)</a:t>
            </a:r>
          </a:p>
          <a:p>
            <a:pPr lvl="0"/>
            <a:endParaRPr lang="en-GB" sz="1200" i="1" dirty="0" smtClean="0">
              <a:solidFill>
                <a:srgbClr val="FF0000"/>
              </a:solidFill>
            </a:endParaRPr>
          </a:p>
          <a:p>
            <a:r>
              <a:rPr lang="en-US" sz="1200" b="1" dirty="0" smtClean="0"/>
              <a:t>Project Team Off-Boarding:  </a:t>
            </a:r>
            <a:r>
              <a:rPr lang="en-US" sz="1200" i="1" dirty="0" smtClean="0">
                <a:solidFill>
                  <a:srgbClr val="FF0000"/>
                </a:solidFill>
              </a:rPr>
              <a:t>add details about anything that needs to happen at project end (e.g. handing back equipment  / system access cessation / archiving of project documents etc)</a:t>
            </a:r>
          </a:p>
          <a:p>
            <a:pPr lvl="0"/>
            <a:endParaRPr lang="en-US" sz="1200" i="1" dirty="0" smtClean="0">
              <a:solidFill>
                <a:srgbClr val="FF0000"/>
              </a:solidFill>
            </a:endParaRPr>
          </a:p>
          <a:p>
            <a:pPr lvl="0"/>
            <a:endParaRPr lang="en-GB" sz="1200" i="1" dirty="0" smtClean="0">
              <a:solidFill>
                <a:srgbClr val="FF0000"/>
              </a:solidFill>
            </a:endParaRPr>
          </a:p>
        </p:txBody>
      </p:sp>
      <p:cxnSp>
        <p:nvCxnSpPr>
          <p:cNvPr id="41" name="Straight Arrow Connector 40"/>
          <p:cNvCxnSpPr/>
          <p:nvPr/>
        </p:nvCxnSpPr>
        <p:spPr>
          <a:xfrm flipV="1">
            <a:off x="5815086" y="3898900"/>
            <a:ext cx="12697" cy="1930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4" name="Title 33"/>
          <p:cNvSpPr>
            <a:spLocks noGrp="1"/>
          </p:cNvSpPr>
          <p:nvPr>
            <p:ph type="title"/>
          </p:nvPr>
        </p:nvSpPr>
        <p:spPr>
          <a:xfrm>
            <a:off x="531812" y="0"/>
            <a:ext cx="11125200" cy="889000"/>
          </a:xfrm>
        </p:spPr>
        <p:txBody>
          <a:bodyPr/>
          <a:lstStyle/>
          <a:p>
            <a:r>
              <a:rPr lang="en-US" dirty="0" smtClean="0"/>
              <a:t>&lt;Customer&gt; &lt;Project Name&gt;</a:t>
            </a:r>
            <a:endParaRPr lang="en-US" dirty="0"/>
          </a:p>
        </p:txBody>
      </p:sp>
    </p:spTree>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90"/>
          <p:cNvSpPr txBox="1">
            <a:spLocks noChangeArrowheads="1"/>
          </p:cNvSpPr>
          <p:nvPr/>
        </p:nvSpPr>
        <p:spPr bwMode="auto">
          <a:xfrm>
            <a:off x="188774" y="841166"/>
            <a:ext cx="417409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Project Success Factors</a:t>
            </a:r>
            <a:endParaRPr lang="en-US" sz="1600" b="1" dirty="0">
              <a:solidFill>
                <a:schemeClr val="tx1">
                  <a:lumMod val="95000"/>
                  <a:lumOff val="5000"/>
                </a:schemeClr>
              </a:solidFill>
            </a:endParaRPr>
          </a:p>
        </p:txBody>
      </p:sp>
      <p:sp>
        <p:nvSpPr>
          <p:cNvPr id="14" name="Rectangle 1096"/>
          <p:cNvSpPr>
            <a:spLocks noChangeArrowheads="1"/>
          </p:cNvSpPr>
          <p:nvPr/>
        </p:nvSpPr>
        <p:spPr bwMode="auto">
          <a:xfrm>
            <a:off x="312146" y="1193801"/>
            <a:ext cx="11178362" cy="9270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200" i="1" dirty="0" smtClean="0"/>
              <a:t>This is from contract or as agreed with customer</a:t>
            </a:r>
          </a:p>
        </p:txBody>
      </p:sp>
      <p:sp>
        <p:nvSpPr>
          <p:cNvPr id="9" name="Rectangle 1096"/>
          <p:cNvSpPr>
            <a:spLocks noChangeArrowheads="1"/>
          </p:cNvSpPr>
          <p:nvPr/>
        </p:nvSpPr>
        <p:spPr bwMode="auto">
          <a:xfrm>
            <a:off x="368205" y="4978402"/>
            <a:ext cx="11135000" cy="10159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200" i="1" dirty="0" smtClean="0"/>
              <a:t>This is from contract or as agreed with customer</a:t>
            </a:r>
          </a:p>
          <a:p>
            <a:pPr>
              <a:buFont typeface="Arial" pitchFamily="34" charset="0"/>
              <a:buChar char="•"/>
              <a:defRPr/>
            </a:pPr>
            <a:endParaRPr lang="en-GB" sz="1200" i="1" dirty="0" smtClean="0"/>
          </a:p>
        </p:txBody>
      </p:sp>
      <p:sp>
        <p:nvSpPr>
          <p:cNvPr id="11" name="Text Box 1090"/>
          <p:cNvSpPr txBox="1">
            <a:spLocks noChangeArrowheads="1"/>
          </p:cNvSpPr>
          <p:nvPr/>
        </p:nvSpPr>
        <p:spPr bwMode="auto">
          <a:xfrm>
            <a:off x="328437" y="4638466"/>
            <a:ext cx="417409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Acceptance Criteria</a:t>
            </a:r>
            <a:endParaRPr lang="en-US" sz="1600" b="1" dirty="0">
              <a:solidFill>
                <a:schemeClr val="tx1">
                  <a:lumMod val="95000"/>
                  <a:lumOff val="5000"/>
                </a:schemeClr>
              </a:solidFill>
            </a:endParaRPr>
          </a:p>
        </p:txBody>
      </p:sp>
      <p:sp>
        <p:nvSpPr>
          <p:cNvPr id="12" name="Rectangle 1096"/>
          <p:cNvSpPr>
            <a:spLocks noChangeArrowheads="1"/>
          </p:cNvSpPr>
          <p:nvPr/>
        </p:nvSpPr>
        <p:spPr bwMode="auto">
          <a:xfrm>
            <a:off x="312145" y="2438402"/>
            <a:ext cx="11165665" cy="9397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200" i="1" dirty="0" smtClean="0"/>
              <a:t>This is from contract or as agreed with customer</a:t>
            </a:r>
          </a:p>
        </p:txBody>
      </p:sp>
      <p:sp>
        <p:nvSpPr>
          <p:cNvPr id="13" name="Text Box 1090"/>
          <p:cNvSpPr txBox="1">
            <a:spLocks noChangeArrowheads="1"/>
          </p:cNvSpPr>
          <p:nvPr/>
        </p:nvSpPr>
        <p:spPr bwMode="auto">
          <a:xfrm>
            <a:off x="328437" y="2111166"/>
            <a:ext cx="417409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GB" sz="1600" b="1" dirty="0" smtClean="0">
                <a:solidFill>
                  <a:schemeClr val="tx1">
                    <a:lumMod val="95000"/>
                    <a:lumOff val="5000"/>
                  </a:schemeClr>
                </a:solidFill>
              </a:rPr>
              <a:t>Assumptions</a:t>
            </a:r>
            <a:endParaRPr lang="en-US" sz="1600" b="1" dirty="0">
              <a:solidFill>
                <a:schemeClr val="tx1">
                  <a:lumMod val="95000"/>
                  <a:lumOff val="5000"/>
                </a:schemeClr>
              </a:solidFill>
            </a:endParaRPr>
          </a:p>
        </p:txBody>
      </p:sp>
      <p:sp>
        <p:nvSpPr>
          <p:cNvPr id="15" name="Text Box 1090"/>
          <p:cNvSpPr txBox="1">
            <a:spLocks noChangeArrowheads="1"/>
          </p:cNvSpPr>
          <p:nvPr/>
        </p:nvSpPr>
        <p:spPr bwMode="auto">
          <a:xfrm>
            <a:off x="315741" y="3393866"/>
            <a:ext cx="417409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Obligations</a:t>
            </a:r>
            <a:endParaRPr lang="en-US" sz="1600" b="1" dirty="0">
              <a:solidFill>
                <a:schemeClr val="tx1">
                  <a:lumMod val="95000"/>
                  <a:lumOff val="5000"/>
                </a:schemeClr>
              </a:solidFill>
            </a:endParaRPr>
          </a:p>
        </p:txBody>
      </p:sp>
      <p:sp>
        <p:nvSpPr>
          <p:cNvPr id="17" name="Rectangle 1096"/>
          <p:cNvSpPr>
            <a:spLocks noChangeArrowheads="1"/>
          </p:cNvSpPr>
          <p:nvPr/>
        </p:nvSpPr>
        <p:spPr bwMode="auto">
          <a:xfrm>
            <a:off x="337539" y="3708402"/>
            <a:ext cx="11165665" cy="93979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US" sz="1200" i="1" dirty="0" smtClean="0"/>
              <a:t>This is from contract or as agreed with customer</a:t>
            </a:r>
          </a:p>
          <a:p>
            <a:pPr>
              <a:buFont typeface="Arial" pitchFamily="34" charset="0"/>
              <a:buChar char="•"/>
              <a:defRPr/>
            </a:pPr>
            <a:r>
              <a:rPr lang="en-GB" sz="1200" dirty="0" smtClean="0"/>
              <a:t>OCM:  For this project, it is solely the customer’s responsibility to define and execute OCM plans. </a:t>
            </a:r>
            <a:r>
              <a:rPr lang="en-GB" sz="1200" i="1" dirty="0" smtClean="0">
                <a:solidFill>
                  <a:srgbClr val="FF0000"/>
                </a:solidFill>
              </a:rPr>
              <a:t>If this is the project team’s responsibility, remove this  bullet and add an appendix to cover the process that has been agreed in the contract.</a:t>
            </a:r>
            <a:r>
              <a:rPr lang="en-GB" sz="1200" dirty="0" smtClean="0"/>
              <a:t>  </a:t>
            </a:r>
          </a:p>
          <a:p>
            <a:pPr>
              <a:buFont typeface="Arial" pitchFamily="34" charset="0"/>
              <a:buChar char="•"/>
              <a:defRPr/>
            </a:pPr>
            <a:endParaRPr lang="en-US" sz="1200" i="1" dirty="0" smtClean="0"/>
          </a:p>
        </p:txBody>
      </p:sp>
      <p:sp>
        <p:nvSpPr>
          <p:cNvPr id="16" name="Title 15"/>
          <p:cNvSpPr>
            <a:spLocks noGrp="1"/>
          </p:cNvSpPr>
          <p:nvPr>
            <p:ph type="title"/>
          </p:nvPr>
        </p:nvSpPr>
        <p:spPr>
          <a:xfrm>
            <a:off x="531812" y="0"/>
            <a:ext cx="11125200" cy="889000"/>
          </a:xfrm>
        </p:spPr>
        <p:txBody>
          <a:bodyPr/>
          <a:lstStyle/>
          <a:p>
            <a:r>
              <a:rPr lang="en-US" dirty="0" smtClean="0"/>
              <a:t>&lt;Customer&gt; &lt;Project Name&gt;</a:t>
            </a:r>
            <a:endParaRPr lang="en-US" dirty="0"/>
          </a:p>
        </p:txBody>
      </p:sp>
      <p:sp>
        <p:nvSpPr>
          <p:cNvPr id="18" name="Footer Placeholder 4"/>
          <p:cNvSpPr txBox="1">
            <a:spLocks/>
          </p:cNvSpPr>
          <p:nvPr/>
        </p:nvSpPr>
        <p:spPr>
          <a:xfrm>
            <a:off x="2158417" y="6415617"/>
            <a:ext cx="3859795" cy="366183"/>
          </a:xfrm>
          <a:prstGeom prst="rect">
            <a:avLst/>
          </a:prstGeom>
        </p:spPr>
        <p:txBody>
          <a:bodyPr lIns="121899" tIns="60949" rIns="121899" bIns="60949"/>
          <a:lstStyle>
            <a:lvl1pPr>
              <a:defRPr/>
            </a:lvl1pPr>
          </a:lstStyle>
          <a:p>
            <a:pPr lvl="0">
              <a:defRPr/>
            </a:pPr>
            <a:r>
              <a:rPr lang="en-US" sz="800" dirty="0" smtClean="0"/>
              <a:t>&lt;CUST&gt;-ORCL-PMP-005 </a:t>
            </a:r>
            <a:r>
              <a:rPr lang="en-US" sz="800" b="1" dirty="0" smtClean="0"/>
              <a:t>3003XXXXX</a:t>
            </a:r>
            <a:endParaRPr lang="en-US" sz="800" dirty="0" smtClean="0"/>
          </a:p>
          <a:p>
            <a:pPr lvl="0">
              <a:defRPr/>
            </a:pPr>
            <a:r>
              <a:rPr lang="en-US" sz="800" b="1" dirty="0" smtClean="0"/>
              <a:t>Version:               Date:  	</a:t>
            </a:r>
            <a:r>
              <a:rPr lang="en-US" sz="800" dirty="0" smtClean="0"/>
              <a:t>Page 4 of 6</a:t>
            </a:r>
            <a:endParaRPr lang="en-US" sz="800" dirty="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xmlns="" val="71950556"/>
      </p:ext>
    </p:extLst>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90"/>
          <p:cNvSpPr txBox="1">
            <a:spLocks noChangeArrowheads="1"/>
          </p:cNvSpPr>
          <p:nvPr/>
        </p:nvSpPr>
        <p:spPr bwMode="auto">
          <a:xfrm>
            <a:off x="303044" y="980866"/>
            <a:ext cx="417409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Change Log</a:t>
            </a:r>
            <a:endParaRPr lang="en-US" sz="1600" b="1" dirty="0">
              <a:solidFill>
                <a:schemeClr val="tx1">
                  <a:lumMod val="95000"/>
                  <a:lumOff val="5000"/>
                </a:schemeClr>
              </a:solidFill>
            </a:endParaRPr>
          </a:p>
        </p:txBody>
      </p:sp>
      <p:sp>
        <p:nvSpPr>
          <p:cNvPr id="30" name="Footer Placeholder 4"/>
          <p:cNvSpPr txBox="1">
            <a:spLocks/>
          </p:cNvSpPr>
          <p:nvPr/>
        </p:nvSpPr>
        <p:spPr>
          <a:xfrm>
            <a:off x="2158417" y="6415617"/>
            <a:ext cx="3859795" cy="366183"/>
          </a:xfrm>
          <a:prstGeom prst="rect">
            <a:avLst/>
          </a:prstGeom>
        </p:spPr>
        <p:txBody>
          <a:bodyPr lIns="121899" tIns="60949" rIns="121899" bIns="60949"/>
          <a:lstStyle>
            <a:lvl1pPr>
              <a:defRPr/>
            </a:lvl1pPr>
          </a:lstStyle>
          <a:p>
            <a:pPr lvl="0">
              <a:defRPr/>
            </a:pPr>
            <a:r>
              <a:rPr lang="en-US" sz="800" dirty="0" smtClean="0">
                <a:latin typeface="Calibri" pitchFamily="34" charset="0"/>
                <a:cs typeface="Calibri" pitchFamily="34" charset="0"/>
              </a:rPr>
              <a:t>&lt;CUST&gt;</a:t>
            </a:r>
            <a:r>
              <a:rPr lang="en-US" sz="800" dirty="0" smtClean="0">
                <a:latin typeface="Calibri" pitchFamily="34" charset="0"/>
                <a:ea typeface="ＭＳ Ｐゴシック" pitchFamily="34" charset="-128"/>
                <a:cs typeface="Calibri" pitchFamily="34" charset="0"/>
              </a:rPr>
              <a:t>-ORCL-PMP-005 </a:t>
            </a:r>
            <a:r>
              <a:rPr lang="en-US" sz="800" b="1" dirty="0" smtClean="0">
                <a:latin typeface="Calibri" pitchFamily="34" charset="0"/>
                <a:cs typeface="Calibri" pitchFamily="34" charset="0"/>
              </a:rPr>
              <a:t>3003XXXXX</a:t>
            </a:r>
            <a:endParaRPr lang="en-US" sz="800" dirty="0" smtClean="0">
              <a:latin typeface="Calibri" pitchFamily="34" charset="0"/>
              <a:ea typeface="ＭＳ Ｐゴシック" pitchFamily="34" charset="-128"/>
              <a:cs typeface="Calibri" pitchFamily="34" charset="0"/>
            </a:endParaRPr>
          </a:p>
          <a:p>
            <a:pPr lvl="0">
              <a:defRPr/>
            </a:pPr>
            <a:r>
              <a:rPr lang="en-US" sz="800" b="1" dirty="0" smtClean="0">
                <a:latin typeface="Calibri" pitchFamily="34" charset="0"/>
                <a:cs typeface="Calibri" pitchFamily="34" charset="0"/>
              </a:rPr>
              <a:t>Version:               Date:  	</a:t>
            </a:r>
            <a:r>
              <a:rPr lang="en-US" sz="800" dirty="0" smtClean="0">
                <a:latin typeface="Calibri" pitchFamily="34" charset="0"/>
                <a:ea typeface="ＭＳ Ｐゴシック" pitchFamily="34" charset="-128"/>
                <a:cs typeface="Calibri" pitchFamily="34" charset="0"/>
              </a:rPr>
              <a:t>Page 5 of 6</a:t>
            </a:r>
            <a:endParaRPr lang="en-US" sz="800" dirty="0">
              <a:latin typeface="Calibri" pitchFamily="34" charset="0"/>
              <a:ea typeface="ＭＳ Ｐゴシック" pitchFamily="34" charset="-128"/>
              <a:cs typeface="Calibri" pitchFamily="34" charset="0"/>
            </a:endParaRPr>
          </a:p>
        </p:txBody>
      </p:sp>
      <p:sp>
        <p:nvSpPr>
          <p:cNvPr id="11" name="Text Box 1090"/>
          <p:cNvSpPr txBox="1">
            <a:spLocks noChangeArrowheads="1"/>
          </p:cNvSpPr>
          <p:nvPr/>
        </p:nvSpPr>
        <p:spPr bwMode="auto">
          <a:xfrm>
            <a:off x="318687" y="2867477"/>
            <a:ext cx="417409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Reviewers</a:t>
            </a:r>
            <a:endParaRPr lang="en-US" sz="1600" b="1" dirty="0">
              <a:solidFill>
                <a:schemeClr val="tx1">
                  <a:lumMod val="95000"/>
                  <a:lumOff val="5000"/>
                </a:schemeClr>
              </a:solidFill>
            </a:endParaRPr>
          </a:p>
        </p:txBody>
      </p:sp>
      <p:sp>
        <p:nvSpPr>
          <p:cNvPr id="12" name="Text Box 1091"/>
          <p:cNvSpPr txBox="1">
            <a:spLocks noChangeArrowheads="1"/>
          </p:cNvSpPr>
          <p:nvPr/>
        </p:nvSpPr>
        <p:spPr bwMode="auto">
          <a:xfrm>
            <a:off x="6156983" y="2182357"/>
            <a:ext cx="311296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a:solidFill>
                  <a:srgbClr val="FF0000"/>
                </a:solidFill>
              </a:rPr>
              <a:t> </a:t>
            </a:r>
            <a:r>
              <a:rPr lang="en-US" sz="1600" b="1" dirty="0" smtClean="0"/>
              <a:t>General Administration</a:t>
            </a:r>
            <a:endParaRPr lang="en-US" sz="1600" b="1" dirty="0"/>
          </a:p>
        </p:txBody>
      </p:sp>
      <p:sp>
        <p:nvSpPr>
          <p:cNvPr id="13" name="Rectangle 1097"/>
          <p:cNvSpPr>
            <a:spLocks noChangeArrowheads="1"/>
          </p:cNvSpPr>
          <p:nvPr/>
        </p:nvSpPr>
        <p:spPr bwMode="auto">
          <a:xfrm>
            <a:off x="6154038" y="2496923"/>
            <a:ext cx="5650027" cy="1706880"/>
          </a:xfrm>
          <a:prstGeom prst="rect">
            <a:avLst/>
          </a:prstGeom>
          <a:noFill/>
          <a:ln w="9525">
            <a:solidFill>
              <a:schemeClr val="bg2"/>
            </a:solidFill>
            <a:miter lim="800000"/>
            <a:headEnd/>
            <a:tailEnd/>
          </a:ln>
          <a:effectLst/>
        </p:spPr>
        <p:txBody>
          <a:bodyPr lIns="60949" tIns="60949" rIns="60949" bIns="60949"/>
          <a:lstStyle/>
          <a:p>
            <a:pPr>
              <a:defRPr/>
            </a:pPr>
            <a:r>
              <a:rPr lang="en-GB" sz="1100" dirty="0" smtClean="0"/>
              <a:t>This project will follow the Oracle OUM Methodology</a:t>
            </a:r>
            <a:endParaRPr lang="en-US" sz="1100" dirty="0" smtClean="0"/>
          </a:p>
          <a:p>
            <a:pPr>
              <a:defRPr/>
            </a:pPr>
            <a:r>
              <a:rPr lang="en-US" sz="1100" dirty="0" smtClean="0"/>
              <a:t>Project Work area location:  </a:t>
            </a:r>
            <a:r>
              <a:rPr lang="en-US" sz="1100" dirty="0" smtClean="0">
                <a:solidFill>
                  <a:srgbClr val="FF0000"/>
                </a:solidFill>
              </a:rPr>
              <a:t>Add a link to the location here</a:t>
            </a:r>
            <a:endParaRPr lang="en-US" sz="1100" dirty="0" smtClean="0"/>
          </a:p>
          <a:p>
            <a:pPr>
              <a:defRPr/>
            </a:pPr>
            <a:r>
              <a:rPr lang="en-US" sz="1100" dirty="0" smtClean="0"/>
              <a:t>Team Calendar location: </a:t>
            </a:r>
            <a:r>
              <a:rPr lang="en-US" sz="1100" dirty="0" smtClean="0">
                <a:solidFill>
                  <a:srgbClr val="FF0000"/>
                </a:solidFill>
              </a:rPr>
              <a:t>Add a link to the location here</a:t>
            </a:r>
            <a:endParaRPr lang="en-US" sz="1100" dirty="0" smtClean="0"/>
          </a:p>
          <a:p>
            <a:pPr>
              <a:defRPr/>
            </a:pPr>
            <a:r>
              <a:rPr lang="en-US" sz="1100" dirty="0" smtClean="0"/>
              <a:t>Time Sheets:  Every Thursday</a:t>
            </a:r>
          </a:p>
          <a:p>
            <a:pPr>
              <a:defRPr/>
            </a:pPr>
            <a:r>
              <a:rPr lang="en-US" sz="1100" dirty="0" smtClean="0"/>
              <a:t>Expenses: Weekly submission but no later than 21 days after incurring the expense</a:t>
            </a:r>
          </a:p>
          <a:p>
            <a:pPr>
              <a:defRPr/>
            </a:pPr>
            <a:r>
              <a:rPr lang="en-US" sz="1100" dirty="0" smtClean="0"/>
              <a:t>Public Holidays:  </a:t>
            </a:r>
            <a:r>
              <a:rPr lang="en-US" sz="1100" dirty="0" smtClean="0">
                <a:solidFill>
                  <a:srgbClr val="FF0000"/>
                </a:solidFill>
              </a:rPr>
              <a:t>Provide details</a:t>
            </a:r>
            <a:endParaRPr lang="en-US" sz="1100" dirty="0" smtClean="0"/>
          </a:p>
          <a:p>
            <a:pPr>
              <a:defRPr/>
            </a:pPr>
            <a:r>
              <a:rPr lang="en-US" sz="1100" dirty="0" smtClean="0"/>
              <a:t>Vacation Requests: </a:t>
            </a:r>
            <a:r>
              <a:rPr lang="en-US" sz="1100" dirty="0" smtClean="0">
                <a:solidFill>
                  <a:srgbClr val="FF0000"/>
                </a:solidFill>
              </a:rPr>
              <a:t>Provide details</a:t>
            </a:r>
            <a:endParaRPr lang="en-US" sz="1100" dirty="0" smtClean="0"/>
          </a:p>
          <a:p>
            <a:pPr>
              <a:defRPr/>
            </a:pPr>
            <a:r>
              <a:rPr lang="en-US" sz="1100" dirty="0" smtClean="0"/>
              <a:t>Compliance Monitoring Procedures: </a:t>
            </a:r>
            <a:r>
              <a:rPr lang="en-US" sz="1100" dirty="0" smtClean="0">
                <a:solidFill>
                  <a:srgbClr val="FF0000"/>
                </a:solidFill>
              </a:rPr>
              <a:t>Add a link to the location here</a:t>
            </a:r>
            <a:endParaRPr lang="en-US" sz="1100" dirty="0" smtClean="0"/>
          </a:p>
          <a:p>
            <a:pPr>
              <a:defRPr/>
            </a:pPr>
            <a:r>
              <a:rPr lang="en-US" sz="1100" dirty="0" smtClean="0"/>
              <a:t>Actions Log Location: </a:t>
            </a:r>
            <a:r>
              <a:rPr lang="en-US" sz="1100" dirty="0" smtClean="0">
                <a:solidFill>
                  <a:srgbClr val="FF0000"/>
                </a:solidFill>
              </a:rPr>
              <a:t>Add a link to the location here</a:t>
            </a:r>
            <a:endParaRPr lang="en-GB" sz="1100" dirty="0" smtClean="0"/>
          </a:p>
          <a:p>
            <a:pPr>
              <a:defRPr/>
            </a:pPr>
            <a:endParaRPr lang="en-US" sz="1100" dirty="0" smtClean="0"/>
          </a:p>
        </p:txBody>
      </p:sp>
      <p:graphicFrame>
        <p:nvGraphicFramePr>
          <p:cNvPr id="15" name="Table 14"/>
          <p:cNvGraphicFramePr>
            <a:graphicFrameLocks noGrp="1"/>
          </p:cNvGraphicFramePr>
          <p:nvPr/>
        </p:nvGraphicFramePr>
        <p:xfrm>
          <a:off x="330114" y="1391920"/>
          <a:ext cx="5637332" cy="1422400"/>
        </p:xfrm>
        <a:graphic>
          <a:graphicData uri="http://schemas.openxmlformats.org/drawingml/2006/table">
            <a:tbl>
              <a:tblPr/>
              <a:tblGrid>
                <a:gridCol w="681185"/>
                <a:gridCol w="1232902"/>
                <a:gridCol w="789497"/>
                <a:gridCol w="2933748"/>
              </a:tblGrid>
              <a:tr h="162560">
                <a:tc>
                  <a:txBody>
                    <a:bodyPr/>
                    <a:lstStyle/>
                    <a:p>
                      <a:pPr algn="l" hangingPunct="0">
                        <a:spcBef>
                          <a:spcPts val="600"/>
                        </a:spcBef>
                        <a:spcAft>
                          <a:spcPts val="600"/>
                        </a:spcAft>
                      </a:pPr>
                      <a:r>
                        <a:rPr lang="en-US" sz="1100" b="1" dirty="0">
                          <a:latin typeface="Calibri"/>
                          <a:ea typeface="Times New Roman"/>
                          <a:cs typeface="Times New Roman"/>
                        </a:rPr>
                        <a:t>Date</a:t>
                      </a:r>
                      <a:endParaRPr lang="en-US" sz="1100" b="1" dirty="0">
                        <a:latin typeface="Book Antiqua"/>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algn="l" hangingPunct="0">
                        <a:spcBef>
                          <a:spcPts val="600"/>
                        </a:spcBef>
                        <a:spcAft>
                          <a:spcPts val="600"/>
                        </a:spcAft>
                      </a:pPr>
                      <a:r>
                        <a:rPr lang="en-US" sz="1100" b="1" dirty="0">
                          <a:latin typeface="Calibri"/>
                          <a:ea typeface="Times New Roman"/>
                          <a:cs typeface="Times New Roman"/>
                        </a:rPr>
                        <a:t>Author</a:t>
                      </a:r>
                      <a:endParaRPr lang="en-US" sz="1100" b="1" dirty="0">
                        <a:latin typeface="Book Antiqua"/>
                        <a:ea typeface="Times New Roman"/>
                        <a:cs typeface="Times New Roman"/>
                      </a:endParaRPr>
                    </a:p>
                  </a:txBody>
                  <a:tcPr marL="81259" marR="81259"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algn="l" hangingPunct="0">
                        <a:spcBef>
                          <a:spcPts val="600"/>
                        </a:spcBef>
                        <a:spcAft>
                          <a:spcPts val="600"/>
                        </a:spcAft>
                      </a:pPr>
                      <a:r>
                        <a:rPr lang="en-US" sz="1100" b="1" dirty="0">
                          <a:latin typeface="Calibri"/>
                          <a:ea typeface="Times New Roman"/>
                          <a:cs typeface="Times New Roman"/>
                        </a:rPr>
                        <a:t>Version</a:t>
                      </a:r>
                      <a:endParaRPr lang="en-US" sz="1100" b="1" dirty="0">
                        <a:latin typeface="Book Antiqua"/>
                        <a:ea typeface="Times New Roman"/>
                        <a:cs typeface="Times New Roman"/>
                      </a:endParaRPr>
                    </a:p>
                  </a:txBody>
                  <a:tcPr marL="81259" marR="81259" marT="0" marB="0">
                    <a:lnL>
                      <a:noFill/>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algn="l" hangingPunct="0">
                        <a:spcBef>
                          <a:spcPts val="600"/>
                        </a:spcBef>
                        <a:spcAft>
                          <a:spcPts val="600"/>
                        </a:spcAft>
                      </a:pPr>
                      <a:r>
                        <a:rPr lang="en-US" sz="1100" b="1" dirty="0">
                          <a:latin typeface="Calibri"/>
                          <a:ea typeface="Times New Roman"/>
                          <a:cs typeface="Times New Roman"/>
                        </a:rPr>
                        <a:t>Change Reference</a:t>
                      </a:r>
                      <a:endParaRPr lang="en-US" sz="1100" b="1" dirty="0">
                        <a:latin typeface="Book Antiqua"/>
                        <a:ea typeface="Times New Roman"/>
                        <a:cs typeface="Times New Roman"/>
                      </a:endParaRPr>
                    </a:p>
                  </a:txBody>
                  <a:tcPr marL="81259" marR="81259" marT="0" marB="0">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r>
              <a:tr h="81280">
                <a:tc>
                  <a:txBody>
                    <a:bodyPr/>
                    <a:lstStyle/>
                    <a:p>
                      <a:pPr algn="l" hangingPunct="0">
                        <a:spcAft>
                          <a:spcPts val="0"/>
                        </a:spcAft>
                      </a:pPr>
                      <a:endParaRPr lang="en-US" sz="500" dirty="0">
                        <a:latin typeface="Calibri"/>
                        <a:ea typeface="Times New Roman"/>
                        <a:cs typeface="Times New Roman"/>
                      </a:endParaRPr>
                    </a:p>
                  </a:txBody>
                  <a:tcPr marL="81259" marR="8125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c>
                  <a:txBody>
                    <a:bodyPr/>
                    <a:lstStyle/>
                    <a:p>
                      <a:pPr algn="l" hangingPunct="0">
                        <a:spcAft>
                          <a:spcPts val="0"/>
                        </a:spcAft>
                      </a:pPr>
                      <a:endParaRPr lang="en-US" sz="500" dirty="0">
                        <a:latin typeface="Calibri"/>
                        <a:ea typeface="Times New Roman"/>
                        <a:cs typeface="Times New Roman"/>
                      </a:endParaRPr>
                    </a:p>
                  </a:txBody>
                  <a:tcPr marL="81259" marR="8125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c>
                  <a:txBody>
                    <a:bodyPr/>
                    <a:lstStyle/>
                    <a:p>
                      <a:pPr algn="l" hangingPunct="0">
                        <a:spcAft>
                          <a:spcPts val="0"/>
                        </a:spcAft>
                      </a:pPr>
                      <a:endParaRPr lang="en-US" sz="500" dirty="0">
                        <a:latin typeface="Calibri"/>
                        <a:ea typeface="Times New Roman"/>
                        <a:cs typeface="Times New Roman"/>
                      </a:endParaRPr>
                    </a:p>
                  </a:txBody>
                  <a:tcPr marL="81259" marR="8125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c>
                  <a:txBody>
                    <a:bodyPr/>
                    <a:lstStyle/>
                    <a:p>
                      <a:pPr algn="l" hangingPunct="0">
                        <a:spcAft>
                          <a:spcPts val="0"/>
                        </a:spcAft>
                      </a:pPr>
                      <a:endParaRPr lang="en-US" sz="500" dirty="0">
                        <a:latin typeface="Calibri"/>
                        <a:ea typeface="Times New Roman"/>
                        <a:cs typeface="Times New Roman"/>
                      </a:endParaRPr>
                    </a:p>
                  </a:txBody>
                  <a:tcPr marL="81259" marR="81259"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r>
                        <a:rPr lang="en-US" sz="1100" dirty="0">
                          <a:latin typeface="Calibri"/>
                          <a:ea typeface="Times New Roman"/>
                          <a:cs typeface="Times New Roman"/>
                        </a:rPr>
                        <a:t>Oracle PM Name</a:t>
                      </a:r>
                      <a:endParaRPr lang="en-US" sz="1100" dirty="0">
                        <a:latin typeface="Book Antiqua"/>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r>
                        <a:rPr lang="en-US" sz="1100" dirty="0">
                          <a:latin typeface="Calibri"/>
                          <a:ea typeface="Times New Roman"/>
                          <a:cs typeface="Times New Roman"/>
                        </a:rPr>
                        <a:t>1.0</a:t>
                      </a:r>
                      <a:endParaRPr lang="en-US" sz="1100" dirty="0">
                        <a:latin typeface="Book Antiqua"/>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r>
                        <a:rPr lang="en-US" sz="1100" dirty="0">
                          <a:latin typeface="Calibri"/>
                          <a:ea typeface="Times New Roman"/>
                          <a:cs typeface="Times New Roman"/>
                        </a:rPr>
                        <a:t>No previous document.</a:t>
                      </a:r>
                      <a:endParaRPr lang="en-US" sz="1100" dirty="0">
                        <a:latin typeface="Book Antiqua"/>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algn="l" hangingPunct="0">
                        <a:spcAft>
                          <a:spcPts val="0"/>
                        </a:spcAft>
                      </a:pPr>
                      <a:endParaRPr lang="en-US" sz="1100" dirty="0">
                        <a:latin typeface="Calibri"/>
                        <a:ea typeface="Times New Roman"/>
                        <a:cs typeface="Times New Roman"/>
                      </a:endParaRPr>
                    </a:p>
                  </a:txBody>
                  <a:tcPr marL="81259" marR="81259"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hangingPunct="0">
                        <a:spcAft>
                          <a:spcPts val="0"/>
                        </a:spcAft>
                      </a:pPr>
                      <a:endParaRPr lang="en-US" sz="1100" dirty="0">
                        <a:latin typeface="Calibri"/>
                        <a:ea typeface="Times New Roman"/>
                        <a:cs typeface="Times New Roman"/>
                      </a:endParaRPr>
                    </a:p>
                  </a:txBody>
                  <a:tcPr marL="81259" marR="81259"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4097" name="Rectangle 1"/>
          <p:cNvSpPr>
            <a:spLocks noChangeArrowheads="1"/>
          </p:cNvSpPr>
          <p:nvPr/>
        </p:nvSpPr>
        <p:spPr bwMode="auto">
          <a:xfrm>
            <a:off x="0" y="58590"/>
            <a:ext cx="246243" cy="492420"/>
          </a:xfrm>
          <a:prstGeom prst="rect">
            <a:avLst/>
          </a:prstGeom>
          <a:noFill/>
          <a:ln w="9525">
            <a:noFill/>
            <a:miter lim="800000"/>
            <a:headEnd/>
            <a:tailEnd/>
          </a:ln>
          <a:effectLst/>
        </p:spPr>
        <p:txBody>
          <a:bodyPr vert="horz" wrap="none" lIns="121899" tIns="60949" rIns="121899" bIns="60949" numCol="1" anchor="ctr" anchorCtr="0" compatLnSpc="1">
            <a:prstTxWarp prst="textNoShape">
              <a:avLst/>
            </a:prstTxWarp>
            <a:spAutoFit/>
          </a:bodyPr>
          <a:lstStyle/>
          <a:p>
            <a:pPr defTabSz="1218987" fontAlgn="base">
              <a:spcBef>
                <a:spcPct val="0"/>
              </a:spcBef>
              <a:spcAft>
                <a:spcPct val="0"/>
              </a:spcAft>
            </a:pPr>
            <a:endParaRPr lang="en-US" sz="2400" dirty="0" smtClean="0">
              <a:latin typeface="Arial" pitchFamily="34" charset="0"/>
              <a:cs typeface="Arial" pitchFamily="34" charset="0"/>
            </a:endParaRPr>
          </a:p>
        </p:txBody>
      </p:sp>
      <p:graphicFrame>
        <p:nvGraphicFramePr>
          <p:cNvPr id="16" name="Table 15"/>
          <p:cNvGraphicFramePr>
            <a:graphicFrameLocks noGrp="1"/>
          </p:cNvGraphicFramePr>
          <p:nvPr/>
        </p:nvGraphicFramePr>
        <p:xfrm>
          <a:off x="328354" y="3191663"/>
          <a:ext cx="5639023" cy="1422400"/>
        </p:xfrm>
        <a:graphic>
          <a:graphicData uri="http://schemas.openxmlformats.org/drawingml/2006/table">
            <a:tbl>
              <a:tblPr/>
              <a:tblGrid>
                <a:gridCol w="1937459"/>
                <a:gridCol w="2570713"/>
                <a:gridCol w="1130851"/>
              </a:tblGrid>
              <a:tr h="162560">
                <a:tc>
                  <a:txBody>
                    <a:bodyPr/>
                    <a:lstStyle/>
                    <a:p>
                      <a:pPr hangingPunct="0">
                        <a:spcBef>
                          <a:spcPts val="600"/>
                        </a:spcBef>
                        <a:spcAft>
                          <a:spcPts val="600"/>
                        </a:spcAft>
                      </a:pPr>
                      <a:r>
                        <a:rPr lang="en-US" sz="1100" b="1" dirty="0">
                          <a:latin typeface="Calibri"/>
                          <a:ea typeface="Times New Roman"/>
                          <a:cs typeface="Times New Roman"/>
                        </a:rPr>
                        <a:t>Name</a:t>
                      </a:r>
                      <a:endParaRPr lang="en-US" sz="1100" b="1" dirty="0">
                        <a:latin typeface="Book Antiqua"/>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marL="0" marR="0" indent="0" algn="l" defTabSz="571145" rtl="0" eaLnBrk="1" fontAlgn="auto" latinLnBrk="0" hangingPunct="0">
                        <a:lnSpc>
                          <a:spcPct val="100000"/>
                        </a:lnSpc>
                        <a:spcBef>
                          <a:spcPts val="600"/>
                        </a:spcBef>
                        <a:spcAft>
                          <a:spcPts val="600"/>
                        </a:spcAft>
                        <a:buClrTx/>
                        <a:buSzTx/>
                        <a:buFontTx/>
                        <a:buNone/>
                        <a:tabLst/>
                        <a:defRPr/>
                      </a:pPr>
                      <a:r>
                        <a:rPr lang="en-US" sz="1100" b="1" dirty="0" smtClean="0">
                          <a:latin typeface="+mn-lt"/>
                          <a:ea typeface="Times New Roman"/>
                          <a:cs typeface="Times New Roman"/>
                        </a:rPr>
                        <a:t>Position</a:t>
                      </a:r>
                      <a:endParaRPr lang="en-US" sz="1100" b="1" dirty="0" smtClean="0">
                        <a:latin typeface="Book Antiqua"/>
                        <a:ea typeface="Times New Roman"/>
                        <a:cs typeface="Times New Roman"/>
                      </a:endParaRPr>
                    </a:p>
                  </a:txBody>
                  <a:tcPr marL="91416" marR="91416" marT="0" marB="0">
                    <a:lnL w="19050" cap="flat" cmpd="sng" algn="ctr">
                      <a:no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c>
                  <a:txBody>
                    <a:bodyPr/>
                    <a:lstStyle/>
                    <a:p>
                      <a:pPr hangingPunct="0">
                        <a:spcBef>
                          <a:spcPts val="600"/>
                        </a:spcBef>
                        <a:spcAft>
                          <a:spcPts val="600"/>
                        </a:spcAft>
                      </a:pPr>
                      <a:r>
                        <a:rPr lang="en-GB" sz="1100" b="1" dirty="0" smtClean="0">
                          <a:latin typeface="+mn-lt"/>
                          <a:ea typeface="Times New Roman"/>
                          <a:cs typeface="Times New Roman"/>
                        </a:rPr>
                        <a:t>Date</a:t>
                      </a:r>
                      <a:endParaRPr lang="en-US" sz="1100" b="1" dirty="0">
                        <a:latin typeface="Book Antiqua"/>
                        <a:ea typeface="Times New Roman"/>
                        <a:cs typeface="Times New Roman"/>
                      </a:endParaRPr>
                    </a:p>
                  </a:txBody>
                  <a:tcPr marL="91416" marR="91416" marT="0" marB="0">
                    <a:lnL>
                      <a:noFill/>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DB3E2"/>
                    </a:solidFill>
                  </a:tcPr>
                </a:tc>
              </a:tr>
              <a:tr h="81280">
                <a:tc>
                  <a:txBody>
                    <a:bodyPr/>
                    <a:lstStyle/>
                    <a:p>
                      <a:pPr hangingPunct="0">
                        <a:spcAft>
                          <a:spcPts val="0"/>
                        </a:spcAft>
                      </a:pPr>
                      <a:endParaRPr lang="en-US" sz="500" dirty="0">
                        <a:latin typeface="Calibri"/>
                        <a:ea typeface="Times New Roman"/>
                        <a:cs typeface="Times New Roman"/>
                      </a:endParaRPr>
                    </a:p>
                  </a:txBody>
                  <a:tcPr marL="91416" marR="91416"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c>
                  <a:txBody>
                    <a:bodyPr/>
                    <a:lstStyle/>
                    <a:p>
                      <a:pPr hangingPunct="0">
                        <a:spcAft>
                          <a:spcPts val="0"/>
                        </a:spcAft>
                      </a:pPr>
                      <a:endParaRPr lang="en-US" sz="500" dirty="0">
                        <a:latin typeface="Calibri"/>
                        <a:ea typeface="Times New Roman"/>
                        <a:cs typeface="Times New Roman"/>
                      </a:endParaRPr>
                    </a:p>
                  </a:txBody>
                  <a:tcPr marL="91416" marR="91416"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c>
                  <a:txBody>
                    <a:bodyPr/>
                    <a:lstStyle/>
                    <a:p>
                      <a:pPr hangingPunct="0">
                        <a:spcAft>
                          <a:spcPts val="0"/>
                        </a:spcAft>
                      </a:pPr>
                      <a:endParaRPr lang="en-US" sz="500" dirty="0">
                        <a:latin typeface="Calibri"/>
                        <a:ea typeface="Times New Roman"/>
                        <a:cs typeface="Times New Roman"/>
                      </a:endParaRPr>
                    </a:p>
                  </a:txBody>
                  <a:tcPr marL="91416" marR="91416"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pattFill prst="pct50">
                      <a:fgClr>
                        <a:srgbClr val="FFFFFF"/>
                      </a:fgClr>
                      <a:bgClr>
                        <a:srgbClr val="7F7F7F"/>
                      </a:bgClr>
                    </a:pattFill>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2560">
                <a:tc>
                  <a:txBody>
                    <a:bodyPr/>
                    <a:lstStyle/>
                    <a:p>
                      <a:pPr hangingPunct="0">
                        <a:spcAft>
                          <a:spcPts val="0"/>
                        </a:spcAft>
                      </a:pPr>
                      <a:endParaRPr lang="en-US" sz="1100" dirty="0">
                        <a:latin typeface="Calibri"/>
                        <a:ea typeface="Times New Roman"/>
                        <a:cs typeface="Times New Roman"/>
                      </a:endParaRPr>
                    </a:p>
                  </a:txBody>
                  <a:tcPr marL="91416" marR="91416"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hangingPunct="0">
                        <a:spcAft>
                          <a:spcPts val="0"/>
                        </a:spcAft>
                      </a:pPr>
                      <a:endParaRPr lang="en-US" sz="1100" dirty="0">
                        <a:latin typeface="Calibri"/>
                        <a:ea typeface="Times New Roman"/>
                        <a:cs typeface="Times New Roman"/>
                      </a:endParaRPr>
                    </a:p>
                  </a:txBody>
                  <a:tcPr marL="91416" marR="91416"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4098" name="Rectangle 2"/>
          <p:cNvSpPr>
            <a:spLocks noChangeArrowheads="1"/>
          </p:cNvSpPr>
          <p:nvPr/>
        </p:nvSpPr>
        <p:spPr bwMode="auto">
          <a:xfrm>
            <a:off x="330114" y="4792233"/>
            <a:ext cx="5686289" cy="1123362"/>
          </a:xfrm>
          <a:prstGeom prst="rect">
            <a:avLst/>
          </a:prstGeom>
          <a:noFill/>
          <a:ln w="9525">
            <a:noFill/>
            <a:miter lim="800000"/>
            <a:headEnd/>
            <a:tailEnd/>
          </a:ln>
          <a:effectLst/>
        </p:spPr>
        <p:txBody>
          <a:bodyPr vert="horz" wrap="square" lIns="121899" tIns="60949" rIns="121899" bIns="60949" numCol="1" anchor="ctr" anchorCtr="0" compatLnSpc="1">
            <a:prstTxWarp prst="textNoShape">
              <a:avLst/>
            </a:prstTxWarp>
            <a:spAutoFit/>
          </a:bodyPr>
          <a:lstStyle/>
          <a:p>
            <a:pPr defTabSz="1218987" fontAlgn="base">
              <a:spcBef>
                <a:spcPct val="0"/>
              </a:spcBef>
              <a:spcAft>
                <a:spcPct val="0"/>
              </a:spcAft>
            </a:pPr>
            <a:r>
              <a:rPr lang="en-US" sz="1300" b="1" dirty="0" smtClean="0">
                <a:latin typeface="Calibri" pitchFamily="34" charset="0"/>
                <a:ea typeface="Times New Roman" pitchFamily="18" charset="0"/>
                <a:cs typeface="Calibri" pitchFamily="34" charset="0"/>
              </a:rPr>
              <a:t>NOTE TO HOLDERS:</a:t>
            </a:r>
            <a:endParaRPr lang="en-US" sz="900" dirty="0" smtClean="0">
              <a:latin typeface="Arial" pitchFamily="34" charset="0"/>
              <a:cs typeface="Arial" pitchFamily="34" charset="0"/>
            </a:endParaRPr>
          </a:p>
          <a:p>
            <a:pPr defTabSz="1218987" eaLnBrk="0" fontAlgn="base" hangingPunct="0">
              <a:spcBef>
                <a:spcPct val="0"/>
              </a:spcBef>
              <a:spcAft>
                <a:spcPct val="0"/>
              </a:spcAft>
            </a:pPr>
            <a:r>
              <a:rPr lang="en-US" sz="1300" dirty="0" smtClean="0">
                <a:latin typeface="Calibri" pitchFamily="34" charset="0"/>
                <a:ea typeface="Times New Roman" pitchFamily="18" charset="0"/>
                <a:cs typeface="Calibri" pitchFamily="34" charset="0"/>
              </a:rPr>
              <a:t>If you receive an </a:t>
            </a:r>
            <a:r>
              <a:rPr lang="en-US" sz="1300" u="sng" dirty="0" smtClean="0">
                <a:latin typeface="Calibri" pitchFamily="34" charset="0"/>
                <a:ea typeface="Times New Roman" pitchFamily="18" charset="0"/>
                <a:cs typeface="Calibri" pitchFamily="34" charset="0"/>
              </a:rPr>
              <a:t>electronic copy</a:t>
            </a:r>
            <a:r>
              <a:rPr lang="en-US" sz="1300" dirty="0" smtClean="0">
                <a:latin typeface="Calibri" pitchFamily="34" charset="0"/>
                <a:ea typeface="Times New Roman" pitchFamily="18" charset="0"/>
                <a:cs typeface="Calibri" pitchFamily="34" charset="0"/>
              </a:rPr>
              <a:t> of this document and print it out, you should write your name on the front cover (for document control purposes).</a:t>
            </a:r>
            <a:endParaRPr lang="en-US" sz="900" dirty="0" smtClean="0">
              <a:latin typeface="Arial" pitchFamily="34" charset="0"/>
              <a:cs typeface="Arial" pitchFamily="34" charset="0"/>
            </a:endParaRPr>
          </a:p>
          <a:p>
            <a:pPr defTabSz="1218987" eaLnBrk="0" fontAlgn="base" hangingPunct="0">
              <a:spcBef>
                <a:spcPct val="0"/>
              </a:spcBef>
              <a:spcAft>
                <a:spcPct val="0"/>
              </a:spcAft>
            </a:pPr>
            <a:r>
              <a:rPr lang="en-US" sz="1300" dirty="0" smtClean="0">
                <a:latin typeface="Calibri" pitchFamily="34" charset="0"/>
                <a:ea typeface="Times New Roman" pitchFamily="18" charset="0"/>
                <a:cs typeface="Calibri" pitchFamily="34" charset="0"/>
              </a:rPr>
              <a:t>If you receive a </a:t>
            </a:r>
            <a:r>
              <a:rPr lang="en-US" sz="1300" u="sng" dirty="0" smtClean="0">
                <a:latin typeface="Calibri" pitchFamily="34" charset="0"/>
                <a:ea typeface="Times New Roman" pitchFamily="18" charset="0"/>
                <a:cs typeface="Calibri" pitchFamily="34" charset="0"/>
              </a:rPr>
              <a:t>hard copy</a:t>
            </a:r>
            <a:r>
              <a:rPr lang="en-US" sz="1300" dirty="0" smtClean="0">
                <a:latin typeface="Calibri" pitchFamily="34" charset="0"/>
                <a:ea typeface="Times New Roman" pitchFamily="18" charset="0"/>
                <a:cs typeface="Calibri" pitchFamily="34" charset="0"/>
              </a:rPr>
              <a:t> of this document, please write your name on the front cover (for document control purposes).</a:t>
            </a:r>
            <a:endParaRPr lang="en-US" sz="2400" dirty="0" smtClean="0">
              <a:latin typeface="Arial" pitchFamily="34" charset="0"/>
              <a:cs typeface="Arial" pitchFamily="34" charset="0"/>
            </a:endParaRPr>
          </a:p>
        </p:txBody>
      </p:sp>
      <p:sp>
        <p:nvSpPr>
          <p:cNvPr id="17" name="Text Box 1091"/>
          <p:cNvSpPr txBox="1">
            <a:spLocks noChangeArrowheads="1"/>
          </p:cNvSpPr>
          <p:nvPr/>
        </p:nvSpPr>
        <p:spPr bwMode="auto">
          <a:xfrm>
            <a:off x="6159252" y="4236099"/>
            <a:ext cx="3250353"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a:solidFill>
                  <a:srgbClr val="FF0000"/>
                </a:solidFill>
              </a:rPr>
              <a:t> </a:t>
            </a:r>
            <a:r>
              <a:rPr lang="en-US" sz="1600" b="1" dirty="0" smtClean="0"/>
              <a:t>Project Escalation</a:t>
            </a:r>
            <a:endParaRPr lang="en-US" sz="1600" b="1" dirty="0"/>
          </a:p>
        </p:txBody>
      </p:sp>
      <p:sp>
        <p:nvSpPr>
          <p:cNvPr id="18" name="Rectangle 1097"/>
          <p:cNvSpPr>
            <a:spLocks noChangeArrowheads="1"/>
          </p:cNvSpPr>
          <p:nvPr/>
        </p:nvSpPr>
        <p:spPr bwMode="auto">
          <a:xfrm>
            <a:off x="6150176" y="4582161"/>
            <a:ext cx="5637332" cy="1426057"/>
          </a:xfrm>
          <a:prstGeom prst="rect">
            <a:avLst/>
          </a:prstGeom>
          <a:noFill/>
          <a:ln w="9525">
            <a:solidFill>
              <a:schemeClr val="bg2"/>
            </a:solidFill>
            <a:miter lim="800000"/>
            <a:headEnd/>
            <a:tailEnd/>
          </a:ln>
          <a:effectLst/>
        </p:spPr>
        <p:txBody>
          <a:bodyPr lIns="60949" tIns="60949" rIns="60949" bIns="60949"/>
          <a:lstStyle/>
          <a:p>
            <a:pPr lvl="0"/>
            <a:r>
              <a:rPr lang="en-GB" sz="1100" dirty="0" smtClean="0"/>
              <a:t>Project Escalation will take place within the structure of the Organizational Chart provided within the People Management Section.  As well as timely project reviews as detailed in the Communications Plan on page 2, Project Specific &lt;customer&gt; feedback will be sought via Survey at the following stages:</a:t>
            </a:r>
          </a:p>
          <a:p>
            <a:pPr lvl="0"/>
            <a:endParaRPr lang="en-GB" sz="1100" dirty="0" smtClean="0"/>
          </a:p>
          <a:p>
            <a:pPr lvl="0"/>
            <a:r>
              <a:rPr lang="en-GB" sz="1100" dirty="0" smtClean="0"/>
              <a:t>1. At Project Start (approx one month after project start date)</a:t>
            </a:r>
          </a:p>
          <a:p>
            <a:pPr lvl="0"/>
            <a:r>
              <a:rPr lang="en-GB" sz="1100" dirty="0" smtClean="0"/>
              <a:t>2. Just prior to Go-Live</a:t>
            </a:r>
          </a:p>
          <a:p>
            <a:pPr lvl="0"/>
            <a:r>
              <a:rPr lang="en-GB" sz="1100" dirty="0" smtClean="0"/>
              <a:t>3. At project end</a:t>
            </a:r>
            <a:endParaRPr lang="en-US" sz="1100" dirty="0" smtClean="0"/>
          </a:p>
        </p:txBody>
      </p:sp>
      <p:sp>
        <p:nvSpPr>
          <p:cNvPr id="20" name="Text Box 1091"/>
          <p:cNvSpPr txBox="1">
            <a:spLocks noChangeArrowheads="1"/>
          </p:cNvSpPr>
          <p:nvPr/>
        </p:nvSpPr>
        <p:spPr bwMode="auto">
          <a:xfrm>
            <a:off x="6255450" y="882397"/>
            <a:ext cx="320307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Regulatory Compliance Needs</a:t>
            </a:r>
            <a:endParaRPr lang="en-US" sz="1600" b="1" dirty="0">
              <a:solidFill>
                <a:schemeClr val="tx1">
                  <a:lumMod val="95000"/>
                  <a:lumOff val="5000"/>
                </a:schemeClr>
              </a:solidFill>
            </a:endParaRPr>
          </a:p>
        </p:txBody>
      </p:sp>
      <p:sp>
        <p:nvSpPr>
          <p:cNvPr id="21" name="Rectangle 1097"/>
          <p:cNvSpPr>
            <a:spLocks noChangeArrowheads="1"/>
          </p:cNvSpPr>
          <p:nvPr/>
        </p:nvSpPr>
        <p:spPr bwMode="auto">
          <a:xfrm>
            <a:off x="6152918" y="1258213"/>
            <a:ext cx="5655615" cy="955855"/>
          </a:xfrm>
          <a:prstGeom prst="rect">
            <a:avLst/>
          </a:prstGeom>
          <a:solidFill>
            <a:schemeClr val="bg1"/>
          </a:solidFill>
          <a:ln w="9525">
            <a:solidFill>
              <a:schemeClr val="bg2"/>
            </a:solidFill>
            <a:miter lim="800000"/>
            <a:headEnd/>
            <a:tailEnd/>
          </a:ln>
          <a:effectLst/>
        </p:spPr>
        <p:txBody>
          <a:bodyPr lIns="60949" tIns="60949" rIns="60949" bIns="60949"/>
          <a:lstStyle/>
          <a:p>
            <a:pPr lvl="0"/>
            <a:r>
              <a:rPr lang="en-US" sz="1100" b="1" dirty="0" smtClean="0"/>
              <a:t>Add regulatory compliance as needed.</a:t>
            </a:r>
          </a:p>
        </p:txBody>
      </p:sp>
      <p:sp>
        <p:nvSpPr>
          <p:cNvPr id="22" name="Title 21"/>
          <p:cNvSpPr>
            <a:spLocks noGrp="1"/>
          </p:cNvSpPr>
          <p:nvPr>
            <p:ph type="title"/>
          </p:nvPr>
        </p:nvSpPr>
        <p:spPr>
          <a:xfrm>
            <a:off x="531812" y="0"/>
            <a:ext cx="11125200" cy="889000"/>
          </a:xfrm>
        </p:spPr>
        <p:txBody>
          <a:bodyPr/>
          <a:lstStyle/>
          <a:p>
            <a:r>
              <a:rPr lang="en-US" dirty="0" smtClean="0"/>
              <a:t>&lt;Customer&gt; &lt;Project Name&gt;</a:t>
            </a:r>
            <a:endParaRPr lang="en-US" dirty="0"/>
          </a:p>
        </p:txBody>
      </p:sp>
    </p:spTree>
    <p:extLst>
      <p:ext uri="{BB962C8B-B14F-4D97-AF65-F5344CB8AC3E}">
        <p14:creationId xmlns:p14="http://schemas.microsoft.com/office/powerpoint/2010/main" xmlns="" val="71950556"/>
      </p:ext>
    </p:extLst>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90"/>
          <p:cNvSpPr txBox="1">
            <a:spLocks noChangeArrowheads="1"/>
          </p:cNvSpPr>
          <p:nvPr/>
        </p:nvSpPr>
        <p:spPr bwMode="auto">
          <a:xfrm>
            <a:off x="303044" y="1107866"/>
            <a:ext cx="344248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APPENDICES</a:t>
            </a:r>
            <a:endParaRPr lang="en-US" sz="1600" b="1" dirty="0">
              <a:solidFill>
                <a:schemeClr val="tx1">
                  <a:lumMod val="95000"/>
                  <a:lumOff val="5000"/>
                </a:schemeClr>
              </a:solidFill>
            </a:endParaRPr>
          </a:p>
        </p:txBody>
      </p:sp>
      <p:sp>
        <p:nvSpPr>
          <p:cNvPr id="14" name="Rectangle 1096"/>
          <p:cNvSpPr>
            <a:spLocks noChangeArrowheads="1"/>
          </p:cNvSpPr>
          <p:nvPr/>
        </p:nvSpPr>
        <p:spPr bwMode="auto">
          <a:xfrm>
            <a:off x="299449" y="1472794"/>
            <a:ext cx="3708237" cy="1199692"/>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GB" sz="1200" dirty="0" smtClean="0"/>
              <a:t>Appendix A – Compliance Management</a:t>
            </a:r>
          </a:p>
          <a:p>
            <a:pPr>
              <a:defRPr/>
            </a:pPr>
            <a:r>
              <a:rPr lang="en-GB" sz="1200" dirty="0" smtClean="0">
                <a:solidFill>
                  <a:srgbClr val="FF0000"/>
                </a:solidFill>
              </a:rPr>
              <a:t>DELETE THE FOLLOWING IF NOT APPLICABLE</a:t>
            </a:r>
          </a:p>
          <a:p>
            <a:pPr>
              <a:buFont typeface="Arial" pitchFamily="34" charset="0"/>
              <a:buChar char="•"/>
              <a:defRPr/>
            </a:pPr>
            <a:r>
              <a:rPr lang="en-GB" sz="1200" dirty="0" smtClean="0"/>
              <a:t>Methodology</a:t>
            </a:r>
          </a:p>
          <a:p>
            <a:pPr>
              <a:buFont typeface="Arial" pitchFamily="34" charset="0"/>
              <a:buChar char="•"/>
              <a:defRPr/>
            </a:pPr>
            <a:r>
              <a:rPr lang="en-GB" sz="1200" dirty="0" smtClean="0"/>
              <a:t>Customer Org</a:t>
            </a:r>
          </a:p>
          <a:p>
            <a:pPr>
              <a:buFont typeface="Arial" pitchFamily="34" charset="0"/>
              <a:buChar char="•"/>
              <a:defRPr/>
            </a:pPr>
            <a:r>
              <a:rPr lang="en-GB" sz="1200" dirty="0" smtClean="0"/>
              <a:t>Procurement (if project team’s responsibility) </a:t>
            </a:r>
          </a:p>
          <a:p>
            <a:pPr>
              <a:buFont typeface="Arial" pitchFamily="34" charset="0"/>
              <a:buChar char="•"/>
              <a:defRPr/>
            </a:pPr>
            <a:r>
              <a:rPr lang="en-GB" sz="1200" dirty="0" smtClean="0"/>
              <a:t>OCM (if project team’s responsibility) </a:t>
            </a:r>
          </a:p>
          <a:p>
            <a:pPr>
              <a:buFont typeface="Arial" pitchFamily="34" charset="0"/>
              <a:buChar char="•"/>
              <a:defRPr/>
            </a:pPr>
            <a:endParaRPr lang="en-GB" sz="1200" i="1" dirty="0" smtClean="0"/>
          </a:p>
          <a:p>
            <a:pPr>
              <a:buFont typeface="Arial" pitchFamily="34" charset="0"/>
              <a:buChar char="•"/>
              <a:defRPr/>
            </a:pPr>
            <a:endParaRPr lang="en-US" sz="1200" i="1" dirty="0" smtClean="0"/>
          </a:p>
        </p:txBody>
      </p:sp>
      <p:sp>
        <p:nvSpPr>
          <p:cNvPr id="11" name="Text Box 1090"/>
          <p:cNvSpPr txBox="1">
            <a:spLocks noChangeArrowheads="1"/>
          </p:cNvSpPr>
          <p:nvPr/>
        </p:nvSpPr>
        <p:spPr bwMode="auto">
          <a:xfrm>
            <a:off x="4302503" y="1120566"/>
            <a:ext cx="3417087"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GB" sz="1600" b="1" dirty="0" smtClean="0">
                <a:solidFill>
                  <a:schemeClr val="tx1">
                    <a:lumMod val="95000"/>
                    <a:lumOff val="5000"/>
                  </a:schemeClr>
                </a:solidFill>
              </a:rPr>
              <a:t>PROJECT BASELINE</a:t>
            </a:r>
            <a:endParaRPr lang="en-US" sz="1600" b="1" dirty="0">
              <a:solidFill>
                <a:schemeClr val="tx1">
                  <a:lumMod val="95000"/>
                  <a:lumOff val="5000"/>
                </a:schemeClr>
              </a:solidFill>
            </a:endParaRPr>
          </a:p>
        </p:txBody>
      </p:sp>
      <p:pic>
        <p:nvPicPr>
          <p:cNvPr id="2" name="Picture 2" descr="image003"/>
          <p:cNvPicPr>
            <a:picLocks noChangeAspect="1" noChangeArrowheads="1"/>
          </p:cNvPicPr>
          <p:nvPr/>
        </p:nvPicPr>
        <p:blipFill>
          <a:blip r:embed="rId3" cstate="print"/>
          <a:srcRect/>
          <a:stretch>
            <a:fillRect/>
          </a:stretch>
        </p:blipFill>
        <p:spPr bwMode="auto">
          <a:xfrm>
            <a:off x="4304180" y="1649231"/>
            <a:ext cx="7224418" cy="4205469"/>
          </a:xfrm>
          <a:prstGeom prst="rect">
            <a:avLst/>
          </a:prstGeom>
          <a:noFill/>
          <a:ln w="9525">
            <a:noFill/>
            <a:miter lim="800000"/>
            <a:headEnd/>
            <a:tailEnd/>
          </a:ln>
        </p:spPr>
      </p:pic>
      <p:sp>
        <p:nvSpPr>
          <p:cNvPr id="9" name="Text Box 1090"/>
          <p:cNvSpPr txBox="1">
            <a:spLocks noChangeArrowheads="1"/>
          </p:cNvSpPr>
          <p:nvPr/>
        </p:nvSpPr>
        <p:spPr bwMode="auto">
          <a:xfrm>
            <a:off x="293293" y="2689879"/>
            <a:ext cx="344248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BASE LINE RISKS</a:t>
            </a:r>
            <a:endParaRPr lang="en-US" sz="1600" b="1" dirty="0">
              <a:solidFill>
                <a:schemeClr val="tx1">
                  <a:lumMod val="95000"/>
                  <a:lumOff val="5000"/>
                </a:schemeClr>
              </a:solidFill>
            </a:endParaRPr>
          </a:p>
        </p:txBody>
      </p:sp>
      <p:sp>
        <p:nvSpPr>
          <p:cNvPr id="12" name="Rectangle 1096"/>
          <p:cNvSpPr>
            <a:spLocks noChangeArrowheads="1"/>
          </p:cNvSpPr>
          <p:nvPr/>
        </p:nvSpPr>
        <p:spPr bwMode="auto">
          <a:xfrm>
            <a:off x="286752" y="3023616"/>
            <a:ext cx="3730684" cy="1541069"/>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GB" sz="1200" dirty="0" smtClean="0"/>
              <a:t>If there are not many, list the baseline risks here or use an Appendix for numerous entries.  Also add Base-Line Risks to the Risks-Issues-Decisions Log .  </a:t>
            </a:r>
          </a:p>
          <a:p>
            <a:pPr>
              <a:buFont typeface="Arial" pitchFamily="34" charset="0"/>
              <a:buChar char="•"/>
              <a:defRPr/>
            </a:pPr>
            <a:r>
              <a:rPr lang="en-GB" sz="1200" dirty="0" smtClean="0"/>
              <a:t>Add &lt;customer&gt; OCM activities to Risk Log if they may impact on timelines and/or deliverables</a:t>
            </a:r>
            <a:endParaRPr lang="en-US" sz="1200" i="1" dirty="0" smtClean="0"/>
          </a:p>
        </p:txBody>
      </p:sp>
      <p:sp>
        <p:nvSpPr>
          <p:cNvPr id="13" name="Text Box 1090"/>
          <p:cNvSpPr txBox="1">
            <a:spLocks noChangeArrowheads="1"/>
          </p:cNvSpPr>
          <p:nvPr/>
        </p:nvSpPr>
        <p:spPr bwMode="auto">
          <a:xfrm>
            <a:off x="264954" y="4589494"/>
            <a:ext cx="344248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OUT OF SCOPE</a:t>
            </a:r>
            <a:endParaRPr lang="en-US" sz="1600" b="1" dirty="0">
              <a:solidFill>
                <a:schemeClr val="tx1">
                  <a:lumMod val="95000"/>
                  <a:lumOff val="5000"/>
                </a:schemeClr>
              </a:solidFill>
            </a:endParaRPr>
          </a:p>
        </p:txBody>
      </p:sp>
      <p:sp>
        <p:nvSpPr>
          <p:cNvPr id="15" name="Rectangle 1096"/>
          <p:cNvSpPr>
            <a:spLocks noChangeArrowheads="1"/>
          </p:cNvSpPr>
          <p:nvPr/>
        </p:nvSpPr>
        <p:spPr bwMode="auto">
          <a:xfrm>
            <a:off x="251606" y="4900169"/>
            <a:ext cx="3765830" cy="1181100"/>
          </a:xfrm>
          <a:prstGeom prst="rect">
            <a:avLst/>
          </a:prstGeom>
          <a:solidFill>
            <a:schemeClr val="bg1"/>
          </a:solidFill>
          <a:ln w="9525">
            <a:solidFill>
              <a:schemeClr val="bg2"/>
            </a:solidFill>
            <a:miter lim="800000"/>
            <a:headEnd/>
            <a:tailEnd/>
          </a:ln>
          <a:effectLst>
            <a:outerShdw dist="12700" dir="5400000" algn="ctr" rotWithShape="0">
              <a:schemeClr val="bg2"/>
            </a:outerShdw>
          </a:effectLst>
        </p:spPr>
        <p:txBody>
          <a:bodyPr lIns="60949" tIns="60949" rIns="60949" bIns="60949"/>
          <a:lstStyle/>
          <a:p>
            <a:pPr>
              <a:buFont typeface="Arial" pitchFamily="34" charset="0"/>
              <a:buChar char="•"/>
              <a:defRPr/>
            </a:pPr>
            <a:r>
              <a:rPr lang="en-GB" sz="1200" dirty="0" smtClean="0"/>
              <a:t>If this is detailed in the OD, add information here.  Add anything else that may need to be discussed in a Change Order in the future to clarify what will not be covered in the project </a:t>
            </a:r>
            <a:r>
              <a:rPr lang="en-GB" sz="1200" u="sng" dirty="0" smtClean="0"/>
              <a:t>now</a:t>
            </a:r>
            <a:r>
              <a:rPr lang="en-GB" sz="1200" dirty="0" smtClean="0"/>
              <a:t>. </a:t>
            </a:r>
            <a:endParaRPr lang="en-US" sz="1200" i="1" dirty="0" smtClean="0"/>
          </a:p>
        </p:txBody>
      </p:sp>
      <p:sp>
        <p:nvSpPr>
          <p:cNvPr id="16" name="Footer Placeholder 4"/>
          <p:cNvSpPr txBox="1">
            <a:spLocks/>
          </p:cNvSpPr>
          <p:nvPr/>
        </p:nvSpPr>
        <p:spPr>
          <a:xfrm>
            <a:off x="2158417" y="6415617"/>
            <a:ext cx="3859795" cy="366183"/>
          </a:xfrm>
          <a:prstGeom prst="rect">
            <a:avLst/>
          </a:prstGeom>
        </p:spPr>
        <p:txBody>
          <a:bodyPr lIns="121899" tIns="60949" rIns="121899" bIns="60949"/>
          <a:lstStyle>
            <a:lvl1pPr>
              <a:defRPr/>
            </a:lvl1pPr>
          </a:lstStyle>
          <a:p>
            <a:pPr lvl="0">
              <a:defRPr/>
            </a:pPr>
            <a:r>
              <a:rPr lang="en-US" sz="800" dirty="0" smtClean="0"/>
              <a:t>&lt;CUST&gt;</a:t>
            </a:r>
            <a:r>
              <a:rPr lang="en-US" sz="800" dirty="0" smtClean="0">
                <a:latin typeface="Arial" pitchFamily="34" charset="0"/>
                <a:ea typeface="ＭＳ Ｐゴシック" pitchFamily="34" charset="-128"/>
                <a:cs typeface="Arial" pitchFamily="34" charset="0"/>
              </a:rPr>
              <a:t>-ORCL-PMP-005 </a:t>
            </a:r>
            <a:r>
              <a:rPr lang="en-US" sz="800" b="1" dirty="0" smtClean="0"/>
              <a:t>3003XXXXX</a:t>
            </a:r>
            <a:endParaRPr lang="en-US" sz="800" dirty="0" smtClean="0">
              <a:latin typeface="Arial" pitchFamily="34" charset="0"/>
              <a:ea typeface="ＭＳ Ｐゴシック" pitchFamily="34" charset="-128"/>
              <a:cs typeface="Arial" pitchFamily="34" charset="0"/>
            </a:endParaRPr>
          </a:p>
          <a:p>
            <a:pPr lvl="0">
              <a:defRPr/>
            </a:pPr>
            <a:r>
              <a:rPr lang="en-US" sz="800" b="1" dirty="0" smtClean="0"/>
              <a:t>Version:               Date:  	</a:t>
            </a:r>
            <a:r>
              <a:rPr lang="en-US" sz="800" dirty="0" smtClean="0">
                <a:latin typeface="Arial" pitchFamily="34" charset="0"/>
                <a:ea typeface="ＭＳ Ｐゴシック" pitchFamily="34" charset="-128"/>
                <a:cs typeface="Arial" pitchFamily="34" charset="0"/>
              </a:rPr>
              <a:t>Page 6 of 6</a:t>
            </a:r>
            <a:endParaRPr lang="en-US" sz="800" dirty="0">
              <a:latin typeface="Arial" pitchFamily="34" charset="0"/>
              <a:ea typeface="ＭＳ Ｐゴシック" pitchFamily="34" charset="-128"/>
              <a:cs typeface="Arial" pitchFamily="34" charset="0"/>
            </a:endParaRPr>
          </a:p>
        </p:txBody>
      </p:sp>
      <p:sp>
        <p:nvSpPr>
          <p:cNvPr id="17" name="Title 16"/>
          <p:cNvSpPr>
            <a:spLocks noGrp="1"/>
          </p:cNvSpPr>
          <p:nvPr>
            <p:ph type="title"/>
          </p:nvPr>
        </p:nvSpPr>
        <p:spPr>
          <a:xfrm>
            <a:off x="531812" y="0"/>
            <a:ext cx="11125200" cy="889000"/>
          </a:xfrm>
        </p:spPr>
        <p:txBody>
          <a:bodyPr/>
          <a:lstStyle/>
          <a:p>
            <a:r>
              <a:rPr lang="en-US" dirty="0" smtClean="0"/>
              <a:t>&lt;Customer&gt; &lt;Project Name&gt;</a:t>
            </a:r>
            <a:endParaRPr lang="en-US" dirty="0"/>
          </a:p>
        </p:txBody>
      </p:sp>
    </p:spTree>
    <p:extLst>
      <p:ext uri="{BB962C8B-B14F-4D97-AF65-F5344CB8AC3E}">
        <p14:creationId xmlns:p14="http://schemas.microsoft.com/office/powerpoint/2010/main" xmlns="" val="71950556"/>
      </p:ext>
    </p:extLst>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1090"/>
          <p:cNvSpPr txBox="1">
            <a:spLocks noChangeArrowheads="1"/>
          </p:cNvSpPr>
          <p:nvPr/>
        </p:nvSpPr>
        <p:spPr bwMode="auto">
          <a:xfrm>
            <a:off x="478563" y="961562"/>
            <a:ext cx="7702576"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121899" tIns="60949" rIns="121899" bIns="60949">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l"/>
            <a:r>
              <a:rPr lang="en-US" sz="1600" b="1" dirty="0" smtClean="0">
                <a:solidFill>
                  <a:schemeClr val="tx1">
                    <a:lumMod val="95000"/>
                    <a:lumOff val="5000"/>
                  </a:schemeClr>
                </a:solidFill>
              </a:rPr>
              <a:t>APPENDIX A - </a:t>
            </a:r>
            <a:r>
              <a:rPr lang="en-GB" sz="1600" b="1" dirty="0" smtClean="0">
                <a:solidFill>
                  <a:schemeClr val="tx1">
                    <a:lumMod val="95000"/>
                    <a:lumOff val="5000"/>
                  </a:schemeClr>
                </a:solidFill>
              </a:rPr>
              <a:t>COMPLIANCE MANAGEMENT DETAILS</a:t>
            </a:r>
            <a:endParaRPr lang="en-US" sz="1600" b="1" dirty="0">
              <a:solidFill>
                <a:schemeClr val="tx1">
                  <a:lumMod val="95000"/>
                  <a:lumOff val="5000"/>
                </a:schemeClr>
              </a:solidFill>
            </a:endParaRPr>
          </a:p>
        </p:txBody>
      </p:sp>
      <p:sp>
        <p:nvSpPr>
          <p:cNvPr id="30" name="Footer Placeholder 4"/>
          <p:cNvSpPr txBox="1">
            <a:spLocks/>
          </p:cNvSpPr>
          <p:nvPr/>
        </p:nvSpPr>
        <p:spPr>
          <a:xfrm>
            <a:off x="2158417" y="6415617"/>
            <a:ext cx="3859795" cy="366183"/>
          </a:xfrm>
          <a:prstGeom prst="rect">
            <a:avLst/>
          </a:prstGeom>
        </p:spPr>
        <p:txBody>
          <a:bodyPr lIns="121899" tIns="60949" rIns="121899" bIns="60949"/>
          <a:lstStyle>
            <a:lvl1pPr>
              <a:defRPr/>
            </a:lvl1pPr>
          </a:lstStyle>
          <a:p>
            <a:pPr lvl="0">
              <a:defRPr/>
            </a:pPr>
            <a:r>
              <a:rPr lang="en-US" sz="800" dirty="0" smtClean="0"/>
              <a:t>&lt;CUST&gt;</a:t>
            </a:r>
            <a:r>
              <a:rPr lang="en-US" sz="800" dirty="0" smtClean="0">
                <a:latin typeface="Arial" pitchFamily="34" charset="0"/>
                <a:ea typeface="ＭＳ Ｐゴシック" pitchFamily="34" charset="-128"/>
                <a:cs typeface="Arial" pitchFamily="34" charset="0"/>
              </a:rPr>
              <a:t>-ORCL-PMP-005 </a:t>
            </a:r>
            <a:r>
              <a:rPr lang="en-US" sz="800" b="1" dirty="0" smtClean="0"/>
              <a:t>3003XXXXX</a:t>
            </a:r>
            <a:endParaRPr lang="en-US" sz="800" dirty="0" smtClean="0">
              <a:latin typeface="Arial" pitchFamily="34" charset="0"/>
              <a:ea typeface="ＭＳ Ｐゴシック" pitchFamily="34" charset="-128"/>
              <a:cs typeface="Arial" pitchFamily="34" charset="0"/>
            </a:endParaRPr>
          </a:p>
          <a:p>
            <a:pPr lvl="0">
              <a:defRPr/>
            </a:pPr>
            <a:r>
              <a:rPr lang="en-US" sz="800" b="1" dirty="0" smtClean="0"/>
              <a:t>Version:               Date:  	</a:t>
            </a:r>
            <a:r>
              <a:rPr lang="en-US" sz="800" dirty="0" smtClean="0">
                <a:latin typeface="Arial" pitchFamily="34" charset="0"/>
                <a:ea typeface="ＭＳ Ｐゴシック" pitchFamily="34" charset="-128"/>
                <a:cs typeface="Arial" pitchFamily="34" charset="0"/>
              </a:rPr>
              <a:t>APPENDIX A</a:t>
            </a:r>
            <a:endParaRPr lang="en-US" sz="800" dirty="0">
              <a:latin typeface="Arial" pitchFamily="34" charset="0"/>
              <a:ea typeface="ＭＳ Ｐゴシック" pitchFamily="34" charset="-128"/>
              <a:cs typeface="Arial" pitchFamily="34" charset="0"/>
            </a:endParaRPr>
          </a:p>
        </p:txBody>
      </p:sp>
      <p:sp>
        <p:nvSpPr>
          <p:cNvPr id="16" name="Rectangle 1097"/>
          <p:cNvSpPr>
            <a:spLocks noChangeArrowheads="1"/>
          </p:cNvSpPr>
          <p:nvPr/>
        </p:nvSpPr>
        <p:spPr bwMode="auto">
          <a:xfrm>
            <a:off x="458299" y="1326489"/>
            <a:ext cx="11213720" cy="4730496"/>
          </a:xfrm>
          <a:prstGeom prst="rect">
            <a:avLst/>
          </a:prstGeom>
          <a:solidFill>
            <a:schemeClr val="bg1"/>
          </a:solidFill>
          <a:ln w="9525">
            <a:solidFill>
              <a:schemeClr val="bg2"/>
            </a:solidFill>
            <a:miter lim="800000"/>
            <a:headEnd/>
            <a:tailEnd/>
          </a:ln>
          <a:effectLst/>
        </p:spPr>
        <p:txBody>
          <a:bodyPr lIns="60949" tIns="60949" rIns="60949" bIns="60949"/>
          <a:lstStyle/>
          <a:p>
            <a:pPr lvl="0"/>
            <a:r>
              <a:rPr lang="en-US" sz="1300" b="1" dirty="0" smtClean="0"/>
              <a:t>1. This project will be treated as a HIPAA project </a:t>
            </a:r>
            <a:r>
              <a:rPr lang="en-US" sz="1300" b="1" dirty="0" smtClean="0">
                <a:solidFill>
                  <a:srgbClr val="FF0000"/>
                </a:solidFill>
              </a:rPr>
              <a:t>(Example)</a:t>
            </a:r>
          </a:p>
          <a:p>
            <a:pPr fontAlgn="auto" hangingPunct="1"/>
            <a:endParaRPr lang="en-US" sz="1100" b="1" dirty="0" smtClean="0"/>
          </a:p>
          <a:p>
            <a:pPr hangingPunct="0"/>
            <a:r>
              <a:rPr lang="en-US" sz="1100" b="1" dirty="0" smtClean="0"/>
              <a:t>HIPAA / HITECH Compliance </a:t>
            </a:r>
            <a:r>
              <a:rPr lang="en-US" sz="1100" b="1" dirty="0" smtClean="0">
                <a:solidFill>
                  <a:srgbClr val="FF0000"/>
                </a:solidFill>
              </a:rPr>
              <a:t>(Example)</a:t>
            </a:r>
          </a:p>
          <a:p>
            <a:pPr fontAlgn="auto" hangingPunct="0"/>
            <a:endParaRPr lang="en-US" sz="1100" dirty="0" smtClean="0">
              <a:solidFill>
                <a:srgbClr val="FF0000"/>
              </a:solidFill>
            </a:endParaRPr>
          </a:p>
          <a:p>
            <a:pPr fontAlgn="auto" hangingPunct="1"/>
            <a:endParaRPr lang="en-US" sz="1100" dirty="0" smtClean="0"/>
          </a:p>
          <a:p>
            <a:pPr lvl="0"/>
            <a:endParaRPr lang="en-US" sz="1100" b="1" dirty="0" smtClean="0"/>
          </a:p>
        </p:txBody>
      </p:sp>
      <p:sp>
        <p:nvSpPr>
          <p:cNvPr id="6" name="Title 5"/>
          <p:cNvSpPr>
            <a:spLocks noGrp="1"/>
          </p:cNvSpPr>
          <p:nvPr>
            <p:ph type="title"/>
          </p:nvPr>
        </p:nvSpPr>
        <p:spPr>
          <a:xfrm>
            <a:off x="531812" y="0"/>
            <a:ext cx="11125200" cy="889000"/>
          </a:xfrm>
        </p:spPr>
        <p:txBody>
          <a:bodyPr/>
          <a:lstStyle/>
          <a:p>
            <a:r>
              <a:rPr lang="en-US" dirty="0" smtClean="0"/>
              <a:t>&lt;Customer&gt; &lt;Project Name&gt;</a:t>
            </a:r>
            <a:endParaRPr lang="en-US" dirty="0"/>
          </a:p>
        </p:txBody>
      </p:sp>
    </p:spTree>
    <p:extLst>
      <p:ext uri="{BB962C8B-B14F-4D97-AF65-F5344CB8AC3E}">
        <p14:creationId xmlns:p14="http://schemas.microsoft.com/office/powerpoint/2010/main" xmlns="" val="71950556"/>
      </p:ext>
    </p:extLst>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5505626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 xmlns:thm15="http://schemas.microsoft.com/office/thememl/2012/main"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40</TotalTime>
  <Words>2040</Words>
  <Application>Microsoft Office PowerPoint</Application>
  <PresentationFormat>Custom</PresentationFormat>
  <Paragraphs>210</Paragraphs>
  <Slides>11</Slides>
  <Notes>10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blank</vt:lpstr>
      <vt:lpstr>Slide 1</vt:lpstr>
      <vt:lpstr>Project Management Plan</vt:lpstr>
      <vt:lpstr>Instructions</vt:lpstr>
      <vt:lpstr>&lt;Customer&gt; &lt;Project Name&gt;</vt:lpstr>
      <vt:lpstr>&lt;Customer&gt; &lt;Project Name&gt;  Project Governance highlights</vt:lpstr>
      <vt:lpstr>&lt;Customer&gt; &lt;Project Name&gt;</vt:lpstr>
      <vt:lpstr>&lt;Customer&gt; &lt;Project Name&gt;</vt:lpstr>
      <vt:lpstr>&lt;Customer&gt; &lt;Project Name&gt;</vt:lpstr>
      <vt:lpstr>&lt;Customer&gt; &lt;Project Name&gt;</vt:lpstr>
      <vt:lpstr>&lt;Customer&gt; &lt;Project Name&gt;</vt:lpstr>
      <vt:lpstr>Slide 11</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BT.070 Abbreviated Project Management Plan</dc:title>
  <dc:creator>Oracle Global Methods</dc:creator>
  <cp:keywords>OUM</cp:keywords>
  <dc:description>Copyright © 2016, Oracle and/or its affiliates.  All rights reserved.</dc:description>
  <cp:lastModifiedBy>masander</cp:lastModifiedBy>
  <cp:revision>17</cp:revision>
  <dcterms:created xsi:type="dcterms:W3CDTF">2014-06-17T20:14:48Z</dcterms:created>
  <dcterms:modified xsi:type="dcterms:W3CDTF">2016-08-31T22:51:38Z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