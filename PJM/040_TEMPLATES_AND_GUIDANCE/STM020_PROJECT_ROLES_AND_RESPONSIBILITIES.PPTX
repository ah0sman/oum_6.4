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354" r:id="rId2"/>
    <p:sldId id="258" r:id="rId3"/>
    <p:sldId id="374" r:id="rId4"/>
    <p:sldId id="375" r:id="rId5"/>
    <p:sldId id="376" r:id="rId6"/>
    <p:sldId id="377" r:id="rId7"/>
    <p:sldId id="378" r:id="rId8"/>
    <p:sldId id="379" r:id="rId9"/>
    <p:sldId id="380" r:id="rId10"/>
    <p:sldId id="381" r:id="rId11"/>
    <p:sldId id="382" r:id="rId12"/>
    <p:sldId id="383" r:id="rId13"/>
    <p:sldId id="384" r:id="rId14"/>
    <p:sldId id="385" r:id="rId15"/>
    <p:sldId id="386" r:id="rId16"/>
    <p:sldId id="387" r:id="rId17"/>
    <p:sldId id="388" r:id="rId18"/>
    <p:sldId id="389" r:id="rId19"/>
    <p:sldId id="390" r:id="rId20"/>
    <p:sldId id="391" r:id="rId21"/>
    <p:sldId id="392" r:id="rId22"/>
    <p:sldId id="393" r:id="rId23"/>
    <p:sldId id="394" r:id="rId24"/>
    <p:sldId id="395" r:id="rId25"/>
    <p:sldId id="396" r:id="rId26"/>
    <p:sldId id="397" r:id="rId27"/>
    <p:sldId id="289" r:id="rId28"/>
  </p:sldIdLst>
  <p:sldSz cx="12188825"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13" autoAdjust="0"/>
  </p:normalViewPr>
  <p:slideViewPr>
    <p:cSldViewPr>
      <p:cViewPr varScale="1">
        <p:scale>
          <a:sx n="50" d="100"/>
          <a:sy n="50" d="100"/>
        </p:scale>
        <p:origin x="-2094" y="-96"/>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1/11/2016</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1</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r>
              <a:rPr lang="en-US" dirty="0" smtClean="0"/>
              <a:t>This is a </a:t>
            </a:r>
            <a:r>
              <a:rPr lang="en-US" b="1" dirty="0" smtClean="0"/>
              <a:t>Title Slide with Picture </a:t>
            </a:r>
            <a:r>
              <a:rPr lang="en-US" b="0" dirty="0" smtClean="0"/>
              <a:t>slide</a:t>
            </a:r>
            <a:r>
              <a:rPr lang="en-US" b="1" dirty="0" smtClean="0"/>
              <a:t> </a:t>
            </a:r>
            <a:r>
              <a:rPr lang="en-US" baseline="0" dirty="0" smtClean="0"/>
              <a:t>ideal for including a picture with a brief title, subtitle and presenter information.</a:t>
            </a:r>
          </a:p>
          <a:p>
            <a:endParaRPr lang="en-US" baseline="0" dirty="0" smtClean="0"/>
          </a:p>
          <a:p>
            <a:r>
              <a:rPr lang="en-US" baseline="0" dirty="0" smtClean="0"/>
              <a:t>To customize this slide with your own picture:</a:t>
            </a:r>
          </a:p>
          <a:p>
            <a:endParaRPr lang="en-US" baseline="0" dirty="0" smtClean="0"/>
          </a:p>
          <a:p>
            <a:pPr marL="0" indent="0">
              <a:buNone/>
            </a:pPr>
            <a:r>
              <a:rPr lang="en-US" b="1" baseline="0" dirty="0" smtClean="0"/>
              <a:t>Right-click</a:t>
            </a:r>
            <a:r>
              <a:rPr lang="en-US" baseline="0" dirty="0" smtClean="0"/>
              <a:t> the slide area and choose </a:t>
            </a:r>
            <a:r>
              <a:rPr lang="en-US" b="1" baseline="0" dirty="0" smtClean="0"/>
              <a:t>Format Background </a:t>
            </a:r>
            <a:r>
              <a:rPr lang="en-US" baseline="0" dirty="0" smtClean="0"/>
              <a:t>from the pop-up menu. From the </a:t>
            </a:r>
            <a:r>
              <a:rPr lang="en-US" b="1" baseline="0" dirty="0" smtClean="0"/>
              <a:t>Fill</a:t>
            </a:r>
            <a:r>
              <a:rPr lang="en-US" baseline="0" dirty="0" smtClean="0"/>
              <a:t> menu, click </a:t>
            </a:r>
            <a:r>
              <a:rPr lang="en-US" b="1" baseline="0" dirty="0" smtClean="0"/>
              <a:t>Picture</a:t>
            </a:r>
            <a:r>
              <a:rPr lang="en-US" baseline="0" dirty="0" smtClean="0"/>
              <a:t> </a:t>
            </a:r>
            <a:r>
              <a:rPr lang="en-US" b="1" baseline="0" dirty="0" smtClean="0"/>
              <a:t>and texture fill</a:t>
            </a:r>
            <a:r>
              <a:rPr lang="en-US" baseline="0" dirty="0" smtClean="0"/>
              <a:t>. Under </a:t>
            </a:r>
            <a:r>
              <a:rPr lang="en-US" b="1" baseline="0" dirty="0" smtClean="0"/>
              <a:t>Insert from: </a:t>
            </a:r>
            <a:r>
              <a:rPr lang="en-US" baseline="0" dirty="0" smtClean="0"/>
              <a:t>click </a:t>
            </a:r>
            <a:r>
              <a:rPr lang="en-US" b="1" baseline="0" dirty="0" smtClean="0"/>
              <a:t>File</a:t>
            </a:r>
            <a:r>
              <a:rPr lang="en-US" baseline="0" dirty="0" smtClean="0"/>
              <a:t>. Locate your new picture and click </a:t>
            </a:r>
            <a:r>
              <a:rPr lang="en-US" b="1" baseline="0" dirty="0" smtClean="0"/>
              <a:t>Insert</a:t>
            </a:r>
            <a:r>
              <a:rPr lang="en-US" baseline="0" dirty="0" smtClean="0"/>
              <a:t>.</a:t>
            </a:r>
          </a:p>
        </p:txBody>
      </p:sp>
      <p:sp>
        <p:nvSpPr>
          <p:cNvPr id="4" name="Slide Number Placeholder 3"/>
          <p:cNvSpPr>
            <a:spLocks noGrp="1"/>
          </p:cNvSpPr>
          <p:nvPr>
            <p:ph type="sldNum" sz="quarter" idx="10"/>
          </p:nvPr>
        </p:nvSpPr>
        <p:spPr/>
        <p:txBody>
          <a:bodyPr/>
          <a:lstStyle/>
          <a:p>
            <a:fld id="{8C72D9AE-7182-4680-8F79-479C4181FF08}" type="slidenum">
              <a:rPr lang="en-US" smtClean="0"/>
              <a:pPr/>
              <a:t>2</a:t>
            </a:fld>
            <a:endParaRPr lang="en-US" dirty="0"/>
          </a:p>
        </p:txBody>
      </p:sp>
    </p:spTree>
    <p:extLst>
      <p:ext uri="{BB962C8B-B14F-4D97-AF65-F5344CB8AC3E}">
        <p14:creationId xmlns="" xmlns:p14="http://schemas.microsoft.com/office/powerpoint/2010/main" val="2238467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22</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Attach the team contact after this slide or insert it as an object into the slide.</a:t>
            </a:r>
          </a:p>
        </p:txBody>
      </p:sp>
      <p:sp>
        <p:nvSpPr>
          <p:cNvPr id="4" name="Slide Number Placeholder 3"/>
          <p:cNvSpPr>
            <a:spLocks noGrp="1"/>
          </p:cNvSpPr>
          <p:nvPr>
            <p:ph type="sldNum" sz="quarter" idx="10"/>
          </p:nvPr>
        </p:nvSpPr>
        <p:spPr/>
        <p:txBody>
          <a:bodyPr/>
          <a:lstStyle/>
          <a:p>
            <a:fld id="{36E82501-53DA-4152-84B0-51135B15EEA8}" type="slidenum">
              <a:rPr lang="en-US" smtClean="0"/>
              <a:pPr/>
              <a:t>24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Attach the team contact after this slide or insert it as an object into the slide.</a:t>
            </a:r>
          </a:p>
        </p:txBody>
      </p:sp>
      <p:sp>
        <p:nvSpPr>
          <p:cNvPr id="4" name="Slide Number Placeholder 3"/>
          <p:cNvSpPr>
            <a:spLocks noGrp="1"/>
          </p:cNvSpPr>
          <p:nvPr>
            <p:ph type="sldNum" sz="quarter" idx="10"/>
          </p:nvPr>
        </p:nvSpPr>
        <p:spPr/>
        <p:txBody>
          <a:bodyPr/>
          <a:lstStyle/>
          <a:p>
            <a:fld id="{36E82501-53DA-4152-84B0-51135B15EEA8}" type="slidenum">
              <a:rPr lang="en-US" smtClean="0"/>
              <a:pPr/>
              <a:t>25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sldNum" sz="quarter" idx="5"/>
          </p:nvPr>
        </p:nvSpPr>
        <p:spPr>
          <a:noFill/>
        </p:spPr>
        <p:txBody>
          <a:bodyPr/>
          <a:lstStyle/>
          <a:p>
            <a:fld id="{4E846EB3-491D-46EA-9F3D-D6DB1BBDF172}" type="slidenum">
              <a:rPr lang="en-US"/>
              <a:pPr/>
              <a:t>26</a:t>
            </a:fld>
            <a:endParaRPr lang="en-US" dirty="0"/>
          </a:p>
        </p:txBody>
      </p:sp>
      <p:sp>
        <p:nvSpPr>
          <p:cNvPr id="12291" name="Rectangle 2"/>
          <p:cNvSpPr>
            <a:spLocks noGrp="1" noRot="1" noChangeAspect="1" noChangeArrowheads="1" noTextEdit="1"/>
          </p:cNvSpPr>
          <p:nvPr>
            <p:ph type="sldImg"/>
          </p:nvPr>
        </p:nvSpPr>
        <p:spPr>
          <a:xfrm>
            <a:off x="385763" y="687388"/>
            <a:ext cx="6088062" cy="3425825"/>
          </a:xfrm>
          <a:ln cap="flat"/>
        </p:spPr>
      </p:sp>
      <p:sp>
        <p:nvSpPr>
          <p:cNvPr id="12292" name="Rectangle 3"/>
          <p:cNvSpPr>
            <a:spLocks noGrp="1" noChangeArrowheads="1"/>
          </p:cNvSpPr>
          <p:nvPr>
            <p:ph type="body" idx="1"/>
          </p:nvPr>
        </p:nvSpPr>
        <p:spPr>
          <a:xfrm>
            <a:off x="914400" y="4343400"/>
            <a:ext cx="5029200" cy="4114800"/>
          </a:xfrm>
          <a:noFill/>
          <a:ln/>
        </p:spPr>
        <p:txBody>
          <a:bodyPr lIns="92066" tIns="46033" rIns="92066" bIns="46033"/>
          <a:lstStyle/>
          <a:p>
            <a:pPr defTabSz="914400">
              <a:lnSpc>
                <a:spcPct val="100000"/>
              </a:lnSpc>
              <a:spcBef>
                <a:spcPct val="30000"/>
              </a:spcBef>
            </a:pPr>
            <a:endParaRPr lang="nl-NL"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381000"/>
            <a:ext cx="4572000" cy="25733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2D9AE-7182-4680-8F79-479C4181FF08}" type="slidenum">
              <a:rPr lang="en-US" smtClean="0"/>
              <a:pPr/>
              <a:t>27</a:t>
            </a:fld>
            <a:endParaRPr lang="en-US" dirty="0"/>
          </a:p>
        </p:txBody>
      </p:sp>
    </p:spTree>
    <p:extLst>
      <p:ext uri="{BB962C8B-B14F-4D97-AF65-F5344CB8AC3E}">
        <p14:creationId xmlns="" xmlns:p14="http://schemas.microsoft.com/office/powerpoint/2010/main" val="12427561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7D3B26D-D4B0-4C1F-BC04-A85FDD7B13F0}" type="datetime1">
              <a:rPr lang="en-US" smtClean="0"/>
              <a:pPr/>
              <a:t>1/11/2016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8BF01A5-B4C9-4997-AC54-94713D959CD4}" type="datetime1">
              <a:rPr lang="en-US" smtClean="0"/>
              <a:pPr/>
              <a:t>1/11/2016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532160EC-CE3C-40CD-A7C6-D7B99C7D3C58}" type="datetime1">
              <a:rPr lang="en-US" smtClean="0"/>
              <a:pPr/>
              <a:t>1/11/2016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B9D1756A-9BF3-4C2D-B565-80160A0E43C1}" type="datetime1">
              <a:rPr lang="en-US" smtClean="0"/>
              <a:pPr/>
              <a:t>1/11/2016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8D77266A-2CEE-4E4D-9A4A-ECE16D273A75}" type="datetime1">
              <a:rPr lang="en-US" smtClean="0"/>
              <a:pPr/>
              <a:t>1/11/2016</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96E15034-1167-43E3-80D5-3C8F802E4E62}" type="datetime1">
              <a:rPr lang="en-US" smtClean="0"/>
              <a:pPr/>
              <a:t>1/11/2016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ED773B6-F84C-4FF7-AA9B-6AB3A5DD05EF}" type="datetime1">
              <a:rPr lang="en-US" smtClean="0"/>
              <a:pPr/>
              <a:t>1/11/2016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4590CD76-4AC9-4BE3-BB67-839BDF1A26D7}" type="datetime1">
              <a:rPr lang="en-US" smtClean="0"/>
              <a:pPr/>
              <a:t>1/11/2016</a:t>
            </a:fld>
            <a:endParaRPr dirty="0"/>
          </a:p>
        </p:txBody>
      </p:sp>
      <p:sp>
        <p:nvSpPr>
          <p:cNvPr id="5" name="Footer Placeholder 4"/>
          <p:cNvSpPr>
            <a:spLocks noGrp="1"/>
          </p:cNvSpPr>
          <p:nvPr>
            <p:ph type="ftr" sz="quarter" idx="11"/>
          </p:nvPr>
        </p:nvSpPr>
        <p:spPr/>
        <p:txBody>
          <a:bodyPr>
            <a:noAutofit/>
          </a:body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F9105C-DE1C-4011-949D-D6A766BDBC2E}" type="datetime1">
              <a:rPr lang="en-US" smtClean="0"/>
              <a:pPr/>
              <a:t>1/11/2016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1F31C929-3AB2-447D-A1F2-66FF49DD146D}" type="datetime1">
              <a:rPr lang="en-US" smtClean="0"/>
              <a:pPr/>
              <a:t>1/11/2016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09B12FAB-6F85-4827-8BD8-F3F9DF554CF1}"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D770175-5D65-414B-86A7-52AA597168F8}" type="datetime1">
              <a:rPr lang="en-US" smtClean="0"/>
              <a:pPr/>
              <a:t>1/11/2016</a:t>
            </a:fld>
            <a:endParaRPr lang="en-US" dirty="0"/>
          </a:p>
        </p:txBody>
      </p:sp>
      <p:sp>
        <p:nvSpPr>
          <p:cNvPr id="4" name="Footer Placeholder 3"/>
          <p:cNvSpPr>
            <a:spLocks noGrp="1"/>
          </p:cNvSpPr>
          <p:nvPr>
            <p:ph type="ftr" sz="quarter" idx="11"/>
          </p:nvPr>
        </p:nvSpPr>
        <p:spPr/>
        <p:txBody>
          <a:bodyPr/>
          <a:lstStyle/>
          <a:p>
            <a:r>
              <a:rPr lang="en-US" smtClean="0"/>
              <a:t>Oracle Confidential – Internal/Restricted/Highly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3E5DA527-5CA9-434F-A775-8F1AE5598A6C}"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D18250B1-A4C6-48D2-AE2C-CAB3F68CB4DE}"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15B6A8E5-BF2F-4C14-9D8A-B0B8A4F9F808}"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3160A2F-08EF-4C90-B82A-1F0A8E34B9CA}"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B9D8BFC2-CF38-4F6A-A388-E6B5C6118F15}"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B599E18-3DDC-498E-ADA0-EEA2623E1C7A}"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06C5B4-1F49-47FB-B435-1FFA1ACD5913}"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EDEAD5AB-69DC-4370-982B-72FED397CBA0}" type="datetime1">
              <a:rPr lang="en-US" smtClean="0"/>
              <a:pPr/>
              <a:t>1/11/2016</a:t>
            </a:fld>
            <a:endParaRPr dirty="0"/>
          </a:p>
        </p:txBody>
      </p:sp>
      <p:sp>
        <p:nvSpPr>
          <p:cNvPr id="8" name="Footer Placeholder 7"/>
          <p:cNvSpPr>
            <a:spLocks noGrp="1"/>
          </p:cNvSpPr>
          <p:nvPr>
            <p:ph type="ftr" sz="quarter" idx="11"/>
          </p:nvPr>
        </p:nvSpPr>
        <p:spPr/>
        <p:txBody>
          <a:bodyPr>
            <a:noAutofit/>
          </a:bodyPr>
          <a:lstStyle/>
          <a:p>
            <a:r>
              <a:rPr dirty="0"/>
              <a:t>Oracle Confidential – Internal/Restricted/Highly Restricted</a:t>
            </a:r>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6E044BF-D42D-49C5-87F5-FB8A83D571A7}" type="datetime1">
              <a:rPr lang="en-US" smtClean="0"/>
              <a:pPr/>
              <a:t>1/11/2016</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8F3C8E70-6D45-4F95-BD68-E3919F20EB5D}" type="datetime1">
              <a:rPr lang="en-US" smtClean="0"/>
              <a:pPr/>
              <a:t>1/11/2016</a:t>
            </a:fld>
            <a:endParaRPr dirty="0"/>
          </a:p>
        </p:txBody>
      </p:sp>
      <p:sp>
        <p:nvSpPr>
          <p:cNvPr id="4" name="Footer Placeholder 3"/>
          <p:cNvSpPr>
            <a:spLocks noGrp="1"/>
          </p:cNvSpPr>
          <p:nvPr>
            <p:ph type="ftr" sz="quarter" idx="11"/>
          </p:nvPr>
        </p:nvSpPr>
        <p:spPr/>
        <p:txBody>
          <a:bodyPr/>
          <a:lstStyle/>
          <a:p>
            <a:r>
              <a:rPr dirty="0"/>
              <a:t>Oracle Confidential – Internal/Restricted/Highly Restricted</a:t>
            </a:r>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4AFB71-318F-432D-A873-FC675D1741AC}" type="datetime1">
              <a:rPr lang="en-US" smtClean="0"/>
              <a:pPr/>
              <a:t>1/11/2016</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319C6E-6EAB-415A-8DBD-D98022B0F827}"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323C2DF-6450-4B57-950B-812ED31614F2}"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F97169-A9CF-49A0-B44D-7B672F44CA8E}"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8621936-DC0F-41EB-B620-19328499D8D4}"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F155F9BA-824B-4077-AE22-5B05D9B1FC9E}"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BF892FEC-F717-4FFA-88B1-B6EB8215829D}"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2C723615-6B48-483A-A57F-854CB74C3071}"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D7AE8A19-0DB0-487E-A5F6-2C0522A7BC10}" type="datetime1">
              <a:rPr lang="en-US" smtClean="0"/>
              <a:pPr/>
              <a:t>1/11/2016</a:t>
            </a:fld>
            <a:endParaRPr dirty="0"/>
          </a:p>
        </p:txBody>
      </p:sp>
      <p:sp>
        <p:nvSpPr>
          <p:cNvPr id="6" name="Footer Placeholder 5"/>
          <p:cNvSpPr>
            <a:spLocks noGrp="1"/>
          </p:cNvSpPr>
          <p:nvPr>
            <p:ph type="ftr" sz="quarter" idx="11"/>
          </p:nvPr>
        </p:nvSpPr>
        <p:spPr/>
        <p:txBody>
          <a:body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B49D36E8-8ED2-41E5-92A2-FFF0DCE68F62}" type="datetime1">
              <a:rPr lang="en-US" smtClean="0"/>
              <a:pPr/>
              <a:t>1/11/2016</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dirty="0"/>
              <a:t>Oracle Confidential – Internal/Restricted/Highly Restricted</a:t>
            </a:r>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0B697D65-214C-4E27-A6DE-6CBEBD3F8709}" type="datetime1">
              <a:rPr lang="en-US" smtClean="0"/>
              <a:pPr/>
              <a:t>1/11/2016</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A3D218F7-88D9-4C3B-BA13-DFB201D03C35}" type="datetime1">
              <a:rPr lang="en-US" smtClean="0"/>
              <a:pPr/>
              <a:t>1/11/2016</a:t>
            </a:fld>
            <a:endParaRPr dirty="0"/>
          </a:p>
        </p:txBody>
      </p:sp>
      <p:sp>
        <p:nvSpPr>
          <p:cNvPr id="3" name="Footer Placeholder 2"/>
          <p:cNvSpPr>
            <a:spLocks noGrp="1"/>
          </p:cNvSpPr>
          <p:nvPr>
            <p:ph type="ftr" sz="quarter" idx="11"/>
          </p:nvPr>
        </p:nvSpPr>
        <p:spPr/>
        <p:txBody>
          <a:bodyPr>
            <a:noAutofit/>
          </a:bodyPr>
          <a:lstStyle/>
          <a:p>
            <a:r>
              <a:rPr dirty="0"/>
              <a:t>Oracle Confidential – Internal/Restricted/Highly Restricted</a:t>
            </a:r>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1648D6-9D12-4F44-94D9-CDD602E94C1F}" type="datetime1">
              <a:rPr lang="en-US" smtClean="0"/>
              <a:pPr/>
              <a:t>1/11/2016</a:t>
            </a:fld>
            <a:endParaRPr dirty="0"/>
          </a:p>
        </p:txBody>
      </p:sp>
      <p:sp>
        <p:nvSpPr>
          <p:cNvPr id="3" name="Footer Placeholder 2"/>
          <p:cNvSpPr>
            <a:spLocks noGrp="1"/>
          </p:cNvSpPr>
          <p:nvPr>
            <p:ph type="ftr" sz="quarter" idx="11"/>
          </p:nvPr>
        </p:nvSpPr>
        <p:spPr/>
        <p:txBody>
          <a:bodyPr/>
          <a:lstStyle/>
          <a:p>
            <a:r>
              <a:rPr dirty="0"/>
              <a:t>Oracle Confidential – Internal/Restricted/Highly Restricted</a:t>
            </a:r>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9FE6401D-ECE6-4258-BD5B-9CA695CC95A2}" type="datetime1">
              <a:rPr lang="en-US" smtClean="0"/>
              <a:pPr/>
              <a:t>1/11/2016</a:t>
            </a:fld>
            <a:endParaRPr lang="en-US"/>
          </a:p>
        </p:txBody>
      </p:sp>
      <p:sp>
        <p:nvSpPr>
          <p:cNvPr id="5" name="Footer Placeholder 4"/>
          <p:cNvSpPr>
            <a:spLocks noGrp="1"/>
          </p:cNvSpPr>
          <p:nvPr>
            <p:ph type="ftr" sz="quarter" idx="11"/>
          </p:nvPr>
        </p:nvSpPr>
        <p:spPr/>
        <p:txBody>
          <a:bodyPr>
            <a:noAutofit/>
          </a:bodyPr>
          <a:lstStyle/>
          <a:p>
            <a:r>
              <a:rPr lang="en-US" smtClean="0"/>
              <a:t>Oracle Confidential – Internal/Restricted/Highly Restricted</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984248F2-B371-43D5-8C37-B06B515633F1}" type="datetime1">
              <a:rPr lang="en-US" smtClean="0"/>
              <a:pPr/>
              <a:t>1/11/2016</a:t>
            </a:fld>
            <a:endParaRPr dirty="0"/>
          </a:p>
        </p:txBody>
      </p:sp>
      <p:sp>
        <p:nvSpPr>
          <p:cNvPr id="5" name="Footer Placeholder 4"/>
          <p:cNvSpPr>
            <a:spLocks noGrp="1"/>
          </p:cNvSpPr>
          <p:nvPr>
            <p:ph type="ftr" sz="quarter" idx="11"/>
          </p:nvPr>
        </p:nvSpPr>
        <p:spPr/>
        <p:txBody>
          <a:bodyPr/>
          <a:lstStyle/>
          <a:p>
            <a:r>
              <a:rPr dirty="0"/>
              <a:t>Oracle Confidential – Internal/Restricted/Highly Restricted</a:t>
            </a:r>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New Template_Content 1 Line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72183" y="327385"/>
            <a:ext cx="10969924" cy="541860"/>
          </a:xfrm>
        </p:spPr>
        <p:txBody>
          <a:bodyPr anchor="t" anchorCtr="0"/>
          <a:lstStyle/>
          <a:p>
            <a:r>
              <a:rPr lang="en-US" dirty="0" smtClean="0"/>
              <a:t>Click to edit Master title style</a:t>
            </a:r>
            <a:br>
              <a:rPr lang="en-US" dirty="0" smtClean="0"/>
            </a:br>
            <a:endParaRPr lang="en-US" dirty="0"/>
          </a:p>
        </p:txBody>
      </p:sp>
      <p:sp>
        <p:nvSpPr>
          <p:cNvPr id="6" name="Content Placeholder 5"/>
          <p:cNvSpPr>
            <a:spLocks noGrp="1"/>
          </p:cNvSpPr>
          <p:nvPr>
            <p:ph sz="quarter" idx="12"/>
          </p:nvPr>
        </p:nvSpPr>
        <p:spPr>
          <a:xfrm>
            <a:off x="1072183" y="2029468"/>
            <a:ext cx="10969943" cy="4083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Text Placeholder 4"/>
          <p:cNvSpPr>
            <a:spLocks noGrp="1"/>
          </p:cNvSpPr>
          <p:nvPr>
            <p:ph type="body" sz="quarter" idx="13"/>
          </p:nvPr>
        </p:nvSpPr>
        <p:spPr>
          <a:xfrm>
            <a:off x="1072183" y="864288"/>
            <a:ext cx="10969943" cy="406400"/>
          </a:xfrm>
        </p:spPr>
        <p:txBody>
          <a:bodyPr anchor="t" anchorCtr="0">
            <a:noAutofit/>
          </a:bodyPr>
          <a:lstStyle>
            <a:lvl1pPr marL="0" indent="0">
              <a:spcAft>
                <a:spcPts val="0"/>
              </a:spcAft>
              <a:buFontTx/>
              <a:buNone/>
              <a:defRPr sz="2700">
                <a:solidFill>
                  <a:schemeClr val="accent1"/>
                </a:solidFill>
              </a:defRPr>
            </a:lvl1pPr>
            <a:lvl2pPr marL="609493" indent="0">
              <a:buFontTx/>
              <a:buNone/>
              <a:defRPr/>
            </a:lvl2pPr>
            <a:lvl3pPr marL="1218987" indent="0">
              <a:buFontTx/>
              <a:buNone/>
              <a:defRPr/>
            </a:lvl3pPr>
            <a:lvl4pPr marL="1828480" indent="0">
              <a:buFontTx/>
              <a:buNone/>
              <a:defRPr/>
            </a:lvl4pPr>
            <a:lvl5pPr marL="2437973" indent="0">
              <a:buFontTx/>
              <a:buNone/>
              <a:defRPr/>
            </a:lvl5pPr>
          </a:lstStyle>
          <a:p>
            <a:pPr lvl="0"/>
            <a:r>
              <a:rPr lang="en-US" smtClean="0"/>
              <a:t>Click to edit Master text styles</a:t>
            </a:r>
          </a:p>
        </p:txBody>
      </p:sp>
    </p:spTree>
    <p:extLst>
      <p:ext uri="{BB962C8B-B14F-4D97-AF65-F5344CB8AC3E}">
        <p14:creationId xmlns="" xmlns:p14="http://schemas.microsoft.com/office/powerpoint/2010/main" val="27722042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New Template_Content 2 Line Title">
    <p:spTree>
      <p:nvGrpSpPr>
        <p:cNvPr id="1" name=""/>
        <p:cNvGrpSpPr/>
        <p:nvPr/>
      </p:nvGrpSpPr>
      <p:grpSpPr>
        <a:xfrm>
          <a:off x="0" y="0"/>
          <a:ext cx="0" cy="0"/>
          <a:chOff x="0" y="0"/>
          <a:chExt cx="0" cy="0"/>
        </a:xfrm>
      </p:grpSpPr>
      <p:sp>
        <p:nvSpPr>
          <p:cNvPr id="2" name="Title 1"/>
          <p:cNvSpPr>
            <a:spLocks noGrp="1"/>
          </p:cNvSpPr>
          <p:nvPr>
            <p:ph type="title"/>
          </p:nvPr>
        </p:nvSpPr>
        <p:spPr>
          <a:xfrm>
            <a:off x="1072183" y="327385"/>
            <a:ext cx="10969924" cy="1025071"/>
          </a:xfrm>
        </p:spPr>
        <p:txBody>
          <a:bodyPr anchor="t" anchorCtr="0"/>
          <a:lstStyle/>
          <a:p>
            <a:r>
              <a:rPr lang="en-US" smtClean="0"/>
              <a:t>Click to edit Master title style</a:t>
            </a:r>
            <a:endParaRPr lang="en-US" dirty="0"/>
          </a:p>
        </p:txBody>
      </p:sp>
      <p:sp>
        <p:nvSpPr>
          <p:cNvPr id="6" name="Content Placeholder 5"/>
          <p:cNvSpPr>
            <a:spLocks noGrp="1"/>
          </p:cNvSpPr>
          <p:nvPr>
            <p:ph sz="quarter" idx="12"/>
          </p:nvPr>
        </p:nvSpPr>
        <p:spPr>
          <a:xfrm>
            <a:off x="1072183" y="2029468"/>
            <a:ext cx="10969943" cy="4083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Text Placeholder 4"/>
          <p:cNvSpPr>
            <a:spLocks noGrp="1"/>
          </p:cNvSpPr>
          <p:nvPr>
            <p:ph type="body" sz="quarter" idx="13"/>
          </p:nvPr>
        </p:nvSpPr>
        <p:spPr>
          <a:xfrm>
            <a:off x="1072183" y="1372308"/>
            <a:ext cx="10969943" cy="406400"/>
          </a:xfrm>
        </p:spPr>
        <p:txBody>
          <a:bodyPr anchor="t" anchorCtr="0">
            <a:noAutofit/>
          </a:bodyPr>
          <a:lstStyle>
            <a:lvl1pPr marL="0" indent="0">
              <a:spcAft>
                <a:spcPts val="0"/>
              </a:spcAft>
              <a:buFontTx/>
              <a:buNone/>
              <a:defRPr sz="2700">
                <a:solidFill>
                  <a:schemeClr val="accent1"/>
                </a:solidFill>
              </a:defRPr>
            </a:lvl1pPr>
            <a:lvl2pPr marL="609493" indent="0">
              <a:buFontTx/>
              <a:buNone/>
              <a:defRPr/>
            </a:lvl2pPr>
            <a:lvl3pPr marL="1218987" indent="0">
              <a:buFontTx/>
              <a:buNone/>
              <a:defRPr/>
            </a:lvl3pPr>
            <a:lvl4pPr marL="1828480" indent="0">
              <a:buFontTx/>
              <a:buNone/>
              <a:defRPr/>
            </a:lvl4pPr>
            <a:lvl5pPr marL="2437973" indent="0">
              <a:buFontTx/>
              <a:buNone/>
              <a:defRPr/>
            </a:lvl5pPr>
          </a:lstStyle>
          <a:p>
            <a:pPr lvl="0"/>
            <a:r>
              <a:rPr lang="en-US" smtClean="0"/>
              <a:t>Click to edit Master text styles</a:t>
            </a:r>
          </a:p>
        </p:txBody>
      </p:sp>
    </p:spTree>
    <p:extLst>
      <p:ext uri="{BB962C8B-B14F-4D97-AF65-F5344CB8AC3E}">
        <p14:creationId xmlns="" xmlns:p14="http://schemas.microsoft.com/office/powerpoint/2010/main" val="7790599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25E1F4C7-B9E3-4FA3-AEC6-6BD3FFCEE1E7}" type="datetime1">
              <a:rPr lang="en-US" smtClean="0"/>
              <a:pPr/>
              <a:t>1/11/2016</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dirty="0"/>
              <a:t>Oracle Confidential – Internal/Restricted/Highly Restricted</a:t>
            </a:r>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 id="2147483694" r:id="rId39"/>
    <p:sldLayoutId id="2147483695" r:id="rId40"/>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sldNum="0" hdr="0" ft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35505626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t="-25000" b="-25000"/>
          </a:stretch>
        </a:blipFill>
        <a:effectLst/>
      </p:bgPr>
    </p:bg>
    <p:spTree>
      <p:nvGrpSpPr>
        <p:cNvPr id="1" name=""/>
        <p:cNvGrpSpPr/>
        <p:nvPr/>
      </p:nvGrpSpPr>
      <p:grpSpPr>
        <a:xfrm>
          <a:off x="0" y="0"/>
          <a:ext cx="0" cy="0"/>
          <a:chOff x="0" y="0"/>
          <a:chExt cx="0" cy="0"/>
        </a:xfrm>
      </p:grpSpPr>
      <p:sp>
        <p:nvSpPr>
          <p:cNvPr id="2" name="Title 1" descr="Full slide 4-color photo can be inserted here"/>
          <p:cNvSpPr>
            <a:spLocks noGrp="1"/>
          </p:cNvSpPr>
          <p:nvPr>
            <p:ph type="ctrTitle"/>
          </p:nvPr>
        </p:nvSpPr>
        <p:spPr/>
        <p:txBody>
          <a:bodyPr/>
          <a:lstStyle/>
          <a:p>
            <a:r>
              <a:rPr lang="en-US" dirty="0" smtClean="0"/>
              <a:t>Roles and Responsibilities</a:t>
            </a:r>
            <a:endParaRPr lang="en-US" dirty="0"/>
          </a:p>
        </p:txBody>
      </p:sp>
      <p:sp>
        <p:nvSpPr>
          <p:cNvPr id="3" name="Subtitle 2"/>
          <p:cNvSpPr>
            <a:spLocks noGrp="1"/>
          </p:cNvSpPr>
          <p:nvPr>
            <p:ph type="subTitle" idx="1"/>
          </p:nvPr>
        </p:nvSpPr>
        <p:spPr/>
        <p:txBody>
          <a:bodyPr/>
          <a:lstStyle/>
          <a:p>
            <a:r>
              <a:rPr lang="en-US" dirty="0" smtClean="0"/>
              <a:t>&lt;Company Name&gt;</a:t>
            </a:r>
          </a:p>
          <a:p>
            <a:r>
              <a:rPr lang="en-US" dirty="0" smtClean="0"/>
              <a:t>&lt;Project Name&gt;</a:t>
            </a:r>
            <a:endParaRPr lang="en-US" dirty="0"/>
          </a:p>
        </p:txBody>
      </p:sp>
      <p:sp>
        <p:nvSpPr>
          <p:cNvPr id="6" name="Text Placeholder 5"/>
          <p:cNvSpPr>
            <a:spLocks noGrp="1"/>
          </p:cNvSpPr>
          <p:nvPr>
            <p:ph type="body" sz="quarter" idx="13"/>
          </p:nvPr>
        </p:nvSpPr>
        <p:spPr/>
        <p:txBody>
          <a:bodyPr/>
          <a:lstStyle/>
          <a:p>
            <a:r>
              <a:rPr lang="en-US" dirty="0" smtClean="0"/>
              <a:t>Presenter’s Name</a:t>
            </a:r>
          </a:p>
          <a:p>
            <a:r>
              <a:rPr lang="en-US" dirty="0" smtClean="0"/>
              <a:t>Presenter’s Title</a:t>
            </a:r>
          </a:p>
          <a:p>
            <a:r>
              <a:rPr lang="en-US" dirty="0" smtClean="0"/>
              <a:t>Organization, Division or Business Unit</a:t>
            </a:r>
          </a:p>
          <a:p>
            <a:r>
              <a:rPr lang="en-US" dirty="0" smtClean="0"/>
              <a:t>Month 00, 2014</a:t>
            </a:r>
            <a:endParaRPr lang="en-US" dirty="0"/>
          </a:p>
        </p:txBody>
      </p:sp>
      <p:sp>
        <p:nvSpPr>
          <p:cNvPr id="7" name="TextBox 6"/>
          <p:cNvSpPr txBox="1"/>
          <p:nvPr/>
        </p:nvSpPr>
        <p:spPr>
          <a:xfrm>
            <a:off x="6018212" y="5524500"/>
            <a:ext cx="3200400" cy="838200"/>
          </a:xfrm>
          <a:prstGeom prst="rect">
            <a:avLst/>
          </a:prstGeom>
          <a:solidFill>
            <a:srgbClr val="EAEEEF"/>
          </a:solidFill>
          <a:ln w="12700">
            <a:solidFill>
              <a:srgbClr val="D9541E"/>
            </a:solidFill>
            <a:prstDash val="sysDash"/>
          </a:ln>
        </p:spPr>
        <p:txBody>
          <a:bodyPr wrap="square" lIns="91440" tIns="91440" rIns="91440" bIns="91440" rtlCol="0" anchor="b" anchorCtr="0">
            <a:noAutofit/>
          </a:bodyPr>
          <a:lstStyle/>
          <a:p>
            <a:pPr>
              <a:lnSpc>
                <a:spcPct val="90000"/>
              </a:lnSpc>
              <a:spcBef>
                <a:spcPts val="600"/>
              </a:spcBef>
            </a:pPr>
            <a:r>
              <a:rPr lang="en-US" sz="1050" b="1" dirty="0">
                <a:solidFill>
                  <a:srgbClr val="5F5F5F"/>
                </a:solidFill>
              </a:rPr>
              <a:t>Note: </a:t>
            </a:r>
            <a:r>
              <a:rPr lang="en-US" sz="1050" dirty="0">
                <a:solidFill>
                  <a:srgbClr val="5F5F5F"/>
                </a:solidFill>
              </a:rPr>
              <a:t>The speaker notes for this slide include detailed instructions on how to customize this Title Slide with your own picture.</a:t>
            </a:r>
          </a:p>
          <a:p>
            <a:pPr>
              <a:lnSpc>
                <a:spcPct val="90000"/>
              </a:lnSpc>
              <a:spcBef>
                <a:spcPts val="600"/>
              </a:spcBef>
            </a:pPr>
            <a:r>
              <a:rPr lang="en-US" sz="1050" b="1" dirty="0">
                <a:solidFill>
                  <a:srgbClr val="5F5F5F"/>
                </a:solidFill>
              </a:rPr>
              <a:t>Tip! </a:t>
            </a:r>
            <a:r>
              <a:rPr lang="en-US" sz="1050" dirty="0">
                <a:solidFill>
                  <a:srgbClr val="5F5F5F"/>
                </a:solidFill>
              </a:rPr>
              <a:t>Remember to remove this text box.</a:t>
            </a:r>
          </a:p>
        </p:txBody>
      </p:sp>
      <p:pic>
        <p:nvPicPr>
          <p:cNvPr id="9" name="Picture 8" descr="Oracle_Unified_Method_485C.gif"/>
          <p:cNvPicPr>
            <a:picLocks noChangeAspect="1"/>
          </p:cNvPicPr>
          <p:nvPr/>
        </p:nvPicPr>
        <p:blipFill>
          <a:blip r:embed="rId4" cstate="print"/>
          <a:srcRect/>
          <a:stretch>
            <a:fillRect/>
          </a:stretch>
        </p:blipFill>
        <p:spPr bwMode="auto">
          <a:xfrm>
            <a:off x="9752013" y="5562600"/>
            <a:ext cx="1619250" cy="638175"/>
          </a:xfrm>
          <a:prstGeom prst="rect">
            <a:avLst/>
          </a:prstGeom>
          <a:noFill/>
          <a:ln w="9525">
            <a:noFill/>
            <a:miter lim="800000"/>
            <a:headEnd/>
            <a:tailEnd/>
          </a:ln>
        </p:spPr>
      </p:pic>
    </p:spTree>
    <p:extLst>
      <p:ext uri="{BB962C8B-B14F-4D97-AF65-F5344CB8AC3E}">
        <p14:creationId xmlns="" xmlns:p14="http://schemas.microsoft.com/office/powerpoint/2010/main" val="336776055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Project Executive</a:t>
            </a:r>
            <a:endParaRPr lang="en-US" dirty="0"/>
          </a:p>
        </p:txBody>
      </p:sp>
      <p:sp>
        <p:nvSpPr>
          <p:cNvPr id="3" name="Content Placeholder 2"/>
          <p:cNvSpPr>
            <a:spLocks noGrp="1"/>
          </p:cNvSpPr>
          <p:nvPr>
            <p:ph idx="1"/>
          </p:nvPr>
        </p:nvSpPr>
        <p:spPr>
          <a:xfrm>
            <a:off x="531812" y="1752600"/>
            <a:ext cx="11126522" cy="3962400"/>
          </a:xfrm>
        </p:spPr>
        <p:txBody>
          <a:bodyPr/>
          <a:lstStyle/>
          <a:p>
            <a:r>
              <a:rPr lang="en-US" dirty="0" smtClean="0"/>
              <a:t>Project Sponsor</a:t>
            </a:r>
          </a:p>
          <a:p>
            <a:pPr lvl="1">
              <a:spcBef>
                <a:spcPts val="600"/>
              </a:spcBef>
            </a:pPr>
            <a:r>
              <a:rPr lang="en-US" dirty="0" smtClean="0"/>
              <a:t>Champion the Implementation project.</a:t>
            </a:r>
          </a:p>
          <a:p>
            <a:pPr lvl="1">
              <a:spcBef>
                <a:spcPts val="600"/>
              </a:spcBef>
            </a:pPr>
            <a:r>
              <a:rPr lang="en-US" dirty="0" smtClean="0">
                <a:cs typeface="Arial" charset="0"/>
              </a:rPr>
              <a:t>Create a top-down approach to enable project buy-in.</a:t>
            </a:r>
            <a:endParaRPr lang="en-US" dirty="0" smtClean="0"/>
          </a:p>
          <a:p>
            <a:pPr lvl="1">
              <a:spcBef>
                <a:spcPts val="600"/>
              </a:spcBef>
            </a:pPr>
            <a:r>
              <a:rPr lang="en-US" dirty="0" smtClean="0">
                <a:cs typeface="Arial" charset="0"/>
              </a:rPr>
              <a:t>Perform some interim Project Approvals and be involved in the Project Review Process.</a:t>
            </a:r>
            <a:endParaRPr lang="en-US" dirty="0" smtClean="0"/>
          </a:p>
          <a:p>
            <a:r>
              <a:rPr lang="en-US" dirty="0" smtClean="0"/>
              <a:t>Steering Committee</a:t>
            </a:r>
          </a:p>
          <a:p>
            <a:pPr lvl="1">
              <a:spcBef>
                <a:spcPts val="600"/>
              </a:spcBef>
            </a:pPr>
            <a:r>
              <a:rPr lang="en-US" dirty="0" smtClean="0">
                <a:cs typeface="Arial" charset="0"/>
              </a:rPr>
              <a:t>Come from areas of the organization impacted by the project.</a:t>
            </a:r>
          </a:p>
          <a:p>
            <a:pPr lvl="1">
              <a:spcBef>
                <a:spcPts val="600"/>
              </a:spcBef>
            </a:pPr>
            <a:r>
              <a:rPr lang="en-US" dirty="0" smtClean="0">
                <a:cs typeface="Arial" charset="0"/>
              </a:rPr>
              <a:t>Collectively, make high-level decisions on the project and provide guidance to assist the progression of the project.</a:t>
            </a:r>
          </a:p>
          <a:p>
            <a:pPr lvl="1">
              <a:spcBef>
                <a:spcPts val="600"/>
              </a:spcBef>
            </a:pPr>
            <a:r>
              <a:rPr lang="en-US" dirty="0" smtClean="0">
                <a:cs typeface="Arial" charset="0"/>
              </a:rPr>
              <a:t>Make sure the project is meeting its intended objectives from a functional and strategic point of view.</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Project Stakeholders</a:t>
            </a:r>
            <a:endParaRPr lang="en-US" dirty="0"/>
          </a:p>
        </p:txBody>
      </p:sp>
      <p:sp>
        <p:nvSpPr>
          <p:cNvPr id="3" name="Content Placeholder 2"/>
          <p:cNvSpPr>
            <a:spLocks noGrp="1"/>
          </p:cNvSpPr>
          <p:nvPr>
            <p:ph idx="1"/>
          </p:nvPr>
        </p:nvSpPr>
        <p:spPr/>
        <p:txBody>
          <a:bodyPr/>
          <a:lstStyle/>
          <a:p>
            <a:r>
              <a:rPr lang="en-US" dirty="0" smtClean="0">
                <a:ea typeface="Arial Unicode MS" pitchFamily="34" charset="-128"/>
                <a:cs typeface="Arial Unicode MS" pitchFamily="34" charset="-128"/>
              </a:rPr>
              <a:t>Provide functional, industry, technical, and customer-specific expertise, insight, and guidance.</a:t>
            </a:r>
          </a:p>
          <a:p>
            <a:r>
              <a:rPr lang="en-US" dirty="0" smtClean="0">
                <a:ea typeface="Arial Unicode MS" pitchFamily="34" charset="-128"/>
                <a:cs typeface="Arial Unicode MS" pitchFamily="34" charset="-128"/>
              </a:rPr>
              <a:t>Participate in quality assurance.</a:t>
            </a:r>
          </a:p>
          <a:p>
            <a:r>
              <a:rPr lang="en-US" dirty="0" smtClean="0">
                <a:ea typeface="Arial Unicode MS" pitchFamily="34" charset="-128"/>
                <a:cs typeface="Arial Unicode MS" pitchFamily="34" charset="-128"/>
              </a:rPr>
              <a:t>Participate in key review sessions.</a:t>
            </a:r>
          </a:p>
          <a:p>
            <a:r>
              <a:rPr lang="en-US" dirty="0" smtClean="0">
                <a:ea typeface="Arial Unicode MS" pitchFamily="34" charset="-128"/>
                <a:cs typeface="Arial Unicode MS" pitchFamily="34" charset="-128"/>
              </a:rPr>
              <a:t>Provide input and assist in planning activities and steps.</a:t>
            </a:r>
          </a:p>
          <a:p>
            <a:r>
              <a:rPr lang="en-US" dirty="0" smtClean="0">
                <a:ea typeface="Arial Unicode MS" pitchFamily="34" charset="-128"/>
                <a:cs typeface="Arial Unicode MS" pitchFamily="34" charset="-128"/>
              </a:rPr>
              <a:t>Serve as a liaison between project and department and/or area of expertise.</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Project Management Team</a:t>
            </a:r>
            <a:endParaRPr lang="en-US" dirty="0"/>
          </a:p>
        </p:txBody>
      </p:sp>
      <p:sp>
        <p:nvSpPr>
          <p:cNvPr id="3" name="Content Placeholder 2"/>
          <p:cNvSpPr>
            <a:spLocks noGrp="1"/>
          </p:cNvSpPr>
          <p:nvPr>
            <p:ph idx="1"/>
          </p:nvPr>
        </p:nvSpPr>
        <p:spPr/>
        <p:txBody>
          <a:bodyPr/>
          <a:lstStyle/>
          <a:p>
            <a:r>
              <a:rPr lang="en-US" sz="2400" dirty="0" smtClean="0"/>
              <a:t>Project Manager</a:t>
            </a:r>
          </a:p>
          <a:p>
            <a:pPr marL="698378" lvl="1" indent="-234910">
              <a:spcBef>
                <a:spcPts val="600"/>
              </a:spcBef>
            </a:pPr>
            <a:r>
              <a:rPr lang="en-US" sz="2000" dirty="0" smtClean="0">
                <a:cs typeface="Arial" charset="0"/>
              </a:rPr>
              <a:t>Develop, maintain and distribute the Project Workplan and communicate the details of the plan.</a:t>
            </a:r>
          </a:p>
          <a:p>
            <a:pPr marL="698378" lvl="1" indent="-234910">
              <a:spcBef>
                <a:spcPts val="600"/>
              </a:spcBef>
            </a:pPr>
            <a:r>
              <a:rPr lang="en-US" sz="2000" dirty="0" smtClean="0">
                <a:cs typeface="Arial" charset="0"/>
              </a:rPr>
              <a:t>Assign team members to steps and monitor team progress against the plan.</a:t>
            </a:r>
          </a:p>
          <a:p>
            <a:pPr marL="698378" lvl="1" indent="-234910">
              <a:spcBef>
                <a:spcPts val="600"/>
              </a:spcBef>
            </a:pPr>
            <a:r>
              <a:rPr lang="en-US" sz="2000" dirty="0" smtClean="0">
                <a:cs typeface="Arial" charset="0"/>
              </a:rPr>
              <a:t>Resolve or evaluate project issues in the areas of operating policies, staffing, and project scope. </a:t>
            </a:r>
          </a:p>
          <a:p>
            <a:pPr marL="698378" lvl="1" indent="-234910">
              <a:spcBef>
                <a:spcPts val="600"/>
              </a:spcBef>
            </a:pPr>
            <a:r>
              <a:rPr lang="en-US" sz="2000" dirty="0" smtClean="0">
                <a:cs typeface="Arial" charset="0"/>
              </a:rPr>
              <a:t>Conduct scheduled, periodic meetings with the project team, Project Sponsor, and Steering Committee. </a:t>
            </a:r>
          </a:p>
          <a:p>
            <a:pPr marL="698378" lvl="1" indent="-234910">
              <a:spcBef>
                <a:spcPts val="600"/>
              </a:spcBef>
            </a:pPr>
            <a:r>
              <a:rPr lang="en-US" sz="2000" dirty="0" smtClean="0">
                <a:cs typeface="Arial" charset="0"/>
              </a:rPr>
              <a:t>Act as a liaison between engineers and designers and serves as the project contact person for external (non-project) resources. </a:t>
            </a:r>
            <a:endParaRPr lang="en-US" sz="2000" b="1" dirty="0" smtClean="0">
              <a:cs typeface="Arial" charset="0"/>
            </a:endParaRPr>
          </a:p>
          <a:p>
            <a:r>
              <a:rPr lang="en-US" sz="2400" dirty="0" smtClean="0"/>
              <a:t>Project Administrator</a:t>
            </a:r>
          </a:p>
          <a:p>
            <a:pPr lvl="1"/>
            <a:r>
              <a:rPr lang="en-US" sz="2000" dirty="0" smtClean="0">
                <a:cs typeface="Arial" charset="0"/>
              </a:rPr>
              <a:t>Perform administrative activities, such as maintaining project plans, coordinating time sheets, and coordinating meeting schedules.</a:t>
            </a:r>
            <a:endParaRPr lang="en-US" sz="2000"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Project Management Team (continued)</a:t>
            </a:r>
            <a:endParaRPr lang="en-US" dirty="0"/>
          </a:p>
        </p:txBody>
      </p:sp>
      <p:sp>
        <p:nvSpPr>
          <p:cNvPr id="3" name="Content Placeholder 2"/>
          <p:cNvSpPr>
            <a:spLocks noGrp="1"/>
          </p:cNvSpPr>
          <p:nvPr>
            <p:ph idx="1"/>
          </p:nvPr>
        </p:nvSpPr>
        <p:spPr/>
        <p:txBody>
          <a:bodyPr/>
          <a:lstStyle/>
          <a:p>
            <a:r>
              <a:rPr lang="en-US" dirty="0" smtClean="0"/>
              <a:t>Upgrade Lead</a:t>
            </a:r>
          </a:p>
          <a:p>
            <a:pPr lvl="1"/>
            <a:r>
              <a:rPr lang="en-US" dirty="0" smtClean="0">
                <a:cs typeface="Arial" charset="0"/>
              </a:rPr>
              <a:t>Ensure that all upgrade project activities are assigned to the appropriate resources and completed on schedule. </a:t>
            </a:r>
          </a:p>
          <a:p>
            <a:pPr lvl="1"/>
            <a:r>
              <a:rPr lang="en-US" dirty="0" smtClean="0">
                <a:cs typeface="Arial" charset="0"/>
              </a:rPr>
              <a:t>Oversee the execution and completion of the tasks documented in the upgrade instructions. </a:t>
            </a:r>
          </a:p>
          <a:p>
            <a:pPr lvl="1"/>
            <a:r>
              <a:rPr lang="en-US" dirty="0" smtClean="0">
                <a:cs typeface="Arial" charset="0"/>
              </a:rPr>
              <a:t>Lead the upgrade effort performed by the various teams and is responsible for the overall project and leadership. </a:t>
            </a:r>
            <a:endParaRPr lang="en-US" dirty="0" smtClean="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Functional Team</a:t>
            </a:r>
            <a:endParaRPr lang="en-US" dirty="0"/>
          </a:p>
        </p:txBody>
      </p:sp>
      <p:sp>
        <p:nvSpPr>
          <p:cNvPr id="3" name="Content Placeholder 2"/>
          <p:cNvSpPr>
            <a:spLocks noGrp="1"/>
          </p:cNvSpPr>
          <p:nvPr>
            <p:ph idx="1"/>
          </p:nvPr>
        </p:nvSpPr>
        <p:spPr/>
        <p:txBody>
          <a:bodyPr/>
          <a:lstStyle/>
          <a:p>
            <a:r>
              <a:rPr lang="en-US" sz="2400" dirty="0" smtClean="0"/>
              <a:t>Functional Lead</a:t>
            </a:r>
          </a:p>
          <a:p>
            <a:pPr marL="698378" lvl="1" indent="-234910"/>
            <a:r>
              <a:rPr lang="en-US" sz="2000" dirty="0" smtClean="0">
                <a:cs typeface="Arial" charset="0"/>
              </a:rPr>
              <a:t>Lead the business analysis effort, as well as the overall business representation of all the functional areas impacted by the implementation. </a:t>
            </a:r>
          </a:p>
          <a:p>
            <a:pPr marL="698378" lvl="1" indent="-234910"/>
            <a:r>
              <a:rPr lang="en-US" sz="2000" dirty="0" smtClean="0">
                <a:cs typeface="Arial" charset="0"/>
              </a:rPr>
              <a:t>Serve as the overall liaison between the organization &amp; the project team.</a:t>
            </a:r>
            <a:endParaRPr lang="en-US" sz="2000" b="1" dirty="0" smtClean="0">
              <a:cs typeface="Arial" charset="0"/>
            </a:endParaRPr>
          </a:p>
          <a:p>
            <a:r>
              <a:rPr lang="en-US" sz="2400" dirty="0" smtClean="0"/>
              <a:t>Business Process Analyst</a:t>
            </a:r>
          </a:p>
          <a:p>
            <a:pPr marL="698378" lvl="1" indent="-234910"/>
            <a:r>
              <a:rPr lang="en-US" sz="2000" dirty="0" smtClean="0">
                <a:cs typeface="Arial" charset="0"/>
              </a:rPr>
              <a:t>Provide business representation and leadership for a core functional area impacted by the implementation and provides overall business process expertise to the project team. </a:t>
            </a:r>
          </a:p>
          <a:p>
            <a:pPr marL="698378" lvl="1" indent="-234910"/>
            <a:r>
              <a:rPr lang="en-US" sz="2000" dirty="0" smtClean="0">
                <a:cs typeface="Arial" charset="0"/>
              </a:rPr>
              <a:t>Attend all of the fit/gap sessions where the majority of business process discovery will occur. </a:t>
            </a:r>
          </a:p>
          <a:p>
            <a:pPr marL="698378" lvl="1" indent="-234910"/>
            <a:r>
              <a:rPr lang="en-US" sz="2000" dirty="0" smtClean="0">
                <a:cs typeface="Arial" charset="0"/>
              </a:rPr>
              <a:t>Update process maps and process dictionary to reflect process changes. </a:t>
            </a:r>
          </a:p>
          <a:p>
            <a:pPr marL="698378" lvl="1" indent="-234910"/>
            <a:r>
              <a:rPr lang="en-US" sz="2000" dirty="0" smtClean="0">
                <a:cs typeface="Arial" charset="0"/>
              </a:rPr>
              <a:t>Serve as the liaison between the organization and the project team that typically consists of both organization and consulting personnel.</a:t>
            </a:r>
            <a:endParaRPr lang="en-US" sz="2000"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Functional Team (continued)</a:t>
            </a:r>
            <a:endParaRPr lang="en-US" dirty="0"/>
          </a:p>
        </p:txBody>
      </p:sp>
      <p:sp>
        <p:nvSpPr>
          <p:cNvPr id="3" name="Content Placeholder 2"/>
          <p:cNvSpPr>
            <a:spLocks noGrp="1"/>
          </p:cNvSpPr>
          <p:nvPr>
            <p:ph idx="1"/>
          </p:nvPr>
        </p:nvSpPr>
        <p:spPr/>
        <p:txBody>
          <a:bodyPr/>
          <a:lstStyle/>
          <a:p>
            <a:r>
              <a:rPr lang="en-US" dirty="0" smtClean="0"/>
              <a:t>Application Specialist</a:t>
            </a:r>
          </a:p>
          <a:p>
            <a:pPr lvl="1"/>
            <a:r>
              <a:rPr lang="en-US" dirty="0" smtClean="0">
                <a:cs typeface="Arial" charset="0"/>
              </a:rPr>
              <a:t>Guide the project team through those steps that require detailed application functional knowledge and related industry best practices. </a:t>
            </a:r>
          </a:p>
          <a:p>
            <a:pPr lvl="1"/>
            <a:r>
              <a:rPr lang="en-US" dirty="0" smtClean="0">
                <a:cs typeface="Arial" charset="0"/>
              </a:rPr>
              <a:t>May also act as an integration consultant to integrate applications, particularly across product lines.</a:t>
            </a:r>
            <a:r>
              <a:rPr lang="en-US" dirty="0" smtClean="0"/>
              <a:t> </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Technical Team</a:t>
            </a:r>
            <a:endParaRPr lang="en-US" dirty="0"/>
          </a:p>
        </p:txBody>
      </p:sp>
      <p:sp>
        <p:nvSpPr>
          <p:cNvPr id="3" name="Content Placeholder 2"/>
          <p:cNvSpPr>
            <a:spLocks noGrp="1"/>
          </p:cNvSpPr>
          <p:nvPr>
            <p:ph idx="1"/>
          </p:nvPr>
        </p:nvSpPr>
        <p:spPr/>
        <p:txBody>
          <a:bodyPr/>
          <a:lstStyle/>
          <a:p>
            <a:r>
              <a:rPr lang="en-US" dirty="0" smtClean="0"/>
              <a:t>Technical Lead</a:t>
            </a:r>
          </a:p>
          <a:p>
            <a:pPr marL="698378" lvl="1" indent="-234910"/>
            <a:r>
              <a:rPr lang="en-US" dirty="0" smtClean="0">
                <a:cs typeface="Arial" charset="0"/>
              </a:rPr>
              <a:t>Assure that the integrity of design is maintained across business processes. </a:t>
            </a:r>
          </a:p>
          <a:p>
            <a:pPr marL="698378" lvl="1" indent="-234910"/>
            <a:r>
              <a:rPr lang="en-US" dirty="0" smtClean="0">
                <a:cs typeface="Arial" charset="0"/>
              </a:rPr>
              <a:t>Serve as the team lead for a group of programmer analysts. </a:t>
            </a:r>
            <a:endParaRPr lang="en-US" b="1" dirty="0" smtClean="0">
              <a:cs typeface="Arial" charset="0"/>
            </a:endParaRPr>
          </a:p>
          <a:p>
            <a:r>
              <a:rPr lang="en-US" dirty="0" smtClean="0"/>
              <a:t>Install Specialist</a:t>
            </a:r>
          </a:p>
          <a:p>
            <a:pPr marL="698378" lvl="1" indent="-234910"/>
            <a:r>
              <a:rPr lang="en-US" dirty="0" smtClean="0">
                <a:cs typeface="Arial" charset="0"/>
              </a:rPr>
              <a:t>Install solution software and ensure that post-installation acceptance criteria are satisfied.</a:t>
            </a:r>
          </a:p>
          <a:p>
            <a:pPr marL="698378" lvl="1" indent="-234910">
              <a:buNone/>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Technical Team (continued)</a:t>
            </a:r>
            <a:endParaRPr lang="en-US" dirty="0"/>
          </a:p>
        </p:txBody>
      </p:sp>
      <p:sp>
        <p:nvSpPr>
          <p:cNvPr id="3" name="Content Placeholder 2"/>
          <p:cNvSpPr>
            <a:spLocks noGrp="1"/>
          </p:cNvSpPr>
          <p:nvPr>
            <p:ph idx="1"/>
          </p:nvPr>
        </p:nvSpPr>
        <p:spPr/>
        <p:txBody>
          <a:bodyPr/>
          <a:lstStyle/>
          <a:p>
            <a:r>
              <a:rPr lang="en-US" dirty="0" smtClean="0"/>
              <a:t>Programmer Analyst</a:t>
            </a:r>
          </a:p>
          <a:p>
            <a:pPr marL="698378" lvl="1" indent="-234910"/>
            <a:r>
              <a:rPr lang="en-US" dirty="0" smtClean="0">
                <a:cs typeface="Arial" charset="0"/>
              </a:rPr>
              <a:t>Design, develops, and tests all in-scope modifications, interfaces, conversions, and reports.</a:t>
            </a:r>
            <a:r>
              <a:rPr lang="en-US" sz="2700" dirty="0" smtClean="0">
                <a:cs typeface="Arial" charset="0"/>
              </a:rPr>
              <a:t> </a:t>
            </a:r>
          </a:p>
          <a:p>
            <a:pPr marL="160839" indent="-234910"/>
            <a:r>
              <a:rPr lang="en-US" dirty="0" smtClean="0">
                <a:cs typeface="Arial" charset="0"/>
              </a:rPr>
              <a:t>Technology Specialist</a:t>
            </a:r>
          </a:p>
          <a:p>
            <a:pPr marL="698378" lvl="1" indent="-234910"/>
            <a:r>
              <a:rPr lang="en-US" dirty="0" smtClean="0">
                <a:cs typeface="Arial" charset="0"/>
              </a:rPr>
              <a:t>Design and create technology solutions in response to business needs.</a:t>
            </a:r>
          </a:p>
          <a:p>
            <a:pPr marL="698378" lvl="1" indent="-234910"/>
            <a:r>
              <a:rPr lang="en-US" dirty="0" smtClean="0">
                <a:cs typeface="Arial" charset="0"/>
              </a:rPr>
              <a:t>Join a project when the solution requires some specific knowledge in emerging technologies. </a:t>
            </a:r>
          </a:p>
          <a:p>
            <a:pPr marL="698378" lvl="1" indent="-234910">
              <a:buNone/>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Technical Team (continued)</a:t>
            </a:r>
            <a:endParaRPr lang="en-US" dirty="0"/>
          </a:p>
        </p:txBody>
      </p:sp>
      <p:sp>
        <p:nvSpPr>
          <p:cNvPr id="3" name="Content Placeholder 2"/>
          <p:cNvSpPr>
            <a:spLocks noGrp="1"/>
          </p:cNvSpPr>
          <p:nvPr>
            <p:ph idx="1"/>
          </p:nvPr>
        </p:nvSpPr>
        <p:spPr/>
        <p:txBody>
          <a:bodyPr/>
          <a:lstStyle/>
          <a:p>
            <a:r>
              <a:rPr lang="en-US" dirty="0" smtClean="0"/>
              <a:t>Upgrader</a:t>
            </a:r>
          </a:p>
          <a:p>
            <a:pPr lvl="1"/>
            <a:r>
              <a:rPr lang="en-US" dirty="0" smtClean="0">
                <a:cs typeface="Arial" charset="0"/>
              </a:rPr>
              <a:t>Execute and complete the tasks documented in the delivered upgrade instructions. </a:t>
            </a:r>
          </a:p>
          <a:p>
            <a:pPr lvl="1"/>
            <a:r>
              <a:rPr lang="en-US" dirty="0" smtClean="0">
                <a:cs typeface="Arial" charset="0"/>
              </a:rPr>
              <a:t>Assist in resolving any issues encountered while executing the tasks documented in the delivered upgrade instructions. </a:t>
            </a:r>
            <a:endParaRPr lang="en-US" dirty="0" smtClean="0"/>
          </a:p>
          <a:p>
            <a:pPr marL="698378" lvl="1" indent="-234910">
              <a:buNone/>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Database Administration Team</a:t>
            </a:r>
            <a:endParaRPr lang="en-US" dirty="0"/>
          </a:p>
        </p:txBody>
      </p:sp>
      <p:sp>
        <p:nvSpPr>
          <p:cNvPr id="3" name="Content Placeholder 2"/>
          <p:cNvSpPr>
            <a:spLocks noGrp="1"/>
          </p:cNvSpPr>
          <p:nvPr>
            <p:ph idx="1"/>
          </p:nvPr>
        </p:nvSpPr>
        <p:spPr/>
        <p:txBody>
          <a:bodyPr/>
          <a:lstStyle/>
          <a:p>
            <a:r>
              <a:rPr lang="en-US" dirty="0" smtClean="0"/>
              <a:t>Database Administrator</a:t>
            </a:r>
          </a:p>
          <a:p>
            <a:pPr lvl="1"/>
            <a:r>
              <a:rPr lang="en-US" dirty="0" smtClean="0">
                <a:cs typeface="Arial" charset="0"/>
              </a:rPr>
              <a:t>Design and maintain the various database environments required for the new system. </a:t>
            </a:r>
          </a:p>
          <a:p>
            <a:pPr lvl="1"/>
            <a:r>
              <a:rPr lang="en-US" dirty="0" smtClean="0">
                <a:cs typeface="Arial" charset="0"/>
              </a:rPr>
              <a:t>Migrate data from one database environment to another.</a:t>
            </a:r>
          </a:p>
          <a:p>
            <a:pPr lvl="1"/>
            <a:r>
              <a:rPr lang="en-US" dirty="0" smtClean="0">
                <a:cs typeface="Arial" charset="0"/>
              </a:rPr>
              <a:t>Maintain security for each database.</a:t>
            </a:r>
            <a:endParaRPr lang="en-US" dirty="0" smtClean="0"/>
          </a:p>
          <a:p>
            <a:pPr marL="698378" lvl="1" indent="-234910">
              <a:buNone/>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End User Team</a:t>
            </a:r>
            <a:endParaRPr lang="en-US" dirty="0"/>
          </a:p>
        </p:txBody>
      </p:sp>
      <p:sp>
        <p:nvSpPr>
          <p:cNvPr id="3" name="Content Placeholder 2"/>
          <p:cNvSpPr>
            <a:spLocks noGrp="1"/>
          </p:cNvSpPr>
          <p:nvPr>
            <p:ph idx="1"/>
          </p:nvPr>
        </p:nvSpPr>
        <p:spPr/>
        <p:txBody>
          <a:bodyPr/>
          <a:lstStyle/>
          <a:p>
            <a:r>
              <a:rPr lang="en-US" dirty="0" smtClean="0"/>
              <a:t>End User - </a:t>
            </a:r>
            <a:r>
              <a:rPr lang="en-US" dirty="0" smtClean="0">
                <a:cs typeface="Arial" charset="0"/>
              </a:rPr>
              <a:t>The employees, managers, and executives who will use the application software once it is deployed.</a:t>
            </a:r>
            <a:endParaRPr lang="en-US" dirty="0" smtClean="0"/>
          </a:p>
          <a:p>
            <a:pPr lvl="1">
              <a:lnSpc>
                <a:spcPct val="90000"/>
              </a:lnSpc>
            </a:pPr>
            <a:r>
              <a:rPr lang="en-US" dirty="0" smtClean="0">
                <a:cs typeface="Arial" charset="0"/>
              </a:rPr>
              <a:t>Participate in Needs Assessment and Fit/Gap sessions.</a:t>
            </a:r>
          </a:p>
          <a:p>
            <a:pPr lvl="1">
              <a:lnSpc>
                <a:spcPct val="90000"/>
              </a:lnSpc>
            </a:pPr>
            <a:r>
              <a:rPr lang="en-US" dirty="0" smtClean="0">
                <a:cs typeface="Arial" charset="0"/>
              </a:rPr>
              <a:t>Provide business process insight and expertise.</a:t>
            </a:r>
          </a:p>
          <a:p>
            <a:pPr lvl="1">
              <a:lnSpc>
                <a:spcPct val="90000"/>
              </a:lnSpc>
            </a:pPr>
            <a:r>
              <a:rPr lang="en-US" dirty="0" smtClean="0">
                <a:cs typeface="Arial" charset="0"/>
              </a:rPr>
              <a:t>Participate in the quality assurance functions.</a:t>
            </a:r>
          </a:p>
          <a:p>
            <a:pPr lvl="1">
              <a:lnSpc>
                <a:spcPct val="90000"/>
              </a:lnSpc>
            </a:pPr>
            <a:r>
              <a:rPr lang="en-US" dirty="0" smtClean="0">
                <a:cs typeface="Arial" charset="0"/>
              </a:rPr>
              <a:t>Participate in testing, and creates and executes test scripts.</a:t>
            </a:r>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Internet Commerce Management Team</a:t>
            </a:r>
            <a:endParaRPr lang="en-US" dirty="0"/>
          </a:p>
        </p:txBody>
      </p:sp>
      <p:sp>
        <p:nvSpPr>
          <p:cNvPr id="3" name="Content Placeholder 2"/>
          <p:cNvSpPr>
            <a:spLocks noGrp="1"/>
          </p:cNvSpPr>
          <p:nvPr>
            <p:ph idx="1"/>
          </p:nvPr>
        </p:nvSpPr>
        <p:spPr/>
        <p:txBody>
          <a:bodyPr/>
          <a:lstStyle/>
          <a:p>
            <a:r>
              <a:rPr lang="en-US" dirty="0" smtClean="0"/>
              <a:t>Content Manager</a:t>
            </a:r>
          </a:p>
          <a:p>
            <a:pPr marL="698378" lvl="1" indent="-234910"/>
            <a:r>
              <a:rPr lang="en-US" dirty="0" smtClean="0">
                <a:cs typeface="Arial" charset="0"/>
              </a:rPr>
              <a:t>Develop the process for content management, including the production, approval, posting, reviewing, and discarding of content.</a:t>
            </a:r>
            <a:r>
              <a:rPr lang="en-US" sz="2700" dirty="0" smtClean="0">
                <a:cs typeface="Arial" charset="0"/>
              </a:rPr>
              <a:t> </a:t>
            </a:r>
          </a:p>
          <a:p>
            <a:r>
              <a:rPr lang="en-US" dirty="0" smtClean="0"/>
              <a:t>Creative Director</a:t>
            </a:r>
          </a:p>
          <a:p>
            <a:pPr marL="698378" lvl="1" indent="-234910"/>
            <a:r>
              <a:rPr lang="en-US" dirty="0" smtClean="0">
                <a:cs typeface="Arial" charset="0"/>
              </a:rPr>
              <a:t>Establish website design and architecture standards; hire and manage graphic designers; oversee design quality, and make final navigational decisions.</a:t>
            </a:r>
            <a:r>
              <a:rPr lang="en-US" sz="2700" dirty="0" smtClean="0">
                <a:cs typeface="Arial" charset="0"/>
              </a:rPr>
              <a:t> </a:t>
            </a:r>
            <a:endParaRPr lang="en-US" dirty="0" smtClean="0"/>
          </a:p>
          <a:p>
            <a:pPr marL="698378" lvl="1" indent="-234910">
              <a:buNone/>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Internet Commerce Management Team (continued)</a:t>
            </a:r>
            <a:endParaRPr lang="en-US" dirty="0"/>
          </a:p>
        </p:txBody>
      </p:sp>
      <p:sp>
        <p:nvSpPr>
          <p:cNvPr id="3" name="Content Placeholder 2"/>
          <p:cNvSpPr>
            <a:spLocks noGrp="1"/>
          </p:cNvSpPr>
          <p:nvPr>
            <p:ph idx="1"/>
          </p:nvPr>
        </p:nvSpPr>
        <p:spPr/>
        <p:txBody>
          <a:bodyPr/>
          <a:lstStyle/>
          <a:p>
            <a:pPr marL="160839" indent="-234910"/>
            <a:r>
              <a:rPr lang="en-US" dirty="0" smtClean="0">
                <a:cs typeface="Arial" charset="0"/>
              </a:rPr>
              <a:t>Graphic Designer</a:t>
            </a:r>
          </a:p>
          <a:p>
            <a:pPr marL="698378" lvl="1" indent="-234910"/>
            <a:r>
              <a:rPr lang="en-US" dirty="0" smtClean="0">
                <a:cs typeface="Arial" charset="0"/>
              </a:rPr>
              <a:t>Incorporate the vision of the creative team and interface team.</a:t>
            </a:r>
          </a:p>
          <a:p>
            <a:pPr marL="698378" lvl="1" indent="-234910"/>
            <a:r>
              <a:rPr lang="en-US" dirty="0" smtClean="0">
                <a:cs typeface="Arial" charset="0"/>
              </a:rPr>
              <a:t>Prepare graphical elements to represent functions throughout the site &amp; work closely with programmer analyst &amp; creative director. </a:t>
            </a:r>
          </a:p>
          <a:p>
            <a:pPr marL="160839" indent="-234910"/>
            <a:r>
              <a:rPr lang="en-US" dirty="0" smtClean="0">
                <a:cs typeface="Arial" charset="0"/>
              </a:rPr>
              <a:t>Integration Engineer</a:t>
            </a:r>
          </a:p>
          <a:p>
            <a:pPr marL="698378" lvl="1" indent="-234910"/>
            <a:r>
              <a:rPr lang="en-US" dirty="0" smtClean="0">
                <a:cs typeface="Arial" charset="0"/>
              </a:rPr>
              <a:t>Lead the technical interaction and communication between solutions and all other collaborative applications with which the portal interacts (legacy systems, email, calendar applications, etc.). </a:t>
            </a:r>
            <a:endParaRPr lang="en-US" dirty="0" smtClean="0"/>
          </a:p>
          <a:p>
            <a:pPr marL="698378" lvl="1" indent="-234910">
              <a:buNone/>
            </a:pPr>
            <a:endParaRPr lang="en-US" dirty="0" smtClean="0"/>
          </a:p>
          <a:p>
            <a:pPr marL="698378" lvl="1" indent="-234910"/>
            <a:endParaRPr lang="en-US" dirty="0" smtClean="0"/>
          </a:p>
          <a:p>
            <a:pPr marL="698378" lvl="1" indent="-234910">
              <a:buNone/>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Internet Commerce Management Team (continued)</a:t>
            </a:r>
            <a:endParaRPr lang="en-US" dirty="0"/>
          </a:p>
        </p:txBody>
      </p:sp>
      <p:sp>
        <p:nvSpPr>
          <p:cNvPr id="3" name="Content Placeholder 2"/>
          <p:cNvSpPr>
            <a:spLocks noGrp="1"/>
          </p:cNvSpPr>
          <p:nvPr>
            <p:ph idx="1"/>
          </p:nvPr>
        </p:nvSpPr>
        <p:spPr/>
        <p:txBody>
          <a:bodyPr/>
          <a:lstStyle/>
          <a:p>
            <a:pPr marL="160839" indent="-234910"/>
            <a:r>
              <a:rPr lang="en-US" dirty="0" smtClean="0">
                <a:cs typeface="Arial" charset="0"/>
              </a:rPr>
              <a:t>Interactive Marketing Manager</a:t>
            </a:r>
          </a:p>
          <a:p>
            <a:pPr lvl="1"/>
            <a:r>
              <a:rPr lang="en-US" dirty="0" smtClean="0">
                <a:cs typeface="Arial" charset="0"/>
              </a:rPr>
              <a:t>Oversee online marketing campaigns and monitor brand integrity. </a:t>
            </a:r>
          </a:p>
          <a:p>
            <a:pPr lvl="1"/>
            <a:r>
              <a:rPr lang="en-US" dirty="0" smtClean="0">
                <a:cs typeface="Arial" charset="0"/>
              </a:rPr>
              <a:t>Integrate online efforts and supports sales efforts. </a:t>
            </a:r>
          </a:p>
          <a:p>
            <a:pPr marL="160839" indent="-234910"/>
            <a:r>
              <a:rPr lang="en-US" dirty="0" smtClean="0">
                <a:cs typeface="Arial" charset="0"/>
              </a:rPr>
              <a:t>Partnership Development Manager</a:t>
            </a:r>
          </a:p>
          <a:p>
            <a:pPr lvl="1"/>
            <a:r>
              <a:rPr lang="en-US" dirty="0" smtClean="0">
                <a:cs typeface="Arial" charset="0"/>
              </a:rPr>
              <a:t>Promote the development of partner relationships to enhance the eCommerce offering. </a:t>
            </a:r>
          </a:p>
          <a:p>
            <a:pPr lvl="1"/>
            <a:r>
              <a:rPr lang="en-US" dirty="0" smtClean="0">
                <a:cs typeface="Arial" charset="0"/>
              </a:rPr>
              <a:t>Work with the trading partners to determine technical requirements and timelines and manage the ongoing relationship with the various trading partners. </a:t>
            </a:r>
            <a:endParaRPr lang="en-US" dirty="0" smtClean="0"/>
          </a:p>
          <a:p>
            <a:pPr marL="698378" lvl="1" indent="-234910">
              <a:buNone/>
            </a:pPr>
            <a:endParaRPr lang="en-US" dirty="0" smtClean="0"/>
          </a:p>
          <a:p>
            <a:pPr marL="698378" lvl="1" indent="-234910"/>
            <a:endParaRPr lang="en-US" dirty="0" smtClean="0"/>
          </a:p>
          <a:p>
            <a:pPr marL="698378" lvl="1" indent="-234910">
              <a:buNone/>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Process Change Management</a:t>
            </a:r>
            <a:endParaRPr lang="en-US" dirty="0"/>
          </a:p>
        </p:txBody>
      </p:sp>
      <p:sp>
        <p:nvSpPr>
          <p:cNvPr id="3" name="Content Placeholder 2"/>
          <p:cNvSpPr>
            <a:spLocks noGrp="1"/>
          </p:cNvSpPr>
          <p:nvPr>
            <p:ph idx="1"/>
          </p:nvPr>
        </p:nvSpPr>
        <p:spPr/>
        <p:txBody>
          <a:bodyPr/>
          <a:lstStyle/>
          <a:p>
            <a:pPr marL="160839" indent="-234910"/>
            <a:r>
              <a:rPr lang="en-US" dirty="0" smtClean="0">
                <a:cs typeface="Arial" charset="0"/>
              </a:rPr>
              <a:t>Organizational Change Specialist</a:t>
            </a:r>
          </a:p>
          <a:p>
            <a:pPr lvl="1">
              <a:lnSpc>
                <a:spcPct val="90000"/>
              </a:lnSpc>
            </a:pPr>
            <a:r>
              <a:rPr lang="en-US" dirty="0" smtClean="0">
                <a:cs typeface="Arial" charset="0"/>
              </a:rPr>
              <a:t>Identify the impact of business process change on the organization and determine organizational response to these changes. </a:t>
            </a:r>
          </a:p>
          <a:p>
            <a:pPr lvl="1">
              <a:lnSpc>
                <a:spcPct val="90000"/>
              </a:lnSpc>
            </a:pPr>
            <a:r>
              <a:rPr lang="en-US" dirty="0" smtClean="0">
                <a:cs typeface="Arial" charset="0"/>
              </a:rPr>
              <a:t>Develop and implement the organization communication plan. </a:t>
            </a:r>
          </a:p>
          <a:p>
            <a:pPr lvl="1">
              <a:lnSpc>
                <a:spcPct val="90000"/>
              </a:lnSpc>
            </a:pPr>
            <a:r>
              <a:rPr lang="en-US" dirty="0" smtClean="0">
                <a:cs typeface="Arial" charset="0"/>
              </a:rPr>
              <a:t>Work closely with the business process analyst and attend all prototyping sessions where the majority of business process fact-finding will occur. </a:t>
            </a:r>
          </a:p>
          <a:p>
            <a:pPr lvl="1">
              <a:lnSpc>
                <a:spcPct val="90000"/>
              </a:lnSpc>
            </a:pPr>
            <a:r>
              <a:rPr lang="en-US" dirty="0" smtClean="0">
                <a:cs typeface="Arial" charset="0"/>
              </a:rPr>
              <a:t>Perform quality assurance on the </a:t>
            </a:r>
            <a:r>
              <a:rPr lang="en-US" dirty="0" smtClean="0">
                <a:cs typeface="Arial" charset="0"/>
              </a:rPr>
              <a:t>customer's </a:t>
            </a:r>
            <a:r>
              <a:rPr lang="en-US" dirty="0" smtClean="0">
                <a:cs typeface="Arial" charset="0"/>
              </a:rPr>
              <a:t>business processes and make sure that all expectations are met. </a:t>
            </a:r>
            <a:endParaRPr lang="en-US" dirty="0" smtClean="0"/>
          </a:p>
          <a:p>
            <a:pPr marL="698378" lvl="1" indent="-234910">
              <a:buNone/>
            </a:pPr>
            <a:endParaRPr lang="en-US" dirty="0" smtClean="0"/>
          </a:p>
          <a:p>
            <a:pPr marL="698378" lvl="1" indent="-234910"/>
            <a:endParaRPr lang="en-US" dirty="0" smtClean="0"/>
          </a:p>
          <a:p>
            <a:pPr marL="698378" lvl="1" indent="-234910">
              <a:buNone/>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System Architecture Team</a:t>
            </a:r>
            <a:endParaRPr lang="en-US" dirty="0"/>
          </a:p>
        </p:txBody>
      </p:sp>
      <p:sp>
        <p:nvSpPr>
          <p:cNvPr id="3" name="Content Placeholder 2"/>
          <p:cNvSpPr>
            <a:spLocks noGrp="1"/>
          </p:cNvSpPr>
          <p:nvPr>
            <p:ph idx="1"/>
          </p:nvPr>
        </p:nvSpPr>
        <p:spPr/>
        <p:txBody>
          <a:bodyPr/>
          <a:lstStyle/>
          <a:p>
            <a:pPr marL="160839" indent="-234910">
              <a:spcBef>
                <a:spcPts val="600"/>
              </a:spcBef>
            </a:pPr>
            <a:r>
              <a:rPr lang="en-US" sz="2400" dirty="0" smtClean="0">
                <a:cs typeface="Arial" charset="0"/>
              </a:rPr>
              <a:t>Network Engineer</a:t>
            </a:r>
          </a:p>
          <a:p>
            <a:pPr marL="698378" lvl="1" indent="-234910">
              <a:spcBef>
                <a:spcPts val="600"/>
              </a:spcBef>
            </a:pPr>
            <a:r>
              <a:rPr lang="en-US" sz="2100" dirty="0" smtClean="0">
                <a:cs typeface="Arial" charset="0"/>
              </a:rPr>
              <a:t>Lead the design and support of the existing and future LAN and WAN network architecture. </a:t>
            </a:r>
          </a:p>
          <a:p>
            <a:pPr marL="698378" lvl="1" indent="-234910">
              <a:spcBef>
                <a:spcPts val="600"/>
              </a:spcBef>
            </a:pPr>
            <a:r>
              <a:rPr lang="en-US" sz="2100" dirty="0" smtClean="0">
                <a:cs typeface="Arial" charset="0"/>
              </a:rPr>
              <a:t>Conduct circuit needs analysis, prepare and configure the firewall, and perform day-to-day network support activities.</a:t>
            </a:r>
          </a:p>
          <a:p>
            <a:pPr marL="160839" indent="-234910">
              <a:spcBef>
                <a:spcPts val="600"/>
              </a:spcBef>
            </a:pPr>
            <a:r>
              <a:rPr lang="en-US" sz="2400" dirty="0" smtClean="0">
                <a:cs typeface="Arial" charset="0"/>
              </a:rPr>
              <a:t>System Architect</a:t>
            </a:r>
          </a:p>
          <a:p>
            <a:pPr marL="698378" lvl="1" indent="-234910">
              <a:spcBef>
                <a:spcPts val="600"/>
              </a:spcBef>
            </a:pPr>
            <a:r>
              <a:rPr lang="en-US" sz="2100" dirty="0" smtClean="0">
                <a:cs typeface="Arial" charset="0"/>
              </a:rPr>
              <a:t>Lead the high-level design of the technical solution. </a:t>
            </a:r>
          </a:p>
          <a:p>
            <a:pPr marL="698378" lvl="1" indent="-234910">
              <a:spcBef>
                <a:spcPts val="600"/>
              </a:spcBef>
            </a:pPr>
            <a:r>
              <a:rPr lang="en-US" sz="2100" dirty="0" smtClean="0">
                <a:cs typeface="Arial" charset="0"/>
              </a:rPr>
              <a:t>Propose the use of appropriate technology to meet the needs of the organization. </a:t>
            </a:r>
          </a:p>
          <a:p>
            <a:pPr marL="698378" lvl="1" indent="-234910">
              <a:spcBef>
                <a:spcPts val="600"/>
              </a:spcBef>
            </a:pPr>
            <a:r>
              <a:rPr lang="en-US" sz="2100" dirty="0" smtClean="0">
                <a:cs typeface="Arial" charset="0"/>
              </a:rPr>
              <a:t>Determine hardware configurations and the number of databases, as well as the criteria for data sharing and storage. </a:t>
            </a:r>
            <a:endParaRPr lang="en-US" sz="2100" dirty="0" smtClean="0"/>
          </a:p>
          <a:p>
            <a:pPr marL="160839" indent="-234910">
              <a:spcBef>
                <a:spcPts val="600"/>
              </a:spcBef>
            </a:pPr>
            <a:r>
              <a:rPr lang="en-US" sz="2400" dirty="0" smtClean="0">
                <a:cs typeface="Arial" charset="0"/>
              </a:rPr>
              <a:t>Web Master</a:t>
            </a:r>
          </a:p>
          <a:p>
            <a:pPr marL="698378" lvl="1" indent="-234910">
              <a:spcBef>
                <a:spcPts val="600"/>
              </a:spcBef>
            </a:pPr>
            <a:r>
              <a:rPr lang="en-US" sz="2100" dirty="0" smtClean="0">
                <a:cs typeface="Arial" charset="0"/>
              </a:rPr>
              <a:t>Manage intranet and extranet site activities. Develop and maintain web design and web architecture design, and maintain web-based content according to established standards. </a:t>
            </a:r>
          </a:p>
          <a:p>
            <a:pPr marL="160839" indent="-234910"/>
            <a:endParaRPr lang="en-US" dirty="0" smtClean="0"/>
          </a:p>
          <a:p>
            <a:pPr marL="698378" lvl="1" indent="-234910">
              <a:buNone/>
            </a:pPr>
            <a:endParaRPr lang="en-US" dirty="0" smtClean="0"/>
          </a:p>
          <a:p>
            <a:pPr marL="698378" lvl="1" indent="-234910"/>
            <a:endParaRPr lang="en-US" dirty="0" smtClean="0"/>
          </a:p>
          <a:p>
            <a:pPr marL="698378" lvl="1" indent="-234910">
              <a:buNone/>
            </a:pP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System Administration Team</a:t>
            </a:r>
            <a:endParaRPr lang="en-US" dirty="0"/>
          </a:p>
        </p:txBody>
      </p:sp>
      <p:sp>
        <p:nvSpPr>
          <p:cNvPr id="3" name="Content Placeholder 2"/>
          <p:cNvSpPr>
            <a:spLocks noGrp="1"/>
          </p:cNvSpPr>
          <p:nvPr>
            <p:ph idx="1"/>
          </p:nvPr>
        </p:nvSpPr>
        <p:spPr/>
        <p:txBody>
          <a:bodyPr/>
          <a:lstStyle/>
          <a:p>
            <a:pPr marL="160839" indent="-234910"/>
            <a:r>
              <a:rPr lang="en-US" sz="2400" dirty="0" smtClean="0">
                <a:cs typeface="Arial" charset="0"/>
              </a:rPr>
              <a:t>Configuration Manager</a:t>
            </a:r>
          </a:p>
          <a:p>
            <a:pPr marL="698378" lvl="1" indent="-234910"/>
            <a:r>
              <a:rPr lang="en-US" sz="2100" dirty="0" smtClean="0">
                <a:cs typeface="Arial" charset="0"/>
              </a:rPr>
              <a:t>Oversee the Scope Change Management (SCM) process for all environments. </a:t>
            </a:r>
          </a:p>
          <a:p>
            <a:pPr marL="698378" lvl="1" indent="-234910"/>
            <a:r>
              <a:rPr lang="en-US" sz="2100" dirty="0" smtClean="0">
                <a:cs typeface="Arial" charset="0"/>
              </a:rPr>
              <a:t>Coordinate and manage the application of all object changes, track updates and fixes throughout the various installation database environments, and act as the approver for implementing changes into the various environments. Use upgrade tools to manage the software upgrade process. </a:t>
            </a:r>
          </a:p>
          <a:p>
            <a:pPr marL="160839" indent="-234910"/>
            <a:r>
              <a:rPr lang="en-US" sz="2400" dirty="0" smtClean="0">
                <a:cs typeface="Arial" charset="0"/>
              </a:rPr>
              <a:t>System Administrator</a:t>
            </a:r>
          </a:p>
          <a:p>
            <a:pPr marL="698378" lvl="1" indent="-234910"/>
            <a:r>
              <a:rPr lang="en-US" sz="2100" dirty="0" smtClean="0">
                <a:cs typeface="Arial" charset="0"/>
              </a:rPr>
              <a:t>Assess the computer-related needs of user community.</a:t>
            </a:r>
          </a:p>
          <a:p>
            <a:pPr marL="698378" lvl="1" indent="-234910"/>
            <a:r>
              <a:rPr lang="en-US" sz="2100" dirty="0" smtClean="0">
                <a:cs typeface="Arial" charset="0"/>
              </a:rPr>
              <a:t>Assign user IDs, set up security access and network access, and set up workstations. </a:t>
            </a:r>
          </a:p>
          <a:p>
            <a:pPr marL="698378" lvl="1" indent="-234910"/>
            <a:r>
              <a:rPr lang="en-US" sz="2100" dirty="0" smtClean="0">
                <a:cs typeface="Arial" charset="0"/>
              </a:rPr>
              <a:t>Establish system schedules, such as online access "up times," coordinate reporting needs and special batch execution, and make sure operational activities, such as backups, are performed.</a:t>
            </a:r>
            <a:endParaRPr lang="en-US" dirty="0" smtClean="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Test Team</a:t>
            </a:r>
            <a:endParaRPr lang="en-US" dirty="0"/>
          </a:p>
        </p:txBody>
      </p:sp>
      <p:sp>
        <p:nvSpPr>
          <p:cNvPr id="3" name="Content Placeholder 2"/>
          <p:cNvSpPr>
            <a:spLocks noGrp="1"/>
          </p:cNvSpPr>
          <p:nvPr>
            <p:ph idx="1"/>
          </p:nvPr>
        </p:nvSpPr>
        <p:spPr/>
        <p:txBody>
          <a:bodyPr/>
          <a:lstStyle/>
          <a:p>
            <a:pPr marL="160839" indent="-234910"/>
            <a:r>
              <a:rPr lang="en-US" sz="2400" dirty="0" smtClean="0">
                <a:cs typeface="Arial" charset="0"/>
              </a:rPr>
              <a:t>Test Lead</a:t>
            </a:r>
          </a:p>
          <a:p>
            <a:pPr lvl="1"/>
            <a:r>
              <a:rPr lang="en-US" sz="2100" dirty="0" smtClean="0">
                <a:cs typeface="Arial" charset="0"/>
              </a:rPr>
              <a:t>Assure that the project testing approach is complete for all areas of the project, functional, technical, and process change. </a:t>
            </a:r>
          </a:p>
          <a:p>
            <a:pPr lvl="1"/>
            <a:r>
              <a:rPr lang="en-US" sz="2100" dirty="0" smtClean="0">
                <a:cs typeface="Arial" charset="0"/>
              </a:rPr>
              <a:t>Coordinate with the project manager to complete detailed test plans for all phases of testing. </a:t>
            </a:r>
          </a:p>
          <a:p>
            <a:pPr lvl="1"/>
            <a:r>
              <a:rPr lang="en-US" sz="2100" dirty="0" smtClean="0">
                <a:cs typeface="Arial" charset="0"/>
              </a:rPr>
              <a:t>Develop the data verification and acceptance methods, procedures for handling test case failures, issue identification and resolution, and overall project communication during testing activities. </a:t>
            </a:r>
          </a:p>
          <a:p>
            <a:pPr marL="160839" indent="-234910"/>
            <a:r>
              <a:rPr lang="en-US" sz="2400" dirty="0" smtClean="0">
                <a:cs typeface="Arial" charset="0"/>
              </a:rPr>
              <a:t>Integration Test Lead</a:t>
            </a:r>
          </a:p>
          <a:p>
            <a:pPr lvl="1"/>
            <a:r>
              <a:rPr lang="en-US" sz="2100" dirty="0" smtClean="0">
                <a:cs typeface="Arial" charset="0"/>
              </a:rPr>
              <a:t>Coordinate with the Test Lead to complete the detailed test plans for integration test activities, to define the test execution schedules, and to assign roles and responsibilities. </a:t>
            </a:r>
          </a:p>
          <a:p>
            <a:pPr lvl="1"/>
            <a:r>
              <a:rPr lang="en-US" sz="2100" dirty="0" smtClean="0">
                <a:cs typeface="Arial" charset="0"/>
              </a:rPr>
              <a:t>Oversee the execution and completion of integration testing, including resolution of all integration test issues.</a:t>
            </a:r>
            <a:endParaRPr lang="en-US" sz="2100"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Test Team (continued)</a:t>
            </a:r>
            <a:endParaRPr lang="en-US" dirty="0"/>
          </a:p>
        </p:txBody>
      </p:sp>
      <p:sp>
        <p:nvSpPr>
          <p:cNvPr id="3" name="Content Placeholder 2"/>
          <p:cNvSpPr>
            <a:spLocks noGrp="1"/>
          </p:cNvSpPr>
          <p:nvPr>
            <p:ph idx="1"/>
          </p:nvPr>
        </p:nvSpPr>
        <p:spPr/>
        <p:txBody>
          <a:bodyPr/>
          <a:lstStyle/>
          <a:p>
            <a:pPr marL="160839" indent="-234910"/>
            <a:r>
              <a:rPr lang="en-US" sz="2400" dirty="0" smtClean="0">
                <a:cs typeface="Arial" charset="0"/>
              </a:rPr>
              <a:t>Benchmark Test Lead</a:t>
            </a:r>
          </a:p>
          <a:p>
            <a:pPr marL="698378" lvl="1" indent="-234910"/>
            <a:r>
              <a:rPr lang="en-US" sz="2100" dirty="0" smtClean="0">
                <a:cs typeface="Arial" charset="0"/>
              </a:rPr>
              <a:t>Coordinate with the Test Lead to complete detailed test plans for benchmark test activities, to define test execution schedules, and to assign roles and responsibilities.</a:t>
            </a:r>
            <a:r>
              <a:rPr lang="en-US" sz="2100" b="1" dirty="0" smtClean="0">
                <a:cs typeface="Arial" charset="0"/>
              </a:rPr>
              <a:t> </a:t>
            </a:r>
          </a:p>
          <a:p>
            <a:pPr marL="698378" lvl="1" indent="-234910"/>
            <a:r>
              <a:rPr lang="en-US" sz="2100" dirty="0" smtClean="0">
                <a:cs typeface="Arial" charset="0"/>
              </a:rPr>
              <a:t>Oversee the execution and completion of benchmark testing, including resolution of all benchmark test issues.</a:t>
            </a:r>
            <a:r>
              <a:rPr lang="en-US" sz="2100" dirty="0" smtClean="0"/>
              <a:t> </a:t>
            </a:r>
          </a:p>
          <a:p>
            <a:pPr marL="160839" indent="-234910">
              <a:spcBef>
                <a:spcPts val="800"/>
              </a:spcBef>
            </a:pPr>
            <a:r>
              <a:rPr lang="en-US" sz="2400" dirty="0" smtClean="0">
                <a:cs typeface="Arial" charset="0"/>
              </a:rPr>
              <a:t>System Test Lead</a:t>
            </a:r>
          </a:p>
          <a:p>
            <a:pPr marL="698378" lvl="1" indent="-234910"/>
            <a:r>
              <a:rPr lang="en-US" sz="2100" dirty="0" smtClean="0">
                <a:cs typeface="Arial" charset="0"/>
              </a:rPr>
              <a:t>Coordinate with the Test Lead to complete detailed test plans for system test activities, to define test execution schedules, and to assign roles and responsibilities. </a:t>
            </a:r>
          </a:p>
          <a:p>
            <a:pPr marL="698378" lvl="1" indent="-234910"/>
            <a:r>
              <a:rPr lang="en-US" sz="2100" dirty="0" smtClean="0">
                <a:cs typeface="Arial" charset="0"/>
              </a:rPr>
              <a:t>Oversee the execution and completion of system testing, including resolution of all system test issues.</a:t>
            </a:r>
            <a:r>
              <a:rPr lang="en-US" sz="2100" dirty="0" smtClean="0"/>
              <a:t> </a:t>
            </a:r>
          </a:p>
          <a:p>
            <a:pPr marL="160839" indent="-234910">
              <a:spcBef>
                <a:spcPts val="800"/>
              </a:spcBef>
            </a:pPr>
            <a:r>
              <a:rPr lang="en-US" sz="2400" dirty="0" smtClean="0">
                <a:cs typeface="Arial" charset="0"/>
              </a:rPr>
              <a:t>System Test Lead</a:t>
            </a:r>
          </a:p>
          <a:p>
            <a:pPr marL="698378" lvl="1" indent="-234910"/>
            <a:r>
              <a:rPr lang="en-US" sz="2100" dirty="0" smtClean="0">
                <a:cs typeface="Arial" charset="0"/>
              </a:rPr>
              <a:t>Coordinate with the Test Lead to complete detailed test plans for parallel test activities, to define test execution schedules, and to assign roles and responsibilities. </a:t>
            </a:r>
          </a:p>
          <a:p>
            <a:pPr marL="698378" lvl="1" indent="-234910"/>
            <a:endParaRPr lang="en-US" sz="2100" dirty="0" smtClean="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Test Team (continued)</a:t>
            </a:r>
            <a:endParaRPr lang="en-US" dirty="0"/>
          </a:p>
        </p:txBody>
      </p:sp>
      <p:sp>
        <p:nvSpPr>
          <p:cNvPr id="3" name="Content Placeholder 2"/>
          <p:cNvSpPr>
            <a:spLocks noGrp="1"/>
          </p:cNvSpPr>
          <p:nvPr>
            <p:ph idx="1"/>
          </p:nvPr>
        </p:nvSpPr>
        <p:spPr>
          <a:xfrm>
            <a:off x="531151" y="1828800"/>
            <a:ext cx="11126522" cy="3962400"/>
          </a:xfrm>
        </p:spPr>
        <p:txBody>
          <a:bodyPr/>
          <a:lstStyle/>
          <a:p>
            <a:pPr marL="160839" indent="-234910">
              <a:spcBef>
                <a:spcPts val="600"/>
              </a:spcBef>
            </a:pPr>
            <a:r>
              <a:rPr lang="en-US" sz="2400" dirty="0" smtClean="0">
                <a:cs typeface="Arial" charset="0"/>
              </a:rPr>
              <a:t>Performance Test Lead</a:t>
            </a:r>
          </a:p>
          <a:p>
            <a:pPr marL="698378" lvl="1" indent="-234910">
              <a:spcBef>
                <a:spcPts val="600"/>
              </a:spcBef>
            </a:pPr>
            <a:r>
              <a:rPr lang="en-US" sz="2100" dirty="0" smtClean="0">
                <a:cs typeface="Arial" charset="0"/>
              </a:rPr>
              <a:t>Coordinate with the Test Lead to complete detailed test plans for performance test activities, to define test execution schedules, and to assign roles and responsibilities.</a:t>
            </a:r>
            <a:r>
              <a:rPr lang="en-US" sz="2100" b="1" dirty="0" smtClean="0">
                <a:cs typeface="Arial" charset="0"/>
              </a:rPr>
              <a:t> </a:t>
            </a:r>
          </a:p>
          <a:p>
            <a:pPr marL="698378" lvl="1" indent="-234910">
              <a:spcBef>
                <a:spcPts val="600"/>
              </a:spcBef>
            </a:pPr>
            <a:r>
              <a:rPr lang="en-US" sz="2100" dirty="0" smtClean="0">
                <a:cs typeface="Arial" charset="0"/>
              </a:rPr>
              <a:t>Oversee the execution and completion of performance testing, including resolution of all performance test issues.</a:t>
            </a:r>
            <a:r>
              <a:rPr lang="en-US" sz="2100" dirty="0" smtClean="0"/>
              <a:t> </a:t>
            </a:r>
          </a:p>
          <a:p>
            <a:pPr marL="160839" indent="-234910">
              <a:spcBef>
                <a:spcPts val="600"/>
              </a:spcBef>
            </a:pPr>
            <a:r>
              <a:rPr lang="en-US" sz="2400" dirty="0" smtClean="0">
                <a:cs typeface="Arial" charset="0"/>
              </a:rPr>
              <a:t>Usability Analyst</a:t>
            </a:r>
          </a:p>
          <a:p>
            <a:pPr marL="698378" lvl="1" indent="-234910">
              <a:spcBef>
                <a:spcPts val="600"/>
              </a:spcBef>
            </a:pPr>
            <a:r>
              <a:rPr lang="en-US" sz="2100" dirty="0" smtClean="0">
                <a:cs typeface="Arial" charset="0"/>
              </a:rPr>
              <a:t>Develop and execute usability test scenarios that provide quantitative and qualitative feedback on the usability of a website. Make recommendations for improvements to usability issues.</a:t>
            </a:r>
          </a:p>
          <a:p>
            <a:pPr marL="160839" indent="-234910">
              <a:spcBef>
                <a:spcPts val="600"/>
              </a:spcBef>
            </a:pPr>
            <a:r>
              <a:rPr lang="en-US" sz="2400" dirty="0" smtClean="0">
                <a:cs typeface="Arial" charset="0"/>
              </a:rPr>
              <a:t>User Test Lead</a:t>
            </a:r>
          </a:p>
          <a:p>
            <a:pPr marL="698378" lvl="1" indent="-234910">
              <a:spcBef>
                <a:spcPts val="600"/>
              </a:spcBef>
            </a:pPr>
            <a:r>
              <a:rPr lang="en-US" sz="2100" dirty="0" smtClean="0">
                <a:cs typeface="Arial" charset="0"/>
              </a:rPr>
              <a:t>Coordinate with the Test Lead to complete detailed test plans for user test activities, to define test execution schedules, and to assign roles and responsibilities. </a:t>
            </a:r>
          </a:p>
          <a:p>
            <a:pPr marL="698378" lvl="1" indent="-234910">
              <a:spcBef>
                <a:spcPts val="600"/>
              </a:spcBef>
            </a:pPr>
            <a:r>
              <a:rPr lang="en-US" sz="2100" dirty="0" smtClean="0">
                <a:cs typeface="Arial" charset="0"/>
              </a:rPr>
              <a:t>Oversee the execution and completion of user acceptance testing, including resolution of all user test issues.</a:t>
            </a:r>
            <a:r>
              <a:rPr lang="en-US" sz="2100" dirty="0" smtClean="0"/>
              <a:t> </a:t>
            </a:r>
          </a:p>
          <a:p>
            <a:pPr marL="698378" lvl="1" indent="-234910"/>
            <a:endParaRPr lang="en-US" sz="2100" dirty="0" smtClean="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&lt;Project Name&gt; Roles and Responsibilities</a:t>
            </a:r>
            <a:endParaRPr lang="en-US" dirty="0"/>
          </a:p>
        </p:txBody>
      </p:sp>
      <p:sp>
        <p:nvSpPr>
          <p:cNvPr id="4" name="Text Placeholder 3"/>
          <p:cNvSpPr>
            <a:spLocks noGrp="1"/>
          </p:cNvSpPr>
          <p:nvPr>
            <p:ph type="body" sz="quarter" idx="13"/>
          </p:nvPr>
        </p:nvSpPr>
        <p:spPr/>
        <p:txBody>
          <a:bodyPr/>
          <a:lstStyle/>
          <a:p>
            <a:r>
              <a:rPr lang="en-US" dirty="0" smtClean="0"/>
              <a:t>Training Team</a:t>
            </a:r>
            <a:endParaRPr lang="en-US" dirty="0"/>
          </a:p>
        </p:txBody>
      </p:sp>
      <p:sp>
        <p:nvSpPr>
          <p:cNvPr id="3" name="Content Placeholder 2"/>
          <p:cNvSpPr>
            <a:spLocks noGrp="1"/>
          </p:cNvSpPr>
          <p:nvPr>
            <p:ph idx="1"/>
          </p:nvPr>
        </p:nvSpPr>
        <p:spPr/>
        <p:txBody>
          <a:bodyPr/>
          <a:lstStyle/>
          <a:p>
            <a:pPr marL="160839" indent="-234910"/>
            <a:r>
              <a:rPr lang="en-US" sz="2400" dirty="0" smtClean="0">
                <a:cs typeface="Arial" charset="0"/>
              </a:rPr>
              <a:t>Training Manager</a:t>
            </a:r>
          </a:p>
          <a:p>
            <a:pPr lvl="1">
              <a:lnSpc>
                <a:spcPct val="90000"/>
              </a:lnSpc>
            </a:pPr>
            <a:r>
              <a:rPr lang="en-US" sz="2100" dirty="0" smtClean="0">
                <a:cs typeface="Arial" charset="0"/>
              </a:rPr>
              <a:t>Manage the training function, especially for end-user training.</a:t>
            </a:r>
          </a:p>
          <a:p>
            <a:pPr lvl="1">
              <a:lnSpc>
                <a:spcPct val="90000"/>
              </a:lnSpc>
            </a:pPr>
            <a:r>
              <a:rPr lang="en-US" sz="2100" dirty="0" smtClean="0">
                <a:cs typeface="Arial" charset="0"/>
              </a:rPr>
              <a:t>Work with the project team to define training strategy, design and develop end user training content and delivery, and establish proficiency requirements. </a:t>
            </a:r>
            <a:endParaRPr lang="en-US" sz="2100" b="1" dirty="0" smtClean="0">
              <a:cs typeface="Arial" charset="0"/>
            </a:endParaRPr>
          </a:p>
          <a:p>
            <a:pPr marL="160839" indent="-234910">
              <a:spcBef>
                <a:spcPts val="800"/>
              </a:spcBef>
            </a:pPr>
            <a:r>
              <a:rPr lang="en-US" sz="2400" dirty="0" smtClean="0">
                <a:cs typeface="Arial" charset="0"/>
              </a:rPr>
              <a:t>Trainer</a:t>
            </a:r>
          </a:p>
          <a:p>
            <a:pPr marL="698378" lvl="1" indent="-234910"/>
            <a:r>
              <a:rPr lang="en-US" sz="2100" dirty="0" smtClean="0">
                <a:cs typeface="Arial" charset="0"/>
              </a:rPr>
              <a:t>Present the training material to the end-user training class participants.</a:t>
            </a:r>
          </a:p>
          <a:p>
            <a:pPr marL="160839" indent="-234910">
              <a:spcBef>
                <a:spcPts val="800"/>
              </a:spcBef>
            </a:pPr>
            <a:r>
              <a:rPr lang="en-US" sz="2400" dirty="0" smtClean="0">
                <a:cs typeface="Arial" charset="0"/>
              </a:rPr>
              <a:t>Training Administrator</a:t>
            </a:r>
          </a:p>
          <a:p>
            <a:pPr lvl="1">
              <a:lnSpc>
                <a:spcPct val="90000"/>
              </a:lnSpc>
            </a:pPr>
            <a:r>
              <a:rPr lang="en-US" sz="2100" dirty="0" smtClean="0">
                <a:cs typeface="Arial" charset="0"/>
              </a:rPr>
              <a:t>Administer the enrollment of team members in training courses. </a:t>
            </a:r>
          </a:p>
          <a:p>
            <a:pPr lvl="1">
              <a:lnSpc>
                <a:spcPct val="90000"/>
              </a:lnSpc>
            </a:pPr>
            <a:r>
              <a:rPr lang="en-US" sz="2100" dirty="0" smtClean="0">
                <a:cs typeface="Arial" charset="0"/>
              </a:rPr>
              <a:t>Assess training needs and develop training schedules. </a:t>
            </a:r>
          </a:p>
          <a:p>
            <a:pPr lvl="1">
              <a:lnSpc>
                <a:spcPct val="90000"/>
              </a:lnSpc>
            </a:pPr>
            <a:r>
              <a:rPr lang="en-US" sz="2100" dirty="0" smtClean="0">
                <a:cs typeface="Arial" charset="0"/>
              </a:rPr>
              <a:t>Assist Functional Leads and Business Analysts in the development and deployment of end-user training. </a:t>
            </a:r>
            <a:endParaRPr lang="en-US" sz="2100" dirty="0" smtClean="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&lt;Project Name&gt; Team Contact List</a:t>
            </a:r>
            <a:endParaRPr lang="en-US" dirty="0"/>
          </a:p>
        </p:txBody>
      </p:sp>
      <p:sp>
        <p:nvSpPr>
          <p:cNvPr id="8" name="Content Placeholder 7"/>
          <p:cNvSpPr>
            <a:spLocks noGrp="1"/>
          </p:cNvSpPr>
          <p:nvPr>
            <p:ph idx="1"/>
          </p:nvPr>
        </p:nvSpPr>
        <p:spPr/>
        <p:txBody>
          <a:bodyPr/>
          <a:lstStyle/>
          <a:p>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Next Steps</a:t>
            </a:r>
            <a:endParaRPr lang="en-US" dirty="0"/>
          </a:p>
        </p:txBody>
      </p:sp>
      <p:sp>
        <p:nvSpPr>
          <p:cNvPr id="7" name="Content Placeholder 6"/>
          <p:cNvSpPr>
            <a:spLocks noGrp="1"/>
          </p:cNvSpPr>
          <p:nvPr>
            <p:ph sz="quarter" idx="12"/>
          </p:nvPr>
        </p:nvSpPr>
        <p:spPr/>
        <p:txBody>
          <a:bodyPr/>
          <a:lstStyle/>
          <a:p>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ChangeArrowheads="1"/>
          </p:cNvSpPr>
          <p:nvPr/>
        </p:nvSpPr>
        <p:spPr bwMode="invGray">
          <a:xfrm>
            <a:off x="6018212" y="2264222"/>
            <a:ext cx="3478914" cy="4666727"/>
          </a:xfrm>
          <a:prstGeom prst="rect">
            <a:avLst/>
          </a:prstGeom>
          <a:noFill/>
          <a:ln w="9525">
            <a:noFill/>
            <a:miter lim="800000"/>
            <a:headEnd/>
            <a:tailEnd/>
          </a:ln>
        </p:spPr>
        <p:txBody>
          <a:bodyPr wrap="square" lIns="122745" tIns="61373" rIns="122745" bIns="61373">
            <a:spAutoFit/>
          </a:bodyPr>
          <a:lstStyle/>
          <a:p>
            <a:pPr algn="ctr">
              <a:lnSpc>
                <a:spcPct val="80000"/>
              </a:lnSpc>
              <a:spcBef>
                <a:spcPct val="50000"/>
              </a:spcBef>
            </a:pPr>
            <a:r>
              <a:rPr lang="en-US" sz="36900" b="1" i="1" dirty="0">
                <a:solidFill>
                  <a:srgbClr val="292929"/>
                </a:solidFill>
                <a:latin typeface="Times" pitchFamily="18" charset="0"/>
              </a:rPr>
              <a:t>A</a:t>
            </a:r>
          </a:p>
        </p:txBody>
      </p:sp>
      <p:grpSp>
        <p:nvGrpSpPr>
          <p:cNvPr id="2" name="Group 1027"/>
          <p:cNvGrpSpPr>
            <a:grpSpLocks/>
          </p:cNvGrpSpPr>
          <p:nvPr/>
        </p:nvGrpSpPr>
        <p:grpSpPr bwMode="auto">
          <a:xfrm>
            <a:off x="2590125" y="228600"/>
            <a:ext cx="5713512" cy="5930900"/>
            <a:chOff x="1224" y="336"/>
            <a:chExt cx="2700" cy="3736"/>
          </a:xfrm>
        </p:grpSpPr>
        <p:sp>
          <p:nvSpPr>
            <p:cNvPr id="10244" name="Rectangle 1028"/>
            <p:cNvSpPr>
              <a:spLocks noChangeArrowheads="1"/>
            </p:cNvSpPr>
            <p:nvPr/>
          </p:nvSpPr>
          <p:spPr bwMode="invGray">
            <a:xfrm>
              <a:off x="1224" y="336"/>
              <a:ext cx="1872"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smtClean="0">
                  <a:solidFill>
                    <a:srgbClr val="292929"/>
                  </a:solidFill>
                  <a:latin typeface="Times" pitchFamily="18" charset="0"/>
                </a:rPr>
                <a:t>Q</a:t>
              </a:r>
              <a:endParaRPr lang="en-US" sz="36900" b="1" i="1" dirty="0">
                <a:solidFill>
                  <a:srgbClr val="292929"/>
                </a:solidFill>
                <a:latin typeface="Times" pitchFamily="18" charset="0"/>
              </a:endParaRPr>
            </a:p>
          </p:txBody>
        </p:sp>
        <p:sp>
          <p:nvSpPr>
            <p:cNvPr id="10245" name="Rectangle 1029"/>
            <p:cNvSpPr>
              <a:spLocks noChangeArrowheads="1"/>
            </p:cNvSpPr>
            <p:nvPr/>
          </p:nvSpPr>
          <p:spPr bwMode="invGray">
            <a:xfrm>
              <a:off x="2088" y="1152"/>
              <a:ext cx="1836" cy="2920"/>
            </a:xfrm>
            <a:prstGeom prst="rect">
              <a:avLst/>
            </a:prstGeom>
            <a:noFill/>
            <a:ln w="9525">
              <a:noFill/>
              <a:miter lim="800000"/>
              <a:headEnd/>
              <a:tailEnd/>
            </a:ln>
          </p:spPr>
          <p:txBody>
            <a:bodyPr wrap="square" lIns="92075" tIns="46038" rIns="92075" bIns="46038">
              <a:spAutoFit/>
            </a:bodyPr>
            <a:lstStyle/>
            <a:p>
              <a:pPr algn="ctr">
                <a:lnSpc>
                  <a:spcPct val="80000"/>
                </a:lnSpc>
                <a:spcBef>
                  <a:spcPct val="50000"/>
                </a:spcBef>
              </a:pPr>
              <a:r>
                <a:rPr lang="en-US" sz="36900" b="1" i="1" dirty="0">
                  <a:solidFill>
                    <a:schemeClr val="accent1"/>
                  </a:solidFill>
                  <a:latin typeface="Times" pitchFamily="18" charset="0"/>
                </a:rPr>
                <a:t>&amp;</a:t>
              </a:r>
            </a:p>
          </p:txBody>
        </p:sp>
      </p:gr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215373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23</TotalTime>
  <Words>1970</Words>
  <Application>Microsoft Office PowerPoint</Application>
  <PresentationFormat>Custom</PresentationFormat>
  <Paragraphs>201</Paragraphs>
  <Slides>27</Slides>
  <Notes>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blank</vt:lpstr>
      <vt:lpstr>Slide 1</vt:lpstr>
      <vt:lpstr>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Roles and Responsibilities</vt:lpstr>
      <vt:lpstr>&lt;Project Name&gt; Team Contact List</vt:lpstr>
      <vt:lpstr>Next Steps</vt:lpstr>
      <vt:lpstr>Slide 26</vt:lpstr>
      <vt:lpstr>Slide 27</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STM.020 Roles and Responsibilities Presentation</dc:title>
  <dc:creator>Oracle Global Methods</dc:creator>
  <cp:keywords>OUM</cp:keywords>
  <dc:description>Copyright © 2016, Oracle and/or its affiliates.  All rights reserved.</dc:description>
  <cp:lastModifiedBy>masander</cp:lastModifiedBy>
  <cp:revision>5</cp:revision>
  <dcterms:created xsi:type="dcterms:W3CDTF">2014-06-17T20:36:48Z</dcterms:created>
  <dcterms:modified xsi:type="dcterms:W3CDTF">2016-01-12T01:47:48Z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