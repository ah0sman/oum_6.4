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handoutMasterIdLst>
    <p:handoutMasterId r:id="rId67"/>
  </p:handoutMasterIdLst>
  <p:sldIdLst>
    <p:sldId id="354" r:id="rId2"/>
    <p:sldId id="359" r:id="rId3"/>
    <p:sldId id="368" r:id="rId4"/>
    <p:sldId id="358" r:id="rId5"/>
    <p:sldId id="360" r:id="rId6"/>
    <p:sldId id="361" r:id="rId7"/>
    <p:sldId id="362" r:id="rId8"/>
    <p:sldId id="436" r:id="rId9"/>
    <p:sldId id="437" r:id="rId10"/>
    <p:sldId id="438" r:id="rId11"/>
    <p:sldId id="439" r:id="rId12"/>
    <p:sldId id="372" r:id="rId13"/>
    <p:sldId id="369" r:id="rId14"/>
    <p:sldId id="440" r:id="rId15"/>
    <p:sldId id="441" r:id="rId16"/>
    <p:sldId id="429" r:id="rId17"/>
    <p:sldId id="410" r:id="rId18"/>
    <p:sldId id="379" r:id="rId19"/>
    <p:sldId id="443" r:id="rId20"/>
    <p:sldId id="380" r:id="rId21"/>
    <p:sldId id="407" r:id="rId22"/>
    <p:sldId id="406" r:id="rId23"/>
    <p:sldId id="383" r:id="rId24"/>
    <p:sldId id="384" r:id="rId25"/>
    <p:sldId id="408" r:id="rId26"/>
    <p:sldId id="409" r:id="rId27"/>
    <p:sldId id="385" r:id="rId28"/>
    <p:sldId id="386" r:id="rId29"/>
    <p:sldId id="411" r:id="rId30"/>
    <p:sldId id="412" r:id="rId31"/>
    <p:sldId id="387" r:id="rId32"/>
    <p:sldId id="413" r:id="rId33"/>
    <p:sldId id="414" r:id="rId34"/>
    <p:sldId id="388" r:id="rId35"/>
    <p:sldId id="389" r:id="rId36"/>
    <p:sldId id="415" r:id="rId37"/>
    <p:sldId id="416" r:id="rId38"/>
    <p:sldId id="417" r:id="rId39"/>
    <p:sldId id="391" r:id="rId40"/>
    <p:sldId id="420" r:id="rId41"/>
    <p:sldId id="392" r:id="rId42"/>
    <p:sldId id="393" r:id="rId43"/>
    <p:sldId id="421" r:id="rId44"/>
    <p:sldId id="442" r:id="rId45"/>
    <p:sldId id="395" r:id="rId46"/>
    <p:sldId id="396" r:id="rId47"/>
    <p:sldId id="427" r:id="rId48"/>
    <p:sldId id="428" r:id="rId49"/>
    <p:sldId id="444" r:id="rId50"/>
    <p:sldId id="397" r:id="rId51"/>
    <p:sldId id="398" r:id="rId52"/>
    <p:sldId id="430" r:id="rId53"/>
    <p:sldId id="399" r:id="rId54"/>
    <p:sldId id="400" r:id="rId55"/>
    <p:sldId id="432" r:id="rId56"/>
    <p:sldId id="445" r:id="rId57"/>
    <p:sldId id="401" r:id="rId58"/>
    <p:sldId id="402" r:id="rId59"/>
    <p:sldId id="403" r:id="rId60"/>
    <p:sldId id="446" r:id="rId61"/>
    <p:sldId id="404" r:id="rId62"/>
    <p:sldId id="447" r:id="rId63"/>
    <p:sldId id="448" r:id="rId64"/>
    <p:sldId id="357" r:id="rId65"/>
  </p:sldIdLst>
  <p:sldSz cx="12188825" cy="6858000"/>
  <p:notesSz cx="6858000" cy="9144000"/>
  <p:custDataLst>
    <p:tags r:id="rId6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orient="horz" pos="3744">
          <p15:clr>
            <a:srgbClr val="A4A3A4"/>
          </p15:clr>
        </p15:guide>
        <p15:guide id="3" orient="horz" pos="960">
          <p15:clr>
            <a:srgbClr val="A4A3A4"/>
          </p15:clr>
        </p15:guide>
        <p15:guide id="4" orient="horz" pos="1248">
          <p15:clr>
            <a:srgbClr val="A4A3A4"/>
          </p15:clr>
        </p15:guide>
        <p15:guide id="5" pos="3839">
          <p15:clr>
            <a:srgbClr val="A4A3A4"/>
          </p15:clr>
        </p15:guide>
        <p15:guide id="6" pos="7343">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F7F7F"/>
    <a:srgbClr val="FFFFFF"/>
    <a:srgbClr val="808F92"/>
    <a:srgbClr val="D0DBDE"/>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86901" autoAdjust="0"/>
  </p:normalViewPr>
  <p:slideViewPr>
    <p:cSldViewPr snapToGrid="0">
      <p:cViewPr varScale="1">
        <p:scale>
          <a:sx n="76" d="100"/>
          <a:sy n="76" d="100"/>
        </p:scale>
        <p:origin x="-1374" y="-96"/>
      </p:cViewPr>
      <p:guideLst>
        <p:guide orient="horz" pos="2160"/>
        <p:guide orient="horz" pos="3744"/>
        <p:guide orient="horz" pos="960"/>
        <p:guide orient="horz" pos="1248"/>
        <p:guide pos="4534"/>
        <p:guide pos="7343"/>
        <p:guide pos="335"/>
        <p:guide pos="3839"/>
      </p:guideLst>
    </p:cSldViewPr>
  </p:slideViewPr>
  <p:outlineViewPr>
    <p:cViewPr>
      <p:scale>
        <a:sx n="33" d="100"/>
        <a:sy n="33" d="100"/>
      </p:scale>
      <p:origin x="0" y="19746"/>
    </p:cViewPr>
  </p:outlineViewPr>
  <p:notesTextViewPr>
    <p:cViewPr>
      <p:scale>
        <a:sx n="1" d="1"/>
        <a:sy n="1" d="1"/>
      </p:scale>
      <p:origin x="0" y="0"/>
    </p:cViewPr>
  </p:notesTextViewPr>
  <p:sorterViewPr>
    <p:cViewPr>
      <p:scale>
        <a:sx n="75" d="100"/>
        <a:sy n="75" d="100"/>
      </p:scale>
      <p:origin x="0" y="1704"/>
    </p:cViewPr>
  </p:sorterViewPr>
  <p:notesViewPr>
    <p:cSldViewPr snapToGrid="0">
      <p:cViewPr varScale="1">
        <p:scale>
          <a:sx n="103" d="100"/>
          <a:sy n="103" d="100"/>
        </p:scale>
        <p:origin x="-4320" y="-104"/>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9/19/2016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Bef>
        <a:spcPts val="600"/>
      </a:spcBef>
      <a:defRPr sz="1100" kern="1200">
        <a:solidFill>
          <a:srgbClr val="000000"/>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rgbClr val="000000"/>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rgbClr val="000000"/>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rgbClr val="000000"/>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rgbClr val="000000"/>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p14="http://schemas.microsoft.com/office/powerpoint/2010/main" xmlns=""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62</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64</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6" name="Date Placeholder 5"/>
          <p:cNvSpPr>
            <a:spLocks noGrp="1"/>
          </p:cNvSpPr>
          <p:nvPr>
            <p:ph type="dt" sz="half" idx="14"/>
          </p:nvPr>
        </p:nvSpPr>
        <p:spPr/>
        <p:txBody>
          <a:bodyPr/>
          <a:lstStyle>
            <a:lvl1pPr>
              <a:defRPr>
                <a:solidFill>
                  <a:srgbClr val="5F5F5F"/>
                </a:solidFill>
              </a:defRPr>
            </a:lvl1pPr>
          </a:lstStyle>
          <a:p>
            <a:fld id="{DB0592DB-01ED-A44A-830D-2A57CD1AF06B}" type="datetime1">
              <a:rPr lang="en-US" smtClean="0"/>
              <a:pPr/>
              <a:t>9/19/2016</a:t>
            </a:fld>
            <a:endParaRPr lang="en-US" dirty="0"/>
          </a:p>
        </p:txBody>
      </p:sp>
      <p:sp>
        <p:nvSpPr>
          <p:cNvPr id="8" name="Footer Placeholder 7"/>
          <p:cNvSpPr>
            <a:spLocks noGrp="1"/>
          </p:cNvSpPr>
          <p:nvPr>
            <p:ph type="ftr" sz="quarter" idx="15"/>
          </p:nvPr>
        </p:nvSpPr>
        <p:spPr/>
        <p:txBody>
          <a:bodyPr/>
          <a:lstStyle>
            <a:lvl1pPr>
              <a:defRPr>
                <a:solidFill>
                  <a:srgbClr val="5F5F5F"/>
                </a:solidFill>
              </a:defRPr>
            </a:lvl1pPr>
          </a:lstStyle>
          <a:p>
            <a:r>
              <a:rPr lang="en-US" smtClean="0"/>
              <a:t>Confidential – Oracle Internal/Restricted/Highly Restricted</a:t>
            </a:r>
            <a:endParaRPr lang="en-US" dirty="0"/>
          </a:p>
        </p:txBody>
      </p:sp>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lang="en-US" sz="850" dirty="0" smtClean="0">
                <a:solidFill>
                  <a:srgbClr val="5F5F5F"/>
                </a:solidFill>
              </a:rPr>
              <a:t>2016,</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pic>
        <p:nvPicPr>
          <p:cNvPr id="9" name="Picture 8"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530352" y="6263640"/>
            <a:ext cx="1625138"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7" name="Date Placeholder 6"/>
          <p:cNvSpPr>
            <a:spLocks noGrp="1"/>
          </p:cNvSpPr>
          <p:nvPr>
            <p:ph type="dt" sz="half" idx="10"/>
          </p:nvPr>
        </p:nvSpPr>
        <p:spPr/>
        <p:txBody>
          <a:bodyPr/>
          <a:lstStyle>
            <a:lvl1pPr>
              <a:defRPr>
                <a:solidFill>
                  <a:srgbClr val="5F5F5F"/>
                </a:solidFill>
              </a:defRPr>
            </a:lvl1pPr>
          </a:lstStyle>
          <a:p>
            <a:fld id="{4D813C46-5AAA-0045-A784-1D6C400A7C04}" type="datetime1">
              <a:rPr lang="en-US" smtClean="0"/>
              <a:pPr/>
              <a:t>9/19/2016</a:t>
            </a:fld>
            <a:endParaRPr lang="en-US" dirty="0"/>
          </a:p>
        </p:txBody>
      </p:sp>
      <p:sp>
        <p:nvSpPr>
          <p:cNvPr id="8" name="Footer Placeholder 7"/>
          <p:cNvSpPr>
            <a:spLocks noGrp="1"/>
          </p:cNvSpPr>
          <p:nvPr>
            <p:ph type="ftr" sz="quarter" idx="11"/>
          </p:nvPr>
        </p:nvSpPr>
        <p:spPr/>
        <p:txBody>
          <a:bodyPr/>
          <a:lstStyle>
            <a:lvl1pPr>
              <a:defRPr>
                <a:solidFill>
                  <a:srgbClr val="5F5F5F"/>
                </a:solidFill>
              </a:defRPr>
            </a:lvl1pPr>
          </a:lstStyle>
          <a:p>
            <a:r>
              <a:rPr lang="en-US" smtClean="0"/>
              <a:t>Confidential – Oracle Internal/Restricted/Highly Restricted</a:t>
            </a:r>
            <a:endParaRPr lang="en-US" dirty="0"/>
          </a:p>
        </p:txBody>
      </p:sp>
      <p:sp>
        <p:nvSpPr>
          <p:cNvPr id="15" name="TextBox 14"/>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lang="en-US" sz="850" dirty="0" smtClean="0">
                <a:solidFill>
                  <a:srgbClr val="5F5F5F"/>
                </a:solidFill>
              </a:rPr>
              <a:t>2016,</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pic>
        <p:nvPicPr>
          <p:cNvPr id="10" name="Picture 9"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530352" y="6263640"/>
            <a:ext cx="1625138"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6012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2" y="2286000"/>
            <a:ext cx="96012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96012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7" name="Date Placeholder 6"/>
          <p:cNvSpPr>
            <a:spLocks noGrp="1"/>
          </p:cNvSpPr>
          <p:nvPr>
            <p:ph type="dt" sz="half" idx="14"/>
          </p:nvPr>
        </p:nvSpPr>
        <p:spPr/>
        <p:txBody>
          <a:bodyPr/>
          <a:lstStyle>
            <a:lvl1pPr>
              <a:defRPr>
                <a:solidFill>
                  <a:schemeClr val="tx1"/>
                </a:solidFill>
              </a:defRPr>
            </a:lvl1pPr>
          </a:lstStyle>
          <a:p>
            <a:fld id="{28EA2FC9-FB8E-5643-A6BA-BB418325CE56}" type="datetime1">
              <a:rPr lang="en-US" smtClean="0"/>
              <a:pPr/>
              <a:t>9/19/2016</a:t>
            </a:fld>
            <a:endParaRPr lang="en-US" dirty="0"/>
          </a:p>
        </p:txBody>
      </p:sp>
      <p:sp>
        <p:nvSpPr>
          <p:cNvPr id="8" name="Footer Placeholder 7"/>
          <p:cNvSpPr>
            <a:spLocks noGrp="1"/>
          </p:cNvSpPr>
          <p:nvPr>
            <p:ph type="ftr" sz="quarter" idx="15"/>
          </p:nvPr>
        </p:nvSpPr>
        <p:spPr/>
        <p:txBody>
          <a:bodyPr/>
          <a:lstStyle>
            <a:lvl1pPr>
              <a:defRPr>
                <a:solidFill>
                  <a:schemeClr val="tx1"/>
                </a:solidFill>
              </a:defRPr>
            </a:lvl1pPr>
          </a:lstStyle>
          <a:p>
            <a:r>
              <a:rPr lang="en-US" smtClean="0"/>
              <a:t>Confidential – Oracle Internal/Restricted/Highly Restricted</a:t>
            </a:r>
            <a:endParaRPr lang="en-US" dirty="0"/>
          </a:p>
        </p:txBody>
      </p:sp>
      <p:sp>
        <p:nvSpPr>
          <p:cNvPr id="14" name="TextBox 13"/>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lang="en-US" sz="850" dirty="0" smtClean="0">
                <a:solidFill>
                  <a:schemeClr val="tx1"/>
                </a:solidFill>
              </a:rPr>
              <a:t>2016,</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pic>
        <p:nvPicPr>
          <p:cNvPr id="11" name="Picture 10"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530352" y="6263640"/>
            <a:ext cx="1625138"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Picture and Log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smtClean="0"/>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FE9D4F83-0EF6-4A4D-9FC0-F03FA2077ACD}" type="datetime1">
              <a:rPr lang="en-US" smtClean="0"/>
              <a:pPr/>
              <a:t>9/19/2016</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smtClean="0"/>
              <a:t>Confidential – Oracle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a:t>Click to add text</a:t>
            </a:r>
          </a:p>
        </p:txBody>
      </p:sp>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lang="en-US" sz="850" dirty="0" smtClean="0">
                <a:solidFill>
                  <a:schemeClr val="tx1"/>
                </a:solidFill>
              </a:rPr>
              <a:t>2016,</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530352" y="6263640"/>
            <a:ext cx="1625138" cy="594360"/>
          </a:xfrm>
          <a:prstGeom prst="rect">
            <a:avLst/>
          </a:prstGeom>
        </p:spPr>
      </p:pic>
    </p:spTree>
    <p:extLst>
      <p:ext uri="{BB962C8B-B14F-4D97-AF65-F5344CB8AC3E}">
        <p14:creationId xmlns:p14="http://schemas.microsoft.com/office/powerpoint/2010/main" xmlns="" val="2558980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with Picture and 2 Logos">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smtClean="0"/>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5190EDF2-7744-3443-B3CB-57655E386FA4}" type="datetime1">
              <a:rPr lang="en-US" smtClean="0"/>
              <a:pPr/>
              <a:t>9/19/2016</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smtClean="0"/>
              <a:t>Confidential – Oracle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a:t>Click to add text</a:t>
            </a:r>
          </a:p>
        </p:txBody>
      </p:sp>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lang="en-US" sz="850" dirty="0" smtClean="0">
                <a:solidFill>
                  <a:schemeClr val="tx1"/>
                </a:solidFill>
              </a:rPr>
              <a:t>2016,</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pic>
        <p:nvPicPr>
          <p:cNvPr id="16" name="Picture 15"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530352" y="6263640"/>
            <a:ext cx="1625138" cy="594360"/>
          </a:xfrm>
          <a:prstGeom prst="rect">
            <a:avLst/>
          </a:prstGeom>
        </p:spPr>
      </p:pic>
    </p:spTree>
    <p:extLst>
      <p:ext uri="{BB962C8B-B14F-4D97-AF65-F5344CB8AC3E}">
        <p14:creationId xmlns:p14="http://schemas.microsoft.com/office/powerpoint/2010/main" xmlns="" val="388520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8926090-F7DD-7C47-A7A5-57C7ADACE0E5}" type="datetime1">
              <a:rPr lang="en-US" smtClean="0"/>
              <a:pPr/>
              <a:t>9/19/2016</a:t>
            </a:fld>
            <a:endParaRPr dirty="0"/>
          </a:p>
        </p:txBody>
      </p:sp>
      <p:sp>
        <p:nvSpPr>
          <p:cNvPr id="5" name="Footer Placeholder 4"/>
          <p:cNvSpPr>
            <a:spLocks noGrp="1"/>
          </p:cNvSpPr>
          <p:nvPr>
            <p:ph type="ftr" sz="quarter" idx="11"/>
          </p:nvPr>
        </p:nvSpPr>
        <p:spPr/>
        <p:txBody>
          <a:bodyPr/>
          <a:lstStyle/>
          <a:p>
            <a:r>
              <a:rPr lang="en-US" smtClean="0"/>
              <a:t>Confidential – Oracle Internal/Restricted/Highly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996FA26-999E-144A-B9D6-0275E6EB9A15}" type="datetime1">
              <a:rPr lang="en-US" smtClean="0"/>
              <a:pPr/>
              <a:t>9/19/2016</a:t>
            </a:fld>
            <a:endParaRPr dirty="0"/>
          </a:p>
        </p:txBody>
      </p:sp>
      <p:sp>
        <p:nvSpPr>
          <p:cNvPr id="5" name="Footer Placeholder 4"/>
          <p:cNvSpPr>
            <a:spLocks noGrp="1"/>
          </p:cNvSpPr>
          <p:nvPr>
            <p:ph type="ftr" sz="quarter" idx="11"/>
          </p:nvPr>
        </p:nvSpPr>
        <p:spPr/>
        <p:txBody>
          <a:bodyPr/>
          <a:lstStyle/>
          <a:p>
            <a:r>
              <a:rPr lang="en-US" smtClean="0"/>
              <a:t>Confidential – Oracle Internal/Restricted/Highly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4" name="Date Placeholder 3"/>
          <p:cNvSpPr>
            <a:spLocks noGrp="1"/>
          </p:cNvSpPr>
          <p:nvPr>
            <p:ph type="dt" sz="half" idx="10"/>
          </p:nvPr>
        </p:nvSpPr>
        <p:spPr/>
        <p:txBody>
          <a:bodyPr/>
          <a:lstStyle/>
          <a:p>
            <a:fld id="{C154D1DD-7A94-3A44-A2B9-66FA7B1686B1}" type="datetime1">
              <a:rPr lang="en-US" smtClean="0"/>
              <a:pPr/>
              <a:t>9/19/2016</a:t>
            </a:fld>
            <a:endParaRPr dirty="0"/>
          </a:p>
        </p:txBody>
      </p:sp>
      <p:sp>
        <p:nvSpPr>
          <p:cNvPr id="5" name="Footer Placeholder 4"/>
          <p:cNvSpPr>
            <a:spLocks noGrp="1"/>
          </p:cNvSpPr>
          <p:nvPr>
            <p:ph type="ftr" sz="quarter" idx="11"/>
          </p:nvPr>
        </p:nvSpPr>
        <p:spPr/>
        <p:txBody>
          <a:bodyPr/>
          <a:lstStyle/>
          <a:p>
            <a:r>
              <a:rPr lang="en-US" smtClean="0"/>
              <a:t>Confidential – Oracle Internal/Restricted/Highly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3F7589B-9BD6-8B45-A3F1-2069890F0F33}" type="datetime1">
              <a:rPr lang="en-US" smtClean="0"/>
              <a:pPr/>
              <a:t>9/19/2016</a:t>
            </a:fld>
            <a:endParaRPr dirty="0"/>
          </a:p>
        </p:txBody>
      </p:sp>
      <p:sp>
        <p:nvSpPr>
          <p:cNvPr id="5" name="Footer Placeholder 4"/>
          <p:cNvSpPr>
            <a:spLocks noGrp="1"/>
          </p:cNvSpPr>
          <p:nvPr>
            <p:ph type="ftr" sz="quarter" idx="11"/>
          </p:nvPr>
        </p:nvSpPr>
        <p:spPr/>
        <p:txBody>
          <a:bodyPr/>
          <a:lstStyle/>
          <a:p>
            <a:r>
              <a:rPr lang="en-US" smtClean="0"/>
              <a:t>Confidential – Oracle Internal/Restricted/Highly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rgbClr val="5F5F5F"/>
                </a:solidFill>
              </a:defRPr>
            </a:lvl1pPr>
          </a:lstStyle>
          <a:p>
            <a:fld id="{5E93B6AA-E2AA-5745-8131-720DFC68D31C}" type="datetime1">
              <a:rPr lang="en-US" smtClean="0"/>
              <a:pPr/>
              <a:t>9/19/2016</a:t>
            </a:fld>
            <a:endParaRPr lang="en-US" dirty="0"/>
          </a:p>
        </p:txBody>
      </p:sp>
      <p:sp>
        <p:nvSpPr>
          <p:cNvPr id="5" name="Footer Placeholder 4"/>
          <p:cNvSpPr>
            <a:spLocks noGrp="1"/>
          </p:cNvSpPr>
          <p:nvPr>
            <p:ph type="ftr" sz="quarter" idx="11"/>
          </p:nvPr>
        </p:nvSpPr>
        <p:spPr/>
        <p:txBody>
          <a:bodyPr/>
          <a:lstStyle>
            <a:lvl1pPr>
              <a:defRPr>
                <a:solidFill>
                  <a:srgbClr val="5F5F5F"/>
                </a:solidFill>
              </a:defRPr>
            </a:lvl1pPr>
          </a:lstStyle>
          <a:p>
            <a:r>
              <a:rPr lang="en-US" smtClean="0"/>
              <a:t>Confidential – Oracle Internal/Restricted/Highly Restricted</a:t>
            </a:r>
            <a:endParaRPr lang="en-US" dirty="0"/>
          </a:p>
        </p:txBody>
      </p:sp>
      <p:sp>
        <p:nvSpPr>
          <p:cNvPr id="6" name="Slide Number Placeholder 5"/>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lang="en-US" sz="850" dirty="0" smtClean="0">
                <a:solidFill>
                  <a:srgbClr val="5F5F5F"/>
                </a:solidFill>
              </a:rPr>
              <a:t>2016,</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pic>
        <p:nvPicPr>
          <p:cNvPr id="16" name="Picture 15"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530352" y="6263640"/>
            <a:ext cx="1625138"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3" name="Picture Placeholder 2"/>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216978-AAC9-904E-ABF1-80828AE7CA12}"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4605984-D551-B648-83CC-28ABAB9E27F3}"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p:cNvSpPr>
          <p:nvPr>
            <p:ph type="pic" sz="quarter" idx="14" hasCustomPrompt="1"/>
          </p:nvPr>
        </p:nvSpPr>
        <p:spPr>
          <a:xfrm>
            <a:off x="2286000" y="1828800"/>
            <a:ext cx="3474720" cy="3840480"/>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10" name="Text Placeholder 10"/>
          <p:cNvSpPr>
            <a:spLocks noGrp="1"/>
          </p:cNvSpPr>
          <p:nvPr>
            <p:ph type="body" sz="quarter" idx="15"/>
          </p:nvPr>
        </p:nvSpPr>
        <p:spPr>
          <a:xfrm>
            <a:off x="6035040" y="1828799"/>
            <a:ext cx="562197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88907719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765FA284-DFBA-B546-A779-7827ED570E32}"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25CFA18C-E322-D848-90AE-048444F05653}"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noChangeAspect="1"/>
          </p:cNvSpPr>
          <p:nvPr>
            <p:ph type="pic" sz="quarter" idx="14" hasCustomPrompt="1"/>
          </p:nvPr>
        </p:nvSpPr>
        <p:spPr>
          <a:xfrm>
            <a:off x="531812" y="1905000"/>
            <a:ext cx="2194560" cy="3072384"/>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DD23F527-3A46-1444-AC47-E74332FAE46E}"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E1F5459C-11CD-4246-BAA2-A0CD8B7930CF}"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DB793641-39FE-9941-B493-4C6CA22258AD}"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E6E0838-3E10-424A-93AC-472DD16011EC}"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3" name="Title 2"/>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12" name="Text Placeholder 11"/>
          <p:cNvSpPr>
            <a:spLocks noGrp="1"/>
          </p:cNvSpPr>
          <p:nvPr>
            <p:ph type="body" sz="quarter" idx="15"/>
          </p:nvPr>
        </p:nvSpPr>
        <p:spPr>
          <a:xfrm>
            <a:off x="5256213" y="1524000"/>
            <a:ext cx="54864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B2A62B-A9A1-BD4B-8067-86DD35117CEE}"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lstStyle/>
          <a:p>
            <a:fld id="{3CFFFFBC-830B-BE48-A60F-3A3B7341FF90}" type="datetime1">
              <a:rPr lang="en-US" smtClean="0"/>
              <a:pPr/>
              <a:t>9/19/2016</a:t>
            </a:fld>
            <a:endParaRPr dirty="0"/>
          </a:p>
        </p:txBody>
      </p:sp>
      <p:sp>
        <p:nvSpPr>
          <p:cNvPr id="8" name="Footer Placeholder 7"/>
          <p:cNvSpPr>
            <a:spLocks noGrp="1"/>
          </p:cNvSpPr>
          <p:nvPr>
            <p:ph type="ftr" sz="quarter" idx="11"/>
          </p:nvPr>
        </p:nvSpPr>
        <p:spPr/>
        <p:txBody>
          <a:bodyPr/>
          <a:lstStyle/>
          <a:p>
            <a:r>
              <a:rPr lang="en-US" smtClean="0"/>
              <a:t>Confidential – Oracle Internal/Restricted/Highly Restricted</a:t>
            </a:r>
            <a:endParaRPr dirty="0"/>
          </a:p>
        </p:txBody>
      </p:sp>
      <p:sp>
        <p:nvSpPr>
          <p:cNvPr id="9" name="Slide Number Placeholder 8"/>
          <p:cNvSpPr>
            <a:spLocks noGrp="1"/>
          </p:cNvSpPr>
          <p:nvPr>
            <p:ph type="sldNum" sz="quarter" idx="12"/>
          </p:nvPr>
        </p:nvSpPr>
        <p:spPr/>
        <p:txBody>
          <a:bodyPr/>
          <a:lstStyle/>
          <a:p>
            <a:fld id="{C51EAA63-D034-42AE-91FA-B13B9518C7BE}" type="slidenum">
              <a:rPr/>
              <a:pPr/>
              <a:t>‹#›</a:t>
            </a:fld>
            <a:endParaRPr dirty="0"/>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39A174-1ADF-1E48-B6DD-36515CA54732}" type="datetime1">
              <a:rPr lang="en-US" smtClean="0"/>
              <a:pPr/>
              <a:t>9/19/2016</a:t>
            </a:fld>
            <a:endParaRPr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F9DE5E5-CA66-5940-9D1C-9F6D8D7529FE}" type="datetime1">
              <a:rPr lang="en-US" smtClean="0"/>
              <a:pPr/>
              <a:t>9/19/2016</a:t>
            </a:fld>
            <a:endParaRPr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7" name="Title 6"/>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19AFBF-606B-E543-8502-3BFA1F086CBC}" type="datetime1">
              <a:rPr lang="en-US" smtClean="0"/>
              <a:pPr/>
              <a:t>9/19/2016</a:t>
            </a:fld>
            <a:endParaRPr dirty="0"/>
          </a:p>
        </p:txBody>
      </p:sp>
      <p:sp>
        <p:nvSpPr>
          <p:cNvPr id="3" name="Footer Placeholder 2"/>
          <p:cNvSpPr>
            <a:spLocks noGrp="1"/>
          </p:cNvSpPr>
          <p:nvPr>
            <p:ph type="ftr" sz="quarter" idx="11"/>
          </p:nvPr>
        </p:nvSpPr>
        <p:spPr/>
        <p:txBody>
          <a:bodyPr/>
          <a:lstStyle/>
          <a:p>
            <a:r>
              <a:rPr lang="en-US" smtClean="0"/>
              <a:t>Confidential – Oracle Internal/Restricted/Highly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31662" y="1524000"/>
            <a:ext cx="777255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971800"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0AF893-3E10-FD41-AEC9-8B3D0A4A1856}"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F325C25-20DE-A84C-A42C-F77161DB4A96}"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5EB4F4-FDFD-ED43-860C-BD557FEEC804}"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40CA68-5E1D-2648-A796-3AC679BBE128}"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iOS Smartphone and Tablet: Horizontal">
    <p:spTree>
      <p:nvGrpSpPr>
        <p:cNvPr id="1" name=""/>
        <p:cNvGrpSpPr/>
        <p:nvPr/>
      </p:nvGrpSpPr>
      <p:grpSpPr>
        <a:xfrm>
          <a:off x="0" y="0"/>
          <a:ext cx="0" cy="0"/>
          <a:chOff x="0" y="0"/>
          <a:chExt cx="0" cy="0"/>
        </a:xfrm>
      </p:grpSpPr>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pic>
        <p:nvPicPr>
          <p:cNvPr id="15" name="Picture 14"/>
          <p:cNvPicPr>
            <a:picLocks noChangeAspect="1"/>
          </p:cNvPicPr>
          <p:nvPr/>
        </p:nvPicPr>
        <p:blipFill rotWithShape="1">
          <a:blip r:embed="rId3" cstate="print">
            <a:extLst>
              <a:ext uri="{28A0092B-C50C-407E-A947-70E740481C1C}">
                <a14:useLocalDpi xmlns:a14="http://schemas.microsoft.com/office/drawing/2010/main" xmlns="" val="0"/>
              </a:ext>
            </a:extLst>
          </a:blip>
          <a:srcRect/>
          <a:stretch/>
        </p:blipFill>
        <p:spPr>
          <a:xfrm>
            <a:off x="1770494" y="1827861"/>
            <a:ext cx="1840875" cy="3887139"/>
          </a:xfrm>
          <a:prstGeom prst="rect">
            <a:avLst/>
          </a:prstGeom>
        </p:spPr>
      </p:pic>
      <p:sp>
        <p:nvSpPr>
          <p:cNvPr id="3" name="Picture Placeholder 2"/>
          <p:cNvSpPr>
            <a:spLocks noGrp="1"/>
          </p:cNvSpPr>
          <p:nvPr>
            <p:ph type="pic" idx="1"/>
          </p:nvPr>
        </p:nvSpPr>
        <p:spPr bwMode="gray">
          <a:xfrm>
            <a:off x="1889122" y="2364583"/>
            <a:ext cx="161848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DA38B655-5B37-774F-952B-2EF42A453626}"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itle 3"/>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iOS Smartphone and Tablet: Vertical">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E63E8679-970F-0E44-9FB8-4B88F38302EF}"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3" name="Picture 12"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1786728" y="2011145"/>
            <a:ext cx="1819656" cy="3522853"/>
          </a:xfrm>
          <a:prstGeom prst="rect">
            <a:avLst/>
          </a:prstGeom>
        </p:spPr>
      </p:pic>
      <p:pic>
        <p:nvPicPr>
          <p:cNvPr id="11" name="Picture 10" descr="Photos, screen captures, graphics can be inserted in a white mobile phone and tablet"/>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4241990" y="1585322"/>
            <a:ext cx="5829300" cy="4107283"/>
          </a:xfrm>
          <a:prstGeom prst="rect">
            <a:avLst/>
          </a:prstGeom>
        </p:spPr>
      </p:pic>
      <p:sp>
        <p:nvSpPr>
          <p:cNvPr id="3" name="Picture Placeholder 2"/>
          <p:cNvSpPr>
            <a:spLocks noGrp="1"/>
          </p:cNvSpPr>
          <p:nvPr>
            <p:ph type="pic" idx="1"/>
          </p:nvPr>
        </p:nvSpPr>
        <p:spPr bwMode="gray">
          <a:xfrm>
            <a:off x="1910171" y="2364583"/>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8B482C15-144D-5047-A5F1-7D99D84BBFB0}"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975104"/>
            <a:ext cx="5248656" cy="3328416"/>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itle 3"/>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62906812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r="2901"/>
          <a:stretch/>
        </p:blipFill>
        <p:spPr>
          <a:xfrm rot="5400000">
            <a:off x="5891726" y="1502667"/>
            <a:ext cx="5674025" cy="4117325"/>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F8E68280-77B5-7046-8002-0C2A6FF60231}" type="datetime1">
              <a:rPr lang="en-US" smtClean="0"/>
              <a:pPr/>
              <a:t>9/19/2016</a:t>
            </a:fld>
            <a:endParaRPr dirty="0"/>
          </a:p>
        </p:txBody>
      </p:sp>
      <p:sp>
        <p:nvSpPr>
          <p:cNvPr id="6" name="Footer Placeholder 5"/>
          <p:cNvSpPr>
            <a:spLocks noGrp="1"/>
          </p:cNvSpPr>
          <p:nvPr>
            <p:ph type="ftr" sz="quarter" idx="11"/>
          </p:nvPr>
        </p:nvSpPr>
        <p:spPr/>
        <p:txBody>
          <a:bodyPr/>
          <a:lstStyle/>
          <a:p>
            <a:r>
              <a:rPr lang="en-US" smtClean="0"/>
              <a:t>Confidential – Oracle Internal/Restricted/Highly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7061703" y="1013144"/>
            <a:ext cx="331356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9" name="Picture 18" descr="Photos, screen captures, graphics can be inserted in a white mobile phone and tablet"/>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9956" y="2096382"/>
            <a:ext cx="1819656" cy="3522853"/>
          </a:xfrm>
          <a:prstGeom prst="rect">
            <a:avLst/>
          </a:prstGeom>
        </p:spPr>
      </p:pic>
      <p:sp>
        <p:nvSpPr>
          <p:cNvPr id="20" name="Picture Placeholder 2"/>
          <p:cNvSpPr>
            <a:spLocks noGrp="1"/>
          </p:cNvSpPr>
          <p:nvPr>
            <p:ph type="pic" idx="1"/>
          </p:nvPr>
        </p:nvSpPr>
        <p:spPr bwMode="gray">
          <a:xfrm>
            <a:off x="4093399" y="2449820"/>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396459250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0"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5" name="Date Placeholder 4"/>
          <p:cNvSpPr>
            <a:spLocks noGrp="1"/>
          </p:cNvSpPr>
          <p:nvPr>
            <p:ph type="dt" sz="half" idx="10"/>
          </p:nvPr>
        </p:nvSpPr>
        <p:spPr/>
        <p:txBody>
          <a:bodyPr/>
          <a:lstStyle>
            <a:lvl1pPr>
              <a:defRPr>
                <a:solidFill>
                  <a:srgbClr val="5F5F5F"/>
                </a:solidFill>
              </a:defRPr>
            </a:lvl1pPr>
          </a:lstStyle>
          <a:p>
            <a:fld id="{D061FBC3-B3BC-0343-8C44-083187317F83}" type="datetime1">
              <a:rPr lang="en-US" smtClean="0"/>
              <a:pPr/>
              <a:t>9/19/2016</a:t>
            </a:fld>
            <a:endParaRPr lang="en-US" dirty="0"/>
          </a:p>
        </p:txBody>
      </p:sp>
      <p:sp>
        <p:nvSpPr>
          <p:cNvPr id="6" name="Footer Placeholder 5"/>
          <p:cNvSpPr>
            <a:spLocks noGrp="1"/>
          </p:cNvSpPr>
          <p:nvPr>
            <p:ph type="ftr" sz="quarter" idx="11"/>
          </p:nvPr>
        </p:nvSpPr>
        <p:spPr/>
        <p:txBody>
          <a:bodyPr/>
          <a:lstStyle>
            <a:lvl1pPr>
              <a:defRPr>
                <a:solidFill>
                  <a:srgbClr val="5F5F5F"/>
                </a:solidFill>
              </a:defRPr>
            </a:lvl1pPr>
          </a:lstStyle>
          <a:p>
            <a:r>
              <a:rPr lang="en-US" smtClean="0"/>
              <a:t>Confidential – Oracle Internal/Restricted/Highly Restricted</a:t>
            </a:r>
            <a:endParaRPr lang="en-US" dirty="0"/>
          </a:p>
        </p:txBody>
      </p:sp>
      <p:sp>
        <p:nvSpPr>
          <p:cNvPr id="7" name="Slide Number Placeholder 6"/>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sp>
        <p:nvSpPr>
          <p:cNvPr id="22" name="Text Placeholder 12"/>
          <p:cNvSpPr>
            <a:spLocks noGrp="1"/>
          </p:cNvSpPr>
          <p:nvPr>
            <p:ph type="body" sz="quarter" idx="13" hasCustomPrompt="1"/>
          </p:nvPr>
        </p:nvSpPr>
        <p:spPr>
          <a:xfrm>
            <a:off x="760412" y="2666999"/>
            <a:ext cx="50292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3" name="Title 2"/>
          <p:cNvSpPr>
            <a:spLocks noGrp="1"/>
          </p:cNvSpPr>
          <p:nvPr>
            <p:ph type="title" hasCustomPrompt="1"/>
          </p:nvPr>
        </p:nvSpPr>
        <p:spPr>
          <a:xfrm>
            <a:off x="760412" y="609600"/>
            <a:ext cx="5029200" cy="2044700"/>
          </a:xfrm>
        </p:spPr>
        <p:txBody>
          <a:bodyPr/>
          <a:lstStyle>
            <a:lvl1pPr>
              <a:defRPr sz="13800" b="1"/>
            </a:lvl1pPr>
          </a:lstStyle>
          <a:p>
            <a:r>
              <a:rPr lang="en-US" dirty="0" smtClean="0"/>
              <a:t>XX</a:t>
            </a:r>
            <a:endParaRPr lang="en-US" dirty="0"/>
          </a:p>
        </p:txBody>
      </p:sp>
      <p:sp>
        <p:nvSpPr>
          <p:cNvPr id="19" name="TextBox 18"/>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lang="en-US" sz="850" dirty="0" smtClean="0">
                <a:solidFill>
                  <a:srgbClr val="5F5F5F"/>
                </a:solidFill>
              </a:rPr>
              <a:t>2016,</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pic>
        <p:nvPicPr>
          <p:cNvPr id="16" name="Picture 15"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530352" y="6263640"/>
            <a:ext cx="1625138"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7E3EDE-07F9-F543-A57F-B068A6C6C2E7}" type="datetime1">
              <a:rPr lang="en-US" smtClean="0"/>
              <a:pPr/>
              <a:t>9/19/2016</a:t>
            </a:fld>
            <a:endParaRPr dirty="0"/>
          </a:p>
        </p:txBody>
      </p:sp>
      <p:sp>
        <p:nvSpPr>
          <p:cNvPr id="3" name="Footer Placeholder 2"/>
          <p:cNvSpPr>
            <a:spLocks noGrp="1"/>
          </p:cNvSpPr>
          <p:nvPr>
            <p:ph type="ftr" sz="quarter" idx="11"/>
          </p:nvPr>
        </p:nvSpPr>
        <p:spPr/>
        <p:txBody>
          <a:bodyPr/>
          <a:lstStyle/>
          <a:p>
            <a:r>
              <a:rPr lang="en-US" smtClean="0"/>
              <a:t>Confidential – Oracle Internal/Restricted/Highly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AF0846-A068-BC48-8252-2B37F39F59F8}" type="datetime1">
              <a:rPr lang="en-US" smtClean="0"/>
              <a:pPr/>
              <a:t>9/19/2016</a:t>
            </a:fld>
            <a:endParaRPr dirty="0"/>
          </a:p>
        </p:txBody>
      </p:sp>
      <p:sp>
        <p:nvSpPr>
          <p:cNvPr id="3" name="Footer Placeholder 2"/>
          <p:cNvSpPr>
            <a:spLocks noGrp="1"/>
          </p:cNvSpPr>
          <p:nvPr>
            <p:ph type="ftr" sz="quarter" idx="11"/>
          </p:nvPr>
        </p:nvSpPr>
        <p:spPr/>
        <p:txBody>
          <a:bodyPr/>
          <a:lstStyle/>
          <a:p>
            <a:r>
              <a:rPr lang="en-US" smtClean="0"/>
              <a:t>Confidential – Oracle Internal/Restricted/Highly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pic>
        <p:nvPicPr>
          <p:cNvPr id="51" name="Picture 50" descr="&quot;Integrated Cloud Applications &amp; Platform Services&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219916" y="1722238"/>
            <a:ext cx="7748992" cy="2950267"/>
          </a:xfrm>
          <a:prstGeom prst="rect">
            <a:avLst/>
          </a:prstGeom>
        </p:spPr>
      </p:pic>
      <p:sp>
        <p:nvSpPr>
          <p:cNvPr id="2" name="Date Placeholder 1"/>
          <p:cNvSpPr>
            <a:spLocks noGrp="1"/>
          </p:cNvSpPr>
          <p:nvPr>
            <p:ph type="dt" sz="half" idx="10"/>
          </p:nvPr>
        </p:nvSpPr>
        <p:spPr/>
        <p:txBody>
          <a:bodyPr/>
          <a:lstStyle/>
          <a:p>
            <a:fld id="{68BD323E-1AA8-9945-A9F0-CB54A017EE50}" type="datetime1">
              <a:rPr lang="en-US" smtClean="0"/>
              <a:pPr/>
              <a:t>9/19/2016</a:t>
            </a:fld>
            <a:endParaRPr dirty="0"/>
          </a:p>
        </p:txBody>
      </p:sp>
      <p:sp>
        <p:nvSpPr>
          <p:cNvPr id="3" name="Footer Placeholder 2"/>
          <p:cNvSpPr>
            <a:spLocks noGrp="1"/>
          </p:cNvSpPr>
          <p:nvPr>
            <p:ph type="ftr" sz="quarter" idx="11"/>
          </p:nvPr>
        </p:nvSpPr>
        <p:spPr/>
        <p:txBody>
          <a:bodyPr/>
          <a:lstStyle/>
          <a:p>
            <a:r>
              <a:rPr lang="en-US" smtClean="0"/>
              <a:t>Confidential – Oracle Internal/Restricted/Highly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pic>
        <p:nvPicPr>
          <p:cNvPr id="12" name="Picture 11"/>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47FD4AC-A98F-AB42-882B-C012365E1081}" type="datetime1">
              <a:rPr lang="en-US" smtClean="0"/>
              <a:pPr/>
              <a:t>9/19/2016</a:t>
            </a:fld>
            <a:endParaRPr lang="en-US"/>
          </a:p>
        </p:txBody>
      </p:sp>
      <p:sp>
        <p:nvSpPr>
          <p:cNvPr id="5" name="Footer Placeholder 4"/>
          <p:cNvSpPr>
            <a:spLocks noGrp="1"/>
          </p:cNvSpPr>
          <p:nvPr>
            <p:ph type="ftr" sz="quarter" idx="11"/>
          </p:nvPr>
        </p:nvSpPr>
        <p:spPr/>
        <p:txBody>
          <a:bodyPr/>
          <a:lstStyle/>
          <a:p>
            <a:r>
              <a:rPr lang="en-US" smtClean="0"/>
              <a:t>Confidential – Oracle Internal/Restricted/Highly Restricted</a:t>
            </a:r>
            <a:endParaRPr lang="en-US"/>
          </a:p>
        </p:txBody>
      </p:sp>
      <p:sp>
        <p:nvSpPr>
          <p:cNvPr id="6" name="Slide Number Placeholder 5"/>
          <p:cNvSpPr>
            <a:spLocks noGrp="1"/>
          </p:cNvSpPr>
          <p:nvPr>
            <p:ph type="sldNum" sz="quarter" idx="12"/>
          </p:nvPr>
        </p:nvSpPr>
        <p:spPr/>
        <p:txBody>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F6276A67-317E-FC4B-BB72-4636858DDF23}" type="datetime1">
              <a:rPr lang="en-US" smtClean="0"/>
              <a:pPr/>
              <a:t>9/19/2016</a:t>
            </a:fld>
            <a:endParaRPr dirty="0"/>
          </a:p>
        </p:txBody>
      </p:sp>
      <p:sp>
        <p:nvSpPr>
          <p:cNvPr id="5" name="Footer Placeholder 4"/>
          <p:cNvSpPr>
            <a:spLocks noGrp="1"/>
          </p:cNvSpPr>
          <p:nvPr>
            <p:ph type="ftr" sz="quarter" idx="11"/>
          </p:nvPr>
        </p:nvSpPr>
        <p:spPr/>
        <p:txBody>
          <a:bodyPr/>
          <a:lstStyle/>
          <a:p>
            <a:r>
              <a:rPr lang="en-US" smtClean="0"/>
              <a:t>Confidential – Oracle Internal/Restricted/Highly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9398" cy="6858000"/>
            <a:chOff x="0" y="0"/>
            <a:chExt cx="12189398" cy="6858000"/>
          </a:xfrm>
        </p:grpSpPr>
        <p:sp>
          <p:nvSpPr>
            <p:cNvPr id="8" name="Rectangle 7"/>
            <p:cNvSpPr/>
            <p:nvPr/>
          </p:nvSpPr>
          <p:spPr bwMode="gray">
            <a:xfrm>
              <a:off x="0" y="0"/>
              <a:ext cx="193962"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0"/>
              <a:ext cx="19396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0"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0"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182130" y="6556248"/>
            <a:ext cx="1226398"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2FEA922B-34CC-A746-ABF0-D1ED97CD7A6C}" type="datetime1">
              <a:rPr lang="en-US" smtClean="0"/>
              <a:pPr/>
              <a:t>9/19/2016</a:t>
            </a:fld>
            <a:endParaRPr lang="en-US" dirty="0"/>
          </a:p>
        </p:txBody>
      </p:sp>
      <p:sp>
        <p:nvSpPr>
          <p:cNvPr id="5" name="Footer Placeholder 4"/>
          <p:cNvSpPr>
            <a:spLocks noGrp="1"/>
          </p:cNvSpPr>
          <p:nvPr>
            <p:ph type="ftr" sz="quarter" idx="3"/>
          </p:nvPr>
        </p:nvSpPr>
        <p:spPr>
          <a:xfrm>
            <a:off x="8621423" y="6556248"/>
            <a:ext cx="2743200" cy="182880"/>
          </a:xfrm>
          <a:prstGeom prst="rect">
            <a:avLst/>
          </a:prstGeom>
        </p:spPr>
        <p:txBody>
          <a:bodyPr vert="horz" wrap="none" lIns="0" tIns="0" rIns="0" bIns="0" rtlCol="0" anchor="ctr" anchorCtr="0">
            <a:noAutofit/>
          </a:bodyPr>
          <a:lstStyle>
            <a:lvl1pPr algn="l">
              <a:defRPr sz="850">
                <a:solidFill>
                  <a:schemeClr val="tx1"/>
                </a:solidFill>
              </a:defRPr>
            </a:lvl1pPr>
          </a:lstStyle>
          <a:p>
            <a:r>
              <a:rPr lang="en-US" smtClean="0"/>
              <a:t>Confidential – Oracle Internal/Restricted/Highly Restricted</a:t>
            </a:r>
            <a:endParaRPr lang="en-US"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C51EAA63-D034-42AE-91FA-B13B9518C7BE}" type="slidenum">
              <a:rPr lang="en-US" smtClean="0"/>
              <a:pPr/>
              <a:t>‹#›</a:t>
            </a:fld>
            <a:endParaRPr lang="en-US" dirty="0"/>
          </a:p>
        </p:txBody>
      </p:sp>
      <p:sp>
        <p:nvSpPr>
          <p:cNvPr id="15" name="TextBox 14"/>
          <p:cNvSpPr txBox="1"/>
          <p:nvPr/>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lang="en-US" sz="850" dirty="0" smtClean="0">
                <a:solidFill>
                  <a:schemeClr val="tx1"/>
                </a:solidFill>
              </a:rPr>
              <a:t>2016,</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pic>
        <p:nvPicPr>
          <p:cNvPr id="16" name="Picture 15"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a:xfrm>
            <a:off x="530352" y="6263640"/>
            <a:ext cx="1625138" cy="594360"/>
          </a:xfrm>
          <a:prstGeom prst="rect">
            <a:avLst/>
          </a:prstGeom>
        </p:spPr>
      </p:pic>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64" r:id="rId4"/>
    <p:sldLayoutId id="2147483689"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3"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Project Management Plan</a:t>
            </a:r>
            <a:endParaRPr lang="en-US" dirty="0"/>
          </a:p>
        </p:txBody>
      </p:sp>
      <p:sp>
        <p:nvSpPr>
          <p:cNvPr id="3" name="Subtitle 2"/>
          <p:cNvSpPr>
            <a:spLocks noGrp="1"/>
          </p:cNvSpPr>
          <p:nvPr>
            <p:ph type="subTitle" idx="1"/>
          </p:nvPr>
        </p:nvSpPr>
        <p:spPr/>
        <p:txBody>
          <a:bodyPr/>
          <a:lstStyle/>
          <a:p>
            <a:r>
              <a:rPr lang="en-US" dirty="0" smtClean="0"/>
              <a:t>&lt;Company Name&gt;</a:t>
            </a:r>
          </a:p>
          <a:p>
            <a:r>
              <a:rPr lang="en-US" smtClean="0"/>
              <a:t>&lt;Project Name&gt;</a:t>
            </a:r>
            <a:endParaRPr lang="en-US" dirty="0"/>
          </a:p>
        </p:txBody>
      </p:sp>
      <p:sp>
        <p:nvSpPr>
          <p:cNvPr id="6" name="Text Placeholder 5"/>
          <p:cNvSpPr>
            <a:spLocks noGrp="1"/>
          </p:cNvSpPr>
          <p:nvPr>
            <p:ph type="body" sz="quarter" idx="13"/>
          </p:nvPr>
        </p:nvSpPr>
        <p:spPr/>
        <p:txBody>
          <a:bodyPr/>
          <a:lstStyle/>
          <a:p>
            <a:r>
              <a:rPr lang="en-US" dirty="0" smtClean="0"/>
              <a:t>Presenter’s Name</a:t>
            </a:r>
          </a:p>
          <a:p>
            <a:r>
              <a:rPr lang="en-US" dirty="0" smtClean="0"/>
              <a:t>Presenter’s Title</a:t>
            </a:r>
          </a:p>
          <a:p>
            <a:r>
              <a:rPr lang="en-US" dirty="0" smtClean="0"/>
              <a:t>Organization, Division or Business Unit</a:t>
            </a:r>
          </a:p>
          <a:p>
            <a:r>
              <a:rPr lang="en-US" dirty="0" smtClean="0"/>
              <a:t>Month 00, 2016</a:t>
            </a:r>
            <a:endParaRPr lang="en-US" dirty="0"/>
          </a:p>
        </p:txBody>
      </p:sp>
      <p:sp>
        <p:nvSpPr>
          <p:cNvPr id="7" name="TextBox 6"/>
          <p:cNvSpPr txBox="1"/>
          <p:nvPr/>
        </p:nvSpPr>
        <p:spPr>
          <a:xfrm>
            <a:off x="60182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9" name="Picture 8" descr="Oracle_Unified_Method_485C.gif"/>
          <p:cNvPicPr>
            <a:picLocks noChangeAspect="1"/>
          </p:cNvPicPr>
          <p:nvPr/>
        </p:nvPicPr>
        <p:blipFill>
          <a:blip r:embed="rId3"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p14="http://schemas.microsoft.com/office/powerpoint/2010/main" xmlns="" val="336776055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Instructions</a:t>
            </a:r>
            <a:endParaRPr lang="en-US" dirty="0"/>
          </a:p>
        </p:txBody>
      </p:sp>
      <p:sp>
        <p:nvSpPr>
          <p:cNvPr id="7" name="Content Placeholder 6"/>
          <p:cNvSpPr>
            <a:spLocks noGrp="1"/>
          </p:cNvSpPr>
          <p:nvPr>
            <p:ph idx="1"/>
          </p:nvPr>
        </p:nvSpPr>
        <p:spPr/>
        <p:txBody>
          <a:bodyPr/>
          <a:lstStyle/>
          <a:p>
            <a:r>
              <a:rPr lang="en-US" dirty="0" smtClean="0"/>
              <a:t>Everything in this PMP presentation should be reviewed.</a:t>
            </a:r>
          </a:p>
          <a:p>
            <a:r>
              <a:rPr lang="en-US" dirty="0" smtClean="0"/>
              <a:t>All sections should be considered optional.  That is, make it your own. Remove any sections not needed.</a:t>
            </a:r>
          </a:p>
          <a:p>
            <a:r>
              <a:rPr lang="en-US" dirty="0" smtClean="0"/>
              <a:t>Review and update or replace all examples.</a:t>
            </a:r>
          </a:p>
          <a:p>
            <a:r>
              <a:rPr lang="en-US" dirty="0" smtClean="0"/>
              <a:t>Remove or update any information in &lt;brackets&gt;.</a:t>
            </a:r>
          </a:p>
          <a:p>
            <a:r>
              <a:rPr lang="en-US" dirty="0" smtClean="0"/>
              <a:t>Remove </a:t>
            </a:r>
            <a:r>
              <a:rPr lang="en-US" dirty="0" smtClean="0">
                <a:solidFill>
                  <a:srgbClr val="FF3399"/>
                </a:solidFill>
              </a:rPr>
              <a:t>&lt; EXAMPLE ONLY  --  REQUIRES UPDATE &gt; </a:t>
            </a:r>
            <a:r>
              <a:rPr lang="en-US" dirty="0" smtClean="0"/>
              <a:t>text blocks.</a:t>
            </a:r>
          </a:p>
          <a:p>
            <a:endParaRPr lang="en-US" dirty="0" smtClean="0"/>
          </a:p>
          <a:p>
            <a:endParaRPr lang="en-US" dirty="0"/>
          </a:p>
        </p:txBody>
      </p:sp>
      <p:sp>
        <p:nvSpPr>
          <p:cNvPr id="5" name="Footer Placeholder 4"/>
          <p:cNvSpPr>
            <a:spLocks noGrp="1"/>
          </p:cNvSpPr>
          <p:nvPr>
            <p:ph type="ftr" sz="quarter" idx="11"/>
          </p:nvPr>
        </p:nvSpPr>
        <p:spPr/>
        <p:txBody>
          <a:bodyPr/>
          <a:lstStyle/>
          <a:p>
            <a:r>
              <a:rPr lang="en-US" smtClean="0"/>
              <a:t>Confidential – Oracle Internal/Restricted/Highly Restricted</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Introduction</a:t>
            </a:r>
            <a:endParaRPr lang="en-US" dirty="0"/>
          </a:p>
        </p:txBody>
      </p:sp>
      <p:sp>
        <p:nvSpPr>
          <p:cNvPr id="8" name="Content Placeholder 7"/>
          <p:cNvSpPr>
            <a:spLocks noGrp="1"/>
          </p:cNvSpPr>
          <p:nvPr>
            <p:ph idx="1"/>
          </p:nvPr>
        </p:nvSpPr>
        <p:spPr/>
        <p:txBody>
          <a:bodyPr/>
          <a:lstStyle/>
          <a:p>
            <a:r>
              <a:rPr lang="en-US" dirty="0" smtClean="0"/>
              <a:t>The purpose of this Project Management Plan is to document the governance for the &lt;Project Name&gt; project.</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12" name="Footer Placeholder 3"/>
          <p:cNvSpPr txBox="1">
            <a:spLocks/>
          </p:cNvSpPr>
          <p:nvPr/>
        </p:nvSpPr>
        <p:spPr>
          <a:xfrm>
            <a:off x="8761297" y="8499872"/>
            <a:ext cx="2743200" cy="182880"/>
          </a:xfrm>
          <a:prstGeom prst="rect">
            <a:avLst/>
          </a:prstGeom>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smtClean="0">
                <a:ln>
                  <a:noFill/>
                </a:ln>
                <a:solidFill>
                  <a:schemeClr val="tx1"/>
                </a:solidFill>
                <a:effectLst/>
                <a:uLnTx/>
                <a:uFillTx/>
                <a:latin typeface="+mn-lt"/>
                <a:ea typeface="+mn-ea"/>
                <a:cs typeface="+mn-cs"/>
              </a:rPr>
              <a:t>Confidential – Oracle Internal/Restricted/Highly Restricted</a:t>
            </a:r>
            <a:endParaRPr kumimoji="0" lang="en-US" sz="85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r>
              <a:rPr lang="en-US" dirty="0" smtClean="0"/>
              <a:t>Description</a:t>
            </a:r>
          </a:p>
          <a:p>
            <a:pPr lvl="1"/>
            <a:endParaRPr lang="en-US" dirty="0" smtClean="0"/>
          </a:p>
          <a:p>
            <a:pPr lvl="1"/>
            <a:endParaRPr lang="en-US" dirty="0" smtClean="0"/>
          </a:p>
          <a:p>
            <a:pPr lvl="1"/>
            <a:endParaRPr lang="en-US" dirty="0"/>
          </a:p>
        </p:txBody>
      </p:sp>
      <p:sp>
        <p:nvSpPr>
          <p:cNvPr id="6" name="Content Placeholder 5"/>
          <p:cNvSpPr>
            <a:spLocks noGrp="1"/>
          </p:cNvSpPr>
          <p:nvPr>
            <p:ph sz="half" idx="2"/>
          </p:nvPr>
        </p:nvSpPr>
        <p:spPr/>
        <p:txBody>
          <a:bodyPr/>
          <a:lstStyle/>
          <a:p>
            <a:r>
              <a:rPr lang="en-US" dirty="0" smtClean="0"/>
              <a:t>Objectives</a:t>
            </a:r>
          </a:p>
          <a:p>
            <a:pPr lvl="1"/>
            <a:r>
              <a:rPr lang="en-US" dirty="0" smtClean="0"/>
              <a:t>Objective 1</a:t>
            </a:r>
          </a:p>
          <a:p>
            <a:pPr lvl="1"/>
            <a:r>
              <a:rPr lang="en-US" dirty="0" smtClean="0"/>
              <a:t>Objective 2</a:t>
            </a:r>
          </a:p>
          <a:p>
            <a:pPr lvl="1"/>
            <a:endParaRPr lang="en-US" dirty="0" smtClean="0"/>
          </a:p>
          <a:p>
            <a:pPr lvl="1"/>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a:t>
            </a:fld>
            <a:endParaRPr lang="en-US" dirty="0"/>
          </a:p>
        </p:txBody>
      </p:sp>
      <p:sp>
        <p:nvSpPr>
          <p:cNvPr id="2" name="Title 1"/>
          <p:cNvSpPr>
            <a:spLocks noGrp="1"/>
          </p:cNvSpPr>
          <p:nvPr>
            <p:ph type="title"/>
          </p:nvPr>
        </p:nvSpPr>
        <p:spPr/>
        <p:txBody>
          <a:bodyPr/>
          <a:lstStyle/>
          <a:p>
            <a:r>
              <a:rPr lang="en-US" dirty="0" smtClean="0"/>
              <a:t>Project Name</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Approach</a:t>
            </a:r>
            <a:endParaRPr lang="en-US" dirty="0"/>
          </a:p>
        </p:txBody>
      </p:sp>
      <p:sp>
        <p:nvSpPr>
          <p:cNvPr id="3" name="Content Placeholder 2"/>
          <p:cNvSpPr>
            <a:spLocks noGrp="1"/>
          </p:cNvSpPr>
          <p:nvPr>
            <p:ph idx="1"/>
          </p:nvPr>
        </p:nvSpPr>
        <p:spPr/>
        <p:txBody>
          <a:bodyPr/>
          <a:lstStyle/>
          <a:p>
            <a:r>
              <a:rPr lang="en-US" dirty="0" smtClean="0"/>
              <a:t>The Oracle® Unified Method (OUM) will be used to manage and deliver this project.  The OUM Manage focus area will be used to manage the project and the Implement focus area will be used to deliver the project.</a:t>
            </a:r>
          </a:p>
          <a:p>
            <a:r>
              <a:rPr lang="en-US" dirty="0" smtClean="0"/>
              <a:t>The OUM implementation architecture provides a rapid, adaptive, and business-focused, approach to Implementation.  These features are embodied within a framework that supports the complete software development and implementation lifecycle.</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6</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Phases / Milestones</a:t>
            </a:r>
            <a:endParaRPr lang="en-US" dirty="0"/>
          </a:p>
        </p:txBody>
      </p:sp>
      <p:graphicFrame>
        <p:nvGraphicFramePr>
          <p:cNvPr id="6" name="Content Placeholder 5"/>
          <p:cNvGraphicFramePr>
            <a:graphicFrameLocks noGrp="1"/>
          </p:cNvGraphicFramePr>
          <p:nvPr>
            <p:ph idx="1"/>
          </p:nvPr>
        </p:nvGraphicFramePr>
        <p:xfrm>
          <a:off x="531813" y="1398740"/>
          <a:ext cx="11125200" cy="4673600"/>
        </p:xfrm>
        <a:graphic>
          <a:graphicData uri="http://schemas.openxmlformats.org/drawingml/2006/table">
            <a:tbl>
              <a:tblPr firstRow="1" bandRow="1">
                <a:tableStyleId>{5FD0F851-EC5A-4D38-B0AD-8093EC10F338}</a:tableStyleId>
              </a:tblPr>
              <a:tblGrid>
                <a:gridCol w="3708400"/>
                <a:gridCol w="5241990"/>
                <a:gridCol w="2174810"/>
              </a:tblGrid>
              <a:tr h="370840">
                <a:tc>
                  <a:txBody>
                    <a:bodyPr/>
                    <a:lstStyle/>
                    <a:p>
                      <a:r>
                        <a:rPr lang="en-US" dirty="0" smtClean="0"/>
                        <a:t>Phase / Milestone</a:t>
                      </a:r>
                      <a:endParaRPr lang="en-US" dirty="0"/>
                    </a:p>
                  </a:txBody>
                  <a:tcPr/>
                </a:tc>
                <a:tc>
                  <a:txBody>
                    <a:bodyPr/>
                    <a:lstStyle/>
                    <a:p>
                      <a:r>
                        <a:rPr lang="en-US" dirty="0" smtClean="0"/>
                        <a:t>Description</a:t>
                      </a:r>
                      <a:endParaRPr lang="en-US" dirty="0"/>
                    </a:p>
                  </a:txBody>
                  <a:tcPr/>
                </a:tc>
                <a:tc>
                  <a:txBody>
                    <a:bodyPr/>
                    <a:lstStyle/>
                    <a:p>
                      <a:r>
                        <a:rPr lang="en-US" dirty="0" smtClean="0"/>
                        <a:t>Baseline Target Date</a:t>
                      </a:r>
                      <a:endParaRPr lang="en-US" dirty="0"/>
                    </a:p>
                  </a:txBody>
                  <a:tcPr/>
                </a:tc>
              </a:tr>
              <a:tr h="370840">
                <a:tc>
                  <a:txBody>
                    <a:bodyPr/>
                    <a:lstStyle/>
                    <a:p>
                      <a:r>
                        <a:rPr lang="en-US" dirty="0" smtClean="0"/>
                        <a:t>Inception / Lifecycle Objective</a:t>
                      </a:r>
                      <a:endParaRPr lang="en-US" dirty="0"/>
                    </a:p>
                  </a:txBody>
                  <a:tcPr/>
                </a:tc>
                <a:tc>
                  <a:txBody>
                    <a:bodyPr/>
                    <a:lstStyle/>
                    <a:p>
                      <a:pPr lvl="0">
                        <a:buFont typeface="Arial" pitchFamily="34" charset="0"/>
                        <a:buNone/>
                      </a:pPr>
                      <a:r>
                        <a:rPr lang="en-US" sz="1800" kern="1200" dirty="0" smtClean="0">
                          <a:solidFill>
                            <a:schemeClr val="tx1"/>
                          </a:solidFill>
                          <a:latin typeface="+mn-lt"/>
                          <a:ea typeface="+mn-ea"/>
                          <a:cs typeface="+mn-cs"/>
                        </a:rPr>
                        <a:t>Confirm business objectives.</a:t>
                      </a:r>
                    </a:p>
                    <a:p>
                      <a:pPr lvl="0">
                        <a:buFont typeface="Arial" pitchFamily="34" charset="0"/>
                        <a:buNone/>
                      </a:pPr>
                      <a:r>
                        <a:rPr lang="en-US" sz="1800" kern="1200" dirty="0" smtClean="0">
                          <a:solidFill>
                            <a:schemeClr val="tx1"/>
                          </a:solidFill>
                          <a:latin typeface="+mn-lt"/>
                          <a:ea typeface="+mn-ea"/>
                          <a:cs typeface="+mn-cs"/>
                        </a:rPr>
                        <a:t>Confirm project scope.</a:t>
                      </a:r>
                    </a:p>
                    <a:p>
                      <a:pPr>
                        <a:buFont typeface="Arial" pitchFamily="34" charset="0"/>
                        <a:buNone/>
                      </a:pPr>
                      <a:r>
                        <a:rPr lang="en-US" sz="1800" kern="1200" dirty="0" smtClean="0">
                          <a:solidFill>
                            <a:schemeClr val="tx1"/>
                          </a:solidFill>
                          <a:latin typeface="+mn-lt"/>
                          <a:ea typeface="+mn-ea"/>
                          <a:cs typeface="+mn-cs"/>
                        </a:rPr>
                        <a:t>Staff and prepare project team.</a:t>
                      </a:r>
                      <a:endParaRPr lang="en-US" dirty="0"/>
                    </a:p>
                  </a:txBody>
                  <a:tcPr/>
                </a:tc>
                <a:tc>
                  <a:txBody>
                    <a:bodyPr/>
                    <a:lstStyle/>
                    <a:p>
                      <a:endParaRPr lang="en-US" dirty="0"/>
                    </a:p>
                  </a:txBody>
                  <a:tcPr/>
                </a:tc>
              </a:tr>
              <a:tr h="370840">
                <a:tc>
                  <a:txBody>
                    <a:bodyPr/>
                    <a:lstStyle/>
                    <a:p>
                      <a:r>
                        <a:rPr lang="en-US" dirty="0" smtClean="0"/>
                        <a:t>Elaboration / Lifecycle</a:t>
                      </a:r>
                      <a:r>
                        <a:rPr lang="en-US" baseline="0" dirty="0" smtClean="0"/>
                        <a:t> Architecture</a:t>
                      </a:r>
                      <a:endParaRPr lang="en-US" dirty="0"/>
                    </a:p>
                  </a:txBody>
                  <a:tcPr/>
                </a:tc>
                <a:tc>
                  <a:txBody>
                    <a:bodyPr/>
                    <a:lstStyle/>
                    <a:p>
                      <a:pPr lvl="0">
                        <a:buFont typeface="Arial" pitchFamily="34" charset="0"/>
                        <a:buNone/>
                      </a:pPr>
                      <a:r>
                        <a:rPr lang="en-US" sz="1800" kern="1200" dirty="0" smtClean="0">
                          <a:solidFill>
                            <a:schemeClr val="tx1"/>
                          </a:solidFill>
                          <a:latin typeface="+mn-lt"/>
                          <a:ea typeface="+mn-ea"/>
                          <a:cs typeface="+mn-cs"/>
                        </a:rPr>
                        <a:t>Identify and validate architecture (i.e., the architecturally-significant requirements).</a:t>
                      </a:r>
                    </a:p>
                    <a:p>
                      <a:pPr lvl="0">
                        <a:buFont typeface="Arial" pitchFamily="34" charset="0"/>
                        <a:buNone/>
                      </a:pPr>
                      <a:r>
                        <a:rPr lang="en-US" sz="1800" kern="1200" dirty="0" smtClean="0">
                          <a:solidFill>
                            <a:schemeClr val="tx1"/>
                          </a:solidFill>
                          <a:latin typeface="+mn-lt"/>
                          <a:ea typeface="+mn-ea"/>
                          <a:cs typeface="+mn-cs"/>
                        </a:rPr>
                        <a:t>Identify key configuration decisions.</a:t>
                      </a:r>
                    </a:p>
                    <a:p>
                      <a:pPr>
                        <a:buFont typeface="Arial" pitchFamily="34" charset="0"/>
                        <a:buNone/>
                      </a:pPr>
                      <a:r>
                        <a:rPr lang="en-US" sz="1800" kern="1200" dirty="0" smtClean="0">
                          <a:solidFill>
                            <a:schemeClr val="tx1"/>
                          </a:solidFill>
                          <a:latin typeface="+mn-lt"/>
                          <a:ea typeface="+mn-ea"/>
                          <a:cs typeface="+mn-cs"/>
                        </a:rPr>
                        <a:t>Prepare project environment.</a:t>
                      </a:r>
                      <a:endParaRPr lang="en-US" dirty="0"/>
                    </a:p>
                  </a:txBody>
                  <a:tcPr/>
                </a:tc>
                <a:tc>
                  <a:txBody>
                    <a:bodyPr/>
                    <a:lstStyle/>
                    <a:p>
                      <a:endParaRPr lang="en-US"/>
                    </a:p>
                  </a:txBody>
                  <a:tcPr/>
                </a:tc>
              </a:tr>
              <a:tr h="370840">
                <a:tc>
                  <a:txBody>
                    <a:bodyPr/>
                    <a:lstStyle/>
                    <a:p>
                      <a:r>
                        <a:rPr lang="en-US" dirty="0" smtClean="0"/>
                        <a:t>Construction / Initial</a:t>
                      </a:r>
                      <a:r>
                        <a:rPr lang="en-US" baseline="0" dirty="0" smtClean="0"/>
                        <a:t> Operational Capability</a:t>
                      </a:r>
                      <a:endParaRPr lang="en-US" dirty="0"/>
                    </a:p>
                  </a:txBody>
                  <a:tcPr/>
                </a:tc>
                <a:tc>
                  <a:txBody>
                    <a:bodyPr/>
                    <a:lstStyle/>
                    <a:p>
                      <a:pPr lvl="0"/>
                      <a:r>
                        <a:rPr lang="en-US" sz="1800" kern="1200" dirty="0" smtClean="0">
                          <a:solidFill>
                            <a:schemeClr val="tx1"/>
                          </a:solidFill>
                          <a:latin typeface="+mn-lt"/>
                          <a:ea typeface="+mn-ea"/>
                          <a:cs typeface="+mn-cs"/>
                        </a:rPr>
                        <a:t>Prepare system for acceptance test and deployment.</a:t>
                      </a:r>
                    </a:p>
                    <a:p>
                      <a:pPr lvl="0"/>
                      <a:r>
                        <a:rPr lang="en-US" sz="1800" kern="1200" dirty="0" smtClean="0">
                          <a:solidFill>
                            <a:schemeClr val="tx1"/>
                          </a:solidFill>
                          <a:latin typeface="+mn-lt"/>
                          <a:ea typeface="+mn-ea"/>
                          <a:cs typeface="+mn-cs"/>
                        </a:rPr>
                        <a:t>Develop supporting documentation.</a:t>
                      </a:r>
                    </a:p>
                    <a:p>
                      <a:r>
                        <a:rPr lang="en-US" sz="1800" kern="1200" dirty="0" smtClean="0">
                          <a:solidFill>
                            <a:schemeClr val="tx1"/>
                          </a:solidFill>
                          <a:latin typeface="+mn-lt"/>
                          <a:ea typeface="+mn-ea"/>
                          <a:cs typeface="+mn-cs"/>
                        </a:rPr>
                        <a:t>Prepare users for Transition.</a:t>
                      </a:r>
                      <a:endParaRPr lang="en-US" dirty="0"/>
                    </a:p>
                  </a:txBody>
                  <a:tcPr/>
                </a:tc>
                <a:tc>
                  <a:txBody>
                    <a:bodyPr/>
                    <a:lstStyle/>
                    <a:p>
                      <a:endParaRPr lang="en-US"/>
                    </a:p>
                  </a:txBody>
                  <a:tcPr/>
                </a:tc>
              </a:tr>
              <a:tr h="370840">
                <a:tc>
                  <a:txBody>
                    <a:bodyPr/>
                    <a:lstStyle/>
                    <a:p>
                      <a:r>
                        <a:rPr lang="en-US" dirty="0" smtClean="0"/>
                        <a:t>Transition / System</a:t>
                      </a:r>
                      <a:r>
                        <a:rPr lang="en-US" baseline="0" dirty="0" smtClean="0"/>
                        <a:t> in Production</a:t>
                      </a:r>
                      <a:endParaRPr lang="en-US" dirty="0"/>
                    </a:p>
                  </a:txBody>
                  <a:tcPr/>
                </a:tc>
                <a:tc>
                  <a:txBody>
                    <a:bodyPr/>
                    <a:lstStyle/>
                    <a:p>
                      <a:pPr lvl="0"/>
                      <a:r>
                        <a:rPr lang="en-US" sz="1800" kern="1200" dirty="0" smtClean="0">
                          <a:solidFill>
                            <a:schemeClr val="tx1"/>
                          </a:solidFill>
                          <a:latin typeface="+mn-lt"/>
                          <a:ea typeface="+mn-ea"/>
                          <a:cs typeface="+mn-cs"/>
                        </a:rPr>
                        <a:t>Prepare users for Production.</a:t>
                      </a:r>
                    </a:p>
                    <a:p>
                      <a:pPr lvl="0"/>
                      <a:r>
                        <a:rPr lang="en-US" sz="1800" kern="1200" dirty="0" smtClean="0">
                          <a:solidFill>
                            <a:schemeClr val="tx1"/>
                          </a:solidFill>
                          <a:latin typeface="+mn-lt"/>
                          <a:ea typeface="+mn-ea"/>
                          <a:cs typeface="+mn-cs"/>
                        </a:rPr>
                        <a:t>Implement Production support infrastructure.</a:t>
                      </a:r>
                    </a:p>
                    <a:p>
                      <a:r>
                        <a:rPr lang="en-US" sz="1800" kern="1200" dirty="0" smtClean="0">
                          <a:solidFill>
                            <a:schemeClr val="tx1"/>
                          </a:solidFill>
                          <a:latin typeface="+mn-lt"/>
                          <a:ea typeface="+mn-ea"/>
                          <a:cs typeface="+mn-cs"/>
                        </a:rPr>
                        <a:t>Deploy system into Production.</a:t>
                      </a:r>
                      <a:endParaRPr lang="en-US" dirty="0"/>
                    </a:p>
                  </a:txBody>
                  <a:tcPr/>
                </a:tc>
                <a:tc>
                  <a:txBody>
                    <a:bodyPr/>
                    <a:lstStyle/>
                    <a:p>
                      <a:endParaRPr lang="en-US" dirty="0"/>
                    </a:p>
                  </a:txBody>
                  <a:tcPr/>
                </a:tc>
              </a:tr>
              <a:tr h="370840">
                <a:tc>
                  <a:txBody>
                    <a:bodyPr/>
                    <a:lstStyle/>
                    <a:p>
                      <a:r>
                        <a:rPr lang="en-US" dirty="0" smtClean="0"/>
                        <a:t>Production / Sign Off</a:t>
                      </a:r>
                      <a:endParaRPr lang="en-US" dirty="0"/>
                    </a:p>
                  </a:txBody>
                  <a:tcPr/>
                </a:tc>
                <a:tc>
                  <a:txBody>
                    <a:bodyPr/>
                    <a:lstStyle/>
                    <a:p>
                      <a:r>
                        <a:rPr lang="en-US" sz="1800" kern="1200" dirty="0" smtClean="0">
                          <a:solidFill>
                            <a:schemeClr val="tx1"/>
                          </a:solidFill>
                          <a:latin typeface="+mn-lt"/>
                          <a:ea typeface="+mn-ea"/>
                          <a:cs typeface="+mn-cs"/>
                        </a:rPr>
                        <a:t>Address critical operational issues.</a:t>
                      </a:r>
                      <a:endParaRPr lang="en-US" dirty="0"/>
                    </a:p>
                  </a:txBody>
                  <a:tcPr/>
                </a:tc>
                <a:tc>
                  <a:txBody>
                    <a:bodyPr/>
                    <a:lstStyle/>
                    <a:p>
                      <a:endParaRPr lang="en-US" dirty="0"/>
                    </a:p>
                  </a:txBody>
                  <a:tcPr/>
                </a:tc>
              </a:tr>
            </a:tbl>
          </a:graphicData>
        </a:graphic>
      </p:graphicFrame>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7</a:t>
            </a:fld>
            <a:endParaRPr lang="en-US" dirty="0"/>
          </a:p>
        </p:txBody>
      </p:sp>
      <p:sp>
        <p:nvSpPr>
          <p:cNvPr id="7" name="TextBox 6"/>
          <p:cNvSpPr txBox="1"/>
          <p:nvPr/>
        </p:nvSpPr>
        <p:spPr>
          <a:xfrm>
            <a:off x="3514032" y="219782"/>
            <a:ext cx="8448541" cy="757247"/>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ON-PREMISE EXAMPLE ONLY  --  REQUIRES UPDATE </a:t>
            </a:r>
          </a:p>
          <a:p>
            <a:pPr algn="ctr">
              <a:lnSpc>
                <a:spcPct val="90000"/>
              </a:lnSpc>
            </a:pPr>
            <a:r>
              <a:rPr lang="en-US" sz="2800" dirty="0" smtClean="0">
                <a:solidFill>
                  <a:srgbClr val="FF3399"/>
                </a:solidFill>
              </a:rPr>
              <a:t>Choose slide 7 or 8&gt;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531813" y="1461370"/>
          <a:ext cx="11125200" cy="4302760"/>
        </p:xfrm>
        <a:graphic>
          <a:graphicData uri="http://schemas.openxmlformats.org/drawingml/2006/table">
            <a:tbl>
              <a:tblPr firstRow="1" bandRow="1">
                <a:tableStyleId>{5FD0F851-EC5A-4D38-B0AD-8093EC10F338}</a:tableStyleId>
              </a:tblPr>
              <a:tblGrid>
                <a:gridCol w="2010971"/>
                <a:gridCol w="6939419"/>
                <a:gridCol w="2174810"/>
              </a:tblGrid>
              <a:tr h="370840">
                <a:tc>
                  <a:txBody>
                    <a:bodyPr/>
                    <a:lstStyle/>
                    <a:p>
                      <a:r>
                        <a:rPr lang="en-US" dirty="0" smtClean="0"/>
                        <a:t>Phase / Milestone</a:t>
                      </a:r>
                      <a:endParaRPr lang="en-US" dirty="0"/>
                    </a:p>
                  </a:txBody>
                  <a:tcPr/>
                </a:tc>
                <a:tc>
                  <a:txBody>
                    <a:bodyPr/>
                    <a:lstStyle/>
                    <a:p>
                      <a:r>
                        <a:rPr lang="en-US" dirty="0" smtClean="0"/>
                        <a:t>Description</a:t>
                      </a:r>
                      <a:endParaRPr lang="en-US" dirty="0"/>
                    </a:p>
                  </a:txBody>
                  <a:tcPr/>
                </a:tc>
                <a:tc>
                  <a:txBody>
                    <a:bodyPr/>
                    <a:lstStyle/>
                    <a:p>
                      <a:r>
                        <a:rPr lang="en-US" dirty="0" smtClean="0"/>
                        <a:t>Baseline Target Date</a:t>
                      </a:r>
                      <a:endParaRPr lang="en-US" dirty="0"/>
                    </a:p>
                  </a:txBody>
                  <a:tcPr/>
                </a:tc>
              </a:tr>
              <a:tr h="370840">
                <a:tc>
                  <a:txBody>
                    <a:bodyPr/>
                    <a:lstStyle/>
                    <a:p>
                      <a:r>
                        <a:rPr lang="en-US" sz="1200" dirty="0" smtClean="0"/>
                        <a:t>Project</a:t>
                      </a:r>
                      <a:r>
                        <a:rPr lang="en-US" sz="1200" baseline="0" dirty="0" smtClean="0"/>
                        <a:t> Design</a:t>
                      </a:r>
                      <a:endParaRPr lang="en-US" sz="1200" dirty="0"/>
                    </a:p>
                  </a:txBody>
                  <a:tcPr/>
                </a:tc>
                <a:tc>
                  <a:txBody>
                    <a:bodyPr/>
                    <a:lstStyle/>
                    <a:p>
                      <a:pPr lvl="0"/>
                      <a:r>
                        <a:rPr lang="en-US" sz="1200" kern="1200" dirty="0" smtClean="0">
                          <a:solidFill>
                            <a:schemeClr val="tx1"/>
                          </a:solidFill>
                          <a:latin typeface="+mn-lt"/>
                          <a:ea typeface="+mn-ea"/>
                          <a:cs typeface="+mn-cs"/>
                        </a:rPr>
                        <a:t>Statement of work is reviewed and agreement with customer obtained.</a:t>
                      </a:r>
                    </a:p>
                    <a:p>
                      <a:pPr lvl="0"/>
                      <a:r>
                        <a:rPr lang="en-US" sz="1200" kern="1200" dirty="0" smtClean="0">
                          <a:solidFill>
                            <a:schemeClr val="tx1"/>
                          </a:solidFill>
                          <a:latin typeface="+mn-lt"/>
                          <a:ea typeface="+mn-ea"/>
                          <a:cs typeface="+mn-cs"/>
                        </a:rPr>
                        <a:t>Project plan (including planned releases) is completed and base lined for project planning and control.</a:t>
                      </a:r>
                    </a:p>
                    <a:p>
                      <a:pPr lvl="0"/>
                      <a:r>
                        <a:rPr lang="en-US" sz="1200" kern="1200" dirty="0" smtClean="0">
                          <a:solidFill>
                            <a:schemeClr val="tx1"/>
                          </a:solidFill>
                          <a:latin typeface="+mn-lt"/>
                          <a:ea typeface="+mn-ea"/>
                          <a:cs typeface="+mn-cs"/>
                        </a:rPr>
                        <a:t>Project budget is reviewed and finalized.</a:t>
                      </a:r>
                    </a:p>
                    <a:p>
                      <a:pPr lvl="0"/>
                      <a:r>
                        <a:rPr lang="en-US" sz="1200" kern="1200" dirty="0" smtClean="0">
                          <a:solidFill>
                            <a:schemeClr val="tx1"/>
                          </a:solidFill>
                          <a:latin typeface="+mn-lt"/>
                          <a:ea typeface="+mn-ea"/>
                          <a:cs typeface="+mn-cs"/>
                        </a:rPr>
                        <a:t>Project is appropriately staffed.</a:t>
                      </a:r>
                    </a:p>
                    <a:p>
                      <a:pPr lvl="0"/>
                      <a:r>
                        <a:rPr lang="en-US" sz="1200" kern="1200" dirty="0" smtClean="0">
                          <a:solidFill>
                            <a:schemeClr val="tx1"/>
                          </a:solidFill>
                          <a:latin typeface="+mn-lt"/>
                          <a:ea typeface="+mn-ea"/>
                          <a:cs typeface="+mn-cs"/>
                        </a:rPr>
                        <a:t>Conduct customer Kickoff Meeting.</a:t>
                      </a:r>
                    </a:p>
                    <a:p>
                      <a:pPr lvl="0"/>
                      <a:r>
                        <a:rPr lang="en-US" sz="1200" kern="1200" dirty="0" smtClean="0">
                          <a:solidFill>
                            <a:schemeClr val="tx1"/>
                          </a:solidFill>
                          <a:latin typeface="+mn-lt"/>
                          <a:ea typeface="+mn-ea"/>
                          <a:cs typeface="+mn-cs"/>
                        </a:rPr>
                        <a:t>Schedule workshops.</a:t>
                      </a:r>
                    </a:p>
                    <a:p>
                      <a:pPr lvl="0"/>
                      <a:r>
                        <a:rPr lang="en-US" sz="1200" kern="1200" dirty="0" smtClean="0">
                          <a:solidFill>
                            <a:schemeClr val="tx1"/>
                          </a:solidFill>
                          <a:latin typeface="+mn-lt"/>
                          <a:ea typeface="+mn-ea"/>
                          <a:cs typeface="+mn-cs"/>
                        </a:rPr>
                        <a:t>Define Functional Design/Configuration parameters.</a:t>
                      </a:r>
                    </a:p>
                    <a:p>
                      <a:r>
                        <a:rPr lang="en-US" sz="1200" kern="1200" dirty="0" smtClean="0">
                          <a:solidFill>
                            <a:schemeClr val="tx1"/>
                          </a:solidFill>
                          <a:latin typeface="+mn-lt"/>
                          <a:ea typeface="+mn-ea"/>
                          <a:cs typeface="+mn-cs"/>
                        </a:rPr>
                        <a:t>Prepare Technical Designs.</a:t>
                      </a:r>
                      <a:endParaRPr lang="en-US" sz="1200" dirty="0"/>
                    </a:p>
                  </a:txBody>
                  <a:tcPr/>
                </a:tc>
                <a:tc>
                  <a:txBody>
                    <a:bodyPr/>
                    <a:lstStyle/>
                    <a:p>
                      <a:endParaRPr lang="en-US" dirty="0"/>
                    </a:p>
                  </a:txBody>
                  <a:tcPr/>
                </a:tc>
              </a:tr>
              <a:tr h="370840">
                <a:tc>
                  <a:txBody>
                    <a:bodyPr/>
                    <a:lstStyle/>
                    <a:p>
                      <a:r>
                        <a:rPr lang="en-US" sz="1200" dirty="0" smtClean="0"/>
                        <a:t>Configuration</a:t>
                      </a:r>
                      <a:endParaRPr lang="en-US" sz="1200" dirty="0"/>
                    </a:p>
                  </a:txBody>
                  <a:tcPr/>
                </a:tc>
                <a:tc>
                  <a:txBody>
                    <a:bodyPr/>
                    <a:lstStyle/>
                    <a:p>
                      <a:pPr lvl="0"/>
                      <a:r>
                        <a:rPr lang="en-US" sz="1200" kern="1200" dirty="0" smtClean="0">
                          <a:solidFill>
                            <a:schemeClr val="tx1"/>
                          </a:solidFill>
                          <a:latin typeface="+mn-lt"/>
                          <a:ea typeface="+mn-ea"/>
                          <a:cs typeface="+mn-cs"/>
                        </a:rPr>
                        <a:t>Perform initial setups in the non-production environment.</a:t>
                      </a:r>
                    </a:p>
                    <a:p>
                      <a:pPr lvl="0"/>
                      <a:r>
                        <a:rPr lang="en-US" sz="1200" kern="1200" dirty="0" smtClean="0">
                          <a:solidFill>
                            <a:schemeClr val="tx1"/>
                          </a:solidFill>
                          <a:latin typeface="+mn-lt"/>
                          <a:ea typeface="+mn-ea"/>
                          <a:cs typeface="+mn-cs"/>
                        </a:rPr>
                        <a:t>Conduct workshops to validate the configuration of standard functionality.</a:t>
                      </a:r>
                    </a:p>
                    <a:p>
                      <a:pPr lvl="0"/>
                      <a:r>
                        <a:rPr lang="en-US" sz="1200" kern="1200" dirty="0" smtClean="0">
                          <a:solidFill>
                            <a:schemeClr val="tx1"/>
                          </a:solidFill>
                          <a:latin typeface="+mn-lt"/>
                          <a:ea typeface="+mn-ea"/>
                          <a:cs typeface="+mn-cs"/>
                        </a:rPr>
                        <a:t>Load, reconcile and validate customer data.</a:t>
                      </a:r>
                    </a:p>
                    <a:p>
                      <a:pPr lvl="0"/>
                      <a:r>
                        <a:rPr lang="en-US" sz="1200" kern="1200" dirty="0" smtClean="0">
                          <a:solidFill>
                            <a:schemeClr val="tx1"/>
                          </a:solidFill>
                          <a:latin typeface="+mn-lt"/>
                          <a:ea typeface="+mn-ea"/>
                          <a:cs typeface="+mn-cs"/>
                        </a:rPr>
                        <a:t>Implement and validate integrations and extensions (only where essential to the business and does not compromise the integrity of the </a:t>
                      </a:r>
                      <a:r>
                        <a:rPr lang="en-US" sz="1200" kern="1200" dirty="0" err="1" smtClean="0">
                          <a:solidFill>
                            <a:schemeClr val="tx1"/>
                          </a:solidFill>
                          <a:latin typeface="+mn-lt"/>
                          <a:ea typeface="+mn-ea"/>
                          <a:cs typeface="+mn-cs"/>
                        </a:rPr>
                        <a:t>SaaS</a:t>
                      </a:r>
                      <a:r>
                        <a:rPr lang="en-US" sz="1200" kern="1200" dirty="0" smtClean="0">
                          <a:solidFill>
                            <a:schemeClr val="tx1"/>
                          </a:solidFill>
                          <a:latin typeface="+mn-lt"/>
                          <a:ea typeface="+mn-ea"/>
                          <a:cs typeface="+mn-cs"/>
                        </a:rPr>
                        <a:t> solution).</a:t>
                      </a:r>
                    </a:p>
                    <a:p>
                      <a:r>
                        <a:rPr lang="en-US" sz="1200" kern="1200" dirty="0" smtClean="0">
                          <a:solidFill>
                            <a:schemeClr val="tx1"/>
                          </a:solidFill>
                          <a:latin typeface="+mn-lt"/>
                          <a:ea typeface="+mn-ea"/>
                          <a:cs typeface="+mn-cs"/>
                        </a:rPr>
                        <a:t>Prepare a Cutover Strategy.</a:t>
                      </a:r>
                      <a:endParaRPr lang="en-US" sz="1200" dirty="0"/>
                    </a:p>
                  </a:txBody>
                  <a:tcPr/>
                </a:tc>
                <a:tc>
                  <a:txBody>
                    <a:bodyPr/>
                    <a:lstStyle/>
                    <a:p>
                      <a:endParaRPr lang="en-US"/>
                    </a:p>
                  </a:txBody>
                  <a:tcPr/>
                </a:tc>
              </a:tr>
              <a:tr h="370840">
                <a:tc>
                  <a:txBody>
                    <a:bodyPr/>
                    <a:lstStyle/>
                    <a:p>
                      <a:r>
                        <a:rPr lang="en-US" sz="1200" dirty="0" smtClean="0"/>
                        <a:t>Validation</a:t>
                      </a:r>
                      <a:endParaRPr lang="en-US" sz="1200" dirty="0"/>
                    </a:p>
                  </a:txBody>
                  <a:tcPr/>
                </a:tc>
                <a:tc>
                  <a:txBody>
                    <a:bodyPr/>
                    <a:lstStyle/>
                    <a:p>
                      <a:pPr lvl="0"/>
                      <a:r>
                        <a:rPr lang="en-US" sz="1200" kern="1200" dirty="0" smtClean="0">
                          <a:solidFill>
                            <a:schemeClr val="tx1"/>
                          </a:solidFill>
                          <a:latin typeface="+mn-lt"/>
                          <a:ea typeface="+mn-ea"/>
                          <a:cs typeface="+mn-cs"/>
                        </a:rPr>
                        <a:t>Apply adjusted setup changes to the non-production environment.</a:t>
                      </a:r>
                    </a:p>
                    <a:p>
                      <a:pPr lvl="0"/>
                      <a:r>
                        <a:rPr lang="en-US" sz="1200" kern="1200" dirty="0" smtClean="0">
                          <a:solidFill>
                            <a:schemeClr val="tx1"/>
                          </a:solidFill>
                          <a:latin typeface="+mn-lt"/>
                          <a:ea typeface="+mn-ea"/>
                          <a:cs typeface="+mn-cs"/>
                        </a:rPr>
                        <a:t>Load, reconcile and validate data loads.</a:t>
                      </a:r>
                    </a:p>
                    <a:p>
                      <a:pPr lvl="0"/>
                      <a:r>
                        <a:rPr lang="en-US" sz="1200" kern="1200" dirty="0" smtClean="0">
                          <a:solidFill>
                            <a:schemeClr val="tx1"/>
                          </a:solidFill>
                          <a:latin typeface="+mn-lt"/>
                          <a:ea typeface="+mn-ea"/>
                          <a:cs typeface="+mn-cs"/>
                        </a:rPr>
                        <a:t>Prepare users for validation.</a:t>
                      </a:r>
                    </a:p>
                    <a:p>
                      <a:pPr lvl="0"/>
                      <a:r>
                        <a:rPr lang="en-US" sz="1200" kern="1200" dirty="0" smtClean="0">
                          <a:solidFill>
                            <a:schemeClr val="tx1"/>
                          </a:solidFill>
                          <a:latin typeface="+mn-lt"/>
                          <a:ea typeface="+mn-ea"/>
                          <a:cs typeface="+mn-cs"/>
                        </a:rPr>
                        <a:t>Confirm solution to be migrated to Production.</a:t>
                      </a:r>
                    </a:p>
                    <a:p>
                      <a:pPr lvl="0"/>
                      <a:r>
                        <a:rPr lang="en-US" sz="1200" kern="1200" dirty="0" smtClean="0">
                          <a:solidFill>
                            <a:schemeClr val="tx1"/>
                          </a:solidFill>
                          <a:latin typeface="+mn-lt"/>
                          <a:ea typeface="+mn-ea"/>
                          <a:cs typeface="+mn-cs"/>
                        </a:rPr>
                        <a:t>Prepare for training (customer responsibility).</a:t>
                      </a:r>
                    </a:p>
                    <a:p>
                      <a:r>
                        <a:rPr lang="en-US" sz="1200" kern="1200" dirty="0" smtClean="0">
                          <a:solidFill>
                            <a:schemeClr val="tx1"/>
                          </a:solidFill>
                          <a:latin typeface="+mn-lt"/>
                          <a:ea typeface="+mn-ea"/>
                          <a:cs typeface="+mn-cs"/>
                        </a:rPr>
                        <a:t>Conduct train-the-trainer sessions.</a:t>
                      </a:r>
                      <a:endParaRPr lang="en-US" sz="1200" dirty="0"/>
                    </a:p>
                  </a:txBody>
                  <a:tcPr/>
                </a:tc>
                <a:tc>
                  <a:txBody>
                    <a:bodyPr/>
                    <a:lstStyle/>
                    <a:p>
                      <a:endParaRPr lang="en-US" dirty="0"/>
                    </a:p>
                  </a:txBody>
                  <a:tcPr/>
                </a:tc>
              </a:tr>
            </a:tbl>
          </a:graphicData>
        </a:graphic>
      </p:graphicFrame>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8</a:t>
            </a:fld>
            <a:endParaRPr lang="en-US" dirty="0"/>
          </a:p>
        </p:txBody>
      </p:sp>
      <p:sp>
        <p:nvSpPr>
          <p:cNvPr id="7" name="TextBox 6"/>
          <p:cNvSpPr txBox="1"/>
          <p:nvPr/>
        </p:nvSpPr>
        <p:spPr>
          <a:xfrm>
            <a:off x="3514032" y="219782"/>
            <a:ext cx="8448541" cy="79482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CLOUD EXAMPLE ONLY  --  REQUIRES UPDATE &gt;</a:t>
            </a:r>
          </a:p>
          <a:p>
            <a:pPr algn="ctr">
              <a:lnSpc>
                <a:spcPct val="90000"/>
              </a:lnSpc>
            </a:pPr>
            <a:r>
              <a:rPr lang="en-US" sz="2800" dirty="0" smtClean="0">
                <a:solidFill>
                  <a:srgbClr val="FF3399"/>
                </a:solidFill>
              </a:rPr>
              <a:t>Choose slide 7 or slides 8/9</a:t>
            </a:r>
          </a:p>
        </p:txBody>
      </p:sp>
      <p:sp>
        <p:nvSpPr>
          <p:cNvPr id="8" name="Title 7"/>
          <p:cNvSpPr>
            <a:spLocks noGrp="1"/>
          </p:cNvSpPr>
          <p:nvPr>
            <p:ph type="title"/>
          </p:nvPr>
        </p:nvSpPr>
        <p:spPr/>
        <p:txBody>
          <a:bodyPr/>
          <a:lstStyle/>
          <a:p>
            <a:r>
              <a:rPr lang="en-US" dirty="0" smtClean="0"/>
              <a:t>Phases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544339" y="2037567"/>
          <a:ext cx="11125200" cy="3114040"/>
        </p:xfrm>
        <a:graphic>
          <a:graphicData uri="http://schemas.openxmlformats.org/drawingml/2006/table">
            <a:tbl>
              <a:tblPr firstRow="1" bandRow="1">
                <a:tableStyleId>{5FD0F851-EC5A-4D38-B0AD-8093EC10F338}</a:tableStyleId>
              </a:tblPr>
              <a:tblGrid>
                <a:gridCol w="2010971"/>
                <a:gridCol w="6939419"/>
                <a:gridCol w="2174810"/>
              </a:tblGrid>
              <a:tr h="370840">
                <a:tc>
                  <a:txBody>
                    <a:bodyPr/>
                    <a:lstStyle/>
                    <a:p>
                      <a:r>
                        <a:rPr lang="en-US" dirty="0" smtClean="0"/>
                        <a:t>Phase / Milestone</a:t>
                      </a:r>
                      <a:endParaRPr lang="en-US" dirty="0"/>
                    </a:p>
                  </a:txBody>
                  <a:tcPr/>
                </a:tc>
                <a:tc>
                  <a:txBody>
                    <a:bodyPr/>
                    <a:lstStyle/>
                    <a:p>
                      <a:r>
                        <a:rPr lang="en-US" dirty="0" smtClean="0"/>
                        <a:t>Description</a:t>
                      </a:r>
                      <a:endParaRPr lang="en-US" dirty="0"/>
                    </a:p>
                  </a:txBody>
                  <a:tcPr/>
                </a:tc>
                <a:tc>
                  <a:txBody>
                    <a:bodyPr/>
                    <a:lstStyle/>
                    <a:p>
                      <a:r>
                        <a:rPr lang="en-US" dirty="0" smtClean="0"/>
                        <a:t>Baseline Target Date</a:t>
                      </a:r>
                      <a:endParaRPr lang="en-US" dirty="0"/>
                    </a:p>
                  </a:txBody>
                  <a:tcPr/>
                </a:tc>
              </a:tr>
              <a:tr h="370840">
                <a:tc>
                  <a:txBody>
                    <a:bodyPr/>
                    <a:lstStyle/>
                    <a:p>
                      <a:r>
                        <a:rPr lang="en-US" sz="1200" dirty="0" smtClean="0"/>
                        <a:t>Transition</a:t>
                      </a:r>
                      <a:endParaRPr lang="en-US" sz="1200" dirty="0"/>
                    </a:p>
                  </a:txBody>
                  <a:tcPr/>
                </a:tc>
                <a:tc>
                  <a:txBody>
                    <a:bodyPr/>
                    <a:lstStyle/>
                    <a:p>
                      <a:pPr lvl="0"/>
                      <a:r>
                        <a:rPr lang="en-US" sz="1200" kern="1200" dirty="0" smtClean="0">
                          <a:solidFill>
                            <a:schemeClr val="tx1"/>
                          </a:solidFill>
                          <a:latin typeface="+mn-lt"/>
                          <a:ea typeface="+mn-ea"/>
                          <a:cs typeface="+mn-cs"/>
                        </a:rPr>
                        <a:t>Configure the production environment.</a:t>
                      </a:r>
                    </a:p>
                    <a:p>
                      <a:pPr lvl="0"/>
                      <a:r>
                        <a:rPr lang="en-US" sz="1200" kern="1200" dirty="0" smtClean="0">
                          <a:solidFill>
                            <a:schemeClr val="tx1"/>
                          </a:solidFill>
                          <a:latin typeface="+mn-lt"/>
                          <a:ea typeface="+mn-ea"/>
                          <a:cs typeface="+mn-cs"/>
                        </a:rPr>
                        <a:t>Migrate integrations and extensions to the production environment.</a:t>
                      </a:r>
                    </a:p>
                    <a:p>
                      <a:pPr lvl="0"/>
                      <a:r>
                        <a:rPr lang="en-US" sz="1200" kern="1200" dirty="0" smtClean="0">
                          <a:solidFill>
                            <a:schemeClr val="tx1"/>
                          </a:solidFill>
                          <a:latin typeface="+mn-lt"/>
                          <a:ea typeface="+mn-ea"/>
                          <a:cs typeface="+mn-cs"/>
                        </a:rPr>
                        <a:t>Load, reconcile and validate data loads in the production environment.</a:t>
                      </a:r>
                    </a:p>
                    <a:p>
                      <a:pPr lvl="0"/>
                      <a:r>
                        <a:rPr lang="en-US" sz="1200" kern="1200" dirty="0" smtClean="0">
                          <a:solidFill>
                            <a:schemeClr val="tx1"/>
                          </a:solidFill>
                          <a:latin typeface="+mn-lt"/>
                          <a:ea typeface="+mn-ea"/>
                          <a:cs typeface="+mn-cs"/>
                        </a:rPr>
                        <a:t>Conduct final validation review.</a:t>
                      </a:r>
                    </a:p>
                    <a:p>
                      <a:pPr lvl="0"/>
                      <a:r>
                        <a:rPr lang="en-US" sz="1200" kern="1200" dirty="0" smtClean="0">
                          <a:solidFill>
                            <a:schemeClr val="tx1"/>
                          </a:solidFill>
                          <a:latin typeface="+mn-lt"/>
                          <a:ea typeface="+mn-ea"/>
                          <a:cs typeface="+mn-cs"/>
                        </a:rPr>
                        <a:t>Verify production and operational readiness.</a:t>
                      </a:r>
                    </a:p>
                    <a:p>
                      <a:r>
                        <a:rPr lang="en-US" sz="1200" kern="1200" dirty="0" smtClean="0">
                          <a:solidFill>
                            <a:schemeClr val="tx1"/>
                          </a:solidFill>
                          <a:latin typeface="+mn-lt"/>
                          <a:ea typeface="+mn-ea"/>
                          <a:cs typeface="+mn-cs"/>
                        </a:rPr>
                        <a:t>Begin production use of the system.</a:t>
                      </a:r>
                      <a:endParaRPr lang="en-US" sz="1200" dirty="0"/>
                    </a:p>
                  </a:txBody>
                  <a:tcPr/>
                </a:tc>
                <a:tc>
                  <a:txBody>
                    <a:bodyPr/>
                    <a:lstStyle/>
                    <a:p>
                      <a:endParaRPr lang="en-US" sz="1200" dirty="0"/>
                    </a:p>
                  </a:txBody>
                  <a:tcPr/>
                </a:tc>
              </a:tr>
              <a:tr h="370840">
                <a:tc>
                  <a:txBody>
                    <a:bodyPr/>
                    <a:lstStyle/>
                    <a:p>
                      <a:r>
                        <a:rPr lang="en-US" sz="1200" dirty="0" smtClean="0"/>
                        <a:t>Realization</a:t>
                      </a:r>
                      <a:endParaRPr lang="en-US" sz="1200" dirty="0"/>
                    </a:p>
                  </a:txBody>
                  <a:tcPr/>
                </a:tc>
                <a:tc>
                  <a:txBody>
                    <a:bodyPr/>
                    <a:lstStyle/>
                    <a:p>
                      <a:pPr lvl="0"/>
                      <a:r>
                        <a:rPr lang="en-US" sz="1200" kern="1200" dirty="0" smtClean="0">
                          <a:solidFill>
                            <a:schemeClr val="tx1"/>
                          </a:solidFill>
                          <a:latin typeface="+mn-lt"/>
                          <a:ea typeface="+mn-ea"/>
                          <a:cs typeface="+mn-cs"/>
                        </a:rPr>
                        <a:t>Manage transition to steady-state operations.</a:t>
                      </a:r>
                    </a:p>
                    <a:p>
                      <a:pPr lvl="0"/>
                      <a:r>
                        <a:rPr lang="en-US" sz="1200" kern="1200" dirty="0" smtClean="0">
                          <a:solidFill>
                            <a:schemeClr val="tx1"/>
                          </a:solidFill>
                          <a:latin typeface="+mn-lt"/>
                          <a:ea typeface="+mn-ea"/>
                          <a:cs typeface="+mn-cs"/>
                        </a:rPr>
                        <a:t>Provide post-go live support.</a:t>
                      </a:r>
                    </a:p>
                    <a:p>
                      <a:pPr lvl="0"/>
                      <a:r>
                        <a:rPr lang="en-US" sz="1200" kern="1200" dirty="0" smtClean="0">
                          <a:solidFill>
                            <a:schemeClr val="tx1"/>
                          </a:solidFill>
                          <a:latin typeface="+mn-lt"/>
                          <a:ea typeface="+mn-ea"/>
                          <a:cs typeface="+mn-cs"/>
                        </a:rPr>
                        <a:t>Conduct a handoff to the ongoing customer relationship management team.</a:t>
                      </a:r>
                    </a:p>
                    <a:p>
                      <a:pPr lvl="0"/>
                      <a:r>
                        <a:rPr lang="en-US" sz="1200" kern="1200" dirty="0" smtClean="0">
                          <a:solidFill>
                            <a:schemeClr val="tx1"/>
                          </a:solidFill>
                          <a:latin typeface="+mn-lt"/>
                          <a:ea typeface="+mn-ea"/>
                          <a:cs typeface="+mn-cs"/>
                        </a:rPr>
                        <a:t>Validate that the project work products are complete.</a:t>
                      </a:r>
                    </a:p>
                    <a:p>
                      <a:pPr lvl="0"/>
                      <a:r>
                        <a:rPr lang="en-US" sz="1200" kern="1200" dirty="0" smtClean="0">
                          <a:solidFill>
                            <a:schemeClr val="tx1"/>
                          </a:solidFill>
                          <a:latin typeface="+mn-lt"/>
                          <a:ea typeface="+mn-ea"/>
                          <a:cs typeface="+mn-cs"/>
                        </a:rPr>
                        <a:t>Gain final sign-off.</a:t>
                      </a:r>
                    </a:p>
                    <a:p>
                      <a:pPr lvl="0"/>
                      <a:r>
                        <a:rPr lang="en-US" sz="1200" kern="1200" dirty="0" smtClean="0">
                          <a:solidFill>
                            <a:schemeClr val="tx1"/>
                          </a:solidFill>
                          <a:latin typeface="+mn-lt"/>
                          <a:ea typeface="+mn-ea"/>
                          <a:cs typeface="+mn-cs"/>
                        </a:rPr>
                        <a:t>Collect documents for reuse and retention.</a:t>
                      </a:r>
                    </a:p>
                    <a:p>
                      <a:pPr lvl="0"/>
                      <a:r>
                        <a:rPr lang="en-US" sz="1200" kern="1200" dirty="0" smtClean="0">
                          <a:solidFill>
                            <a:schemeClr val="tx1"/>
                          </a:solidFill>
                          <a:latin typeface="+mn-lt"/>
                          <a:ea typeface="+mn-ea"/>
                          <a:cs typeface="+mn-cs"/>
                        </a:rPr>
                        <a:t>Document lessons learned.</a:t>
                      </a:r>
                    </a:p>
                    <a:p>
                      <a:r>
                        <a:rPr lang="en-US" sz="1200" kern="1200" dirty="0" smtClean="0">
                          <a:solidFill>
                            <a:schemeClr val="tx1"/>
                          </a:solidFill>
                          <a:latin typeface="+mn-lt"/>
                          <a:ea typeface="+mn-ea"/>
                          <a:cs typeface="+mn-cs"/>
                        </a:rPr>
                        <a:t>Close contract and processes.</a:t>
                      </a:r>
                      <a:endParaRPr lang="en-US" sz="1200" dirty="0"/>
                    </a:p>
                  </a:txBody>
                  <a:tcPr/>
                </a:tc>
                <a:tc>
                  <a:txBody>
                    <a:bodyPr/>
                    <a:lstStyle/>
                    <a:p>
                      <a:endParaRPr lang="en-US" sz="1200" dirty="0"/>
                    </a:p>
                  </a:txBody>
                  <a:tcPr/>
                </a:tc>
              </a:tr>
            </a:tbl>
          </a:graphicData>
        </a:graphic>
      </p:graphicFrame>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9</a:t>
            </a:fld>
            <a:endParaRPr lang="en-US" dirty="0"/>
          </a:p>
        </p:txBody>
      </p:sp>
      <p:sp>
        <p:nvSpPr>
          <p:cNvPr id="7" name="TextBox 6"/>
          <p:cNvSpPr txBox="1"/>
          <p:nvPr/>
        </p:nvSpPr>
        <p:spPr>
          <a:xfrm>
            <a:off x="3514032" y="219782"/>
            <a:ext cx="8448541" cy="79482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CLOUD EXAMPLE ONLY  --  REQUIRES UPDATE &gt;</a:t>
            </a:r>
          </a:p>
          <a:p>
            <a:pPr algn="ctr">
              <a:lnSpc>
                <a:spcPct val="90000"/>
              </a:lnSpc>
            </a:pPr>
            <a:r>
              <a:rPr lang="en-US" sz="2800" dirty="0" smtClean="0">
                <a:solidFill>
                  <a:srgbClr val="FF3399"/>
                </a:solidFill>
              </a:rPr>
              <a:t>Choose slide 7 or slides 8/9</a:t>
            </a:r>
          </a:p>
        </p:txBody>
      </p:sp>
      <p:sp>
        <p:nvSpPr>
          <p:cNvPr id="8" name="Title 7"/>
          <p:cNvSpPr>
            <a:spLocks noGrp="1"/>
          </p:cNvSpPr>
          <p:nvPr>
            <p:ph type="title"/>
          </p:nvPr>
        </p:nvSpPr>
        <p:spPr/>
        <p:txBody>
          <a:bodyPr/>
          <a:lstStyle/>
          <a:p>
            <a:r>
              <a:rPr lang="en-US" dirty="0" smtClean="0"/>
              <a:t>Phases (cont.)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Regulatory Compliance</a:t>
            </a:r>
            <a:endParaRPr lang="en-US" dirty="0"/>
          </a:p>
        </p:txBody>
      </p:sp>
      <p:sp>
        <p:nvSpPr>
          <p:cNvPr id="3" name="Content Placeholder 2"/>
          <p:cNvSpPr>
            <a:spLocks noGrp="1"/>
          </p:cNvSpPr>
          <p:nvPr>
            <p:ph idx="1"/>
          </p:nvPr>
        </p:nvSpPr>
        <p:spPr/>
        <p:txBody>
          <a:bodyPr/>
          <a:lstStyle/>
          <a:p>
            <a:r>
              <a:rPr lang="en-US" dirty="0" smtClean="0"/>
              <a:t>This project will follow the &lt;Regulatory Reference, e.g., HIPAA, SOPs, etc. and any customer SOPs&gt;. The Confidentiality Agreement and contract provide the detail on compliance obligations.</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10</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Related Documents</a:t>
            </a:r>
            <a:endParaRPr lang="en-US" dirty="0"/>
          </a:p>
        </p:txBody>
      </p:sp>
      <p:sp>
        <p:nvSpPr>
          <p:cNvPr id="3" name="Content Placeholder 2"/>
          <p:cNvSpPr>
            <a:spLocks noGrp="1"/>
          </p:cNvSpPr>
          <p:nvPr>
            <p:ph idx="1"/>
          </p:nvPr>
        </p:nvSpPr>
        <p:spPr/>
        <p:txBody>
          <a:bodyPr/>
          <a:lstStyle/>
          <a:p>
            <a:r>
              <a:rPr lang="en-US" dirty="0" smtClean="0"/>
              <a:t>Project </a:t>
            </a:r>
            <a:r>
              <a:rPr lang="en-US" dirty="0" err="1" smtClean="0"/>
              <a:t>Workplan</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11</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Scope Baseline</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Scope Baseline is to document the initial Scope Definition for the project by providing a concise summary of the project scope .</a:t>
            </a:r>
          </a:p>
          <a:p>
            <a:r>
              <a:rPr lang="en-US" dirty="0" smtClean="0"/>
              <a:t>The Baseline Scope for the project is defined in the Contract. </a:t>
            </a:r>
          </a:p>
          <a:p>
            <a:r>
              <a:rPr lang="en-US" dirty="0" smtClean="0"/>
              <a:t>The full project scope is the Baseline Scope from the Contract plus any approved Change Orders. </a:t>
            </a:r>
          </a:p>
          <a:p>
            <a:r>
              <a:rPr lang="en-US" dirty="0" smtClean="0"/>
              <a:t>Refer to the Contract and Change Log for details.</a:t>
            </a:r>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12</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Scope Baseline</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Scope Change Management Processes</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Scope Change Management Processes is to document the following project procedures for monitoring and controlling project scope:</a:t>
            </a:r>
          </a:p>
          <a:p>
            <a:pPr lvl="1"/>
            <a:r>
              <a:rPr lang="en-US" dirty="0" smtClean="0"/>
              <a:t>Scope Verification</a:t>
            </a:r>
          </a:p>
          <a:p>
            <a:pPr lvl="1"/>
            <a:r>
              <a:rPr lang="en-US" dirty="0" smtClean="0"/>
              <a:t>Requirements Management</a:t>
            </a:r>
          </a:p>
          <a:p>
            <a:pPr lvl="1"/>
            <a:r>
              <a:rPr lang="en-US" dirty="0" smtClean="0"/>
              <a:t>Scope Change Control</a:t>
            </a:r>
            <a:endParaRPr lang="en-US" dirty="0" smtClean="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13</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Scope Change Management Processes</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Change Management Processes – Scope Verification</a:t>
            </a:r>
            <a:endParaRPr lang="en-US" dirty="0"/>
          </a:p>
        </p:txBody>
      </p:sp>
      <p:sp>
        <p:nvSpPr>
          <p:cNvPr id="3" name="Content Placeholder 2"/>
          <p:cNvSpPr>
            <a:spLocks noGrp="1"/>
          </p:cNvSpPr>
          <p:nvPr>
            <p:ph idx="1"/>
          </p:nvPr>
        </p:nvSpPr>
        <p:spPr/>
        <p:txBody>
          <a:bodyPr/>
          <a:lstStyle/>
          <a:p>
            <a:r>
              <a:rPr lang="en-US" dirty="0" smtClean="0"/>
              <a:t>Project Deliverables and work products will be verified as follows:</a:t>
            </a:r>
          </a:p>
          <a:p>
            <a:pPr lvl="1"/>
            <a:r>
              <a:rPr lang="en-US" dirty="0" smtClean="0"/>
              <a:t>Peer Reviews</a:t>
            </a:r>
          </a:p>
          <a:p>
            <a:pPr lvl="1"/>
            <a:r>
              <a:rPr lang="en-US" dirty="0" smtClean="0"/>
              <a:t>Review Workshops</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14</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Change Management Processes – Requirements Management</a:t>
            </a:r>
            <a:endParaRPr lang="en-US" dirty="0"/>
          </a:p>
        </p:txBody>
      </p:sp>
      <p:sp>
        <p:nvSpPr>
          <p:cNvPr id="3" name="Content Placeholder 2"/>
          <p:cNvSpPr>
            <a:spLocks noGrp="1"/>
          </p:cNvSpPr>
          <p:nvPr>
            <p:ph idx="1"/>
          </p:nvPr>
        </p:nvSpPr>
        <p:spPr/>
        <p:txBody>
          <a:bodyPr/>
          <a:lstStyle/>
          <a:p>
            <a:r>
              <a:rPr lang="en-US" dirty="0" err="1" smtClean="0"/>
              <a:t>MoSCoW</a:t>
            </a:r>
            <a:r>
              <a:rPr lang="en-US" dirty="0" smtClean="0"/>
              <a:t> List (RD.045)</a:t>
            </a:r>
          </a:p>
          <a:p>
            <a:pPr lvl="1"/>
            <a:r>
              <a:rPr lang="en-US" dirty="0" smtClean="0"/>
              <a:t>Requirements will be prioritized as Must, Should, Could and Won’t and managed using the OUM </a:t>
            </a:r>
            <a:r>
              <a:rPr lang="en-US" dirty="0" err="1" smtClean="0"/>
              <a:t>MoSCoW</a:t>
            </a:r>
            <a:r>
              <a:rPr lang="en-US" dirty="0" smtClean="0"/>
              <a:t> List. </a:t>
            </a:r>
          </a:p>
          <a:p>
            <a:pPr lvl="1"/>
            <a:r>
              <a:rPr lang="en-US" dirty="0" smtClean="0"/>
              <a:t>The </a:t>
            </a:r>
            <a:r>
              <a:rPr lang="en-US" dirty="0" err="1" smtClean="0"/>
              <a:t>MoSCoW</a:t>
            </a:r>
            <a:r>
              <a:rPr lang="en-US" dirty="0" smtClean="0"/>
              <a:t> technique provides a method for focusing on the relative importance of requirements. Once completed, this list drives development and sets expectations.</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15</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Management – </a:t>
            </a:r>
            <a:r>
              <a:rPr lang="en-US" dirty="0" smtClean="0"/>
              <a:t>Scope Change Control</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16</a:t>
            </a:fld>
            <a:endParaRPr lang="en-US" dirty="0"/>
          </a:p>
        </p:txBody>
      </p:sp>
      <p:sp>
        <p:nvSpPr>
          <p:cNvPr id="31" name="TextBox 30"/>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cxnSp>
        <p:nvCxnSpPr>
          <p:cNvPr id="57" name="Straight Arrow Connector 56"/>
          <p:cNvCxnSpPr/>
          <p:nvPr/>
        </p:nvCxnSpPr>
        <p:spPr>
          <a:xfrm>
            <a:off x="7360861" y="3456639"/>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7372585" y="4776915"/>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9" name="Rectangle 58"/>
          <p:cNvSpPr/>
          <p:nvPr/>
        </p:nvSpPr>
        <p:spPr>
          <a:xfrm>
            <a:off x="1007692" y="2262482"/>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1. Create Suggested Change Request (CR)</a:t>
            </a:r>
            <a:endParaRPr lang="en-US" sz="2000" dirty="0">
              <a:solidFill>
                <a:schemeClr val="tx1"/>
              </a:solidFill>
            </a:endParaRPr>
          </a:p>
        </p:txBody>
      </p:sp>
      <p:sp>
        <p:nvSpPr>
          <p:cNvPr id="60" name="Rectangle 59"/>
          <p:cNvSpPr/>
          <p:nvPr/>
        </p:nvSpPr>
        <p:spPr>
          <a:xfrm>
            <a:off x="3609701" y="2262482"/>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3. Evaluate Impact to Effort and Timeline</a:t>
            </a:r>
            <a:endParaRPr lang="en-US" sz="2000" dirty="0">
              <a:solidFill>
                <a:schemeClr val="tx1"/>
              </a:solidFill>
            </a:endParaRPr>
          </a:p>
        </p:txBody>
      </p:sp>
      <p:sp>
        <p:nvSpPr>
          <p:cNvPr id="61" name="Rectangle 60"/>
          <p:cNvSpPr/>
          <p:nvPr/>
        </p:nvSpPr>
        <p:spPr>
          <a:xfrm>
            <a:off x="9128378" y="230111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 Update Log and Close Request</a:t>
            </a:r>
            <a:endParaRPr lang="en-US" sz="2000" dirty="0">
              <a:solidFill>
                <a:schemeClr val="tx1"/>
              </a:solidFill>
            </a:endParaRPr>
          </a:p>
        </p:txBody>
      </p:sp>
      <p:sp>
        <p:nvSpPr>
          <p:cNvPr id="62" name="Rectangle 61"/>
          <p:cNvSpPr/>
          <p:nvPr/>
        </p:nvSpPr>
        <p:spPr>
          <a:xfrm>
            <a:off x="6366422" y="388628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7. Draft and Execute Contract Change Order</a:t>
            </a:r>
            <a:endParaRPr lang="en-US" sz="2000" dirty="0">
              <a:solidFill>
                <a:schemeClr val="tx1"/>
              </a:solidFill>
            </a:endParaRPr>
          </a:p>
        </p:txBody>
      </p:sp>
      <p:sp>
        <p:nvSpPr>
          <p:cNvPr id="63" name="Rectangle 62"/>
          <p:cNvSpPr/>
          <p:nvPr/>
        </p:nvSpPr>
        <p:spPr>
          <a:xfrm>
            <a:off x="6366422" y="521329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8. Update Project Documents (</a:t>
            </a:r>
            <a:r>
              <a:rPr lang="en-US" sz="2000" dirty="0" err="1" smtClean="0">
                <a:solidFill>
                  <a:schemeClr val="tx1"/>
                </a:solidFill>
              </a:rPr>
              <a:t>Workplan</a:t>
            </a:r>
            <a:r>
              <a:rPr lang="en-US" sz="2000" dirty="0" smtClean="0">
                <a:solidFill>
                  <a:schemeClr val="tx1"/>
                </a:solidFill>
              </a:rPr>
              <a:t>, etc.)</a:t>
            </a:r>
            <a:endParaRPr lang="en-US" sz="2000" dirty="0">
              <a:solidFill>
                <a:schemeClr val="tx1"/>
              </a:solidFill>
            </a:endParaRPr>
          </a:p>
        </p:txBody>
      </p:sp>
      <p:sp>
        <p:nvSpPr>
          <p:cNvPr id="64" name="Diamond 63"/>
          <p:cNvSpPr/>
          <p:nvPr/>
        </p:nvSpPr>
        <p:spPr>
          <a:xfrm>
            <a:off x="6110278" y="2085999"/>
            <a:ext cx="2507522" cy="1562742"/>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 Approved?</a:t>
            </a:r>
            <a:endParaRPr lang="en-US" sz="2000" dirty="0">
              <a:solidFill>
                <a:schemeClr val="tx1"/>
              </a:solidFill>
            </a:endParaRPr>
          </a:p>
        </p:txBody>
      </p:sp>
      <p:sp>
        <p:nvSpPr>
          <p:cNvPr id="65" name="TextBox 64"/>
          <p:cNvSpPr txBox="1"/>
          <p:nvPr/>
        </p:nvSpPr>
        <p:spPr>
          <a:xfrm>
            <a:off x="6765247" y="3512728"/>
            <a:ext cx="741472" cy="369332"/>
          </a:xfrm>
          <a:prstGeom prst="rect">
            <a:avLst/>
          </a:prstGeom>
          <a:noFill/>
        </p:spPr>
        <p:txBody>
          <a:bodyPr wrap="square" rtlCol="0">
            <a:spAutoFit/>
          </a:bodyPr>
          <a:lstStyle/>
          <a:p>
            <a:r>
              <a:rPr lang="en-US" b="1" dirty="0" smtClean="0">
                <a:solidFill>
                  <a:schemeClr val="tx2"/>
                </a:solidFill>
              </a:rPr>
              <a:t>Yes</a:t>
            </a:r>
          </a:p>
        </p:txBody>
      </p:sp>
      <p:sp>
        <p:nvSpPr>
          <p:cNvPr id="66" name="TextBox 65"/>
          <p:cNvSpPr txBox="1"/>
          <p:nvPr/>
        </p:nvSpPr>
        <p:spPr>
          <a:xfrm>
            <a:off x="8542664" y="2435968"/>
            <a:ext cx="577449" cy="369332"/>
          </a:xfrm>
          <a:prstGeom prst="rect">
            <a:avLst/>
          </a:prstGeom>
          <a:noFill/>
        </p:spPr>
        <p:txBody>
          <a:bodyPr wrap="square" rtlCol="0">
            <a:spAutoFit/>
          </a:bodyPr>
          <a:lstStyle/>
          <a:p>
            <a:r>
              <a:rPr lang="en-US" b="1" dirty="0" smtClean="0">
                <a:solidFill>
                  <a:schemeClr val="tx2"/>
                </a:solidFill>
              </a:rPr>
              <a:t>No</a:t>
            </a:r>
          </a:p>
        </p:txBody>
      </p:sp>
      <p:cxnSp>
        <p:nvCxnSpPr>
          <p:cNvPr id="67" name="Straight Arrow Connector 66"/>
          <p:cNvCxnSpPr/>
          <p:nvPr/>
        </p:nvCxnSpPr>
        <p:spPr>
          <a:xfrm>
            <a:off x="3002926" y="2851454"/>
            <a:ext cx="58812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8551706" y="2871550"/>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5560718" y="2851454"/>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1065212" y="1527132"/>
            <a:ext cx="1981200" cy="685799"/>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p>
          <a:p>
            <a:pPr algn="ctr">
              <a:lnSpc>
                <a:spcPct val="90000"/>
              </a:lnSpc>
            </a:pPr>
            <a:r>
              <a:rPr lang="en-US" dirty="0" smtClean="0">
                <a:solidFill>
                  <a:schemeClr val="accent1"/>
                </a:solidFill>
              </a:rPr>
              <a:t>(e.g., Any Project Team </a:t>
            </a:r>
            <a:br>
              <a:rPr lang="en-US" dirty="0" smtClean="0">
                <a:solidFill>
                  <a:schemeClr val="accent1"/>
                </a:solidFill>
              </a:rPr>
            </a:br>
            <a:r>
              <a:rPr lang="en-US" dirty="0" smtClean="0">
                <a:solidFill>
                  <a:schemeClr val="accent1"/>
                </a:solidFill>
              </a:rPr>
              <a:t>Member, Team Lead, PM, etc.)</a:t>
            </a:r>
          </a:p>
        </p:txBody>
      </p:sp>
      <p:sp>
        <p:nvSpPr>
          <p:cNvPr id="71" name="TextBox 70"/>
          <p:cNvSpPr txBox="1"/>
          <p:nvPr/>
        </p:nvSpPr>
        <p:spPr>
          <a:xfrm>
            <a:off x="3656012" y="1794726"/>
            <a:ext cx="1905000" cy="494405"/>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br>
              <a:rPr lang="en-US" dirty="0" smtClean="0">
                <a:solidFill>
                  <a:schemeClr val="accent1"/>
                </a:solidFill>
              </a:rPr>
            </a:br>
            <a:r>
              <a:rPr lang="en-US" dirty="0" smtClean="0">
                <a:solidFill>
                  <a:schemeClr val="accent1"/>
                </a:solidFill>
              </a:rPr>
              <a:t>(e.g., Team Lead)</a:t>
            </a:r>
          </a:p>
        </p:txBody>
      </p:sp>
      <p:sp>
        <p:nvSpPr>
          <p:cNvPr id="72" name="TextBox 71"/>
          <p:cNvSpPr txBox="1"/>
          <p:nvPr/>
        </p:nvSpPr>
        <p:spPr>
          <a:xfrm>
            <a:off x="6144840" y="1374732"/>
            <a:ext cx="2438399" cy="711316"/>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br>
              <a:rPr lang="en-US" dirty="0" smtClean="0">
                <a:solidFill>
                  <a:schemeClr val="accent1"/>
                </a:solidFill>
              </a:rPr>
            </a:br>
            <a:r>
              <a:rPr lang="en-US" dirty="0" smtClean="0">
                <a:solidFill>
                  <a:schemeClr val="accent1"/>
                </a:solidFill>
              </a:rPr>
              <a:t>(e.g., Project Owners,</a:t>
            </a:r>
            <a:br>
              <a:rPr lang="en-US" dirty="0" smtClean="0">
                <a:solidFill>
                  <a:schemeClr val="accent1"/>
                </a:solidFill>
              </a:rPr>
            </a:br>
            <a:r>
              <a:rPr lang="en-US" dirty="0" smtClean="0">
                <a:solidFill>
                  <a:schemeClr val="accent1"/>
                </a:solidFill>
              </a:rPr>
              <a:t>CCB</a:t>
            </a:r>
          </a:p>
        </p:txBody>
      </p:sp>
      <p:sp>
        <p:nvSpPr>
          <p:cNvPr id="73" name="TextBox 72"/>
          <p:cNvSpPr txBox="1"/>
          <p:nvPr/>
        </p:nvSpPr>
        <p:spPr>
          <a:xfrm>
            <a:off x="9218612" y="1527132"/>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74" name="Rectangle 73"/>
          <p:cNvSpPr/>
          <p:nvPr/>
        </p:nvSpPr>
        <p:spPr>
          <a:xfrm>
            <a:off x="1032935" y="388628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2. Add to Log</a:t>
            </a:r>
            <a:endParaRPr lang="en-US" sz="2000" dirty="0">
              <a:solidFill>
                <a:schemeClr val="tx1"/>
              </a:solidFill>
            </a:endParaRPr>
          </a:p>
        </p:txBody>
      </p:sp>
      <p:cxnSp>
        <p:nvCxnSpPr>
          <p:cNvPr id="75" name="Straight Arrow Connector 74"/>
          <p:cNvCxnSpPr/>
          <p:nvPr/>
        </p:nvCxnSpPr>
        <p:spPr>
          <a:xfrm>
            <a:off x="1947335" y="3330416"/>
            <a:ext cx="0" cy="6096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6" name="Rectangle 75"/>
          <p:cNvSpPr/>
          <p:nvPr/>
        </p:nvSpPr>
        <p:spPr>
          <a:xfrm>
            <a:off x="3609701" y="5235416"/>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 Update Log</a:t>
            </a:r>
            <a:endParaRPr lang="en-US" sz="2000" dirty="0">
              <a:solidFill>
                <a:schemeClr val="tx1"/>
              </a:solidFill>
            </a:endParaRPr>
          </a:p>
        </p:txBody>
      </p:sp>
      <p:cxnSp>
        <p:nvCxnSpPr>
          <p:cNvPr id="77" name="Straight Arrow Connector 76"/>
          <p:cNvCxnSpPr>
            <a:stCxn id="63" idx="1"/>
            <a:endCxn id="76" idx="3"/>
          </p:cNvCxnSpPr>
          <p:nvPr/>
        </p:nvCxnSpPr>
        <p:spPr>
          <a:xfrm flipH="1">
            <a:off x="5604935" y="5757891"/>
            <a:ext cx="761487" cy="2211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3046412" y="4041732"/>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79" name="TextBox 78"/>
          <p:cNvSpPr txBox="1"/>
          <p:nvPr/>
        </p:nvSpPr>
        <p:spPr>
          <a:xfrm>
            <a:off x="8380412" y="4041732"/>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80" name="TextBox 79"/>
          <p:cNvSpPr txBox="1"/>
          <p:nvPr/>
        </p:nvSpPr>
        <p:spPr>
          <a:xfrm>
            <a:off x="8380412" y="5413332"/>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81" name="TextBox 80"/>
          <p:cNvSpPr txBox="1"/>
          <p:nvPr/>
        </p:nvSpPr>
        <p:spPr>
          <a:xfrm>
            <a:off x="1751012" y="5413332"/>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Change Management Processes – </a:t>
            </a:r>
            <a:r>
              <a:rPr lang="en-US" dirty="0" smtClean="0"/>
              <a:t>Scope Change Control Steps</a:t>
            </a:r>
            <a:endParaRPr lang="en-US" dirty="0"/>
          </a:p>
        </p:txBody>
      </p:sp>
      <p:sp>
        <p:nvSpPr>
          <p:cNvPr id="3" name="Content Placeholder 2"/>
          <p:cNvSpPr>
            <a:spLocks noGrp="1"/>
          </p:cNvSpPr>
          <p:nvPr>
            <p:ph idx="1"/>
          </p:nvPr>
        </p:nvSpPr>
        <p:spPr>
          <a:xfrm>
            <a:off x="531151" y="1423792"/>
            <a:ext cx="11126522" cy="4801643"/>
          </a:xfrm>
        </p:spPr>
        <p:txBody>
          <a:bodyPr/>
          <a:lstStyle/>
          <a:p>
            <a:pPr marL="457200" lvl="0" indent="-457200">
              <a:buFont typeface="+mj-lt"/>
              <a:buAutoNum type="arabicPeriod"/>
            </a:pPr>
            <a:r>
              <a:rPr lang="en-US" sz="1800" dirty="0" smtClean="0"/>
              <a:t>&lt;Responsible Role, e.g., Any Project Team Member, Team Lead, etc.&gt; can identify and open a change request (CR) by completing the Change Request form.</a:t>
            </a:r>
          </a:p>
          <a:p>
            <a:pPr marL="457200" lvl="0" indent="-457200">
              <a:buFont typeface="+mj-lt"/>
              <a:buAutoNum type="arabicPeriod"/>
            </a:pPr>
            <a:r>
              <a:rPr lang="en-US" sz="1800" dirty="0" smtClean="0"/>
              <a:t>The &lt;Responsible Role&gt; is responsible for adding the CR to the Change Request Log.</a:t>
            </a:r>
          </a:p>
          <a:p>
            <a:pPr marL="457200" indent="-457200">
              <a:buFont typeface="+mj-lt"/>
              <a:buAutoNum type="arabicPeriod"/>
            </a:pPr>
            <a:r>
              <a:rPr lang="en-US" sz="1800" dirty="0" smtClean="0"/>
              <a:t>The &lt;Responsible Role, e.g., Team Lead or other appropriate responsible person&gt; reviews the CR and evaluates the impact to the project and prepares a recommendation/response for the CR.  The response should also include the impact of not implementing the CR.</a:t>
            </a:r>
          </a:p>
          <a:p>
            <a:pPr marL="457200" indent="-457200">
              <a:buFont typeface="+mj-lt"/>
              <a:buAutoNum type="arabicPeriod"/>
            </a:pPr>
            <a:r>
              <a:rPr lang="en-US" sz="1800" dirty="0" smtClean="0"/>
              <a:t>The &lt;Responsible Role, e.g., Change Control Board (CCB) or other deemed responsible parties&gt; approves or rejects the CR.</a:t>
            </a:r>
          </a:p>
          <a:p>
            <a:pPr marL="457200" indent="-457200">
              <a:buFont typeface="+mj-lt"/>
              <a:buAutoNum type="arabicPeriod"/>
            </a:pPr>
            <a:r>
              <a:rPr lang="en-US" sz="1800" dirty="0" smtClean="0"/>
              <a:t>If rejected, the &lt;Responsible Role&gt; updates the Change Request Log and closes the CR.</a:t>
            </a:r>
          </a:p>
          <a:p>
            <a:pPr marL="457200" indent="-457200">
              <a:buFont typeface="+mj-lt"/>
              <a:buAutoNum type="arabicPeriod"/>
            </a:pPr>
            <a:r>
              <a:rPr lang="en-US" sz="1800" dirty="0" smtClean="0"/>
              <a:t>If approved, the &lt; Responsible Role &gt; updates the Change Request Log appropriately.</a:t>
            </a:r>
          </a:p>
          <a:p>
            <a:pPr marL="457200" indent="-457200">
              <a:buFont typeface="+mj-lt"/>
              <a:buAutoNum type="arabicPeriod"/>
            </a:pPr>
            <a:r>
              <a:rPr lang="en-US" sz="1800" dirty="0" smtClean="0"/>
              <a:t>If approved, &lt; Responsible Role &gt; works with &lt;the Appropriate Department, e.g., Sales&gt; to do whatever is required by their organization to move the CR forward (e.g., execute a contract amendment, etc.).</a:t>
            </a:r>
          </a:p>
          <a:p>
            <a:pPr marL="457200" indent="-457200">
              <a:buFont typeface="+mj-lt"/>
              <a:buAutoNum type="arabicPeriod"/>
            </a:pPr>
            <a:r>
              <a:rPr lang="en-US" sz="1800" dirty="0" smtClean="0"/>
              <a:t>Once the CR is formally approved to move forward &lt;contract amendment is executed or contract is signed or other appropriate organization internal approval is formalized&gt;, &lt;Responsible Role&gt; updates the appropriate documents (e.g., Project </a:t>
            </a:r>
            <a:r>
              <a:rPr lang="en-US" sz="1800" dirty="0" err="1" smtClean="0"/>
              <a:t>Workplan</a:t>
            </a:r>
            <a:r>
              <a:rPr lang="en-US" sz="1800" dirty="0" smtClean="0"/>
              <a:t>, etc.) to implement the CR.</a:t>
            </a:r>
            <a:endParaRPr lang="en-US" sz="1800"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17</a:t>
            </a:fld>
            <a:endParaRPr lang="en-US" dirty="0"/>
          </a:p>
        </p:txBody>
      </p:sp>
      <p:sp>
        <p:nvSpPr>
          <p:cNvPr id="6" name="TextBox 5"/>
          <p:cNvSpPr txBox="1"/>
          <p:nvPr/>
        </p:nvSpPr>
        <p:spPr>
          <a:xfrm>
            <a:off x="4446740" y="770928"/>
            <a:ext cx="7540885"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Financial Management Plan</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Financial Management Plan is to define how project finances will be monitored, managed and controlled to ensure that the project operates and completes within the approved budget.</a:t>
            </a:r>
          </a:p>
          <a:p>
            <a:endParaRPr lang="en-US" dirty="0" smtClean="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18</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Financial Management Plan</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Financial Management Plan - Approach</a:t>
            </a:r>
            <a:endParaRPr lang="en-US" dirty="0"/>
          </a:p>
        </p:txBody>
      </p:sp>
      <p:sp>
        <p:nvSpPr>
          <p:cNvPr id="3" name="Content Placeholder 2"/>
          <p:cNvSpPr>
            <a:spLocks noGrp="1"/>
          </p:cNvSpPr>
          <p:nvPr>
            <p:ph idx="1"/>
          </p:nvPr>
        </p:nvSpPr>
        <p:spPr/>
        <p:txBody>
          <a:bodyPr/>
          <a:lstStyle/>
          <a:p>
            <a:r>
              <a:rPr lang="en-US" sz="2400" dirty="0" smtClean="0"/>
              <a:t>Refer to the Contract for initial funding information which represents the Budget Baseline.</a:t>
            </a:r>
          </a:p>
          <a:p>
            <a:r>
              <a:rPr lang="en-US" sz="2400" dirty="0" smtClean="0"/>
              <a:t>The &lt;Responsible Role&gt; is responsible for managing and reporting on the project’s cost throughout the duration of the project. The &lt;Responsible Role&gt; is responsible for accounting for cost deviations and presenting the &lt;Responsible Role&gt; with options for getting the project back on budget. The &lt;Responsible Role&gt; has the authority to make changes to the project to bring it back within budget.</a:t>
            </a:r>
          </a:p>
          <a:p>
            <a:r>
              <a:rPr lang="en-US" sz="2400" dirty="0" smtClean="0"/>
              <a:t>Costs will be managed, monitored and controlled as follows:</a:t>
            </a:r>
          </a:p>
          <a:p>
            <a:pPr lvl="1"/>
            <a:r>
              <a:rPr lang="en-US" sz="2000" dirty="0" smtClean="0"/>
              <a:t>Costs for the project will be managed at the &lt;level, e.g., task, etc.&gt;.</a:t>
            </a:r>
          </a:p>
          <a:p>
            <a:pPr lvl="1"/>
            <a:r>
              <a:rPr lang="en-US" sz="2000" dirty="0" smtClean="0"/>
              <a:t>&lt;Implementing Organization&gt; consultants will enter their time and expenses promptly, in accordance with the procedures documented in the Orientation Guide (STM.040), and </a:t>
            </a:r>
            <a:r>
              <a:rPr lang="en-US" sz="2000" dirty="0" err="1" smtClean="0"/>
              <a:t>actuals</a:t>
            </a:r>
            <a:r>
              <a:rPr lang="en-US" sz="2000" dirty="0" smtClean="0"/>
              <a:t> will be compared to the established budgets to identify any variances.</a:t>
            </a:r>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19</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Financial Management Plan - Tracking and Control</a:t>
            </a:r>
            <a:endParaRPr lang="en-US" dirty="0"/>
          </a:p>
        </p:txBody>
      </p:sp>
      <p:sp>
        <p:nvSpPr>
          <p:cNvPr id="3" name="Content Placeholder 2"/>
          <p:cNvSpPr>
            <a:spLocks noGrp="1"/>
          </p:cNvSpPr>
          <p:nvPr>
            <p:ph idx="1"/>
          </p:nvPr>
        </p:nvSpPr>
        <p:spPr/>
        <p:txBody>
          <a:bodyPr/>
          <a:lstStyle/>
          <a:p>
            <a:r>
              <a:rPr lang="en-US" dirty="0" smtClean="0"/>
              <a:t>Financial performance will be tracked and controlled using the following indicators:</a:t>
            </a:r>
          </a:p>
          <a:p>
            <a:pPr lvl="1"/>
            <a:r>
              <a:rPr lang="en-US" dirty="0" smtClean="0"/>
              <a:t>&lt;This section covers how you will track performance, and at what level. If you are using earned value management techniques, what are the rules for employing various methods of measurement, such as 50/50, level of effort, weighted milestones, and so forth.&gt;</a:t>
            </a:r>
          </a:p>
          <a:p>
            <a:pPr lvl="1"/>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20</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Financial Management Plan - Invoice Processing</a:t>
            </a:r>
            <a:endParaRPr lang="en-US" dirty="0"/>
          </a:p>
        </p:txBody>
      </p:sp>
      <p:sp>
        <p:nvSpPr>
          <p:cNvPr id="3" name="Content Placeholder 2"/>
          <p:cNvSpPr>
            <a:spLocks noGrp="1"/>
          </p:cNvSpPr>
          <p:nvPr>
            <p:ph idx="1"/>
          </p:nvPr>
        </p:nvSpPr>
        <p:spPr/>
        <p:txBody>
          <a:bodyPr/>
          <a:lstStyle/>
          <a:p>
            <a:r>
              <a:rPr lang="en-US" dirty="0" smtClean="0"/>
              <a:t>Time and expenses are invoiced to you monthly.</a:t>
            </a:r>
          </a:p>
          <a:p>
            <a:r>
              <a:rPr lang="en-US" dirty="0" smtClean="0"/>
              <a:t>Hard copies will be mailed to the attention of:  &lt;Customer Contact Name&gt;.</a:t>
            </a:r>
          </a:p>
          <a:p>
            <a:r>
              <a:rPr lang="en-US" dirty="0" smtClean="0"/>
              <a:t>A soft copy of the invoice will be emailed each month to: &lt;Customer Project Manager Name&gt;.</a:t>
            </a:r>
          </a:p>
          <a:p>
            <a:r>
              <a:rPr lang="en-US" dirty="0" smtClean="0"/>
              <a:t>A summary of charges will be provided by &lt;Level&gt;.</a:t>
            </a:r>
          </a:p>
          <a:p>
            <a:r>
              <a:rPr lang="en-US" dirty="0" smtClean="0"/>
              <a:t>We make every attempt to keep our billing of time current, however, occasionally late entries or adjustments may miss the month end cutoff and will appear in later months.</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21</a:t>
            </a:fld>
            <a:endParaRPr lang="en-US" dirty="0"/>
          </a:p>
        </p:txBody>
      </p:sp>
      <p:sp>
        <p:nvSpPr>
          <p:cNvPr id="6" name="TextBox 5"/>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Financial Management Plan - Reporting</a:t>
            </a:r>
            <a:endParaRPr lang="en-US" dirty="0"/>
          </a:p>
        </p:txBody>
      </p:sp>
      <p:sp>
        <p:nvSpPr>
          <p:cNvPr id="3" name="Content Placeholder 2"/>
          <p:cNvSpPr>
            <a:spLocks noGrp="1"/>
          </p:cNvSpPr>
          <p:nvPr>
            <p:ph idx="1"/>
          </p:nvPr>
        </p:nvSpPr>
        <p:spPr/>
        <p:txBody>
          <a:bodyPr/>
          <a:lstStyle/>
          <a:p>
            <a:r>
              <a:rPr lang="en-US" dirty="0" smtClean="0"/>
              <a:t>The project’s cost performance will be presented and reviewed during the &lt;frequency, e.g., weekly, monthly&gt; project status meeting.</a:t>
            </a:r>
          </a:p>
          <a:p>
            <a:r>
              <a:rPr lang="en-US" dirty="0" smtClean="0"/>
              <a:t>Financial performance metrics will be updated in the &lt;frequency, e.g., weekly, monthly&gt; status report and distributed each week to the management team.</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22</a:t>
            </a:fld>
            <a:endParaRPr lang="en-US" dirty="0"/>
          </a:p>
        </p:txBody>
      </p:sp>
      <p:sp>
        <p:nvSpPr>
          <p:cNvPr id="6" name="TextBox 5"/>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Work Management Plan</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Work Management Plan is to establish project procedures for managing and monitoring all work performed on the project.</a:t>
            </a:r>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23</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Work Management Plan</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Management Plan – </a:t>
            </a:r>
            <a:r>
              <a:rPr lang="en-US" dirty="0" err="1" smtClean="0"/>
              <a:t>Workplan</a:t>
            </a:r>
            <a:r>
              <a:rPr lang="en-US" dirty="0" smtClean="0"/>
              <a:t> Management</a:t>
            </a:r>
            <a:endParaRPr lang="en-US" dirty="0"/>
          </a:p>
        </p:txBody>
      </p:sp>
      <p:sp>
        <p:nvSpPr>
          <p:cNvPr id="3" name="Content Placeholder 2"/>
          <p:cNvSpPr>
            <a:spLocks noGrp="1"/>
          </p:cNvSpPr>
          <p:nvPr>
            <p:ph idx="1"/>
          </p:nvPr>
        </p:nvSpPr>
        <p:spPr/>
        <p:txBody>
          <a:bodyPr/>
          <a:lstStyle/>
          <a:p>
            <a:r>
              <a:rPr lang="en-US" dirty="0" smtClean="0"/>
              <a:t>The project schedule has been defined, reviewed and confirmed in the Project </a:t>
            </a:r>
            <a:r>
              <a:rPr lang="en-US" dirty="0" err="1" smtClean="0"/>
              <a:t>Workplan</a:t>
            </a:r>
            <a:r>
              <a:rPr lang="en-US" dirty="0" smtClean="0"/>
              <a:t> using &lt;Tool Name, e.g., MS Project, Primavera, etc.&gt;.</a:t>
            </a:r>
          </a:p>
          <a:p>
            <a:r>
              <a:rPr lang="en-US" dirty="0" smtClean="0"/>
              <a:t>We will track our progress for the duration of the project using the following process:</a:t>
            </a:r>
          </a:p>
          <a:p>
            <a:pPr lvl="1"/>
            <a:r>
              <a:rPr lang="en-US" dirty="0" smtClean="0"/>
              <a:t>The &lt;Responsible Role&gt; updates the Project </a:t>
            </a:r>
            <a:r>
              <a:rPr lang="en-US" dirty="0" err="1" smtClean="0"/>
              <a:t>Workplan</a:t>
            </a:r>
            <a:r>
              <a:rPr lang="en-US" dirty="0" smtClean="0"/>
              <a:t> on a weekly basis by entering the percent completion for each started task.</a:t>
            </a:r>
          </a:p>
          <a:p>
            <a:pPr lvl="1"/>
            <a:r>
              <a:rPr lang="en-US" dirty="0" smtClean="0"/>
              <a:t>The &lt;Responsible Role&gt; uploads the updated Project </a:t>
            </a:r>
            <a:r>
              <a:rPr lang="en-US" dirty="0" err="1" smtClean="0"/>
              <a:t>Workplan</a:t>
            </a:r>
            <a:r>
              <a:rPr lang="en-US" dirty="0" smtClean="0"/>
              <a:t> to the project collaboration space.</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24</a:t>
            </a:fld>
            <a:endParaRPr lang="en-US" dirty="0"/>
          </a:p>
        </p:txBody>
      </p:sp>
      <p:sp>
        <p:nvSpPr>
          <p:cNvPr id="6" name="TextBox 5"/>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Management Plan – Work Management</a:t>
            </a:r>
            <a:endParaRPr lang="en-US" dirty="0"/>
          </a:p>
        </p:txBody>
      </p:sp>
      <p:sp>
        <p:nvSpPr>
          <p:cNvPr id="3" name="Content Placeholder 2"/>
          <p:cNvSpPr>
            <a:spLocks noGrp="1"/>
          </p:cNvSpPr>
          <p:nvPr>
            <p:ph idx="1"/>
          </p:nvPr>
        </p:nvSpPr>
        <p:spPr/>
        <p:txBody>
          <a:bodyPr/>
          <a:lstStyle/>
          <a:p>
            <a:r>
              <a:rPr lang="en-US" dirty="0" smtClean="0"/>
              <a:t>The day-to-day project tasks will be managed using the &lt;Tool Name&gt;.</a:t>
            </a:r>
          </a:p>
          <a:p>
            <a:r>
              <a:rPr lang="en-US" dirty="0" smtClean="0"/>
              <a:t>Tasks from the Project </a:t>
            </a:r>
            <a:r>
              <a:rPr lang="en-US" dirty="0" err="1" smtClean="0"/>
              <a:t>Workplan</a:t>
            </a:r>
            <a:r>
              <a:rPr lang="en-US" dirty="0" smtClean="0"/>
              <a:t> will be uploaded to the project task list and assigned to each project team member.</a:t>
            </a:r>
          </a:p>
          <a:p>
            <a:r>
              <a:rPr lang="en-US" dirty="0" smtClean="0"/>
              <a:t>Team members will update their status by the close of business each &lt;Day of the Week&gt;.</a:t>
            </a:r>
          </a:p>
          <a:p>
            <a:r>
              <a:rPr lang="en-US" dirty="0" smtClean="0"/>
              <a:t>&lt;Responsible Role&gt; will review the task list each week and follow up to ensure that updates have been entered and assist with resolving any issues that may be preventing the completion of past due tasks.</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25</a:t>
            </a:fld>
            <a:endParaRPr lang="en-US" dirty="0"/>
          </a:p>
        </p:txBody>
      </p:sp>
      <p:sp>
        <p:nvSpPr>
          <p:cNvPr id="6" name="TextBox 5"/>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Management Plan – Reporting</a:t>
            </a:r>
            <a:endParaRPr lang="en-US" dirty="0"/>
          </a:p>
        </p:txBody>
      </p:sp>
      <p:sp>
        <p:nvSpPr>
          <p:cNvPr id="3" name="Content Placeholder 2"/>
          <p:cNvSpPr>
            <a:spLocks noGrp="1"/>
          </p:cNvSpPr>
          <p:nvPr>
            <p:ph idx="1"/>
          </p:nvPr>
        </p:nvSpPr>
        <p:spPr/>
        <p:txBody>
          <a:bodyPr/>
          <a:lstStyle/>
          <a:p>
            <a:r>
              <a:rPr lang="en-US" dirty="0" smtClean="0"/>
              <a:t>The project’s work performance will be presented and reviewed during the &lt;frequency, e.g., weekly, monthly&gt; project status meeting.</a:t>
            </a:r>
          </a:p>
          <a:p>
            <a:r>
              <a:rPr lang="en-US" dirty="0" smtClean="0"/>
              <a:t>Project </a:t>
            </a:r>
            <a:r>
              <a:rPr lang="en-US" dirty="0" err="1" smtClean="0"/>
              <a:t>Workplan</a:t>
            </a:r>
            <a:r>
              <a:rPr lang="en-US" dirty="0" smtClean="0"/>
              <a:t> status will be updated in the &lt;frequency, e.g., weekly, monthly&gt; status report and distributed each week to the management team.</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26</a:t>
            </a:fld>
            <a:endParaRPr lang="en-US" dirty="0"/>
          </a:p>
        </p:txBody>
      </p:sp>
      <p:sp>
        <p:nvSpPr>
          <p:cNvPr id="6" name="TextBox 5"/>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Risk Management Plan</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Risk Management Plan is to establish procedures for managing and monitoring risks during the project.</a:t>
            </a:r>
          </a:p>
          <a:p>
            <a:r>
              <a:rPr lang="en-US" dirty="0" smtClean="0"/>
              <a:t>Risk is the possibility of an uncertain future outcome or condition, which if it occurs, has a positive or negative effect on a project’s objectives, which may be mitigated by pre-emptive action.</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27</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Risk Management Plan</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812" y="218510"/>
            <a:ext cx="11125200" cy="545578"/>
          </a:xfrm>
        </p:spPr>
        <p:txBody>
          <a:bodyPr/>
          <a:lstStyle/>
          <a:p>
            <a:r>
              <a:rPr lang="en-US" dirty="0" smtClean="0"/>
              <a:t>Risk Management Plan – Flow</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28</a:t>
            </a:fld>
            <a:endParaRPr lang="en-US" dirty="0"/>
          </a:p>
        </p:txBody>
      </p:sp>
      <p:sp>
        <p:nvSpPr>
          <p:cNvPr id="31" name="TextBox 30"/>
          <p:cNvSpPr txBox="1"/>
          <p:nvPr/>
        </p:nvSpPr>
        <p:spPr>
          <a:xfrm>
            <a:off x="6137753" y="219783"/>
            <a:ext cx="5824820"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cxnSp>
        <p:nvCxnSpPr>
          <p:cNvPr id="49" name="Straight Arrow Connector 48"/>
          <p:cNvCxnSpPr/>
          <p:nvPr/>
        </p:nvCxnSpPr>
        <p:spPr>
          <a:xfrm>
            <a:off x="8230144" y="3456506"/>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8241868" y="4776782"/>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2041778" y="8382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1. Identify Risk</a:t>
            </a:r>
          </a:p>
          <a:p>
            <a:pPr algn="ctr"/>
            <a:r>
              <a:rPr lang="en-US" sz="2000" dirty="0" smtClean="0">
                <a:solidFill>
                  <a:schemeClr val="tx1"/>
                </a:solidFill>
              </a:rPr>
              <a:t>(Risk Form)</a:t>
            </a:r>
            <a:endParaRPr lang="en-US" sz="2000" dirty="0">
              <a:solidFill>
                <a:schemeClr val="tx1"/>
              </a:solidFill>
            </a:endParaRPr>
          </a:p>
        </p:txBody>
      </p:sp>
      <p:sp>
        <p:nvSpPr>
          <p:cNvPr id="52" name="Rectangle 51"/>
          <p:cNvSpPr/>
          <p:nvPr/>
        </p:nvSpPr>
        <p:spPr>
          <a:xfrm>
            <a:off x="4464039" y="8382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3. Assign Risk</a:t>
            </a:r>
            <a:endParaRPr lang="en-US" sz="2000" dirty="0">
              <a:solidFill>
                <a:schemeClr val="tx1"/>
              </a:solidFill>
            </a:endParaRPr>
          </a:p>
        </p:txBody>
      </p:sp>
      <p:sp>
        <p:nvSpPr>
          <p:cNvPr id="53" name="Rectangle 52"/>
          <p:cNvSpPr/>
          <p:nvPr/>
        </p:nvSpPr>
        <p:spPr>
          <a:xfrm>
            <a:off x="9966578" y="22098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 Update Log and Close Risk</a:t>
            </a:r>
            <a:endParaRPr lang="en-US" sz="2000" dirty="0">
              <a:solidFill>
                <a:schemeClr val="tx1"/>
              </a:solidFill>
            </a:endParaRPr>
          </a:p>
        </p:txBody>
      </p:sp>
      <p:sp>
        <p:nvSpPr>
          <p:cNvPr id="54" name="Rectangle 53"/>
          <p:cNvSpPr/>
          <p:nvPr/>
        </p:nvSpPr>
        <p:spPr>
          <a:xfrm>
            <a:off x="7235705" y="388614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 Develop (Review) Risk Mitigation Plan</a:t>
            </a:r>
            <a:endParaRPr lang="en-US" sz="2000" dirty="0">
              <a:solidFill>
                <a:schemeClr val="tx1"/>
              </a:solidFill>
            </a:endParaRPr>
          </a:p>
        </p:txBody>
      </p:sp>
      <p:sp>
        <p:nvSpPr>
          <p:cNvPr id="55" name="Rectangle 54"/>
          <p:cNvSpPr/>
          <p:nvPr/>
        </p:nvSpPr>
        <p:spPr>
          <a:xfrm>
            <a:off x="4449095" y="52578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 Manage (Review) Risk</a:t>
            </a:r>
            <a:endParaRPr lang="en-US" sz="2000" dirty="0">
              <a:solidFill>
                <a:schemeClr val="tx1"/>
              </a:solidFill>
            </a:endParaRPr>
          </a:p>
        </p:txBody>
      </p:sp>
      <p:sp>
        <p:nvSpPr>
          <p:cNvPr id="56" name="Diamond 55"/>
          <p:cNvSpPr/>
          <p:nvPr/>
        </p:nvSpPr>
        <p:spPr>
          <a:xfrm>
            <a:off x="6979561" y="1981200"/>
            <a:ext cx="2507522" cy="1562742"/>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
        <p:nvSpPr>
          <p:cNvPr id="57" name="TextBox 56"/>
          <p:cNvSpPr txBox="1"/>
          <p:nvPr/>
        </p:nvSpPr>
        <p:spPr>
          <a:xfrm>
            <a:off x="7634530" y="3512595"/>
            <a:ext cx="741472" cy="369332"/>
          </a:xfrm>
          <a:prstGeom prst="rect">
            <a:avLst/>
          </a:prstGeom>
          <a:noFill/>
        </p:spPr>
        <p:txBody>
          <a:bodyPr wrap="square" rtlCol="0">
            <a:spAutoFit/>
          </a:bodyPr>
          <a:lstStyle/>
          <a:p>
            <a:r>
              <a:rPr lang="en-US" b="1" dirty="0" smtClean="0">
                <a:solidFill>
                  <a:schemeClr val="tx2"/>
                </a:solidFill>
              </a:rPr>
              <a:t>Yes</a:t>
            </a:r>
          </a:p>
        </p:txBody>
      </p:sp>
      <p:sp>
        <p:nvSpPr>
          <p:cNvPr id="58" name="TextBox 57"/>
          <p:cNvSpPr txBox="1"/>
          <p:nvPr/>
        </p:nvSpPr>
        <p:spPr>
          <a:xfrm>
            <a:off x="9411947" y="2344649"/>
            <a:ext cx="577449" cy="369332"/>
          </a:xfrm>
          <a:prstGeom prst="rect">
            <a:avLst/>
          </a:prstGeom>
          <a:noFill/>
        </p:spPr>
        <p:txBody>
          <a:bodyPr wrap="square" rtlCol="0">
            <a:spAutoFit/>
          </a:bodyPr>
          <a:lstStyle/>
          <a:p>
            <a:r>
              <a:rPr lang="en-US" b="1" dirty="0" smtClean="0">
                <a:solidFill>
                  <a:schemeClr val="tx2"/>
                </a:solidFill>
              </a:rPr>
              <a:t>No</a:t>
            </a:r>
          </a:p>
        </p:txBody>
      </p:sp>
      <p:cxnSp>
        <p:nvCxnSpPr>
          <p:cNvPr id="59" name="Straight Arrow Connector 58"/>
          <p:cNvCxnSpPr>
            <a:endCxn id="52" idx="1"/>
          </p:cNvCxnSpPr>
          <p:nvPr/>
        </p:nvCxnSpPr>
        <p:spPr>
          <a:xfrm>
            <a:off x="4037012" y="1371600"/>
            <a:ext cx="427027" cy="1119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9420989" y="2780231"/>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6430001" y="2760135"/>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2041778" y="2347214"/>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2. Add to Log</a:t>
            </a:r>
            <a:endParaRPr lang="en-US" sz="2000" dirty="0">
              <a:solidFill>
                <a:schemeClr val="tx1"/>
              </a:solidFill>
            </a:endParaRPr>
          </a:p>
        </p:txBody>
      </p:sp>
      <p:cxnSp>
        <p:nvCxnSpPr>
          <p:cNvPr id="63" name="Straight Arrow Connector 62"/>
          <p:cNvCxnSpPr>
            <a:stCxn id="51" idx="2"/>
            <a:endCxn id="62" idx="0"/>
          </p:cNvCxnSpPr>
          <p:nvPr/>
        </p:nvCxnSpPr>
        <p:spPr>
          <a:xfrm>
            <a:off x="3039395" y="1927384"/>
            <a:ext cx="0" cy="41983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7407869" y="2632048"/>
            <a:ext cx="1613226" cy="400966"/>
          </a:xfrm>
          <a:prstGeom prst="rect">
            <a:avLst/>
          </a:prstGeom>
          <a:noFill/>
        </p:spPr>
        <p:txBody>
          <a:bodyPr wrap="square" lIns="0" tIns="0" rIns="0" bIns="0" rtlCol="0">
            <a:noAutofit/>
          </a:bodyPr>
          <a:lstStyle/>
          <a:p>
            <a:pPr algn="ctr">
              <a:lnSpc>
                <a:spcPct val="90000"/>
              </a:lnSpc>
            </a:pPr>
            <a:r>
              <a:rPr lang="en-US" sz="2000" dirty="0" smtClean="0"/>
              <a:t>4. Valid</a:t>
            </a:r>
          </a:p>
        </p:txBody>
      </p:sp>
      <p:sp>
        <p:nvSpPr>
          <p:cNvPr id="65" name="Rectangle 64"/>
          <p:cNvSpPr/>
          <p:nvPr/>
        </p:nvSpPr>
        <p:spPr>
          <a:xfrm>
            <a:off x="7192295" y="52578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 Update Log</a:t>
            </a:r>
            <a:endParaRPr lang="en-US" sz="2000" dirty="0">
              <a:solidFill>
                <a:schemeClr val="tx1"/>
              </a:solidFill>
            </a:endParaRPr>
          </a:p>
        </p:txBody>
      </p:sp>
      <p:cxnSp>
        <p:nvCxnSpPr>
          <p:cNvPr id="66" name="Straight Arrow Connector 65"/>
          <p:cNvCxnSpPr>
            <a:stCxn id="65" idx="1"/>
            <a:endCxn id="55" idx="3"/>
          </p:cNvCxnSpPr>
          <p:nvPr/>
        </p:nvCxnSpPr>
        <p:spPr>
          <a:xfrm flipH="1">
            <a:off x="6444329" y="5802392"/>
            <a:ext cx="74796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4" name="Rectangle 73"/>
          <p:cNvSpPr/>
          <p:nvPr/>
        </p:nvSpPr>
        <p:spPr>
          <a:xfrm>
            <a:off x="4464039" y="2347214"/>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 Analyze Risk</a:t>
            </a:r>
            <a:endParaRPr lang="en-US" sz="2000" dirty="0">
              <a:solidFill>
                <a:schemeClr val="tx1"/>
              </a:solidFill>
            </a:endParaRPr>
          </a:p>
        </p:txBody>
      </p:sp>
      <p:cxnSp>
        <p:nvCxnSpPr>
          <p:cNvPr id="75" name="Straight Arrow Connector 74"/>
          <p:cNvCxnSpPr>
            <a:stCxn id="52" idx="2"/>
            <a:endCxn id="74" idx="0"/>
          </p:cNvCxnSpPr>
          <p:nvPr/>
        </p:nvCxnSpPr>
        <p:spPr>
          <a:xfrm>
            <a:off x="5461656" y="1927384"/>
            <a:ext cx="0" cy="41983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6" name="Rectangle 75"/>
          <p:cNvSpPr/>
          <p:nvPr/>
        </p:nvSpPr>
        <p:spPr>
          <a:xfrm>
            <a:off x="4449095" y="388614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 &amp; 6. Update Log</a:t>
            </a:r>
            <a:endParaRPr lang="en-US" sz="2000" dirty="0">
              <a:solidFill>
                <a:schemeClr val="tx1"/>
              </a:solidFill>
            </a:endParaRPr>
          </a:p>
        </p:txBody>
      </p:sp>
      <p:cxnSp>
        <p:nvCxnSpPr>
          <p:cNvPr id="77" name="Straight Arrow Connector 76"/>
          <p:cNvCxnSpPr>
            <a:endCxn id="76" idx="0"/>
          </p:cNvCxnSpPr>
          <p:nvPr/>
        </p:nvCxnSpPr>
        <p:spPr>
          <a:xfrm>
            <a:off x="5439695" y="3429000"/>
            <a:ext cx="7017" cy="4571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55" idx="0"/>
            <a:endCxn id="76" idx="2"/>
          </p:cNvCxnSpPr>
          <p:nvPr/>
        </p:nvCxnSpPr>
        <p:spPr>
          <a:xfrm flipV="1">
            <a:off x="5446712" y="4975331"/>
            <a:ext cx="0" cy="2824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76" idx="3"/>
            <a:endCxn id="54" idx="1"/>
          </p:cNvCxnSpPr>
          <p:nvPr/>
        </p:nvCxnSpPr>
        <p:spPr>
          <a:xfrm>
            <a:off x="6444329" y="4430739"/>
            <a:ext cx="79137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a:xfrm>
            <a:off x="4830095" y="2438400"/>
            <a:ext cx="1244251" cy="341632"/>
          </a:xfrm>
          <a:prstGeom prst="rect">
            <a:avLst/>
          </a:prstGeom>
        </p:spPr>
        <p:txBody>
          <a:bodyPr wrap="none">
            <a:spAutoFit/>
          </a:bodyPr>
          <a:lstStyle/>
          <a:p>
            <a:pPr algn="ctr">
              <a:lnSpc>
                <a:spcPct val="90000"/>
              </a:lnSpc>
            </a:pPr>
            <a:r>
              <a:rPr lang="en-US" dirty="0" smtClean="0">
                <a:solidFill>
                  <a:schemeClr val="accent1"/>
                </a:solidFill>
              </a:rPr>
              <a:t>Risk Owner</a:t>
            </a:r>
          </a:p>
        </p:txBody>
      </p:sp>
      <p:sp>
        <p:nvSpPr>
          <p:cNvPr id="81" name="TextBox 80"/>
          <p:cNvSpPr txBox="1"/>
          <p:nvPr/>
        </p:nvSpPr>
        <p:spPr>
          <a:xfrm>
            <a:off x="227012" y="762000"/>
            <a:ext cx="1752600" cy="1219200"/>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p>
          <a:p>
            <a:pPr algn="ctr">
              <a:lnSpc>
                <a:spcPct val="90000"/>
              </a:lnSpc>
            </a:pPr>
            <a:r>
              <a:rPr lang="en-US" dirty="0" smtClean="0">
                <a:solidFill>
                  <a:schemeClr val="accent1"/>
                </a:solidFill>
              </a:rPr>
              <a:t>(e.g., Any Project</a:t>
            </a:r>
            <a:br>
              <a:rPr lang="en-US" dirty="0" smtClean="0">
                <a:solidFill>
                  <a:schemeClr val="accent1"/>
                </a:solidFill>
              </a:rPr>
            </a:br>
            <a:r>
              <a:rPr lang="en-US" dirty="0" smtClean="0">
                <a:solidFill>
                  <a:schemeClr val="accent1"/>
                </a:solidFill>
              </a:rPr>
              <a:t>Team Member,</a:t>
            </a:r>
            <a:br>
              <a:rPr lang="en-US" dirty="0" smtClean="0">
                <a:solidFill>
                  <a:schemeClr val="accent1"/>
                </a:solidFill>
              </a:rPr>
            </a:br>
            <a:r>
              <a:rPr lang="en-US" dirty="0" smtClean="0">
                <a:solidFill>
                  <a:schemeClr val="accent1"/>
                </a:solidFill>
              </a:rPr>
              <a:t>Team Lead, PM, etc.)</a:t>
            </a:r>
          </a:p>
        </p:txBody>
      </p:sp>
      <p:sp>
        <p:nvSpPr>
          <p:cNvPr id="82" name="TextBox 81"/>
          <p:cNvSpPr txBox="1"/>
          <p:nvPr/>
        </p:nvSpPr>
        <p:spPr>
          <a:xfrm>
            <a:off x="6475412" y="9906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83" name="TextBox 82"/>
          <p:cNvSpPr txBox="1"/>
          <p:nvPr/>
        </p:nvSpPr>
        <p:spPr>
          <a:xfrm>
            <a:off x="10056812" y="14478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84" name="TextBox 83"/>
          <p:cNvSpPr txBox="1"/>
          <p:nvPr/>
        </p:nvSpPr>
        <p:spPr>
          <a:xfrm>
            <a:off x="227012" y="24384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85" name="TextBox 84"/>
          <p:cNvSpPr txBox="1"/>
          <p:nvPr/>
        </p:nvSpPr>
        <p:spPr>
          <a:xfrm>
            <a:off x="9218612" y="40386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Risk Owner</a:t>
            </a:r>
          </a:p>
        </p:txBody>
      </p:sp>
      <p:sp>
        <p:nvSpPr>
          <p:cNvPr id="86" name="TextBox 85"/>
          <p:cNvSpPr txBox="1"/>
          <p:nvPr/>
        </p:nvSpPr>
        <p:spPr>
          <a:xfrm>
            <a:off x="2589212" y="54102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Risk Owner</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Management Plan – Risk Management Steps</a:t>
            </a:r>
            <a:endParaRPr lang="en-US" dirty="0"/>
          </a:p>
        </p:txBody>
      </p:sp>
      <p:sp>
        <p:nvSpPr>
          <p:cNvPr id="3" name="Content Placeholder 2"/>
          <p:cNvSpPr>
            <a:spLocks noGrp="1"/>
          </p:cNvSpPr>
          <p:nvPr>
            <p:ph idx="1"/>
          </p:nvPr>
        </p:nvSpPr>
        <p:spPr/>
        <p:txBody>
          <a:bodyPr/>
          <a:lstStyle/>
          <a:p>
            <a:pPr marL="457200" lvl="0" indent="-457200">
              <a:buFont typeface="+mj-lt"/>
              <a:buAutoNum type="arabicPeriod"/>
            </a:pPr>
            <a:r>
              <a:rPr lang="en-US" sz="2000" dirty="0" smtClean="0"/>
              <a:t>&lt;Responsible Role, e.g., Any Project Team Member, Team Lead, etc.&gt; can identify a risk and complete the Risk Form.</a:t>
            </a:r>
          </a:p>
          <a:p>
            <a:pPr marL="457200" indent="-457200">
              <a:buFont typeface="+mj-lt"/>
              <a:buAutoNum type="arabicPeriod"/>
            </a:pPr>
            <a:r>
              <a:rPr lang="en-US" sz="2000" dirty="0" smtClean="0"/>
              <a:t>The &lt;Responsible Role&gt; is responsible for adding the risk to the Risk Log.</a:t>
            </a:r>
          </a:p>
          <a:p>
            <a:pPr marL="457200" indent="-457200">
              <a:buFont typeface="+mj-lt"/>
              <a:buAutoNum type="arabicPeriod"/>
            </a:pPr>
            <a:r>
              <a:rPr lang="en-US" sz="2000" dirty="0" smtClean="0"/>
              <a:t>The &lt;Responsible Role&gt; assigns the risk to a Risk Owner.</a:t>
            </a:r>
          </a:p>
          <a:p>
            <a:pPr marL="457200" indent="-457200">
              <a:buFont typeface="+mj-lt"/>
              <a:buAutoNum type="arabicPeriod"/>
            </a:pPr>
            <a:r>
              <a:rPr lang="en-US" sz="2000" dirty="0" smtClean="0"/>
              <a:t>The Risk Owner analyzes the risk and evaluates if it is valid.  If it is not valid, the risk is closed and the Risk Log is updated. </a:t>
            </a:r>
          </a:p>
          <a:p>
            <a:pPr marL="457200" indent="-457200">
              <a:buFont typeface="+mj-lt"/>
              <a:buAutoNum type="arabicPeriod"/>
            </a:pPr>
            <a:r>
              <a:rPr lang="en-US" sz="2000" dirty="0" smtClean="0"/>
              <a:t>If the risk is valid, the Risk Owner develops a Risk Mitigation Plan and the Risk Log is updated.</a:t>
            </a:r>
          </a:p>
          <a:p>
            <a:pPr marL="457200" indent="-457200">
              <a:buFont typeface="+mj-lt"/>
              <a:buAutoNum type="arabicPeriod"/>
            </a:pPr>
            <a:r>
              <a:rPr lang="en-US" sz="2000" dirty="0" smtClean="0"/>
              <a:t>Periodically, the Risk Owner manages the risk by periodically reviewing the risk and the associated Risk Mitigation Plan and makes any necessary adjustments.</a:t>
            </a:r>
            <a:endParaRPr lang="en-US" sz="2000"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29</a:t>
            </a:fld>
            <a:endParaRPr lang="en-US" dirty="0"/>
          </a:p>
        </p:txBody>
      </p:sp>
      <p:sp>
        <p:nvSpPr>
          <p:cNvPr id="6" name="TextBox 5"/>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Management Plan - Reporting</a:t>
            </a:r>
            <a:endParaRPr lang="en-US" dirty="0"/>
          </a:p>
        </p:txBody>
      </p:sp>
      <p:sp>
        <p:nvSpPr>
          <p:cNvPr id="3" name="Content Placeholder 2"/>
          <p:cNvSpPr>
            <a:spLocks noGrp="1"/>
          </p:cNvSpPr>
          <p:nvPr>
            <p:ph idx="1"/>
          </p:nvPr>
        </p:nvSpPr>
        <p:spPr/>
        <p:txBody>
          <a:bodyPr/>
          <a:lstStyle/>
          <a:p>
            <a:r>
              <a:rPr lang="en-US" dirty="0" smtClean="0"/>
              <a:t>The latest Risk Log will be presented and reviewed during the &lt;frequency, e.g., weekly, monthly&gt; project status meeting.</a:t>
            </a:r>
          </a:p>
          <a:p>
            <a:r>
              <a:rPr lang="en-US" dirty="0" smtClean="0"/>
              <a:t>The latest Risk Log will be included in the &lt;frequency, e.g., weekly, monthly&gt; status report and distributed each week to the management team.</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30</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Issue Management Strategy</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Issue Management Strategy is to establish procedures for managing and monitoring issues during the project.</a:t>
            </a:r>
          </a:p>
          <a:p>
            <a:r>
              <a:rPr lang="en-US" dirty="0" smtClean="0"/>
              <a:t>An Issue is an open concern or matter that is under discussion and could adversely impact the success of a project.</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31</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Issue Management Strategy</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 Management Strategy – Flow</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32</a:t>
            </a:fld>
            <a:endParaRPr lang="en-US" dirty="0"/>
          </a:p>
        </p:txBody>
      </p:sp>
      <p:sp>
        <p:nvSpPr>
          <p:cNvPr id="54" name="TextBox 53"/>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cxnSp>
        <p:nvCxnSpPr>
          <p:cNvPr id="27" name="Straight Arrow Connector 26"/>
          <p:cNvCxnSpPr/>
          <p:nvPr/>
        </p:nvCxnSpPr>
        <p:spPr>
          <a:xfrm>
            <a:off x="7360861" y="3478756"/>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7372585" y="4799032"/>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1007692" y="228459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1. Raise Issue</a:t>
            </a:r>
          </a:p>
          <a:p>
            <a:pPr algn="ctr"/>
            <a:r>
              <a:rPr lang="en-US" sz="2000" dirty="0" smtClean="0">
                <a:solidFill>
                  <a:schemeClr val="tx1"/>
                </a:solidFill>
              </a:rPr>
              <a:t>(Issue Form)</a:t>
            </a:r>
            <a:endParaRPr lang="en-US" sz="2000" dirty="0">
              <a:solidFill>
                <a:schemeClr val="tx1"/>
              </a:solidFill>
            </a:endParaRPr>
          </a:p>
        </p:txBody>
      </p:sp>
      <p:sp>
        <p:nvSpPr>
          <p:cNvPr id="32" name="Rectangle 31"/>
          <p:cNvSpPr/>
          <p:nvPr/>
        </p:nvSpPr>
        <p:spPr>
          <a:xfrm>
            <a:off x="3609701" y="228459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3. Assign</a:t>
            </a:r>
            <a:endParaRPr lang="en-US" sz="2000" dirty="0">
              <a:solidFill>
                <a:schemeClr val="tx1"/>
              </a:solidFill>
            </a:endParaRPr>
          </a:p>
        </p:txBody>
      </p:sp>
      <p:sp>
        <p:nvSpPr>
          <p:cNvPr id="33" name="Rectangle 32"/>
          <p:cNvSpPr/>
          <p:nvPr/>
        </p:nvSpPr>
        <p:spPr>
          <a:xfrm>
            <a:off x="9128378" y="2323236"/>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 Follow Escalation Process</a:t>
            </a:r>
            <a:endParaRPr lang="en-US" sz="2000" dirty="0">
              <a:solidFill>
                <a:schemeClr val="tx1"/>
              </a:solidFill>
            </a:endParaRPr>
          </a:p>
        </p:txBody>
      </p:sp>
      <p:sp>
        <p:nvSpPr>
          <p:cNvPr id="34" name="Rectangle 33"/>
          <p:cNvSpPr/>
          <p:nvPr/>
        </p:nvSpPr>
        <p:spPr>
          <a:xfrm>
            <a:off x="6366422" y="390839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 Track Issue to Completion</a:t>
            </a:r>
            <a:endParaRPr lang="en-US" sz="2000" dirty="0">
              <a:solidFill>
                <a:schemeClr val="tx1"/>
              </a:solidFill>
            </a:endParaRPr>
          </a:p>
        </p:txBody>
      </p:sp>
      <p:sp>
        <p:nvSpPr>
          <p:cNvPr id="35" name="Rectangle 34"/>
          <p:cNvSpPr/>
          <p:nvPr/>
        </p:nvSpPr>
        <p:spPr>
          <a:xfrm>
            <a:off x="6366422" y="5235416"/>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 Update Log</a:t>
            </a:r>
            <a:endParaRPr lang="en-US" sz="2000" dirty="0">
              <a:solidFill>
                <a:schemeClr val="tx1"/>
              </a:solidFill>
            </a:endParaRPr>
          </a:p>
        </p:txBody>
      </p:sp>
      <p:sp>
        <p:nvSpPr>
          <p:cNvPr id="36" name="Diamond 35"/>
          <p:cNvSpPr/>
          <p:nvPr/>
        </p:nvSpPr>
        <p:spPr>
          <a:xfrm>
            <a:off x="6110278" y="2108116"/>
            <a:ext cx="2507522" cy="1562742"/>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
        <p:nvSpPr>
          <p:cNvPr id="37" name="TextBox 36"/>
          <p:cNvSpPr txBox="1"/>
          <p:nvPr/>
        </p:nvSpPr>
        <p:spPr>
          <a:xfrm>
            <a:off x="6765247" y="3534845"/>
            <a:ext cx="741472" cy="369332"/>
          </a:xfrm>
          <a:prstGeom prst="rect">
            <a:avLst/>
          </a:prstGeom>
          <a:noFill/>
        </p:spPr>
        <p:txBody>
          <a:bodyPr wrap="square" rtlCol="0">
            <a:spAutoFit/>
          </a:bodyPr>
          <a:lstStyle/>
          <a:p>
            <a:r>
              <a:rPr lang="en-US" b="1" dirty="0" smtClean="0">
                <a:solidFill>
                  <a:schemeClr val="tx2"/>
                </a:solidFill>
              </a:rPr>
              <a:t>Yes</a:t>
            </a:r>
          </a:p>
        </p:txBody>
      </p:sp>
      <p:sp>
        <p:nvSpPr>
          <p:cNvPr id="38" name="TextBox 37"/>
          <p:cNvSpPr txBox="1"/>
          <p:nvPr/>
        </p:nvSpPr>
        <p:spPr>
          <a:xfrm>
            <a:off x="8542664" y="2458085"/>
            <a:ext cx="577449" cy="369332"/>
          </a:xfrm>
          <a:prstGeom prst="rect">
            <a:avLst/>
          </a:prstGeom>
          <a:noFill/>
        </p:spPr>
        <p:txBody>
          <a:bodyPr wrap="square" rtlCol="0">
            <a:spAutoFit/>
          </a:bodyPr>
          <a:lstStyle/>
          <a:p>
            <a:r>
              <a:rPr lang="en-US" b="1" dirty="0" smtClean="0">
                <a:solidFill>
                  <a:schemeClr val="tx2"/>
                </a:solidFill>
              </a:rPr>
              <a:t>No</a:t>
            </a:r>
          </a:p>
        </p:txBody>
      </p:sp>
      <p:cxnSp>
        <p:nvCxnSpPr>
          <p:cNvPr id="39" name="Straight Arrow Connector 38"/>
          <p:cNvCxnSpPr/>
          <p:nvPr/>
        </p:nvCxnSpPr>
        <p:spPr>
          <a:xfrm>
            <a:off x="3002926" y="2873571"/>
            <a:ext cx="58812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8551706" y="2893667"/>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5560718" y="2873571"/>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6627812" y="2689117"/>
            <a:ext cx="1524000" cy="304800"/>
          </a:xfrm>
          <a:prstGeom prst="rect">
            <a:avLst/>
          </a:prstGeom>
          <a:noFill/>
        </p:spPr>
        <p:txBody>
          <a:bodyPr wrap="none" lIns="0" tIns="0" rIns="0" bIns="0" rtlCol="0">
            <a:noAutofit/>
          </a:bodyPr>
          <a:lstStyle/>
          <a:p>
            <a:pPr algn="ctr">
              <a:lnSpc>
                <a:spcPct val="90000"/>
              </a:lnSpc>
            </a:pPr>
            <a:r>
              <a:rPr lang="en-US" sz="2000" dirty="0" smtClean="0"/>
              <a:t>4. Resolvable?</a:t>
            </a:r>
          </a:p>
        </p:txBody>
      </p:sp>
      <p:sp>
        <p:nvSpPr>
          <p:cNvPr id="43" name="Rectangle 42"/>
          <p:cNvSpPr/>
          <p:nvPr/>
        </p:nvSpPr>
        <p:spPr>
          <a:xfrm>
            <a:off x="1032935" y="390839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2. Add to Log</a:t>
            </a:r>
            <a:endParaRPr lang="en-US" sz="2000" dirty="0">
              <a:solidFill>
                <a:schemeClr val="tx1"/>
              </a:solidFill>
            </a:endParaRPr>
          </a:p>
        </p:txBody>
      </p:sp>
      <p:cxnSp>
        <p:nvCxnSpPr>
          <p:cNvPr id="44" name="Straight Arrow Connector 43"/>
          <p:cNvCxnSpPr/>
          <p:nvPr/>
        </p:nvCxnSpPr>
        <p:spPr>
          <a:xfrm>
            <a:off x="1947335" y="3352533"/>
            <a:ext cx="0" cy="6096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1065212" y="1546117"/>
            <a:ext cx="1981200" cy="685799"/>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p>
          <a:p>
            <a:pPr algn="ctr">
              <a:lnSpc>
                <a:spcPct val="90000"/>
              </a:lnSpc>
            </a:pPr>
            <a:r>
              <a:rPr lang="en-US" dirty="0" smtClean="0">
                <a:solidFill>
                  <a:schemeClr val="accent1"/>
                </a:solidFill>
              </a:rPr>
              <a:t>(e.g., Any Project Team </a:t>
            </a:r>
            <a:br>
              <a:rPr lang="en-US" dirty="0" smtClean="0">
                <a:solidFill>
                  <a:schemeClr val="accent1"/>
                </a:solidFill>
              </a:rPr>
            </a:br>
            <a:r>
              <a:rPr lang="en-US" dirty="0" smtClean="0">
                <a:solidFill>
                  <a:schemeClr val="accent1"/>
                </a:solidFill>
              </a:rPr>
              <a:t>Member, Team Lead, PM, etc.)</a:t>
            </a:r>
          </a:p>
        </p:txBody>
      </p:sp>
      <p:sp>
        <p:nvSpPr>
          <p:cNvPr id="46" name="TextBox 45"/>
          <p:cNvSpPr txBox="1"/>
          <p:nvPr/>
        </p:nvSpPr>
        <p:spPr>
          <a:xfrm>
            <a:off x="3656012" y="1791595"/>
            <a:ext cx="1905000" cy="494405"/>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br>
              <a:rPr lang="en-US" dirty="0" smtClean="0">
                <a:solidFill>
                  <a:schemeClr val="accent1"/>
                </a:solidFill>
              </a:rPr>
            </a:br>
            <a:r>
              <a:rPr lang="en-US" dirty="0" smtClean="0">
                <a:solidFill>
                  <a:schemeClr val="accent1"/>
                </a:solidFill>
              </a:rPr>
              <a:t>(e.g., Team Lead)</a:t>
            </a:r>
          </a:p>
        </p:txBody>
      </p:sp>
      <p:sp>
        <p:nvSpPr>
          <p:cNvPr id="47" name="TextBox 46"/>
          <p:cNvSpPr txBox="1"/>
          <p:nvPr/>
        </p:nvSpPr>
        <p:spPr>
          <a:xfrm>
            <a:off x="6144840" y="1371600"/>
            <a:ext cx="2438399" cy="711316"/>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48" name="TextBox 47"/>
          <p:cNvSpPr txBox="1"/>
          <p:nvPr/>
        </p:nvSpPr>
        <p:spPr>
          <a:xfrm>
            <a:off x="3046412" y="41148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49" name="TextBox 48"/>
          <p:cNvSpPr txBox="1"/>
          <p:nvPr/>
        </p:nvSpPr>
        <p:spPr>
          <a:xfrm>
            <a:off x="8380412" y="41148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50" name="TextBox 49"/>
          <p:cNvSpPr txBox="1"/>
          <p:nvPr/>
        </p:nvSpPr>
        <p:spPr>
          <a:xfrm>
            <a:off x="8380412" y="54102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 Management Strategy – Steps</a:t>
            </a:r>
            <a:endParaRPr lang="en-US" dirty="0"/>
          </a:p>
        </p:txBody>
      </p:sp>
      <p:sp>
        <p:nvSpPr>
          <p:cNvPr id="3" name="Content Placeholder 2"/>
          <p:cNvSpPr>
            <a:spLocks noGrp="1"/>
          </p:cNvSpPr>
          <p:nvPr>
            <p:ph idx="1"/>
          </p:nvPr>
        </p:nvSpPr>
        <p:spPr/>
        <p:txBody>
          <a:bodyPr/>
          <a:lstStyle/>
          <a:p>
            <a:pPr marL="457200" lvl="0" indent="-457200">
              <a:buFont typeface="+mj-lt"/>
              <a:buAutoNum type="arabicPeriod"/>
            </a:pPr>
            <a:r>
              <a:rPr lang="en-US" sz="2000" dirty="0" smtClean="0"/>
              <a:t>&lt;Responsible Role, e.g., Any Project Team Member, Team Lead, etc.&gt; can identify and open an issue by completing the Issue form.</a:t>
            </a:r>
          </a:p>
          <a:p>
            <a:pPr marL="457200" lvl="0" indent="-457200">
              <a:buFont typeface="+mj-lt"/>
              <a:buAutoNum type="arabicPeriod"/>
            </a:pPr>
            <a:r>
              <a:rPr lang="en-US" sz="2000" dirty="0" smtClean="0"/>
              <a:t>The &lt;Responsible Role&gt; is responsible for adding the issue to the Issue Log.</a:t>
            </a:r>
          </a:p>
          <a:p>
            <a:pPr marL="457200" lvl="0" indent="-457200">
              <a:buFont typeface="+mj-lt"/>
              <a:buAutoNum type="arabicPeriod"/>
            </a:pPr>
            <a:r>
              <a:rPr lang="en-US" sz="2000" dirty="0" smtClean="0"/>
              <a:t>The &lt;Responsible Role, e.g., Team Lead or other appropriate responsible person&gt; reviews the issue and assigns the issue to the appropriate person.</a:t>
            </a:r>
          </a:p>
          <a:p>
            <a:pPr marL="457200" lvl="0" indent="-457200">
              <a:buFont typeface="+mj-lt"/>
              <a:buAutoNum type="arabicPeriod"/>
            </a:pPr>
            <a:r>
              <a:rPr lang="en-US" sz="2000" dirty="0" smtClean="0"/>
              <a:t>The Assignee determines if they can resolve the issue and if yes, resolves the issue.</a:t>
            </a:r>
          </a:p>
          <a:p>
            <a:pPr marL="457200" lvl="0" indent="-457200">
              <a:buFont typeface="+mj-lt"/>
              <a:buAutoNum type="arabicPeriod"/>
            </a:pPr>
            <a:r>
              <a:rPr lang="en-US" sz="2000" dirty="0" smtClean="0"/>
              <a:t>Once resolved, the Assignee updates the Issue Log and closes the issue.</a:t>
            </a:r>
          </a:p>
          <a:p>
            <a:pPr marL="457200" lvl="0" indent="-457200">
              <a:buFont typeface="+mj-lt"/>
              <a:buAutoNum type="arabicPeriod"/>
            </a:pPr>
            <a:r>
              <a:rPr lang="en-US" sz="2000" dirty="0" smtClean="0"/>
              <a:t>If the Assignee determines that they cannot resolve the issue, it is escalated for resolution through the Escalation Process in the Project Team Communication Plan.</a:t>
            </a:r>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33</a:t>
            </a:fld>
            <a:endParaRPr lang="en-US" dirty="0"/>
          </a:p>
        </p:txBody>
      </p:sp>
      <p:sp>
        <p:nvSpPr>
          <p:cNvPr id="6" name="TextBox 5"/>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 Management Strategy - Reporting</a:t>
            </a:r>
            <a:endParaRPr lang="en-US" dirty="0"/>
          </a:p>
        </p:txBody>
      </p:sp>
      <p:sp>
        <p:nvSpPr>
          <p:cNvPr id="3" name="Content Placeholder 2"/>
          <p:cNvSpPr>
            <a:spLocks noGrp="1"/>
          </p:cNvSpPr>
          <p:nvPr>
            <p:ph idx="1"/>
          </p:nvPr>
        </p:nvSpPr>
        <p:spPr/>
        <p:txBody>
          <a:bodyPr/>
          <a:lstStyle/>
          <a:p>
            <a:r>
              <a:rPr lang="en-US" dirty="0" smtClean="0"/>
              <a:t>The latest Issue Log will be presented and reviewed during the &lt;frequency, e.g., weekly, monthly&gt; project status meeting.</a:t>
            </a:r>
          </a:p>
          <a:p>
            <a:r>
              <a:rPr lang="en-US" dirty="0" smtClean="0"/>
              <a:t>The latest Issue Log will be included in the &lt;frequency, e.g., weekly, monthly&gt; status report and distributed each week to the management team.</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34</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Problem Management Strategy</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Problem Management Strategy is to establish procedures for managing and monitoring problems during the project.</a:t>
            </a:r>
          </a:p>
          <a:p>
            <a:r>
              <a:rPr lang="en-US" dirty="0" smtClean="0"/>
              <a:t>A Problem is a perceived variance between the expected and actual ability of an item to fulfill its defined purpose (for example, a software bug, consistent unexpected downtimes, a faulty design, service request, etc.).</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35</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Problem Management Strategy</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Management Strategy – Flow</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36</a:t>
            </a:fld>
            <a:endParaRPr lang="en-US" dirty="0"/>
          </a:p>
        </p:txBody>
      </p:sp>
      <p:sp>
        <p:nvSpPr>
          <p:cNvPr id="84" name="TextBox 83"/>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
        <p:nvSpPr>
          <p:cNvPr id="85" name="TextBox 84"/>
          <p:cNvSpPr txBox="1"/>
          <p:nvPr/>
        </p:nvSpPr>
        <p:spPr>
          <a:xfrm>
            <a:off x="9218612" y="567846"/>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cxnSp>
        <p:nvCxnSpPr>
          <p:cNvPr id="38" name="Straight Arrow Connector 37"/>
          <p:cNvCxnSpPr/>
          <p:nvPr/>
        </p:nvCxnSpPr>
        <p:spPr>
          <a:xfrm>
            <a:off x="7360861" y="4199476"/>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1007692" y="300531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1. Raise Problem</a:t>
            </a:r>
          </a:p>
          <a:p>
            <a:pPr algn="ctr"/>
            <a:r>
              <a:rPr lang="en-US" sz="2000" dirty="0" smtClean="0">
                <a:solidFill>
                  <a:schemeClr val="tx1"/>
                </a:solidFill>
              </a:rPr>
              <a:t>(Problem Form)</a:t>
            </a:r>
            <a:endParaRPr lang="en-US" sz="2000" dirty="0">
              <a:solidFill>
                <a:schemeClr val="tx1"/>
              </a:solidFill>
            </a:endParaRPr>
          </a:p>
        </p:txBody>
      </p:sp>
      <p:sp>
        <p:nvSpPr>
          <p:cNvPr id="40" name="Rectangle 39"/>
          <p:cNvSpPr/>
          <p:nvPr/>
        </p:nvSpPr>
        <p:spPr>
          <a:xfrm>
            <a:off x="3625839" y="300531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3.Assign</a:t>
            </a:r>
            <a:endParaRPr lang="en-US" sz="2000" dirty="0">
              <a:solidFill>
                <a:schemeClr val="tx1"/>
              </a:solidFill>
            </a:endParaRPr>
          </a:p>
        </p:txBody>
      </p:sp>
      <p:sp>
        <p:nvSpPr>
          <p:cNvPr id="41" name="Rectangle 40"/>
          <p:cNvSpPr/>
          <p:nvPr/>
        </p:nvSpPr>
        <p:spPr>
          <a:xfrm>
            <a:off x="9128378" y="3043956"/>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8. Follow Escalation Process</a:t>
            </a:r>
            <a:endParaRPr lang="en-US" sz="2000" dirty="0">
              <a:solidFill>
                <a:schemeClr val="tx1"/>
              </a:solidFill>
            </a:endParaRPr>
          </a:p>
        </p:txBody>
      </p:sp>
      <p:sp>
        <p:nvSpPr>
          <p:cNvPr id="42" name="Rectangle 41"/>
          <p:cNvSpPr/>
          <p:nvPr/>
        </p:nvSpPr>
        <p:spPr>
          <a:xfrm>
            <a:off x="6366422" y="466713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 Test Passed?</a:t>
            </a:r>
            <a:endParaRPr lang="en-US" sz="2000" dirty="0">
              <a:solidFill>
                <a:schemeClr val="tx1"/>
              </a:solidFill>
            </a:endParaRPr>
          </a:p>
        </p:txBody>
      </p:sp>
      <p:sp>
        <p:nvSpPr>
          <p:cNvPr id="43" name="Diamond 42"/>
          <p:cNvSpPr/>
          <p:nvPr/>
        </p:nvSpPr>
        <p:spPr>
          <a:xfrm>
            <a:off x="6110278" y="2828836"/>
            <a:ext cx="2507522" cy="1562742"/>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
        <p:nvSpPr>
          <p:cNvPr id="44" name="TextBox 43"/>
          <p:cNvSpPr txBox="1"/>
          <p:nvPr/>
        </p:nvSpPr>
        <p:spPr>
          <a:xfrm>
            <a:off x="6765247" y="4255565"/>
            <a:ext cx="741472" cy="369332"/>
          </a:xfrm>
          <a:prstGeom prst="rect">
            <a:avLst/>
          </a:prstGeom>
          <a:noFill/>
        </p:spPr>
        <p:txBody>
          <a:bodyPr wrap="square" rtlCol="0">
            <a:spAutoFit/>
          </a:bodyPr>
          <a:lstStyle/>
          <a:p>
            <a:r>
              <a:rPr lang="en-US" b="1" dirty="0" smtClean="0">
                <a:solidFill>
                  <a:schemeClr val="tx2"/>
                </a:solidFill>
              </a:rPr>
              <a:t>Yes</a:t>
            </a:r>
          </a:p>
        </p:txBody>
      </p:sp>
      <p:sp>
        <p:nvSpPr>
          <p:cNvPr id="45" name="TextBox 44"/>
          <p:cNvSpPr txBox="1"/>
          <p:nvPr/>
        </p:nvSpPr>
        <p:spPr>
          <a:xfrm>
            <a:off x="8542664" y="3178805"/>
            <a:ext cx="577449" cy="369332"/>
          </a:xfrm>
          <a:prstGeom prst="rect">
            <a:avLst/>
          </a:prstGeom>
          <a:noFill/>
        </p:spPr>
        <p:txBody>
          <a:bodyPr wrap="square" rtlCol="0">
            <a:spAutoFit/>
          </a:bodyPr>
          <a:lstStyle/>
          <a:p>
            <a:r>
              <a:rPr lang="en-US" b="1" dirty="0" smtClean="0">
                <a:solidFill>
                  <a:schemeClr val="tx2"/>
                </a:solidFill>
              </a:rPr>
              <a:t>No</a:t>
            </a:r>
          </a:p>
        </p:txBody>
      </p:sp>
      <p:cxnSp>
        <p:nvCxnSpPr>
          <p:cNvPr id="46" name="Straight Arrow Connector 45"/>
          <p:cNvCxnSpPr/>
          <p:nvPr/>
        </p:nvCxnSpPr>
        <p:spPr>
          <a:xfrm>
            <a:off x="3002926" y="3594291"/>
            <a:ext cx="58812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8551706" y="3614387"/>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5560718" y="3594291"/>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6627812" y="3409837"/>
            <a:ext cx="1524000" cy="304800"/>
          </a:xfrm>
          <a:prstGeom prst="rect">
            <a:avLst/>
          </a:prstGeom>
          <a:noFill/>
        </p:spPr>
        <p:txBody>
          <a:bodyPr wrap="none" lIns="0" tIns="0" rIns="0" bIns="0" rtlCol="0">
            <a:noAutofit/>
          </a:bodyPr>
          <a:lstStyle/>
          <a:p>
            <a:pPr algn="ctr">
              <a:lnSpc>
                <a:spcPct val="90000"/>
              </a:lnSpc>
            </a:pPr>
            <a:r>
              <a:rPr lang="en-US" sz="2000" dirty="0" smtClean="0"/>
              <a:t>4&amp;5. Problem Fixed?</a:t>
            </a:r>
          </a:p>
        </p:txBody>
      </p:sp>
      <p:sp>
        <p:nvSpPr>
          <p:cNvPr id="50" name="Rectangle 49"/>
          <p:cNvSpPr/>
          <p:nvPr/>
        </p:nvSpPr>
        <p:spPr>
          <a:xfrm>
            <a:off x="1032935" y="466713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2. Add to Log</a:t>
            </a:r>
            <a:endParaRPr lang="en-US" sz="2000" dirty="0">
              <a:solidFill>
                <a:schemeClr val="tx1"/>
              </a:solidFill>
            </a:endParaRPr>
          </a:p>
        </p:txBody>
      </p:sp>
      <p:cxnSp>
        <p:nvCxnSpPr>
          <p:cNvPr id="51" name="Straight Arrow Connector 50"/>
          <p:cNvCxnSpPr/>
          <p:nvPr/>
        </p:nvCxnSpPr>
        <p:spPr>
          <a:xfrm>
            <a:off x="1947335" y="4073253"/>
            <a:ext cx="0" cy="6096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9142412" y="466713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 Update Log and Close</a:t>
            </a:r>
            <a:endParaRPr lang="en-US" sz="2000" dirty="0">
              <a:solidFill>
                <a:schemeClr val="tx1"/>
              </a:solidFill>
            </a:endParaRPr>
          </a:p>
        </p:txBody>
      </p:sp>
      <p:cxnSp>
        <p:nvCxnSpPr>
          <p:cNvPr id="53" name="Straight Arrow Connector 52"/>
          <p:cNvCxnSpPr>
            <a:stCxn id="42" idx="3"/>
            <a:endCxn id="52" idx="1"/>
          </p:cNvCxnSpPr>
          <p:nvPr/>
        </p:nvCxnSpPr>
        <p:spPr>
          <a:xfrm>
            <a:off x="8361656" y="5211729"/>
            <a:ext cx="78075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456612" y="4835232"/>
            <a:ext cx="533400" cy="369332"/>
          </a:xfrm>
          <a:prstGeom prst="rect">
            <a:avLst/>
          </a:prstGeom>
          <a:noFill/>
        </p:spPr>
        <p:txBody>
          <a:bodyPr wrap="square" rtlCol="0">
            <a:spAutoFit/>
          </a:bodyPr>
          <a:lstStyle/>
          <a:p>
            <a:r>
              <a:rPr lang="en-US" b="1" dirty="0" smtClean="0">
                <a:solidFill>
                  <a:schemeClr val="tx2"/>
                </a:solidFill>
              </a:rPr>
              <a:t>Yes</a:t>
            </a:r>
          </a:p>
        </p:txBody>
      </p:sp>
      <p:sp>
        <p:nvSpPr>
          <p:cNvPr id="55" name="Rectangle 54"/>
          <p:cNvSpPr/>
          <p:nvPr/>
        </p:nvSpPr>
        <p:spPr>
          <a:xfrm>
            <a:off x="3625839" y="466713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7. Start Again</a:t>
            </a:r>
            <a:endParaRPr lang="en-US" sz="2000" dirty="0">
              <a:solidFill>
                <a:schemeClr val="tx1"/>
              </a:solidFill>
            </a:endParaRPr>
          </a:p>
        </p:txBody>
      </p:sp>
      <p:cxnSp>
        <p:nvCxnSpPr>
          <p:cNvPr id="56" name="Straight Arrow Connector 55"/>
          <p:cNvCxnSpPr>
            <a:stCxn id="55" idx="0"/>
            <a:endCxn id="40" idx="2"/>
          </p:cNvCxnSpPr>
          <p:nvPr/>
        </p:nvCxnSpPr>
        <p:spPr>
          <a:xfrm flipV="1">
            <a:off x="4623456" y="4094503"/>
            <a:ext cx="0" cy="57263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2" idx="1"/>
            <a:endCxn id="55" idx="3"/>
          </p:cNvCxnSpPr>
          <p:nvPr/>
        </p:nvCxnSpPr>
        <p:spPr>
          <a:xfrm flipH="1">
            <a:off x="5621073" y="5211729"/>
            <a:ext cx="74534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9142412" y="1242164"/>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 Update Log and Close</a:t>
            </a:r>
            <a:endParaRPr lang="en-US" sz="2000" dirty="0">
              <a:solidFill>
                <a:schemeClr val="tx1"/>
              </a:solidFill>
            </a:endParaRPr>
          </a:p>
        </p:txBody>
      </p:sp>
      <p:cxnSp>
        <p:nvCxnSpPr>
          <p:cNvPr id="92" name="Straight Arrow Connector 91"/>
          <p:cNvCxnSpPr>
            <a:endCxn id="58" idx="1"/>
          </p:cNvCxnSpPr>
          <p:nvPr/>
        </p:nvCxnSpPr>
        <p:spPr>
          <a:xfrm flipV="1">
            <a:off x="7999412" y="1786756"/>
            <a:ext cx="1143000" cy="136040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7770812" y="2004164"/>
            <a:ext cx="1219200" cy="369332"/>
          </a:xfrm>
          <a:prstGeom prst="rect">
            <a:avLst/>
          </a:prstGeom>
          <a:noFill/>
        </p:spPr>
        <p:txBody>
          <a:bodyPr wrap="square" rtlCol="0">
            <a:spAutoFit/>
          </a:bodyPr>
          <a:lstStyle/>
          <a:p>
            <a:r>
              <a:rPr lang="en-US" b="1" dirty="0" smtClean="0">
                <a:solidFill>
                  <a:schemeClr val="tx2"/>
                </a:solidFill>
              </a:rPr>
              <a:t>Resolved</a:t>
            </a:r>
          </a:p>
        </p:txBody>
      </p:sp>
      <p:sp>
        <p:nvSpPr>
          <p:cNvPr id="94" name="TextBox 93"/>
          <p:cNvSpPr txBox="1"/>
          <p:nvPr/>
        </p:nvSpPr>
        <p:spPr>
          <a:xfrm>
            <a:off x="989012" y="2232764"/>
            <a:ext cx="1981200" cy="685799"/>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p>
          <a:p>
            <a:pPr algn="ctr">
              <a:lnSpc>
                <a:spcPct val="90000"/>
              </a:lnSpc>
            </a:pPr>
            <a:r>
              <a:rPr lang="en-US" dirty="0" smtClean="0">
                <a:solidFill>
                  <a:schemeClr val="accent1"/>
                </a:solidFill>
              </a:rPr>
              <a:t>(e.g., Any Project Team </a:t>
            </a:r>
            <a:br>
              <a:rPr lang="en-US" dirty="0" smtClean="0">
                <a:solidFill>
                  <a:schemeClr val="accent1"/>
                </a:solidFill>
              </a:rPr>
            </a:br>
            <a:r>
              <a:rPr lang="en-US" dirty="0" smtClean="0">
                <a:solidFill>
                  <a:schemeClr val="accent1"/>
                </a:solidFill>
              </a:rPr>
              <a:t>Member, Team Lead, PM, etc.)</a:t>
            </a:r>
          </a:p>
        </p:txBody>
      </p:sp>
      <p:sp>
        <p:nvSpPr>
          <p:cNvPr id="95" name="TextBox 94"/>
          <p:cNvSpPr txBox="1"/>
          <p:nvPr/>
        </p:nvSpPr>
        <p:spPr>
          <a:xfrm>
            <a:off x="3656012" y="2461364"/>
            <a:ext cx="1905000" cy="494405"/>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br>
              <a:rPr lang="en-US" dirty="0" smtClean="0">
                <a:solidFill>
                  <a:schemeClr val="accent1"/>
                </a:solidFill>
              </a:rPr>
            </a:br>
            <a:r>
              <a:rPr lang="en-US" dirty="0" smtClean="0">
                <a:solidFill>
                  <a:schemeClr val="accent1"/>
                </a:solidFill>
              </a:rPr>
              <a:t>(e.g., Team Lead)</a:t>
            </a:r>
          </a:p>
        </p:txBody>
      </p:sp>
      <p:sp>
        <p:nvSpPr>
          <p:cNvPr id="96" name="TextBox 95"/>
          <p:cNvSpPr txBox="1"/>
          <p:nvPr/>
        </p:nvSpPr>
        <p:spPr>
          <a:xfrm>
            <a:off x="6449639" y="2308965"/>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97" name="TextBox 96"/>
          <p:cNvSpPr txBox="1"/>
          <p:nvPr/>
        </p:nvSpPr>
        <p:spPr>
          <a:xfrm>
            <a:off x="5789612" y="4835232"/>
            <a:ext cx="533400" cy="369332"/>
          </a:xfrm>
          <a:prstGeom prst="rect">
            <a:avLst/>
          </a:prstGeom>
          <a:noFill/>
        </p:spPr>
        <p:txBody>
          <a:bodyPr wrap="square" rtlCol="0">
            <a:spAutoFit/>
          </a:bodyPr>
          <a:lstStyle/>
          <a:p>
            <a:r>
              <a:rPr lang="en-US" b="1" dirty="0" smtClean="0">
                <a:solidFill>
                  <a:schemeClr val="tx2"/>
                </a:solidFill>
              </a:rPr>
              <a:t>No</a:t>
            </a:r>
          </a:p>
        </p:txBody>
      </p:sp>
      <p:sp>
        <p:nvSpPr>
          <p:cNvPr id="98" name="TextBox 97"/>
          <p:cNvSpPr txBox="1"/>
          <p:nvPr/>
        </p:nvSpPr>
        <p:spPr>
          <a:xfrm>
            <a:off x="1065212" y="5737965"/>
            <a:ext cx="19050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99" name="TextBox 98"/>
          <p:cNvSpPr txBox="1"/>
          <p:nvPr/>
        </p:nvSpPr>
        <p:spPr>
          <a:xfrm>
            <a:off x="6399212" y="5737965"/>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100" name="TextBox 99"/>
          <p:cNvSpPr txBox="1"/>
          <p:nvPr/>
        </p:nvSpPr>
        <p:spPr>
          <a:xfrm>
            <a:off x="9218612" y="5737965"/>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101" name="TextBox 100"/>
          <p:cNvSpPr txBox="1"/>
          <p:nvPr/>
        </p:nvSpPr>
        <p:spPr>
          <a:xfrm>
            <a:off x="3656012" y="5737965"/>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Management Strategy – Steps</a:t>
            </a:r>
            <a:endParaRPr lang="en-US" dirty="0"/>
          </a:p>
        </p:txBody>
      </p:sp>
      <p:sp>
        <p:nvSpPr>
          <p:cNvPr id="3" name="Content Placeholder 2"/>
          <p:cNvSpPr>
            <a:spLocks noGrp="1"/>
          </p:cNvSpPr>
          <p:nvPr>
            <p:ph idx="1"/>
          </p:nvPr>
        </p:nvSpPr>
        <p:spPr/>
        <p:txBody>
          <a:bodyPr/>
          <a:lstStyle/>
          <a:p>
            <a:pPr marL="457200" lvl="0" indent="-457200">
              <a:buFont typeface="+mj-lt"/>
              <a:buAutoNum type="arabicPeriod"/>
            </a:pPr>
            <a:r>
              <a:rPr lang="en-US" sz="2000" dirty="0" smtClean="0"/>
              <a:t>&lt;Responsible Role, e.g., Any Project Team Member, Team Lead, etc.&gt; can identify and open a problem by completing the Problem form.</a:t>
            </a:r>
          </a:p>
          <a:p>
            <a:pPr marL="457200" lvl="0" indent="-457200">
              <a:buFont typeface="+mj-lt"/>
              <a:buAutoNum type="arabicPeriod"/>
            </a:pPr>
            <a:r>
              <a:rPr lang="en-US" sz="2000" dirty="0" smtClean="0"/>
              <a:t>The &lt;Responsible Role&gt; is responsible for adding the problem to the Problem Log.</a:t>
            </a:r>
          </a:p>
          <a:p>
            <a:pPr marL="457200" lvl="0" indent="-457200">
              <a:buFont typeface="+mj-lt"/>
              <a:buAutoNum type="arabicPeriod"/>
            </a:pPr>
            <a:r>
              <a:rPr lang="en-US" sz="2000" dirty="0" smtClean="0"/>
              <a:t>The &lt;Responsible Role, e.g., Team Lead or other appropriate responsible person&gt; reviews the problem and assigns it to the appropriate person.</a:t>
            </a:r>
          </a:p>
          <a:p>
            <a:pPr marL="457200" lvl="0" indent="-457200">
              <a:buFont typeface="+mj-lt"/>
              <a:buAutoNum type="arabicPeriod"/>
            </a:pPr>
            <a:r>
              <a:rPr lang="en-US" sz="2000" dirty="0" smtClean="0"/>
              <a:t>The Assignee determines if the problem should be closed for some reason (incorrectly reported, misunderstanding, etc.) and updates the Problem Log and closes the problem.</a:t>
            </a:r>
          </a:p>
          <a:p>
            <a:pPr marL="457200" lvl="0" indent="-457200">
              <a:buFont typeface="+mj-lt"/>
              <a:buAutoNum type="arabicPeriod"/>
            </a:pPr>
            <a:r>
              <a:rPr lang="en-US" sz="2000" dirty="0" smtClean="0"/>
              <a:t>If the Assignee determines the problem is valid, the Assignee fixes the problem.</a:t>
            </a:r>
          </a:p>
          <a:p>
            <a:pPr marL="457200" lvl="0" indent="-457200">
              <a:buFont typeface="+mj-lt"/>
              <a:buAutoNum type="arabicPeriod"/>
            </a:pPr>
            <a:r>
              <a:rPr lang="en-US" sz="2000" dirty="0" smtClean="0"/>
              <a:t>The problem is tested. If it passes, the Assignee updates the Problem Log and closes the problem.</a:t>
            </a:r>
          </a:p>
          <a:p>
            <a:pPr marL="457200" lvl="0" indent="-457200">
              <a:buFont typeface="+mj-lt"/>
              <a:buAutoNum type="arabicPeriod"/>
            </a:pPr>
            <a:r>
              <a:rPr lang="en-US" sz="2000" dirty="0" smtClean="0"/>
              <a:t>If the problem persists, it is fixed and retested until it passes testing. At that time, the Assignee updates the Problem Log and closes the problem.</a:t>
            </a:r>
          </a:p>
          <a:p>
            <a:pPr marL="457200" lvl="0" indent="-457200">
              <a:buFont typeface="+mj-lt"/>
              <a:buAutoNum type="arabicPeriod"/>
            </a:pPr>
            <a:r>
              <a:rPr lang="en-US" sz="2000" dirty="0" smtClean="0"/>
              <a:t>If the Assignee determines that they cannot resolve the issue, it is escalated for resolution through the Escalation Process in the Project Team </a:t>
            </a:r>
            <a:r>
              <a:rPr lang="en-US" sz="2000" smtClean="0"/>
              <a:t>Communication Plan</a:t>
            </a:r>
            <a:r>
              <a:rPr lang="en-US" sz="2000" dirty="0" smtClean="0"/>
              <a:t>.</a:t>
            </a:r>
            <a:endParaRPr lang="en-US" sz="2000"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37</a:t>
            </a:fld>
            <a:endParaRPr lang="en-US" dirty="0"/>
          </a:p>
        </p:txBody>
      </p:sp>
      <p:sp>
        <p:nvSpPr>
          <p:cNvPr id="6" name="TextBox 5"/>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Management Strategy- Reporting</a:t>
            </a:r>
            <a:endParaRPr lang="en-US" dirty="0"/>
          </a:p>
        </p:txBody>
      </p:sp>
      <p:sp>
        <p:nvSpPr>
          <p:cNvPr id="3" name="Content Placeholder 2"/>
          <p:cNvSpPr>
            <a:spLocks noGrp="1"/>
          </p:cNvSpPr>
          <p:nvPr>
            <p:ph idx="1"/>
          </p:nvPr>
        </p:nvSpPr>
        <p:spPr/>
        <p:txBody>
          <a:bodyPr/>
          <a:lstStyle/>
          <a:p>
            <a:r>
              <a:rPr lang="en-US" dirty="0" smtClean="0"/>
              <a:t>The latest Problem Log will be presented and reviewed during the &lt;frequency, e.g., weekly, monthly&gt; project status meeting.</a:t>
            </a:r>
          </a:p>
          <a:p>
            <a:r>
              <a:rPr lang="en-US" dirty="0" smtClean="0"/>
              <a:t>The latest Problem Log will be included in the &lt;frequency, e.g., weekly, monthly&gt; status report and distributed each week to the management team.</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38</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Staff Management Plan</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Staff Management Plan is to document the details of the project staff.  This includes:</a:t>
            </a:r>
          </a:p>
          <a:p>
            <a:pPr lvl="1"/>
            <a:r>
              <a:rPr lang="en-US" dirty="0" smtClean="0"/>
              <a:t>Approach</a:t>
            </a:r>
          </a:p>
          <a:p>
            <a:pPr lvl="1"/>
            <a:r>
              <a:rPr lang="en-US" dirty="0" smtClean="0"/>
              <a:t>Project Organization Chart</a:t>
            </a:r>
          </a:p>
          <a:p>
            <a:pPr lvl="1"/>
            <a:r>
              <a:rPr lang="en-US" dirty="0" smtClean="0"/>
              <a:t>Project Roles and Responsibilities</a:t>
            </a:r>
          </a:p>
          <a:p>
            <a:pPr lvl="1"/>
            <a:r>
              <a:rPr lang="en-US" dirty="0" smtClean="0"/>
              <a:t>Staff Training Plan</a:t>
            </a:r>
          </a:p>
          <a:p>
            <a:endParaRPr lang="en-US" dirty="0" smtClean="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39</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Staff Management Plan</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Staff Management Plan – Approach</a:t>
            </a:r>
            <a:endParaRPr lang="en-US" dirty="0"/>
          </a:p>
        </p:txBody>
      </p:sp>
      <p:sp>
        <p:nvSpPr>
          <p:cNvPr id="3" name="Content Placeholder 2"/>
          <p:cNvSpPr>
            <a:spLocks noGrp="1"/>
          </p:cNvSpPr>
          <p:nvPr>
            <p:ph idx="1"/>
          </p:nvPr>
        </p:nvSpPr>
        <p:spPr/>
        <p:txBody>
          <a:bodyPr/>
          <a:lstStyle/>
          <a:p>
            <a:r>
              <a:rPr lang="en-US" dirty="0" smtClean="0"/>
              <a:t>&lt;This section should be updated with any governance-level details associated with project staff. It might include information on bringing staff on board, whether they are employees, or outside contractors. It might also describe how staff will be released after their part of the project is complete.&gt;</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40</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Staff Management Plan</a:t>
            </a:r>
            <a:endParaRPr lang="en-US" dirty="0"/>
          </a:p>
        </p:txBody>
      </p:sp>
      <p:sp>
        <p:nvSpPr>
          <p:cNvPr id="51" name="Content Placeholder 50"/>
          <p:cNvSpPr>
            <a:spLocks noGrp="1"/>
          </p:cNvSpPr>
          <p:nvPr>
            <p:ph idx="1"/>
          </p:nvPr>
        </p:nvSpPr>
        <p:spPr/>
        <p:txBody>
          <a:bodyPr/>
          <a:lstStyle/>
          <a:p>
            <a:r>
              <a:rPr lang="en-US" dirty="0" smtClean="0"/>
              <a:t>Project Organization Chart</a:t>
            </a:r>
          </a:p>
          <a:p>
            <a:pPr lvl="1"/>
            <a:r>
              <a:rPr lang="en-US" dirty="0" smtClean="0"/>
              <a:t>Refer to the Project Team Organization Chart (STM.010) in the Project Library.</a:t>
            </a:r>
          </a:p>
          <a:p>
            <a:r>
              <a:rPr lang="en-US" dirty="0" smtClean="0"/>
              <a:t>Roles and Responsibilities</a:t>
            </a:r>
          </a:p>
          <a:p>
            <a:pPr lvl="1"/>
            <a:r>
              <a:rPr lang="en-US" dirty="0" smtClean="0"/>
              <a:t>Refer to the Project Roles and Responsibilities presentation (STM.020) in the Project Library.</a:t>
            </a:r>
          </a:p>
          <a:p>
            <a:r>
              <a:rPr lang="en-US" dirty="0" smtClean="0"/>
              <a:t>Staff Training Plan</a:t>
            </a:r>
          </a:p>
          <a:p>
            <a:pPr lvl="1"/>
            <a:r>
              <a:rPr lang="en-US" dirty="0" smtClean="0"/>
              <a:t>Refer to the Staff Training Plan (STM.020) in the Project Library.</a:t>
            </a:r>
          </a:p>
          <a:p>
            <a:pPr lvl="1"/>
            <a:endParaRPr lang="en-US" dirty="0" smtClean="0"/>
          </a:p>
          <a:p>
            <a:endParaRPr lang="en-US" dirty="0" smtClean="0"/>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41</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Project Team Communication Plan</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Project Team Communication Plan is to define the communication requirements for the project and how information will be distributed to ensure project success.</a:t>
            </a:r>
          </a:p>
          <a:p>
            <a:r>
              <a:rPr lang="en-US" dirty="0" smtClean="0"/>
              <a:t>Communication Matrix - Refer to the Project Stakeholder Analysis (CMM.010) in the Project Library.</a:t>
            </a:r>
          </a:p>
          <a:p>
            <a:endParaRPr lang="en-US" dirty="0" smtClean="0"/>
          </a:p>
          <a:p>
            <a:endParaRPr lang="en-US" dirty="0" smtClean="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42</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Project Team Communication Plan</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Communication Plan – Meeting Matrix</a:t>
            </a:r>
            <a:endParaRPr lang="en-US" dirty="0"/>
          </a:p>
        </p:txBody>
      </p:sp>
      <p:graphicFrame>
        <p:nvGraphicFramePr>
          <p:cNvPr id="7" name="Content Placeholder 6"/>
          <p:cNvGraphicFramePr>
            <a:graphicFrameLocks noGrp="1"/>
          </p:cNvGraphicFramePr>
          <p:nvPr>
            <p:ph idx="1"/>
          </p:nvPr>
        </p:nvGraphicFramePr>
        <p:xfrm>
          <a:off x="531813" y="1524000"/>
          <a:ext cx="10929502" cy="4328160"/>
        </p:xfrm>
        <a:graphic>
          <a:graphicData uri="http://schemas.openxmlformats.org/drawingml/2006/table">
            <a:tbl>
              <a:tblPr firstRow="1" bandRow="1">
                <a:tableStyleId>{5FD0F851-EC5A-4D38-B0AD-8093EC10F338}</a:tableStyleId>
              </a:tblPr>
              <a:tblGrid>
                <a:gridCol w="2093564"/>
                <a:gridCol w="2861023"/>
                <a:gridCol w="1326105"/>
                <a:gridCol w="2555246"/>
                <a:gridCol w="2093564"/>
              </a:tblGrid>
              <a:tr h="370840">
                <a:tc>
                  <a:txBody>
                    <a:bodyPr/>
                    <a:lstStyle/>
                    <a:p>
                      <a:r>
                        <a:rPr lang="en-US" dirty="0" smtClean="0"/>
                        <a:t>Meeting</a:t>
                      </a:r>
                      <a:endParaRPr lang="en-US" dirty="0"/>
                    </a:p>
                  </a:txBody>
                  <a:tcPr/>
                </a:tc>
                <a:tc>
                  <a:txBody>
                    <a:bodyPr/>
                    <a:lstStyle/>
                    <a:p>
                      <a:r>
                        <a:rPr lang="en-US" dirty="0" smtClean="0"/>
                        <a:t>Description</a:t>
                      </a:r>
                      <a:endParaRPr lang="en-US" dirty="0"/>
                    </a:p>
                  </a:txBody>
                  <a:tcPr/>
                </a:tc>
                <a:tc>
                  <a:txBody>
                    <a:bodyPr/>
                    <a:lstStyle/>
                    <a:p>
                      <a:r>
                        <a:rPr lang="en-US" dirty="0" smtClean="0"/>
                        <a:t>Freq</a:t>
                      </a:r>
                      <a:endParaRPr lang="en-US" dirty="0"/>
                    </a:p>
                  </a:txBody>
                  <a:tcPr/>
                </a:tc>
                <a:tc>
                  <a:txBody>
                    <a:bodyPr/>
                    <a:lstStyle/>
                    <a:p>
                      <a:r>
                        <a:rPr lang="en-US" dirty="0" smtClean="0"/>
                        <a:t>Attendees</a:t>
                      </a:r>
                      <a:endParaRPr lang="en-US" dirty="0"/>
                    </a:p>
                  </a:txBody>
                  <a:tcPr/>
                </a:tc>
                <a:tc>
                  <a:txBody>
                    <a:bodyPr/>
                    <a:lstStyle/>
                    <a:p>
                      <a:r>
                        <a:rPr lang="en-US" dirty="0" smtClean="0"/>
                        <a:t>Host/Format</a:t>
                      </a:r>
                      <a:endParaRPr lang="en-US" dirty="0"/>
                    </a:p>
                  </a:txBody>
                  <a:tcPr/>
                </a:tc>
              </a:tr>
              <a:tr h="370840">
                <a:tc>
                  <a:txBody>
                    <a:bodyPr/>
                    <a:lstStyle/>
                    <a:p>
                      <a:r>
                        <a:rPr lang="en-US" sz="1200" dirty="0" smtClean="0"/>
                        <a:t>Steering Committee</a:t>
                      </a:r>
                      <a:endParaRPr lang="en-US" sz="1200" dirty="0"/>
                    </a:p>
                  </a:txBody>
                  <a:tcPr/>
                </a:tc>
                <a:tc>
                  <a:txBody>
                    <a:bodyPr/>
                    <a:lstStyle/>
                    <a:p>
                      <a:pPr>
                        <a:buFont typeface="Arial" pitchFamily="34" charset="0"/>
                        <a:buNone/>
                      </a:pPr>
                      <a:r>
                        <a:rPr lang="en-US" sz="1200" kern="1200" dirty="0" smtClean="0">
                          <a:solidFill>
                            <a:schemeClr val="tx1"/>
                          </a:solidFill>
                          <a:latin typeface="+mn-lt"/>
                          <a:ea typeface="+mn-ea"/>
                          <a:cs typeface="+mn-cs"/>
                        </a:rPr>
                        <a:t>Review of Progress against Key Milestones</a:t>
                      </a:r>
                    </a:p>
                    <a:p>
                      <a:pPr>
                        <a:buFont typeface="Arial" pitchFamily="34" charset="0"/>
                        <a:buNone/>
                      </a:pPr>
                      <a:r>
                        <a:rPr lang="en-US" sz="1200" kern="1200" dirty="0" smtClean="0">
                          <a:solidFill>
                            <a:schemeClr val="tx1"/>
                          </a:solidFill>
                          <a:latin typeface="+mn-lt"/>
                          <a:ea typeface="+mn-ea"/>
                          <a:cs typeface="+mn-cs"/>
                        </a:rPr>
                        <a:t>Resolution of key Risks and Issues</a:t>
                      </a:r>
                    </a:p>
                    <a:p>
                      <a:pPr>
                        <a:buFont typeface="Arial" pitchFamily="34" charset="0"/>
                        <a:buNone/>
                      </a:pPr>
                      <a:r>
                        <a:rPr lang="en-US" sz="1200" kern="1200" dirty="0" smtClean="0">
                          <a:solidFill>
                            <a:schemeClr val="tx1"/>
                          </a:solidFill>
                          <a:latin typeface="+mn-lt"/>
                          <a:ea typeface="+mn-ea"/>
                          <a:cs typeface="+mn-cs"/>
                        </a:rPr>
                        <a:t>Approval of Change Requests</a:t>
                      </a:r>
                    </a:p>
                    <a:p>
                      <a:pPr>
                        <a:buFont typeface="Arial" pitchFamily="34" charset="0"/>
                        <a:buNone/>
                      </a:pPr>
                      <a:r>
                        <a:rPr lang="en-US" sz="1200" kern="1200" dirty="0" smtClean="0">
                          <a:solidFill>
                            <a:schemeClr val="tx1"/>
                          </a:solidFill>
                          <a:latin typeface="+mn-lt"/>
                          <a:ea typeface="+mn-ea"/>
                          <a:cs typeface="+mn-cs"/>
                        </a:rPr>
                        <a:t>Review of Project Budget</a:t>
                      </a:r>
                    </a:p>
                    <a:p>
                      <a:pPr>
                        <a:buFont typeface="Arial" pitchFamily="34" charset="0"/>
                        <a:buNone/>
                      </a:pPr>
                      <a:r>
                        <a:rPr lang="en-US" sz="1200" kern="1200" dirty="0" smtClean="0">
                          <a:solidFill>
                            <a:schemeClr val="tx1"/>
                          </a:solidFill>
                          <a:latin typeface="+mn-lt"/>
                          <a:ea typeface="+mn-ea"/>
                          <a:cs typeface="+mn-cs"/>
                        </a:rPr>
                        <a:t>Review of Project Resources</a:t>
                      </a:r>
                      <a:endParaRPr lang="en-US" sz="1200" dirty="0"/>
                    </a:p>
                  </a:txBody>
                  <a:tcPr/>
                </a:tc>
                <a:tc>
                  <a:txBody>
                    <a:bodyPr/>
                    <a:lstStyle/>
                    <a:p>
                      <a:r>
                        <a:rPr lang="en-US" sz="1200" dirty="0" smtClean="0"/>
                        <a:t>Monthly</a:t>
                      </a:r>
                      <a:endParaRPr lang="en-US" sz="1200" dirty="0"/>
                    </a:p>
                  </a:txBody>
                  <a:tcPr/>
                </a:tc>
                <a:tc>
                  <a:txBody>
                    <a:bodyPr/>
                    <a:lstStyle/>
                    <a:p>
                      <a:endParaRPr lang="en-US" sz="1200" dirty="0"/>
                    </a:p>
                  </a:txBody>
                  <a:tcPr/>
                </a:tc>
                <a:tc>
                  <a:txBody>
                    <a:bodyPr/>
                    <a:lstStyle/>
                    <a:p>
                      <a:r>
                        <a:rPr lang="en-US" sz="1200" kern="1200" dirty="0" smtClean="0">
                          <a:solidFill>
                            <a:schemeClr val="tx1"/>
                          </a:solidFill>
                          <a:latin typeface="+mn-lt"/>
                          <a:ea typeface="+mn-ea"/>
                          <a:cs typeface="+mn-cs"/>
                        </a:rPr>
                        <a:t>&lt;Role or Name&gt;</a:t>
                      </a:r>
                    </a:p>
                    <a:p>
                      <a:r>
                        <a:rPr lang="en-US" sz="1200" kern="1200" dirty="0" smtClean="0">
                          <a:solidFill>
                            <a:schemeClr val="tx1"/>
                          </a:solidFill>
                          <a:latin typeface="+mn-lt"/>
                          <a:ea typeface="+mn-ea"/>
                          <a:cs typeface="+mn-cs"/>
                        </a:rPr>
                        <a:t>&lt;In Person, Web Conference, etc.&gt;</a:t>
                      </a:r>
                      <a:endParaRPr lang="en-US" sz="1200" dirty="0"/>
                    </a:p>
                  </a:txBody>
                  <a:tcPr/>
                </a:tc>
              </a:tr>
              <a:tr h="370840">
                <a:tc>
                  <a:txBody>
                    <a:bodyPr/>
                    <a:lstStyle/>
                    <a:p>
                      <a:r>
                        <a:rPr lang="en-US" sz="1200" dirty="0" smtClean="0"/>
                        <a:t>Status Meeting</a:t>
                      </a:r>
                      <a:endParaRPr lang="en-US" sz="1200" dirty="0"/>
                    </a:p>
                  </a:txBody>
                  <a:tcPr/>
                </a:tc>
                <a:tc>
                  <a:txBody>
                    <a:bodyPr/>
                    <a:lstStyle/>
                    <a:p>
                      <a:r>
                        <a:rPr lang="en-US" sz="1200" kern="1200" dirty="0" smtClean="0">
                          <a:solidFill>
                            <a:schemeClr val="tx1"/>
                          </a:solidFill>
                          <a:latin typeface="+mn-lt"/>
                          <a:ea typeface="+mn-ea"/>
                          <a:cs typeface="+mn-cs"/>
                        </a:rPr>
                        <a:t>Communicate progress against scope, schedule, risks, issues, problems etc.</a:t>
                      </a:r>
                      <a:endParaRPr lang="en-US" sz="1200" dirty="0"/>
                    </a:p>
                  </a:txBody>
                  <a:tcPr/>
                </a:tc>
                <a:tc>
                  <a:txBody>
                    <a:bodyPr/>
                    <a:lstStyle/>
                    <a:p>
                      <a:r>
                        <a:rPr lang="en-US" sz="1200" dirty="0" smtClean="0"/>
                        <a:t>Weekly</a:t>
                      </a:r>
                      <a:endParaRPr lang="en-US" sz="1200" dirty="0"/>
                    </a:p>
                  </a:txBody>
                  <a:tcPr/>
                </a:tc>
                <a:tc>
                  <a:txBody>
                    <a:bodyPr/>
                    <a:lstStyle/>
                    <a:p>
                      <a:endParaRPr lang="en-US" sz="1200"/>
                    </a:p>
                  </a:txBody>
                  <a:tcPr/>
                </a:tc>
                <a:tc>
                  <a:txBody>
                    <a:bodyPr/>
                    <a:lstStyle/>
                    <a:p>
                      <a:endParaRPr lang="en-US" sz="1200" dirty="0"/>
                    </a:p>
                  </a:txBody>
                  <a:tcPr/>
                </a:tc>
              </a:tr>
              <a:tr h="370840">
                <a:tc>
                  <a:txBody>
                    <a:bodyPr/>
                    <a:lstStyle/>
                    <a:p>
                      <a:r>
                        <a:rPr lang="en-US" sz="1200" dirty="0" smtClean="0"/>
                        <a:t>Team</a:t>
                      </a:r>
                      <a:endParaRPr lang="en-US" sz="1200" dirty="0"/>
                    </a:p>
                  </a:txBody>
                  <a:tcPr/>
                </a:tc>
                <a:tc>
                  <a:txBody>
                    <a:bodyPr/>
                    <a:lstStyle/>
                    <a:p>
                      <a:r>
                        <a:rPr lang="en-US" sz="1200" kern="1200" dirty="0" smtClean="0">
                          <a:solidFill>
                            <a:schemeClr val="tx1"/>
                          </a:solidFill>
                          <a:latin typeface="+mn-lt"/>
                          <a:ea typeface="+mn-ea"/>
                          <a:cs typeface="+mn-cs"/>
                        </a:rPr>
                        <a:t>Review of progress and issues</a:t>
                      </a:r>
                    </a:p>
                    <a:p>
                      <a:r>
                        <a:rPr lang="en-US" sz="1200" kern="1200" dirty="0" smtClean="0">
                          <a:solidFill>
                            <a:schemeClr val="tx1"/>
                          </a:solidFill>
                          <a:latin typeface="+mn-lt"/>
                          <a:ea typeface="+mn-ea"/>
                          <a:cs typeface="+mn-cs"/>
                        </a:rPr>
                        <a:t>Maintaining focus on project objectives and success criteria</a:t>
                      </a:r>
                      <a:endParaRPr lang="en-US" sz="1200" dirty="0"/>
                    </a:p>
                  </a:txBody>
                  <a:tcPr/>
                </a:tc>
                <a:tc>
                  <a:txBody>
                    <a:bodyPr/>
                    <a:lstStyle/>
                    <a:p>
                      <a:r>
                        <a:rPr lang="en-US" sz="1200" dirty="0" smtClean="0"/>
                        <a:t>Weekly</a:t>
                      </a:r>
                      <a:endParaRPr lang="en-US" sz="1200" dirty="0"/>
                    </a:p>
                  </a:txBody>
                  <a:tcPr/>
                </a:tc>
                <a:tc>
                  <a:txBody>
                    <a:bodyPr/>
                    <a:lstStyle/>
                    <a:p>
                      <a:endParaRPr lang="en-US" sz="1200"/>
                    </a:p>
                  </a:txBody>
                  <a:tcPr/>
                </a:tc>
                <a:tc>
                  <a:txBody>
                    <a:bodyPr/>
                    <a:lstStyle/>
                    <a:p>
                      <a:endParaRPr lang="en-US" sz="1200" dirty="0"/>
                    </a:p>
                  </a:txBody>
                  <a:tcPr/>
                </a:tc>
              </a:tr>
              <a:tr h="370840">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tr>
              <a:tr h="370840">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tr>
              <a:tr h="370840">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r>
              <a:tr h="370840">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r>
              <a:tr h="370840">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tr>
            </a:tbl>
          </a:graphicData>
        </a:graphic>
      </p:graphicFrame>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43</a:t>
            </a:fld>
            <a:endParaRPr lang="en-US" dirty="0"/>
          </a:p>
        </p:txBody>
      </p:sp>
      <p:sp>
        <p:nvSpPr>
          <p:cNvPr id="9" name="TextBox 8"/>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Communication Plan - Escalation Process</a:t>
            </a:r>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44</a:t>
            </a:fld>
            <a:endParaRPr lang="en-US" dirty="0"/>
          </a:p>
        </p:txBody>
      </p:sp>
      <p:sp>
        <p:nvSpPr>
          <p:cNvPr id="23" name="TextBox 22"/>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
        <p:nvSpPr>
          <p:cNvPr id="24" name="Rectangle 23"/>
          <p:cNvSpPr/>
          <p:nvPr/>
        </p:nvSpPr>
        <p:spPr>
          <a:xfrm>
            <a:off x="2055812" y="191255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Team Lead</a:t>
            </a:r>
            <a:endParaRPr lang="en-US" sz="2000" dirty="0">
              <a:solidFill>
                <a:schemeClr val="tx1"/>
              </a:solidFill>
            </a:endParaRPr>
          </a:p>
        </p:txBody>
      </p:sp>
      <p:sp>
        <p:nvSpPr>
          <p:cNvPr id="27" name="Rectangle 26"/>
          <p:cNvSpPr/>
          <p:nvPr/>
        </p:nvSpPr>
        <p:spPr>
          <a:xfrm>
            <a:off x="4556378" y="191255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Project Manager</a:t>
            </a:r>
            <a:endParaRPr lang="en-US" sz="2000" dirty="0">
              <a:solidFill>
                <a:schemeClr val="tx1"/>
              </a:solidFill>
            </a:endParaRPr>
          </a:p>
        </p:txBody>
      </p:sp>
      <p:sp>
        <p:nvSpPr>
          <p:cNvPr id="29" name="Rectangle 28"/>
          <p:cNvSpPr/>
          <p:nvPr/>
        </p:nvSpPr>
        <p:spPr>
          <a:xfrm>
            <a:off x="9495344" y="191255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Executive Sponsor</a:t>
            </a:r>
            <a:endParaRPr lang="en-US" sz="2000" dirty="0">
              <a:solidFill>
                <a:schemeClr val="tx1"/>
              </a:solidFill>
            </a:endParaRPr>
          </a:p>
        </p:txBody>
      </p:sp>
      <p:sp>
        <p:nvSpPr>
          <p:cNvPr id="31" name="Rectangle 30"/>
          <p:cNvSpPr/>
          <p:nvPr/>
        </p:nvSpPr>
        <p:spPr>
          <a:xfrm>
            <a:off x="7070978" y="352425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Project Owner</a:t>
            </a:r>
            <a:endParaRPr lang="en-US" sz="2000" dirty="0">
              <a:solidFill>
                <a:schemeClr val="tx1"/>
              </a:solidFill>
            </a:endParaRPr>
          </a:p>
        </p:txBody>
      </p:sp>
      <p:cxnSp>
        <p:nvCxnSpPr>
          <p:cNvPr id="32" name="Straight Arrow Connector 31"/>
          <p:cNvCxnSpPr/>
          <p:nvPr/>
        </p:nvCxnSpPr>
        <p:spPr>
          <a:xfrm>
            <a:off x="4037012" y="2482833"/>
            <a:ext cx="5334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551612" y="2482833"/>
            <a:ext cx="51936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2055812" y="352425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Team Lead</a:t>
            </a:r>
            <a:endParaRPr lang="en-US" sz="2000" dirty="0">
              <a:solidFill>
                <a:schemeClr val="tx1"/>
              </a:solidFill>
            </a:endParaRPr>
          </a:p>
        </p:txBody>
      </p:sp>
      <p:cxnSp>
        <p:nvCxnSpPr>
          <p:cNvPr id="35" name="Straight Arrow Connector 34"/>
          <p:cNvCxnSpPr/>
          <p:nvPr/>
        </p:nvCxnSpPr>
        <p:spPr>
          <a:xfrm>
            <a:off x="4037012" y="4068842"/>
            <a:ext cx="51936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9509378" y="352425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Executive Sponsor</a:t>
            </a:r>
            <a:endParaRPr lang="en-US" sz="2000" dirty="0">
              <a:solidFill>
                <a:schemeClr val="tx1"/>
              </a:solidFill>
            </a:endParaRPr>
          </a:p>
        </p:txBody>
      </p:sp>
      <p:cxnSp>
        <p:nvCxnSpPr>
          <p:cNvPr id="37" name="Straight Arrow Connector 36"/>
          <p:cNvCxnSpPr>
            <a:stCxn id="31" idx="3"/>
          </p:cNvCxnSpPr>
          <p:nvPr/>
        </p:nvCxnSpPr>
        <p:spPr>
          <a:xfrm>
            <a:off x="9066212" y="4068842"/>
            <a:ext cx="44316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4570412" y="352425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Project Manager</a:t>
            </a:r>
            <a:endParaRPr lang="en-US" sz="2000" dirty="0">
              <a:solidFill>
                <a:schemeClr val="tx1"/>
              </a:solidFill>
            </a:endParaRPr>
          </a:p>
        </p:txBody>
      </p:sp>
      <p:cxnSp>
        <p:nvCxnSpPr>
          <p:cNvPr id="39" name="Straight Arrow Connector 38"/>
          <p:cNvCxnSpPr>
            <a:stCxn id="38" idx="3"/>
            <a:endCxn id="31" idx="1"/>
          </p:cNvCxnSpPr>
          <p:nvPr/>
        </p:nvCxnSpPr>
        <p:spPr>
          <a:xfrm>
            <a:off x="6565646" y="4068842"/>
            <a:ext cx="50533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7070978" y="191255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Project Owner</a:t>
            </a:r>
            <a:endParaRPr lang="en-US" sz="2000" dirty="0">
              <a:solidFill>
                <a:schemeClr val="tx1"/>
              </a:solidFill>
            </a:endParaRPr>
          </a:p>
        </p:txBody>
      </p:sp>
      <p:sp>
        <p:nvSpPr>
          <p:cNvPr id="41" name="Rectangle 40"/>
          <p:cNvSpPr/>
          <p:nvPr/>
        </p:nvSpPr>
        <p:spPr>
          <a:xfrm>
            <a:off x="608012" y="2133600"/>
            <a:ext cx="1219200" cy="685800"/>
          </a:xfrm>
          <a:prstGeom prst="rect">
            <a:avLst/>
          </a:prstGeom>
          <a:solidFill>
            <a:schemeClr val="accent5"/>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dirty="0" smtClean="0"/>
              <a:t>Customer Logo</a:t>
            </a:r>
            <a:endParaRPr lang="en-US" dirty="0"/>
          </a:p>
        </p:txBody>
      </p:sp>
      <p:cxnSp>
        <p:nvCxnSpPr>
          <p:cNvPr id="42" name="Straight Arrow Connector 41"/>
          <p:cNvCxnSpPr/>
          <p:nvPr/>
        </p:nvCxnSpPr>
        <p:spPr>
          <a:xfrm>
            <a:off x="9066212" y="2514600"/>
            <a:ext cx="44316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608012" y="3657600"/>
            <a:ext cx="1219200" cy="685800"/>
          </a:xfrm>
          <a:prstGeom prst="rect">
            <a:avLst/>
          </a:prstGeom>
          <a:solidFill>
            <a:schemeClr val="accent5"/>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dirty="0" smtClean="0"/>
              <a:t>Consulting Logo</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Quality Management Plan</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Quality Management Plan is to describe how the project management team plans to meet the quality requirements of the project.</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45</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Quality Management Plan</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Management Plan – Quality Objectives for the Project</a:t>
            </a:r>
            <a:endParaRPr lang="en-US" dirty="0"/>
          </a:p>
        </p:txBody>
      </p:sp>
      <p:sp>
        <p:nvSpPr>
          <p:cNvPr id="3" name="Content Placeholder 2"/>
          <p:cNvSpPr>
            <a:spLocks noGrp="1"/>
          </p:cNvSpPr>
          <p:nvPr>
            <p:ph idx="1"/>
          </p:nvPr>
        </p:nvSpPr>
        <p:spPr/>
        <p:txBody>
          <a:bodyPr/>
          <a:lstStyle/>
          <a:p>
            <a:r>
              <a:rPr lang="en-US" dirty="0" smtClean="0"/>
              <a:t>&lt;Reference any organizational quality objectives and/or policies. Document quality objectives in terms of the overall project objectives.&gt;</a:t>
            </a:r>
          </a:p>
          <a:p>
            <a:r>
              <a:rPr lang="en-US" dirty="0" smtClean="0"/>
              <a:t>The project has the following quality objectives:</a:t>
            </a:r>
          </a:p>
          <a:p>
            <a:pPr lvl="1"/>
            <a:r>
              <a:rPr lang="en-US" dirty="0" smtClean="0"/>
              <a:t>Objective 1</a:t>
            </a:r>
          </a:p>
          <a:p>
            <a:pPr lvl="1"/>
            <a:r>
              <a:rPr lang="en-US" dirty="0" smtClean="0"/>
              <a:t>Objective 2</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46</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Management Plan - Quality Control Plan</a:t>
            </a:r>
            <a:endParaRPr lang="en-US" dirty="0"/>
          </a:p>
        </p:txBody>
      </p:sp>
      <p:sp>
        <p:nvSpPr>
          <p:cNvPr id="3" name="Content Placeholder 2"/>
          <p:cNvSpPr>
            <a:spLocks noGrp="1"/>
          </p:cNvSpPr>
          <p:nvPr>
            <p:ph idx="1"/>
          </p:nvPr>
        </p:nvSpPr>
        <p:spPr/>
        <p:txBody>
          <a:bodyPr/>
          <a:lstStyle/>
          <a:p>
            <a:r>
              <a:rPr lang="en-US" dirty="0" smtClean="0"/>
              <a:t>&lt;Document the plan for controlling quality for key work products and/or project deliverables.&gt;</a:t>
            </a:r>
          </a:p>
          <a:p>
            <a:endParaRPr lang="en-US" dirty="0" smtClean="0"/>
          </a:p>
          <a:p>
            <a:pPr lvl="1"/>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47</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Management Plan – Quality Assurance Plan</a:t>
            </a:r>
            <a:endParaRPr lang="en-US" dirty="0"/>
          </a:p>
        </p:txBody>
      </p:sp>
      <p:sp>
        <p:nvSpPr>
          <p:cNvPr id="3" name="Content Placeholder 2"/>
          <p:cNvSpPr>
            <a:spLocks noGrp="1"/>
          </p:cNvSpPr>
          <p:nvPr>
            <p:ph idx="1"/>
          </p:nvPr>
        </p:nvSpPr>
        <p:spPr/>
        <p:txBody>
          <a:bodyPr/>
          <a:lstStyle/>
          <a:p>
            <a:r>
              <a:rPr lang="en-US" dirty="0" smtClean="0"/>
              <a:t>&lt;Quality Assurance is a periodic or ongoing evaluation of the project’s quality procedures with the objective of deciding whether the project’s work products are meeting the stated or implied needs of the project. Identify any project procedures that will be under quality review, any customer involvement in the review, any techniques (e.g., checklists) or activities, and the timing of the activities (e.g., Quality Reviews).&gt;</a:t>
            </a:r>
          </a:p>
          <a:p>
            <a:pPr lvl="1"/>
            <a:endParaRPr lang="en-US" dirty="0" smtClean="0"/>
          </a:p>
          <a:p>
            <a:pPr lvl="1"/>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48</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Management Plan – Tools and Techniques</a:t>
            </a:r>
            <a:endParaRPr lang="en-US" dirty="0"/>
          </a:p>
        </p:txBody>
      </p:sp>
      <p:sp>
        <p:nvSpPr>
          <p:cNvPr id="3" name="Content Placeholder 2"/>
          <p:cNvSpPr>
            <a:spLocks noGrp="1"/>
          </p:cNvSpPr>
          <p:nvPr>
            <p:ph idx="1"/>
          </p:nvPr>
        </p:nvSpPr>
        <p:spPr/>
        <p:txBody>
          <a:bodyPr/>
          <a:lstStyle/>
          <a:p>
            <a:r>
              <a:rPr lang="en-US" dirty="0" smtClean="0"/>
              <a:t>&lt;Optionally, describe the quality tools and techniques that the project will use. This might also include Problem Reporting tools.&gt;</a:t>
            </a:r>
          </a:p>
          <a:p>
            <a:endParaRPr lang="en-US" dirty="0" smtClean="0"/>
          </a:p>
          <a:p>
            <a:pPr lvl="1"/>
            <a:endParaRPr lang="en-US" dirty="0" smtClean="0"/>
          </a:p>
          <a:p>
            <a:pPr lvl="1"/>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49</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Configuration Management Plan and Processes</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Configuration Management Plan and Processes is to identify the items under Configuration Management, identify the associated plans that govern those items and document any Configuration Management tools to be used as well as any designated roles and their responsibilities.</a:t>
            </a:r>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50</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Configuration Management Plan and Processes</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Configuration Management Plan and Processes – Items</a:t>
            </a:r>
            <a:endParaRPr lang="en-US" dirty="0"/>
          </a:p>
        </p:txBody>
      </p:sp>
      <p:graphicFrame>
        <p:nvGraphicFramePr>
          <p:cNvPr id="6" name="Content Placeholder 5"/>
          <p:cNvGraphicFramePr>
            <a:graphicFrameLocks noGrp="1"/>
          </p:cNvGraphicFramePr>
          <p:nvPr>
            <p:ph idx="1"/>
          </p:nvPr>
        </p:nvGraphicFramePr>
        <p:xfrm>
          <a:off x="531813" y="1524000"/>
          <a:ext cx="11125200" cy="4577080"/>
        </p:xfrm>
        <a:graphic>
          <a:graphicData uri="http://schemas.openxmlformats.org/drawingml/2006/table">
            <a:tbl>
              <a:tblPr firstRow="1" bandRow="1">
                <a:tableStyleId>{5FD0F851-EC5A-4D38-B0AD-8093EC10F338}</a:tableStyleId>
              </a:tblPr>
              <a:tblGrid>
                <a:gridCol w="2674850"/>
                <a:gridCol w="2887750"/>
                <a:gridCol w="3513050"/>
                <a:gridCol w="2049550"/>
              </a:tblGrid>
              <a:tr h="370840">
                <a:tc>
                  <a:txBody>
                    <a:bodyPr/>
                    <a:lstStyle/>
                    <a:p>
                      <a:r>
                        <a:rPr lang="en-US" dirty="0" smtClean="0"/>
                        <a:t>Category</a:t>
                      </a:r>
                      <a:endParaRPr lang="en-US" dirty="0"/>
                    </a:p>
                  </a:txBody>
                  <a:tcPr/>
                </a:tc>
                <a:tc>
                  <a:txBody>
                    <a:bodyPr/>
                    <a:lstStyle/>
                    <a:p>
                      <a:r>
                        <a:rPr lang="en-US" dirty="0" smtClean="0"/>
                        <a:t>Items</a:t>
                      </a:r>
                      <a:endParaRPr lang="en-US" dirty="0"/>
                    </a:p>
                  </a:txBody>
                  <a:tcPr/>
                </a:tc>
                <a:tc>
                  <a:txBody>
                    <a:bodyPr/>
                    <a:lstStyle/>
                    <a:p>
                      <a:r>
                        <a:rPr lang="en-US" dirty="0" smtClean="0"/>
                        <a:t>Governing CM Plan</a:t>
                      </a:r>
                      <a:endParaRPr lang="en-US" dirty="0"/>
                    </a:p>
                  </a:txBody>
                  <a:tcPr/>
                </a:tc>
                <a:tc>
                  <a:txBody>
                    <a:bodyPr/>
                    <a:lstStyle/>
                    <a:p>
                      <a:r>
                        <a:rPr lang="en-US" dirty="0" err="1" smtClean="0"/>
                        <a:t>Resp</a:t>
                      </a:r>
                      <a:r>
                        <a:rPr lang="en-US" dirty="0" smtClean="0"/>
                        <a:t> Person/Role</a:t>
                      </a:r>
                      <a:endParaRPr lang="en-US" dirty="0"/>
                    </a:p>
                  </a:txBody>
                  <a:tcPr/>
                </a:tc>
              </a:tr>
              <a:tr h="370840">
                <a:tc>
                  <a:txBody>
                    <a:bodyPr/>
                    <a:lstStyle/>
                    <a:p>
                      <a:r>
                        <a:rPr lang="en-US" dirty="0" smtClean="0"/>
                        <a:t>Project Documents</a:t>
                      </a:r>
                      <a:endParaRPr lang="en-US" dirty="0"/>
                    </a:p>
                  </a:txBody>
                  <a:tcPr/>
                </a:tc>
                <a:tc>
                  <a:txBody>
                    <a:bodyPr/>
                    <a:lstStyle/>
                    <a:p>
                      <a:pPr>
                        <a:buFont typeface="Arial" pitchFamily="34" charset="0"/>
                        <a:buChar char="•"/>
                      </a:pPr>
                      <a:r>
                        <a:rPr lang="en-US" dirty="0" smtClean="0"/>
                        <a:t>Deliverables</a:t>
                      </a:r>
                    </a:p>
                    <a:p>
                      <a:pPr>
                        <a:buFont typeface="Arial" pitchFamily="34" charset="0"/>
                        <a:buChar char="•"/>
                      </a:pPr>
                      <a:r>
                        <a:rPr lang="en-US" dirty="0" smtClean="0"/>
                        <a:t>Work</a:t>
                      </a:r>
                      <a:r>
                        <a:rPr lang="en-US" baseline="0" dirty="0" smtClean="0"/>
                        <a:t> Products</a:t>
                      </a:r>
                    </a:p>
                    <a:p>
                      <a:pPr>
                        <a:buFont typeface="Arial" pitchFamily="34" charset="0"/>
                        <a:buChar char="•"/>
                      </a:pPr>
                      <a:r>
                        <a:rPr lang="en-US" baseline="0" dirty="0" smtClean="0"/>
                        <a:t>Acceptance Certificates</a:t>
                      </a:r>
                    </a:p>
                    <a:p>
                      <a:pPr>
                        <a:buFont typeface="Arial" pitchFamily="34" charset="0"/>
                        <a:buChar char="•"/>
                      </a:pPr>
                      <a:r>
                        <a:rPr lang="en-US" baseline="0" dirty="0" smtClean="0"/>
                        <a:t>Reports</a:t>
                      </a:r>
                      <a:endParaRPr lang="en-US" dirty="0"/>
                    </a:p>
                  </a:txBody>
                  <a:tcPr/>
                </a:tc>
                <a:tc>
                  <a:txBody>
                    <a:bodyPr/>
                    <a:lstStyle/>
                    <a:p>
                      <a:r>
                        <a:rPr lang="en-US" sz="1800" kern="1200" dirty="0" smtClean="0">
                          <a:solidFill>
                            <a:schemeClr val="tx1"/>
                          </a:solidFill>
                          <a:latin typeface="+mn-lt"/>
                          <a:ea typeface="+mn-ea"/>
                          <a:cs typeface="+mn-cs"/>
                        </a:rPr>
                        <a:t>See Documentation Management Plan (CM.030) in Project Library</a:t>
                      </a:r>
                      <a:endParaRPr lang="en-US" dirty="0"/>
                    </a:p>
                  </a:txBody>
                  <a:tcPr/>
                </a:tc>
                <a:tc>
                  <a:txBody>
                    <a:bodyPr/>
                    <a:lstStyle/>
                    <a:p>
                      <a:endParaRPr lang="en-US" dirty="0"/>
                    </a:p>
                  </a:txBody>
                  <a:tcPr/>
                </a:tc>
              </a:tr>
              <a:tr h="370840">
                <a:tc>
                  <a:txBody>
                    <a:bodyPr/>
                    <a:lstStyle/>
                    <a:p>
                      <a:r>
                        <a:rPr lang="en-US" dirty="0" smtClean="0"/>
                        <a:t>Software</a:t>
                      </a:r>
                      <a:endParaRPr lang="en-US" dirty="0"/>
                    </a:p>
                  </a:txBody>
                  <a:tcPr/>
                </a:tc>
                <a:tc>
                  <a:txBody>
                    <a:bodyPr/>
                    <a:lstStyle/>
                    <a:p>
                      <a:pPr>
                        <a:buFont typeface="Arial" pitchFamily="34" charset="0"/>
                        <a:buChar char="•"/>
                      </a:pPr>
                      <a:r>
                        <a:rPr lang="en-US" dirty="0" smtClean="0"/>
                        <a:t>Source Code</a:t>
                      </a:r>
                    </a:p>
                    <a:p>
                      <a:pPr>
                        <a:buFont typeface="Arial" pitchFamily="34" charset="0"/>
                        <a:buChar char="•"/>
                      </a:pPr>
                      <a:r>
                        <a:rPr lang="en-US" dirty="0" smtClean="0"/>
                        <a:t>Application Setups</a:t>
                      </a:r>
                    </a:p>
                    <a:p>
                      <a:pPr>
                        <a:buFont typeface="Arial" pitchFamily="34" charset="0"/>
                        <a:buChar char="•"/>
                      </a:pPr>
                      <a:r>
                        <a:rPr lang="en-US" dirty="0" smtClean="0"/>
                        <a:t>DB </a:t>
                      </a:r>
                      <a:r>
                        <a:rPr lang="en-US" dirty="0" err="1" smtClean="0"/>
                        <a:t>Configs</a:t>
                      </a:r>
                      <a:r>
                        <a:rPr lang="en-US" dirty="0" smtClean="0"/>
                        <a:t>/Parameters</a:t>
                      </a:r>
                    </a:p>
                    <a:p>
                      <a:pPr>
                        <a:buFont typeface="Arial" pitchFamily="34" charset="0"/>
                        <a:buChar char="•"/>
                      </a:pPr>
                      <a:r>
                        <a:rPr lang="en-US" dirty="0" smtClean="0"/>
                        <a:t>Install</a:t>
                      </a:r>
                      <a:r>
                        <a:rPr lang="en-US" baseline="0" dirty="0" smtClean="0"/>
                        <a:t> Scripts</a:t>
                      </a:r>
                      <a:endParaRPr lang="en-US" dirty="0"/>
                    </a:p>
                  </a:txBody>
                  <a:tcPr/>
                </a:tc>
                <a:tc>
                  <a:txBody>
                    <a:bodyPr/>
                    <a:lstStyle/>
                    <a:p>
                      <a:r>
                        <a:rPr lang="en-US" sz="1800" kern="1200" dirty="0" smtClean="0">
                          <a:solidFill>
                            <a:schemeClr val="tx1"/>
                          </a:solidFill>
                          <a:latin typeface="+mn-lt"/>
                          <a:ea typeface="+mn-ea"/>
                          <a:cs typeface="+mn-cs"/>
                        </a:rPr>
                        <a:t>See Software Configuration Management Plan (CM.040) in Project Library</a:t>
                      </a:r>
                      <a:endParaRPr lang="en-US" dirty="0"/>
                    </a:p>
                  </a:txBody>
                  <a:tcPr/>
                </a:tc>
                <a:tc>
                  <a:txBody>
                    <a:bodyPr/>
                    <a:lstStyle/>
                    <a:p>
                      <a:endParaRPr lang="en-US" dirty="0"/>
                    </a:p>
                  </a:txBody>
                  <a:tcPr/>
                </a:tc>
              </a:tr>
              <a:tr h="370840">
                <a:tc>
                  <a:txBody>
                    <a:bodyPr/>
                    <a:lstStyle/>
                    <a:p>
                      <a:r>
                        <a:rPr lang="en-US" dirty="0" smtClean="0"/>
                        <a:t>Software Releases</a:t>
                      </a:r>
                      <a:endParaRPr lang="en-US" dirty="0"/>
                    </a:p>
                  </a:txBody>
                  <a:tcPr/>
                </a:tc>
                <a:tc>
                  <a:txBody>
                    <a:bodyPr/>
                    <a:lstStyle/>
                    <a:p>
                      <a:pPr>
                        <a:buFont typeface="Arial" pitchFamily="34" charset="0"/>
                        <a:buChar char="•"/>
                      </a:pPr>
                      <a:r>
                        <a:rPr lang="en-US" dirty="0" smtClean="0"/>
                        <a:t>Release 1 Documents</a:t>
                      </a:r>
                    </a:p>
                    <a:p>
                      <a:pPr>
                        <a:buFont typeface="Arial" pitchFamily="34" charset="0"/>
                        <a:buChar char="•"/>
                      </a:pPr>
                      <a:r>
                        <a:rPr lang="en-US" dirty="0" smtClean="0"/>
                        <a:t>Release</a:t>
                      </a:r>
                      <a:r>
                        <a:rPr lang="en-US" baseline="0" dirty="0" smtClean="0"/>
                        <a:t> 2 Documents</a:t>
                      </a:r>
                      <a:endParaRPr lang="en-US" dirty="0"/>
                    </a:p>
                  </a:txBody>
                  <a:tcPr/>
                </a:tc>
                <a:tc>
                  <a:txBody>
                    <a:bodyPr/>
                    <a:lstStyle/>
                    <a:p>
                      <a:r>
                        <a:rPr lang="en-US" sz="1800" kern="1200" dirty="0" smtClean="0">
                          <a:solidFill>
                            <a:schemeClr val="tx1"/>
                          </a:solidFill>
                          <a:latin typeface="+mn-lt"/>
                          <a:ea typeface="+mn-ea"/>
                          <a:cs typeface="+mn-cs"/>
                        </a:rPr>
                        <a:t>See Software Release Management Plan (CM.050) in Project Library</a:t>
                      </a:r>
                      <a:endParaRPr lang="en-US" dirty="0"/>
                    </a:p>
                  </a:txBody>
                  <a:tcPr/>
                </a:tc>
                <a:tc>
                  <a:txBody>
                    <a:bodyPr/>
                    <a:lstStyle/>
                    <a:p>
                      <a:endParaRPr lang="en-US" dirty="0"/>
                    </a:p>
                  </a:txBody>
                  <a:tcPr/>
                </a:tc>
              </a:tr>
              <a:tr h="370840">
                <a:tc>
                  <a:txBody>
                    <a:bodyPr/>
                    <a:lstStyle/>
                    <a:p>
                      <a:r>
                        <a:rPr lang="en-US" dirty="0" smtClean="0"/>
                        <a:t>Environment and Patches</a:t>
                      </a:r>
                      <a:endParaRPr lang="en-US" dirty="0"/>
                    </a:p>
                  </a:txBody>
                  <a:tcPr/>
                </a:tc>
                <a:tc>
                  <a:txBody>
                    <a:bodyPr/>
                    <a:lstStyle/>
                    <a:p>
                      <a:pPr>
                        <a:buFont typeface="Arial" pitchFamily="34" charset="0"/>
                        <a:buChar char="•"/>
                      </a:pPr>
                      <a:r>
                        <a:rPr lang="en-US" dirty="0" smtClean="0"/>
                        <a:t>Development</a:t>
                      </a:r>
                    </a:p>
                    <a:p>
                      <a:pPr>
                        <a:buFont typeface="Arial" pitchFamily="34" charset="0"/>
                        <a:buChar char="•"/>
                      </a:pPr>
                      <a:r>
                        <a:rPr lang="en-US" dirty="0" smtClean="0"/>
                        <a:t>Test</a:t>
                      </a:r>
                    </a:p>
                    <a:p>
                      <a:pPr>
                        <a:buFont typeface="Arial" pitchFamily="34" charset="0"/>
                        <a:buChar char="•"/>
                      </a:pPr>
                      <a:r>
                        <a:rPr lang="en-US" dirty="0" smtClean="0"/>
                        <a:t>Production</a:t>
                      </a:r>
                    </a:p>
                    <a:p>
                      <a:pPr>
                        <a:buFont typeface="Arial" pitchFamily="34" charset="0"/>
                        <a:buChar char="•"/>
                      </a:pPr>
                      <a:r>
                        <a:rPr lang="en-US" dirty="0" smtClean="0"/>
                        <a:t>Training</a:t>
                      </a:r>
                      <a:endParaRPr lang="en-US" dirty="0"/>
                    </a:p>
                  </a:txBody>
                  <a:tcPr/>
                </a:tc>
                <a:tc>
                  <a:txBody>
                    <a:bodyPr/>
                    <a:lstStyle/>
                    <a:p>
                      <a:r>
                        <a:rPr lang="en-US" sz="1800" kern="1200" dirty="0" smtClean="0">
                          <a:solidFill>
                            <a:schemeClr val="tx1"/>
                          </a:solidFill>
                          <a:latin typeface="+mn-lt"/>
                          <a:ea typeface="+mn-ea"/>
                          <a:cs typeface="+mn-cs"/>
                        </a:rPr>
                        <a:t>See Environment and Patch Management Plan (CM.060) in Project Library</a:t>
                      </a:r>
                      <a:endParaRPr lang="en-US" dirty="0"/>
                    </a:p>
                  </a:txBody>
                  <a:tcPr/>
                </a:tc>
                <a:tc>
                  <a:txBody>
                    <a:bodyPr/>
                    <a:lstStyle/>
                    <a:p>
                      <a:endParaRPr lang="en-US" dirty="0"/>
                    </a:p>
                  </a:txBody>
                  <a:tcPr/>
                </a:tc>
              </a:tr>
            </a:tbl>
          </a:graphicData>
        </a:graphic>
      </p:graphicFrame>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51</a:t>
            </a:fld>
            <a:endParaRPr lang="en-US" dirty="0"/>
          </a:p>
        </p:txBody>
      </p:sp>
      <p:sp>
        <p:nvSpPr>
          <p:cNvPr id="7" name="TextBox 6"/>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Configuration Management Plan and Processes – Tools</a:t>
            </a:r>
            <a:endParaRPr lang="en-US" dirty="0"/>
          </a:p>
        </p:txBody>
      </p:sp>
      <p:sp>
        <p:nvSpPr>
          <p:cNvPr id="3" name="Content Placeholder 2"/>
          <p:cNvSpPr>
            <a:spLocks noGrp="1"/>
          </p:cNvSpPr>
          <p:nvPr>
            <p:ph idx="1"/>
          </p:nvPr>
        </p:nvSpPr>
        <p:spPr/>
        <p:txBody>
          <a:bodyPr/>
          <a:lstStyle/>
          <a:p>
            <a:r>
              <a:rPr lang="en-US" dirty="0" smtClean="0"/>
              <a:t>&lt;Update this section with any Configuration Management tools you will be using for your project. For example, SVN, Beehive </a:t>
            </a:r>
            <a:r>
              <a:rPr lang="en-US" smtClean="0"/>
              <a:t>Online, </a:t>
            </a:r>
            <a:r>
              <a:rPr lang="en-US" dirty="0" smtClean="0"/>
              <a:t>etc. Provide any other pertinent details, such as, Folder Structure, etc. You can also refer them to the associated CM plans for more details.&gt;</a:t>
            </a:r>
          </a:p>
          <a:p>
            <a:r>
              <a:rPr lang="en-US" dirty="0" smtClean="0"/>
              <a:t>&lt;Tool Name, e.g., Tortoise SVN, SharePoint, Oracle Beehive, etc.&gt; will be used for project communication, collaboration and document retention. </a:t>
            </a:r>
          </a:p>
          <a:p>
            <a:r>
              <a:rPr lang="en-US" dirty="0" smtClean="0"/>
              <a:t>The Project Library is available on &lt;Tool Name and link to library&gt;.</a:t>
            </a:r>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52</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Infrastructure Management Plan</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Infrastructure Management Plan is to document the requirements, plans, activities and responsibilities associated with managing the components of the project infrastructure.</a:t>
            </a:r>
          </a:p>
          <a:p>
            <a:r>
              <a:rPr lang="en-US" dirty="0" smtClean="0"/>
              <a:t>The project infrastructure has two main components, the Team Work Environment and the Technical Infrastructure.</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53</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Infrastructure Management Plan</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 Management Plan – Team Work Environment</a:t>
            </a:r>
            <a:endParaRPr lang="en-US" dirty="0"/>
          </a:p>
        </p:txBody>
      </p:sp>
      <p:sp>
        <p:nvSpPr>
          <p:cNvPr id="3" name="Content Placeholder 2"/>
          <p:cNvSpPr>
            <a:spLocks noGrp="1"/>
          </p:cNvSpPr>
          <p:nvPr>
            <p:ph idx="1"/>
          </p:nvPr>
        </p:nvSpPr>
        <p:spPr/>
        <p:txBody>
          <a:bodyPr/>
          <a:lstStyle/>
          <a:p>
            <a:r>
              <a:rPr lang="en-US" dirty="0" smtClean="0"/>
              <a:t>The Team Work Environment includes the equipment, materials, software tools that support the project team directly.</a:t>
            </a:r>
          </a:p>
          <a:p>
            <a:pPr lvl="1"/>
            <a:r>
              <a:rPr lang="en-US" dirty="0" smtClean="0"/>
              <a:t>Equipment </a:t>
            </a:r>
          </a:p>
          <a:p>
            <a:pPr lvl="1"/>
            <a:r>
              <a:rPr lang="en-US" dirty="0" smtClean="0"/>
              <a:t>Materials</a:t>
            </a:r>
          </a:p>
          <a:p>
            <a:pPr lvl="1"/>
            <a:r>
              <a:rPr lang="en-US" dirty="0" smtClean="0"/>
              <a:t>Software Tools</a:t>
            </a:r>
            <a:endParaRPr lang="en-US" b="1" dirty="0" smtClean="0"/>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54</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 Management Plan – Technical Infrastructure</a:t>
            </a:r>
            <a:endParaRPr lang="en-US" dirty="0"/>
          </a:p>
        </p:txBody>
      </p:sp>
      <p:sp>
        <p:nvSpPr>
          <p:cNvPr id="3" name="Content Placeholder 2"/>
          <p:cNvSpPr>
            <a:spLocks noGrp="1"/>
          </p:cNvSpPr>
          <p:nvPr>
            <p:ph idx="1"/>
          </p:nvPr>
        </p:nvSpPr>
        <p:spPr/>
        <p:txBody>
          <a:bodyPr/>
          <a:lstStyle/>
          <a:p>
            <a:r>
              <a:rPr lang="en-US" dirty="0" smtClean="0"/>
              <a:t>&lt;Cloud Example&gt;</a:t>
            </a:r>
          </a:p>
          <a:p>
            <a:r>
              <a:rPr lang="en-US" dirty="0" smtClean="0"/>
              <a:t>The project &lt;process name&gt; environment is located at &lt;location&gt; and consists of:</a:t>
            </a:r>
          </a:p>
          <a:p>
            <a:pPr lvl="1"/>
            <a:r>
              <a:rPr lang="en-US" dirty="0" smtClean="0"/>
              <a:t>&lt;Enter information.&gt;</a:t>
            </a:r>
          </a:p>
          <a:p>
            <a:r>
              <a:rPr lang="en-US" dirty="0" smtClean="0"/>
              <a:t>The approach for granting access to the in-scope environments is as follows:</a:t>
            </a:r>
          </a:p>
          <a:p>
            <a:pPr lvl="1"/>
            <a:r>
              <a:rPr lang="en-US" dirty="0" smtClean="0"/>
              <a:t>&lt;Enter information.&gt;</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55</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 Management Plan – Technical Infrastructure</a:t>
            </a:r>
            <a:endParaRPr lang="en-US" dirty="0"/>
          </a:p>
        </p:txBody>
      </p:sp>
      <p:sp>
        <p:nvSpPr>
          <p:cNvPr id="3" name="Content Placeholder 2"/>
          <p:cNvSpPr>
            <a:spLocks noGrp="1"/>
          </p:cNvSpPr>
          <p:nvPr>
            <p:ph idx="1"/>
          </p:nvPr>
        </p:nvSpPr>
        <p:spPr/>
        <p:txBody>
          <a:bodyPr/>
          <a:lstStyle/>
          <a:p>
            <a:r>
              <a:rPr lang="en-US" dirty="0" smtClean="0"/>
              <a:t>&lt;On-Premises Example&gt;</a:t>
            </a:r>
          </a:p>
          <a:p>
            <a:r>
              <a:rPr lang="en-US" dirty="0" smtClean="0"/>
              <a:t>This project includes the following environments:</a:t>
            </a:r>
          </a:p>
          <a:p>
            <a:pPr lvl="1"/>
            <a:r>
              <a:rPr lang="en-US" dirty="0" smtClean="0"/>
              <a:t> Development</a:t>
            </a:r>
          </a:p>
          <a:p>
            <a:pPr lvl="1"/>
            <a:r>
              <a:rPr lang="en-US" dirty="0" smtClean="0"/>
              <a:t>Production</a:t>
            </a:r>
          </a:p>
          <a:p>
            <a:pPr lvl="1"/>
            <a:r>
              <a:rPr lang="en-US" dirty="0" smtClean="0"/>
              <a:t>Test</a:t>
            </a:r>
          </a:p>
          <a:p>
            <a:pPr lvl="1"/>
            <a:r>
              <a:rPr lang="en-US" dirty="0" smtClean="0"/>
              <a:t>&lt;Other&gt;</a:t>
            </a:r>
          </a:p>
          <a:p>
            <a:pPr lvl="1"/>
            <a:endParaRPr lang="en-US" dirty="0" smtClean="0"/>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56</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Procurement Strategy and Process</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Procurement Strategy and Process is to document the requirements and project procedures for procuring any goods and/or services to support the project objectives.</a:t>
            </a:r>
          </a:p>
          <a:p>
            <a:r>
              <a:rPr lang="en-US" dirty="0" smtClean="0"/>
              <a:t>All procurements of goods and/or services will be done in accordance with &lt;Consulting Organization Name&gt;’s or &lt;Customer Name&gt;’s corporate policies and standard operating procedures.</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57</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Procurement Strategy and Process</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Procurement Strategy and Process</a:t>
            </a:r>
            <a:endParaRPr lang="en-US" dirty="0"/>
          </a:p>
        </p:txBody>
      </p:sp>
      <p:sp>
        <p:nvSpPr>
          <p:cNvPr id="3" name="Content Placeholder 2"/>
          <p:cNvSpPr>
            <a:spLocks noGrp="1"/>
          </p:cNvSpPr>
          <p:nvPr>
            <p:ph idx="1"/>
          </p:nvPr>
        </p:nvSpPr>
        <p:spPr/>
        <p:txBody>
          <a:bodyPr/>
          <a:lstStyle/>
          <a:p>
            <a:r>
              <a:rPr lang="en-US" dirty="0" smtClean="0"/>
              <a:t>&lt;Optionally, provide the steps, responsibilities and approvals for procuring goods and services or refer to the appropriate corporate policies or standard operating procedures. Delete this slide if not appropriate for your project.&gt;</a:t>
            </a:r>
          </a:p>
          <a:p>
            <a:r>
              <a:rPr lang="en-US" dirty="0" smtClean="0"/>
              <a:t>Budget –</a:t>
            </a:r>
          </a:p>
          <a:p>
            <a:r>
              <a:rPr lang="en-US" dirty="0" smtClean="0"/>
              <a:t>Responsibilities – </a:t>
            </a:r>
          </a:p>
          <a:p>
            <a:r>
              <a:rPr lang="en-US" dirty="0" smtClean="0"/>
              <a:t>Approvals – </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58</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49052" y="470568"/>
            <a:ext cx="8207959" cy="889000"/>
          </a:xfrm>
        </p:spPr>
        <p:txBody>
          <a:bodyPr/>
          <a:lstStyle/>
          <a:p>
            <a:r>
              <a:rPr lang="en-US" dirty="0" smtClean="0"/>
              <a:t>Organizational Change Management Strategy</a:t>
            </a:r>
            <a:endParaRPr lang="en-US" dirty="0"/>
          </a:p>
        </p:txBody>
      </p:sp>
      <p:sp>
        <p:nvSpPr>
          <p:cNvPr id="7" name="Text Placeholder 6"/>
          <p:cNvSpPr>
            <a:spLocks noGrp="1"/>
          </p:cNvSpPr>
          <p:nvPr>
            <p:ph idx="1"/>
          </p:nvPr>
        </p:nvSpPr>
        <p:spPr>
          <a:xfrm>
            <a:off x="531151" y="2149641"/>
            <a:ext cx="11126522" cy="3793959"/>
          </a:xfrm>
        </p:spPr>
        <p:txBody>
          <a:bodyPr/>
          <a:lstStyle/>
          <a:p>
            <a:r>
              <a:rPr lang="en-US" dirty="0" smtClean="0"/>
              <a:t>The purpose of the &lt;Customer Name&gt;’s Organizational Change Management Strategy is to document the details of addressing the people side of change management for the project. It provides the approach for preparing the people in the organization for the changes brought about by the project.</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59</a:t>
            </a:fld>
            <a:endParaRPr lang="en-US" dirty="0"/>
          </a:p>
        </p:txBody>
      </p:sp>
      <p:sp>
        <p:nvSpPr>
          <p:cNvPr id="8" name="Rounded Rectangle 7"/>
          <p:cNvSpPr/>
          <p:nvPr/>
        </p:nvSpPr>
        <p:spPr>
          <a:xfrm>
            <a:off x="593558" y="368968"/>
            <a:ext cx="2438400" cy="1459832"/>
          </a:xfrm>
          <a:prstGeom prst="roundRect">
            <a:avLst/>
          </a:prstGeom>
          <a:solidFill>
            <a:schemeClr val="accent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smtClean="0">
                <a:latin typeface="Arial" pitchFamily="34" charset="0"/>
                <a:cs typeface="Arial" pitchFamily="34" charset="0"/>
              </a:rPr>
              <a:t>Organizational Change Management Strategy</a:t>
            </a:r>
            <a:endParaRPr lang="en-US" b="1" dirty="0">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Organizational Change Management Strategy - Approach</a:t>
            </a:r>
            <a:endParaRPr lang="en-US" dirty="0"/>
          </a:p>
        </p:txBody>
      </p:sp>
      <p:sp>
        <p:nvSpPr>
          <p:cNvPr id="3" name="Content Placeholder 2"/>
          <p:cNvSpPr>
            <a:spLocks noGrp="1"/>
          </p:cNvSpPr>
          <p:nvPr>
            <p:ph idx="1"/>
          </p:nvPr>
        </p:nvSpPr>
        <p:spPr/>
        <p:txBody>
          <a:bodyPr/>
          <a:lstStyle/>
          <a:p>
            <a:r>
              <a:rPr lang="en-US" dirty="0" smtClean="0"/>
              <a:t>&lt;Choose the appropriate bullet, or delete this slide and add detail to the following slide.&gt;</a:t>
            </a:r>
          </a:p>
          <a:p>
            <a:r>
              <a:rPr lang="en-US" dirty="0" smtClean="0"/>
              <a:t>Organizational Change Management is beyond the scope of the project and is solely the responsibility of the &lt;Company Name&gt;.</a:t>
            </a:r>
          </a:p>
          <a:p>
            <a:r>
              <a:rPr lang="en-US" dirty="0" smtClean="0"/>
              <a:t>&lt;or&gt;</a:t>
            </a:r>
          </a:p>
          <a:p>
            <a:r>
              <a:rPr lang="en-US" dirty="0" smtClean="0"/>
              <a:t>The OUM Implement Organization Change Management process will be used to plan and develop the Change Management Roadmap and Communication Campaign as well as conduct the events identified. </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60</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Organizational Change Management Strategy</a:t>
            </a:r>
            <a:endParaRPr lang="en-US" dirty="0"/>
          </a:p>
        </p:txBody>
      </p:sp>
      <p:sp>
        <p:nvSpPr>
          <p:cNvPr id="3" name="Content Placeholder 2"/>
          <p:cNvSpPr>
            <a:spLocks noGrp="1"/>
          </p:cNvSpPr>
          <p:nvPr>
            <p:ph idx="1"/>
          </p:nvPr>
        </p:nvSpPr>
        <p:spPr/>
        <p:txBody>
          <a:bodyPr/>
          <a:lstStyle/>
          <a:p>
            <a:r>
              <a:rPr lang="en-US" dirty="0" smtClean="0"/>
              <a:t>&lt;Responsible Organization, e.g., customer or consulting organization&gt; is responsible for the following Organizational Change Management items:</a:t>
            </a:r>
          </a:p>
          <a:p>
            <a:pPr lvl="1"/>
            <a:r>
              <a:rPr lang="en-US" dirty="0" smtClean="0"/>
              <a:t>Project Awareness Presentation and Meeting</a:t>
            </a:r>
          </a:p>
          <a:p>
            <a:pPr lvl="1"/>
            <a:r>
              <a:rPr lang="en-US" dirty="0" smtClean="0"/>
              <a:t>Project Updates Presentations and Meetings</a:t>
            </a:r>
          </a:p>
          <a:p>
            <a:pPr lvl="1"/>
            <a:r>
              <a:rPr lang="en-US" dirty="0" smtClean="0"/>
              <a:t>Go Live Notifications and Meetings</a:t>
            </a:r>
          </a:p>
          <a:p>
            <a:pPr lvl="1"/>
            <a:r>
              <a:rPr lang="en-US" dirty="0" smtClean="0"/>
              <a:t>Post Go Live Recap Presentation and Meeting</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61</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Organizational Change Management Strategy – HL Events</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62</a:t>
            </a:fld>
            <a:endParaRPr lang="en-US" dirty="0"/>
          </a:p>
        </p:txBody>
      </p:sp>
      <p:graphicFrame>
        <p:nvGraphicFramePr>
          <p:cNvPr id="7" name="Content Placeholder 6"/>
          <p:cNvGraphicFramePr>
            <a:graphicFrameLocks/>
          </p:cNvGraphicFramePr>
          <p:nvPr/>
        </p:nvGraphicFramePr>
        <p:xfrm>
          <a:off x="528990" y="1639204"/>
          <a:ext cx="10929502" cy="4404360"/>
        </p:xfrm>
        <a:graphic>
          <a:graphicData uri="http://schemas.openxmlformats.org/drawingml/2006/table">
            <a:tbl>
              <a:tblPr firstRow="1" bandRow="1">
                <a:tableStyleId>{5FD0F851-EC5A-4D38-B0AD-8093EC10F338}</a:tableStyleId>
              </a:tblPr>
              <a:tblGrid>
                <a:gridCol w="2093564"/>
                <a:gridCol w="2861023"/>
                <a:gridCol w="1326105"/>
                <a:gridCol w="2555246"/>
                <a:gridCol w="2093564"/>
              </a:tblGrid>
              <a:tr h="370840">
                <a:tc>
                  <a:txBody>
                    <a:bodyPr/>
                    <a:lstStyle/>
                    <a:p>
                      <a:r>
                        <a:rPr lang="en-US" dirty="0" smtClean="0"/>
                        <a:t>Event</a:t>
                      </a:r>
                      <a:endParaRPr lang="en-US" dirty="0"/>
                    </a:p>
                  </a:txBody>
                  <a:tcPr/>
                </a:tc>
                <a:tc>
                  <a:txBody>
                    <a:bodyPr/>
                    <a:lstStyle/>
                    <a:p>
                      <a:r>
                        <a:rPr lang="en-US" dirty="0" smtClean="0"/>
                        <a:t>Agenda</a:t>
                      </a:r>
                      <a:endParaRPr lang="en-US" dirty="0"/>
                    </a:p>
                  </a:txBody>
                  <a:tcPr/>
                </a:tc>
                <a:tc>
                  <a:txBody>
                    <a:bodyPr/>
                    <a:lstStyle/>
                    <a:p>
                      <a:r>
                        <a:rPr lang="en-US" dirty="0" smtClean="0"/>
                        <a:t>Timing</a:t>
                      </a:r>
                      <a:endParaRPr lang="en-US" dirty="0"/>
                    </a:p>
                  </a:txBody>
                  <a:tcPr/>
                </a:tc>
                <a:tc>
                  <a:txBody>
                    <a:bodyPr/>
                    <a:lstStyle/>
                    <a:p>
                      <a:r>
                        <a:rPr lang="en-US" dirty="0" smtClean="0"/>
                        <a:t>Audience</a:t>
                      </a:r>
                      <a:endParaRPr lang="en-US" dirty="0"/>
                    </a:p>
                  </a:txBody>
                  <a:tcPr/>
                </a:tc>
                <a:tc>
                  <a:txBody>
                    <a:bodyPr/>
                    <a:lstStyle/>
                    <a:p>
                      <a:r>
                        <a:rPr lang="en-US" dirty="0" smtClean="0"/>
                        <a:t>Issued By</a:t>
                      </a:r>
                      <a:endParaRPr lang="en-US" dirty="0"/>
                    </a:p>
                  </a:txBody>
                  <a:tcPr/>
                </a:tc>
              </a:tr>
              <a:tr h="370840">
                <a:tc>
                  <a:txBody>
                    <a:bodyPr/>
                    <a:lstStyle/>
                    <a:p>
                      <a:r>
                        <a:rPr lang="en-US" sz="1200" kern="1200" dirty="0" smtClean="0">
                          <a:solidFill>
                            <a:schemeClr val="tx1"/>
                          </a:solidFill>
                          <a:latin typeface="+mn-lt"/>
                          <a:ea typeface="+mn-ea"/>
                          <a:cs typeface="+mn-cs"/>
                        </a:rPr>
                        <a:t>Project Awareness</a:t>
                      </a:r>
                      <a:endParaRPr lang="en-US" sz="1200" dirty="0"/>
                    </a:p>
                  </a:txBody>
                  <a:tcPr/>
                </a:tc>
                <a:tc>
                  <a:txBody>
                    <a:bodyPr/>
                    <a:lstStyle/>
                    <a:p>
                      <a:r>
                        <a:rPr lang="en-US" sz="1200" kern="1200" dirty="0" smtClean="0">
                          <a:solidFill>
                            <a:schemeClr val="tx1"/>
                          </a:solidFill>
                          <a:latin typeface="+mn-lt"/>
                          <a:ea typeface="+mn-ea"/>
                          <a:cs typeface="+mn-cs"/>
                        </a:rPr>
                        <a:t>Strategic Importance of the Project</a:t>
                      </a:r>
                    </a:p>
                    <a:p>
                      <a:r>
                        <a:rPr lang="en-US" sz="1200" kern="1200" dirty="0" smtClean="0">
                          <a:solidFill>
                            <a:schemeClr val="tx1"/>
                          </a:solidFill>
                          <a:latin typeface="+mn-lt"/>
                          <a:ea typeface="+mn-ea"/>
                          <a:cs typeface="+mn-cs"/>
                        </a:rPr>
                        <a:t>Overview of Scope</a:t>
                      </a:r>
                    </a:p>
                    <a:p>
                      <a:r>
                        <a:rPr lang="en-US" sz="1200" kern="1200" dirty="0" smtClean="0">
                          <a:solidFill>
                            <a:schemeClr val="tx1"/>
                          </a:solidFill>
                          <a:latin typeface="+mn-lt"/>
                          <a:ea typeface="+mn-ea"/>
                          <a:cs typeface="+mn-cs"/>
                        </a:rPr>
                        <a:t>Anticipated System Benefits</a:t>
                      </a:r>
                    </a:p>
                    <a:p>
                      <a:r>
                        <a:rPr lang="en-US" sz="1200" kern="1200" dirty="0" smtClean="0">
                          <a:solidFill>
                            <a:schemeClr val="tx1"/>
                          </a:solidFill>
                          <a:latin typeface="+mn-lt"/>
                          <a:ea typeface="+mn-ea"/>
                          <a:cs typeface="+mn-cs"/>
                        </a:rPr>
                        <a:t>Introduction of Project Team</a:t>
                      </a:r>
                    </a:p>
                    <a:p>
                      <a:r>
                        <a:rPr lang="en-US" sz="1200" kern="1200" dirty="0" smtClean="0">
                          <a:solidFill>
                            <a:schemeClr val="tx1"/>
                          </a:solidFill>
                          <a:latin typeface="+mn-lt"/>
                          <a:ea typeface="+mn-ea"/>
                          <a:cs typeface="+mn-cs"/>
                        </a:rPr>
                        <a:t>Request for Support and Compliance</a:t>
                      </a:r>
                      <a:endParaRPr lang="en-US" sz="1200" dirty="0"/>
                    </a:p>
                  </a:txBody>
                  <a:tcPr/>
                </a:tc>
                <a:tc>
                  <a:txBody>
                    <a:bodyPr/>
                    <a:lstStyle/>
                    <a:p>
                      <a:pPr marL="0" marR="0">
                        <a:spcBef>
                          <a:spcPts val="0"/>
                        </a:spcBef>
                        <a:spcAft>
                          <a:spcPts val="0"/>
                        </a:spcAft>
                      </a:pPr>
                      <a:r>
                        <a:rPr lang="en-US" sz="1200">
                          <a:latin typeface="Arial"/>
                          <a:ea typeface="Times New Roman"/>
                          <a:cs typeface="Times New Roman"/>
                        </a:rPr>
                        <a:t>Kickoff Meeting</a:t>
                      </a:r>
                    </a:p>
                  </a:txBody>
                  <a:tcPr marL="68580" marR="68580" marT="0" marB="0"/>
                </a:tc>
                <a:tc>
                  <a:txBody>
                    <a:bodyPr/>
                    <a:lstStyle/>
                    <a:p>
                      <a:pPr marL="0" marR="0">
                        <a:spcBef>
                          <a:spcPts val="0"/>
                        </a:spcBef>
                        <a:spcAft>
                          <a:spcPts val="0"/>
                        </a:spcAft>
                      </a:pPr>
                      <a:r>
                        <a:rPr lang="en-US" sz="1200">
                          <a:latin typeface="Arial"/>
                          <a:ea typeface="Times New Roman"/>
                          <a:cs typeface="Times New Roman"/>
                        </a:rPr>
                        <a:t>All Hands</a:t>
                      </a:r>
                    </a:p>
                  </a:txBody>
                  <a:tcPr marL="68580" marR="68580" marT="0" marB="0"/>
                </a:tc>
                <a:tc>
                  <a:txBody>
                    <a:bodyPr/>
                    <a:lstStyle/>
                    <a:p>
                      <a:pPr marL="0" marR="0">
                        <a:spcBef>
                          <a:spcPts val="0"/>
                        </a:spcBef>
                        <a:spcAft>
                          <a:spcPts val="0"/>
                        </a:spcAft>
                      </a:pPr>
                      <a:r>
                        <a:rPr lang="en-US" sz="1200">
                          <a:latin typeface="Arial"/>
                          <a:ea typeface="Times New Roman"/>
                          <a:cs typeface="Times New Roman"/>
                        </a:rPr>
                        <a:t>Executive Sponsor</a:t>
                      </a:r>
                    </a:p>
                    <a:p>
                      <a:pPr marL="0" marR="0">
                        <a:spcBef>
                          <a:spcPts val="0"/>
                        </a:spcBef>
                        <a:spcAft>
                          <a:spcPts val="0"/>
                        </a:spcAft>
                      </a:pPr>
                      <a:r>
                        <a:rPr lang="en-US" sz="1200">
                          <a:latin typeface="Arial"/>
                          <a:ea typeface="Times New Roman"/>
                          <a:cs typeface="Times New Roman"/>
                        </a:rPr>
                        <a:t>Project Owners</a:t>
                      </a:r>
                    </a:p>
                    <a:p>
                      <a:pPr marL="0" marR="0">
                        <a:spcBef>
                          <a:spcPts val="0"/>
                        </a:spcBef>
                        <a:spcAft>
                          <a:spcPts val="0"/>
                        </a:spcAft>
                      </a:pPr>
                      <a:r>
                        <a:rPr lang="en-US" sz="1200">
                          <a:latin typeface="Arial"/>
                          <a:ea typeface="Times New Roman"/>
                          <a:cs typeface="Times New Roman"/>
                        </a:rPr>
                        <a:t>Customer Project Manager</a:t>
                      </a:r>
                    </a:p>
                  </a:txBody>
                  <a:tcPr marL="68580" marR="68580" marT="0" marB="0"/>
                </a:tc>
              </a:tr>
              <a:tr h="370840">
                <a:tc>
                  <a:txBody>
                    <a:bodyPr/>
                    <a:lstStyle/>
                    <a:p>
                      <a:r>
                        <a:rPr lang="en-US" sz="1200" dirty="0" smtClean="0"/>
                        <a:t>Project Updates</a:t>
                      </a:r>
                      <a:endParaRPr lang="en-US" sz="1200" dirty="0"/>
                    </a:p>
                  </a:txBody>
                  <a:tcPr/>
                </a:tc>
                <a:tc>
                  <a:txBody>
                    <a:bodyPr/>
                    <a:lstStyle/>
                    <a:p>
                      <a:r>
                        <a:rPr lang="en-US" sz="1200" kern="1200" dirty="0" smtClean="0">
                          <a:solidFill>
                            <a:schemeClr val="tx1"/>
                          </a:solidFill>
                          <a:latin typeface="+mn-lt"/>
                          <a:ea typeface="+mn-ea"/>
                          <a:cs typeface="+mn-cs"/>
                        </a:rPr>
                        <a:t>Project Progress</a:t>
                      </a:r>
                    </a:p>
                    <a:p>
                      <a:r>
                        <a:rPr lang="en-US" sz="1200" kern="1200" dirty="0" smtClean="0">
                          <a:solidFill>
                            <a:schemeClr val="tx1"/>
                          </a:solidFill>
                          <a:latin typeface="+mn-lt"/>
                          <a:ea typeface="+mn-ea"/>
                          <a:cs typeface="+mn-cs"/>
                        </a:rPr>
                        <a:t>Communication of Critical Dates</a:t>
                      </a:r>
                    </a:p>
                    <a:p>
                      <a:r>
                        <a:rPr lang="en-US" sz="1200" kern="1200" dirty="0" smtClean="0">
                          <a:solidFill>
                            <a:schemeClr val="tx1"/>
                          </a:solidFill>
                          <a:latin typeface="+mn-lt"/>
                          <a:ea typeface="+mn-ea"/>
                          <a:cs typeface="+mn-cs"/>
                        </a:rPr>
                        <a:t>Decisions Made, Anticipated Key Changes</a:t>
                      </a:r>
                      <a:endParaRPr lang="en-US" sz="1200" dirty="0"/>
                    </a:p>
                  </a:txBody>
                  <a:tcPr/>
                </a:tc>
                <a:tc>
                  <a:txBody>
                    <a:bodyPr/>
                    <a:lstStyle/>
                    <a:p>
                      <a:pPr marL="0" marR="0">
                        <a:spcBef>
                          <a:spcPts val="0"/>
                        </a:spcBef>
                        <a:spcAft>
                          <a:spcPts val="0"/>
                        </a:spcAft>
                      </a:pPr>
                      <a:r>
                        <a:rPr lang="en-US" sz="1200">
                          <a:latin typeface="Arial"/>
                          <a:ea typeface="Times New Roman"/>
                          <a:cs typeface="Times New Roman"/>
                        </a:rPr>
                        <a:t>Bi-weekly after Kickoff</a:t>
                      </a:r>
                    </a:p>
                  </a:txBody>
                  <a:tcPr marL="68580" marR="68580" marT="0" marB="0"/>
                </a:tc>
                <a:tc>
                  <a:txBody>
                    <a:bodyPr/>
                    <a:lstStyle/>
                    <a:p>
                      <a:pPr marL="0" marR="0">
                        <a:spcBef>
                          <a:spcPts val="0"/>
                        </a:spcBef>
                        <a:spcAft>
                          <a:spcPts val="0"/>
                        </a:spcAft>
                      </a:pPr>
                      <a:r>
                        <a:rPr lang="en-US" sz="1200">
                          <a:latin typeface="Arial"/>
                          <a:ea typeface="Times New Roman"/>
                          <a:cs typeface="Times New Roman"/>
                        </a:rPr>
                        <a:t>Impacted Business Areas</a:t>
                      </a:r>
                    </a:p>
                  </a:txBody>
                  <a:tcPr marL="68580" marR="68580" marT="0" marB="0"/>
                </a:tc>
                <a:tc>
                  <a:txBody>
                    <a:bodyPr/>
                    <a:lstStyle/>
                    <a:p>
                      <a:pPr marL="0" marR="0">
                        <a:spcBef>
                          <a:spcPts val="0"/>
                        </a:spcBef>
                        <a:spcAft>
                          <a:spcPts val="0"/>
                        </a:spcAft>
                      </a:pPr>
                      <a:r>
                        <a:rPr lang="en-US" sz="1200">
                          <a:latin typeface="Arial"/>
                          <a:ea typeface="Times New Roman"/>
                          <a:cs typeface="Times New Roman"/>
                        </a:rPr>
                        <a:t>Customer Project Manager</a:t>
                      </a:r>
                    </a:p>
                  </a:txBody>
                  <a:tcPr marL="68580" marR="68580" marT="0" marB="0"/>
                </a:tc>
              </a:tr>
              <a:tr h="370840">
                <a:tc>
                  <a:txBody>
                    <a:bodyPr/>
                    <a:lstStyle/>
                    <a:p>
                      <a:pPr marL="0" marR="0">
                        <a:spcBef>
                          <a:spcPts val="0"/>
                        </a:spcBef>
                        <a:spcAft>
                          <a:spcPts val="0"/>
                        </a:spcAft>
                      </a:pPr>
                      <a:r>
                        <a:rPr lang="en-US" sz="1200">
                          <a:latin typeface="Arial"/>
                          <a:ea typeface="Times New Roman"/>
                          <a:cs typeface="Times New Roman"/>
                        </a:rPr>
                        <a:t>Go Live Notification</a:t>
                      </a:r>
                    </a:p>
                  </a:txBody>
                  <a:tcPr marL="68580" marR="68580" marT="0" marB="0"/>
                </a:tc>
                <a:tc>
                  <a:txBody>
                    <a:bodyPr/>
                    <a:lstStyle/>
                    <a:p>
                      <a:pPr marL="0" marR="0">
                        <a:spcBef>
                          <a:spcPts val="0"/>
                        </a:spcBef>
                        <a:spcAft>
                          <a:spcPts val="0"/>
                        </a:spcAft>
                      </a:pPr>
                      <a:r>
                        <a:rPr lang="en-US" sz="1200">
                          <a:latin typeface="Arial"/>
                          <a:ea typeface="Times New Roman"/>
                          <a:cs typeface="Times New Roman"/>
                        </a:rPr>
                        <a:t>Confirmation of Go Live Date</a:t>
                      </a:r>
                    </a:p>
                    <a:p>
                      <a:pPr marL="0" marR="0">
                        <a:spcBef>
                          <a:spcPts val="0"/>
                        </a:spcBef>
                        <a:spcAft>
                          <a:spcPts val="0"/>
                        </a:spcAft>
                      </a:pPr>
                      <a:r>
                        <a:rPr lang="en-US" sz="1200">
                          <a:latin typeface="Arial"/>
                          <a:ea typeface="Times New Roman"/>
                          <a:cs typeface="Times New Roman"/>
                        </a:rPr>
                        <a:t>Communication of Key Cut Off Dates</a:t>
                      </a:r>
                    </a:p>
                    <a:p>
                      <a:pPr marL="0" marR="0">
                        <a:spcBef>
                          <a:spcPts val="0"/>
                        </a:spcBef>
                        <a:spcAft>
                          <a:spcPts val="0"/>
                        </a:spcAft>
                      </a:pPr>
                      <a:r>
                        <a:rPr lang="en-US" sz="1200">
                          <a:latin typeface="Arial"/>
                          <a:ea typeface="Times New Roman"/>
                          <a:cs typeface="Times New Roman"/>
                        </a:rPr>
                        <a:t>Temporary Processes Needed During Transition</a:t>
                      </a:r>
                    </a:p>
                    <a:p>
                      <a:pPr marL="0" marR="0">
                        <a:spcBef>
                          <a:spcPts val="0"/>
                        </a:spcBef>
                        <a:spcAft>
                          <a:spcPts val="0"/>
                        </a:spcAft>
                      </a:pPr>
                      <a:r>
                        <a:rPr lang="en-US" sz="1200">
                          <a:latin typeface="Arial"/>
                          <a:ea typeface="Times New Roman"/>
                          <a:cs typeface="Times New Roman"/>
                        </a:rPr>
                        <a:t>Expectations of Possible Temporary Inefficiencies</a:t>
                      </a:r>
                    </a:p>
                  </a:txBody>
                  <a:tcPr marL="68580" marR="68580" marT="0" marB="0"/>
                </a:tc>
                <a:tc>
                  <a:txBody>
                    <a:bodyPr/>
                    <a:lstStyle/>
                    <a:p>
                      <a:pPr marL="0" marR="0">
                        <a:spcBef>
                          <a:spcPts val="0"/>
                        </a:spcBef>
                        <a:spcAft>
                          <a:spcPts val="0"/>
                        </a:spcAft>
                      </a:pPr>
                      <a:r>
                        <a:rPr lang="en-US" sz="1200" dirty="0">
                          <a:latin typeface="Arial"/>
                          <a:ea typeface="Times New Roman"/>
                          <a:cs typeface="Times New Roman"/>
                        </a:rPr>
                        <a:t>Post-Production Readiness Review</a:t>
                      </a:r>
                    </a:p>
                  </a:txBody>
                  <a:tcPr marL="68580" marR="68580" marT="0" marB="0"/>
                </a:tc>
                <a:tc>
                  <a:txBody>
                    <a:bodyPr/>
                    <a:lstStyle/>
                    <a:p>
                      <a:pPr marL="0" marR="0">
                        <a:spcBef>
                          <a:spcPts val="0"/>
                        </a:spcBef>
                        <a:spcAft>
                          <a:spcPts val="0"/>
                        </a:spcAft>
                      </a:pPr>
                      <a:r>
                        <a:rPr lang="en-US" sz="1200">
                          <a:latin typeface="Arial"/>
                          <a:ea typeface="Times New Roman"/>
                          <a:cs typeface="Times New Roman"/>
                        </a:rPr>
                        <a:t>Impacted Business Areas</a:t>
                      </a:r>
                    </a:p>
                    <a:p>
                      <a:pPr marL="0" marR="0">
                        <a:spcBef>
                          <a:spcPts val="0"/>
                        </a:spcBef>
                        <a:spcAft>
                          <a:spcPts val="0"/>
                        </a:spcAft>
                      </a:pPr>
                      <a:r>
                        <a:rPr lang="en-US" sz="1200">
                          <a:latin typeface="Arial"/>
                          <a:ea typeface="Times New Roman"/>
                          <a:cs typeface="Times New Roman"/>
                        </a:rPr>
                        <a:t>External Partners</a:t>
                      </a:r>
                    </a:p>
                  </a:txBody>
                  <a:tcPr marL="68580" marR="68580" marT="0" marB="0"/>
                </a:tc>
                <a:tc>
                  <a:txBody>
                    <a:bodyPr/>
                    <a:lstStyle/>
                    <a:p>
                      <a:pPr marL="0" marR="0">
                        <a:spcBef>
                          <a:spcPts val="0"/>
                        </a:spcBef>
                        <a:spcAft>
                          <a:spcPts val="0"/>
                        </a:spcAft>
                      </a:pPr>
                      <a:r>
                        <a:rPr lang="en-US" sz="1200" dirty="0">
                          <a:latin typeface="Arial"/>
                          <a:ea typeface="Times New Roman"/>
                          <a:cs typeface="Times New Roman"/>
                        </a:rPr>
                        <a:t>Customer Project Manager</a:t>
                      </a:r>
                    </a:p>
                  </a:txBody>
                  <a:tcPr marL="68580" marR="68580" marT="0" marB="0"/>
                </a:tc>
              </a:tr>
              <a:tr h="370840">
                <a:tc>
                  <a:txBody>
                    <a:bodyPr/>
                    <a:lstStyle/>
                    <a:p>
                      <a:pPr marL="0" marR="0">
                        <a:spcBef>
                          <a:spcPts val="0"/>
                        </a:spcBef>
                        <a:spcAft>
                          <a:spcPts val="0"/>
                        </a:spcAft>
                      </a:pPr>
                      <a:r>
                        <a:rPr lang="en-US" sz="1200">
                          <a:latin typeface="Arial"/>
                          <a:ea typeface="Times New Roman"/>
                          <a:cs typeface="Times New Roman"/>
                        </a:rPr>
                        <a:t>Post Go Live Recap</a:t>
                      </a:r>
                    </a:p>
                  </a:txBody>
                  <a:tcPr marL="68580" marR="68580" marT="0" marB="0"/>
                </a:tc>
                <a:tc>
                  <a:txBody>
                    <a:bodyPr/>
                    <a:lstStyle/>
                    <a:p>
                      <a:pPr marL="0" marR="0">
                        <a:spcBef>
                          <a:spcPts val="0"/>
                        </a:spcBef>
                        <a:spcAft>
                          <a:spcPts val="0"/>
                        </a:spcAft>
                      </a:pPr>
                      <a:r>
                        <a:rPr lang="en-US" sz="1200" dirty="0">
                          <a:latin typeface="Arial"/>
                          <a:ea typeface="Times New Roman"/>
                          <a:cs typeface="Times New Roman"/>
                        </a:rPr>
                        <a:t>Project Accomplishments</a:t>
                      </a:r>
                    </a:p>
                    <a:p>
                      <a:pPr marL="0" marR="0">
                        <a:spcBef>
                          <a:spcPts val="0"/>
                        </a:spcBef>
                        <a:spcAft>
                          <a:spcPts val="0"/>
                        </a:spcAft>
                      </a:pPr>
                      <a:r>
                        <a:rPr lang="en-US" sz="1200" dirty="0">
                          <a:latin typeface="Arial"/>
                          <a:ea typeface="Times New Roman"/>
                          <a:cs typeface="Times New Roman"/>
                        </a:rPr>
                        <a:t>Motivation to Embrace New Processes</a:t>
                      </a:r>
                    </a:p>
                    <a:p>
                      <a:pPr marL="0" marR="0">
                        <a:spcBef>
                          <a:spcPts val="0"/>
                        </a:spcBef>
                        <a:spcAft>
                          <a:spcPts val="0"/>
                        </a:spcAft>
                      </a:pPr>
                      <a:r>
                        <a:rPr lang="en-US" sz="1200" dirty="0">
                          <a:latin typeface="Arial"/>
                          <a:ea typeface="Times New Roman"/>
                          <a:cs typeface="Times New Roman"/>
                        </a:rPr>
                        <a:t>Project Team Accolades</a:t>
                      </a:r>
                    </a:p>
                  </a:txBody>
                  <a:tcPr marL="68580" marR="68580" marT="0" marB="0"/>
                </a:tc>
                <a:tc>
                  <a:txBody>
                    <a:bodyPr/>
                    <a:lstStyle/>
                    <a:p>
                      <a:pPr marL="0" marR="0">
                        <a:spcBef>
                          <a:spcPts val="0"/>
                        </a:spcBef>
                        <a:spcAft>
                          <a:spcPts val="0"/>
                        </a:spcAft>
                      </a:pPr>
                      <a:r>
                        <a:rPr lang="en-US" sz="1200">
                          <a:latin typeface="Arial"/>
                          <a:ea typeface="Times New Roman"/>
                          <a:cs typeface="Times New Roman"/>
                        </a:rPr>
                        <a:t>2 Weeks Post Go Live</a:t>
                      </a:r>
                    </a:p>
                  </a:txBody>
                  <a:tcPr marL="68580" marR="68580" marT="0" marB="0"/>
                </a:tc>
                <a:tc>
                  <a:txBody>
                    <a:bodyPr/>
                    <a:lstStyle/>
                    <a:p>
                      <a:pPr marL="0" marR="0">
                        <a:spcBef>
                          <a:spcPts val="0"/>
                        </a:spcBef>
                        <a:spcAft>
                          <a:spcPts val="0"/>
                        </a:spcAft>
                      </a:pPr>
                      <a:r>
                        <a:rPr lang="en-US" sz="1200">
                          <a:latin typeface="Arial"/>
                          <a:ea typeface="Times New Roman"/>
                          <a:cs typeface="Times New Roman"/>
                        </a:rPr>
                        <a:t>All Hands</a:t>
                      </a:r>
                    </a:p>
                  </a:txBody>
                  <a:tcPr marL="68580" marR="68580" marT="0" marB="0"/>
                </a:tc>
                <a:tc>
                  <a:txBody>
                    <a:bodyPr/>
                    <a:lstStyle/>
                    <a:p>
                      <a:pPr marL="0" marR="0">
                        <a:spcBef>
                          <a:spcPts val="0"/>
                        </a:spcBef>
                        <a:spcAft>
                          <a:spcPts val="0"/>
                        </a:spcAft>
                      </a:pPr>
                      <a:r>
                        <a:rPr lang="en-US" sz="1200" dirty="0">
                          <a:latin typeface="Arial"/>
                          <a:ea typeface="Times New Roman"/>
                          <a:cs typeface="Times New Roman"/>
                        </a:rPr>
                        <a:t>Project Owners</a:t>
                      </a:r>
                    </a:p>
                    <a:p>
                      <a:pPr marL="0" marR="0">
                        <a:spcBef>
                          <a:spcPts val="0"/>
                        </a:spcBef>
                        <a:spcAft>
                          <a:spcPts val="0"/>
                        </a:spcAft>
                      </a:pPr>
                      <a:r>
                        <a:rPr lang="en-US" sz="1200" dirty="0">
                          <a:latin typeface="Arial"/>
                          <a:ea typeface="Times New Roman"/>
                          <a:cs typeface="Times New Roman"/>
                        </a:rPr>
                        <a:t>Customer Project Manager</a:t>
                      </a:r>
                    </a:p>
                  </a:txBody>
                  <a:tcPr marL="68580" marR="68580" marT="0" marB="0"/>
                </a:tc>
              </a:tr>
              <a:tr h="370840">
                <a:tc>
                  <a:txBody>
                    <a:bodyPr/>
                    <a:lstStyle/>
                    <a:p>
                      <a:endParaRPr lang="en-US" sz="1200"/>
                    </a:p>
                  </a:txBody>
                  <a:tcPr/>
                </a:tc>
                <a:tc>
                  <a:txBody>
                    <a:bodyPr/>
                    <a:lstStyle/>
                    <a:p>
                      <a:endParaRPr lang="en-US" sz="1200" dirty="0"/>
                    </a:p>
                  </a:txBody>
                  <a:tcPr/>
                </a:tc>
                <a:tc>
                  <a:txBody>
                    <a:bodyPr/>
                    <a:lstStyle/>
                    <a:p>
                      <a:endParaRPr lang="en-US" sz="1200" dirty="0"/>
                    </a:p>
                  </a:txBody>
                  <a:tcPr/>
                </a:tc>
                <a:tc>
                  <a:txBody>
                    <a:bodyPr/>
                    <a:lstStyle/>
                    <a:p>
                      <a:endParaRPr lang="en-US" sz="1200"/>
                    </a:p>
                  </a:txBody>
                  <a:tcPr/>
                </a:tc>
                <a:tc>
                  <a:txBody>
                    <a:bodyPr/>
                    <a:lstStyle/>
                    <a:p>
                      <a:endParaRPr lang="en-US" sz="1200" dirty="0"/>
                    </a:p>
                  </a:txBody>
                  <a:tcPr/>
                </a:tc>
              </a:tr>
              <a:tr h="370840">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tr>
            </a:tbl>
          </a:graphicData>
        </a:graphic>
      </p:graphicFrame>
      <p:sp>
        <p:nvSpPr>
          <p:cNvPr id="10" name="TextBox 9"/>
          <p:cNvSpPr txBox="1"/>
          <p:nvPr/>
        </p:nvSpPr>
        <p:spPr>
          <a:xfrm>
            <a:off x="3514032" y="219783"/>
            <a:ext cx="8448541" cy="618186"/>
          </a:xfrm>
          <a:prstGeom prst="rect">
            <a:avLst/>
          </a:prstGeom>
          <a:noFill/>
          <a:ln w="38100">
            <a:solidFill>
              <a:srgbClr val="FF3399"/>
            </a:solidFill>
          </a:ln>
        </p:spPr>
        <p:txBody>
          <a:bodyPr wrap="square" lIns="0" tIns="0" rIns="0" bIns="0" rtlCol="0" anchor="ctr">
            <a:noAutofit/>
          </a:bodyPr>
          <a:lstStyle/>
          <a:p>
            <a:pPr algn="ctr">
              <a:lnSpc>
                <a:spcPct val="90000"/>
              </a:lnSpc>
            </a:pPr>
            <a:r>
              <a:rPr lang="en-US" sz="2800" dirty="0" smtClean="0">
                <a:solidFill>
                  <a:srgbClr val="FF3399"/>
                </a:solidFill>
              </a:rPr>
              <a:t>&lt; EXAMPLE ONLY  --  REQUIRES UPDATE &gt;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Organizational Change Management Strategy – High-Level Training Responsibilities</a:t>
            </a:r>
            <a:endParaRPr lang="en-US" dirty="0"/>
          </a:p>
        </p:txBody>
      </p:sp>
      <p:sp>
        <p:nvSpPr>
          <p:cNvPr id="3" name="Content Placeholder 2"/>
          <p:cNvSpPr>
            <a:spLocks noGrp="1"/>
          </p:cNvSpPr>
          <p:nvPr>
            <p:ph idx="1"/>
          </p:nvPr>
        </p:nvSpPr>
        <p:spPr/>
        <p:txBody>
          <a:bodyPr/>
          <a:lstStyle/>
          <a:p>
            <a:r>
              <a:rPr lang="en-US" sz="2400" dirty="0" smtClean="0"/>
              <a:t>&lt;Responsible Organization, for example, customer or consulting organization&gt; is responsible for end-user training. The Training Strategy follows:</a:t>
            </a:r>
          </a:p>
          <a:p>
            <a:pPr lvl="1"/>
            <a:r>
              <a:rPr lang="en-US" sz="2000" dirty="0" smtClean="0"/>
              <a:t>Interactive familiarization workshops combined with hands-on participation in configuration, data migration, and testing will inherently result in the sharing of information to the members of your project team, resulting in high performing ‘super users’.</a:t>
            </a:r>
          </a:p>
          <a:p>
            <a:pPr lvl="1"/>
            <a:r>
              <a:rPr lang="en-US" sz="2000" dirty="0" smtClean="0"/>
              <a:t>Organized training will be conducted by &lt;Training Organization, e.g., Oracle University&gt;.</a:t>
            </a:r>
          </a:p>
          <a:p>
            <a:pPr lvl="1"/>
            <a:r>
              <a:rPr lang="en-US" sz="2000" dirty="0" smtClean="0"/>
              <a:t>End-user training for key business areas will be defined at completion of the Training Plan as defined in the Project </a:t>
            </a:r>
            <a:r>
              <a:rPr lang="en-US" sz="2000" dirty="0" err="1" smtClean="0"/>
              <a:t>Workplan</a:t>
            </a:r>
            <a:r>
              <a:rPr lang="en-US" sz="2000" dirty="0" smtClean="0"/>
              <a:t>.</a:t>
            </a:r>
          </a:p>
          <a:p>
            <a:pPr lvl="1"/>
            <a:r>
              <a:rPr lang="en-US" sz="2000" dirty="0" smtClean="0"/>
              <a:t>&lt;Responsible Organization&gt; is responsible for the creation of training material.</a:t>
            </a:r>
          </a:p>
          <a:p>
            <a:pPr lvl="1"/>
            <a:r>
              <a:rPr lang="en-US" sz="2000" dirty="0" smtClean="0"/>
              <a:t>&lt;Responsible Organization&gt; is responsible for end-user training.</a:t>
            </a:r>
          </a:p>
          <a:p>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63</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8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1555E"/>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smtClean="0"/>
        </a:defPPr>
      </a:lstStyle>
    </a:txDef>
  </a:objectDefaults>
  <a:extraClrSchemeLst/>
  <a:extLst>
    <a:ext uri="{05A4C25C-085E-4340-85A3-A5531E510DB2}">
      <thm15:themeFamily xmlns="" xmlns:thm15="http://schemas.microsoft.com/office/thememl/2012/main" name="Oracle_16x9-2014-v2.1.x" id="{327BA289-4253-4B1F-93E1-0383345A9128}" vid="{D6F0D91B-DD93-4308-9726-31EB480EB9A1}"/>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8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8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993</TotalTime>
  <Words>4942</Words>
  <Application>Microsoft Office PowerPoint</Application>
  <PresentationFormat>Custom</PresentationFormat>
  <Paragraphs>662</Paragraphs>
  <Slides>64</Slides>
  <Notes>4</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blank</vt:lpstr>
      <vt:lpstr>Slide 1</vt:lpstr>
      <vt:lpstr>Project Management Plan</vt:lpstr>
      <vt:lpstr>Instructions</vt:lpstr>
      <vt:lpstr>Introduction</vt:lpstr>
      <vt:lpstr>Project Name</vt:lpstr>
      <vt:lpstr>Project Approach</vt:lpstr>
      <vt:lpstr>Phases / Milestones</vt:lpstr>
      <vt:lpstr>Phases</vt:lpstr>
      <vt:lpstr>Phases (cont.)</vt:lpstr>
      <vt:lpstr>Regulatory Compliance</vt:lpstr>
      <vt:lpstr>Related Documents</vt:lpstr>
      <vt:lpstr>Scope Baseline</vt:lpstr>
      <vt:lpstr>Scope Change Management Processes</vt:lpstr>
      <vt:lpstr>Scope Change Management Processes – Scope Verification</vt:lpstr>
      <vt:lpstr>Scope Change Management Processes – Requirements Management</vt:lpstr>
      <vt:lpstr>Scope Management – Scope Change Control</vt:lpstr>
      <vt:lpstr>Scope Change Management Processes – Scope Change Control Steps</vt:lpstr>
      <vt:lpstr>Financial Management Plan</vt:lpstr>
      <vt:lpstr>Financial Management Plan - Approach</vt:lpstr>
      <vt:lpstr>Financial Management Plan - Tracking and Control</vt:lpstr>
      <vt:lpstr>Financial Management Plan - Invoice Processing</vt:lpstr>
      <vt:lpstr>Financial Management Plan - Reporting</vt:lpstr>
      <vt:lpstr>Work Management Plan</vt:lpstr>
      <vt:lpstr>Work Management Plan – Workplan Management</vt:lpstr>
      <vt:lpstr>Work Management Plan – Work Management</vt:lpstr>
      <vt:lpstr>Work Management Plan – Reporting</vt:lpstr>
      <vt:lpstr>Risk Management Plan</vt:lpstr>
      <vt:lpstr>Risk Management Plan – Flow</vt:lpstr>
      <vt:lpstr>Risk Management Plan – Risk Management Steps</vt:lpstr>
      <vt:lpstr>Risk Management Plan - Reporting</vt:lpstr>
      <vt:lpstr>Issue Management Strategy</vt:lpstr>
      <vt:lpstr>Issue Management Strategy – Flow</vt:lpstr>
      <vt:lpstr>Issue Management Strategy – Steps</vt:lpstr>
      <vt:lpstr>Issue Management Strategy - Reporting</vt:lpstr>
      <vt:lpstr>Problem Management Strategy</vt:lpstr>
      <vt:lpstr>Problem Management Strategy – Flow</vt:lpstr>
      <vt:lpstr>Problem Management Strategy – Steps</vt:lpstr>
      <vt:lpstr>Problem Management Strategy- Reporting</vt:lpstr>
      <vt:lpstr>Staff Management Plan</vt:lpstr>
      <vt:lpstr>Staff Management Plan – Approach</vt:lpstr>
      <vt:lpstr>Staff Management Plan</vt:lpstr>
      <vt:lpstr>Project Team Communication Plan</vt:lpstr>
      <vt:lpstr>Project Team Communication Plan – Meeting Matrix</vt:lpstr>
      <vt:lpstr>Project Team Communication Plan - Escalation Process</vt:lpstr>
      <vt:lpstr>Quality Management Plan</vt:lpstr>
      <vt:lpstr>Quality Management Plan – Quality Objectives for the Project</vt:lpstr>
      <vt:lpstr>Quality Management Plan - Quality Control Plan</vt:lpstr>
      <vt:lpstr>Quality Management Plan – Quality Assurance Plan</vt:lpstr>
      <vt:lpstr>Quality Management Plan – Tools and Techniques</vt:lpstr>
      <vt:lpstr>Configuration Management Plan and Processes</vt:lpstr>
      <vt:lpstr>Configuration Management Plan and Processes – Items</vt:lpstr>
      <vt:lpstr>Configuration Management Plan and Processes – Tools</vt:lpstr>
      <vt:lpstr>Infrastructure Management Plan</vt:lpstr>
      <vt:lpstr>Infrastructure Management Plan – Team Work Environment</vt:lpstr>
      <vt:lpstr>Infrastructure Management Plan – Technical Infrastructure</vt:lpstr>
      <vt:lpstr>Infrastructure Management Plan – Technical Infrastructure</vt:lpstr>
      <vt:lpstr>Procurement Strategy and Process</vt:lpstr>
      <vt:lpstr>Procurement Strategy and Process</vt:lpstr>
      <vt:lpstr>Organizational Change Management Strategy</vt:lpstr>
      <vt:lpstr>Organizational Change Management Strategy - Approach</vt:lpstr>
      <vt:lpstr>Organizational Change Management Strategy</vt:lpstr>
      <vt:lpstr>Organizational Change Management Strategy – HL Events</vt:lpstr>
      <vt:lpstr>Organizational Change Management Strategy – High-Level Training Responsibilities</vt:lpstr>
      <vt:lpstr>Slide 64</vt:lpstr>
    </vt:vector>
  </TitlesOfParts>
  <Company>Oracle Corporation</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 Plan</dc:title>
  <dc:creator>Global Methods</dc:creator>
  <cp:keywords>OUM</cp:keywords>
  <dc:description>Copyright © 2016, Oracle and/or its affiliates.  All rights reserved.</dc:description>
  <cp:lastModifiedBy>masander</cp:lastModifiedBy>
  <cp:revision>37</cp:revision>
  <cp:lastPrinted>2014-07-16T02:22:57Z</cp:lastPrinted>
  <dcterms:created xsi:type="dcterms:W3CDTF">2016-02-01T22:22:25Z</dcterms:created>
  <dcterms:modified xsi:type="dcterms:W3CDTF">2016-09-19T21:43:06Z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