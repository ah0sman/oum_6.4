
<file path=[Content_Types].xml><?xml version="1.0" encoding="utf-8"?>
<Types xmlns="http://schemas.openxmlformats.org/package/2006/content-types">
  <Override PartName="/ppt/slideLayouts/slideLayout3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notesSlides/notesSlide14.xml" ContentType="application/vnd.openxmlformats-officedocument.presentationml.notesSlide+xml"/>
  <Override PartName="/docProps/custom.xml" ContentType="application/vnd.openxmlformats-officedocument.custom-properti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Default Extension="gif" ContentType="image/gif"/>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354" r:id="rId2"/>
    <p:sldId id="258" r:id="rId3"/>
    <p:sldId id="355" r:id="rId4"/>
    <p:sldId id="356" r:id="rId5"/>
    <p:sldId id="357" r:id="rId6"/>
    <p:sldId id="358" r:id="rId7"/>
    <p:sldId id="359" r:id="rId8"/>
    <p:sldId id="360" r:id="rId9"/>
    <p:sldId id="372" r:id="rId10"/>
    <p:sldId id="361" r:id="rId11"/>
    <p:sldId id="362" r:id="rId12"/>
    <p:sldId id="363" r:id="rId13"/>
    <p:sldId id="374" r:id="rId14"/>
    <p:sldId id="364" r:id="rId15"/>
    <p:sldId id="373" r:id="rId16"/>
    <p:sldId id="365" r:id="rId17"/>
    <p:sldId id="366" r:id="rId18"/>
    <p:sldId id="367" r:id="rId19"/>
    <p:sldId id="368" r:id="rId20"/>
    <p:sldId id="375" r:id="rId21"/>
    <p:sldId id="369" r:id="rId22"/>
    <p:sldId id="371" r:id="rId23"/>
    <p:sldId id="289" r:id="rId24"/>
  </p:sldIdLst>
  <p:sldSz cx="12188825" cy="6858000"/>
  <p:notesSz cx="6858000" cy="9144000"/>
  <p:custDataLst>
    <p:tags r:id="rId2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7" pos="335">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CCCCFF"/>
    <a:srgbClr val="7F7F7F"/>
    <a:srgbClr val="000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5262" autoAdjust="0"/>
  </p:normalViewPr>
  <p:slideViewPr>
    <p:cSldViewPr>
      <p:cViewPr varScale="1">
        <p:scale>
          <a:sx n="51" d="100"/>
          <a:sy n="51" d="100"/>
        </p:scale>
        <p:origin x="-2052" y="-84"/>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31" d="100"/>
        <a:sy n="31" d="100"/>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9/11/2016</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p14="http://schemas.microsoft.com/office/powerpoint/2010/main" xmlns=""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p14="http://schemas.microsoft.com/office/powerpoint/2010/main" xmlns=""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a:t>
            </a:fld>
            <a:endParaRPr lang="en-US" dirty="0"/>
          </a:p>
        </p:txBody>
      </p:sp>
    </p:spTree>
    <p:extLst>
      <p:ext uri="{BB962C8B-B14F-4D97-AF65-F5344CB8AC3E}">
        <p14:creationId xmlns:p14="http://schemas.microsoft.com/office/powerpoint/2010/main" xmlns="" val="1242756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r>
              <a:rPr lang="en-US" dirty="0" smtClean="0"/>
              <a:t>This is a </a:t>
            </a:r>
            <a:r>
              <a:rPr lang="en-US" b="1" dirty="0" smtClean="0"/>
              <a:t>Title Slide with Picture </a:t>
            </a:r>
            <a:r>
              <a:rPr lang="en-US" b="0" dirty="0" smtClean="0"/>
              <a:t>slide</a:t>
            </a:r>
            <a:r>
              <a:rPr lang="en-US" b="1" dirty="0" smtClean="0"/>
              <a:t> </a:t>
            </a:r>
            <a:r>
              <a:rPr lang="en-US" baseline="0" dirty="0" smtClean="0"/>
              <a:t>ideal for including a picture with a brief title, subtitle and presenter information.</a:t>
            </a:r>
          </a:p>
          <a:p>
            <a:endParaRPr lang="en-US" baseline="0" dirty="0" smtClean="0"/>
          </a:p>
          <a:p>
            <a:r>
              <a:rPr lang="en-US" baseline="0" dirty="0" smtClean="0"/>
              <a:t>To customize this slide with your own picture:</a:t>
            </a:r>
          </a:p>
          <a:p>
            <a:endParaRPr lang="en-US" baseline="0" dirty="0" smtClean="0"/>
          </a:p>
          <a:p>
            <a:pPr marL="0" indent="0">
              <a:buNone/>
            </a:pPr>
            <a:r>
              <a:rPr lang="en-US" b="1" baseline="0" dirty="0" smtClean="0"/>
              <a:t>Right-click</a:t>
            </a:r>
            <a:r>
              <a:rPr lang="en-US" baseline="0" dirty="0" smtClean="0"/>
              <a:t> the slide area and choose </a:t>
            </a:r>
            <a:r>
              <a:rPr lang="en-US" b="1" baseline="0" dirty="0" smtClean="0"/>
              <a:t>Format Background </a:t>
            </a:r>
            <a:r>
              <a:rPr lang="en-US" baseline="0" dirty="0" smtClean="0"/>
              <a:t>from the pop-up menu. From the </a:t>
            </a:r>
            <a:r>
              <a:rPr lang="en-US" b="1" baseline="0" dirty="0" smtClean="0"/>
              <a:t>Fill</a:t>
            </a:r>
            <a:r>
              <a:rPr lang="en-US" baseline="0" dirty="0" smtClean="0"/>
              <a:t> menu, click </a:t>
            </a:r>
            <a:r>
              <a:rPr lang="en-US" b="1" baseline="0" dirty="0" smtClean="0"/>
              <a:t>Picture</a:t>
            </a:r>
            <a:r>
              <a:rPr lang="en-US" baseline="0" dirty="0" smtClean="0"/>
              <a:t> </a:t>
            </a:r>
            <a:r>
              <a:rPr lang="en-US" b="1" baseline="0" dirty="0" smtClean="0"/>
              <a:t>and texture fill</a:t>
            </a:r>
            <a:r>
              <a:rPr lang="en-US" baseline="0" dirty="0" smtClean="0"/>
              <a:t>. Under </a:t>
            </a:r>
            <a:r>
              <a:rPr lang="en-US" b="1" baseline="0" dirty="0" smtClean="0"/>
              <a:t>Insert from: </a:t>
            </a:r>
            <a:r>
              <a:rPr lang="en-US" baseline="0" dirty="0" smtClean="0"/>
              <a:t>click </a:t>
            </a:r>
            <a:r>
              <a:rPr lang="en-US" b="1" baseline="0" dirty="0" smtClean="0"/>
              <a:t>File</a:t>
            </a:r>
            <a:r>
              <a:rPr lang="en-US" baseline="0" dirty="0" smtClean="0"/>
              <a:t>. Locate your new picture and click </a:t>
            </a:r>
            <a:r>
              <a:rPr lang="en-US" b="1" baseline="0" dirty="0" smtClean="0"/>
              <a:t>Insert</a:t>
            </a:r>
            <a:r>
              <a:rPr lang="en-US" baseline="0" dirty="0" smtClean="0"/>
              <a:t>.</a:t>
            </a:r>
          </a:p>
        </p:txBody>
      </p:sp>
      <p:sp>
        <p:nvSpPr>
          <p:cNvPr id="4" name="Slide Number Placeholder 3"/>
          <p:cNvSpPr>
            <a:spLocks noGrp="1"/>
          </p:cNvSpPr>
          <p:nvPr>
            <p:ph type="sldNum" sz="quarter" idx="10"/>
          </p:nvPr>
        </p:nvSpPr>
        <p:spPr/>
        <p:txBody>
          <a:bodyPr/>
          <a:lstStyle/>
          <a:p>
            <a:fld id="{8C72D9AE-7182-4680-8F79-479C4181FF08}" type="slidenum">
              <a:rPr lang="en-US" smtClean="0"/>
              <a:pPr/>
              <a:t>2</a:t>
            </a:fld>
            <a:endParaRPr lang="en-US" dirty="0"/>
          </a:p>
        </p:txBody>
      </p:sp>
    </p:spTree>
    <p:extLst>
      <p:ext uri="{BB962C8B-B14F-4D97-AF65-F5344CB8AC3E}">
        <p14:creationId xmlns:p14="http://schemas.microsoft.com/office/powerpoint/2010/main" xmlns="" val="2238467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This presentation could be used for a formal Steering</a:t>
            </a:r>
            <a:r>
              <a:rPr lang="en-US" baseline="0" dirty="0" smtClean="0"/>
              <a:t> Committee meeting for a large project, or could be tailored down to cover a Key Project Sponsor review.  You will notice several options for the slides included within this template (note &lt;Option n&gt; in the slide titles).  Choose the one that makes the most sense for your situation.</a:t>
            </a:r>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r>
              <a:rPr lang="en-US" dirty="0" smtClean="0"/>
              <a:t>Only Use this Slide for the First Meeting.  However if</a:t>
            </a:r>
            <a:r>
              <a:rPr lang="en-US" baseline="0" dirty="0" smtClean="0"/>
              <a:t> the Steering Committee had action Items from the previous meeting you could reuse this slide for that purpose as well.</a:t>
            </a:r>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dirty="0" smtClean="0"/>
              <a:t>Only use this Slide for the first meeting</a:t>
            </a:r>
            <a:r>
              <a:rPr lang="en-US" baseline="0" dirty="0" smtClean="0"/>
              <a:t> to ensure everyone understands the project.</a:t>
            </a:r>
            <a:endParaRPr lang="en-US" dirty="0" smtClean="0"/>
          </a:p>
        </p:txBody>
      </p:sp>
      <p:sp>
        <p:nvSpPr>
          <p:cNvPr id="4" name="Slide Number Placeholder 3"/>
          <p:cNvSpPr>
            <a:spLocks noGrp="1"/>
          </p:cNvSpPr>
          <p:nvPr>
            <p:ph type="sldNum" sz="quarter" idx="10"/>
          </p:nvPr>
        </p:nvSpPr>
        <p:spPr/>
        <p:txBody>
          <a:bodyPr/>
          <a:lstStyle/>
          <a:p>
            <a:fld id="{8C72D9AE-7182-4680-8F79-479C4181FF08}"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Note</a:t>
            </a:r>
            <a:r>
              <a:rPr lang="en-US" baseline="0" dirty="0" smtClean="0"/>
              <a:t> that</a:t>
            </a:r>
            <a:r>
              <a:rPr lang="en-US" dirty="0" smtClean="0"/>
              <a:t> these</a:t>
            </a:r>
            <a:r>
              <a:rPr lang="en-US" baseline="0" dirty="0" smtClean="0"/>
              <a:t> are high-level topics.</a:t>
            </a:r>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8</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r>
              <a:rPr lang="en-US" dirty="0" smtClean="0"/>
              <a:t>These items are for a high-level status that Executives would be most interested in reviewing.</a:t>
            </a:r>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9</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Provide a summary of major project activity by phase.  Be certain to list upcoming activities, especially milestones, payment milestones, and go lives.  If there are related issues, problems or risks, be sure to list them and discuss them later in the stakeholders meeting.</a:t>
            </a:r>
          </a:p>
          <a:p>
            <a:endParaRPr lang="en-US" dirty="0" smtClean="0"/>
          </a:p>
          <a:p>
            <a:r>
              <a:rPr lang="en-US" dirty="0" smtClean="0"/>
              <a:t>If you have multiple work-streams, list each separately and use additional slides as needed.</a:t>
            </a:r>
          </a:p>
        </p:txBody>
      </p:sp>
      <p:sp>
        <p:nvSpPr>
          <p:cNvPr id="4" name="Slide Number Placeholder 3"/>
          <p:cNvSpPr>
            <a:spLocks noGrp="1"/>
          </p:cNvSpPr>
          <p:nvPr>
            <p:ph type="sldNum" sz="quarter" idx="10"/>
          </p:nvPr>
        </p:nvSpPr>
        <p:spPr/>
        <p:txBody>
          <a:bodyPr/>
          <a:lstStyle/>
          <a:p>
            <a:fld id="{8C72D9AE-7182-4680-8F79-479C4181FF08}" type="slidenum">
              <a:rPr lang="en-US" smtClean="0"/>
              <a:pPr/>
              <a:t>11</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r>
              <a:rPr lang="en-US" dirty="0" smtClean="0"/>
              <a:t>Please note some of the items above do not use OUM phase names or activity</a:t>
            </a:r>
            <a:r>
              <a:rPr lang="en-US" baseline="0" dirty="0" smtClean="0"/>
              <a:t> names (for example there is nothing in OUM called Business Acceptance Testing)  However, this could still be a valid example if the enterprise implementing the system under discussion (</a:t>
            </a:r>
            <a:r>
              <a:rPr lang="en-US" baseline="0" dirty="0" err="1" smtClean="0"/>
              <a:t>SuD</a:t>
            </a:r>
            <a:r>
              <a:rPr lang="en-US" baseline="0" dirty="0" smtClean="0"/>
              <a:t>) has an existing standard for Business Acceptance Testing that is beyond what OUM describes for User Acceptance testing.</a:t>
            </a:r>
          </a:p>
          <a:p>
            <a:endParaRPr lang="en-US" baseline="0" dirty="0" smtClean="0"/>
          </a:p>
          <a:p>
            <a:r>
              <a:rPr lang="en-US" baseline="0" dirty="0" smtClean="0"/>
              <a:t>Module Design and Build (composite name) could refer to the AN and DS tasks needed to do Analysis and Design for any custom components.  There is nothing in OUM called Module Design and Build.</a:t>
            </a:r>
          </a:p>
          <a:p>
            <a:endParaRPr lang="en-US" baseline="0" dirty="0" smtClean="0"/>
          </a:p>
          <a:p>
            <a:r>
              <a:rPr lang="en-US" baseline="0" dirty="0" smtClean="0"/>
              <a:t>CRP = Conference Room pilot, You won’t find the word CRP in any OUM task name, instead OUM uses the task MC.080 Conduct Configuration Prototyping Workshop.  This Configuration Prototyping Workshop  can be used for any Commercial Off the Shelf software configuration that needs to take place.</a:t>
            </a:r>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12</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dirty="0" smtClean="0"/>
              <a:t>Put in what ever high-level activities you</a:t>
            </a:r>
            <a:r>
              <a:rPr lang="en-US" baseline="0" dirty="0" smtClean="0"/>
              <a:t> woul</a:t>
            </a:r>
            <a:r>
              <a:rPr lang="en-US" dirty="0" smtClean="0"/>
              <a:t>d like to show to the Steering</a:t>
            </a:r>
            <a:r>
              <a:rPr lang="en-US" baseline="0" dirty="0" smtClean="0"/>
              <a:t> Committee.</a:t>
            </a:r>
            <a:endParaRPr lang="en-US" dirty="0" smtClean="0"/>
          </a:p>
        </p:txBody>
      </p:sp>
      <p:sp>
        <p:nvSpPr>
          <p:cNvPr id="4" name="Slide Number Placeholder 3"/>
          <p:cNvSpPr>
            <a:spLocks noGrp="1"/>
          </p:cNvSpPr>
          <p:nvPr>
            <p:ph type="sldNum" sz="quarter" idx="10"/>
          </p:nvPr>
        </p:nvSpPr>
        <p:spPr/>
        <p:txBody>
          <a:bodyPr/>
          <a:lstStyle/>
          <a:p>
            <a:fld id="{8C72D9AE-7182-4680-8F79-479C4181FF08}" type="slidenum">
              <a:rPr lang="en-US" smtClean="0"/>
              <a:pPr/>
              <a:t>13</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14</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18</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dirty="0" smtClean="0"/>
              <a:t>Repeat</a:t>
            </a:r>
            <a:r>
              <a:rPr lang="en-US" baseline="0" dirty="0" smtClean="0"/>
              <a:t> this slide if you want to show multiple months.  These slides are at a high level that the Steering Committee would find interesting.</a:t>
            </a:r>
          </a:p>
        </p:txBody>
      </p:sp>
      <p:sp>
        <p:nvSpPr>
          <p:cNvPr id="4" name="Slide Number Placeholder 3"/>
          <p:cNvSpPr>
            <a:spLocks noGrp="1"/>
          </p:cNvSpPr>
          <p:nvPr>
            <p:ph type="sldNum" sz="quarter" idx="10"/>
          </p:nvPr>
        </p:nvSpPr>
        <p:spPr/>
        <p:txBody>
          <a:bodyPr/>
          <a:lstStyle/>
          <a:p>
            <a:fld id="{8C72D9AE-7182-4680-8F79-479C4181FF08}" type="slidenum">
              <a:rPr lang="en-US" smtClean="0"/>
              <a:pPr/>
              <a:t>20</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Grp="1" noChangeArrowheads="1"/>
          </p:cNvSpPr>
          <p:nvPr>
            <p:ph type="sldNum" sz="quarter" idx="5"/>
          </p:nvPr>
        </p:nvSpPr>
        <p:spPr>
          <a:noFill/>
        </p:spPr>
        <p:txBody>
          <a:bodyPr/>
          <a:lstStyle/>
          <a:p>
            <a:fld id="{4E846EB3-491D-46EA-9F3D-D6DB1BBDF172}" type="slidenum">
              <a:rPr lang="en-US"/>
              <a:pPr/>
              <a:t>22</a:t>
            </a:fld>
            <a:endParaRPr lang="en-US" dirty="0"/>
          </a:p>
        </p:txBody>
      </p:sp>
      <p:sp>
        <p:nvSpPr>
          <p:cNvPr id="12291" name="Rectangle 2"/>
          <p:cNvSpPr>
            <a:spLocks noGrp="1" noRot="1" noChangeAspect="1" noChangeArrowheads="1" noTextEdit="1"/>
          </p:cNvSpPr>
          <p:nvPr>
            <p:ph type="sldImg"/>
          </p:nvPr>
        </p:nvSpPr>
        <p:spPr>
          <a:xfrm>
            <a:off x="385763" y="687388"/>
            <a:ext cx="6088062" cy="3425825"/>
          </a:xfrm>
          <a:ln cap="flat"/>
        </p:spPr>
      </p:sp>
      <p:sp>
        <p:nvSpPr>
          <p:cNvPr id="12292" name="Rectangle 3"/>
          <p:cNvSpPr>
            <a:spLocks noGrp="1" noChangeArrowheads="1"/>
          </p:cNvSpPr>
          <p:nvPr>
            <p:ph type="body" idx="1"/>
          </p:nvPr>
        </p:nvSpPr>
        <p:spPr>
          <a:xfrm>
            <a:off x="914400" y="4343400"/>
            <a:ext cx="5029200" cy="4114800"/>
          </a:xfrm>
          <a:noFill/>
          <a:ln/>
        </p:spPr>
        <p:txBody>
          <a:bodyPr lIns="92066" tIns="46033" rIns="92066" bIns="46033"/>
          <a:lstStyle/>
          <a:p>
            <a:pPr defTabSz="914400">
              <a:lnSpc>
                <a:spcPct val="100000"/>
              </a:lnSpc>
              <a:spcBef>
                <a:spcPct val="30000"/>
              </a:spcBef>
            </a:pPr>
            <a:endParaRPr lang="nl-NL"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23</a:t>
            </a:fld>
            <a:endParaRPr lang="en-US" dirty="0"/>
          </a:p>
        </p:txBody>
      </p:sp>
    </p:spTree>
    <p:extLst>
      <p:ext uri="{BB962C8B-B14F-4D97-AF65-F5344CB8AC3E}">
        <p14:creationId xmlns:p14="http://schemas.microsoft.com/office/powerpoint/2010/main" xmlns="" val="12427561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B722D471-5E9C-480B-899E-A5DC759F309D}" type="datetime1">
              <a:rPr lang="en-US" smtClean="0"/>
              <a:pPr/>
              <a:t>9/11/2016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99320028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E87C6629-42E3-4A9D-8F83-F2D84EC85EFC}" type="datetime1">
              <a:rPr lang="en-US" smtClean="0"/>
              <a:pPr/>
              <a:t>9/11/2016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40415743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638FC9B7-2571-4EB4-82D7-73C2D280A1DE}" type="datetime1">
              <a:rPr lang="en-US" smtClean="0"/>
              <a:pPr/>
              <a:t>9/11/2016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D37B0E6C-9D49-49DB-8741-B331D564D89A}" type="datetime1">
              <a:rPr lang="en-US" smtClean="0"/>
              <a:pPr/>
              <a:t>9/11/2016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62E64B68-804C-462D-A57B-577545C2BA0C}" type="datetime1">
              <a:rPr lang="en-US" smtClean="0"/>
              <a:pPr/>
              <a:t>9/11/2016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dirty="0"/>
          </a:p>
        </p:txBody>
      </p:sp>
    </p:spTree>
    <p:extLst>
      <p:ext uri="{BB962C8B-B14F-4D97-AF65-F5344CB8AC3E}">
        <p14:creationId xmlns:p14="http://schemas.microsoft.com/office/powerpoint/2010/main" xmlns=""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D64AABAB-AF66-405A-BB1E-4E9BF0EB53D8}" type="datetime1">
              <a:rPr lang="en-US" smtClean="0"/>
              <a:pPr/>
              <a:t>9/11/2016</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0752384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E727FE8C-80AE-4A61-871F-0EEF805A24BE}" type="datetime1">
              <a:rPr lang="en-US" smtClean="0"/>
              <a:pPr/>
              <a:t>9/11/2016</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7176835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3C81F367-56D1-41B7-BBDE-8F9B9B46A88B}" type="datetime1">
              <a:rPr lang="en-US" smtClean="0"/>
              <a:pPr/>
              <a:t>9/11/2016</a:t>
            </a:fld>
            <a:endParaRPr dirty="0"/>
          </a:p>
        </p:txBody>
      </p:sp>
      <p:sp>
        <p:nvSpPr>
          <p:cNvPr id="5" name="Footer Placeholder 4"/>
          <p:cNvSpPr>
            <a:spLocks noGrp="1"/>
          </p:cNvSpPr>
          <p:nvPr>
            <p:ph type="ftr" sz="quarter" idx="11"/>
          </p:nvPr>
        </p:nvSpPr>
        <p:spPr/>
        <p:txBody>
          <a:bodyPr>
            <a:noAutofit/>
          </a:body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68122964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96F9834-D2DA-47B6-9E4D-81659D34387D}" type="datetime1">
              <a:rPr lang="en-US" smtClean="0"/>
              <a:pPr/>
              <a:t>9/11/2016</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51385333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DA1E241B-1968-479E-AE38-617F9CB95302}" type="datetime1">
              <a:rPr lang="en-US" smtClean="0"/>
              <a:pPr/>
              <a:t>9/11/2016</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5" name="Date Placeholder 4"/>
          <p:cNvSpPr>
            <a:spLocks noGrp="1"/>
          </p:cNvSpPr>
          <p:nvPr>
            <p:ph type="dt" sz="half" idx="10"/>
          </p:nvPr>
        </p:nvSpPr>
        <p:spPr/>
        <p:txBody>
          <a:bodyPr/>
          <a:lstStyle/>
          <a:p>
            <a:fld id="{D26938CC-93F8-4B03-8DCF-CE9E32F64573}" type="datetime1">
              <a:rPr lang="en-US" smtClean="0"/>
              <a:pPr/>
              <a:t>9/11/2016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67037058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49E83E6-23B9-44BA-A92B-328A50615619}" type="datetime1">
              <a:rPr lang="en-US" smtClean="0"/>
              <a:pPr/>
              <a:t>9/11/2016</a:t>
            </a:fld>
            <a:endParaRPr lang="en-US" dirty="0"/>
          </a:p>
        </p:txBody>
      </p:sp>
      <p:sp>
        <p:nvSpPr>
          <p:cNvPr id="4" name="Footer Placeholder 3"/>
          <p:cNvSpPr>
            <a:spLocks noGrp="1"/>
          </p:cNvSpPr>
          <p:nvPr>
            <p:ph type="ftr" sz="quarter" idx="11"/>
          </p:nvPr>
        </p:nvSpPr>
        <p:spPr/>
        <p:txBody>
          <a:bodyPr/>
          <a:lstStyle/>
          <a:p>
            <a:r>
              <a:rPr lang="en-US" dirty="0" smtClean="0"/>
              <a:t>Oracle Confidential –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xmlns="" val="159625631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A06844A2-00EB-447E-AF3D-99F5D99746A8}" type="datetime1">
              <a:rPr lang="en-US" smtClean="0"/>
              <a:pPr/>
              <a:t>9/11/2016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4509846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095B9DB1-DF74-4DE7-8B36-A4A35966FBAA}" type="datetime1">
              <a:rPr lang="en-US" smtClean="0"/>
              <a:pPr/>
              <a:t>9/11/2016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0277668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B0406CF7-B571-4A09-AADF-6F1A9AC98BC2}" type="datetime1">
              <a:rPr lang="en-US" smtClean="0"/>
              <a:pPr/>
              <a:t>9/11/2016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2016615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C64C0693-AC4C-4F5E-8579-7EABA678E1AD}" type="datetime1">
              <a:rPr lang="en-US" smtClean="0"/>
              <a:pPr/>
              <a:t>9/11/2016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337141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77187FB7-ABF3-44CF-B3E5-1952511EC202}" type="datetime1">
              <a:rPr lang="en-US" smtClean="0"/>
              <a:pPr/>
              <a:t>9/11/2016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122633453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54696D-53D5-4628-9153-1DB96C802CC3}" type="datetime1">
              <a:rPr lang="en-US" smtClean="0"/>
              <a:pPr/>
              <a:t>9/11/2016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42812501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B939FD0-F5DF-4AEC-B9F1-DDF174FB1744}" type="datetime1">
              <a:rPr lang="en-US" smtClean="0"/>
              <a:pPr/>
              <a:t>9/11/2016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73938650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163DFB20-CAA0-4BD5-9E08-81E4F559AFD1}" type="datetime1">
              <a:rPr lang="en-US" smtClean="0"/>
              <a:pPr/>
              <a:t>9/11/2016</a:t>
            </a:fld>
            <a:endParaRPr dirty="0"/>
          </a:p>
        </p:txBody>
      </p:sp>
      <p:sp>
        <p:nvSpPr>
          <p:cNvPr id="8" name="Footer Placeholder 7"/>
          <p:cNvSpPr>
            <a:spLocks noGrp="1"/>
          </p:cNvSpPr>
          <p:nvPr>
            <p:ph type="ftr" sz="quarter" idx="11"/>
          </p:nvPr>
        </p:nvSpPr>
        <p:spPr/>
        <p:txBody>
          <a:bodyPr>
            <a:noAutofit/>
          </a:bodyPr>
          <a:lstStyle/>
          <a:p>
            <a:r>
              <a:rPr dirty="0"/>
              <a:t>Oracle Confidential – Internal/Restricted/Highly Restricted</a:t>
            </a:r>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37870018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B1D9F47-B881-47A3-BF42-925F958774EC}" type="datetime1">
              <a:rPr lang="en-US" smtClean="0"/>
              <a:pPr/>
              <a:t>9/11/2016</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3769938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6D611822-0B44-4A61-B30C-DE563FFA9E22}" type="datetime1">
              <a:rPr lang="en-US" smtClean="0"/>
              <a:pPr/>
              <a:t>9/11/2016</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4163620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811921-A330-440B-AFF1-57990B4E6C17}" type="datetime1">
              <a:rPr lang="en-US" smtClean="0"/>
              <a:pPr/>
              <a:t>9/11/2016</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60822934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3FBAF6-1FEF-42D3-96F5-147495CFC273}" type="datetime1">
              <a:rPr lang="en-US" smtClean="0"/>
              <a:pPr/>
              <a:t>9/11/2016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45785070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05F42D1-46FF-4874-BE63-6BB1213B0D09}" type="datetime1">
              <a:rPr lang="en-US" smtClean="0"/>
              <a:pPr/>
              <a:t>9/11/2016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05827476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6CDFD2-89C1-4FBE-91F3-B77DF6E2F744}" type="datetime1">
              <a:rPr lang="en-US" smtClean="0"/>
              <a:pPr/>
              <a:t>9/11/2016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0898225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B858F9-BF4D-4DDA-8243-3A72E66680E8}" type="datetime1">
              <a:rPr lang="en-US" smtClean="0"/>
              <a:pPr/>
              <a:t>9/11/2016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9085471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5" name="Date Placeholder 4"/>
          <p:cNvSpPr>
            <a:spLocks noGrp="1"/>
          </p:cNvSpPr>
          <p:nvPr>
            <p:ph type="dt" sz="half" idx="10"/>
          </p:nvPr>
        </p:nvSpPr>
        <p:spPr/>
        <p:txBody>
          <a:bodyPr/>
          <a:lstStyle/>
          <a:p>
            <a:fld id="{5399E549-B081-49D3-AEE0-012CE0B6DE0A}" type="datetime1">
              <a:rPr lang="en-US" smtClean="0"/>
              <a:pPr/>
              <a:t>9/11/2016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a14="http://schemas.microsoft.com/office/drawing/2010/main" xmlns=""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Tree>
    <p:extLst>
      <p:ext uri="{BB962C8B-B14F-4D97-AF65-F5344CB8AC3E}">
        <p14:creationId xmlns:p14="http://schemas.microsoft.com/office/powerpoint/2010/main" xmlns="" val="74544451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a14="http://schemas.microsoft.com/office/drawing/2010/main" xmlns=""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a14="http://schemas.microsoft.com/office/drawing/2010/main" xmlns=""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5" name="Date Placeholder 4"/>
          <p:cNvSpPr>
            <a:spLocks noGrp="1"/>
          </p:cNvSpPr>
          <p:nvPr>
            <p:ph type="dt" sz="half" idx="10"/>
          </p:nvPr>
        </p:nvSpPr>
        <p:spPr/>
        <p:txBody>
          <a:bodyPr/>
          <a:lstStyle/>
          <a:p>
            <a:fld id="{93A17318-0AF5-48C4-80DA-A67AAA2B658D}" type="datetime1">
              <a:rPr lang="en-US" smtClean="0"/>
              <a:pPr/>
              <a:t>9/11/2016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2063404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EFB1605B-D22A-4811-B9CF-F94DE206A78B}" type="datetime1">
              <a:rPr lang="en-US" smtClean="0"/>
              <a:pPr/>
              <a:t>9/11/2016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a14="http://schemas.microsoft.com/office/drawing/2010/main" xmlns=""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Tree>
    <p:extLst>
      <p:ext uri="{BB962C8B-B14F-4D97-AF65-F5344CB8AC3E}">
        <p14:creationId xmlns:p14="http://schemas.microsoft.com/office/powerpoint/2010/main" xmlns="" val="86081927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6F771A31-BF6F-4932-836B-2EC0DC3B76F3}" type="datetime1">
              <a:rPr lang="en-US" smtClean="0"/>
              <a:pPr/>
              <a:t>9/11/2016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a14="http://schemas.microsoft.com/office/drawing/2010/main" xmlns=""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Tree>
    <p:extLst>
      <p:ext uri="{BB962C8B-B14F-4D97-AF65-F5344CB8AC3E}">
        <p14:creationId xmlns:p14="http://schemas.microsoft.com/office/powerpoint/2010/main" xmlns="" val="18766017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F53B7685-560B-4013-8F28-877A91F3D41C}" type="datetime1">
              <a:rPr lang="en-US" smtClean="0"/>
              <a:pPr/>
              <a:t>9/11/2016</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2156B402-E660-4047-B65E-D4D9EAAFF060}" type="datetime1">
              <a:rPr lang="en-US" smtClean="0"/>
              <a:pPr/>
              <a:t>9/11/2016</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59788944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10A994ED-1A96-4694-BB4A-9E7234BB5209}" type="datetime1">
              <a:rPr lang="en-US" smtClean="0"/>
              <a:pPr/>
              <a:t>9/11/2016</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35887190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0D9523-9082-4360-985E-1745357FEA55}" type="datetime1">
              <a:rPr lang="en-US" smtClean="0"/>
              <a:pPr/>
              <a:t>9/11/2016</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2820860" y="2313432"/>
            <a:ext cx="6547104" cy="1832339"/>
          </a:xfrm>
          <a:prstGeom prst="rect">
            <a:avLst/>
          </a:prstGeom>
        </p:spPr>
      </p:pic>
    </p:spTree>
    <p:extLst>
      <p:ext uri="{BB962C8B-B14F-4D97-AF65-F5344CB8AC3E}">
        <p14:creationId xmlns:p14="http://schemas.microsoft.com/office/powerpoint/2010/main" xmlns="" val="370913749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a14="http://schemas.microsoft.com/office/drawing/2010/main" xmlns="" val="0"/>
              </a:ext>
            </a:extLst>
          </a:blip>
          <a:stretch>
            <a:fillRect/>
          </a:stretch>
        </p:blipFill>
        <p:spPr bwMode="black">
          <a:xfrm>
            <a:off x="3822128" y="2843826"/>
            <a:ext cx="4544568" cy="569547"/>
          </a:xfrm>
          <a:prstGeom prst="rect">
            <a:avLst/>
          </a:prstGeom>
        </p:spPr>
      </p:pic>
    </p:spTree>
    <p:extLst>
      <p:ext uri="{BB962C8B-B14F-4D97-AF65-F5344CB8AC3E}">
        <p14:creationId xmlns:p14="http://schemas.microsoft.com/office/powerpoint/2010/main" xmlns="" val="106575552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6470C6D9-0169-4B70-9EB3-5D58E733ED9C}" type="datetime1">
              <a:rPr lang="en-US" smtClean="0"/>
              <a:pPr/>
              <a:t>9/11/2016</a:t>
            </a:fld>
            <a:endParaRPr lang="en-US" dirty="0"/>
          </a:p>
        </p:txBody>
      </p:sp>
      <p:sp>
        <p:nvSpPr>
          <p:cNvPr id="5" name="Footer Placeholder 4"/>
          <p:cNvSpPr>
            <a:spLocks noGrp="1"/>
          </p:cNvSpPr>
          <p:nvPr>
            <p:ph type="ftr" sz="quarter" idx="11"/>
          </p:nvPr>
        </p:nvSpPr>
        <p:spPr/>
        <p:txBody>
          <a:bodyPr>
            <a:noAutofit/>
          </a:bodyPr>
          <a:lstStyle/>
          <a:p>
            <a:r>
              <a:rPr lang="en-US" dirty="0" smtClean="0"/>
              <a:t>Oracle Confidential – Internal/Restricted/Highly Restricted</a:t>
            </a:r>
            <a:endParaRPr lang="en-US" dirty="0"/>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dirty="0"/>
          </a:p>
        </p:txBody>
      </p:sp>
    </p:spTree>
    <p:extLst>
      <p:ext uri="{BB962C8B-B14F-4D97-AF65-F5344CB8AC3E}">
        <p14:creationId xmlns:p14="http://schemas.microsoft.com/office/powerpoint/2010/main" xmlns="" val="386218712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BEA510C4-CCDC-48D7-A30B-C70C349246CF}" type="datetime1">
              <a:rPr lang="en-US" smtClean="0"/>
              <a:pPr/>
              <a:t>9/11/2016</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1734545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New Template_Content 1 Line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72183" y="327385"/>
            <a:ext cx="10969924" cy="541860"/>
          </a:xfrm>
        </p:spPr>
        <p:txBody>
          <a:bodyPr anchor="t" anchorCtr="0"/>
          <a:lstStyle/>
          <a:p>
            <a:r>
              <a:rPr lang="en-US" dirty="0" smtClean="0"/>
              <a:t>Click to edit Master title style</a:t>
            </a:r>
            <a:br>
              <a:rPr lang="en-US" dirty="0" smtClean="0"/>
            </a:br>
            <a:endParaRPr lang="en-US" dirty="0"/>
          </a:p>
        </p:txBody>
      </p:sp>
      <p:sp>
        <p:nvSpPr>
          <p:cNvPr id="6" name="Content Placeholder 5"/>
          <p:cNvSpPr>
            <a:spLocks noGrp="1"/>
          </p:cNvSpPr>
          <p:nvPr>
            <p:ph sz="quarter" idx="12"/>
          </p:nvPr>
        </p:nvSpPr>
        <p:spPr>
          <a:xfrm>
            <a:off x="1072183" y="2029468"/>
            <a:ext cx="10969943" cy="40834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7" name="Text Placeholder 4"/>
          <p:cNvSpPr>
            <a:spLocks noGrp="1"/>
          </p:cNvSpPr>
          <p:nvPr>
            <p:ph type="body" sz="quarter" idx="13"/>
          </p:nvPr>
        </p:nvSpPr>
        <p:spPr>
          <a:xfrm>
            <a:off x="1072183" y="864288"/>
            <a:ext cx="10969943" cy="406400"/>
          </a:xfrm>
        </p:spPr>
        <p:txBody>
          <a:bodyPr anchor="t" anchorCtr="0">
            <a:noAutofit/>
          </a:bodyPr>
          <a:lstStyle>
            <a:lvl1pPr marL="0" indent="0">
              <a:spcAft>
                <a:spcPts val="0"/>
              </a:spcAft>
              <a:buFontTx/>
              <a:buNone/>
              <a:defRPr sz="2700">
                <a:solidFill>
                  <a:schemeClr val="accent1"/>
                </a:solidFill>
              </a:defRPr>
            </a:lvl1pPr>
            <a:lvl2pPr marL="609493" indent="0">
              <a:buFontTx/>
              <a:buNone/>
              <a:defRPr/>
            </a:lvl2pPr>
            <a:lvl3pPr marL="1218987" indent="0">
              <a:buFontTx/>
              <a:buNone/>
              <a:defRPr/>
            </a:lvl3pPr>
            <a:lvl4pPr marL="1828480" indent="0">
              <a:buFontTx/>
              <a:buNone/>
              <a:defRPr/>
            </a:lvl4pPr>
            <a:lvl5pPr marL="2437973" indent="0">
              <a:buFontTx/>
              <a:buNone/>
              <a:defRPr/>
            </a:lvl5pPr>
          </a:lstStyle>
          <a:p>
            <a:pPr lvl="0"/>
            <a:r>
              <a:rPr lang="en-US" smtClean="0"/>
              <a:t>Click to edit Master text styles</a:t>
            </a:r>
          </a:p>
        </p:txBody>
      </p:sp>
    </p:spTree>
    <p:extLst>
      <p:ext uri="{BB962C8B-B14F-4D97-AF65-F5344CB8AC3E}">
        <p14:creationId xmlns:p14="http://schemas.microsoft.com/office/powerpoint/2010/main" xmlns="" val="277220428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1"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944CF64B-EE3D-4606-B27E-17AEF33A60DB}" type="datetime1">
              <a:rPr lang="en-US" smtClean="0"/>
              <a:pPr/>
              <a:t>9/11/2016</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p14="http://schemas.microsoft.com/office/powerpoint/2010/main" xmlns=""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 id="2147483694" r:id="rId39"/>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sldNum="0" hdr="0" ft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35505626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t="-25000" b="-25000"/>
          </a:stretch>
        </a:blipFill>
        <a:effectLst/>
      </p:bgPr>
    </p:bg>
    <p:spTree>
      <p:nvGrpSpPr>
        <p:cNvPr id="1" name=""/>
        <p:cNvGrpSpPr/>
        <p:nvPr/>
      </p:nvGrpSpPr>
      <p:grpSpPr>
        <a:xfrm>
          <a:off x="0" y="0"/>
          <a:ext cx="0" cy="0"/>
          <a:chOff x="0" y="0"/>
          <a:chExt cx="0" cy="0"/>
        </a:xfrm>
      </p:grpSpPr>
      <p:sp>
        <p:nvSpPr>
          <p:cNvPr id="2" name="Title 1" descr="Full slide 4-color photo can be inserted here"/>
          <p:cNvSpPr>
            <a:spLocks noGrp="1"/>
          </p:cNvSpPr>
          <p:nvPr>
            <p:ph type="ctrTitle"/>
          </p:nvPr>
        </p:nvSpPr>
        <p:spPr/>
        <p:txBody>
          <a:bodyPr/>
          <a:lstStyle/>
          <a:p>
            <a:r>
              <a:rPr lang="en-US" dirty="0" smtClean="0"/>
              <a:t>Executive Steering Committee Presentation</a:t>
            </a:r>
            <a:endParaRPr lang="en-US" sz="3200" dirty="0"/>
          </a:p>
        </p:txBody>
      </p:sp>
      <p:sp>
        <p:nvSpPr>
          <p:cNvPr id="3" name="Subtitle 2"/>
          <p:cNvSpPr>
            <a:spLocks noGrp="1"/>
          </p:cNvSpPr>
          <p:nvPr>
            <p:ph type="subTitle" idx="1"/>
          </p:nvPr>
        </p:nvSpPr>
        <p:spPr/>
        <p:txBody>
          <a:bodyPr/>
          <a:lstStyle/>
          <a:p>
            <a:r>
              <a:rPr lang="en-US" dirty="0" smtClean="0"/>
              <a:t>&lt;Company Name&gt;</a:t>
            </a:r>
          </a:p>
          <a:p>
            <a:r>
              <a:rPr lang="en-US" dirty="0" smtClean="0"/>
              <a:t>&lt;Project Name&gt;</a:t>
            </a:r>
            <a:endParaRPr lang="en-US" dirty="0"/>
          </a:p>
        </p:txBody>
      </p:sp>
      <p:sp>
        <p:nvSpPr>
          <p:cNvPr id="6" name="Text Placeholder 5"/>
          <p:cNvSpPr>
            <a:spLocks noGrp="1"/>
          </p:cNvSpPr>
          <p:nvPr>
            <p:ph type="body" sz="quarter" idx="13"/>
          </p:nvPr>
        </p:nvSpPr>
        <p:spPr/>
        <p:txBody>
          <a:bodyPr/>
          <a:lstStyle/>
          <a:p>
            <a:r>
              <a:rPr lang="en-US" dirty="0" smtClean="0"/>
              <a:t>Presenter’s Name</a:t>
            </a:r>
          </a:p>
          <a:p>
            <a:r>
              <a:rPr lang="en-US" dirty="0" smtClean="0"/>
              <a:t>Presenter’s Title</a:t>
            </a:r>
          </a:p>
          <a:p>
            <a:r>
              <a:rPr lang="en-US" dirty="0" smtClean="0"/>
              <a:t>Organization, Division or Business Unit</a:t>
            </a:r>
          </a:p>
          <a:p>
            <a:r>
              <a:rPr lang="en-US" dirty="0" smtClean="0"/>
              <a:t>Month 00, 2014</a:t>
            </a:r>
            <a:endParaRPr lang="en-US" dirty="0"/>
          </a:p>
        </p:txBody>
      </p:sp>
      <p:sp>
        <p:nvSpPr>
          <p:cNvPr id="7" name="TextBox 6"/>
          <p:cNvSpPr txBox="1"/>
          <p:nvPr/>
        </p:nvSpPr>
        <p:spPr>
          <a:xfrm>
            <a:off x="5942012" y="5524500"/>
            <a:ext cx="3200400" cy="838200"/>
          </a:xfrm>
          <a:prstGeom prst="rect">
            <a:avLst/>
          </a:prstGeom>
          <a:solidFill>
            <a:srgbClr val="EAEEEF"/>
          </a:solidFill>
          <a:ln w="12700">
            <a:solidFill>
              <a:srgbClr val="D9541E"/>
            </a:solidFill>
            <a:prstDash val="sysDash"/>
          </a:ln>
        </p:spPr>
        <p:txBody>
          <a:bodyPr wrap="square" lIns="91440" tIns="91440" rIns="91440" bIns="91440" rtlCol="0" anchor="b" anchorCtr="0">
            <a:noAutofit/>
          </a:bodyPr>
          <a:lstStyle/>
          <a:p>
            <a:pPr>
              <a:lnSpc>
                <a:spcPct val="90000"/>
              </a:lnSpc>
              <a:spcBef>
                <a:spcPts val="600"/>
              </a:spcBef>
            </a:pPr>
            <a:r>
              <a:rPr lang="en-US" sz="1050" b="1" dirty="0">
                <a:solidFill>
                  <a:srgbClr val="5F5F5F"/>
                </a:solidFill>
              </a:rPr>
              <a:t>Note: </a:t>
            </a:r>
            <a:r>
              <a:rPr lang="en-US" sz="1050" dirty="0">
                <a:solidFill>
                  <a:srgbClr val="5F5F5F"/>
                </a:solidFill>
              </a:rPr>
              <a:t>The speaker notes for this slide include detailed instructions on how to customize this Title Slide with your own picture.</a:t>
            </a:r>
          </a:p>
          <a:p>
            <a:pPr>
              <a:lnSpc>
                <a:spcPct val="90000"/>
              </a:lnSpc>
              <a:spcBef>
                <a:spcPts val="600"/>
              </a:spcBef>
            </a:pPr>
            <a:r>
              <a:rPr lang="en-US" sz="1050" b="1" dirty="0">
                <a:solidFill>
                  <a:srgbClr val="5F5F5F"/>
                </a:solidFill>
              </a:rPr>
              <a:t>Tip! </a:t>
            </a:r>
            <a:r>
              <a:rPr lang="en-US" sz="1050" dirty="0">
                <a:solidFill>
                  <a:srgbClr val="5F5F5F"/>
                </a:solidFill>
              </a:rPr>
              <a:t>Remember to remove this text box.</a:t>
            </a:r>
          </a:p>
        </p:txBody>
      </p:sp>
      <p:pic>
        <p:nvPicPr>
          <p:cNvPr id="9" name="Picture 8" descr="Oracle_Unified_Method_485C.gif"/>
          <p:cNvPicPr>
            <a:picLocks noChangeAspect="1"/>
          </p:cNvPicPr>
          <p:nvPr/>
        </p:nvPicPr>
        <p:blipFill>
          <a:blip r:embed="rId4" cstate="print"/>
          <a:srcRect/>
          <a:stretch>
            <a:fillRect/>
          </a:stretch>
        </p:blipFill>
        <p:spPr bwMode="auto">
          <a:xfrm>
            <a:off x="9752013" y="5562600"/>
            <a:ext cx="1619250" cy="638175"/>
          </a:xfrm>
          <a:prstGeom prst="rect">
            <a:avLst/>
          </a:prstGeom>
          <a:noFill/>
          <a:ln w="9525">
            <a:noFill/>
            <a:miter lim="800000"/>
            <a:headEnd/>
            <a:tailEnd/>
          </a:ln>
        </p:spPr>
      </p:pic>
    </p:spTree>
    <p:extLst>
      <p:ext uri="{BB962C8B-B14F-4D97-AF65-F5344CB8AC3E}">
        <p14:creationId xmlns:p14="http://schemas.microsoft.com/office/powerpoint/2010/main" xmlns="" val="336776055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Agenda</a:t>
            </a:r>
            <a:endParaRPr lang="en-US" dirty="0"/>
          </a:p>
        </p:txBody>
      </p:sp>
      <p:sp>
        <p:nvSpPr>
          <p:cNvPr id="8" name="Content Placeholder 7"/>
          <p:cNvSpPr>
            <a:spLocks noGrp="1"/>
          </p:cNvSpPr>
          <p:nvPr>
            <p:ph idx="1"/>
          </p:nvPr>
        </p:nvSpPr>
        <p:spPr>
          <a:xfrm>
            <a:off x="531151" y="1371600"/>
            <a:ext cx="11126522" cy="4419600"/>
          </a:xfrm>
        </p:spPr>
        <p:txBody>
          <a:bodyPr/>
          <a:lstStyle/>
          <a:p>
            <a:pPr>
              <a:spcBef>
                <a:spcPts val="600"/>
              </a:spcBef>
            </a:pPr>
            <a:r>
              <a:rPr lang="en-US" dirty="0" smtClean="0"/>
              <a:t>Review Steering Committee Responsibilities (First Meeting </a:t>
            </a:r>
            <a:br>
              <a:rPr lang="en-US" dirty="0" smtClean="0"/>
            </a:br>
            <a:r>
              <a:rPr lang="en-US" dirty="0" smtClean="0"/>
              <a:t>Only)</a:t>
            </a:r>
          </a:p>
          <a:p>
            <a:pPr>
              <a:spcBef>
                <a:spcPts val="600"/>
              </a:spcBef>
            </a:pPr>
            <a:r>
              <a:rPr lang="en-US" dirty="0" smtClean="0"/>
              <a:t>Project Summary</a:t>
            </a:r>
          </a:p>
          <a:p>
            <a:pPr>
              <a:spcBef>
                <a:spcPts val="600"/>
              </a:spcBef>
            </a:pPr>
            <a:r>
              <a:rPr lang="en-US" dirty="0" smtClean="0"/>
              <a:t>Project Dashboard</a:t>
            </a:r>
          </a:p>
          <a:p>
            <a:pPr>
              <a:spcBef>
                <a:spcPts val="600"/>
              </a:spcBef>
            </a:pPr>
            <a:r>
              <a:rPr lang="en-US" dirty="0" smtClean="0"/>
              <a:t>Accomplishments this Period</a:t>
            </a:r>
          </a:p>
          <a:p>
            <a:pPr>
              <a:spcBef>
                <a:spcPts val="600"/>
              </a:spcBef>
            </a:pPr>
            <a:r>
              <a:rPr lang="en-US" dirty="0" smtClean="0"/>
              <a:t>Project Timeline</a:t>
            </a:r>
          </a:p>
          <a:p>
            <a:pPr>
              <a:spcBef>
                <a:spcPts val="600"/>
              </a:spcBef>
            </a:pPr>
            <a:r>
              <a:rPr lang="en-US" dirty="0" smtClean="0"/>
              <a:t>Project Issues and Risks</a:t>
            </a:r>
          </a:p>
          <a:p>
            <a:pPr>
              <a:spcBef>
                <a:spcPts val="600"/>
              </a:spcBef>
            </a:pPr>
            <a:r>
              <a:rPr lang="en-US" dirty="0" smtClean="0"/>
              <a:t>Financial Review</a:t>
            </a:r>
          </a:p>
          <a:p>
            <a:pPr>
              <a:spcBef>
                <a:spcPts val="600"/>
              </a:spcBef>
            </a:pPr>
            <a:r>
              <a:rPr lang="en-US" dirty="0" smtClean="0"/>
              <a:t>Change Orders</a:t>
            </a:r>
          </a:p>
          <a:p>
            <a:pPr>
              <a:spcBef>
                <a:spcPts val="600"/>
              </a:spcBef>
            </a:pPr>
            <a:r>
              <a:rPr lang="en-US" dirty="0" smtClean="0"/>
              <a:t>Next Period Tasks</a:t>
            </a:r>
          </a:p>
          <a:p>
            <a:pPr>
              <a:spcBef>
                <a:spcPts val="600"/>
              </a:spcBef>
            </a:pPr>
            <a:r>
              <a:rPr lang="en-US" dirty="0" smtClean="0"/>
              <a:t>Steering Committee Steering Decisions or Actions Needed</a:t>
            </a:r>
            <a:endParaRPr lang="en-US" dirty="0"/>
          </a:p>
        </p:txBody>
      </p:sp>
      <p:pic>
        <p:nvPicPr>
          <p:cNvPr id="9" name="Picture 6" descr="a8938fe7-MEDIUM-23328735"/>
          <p:cNvPicPr>
            <a:picLocks noChangeAspect="1" noChangeArrowheads="1"/>
          </p:cNvPicPr>
          <p:nvPr/>
        </p:nvPicPr>
        <p:blipFill>
          <a:blip r:embed="rId3" cstate="print"/>
          <a:srcRect/>
          <a:stretch>
            <a:fillRect/>
          </a:stretch>
        </p:blipFill>
        <p:spPr bwMode="auto">
          <a:xfrm>
            <a:off x="9752012" y="228600"/>
            <a:ext cx="2133600" cy="213360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Steering Committee Responsibilities (First Meeting Only)</a:t>
            </a:r>
            <a:endParaRPr lang="en-US" dirty="0"/>
          </a:p>
        </p:txBody>
      </p:sp>
      <p:sp>
        <p:nvSpPr>
          <p:cNvPr id="3" name="Content Placeholder 2"/>
          <p:cNvSpPr>
            <a:spLocks noGrp="1"/>
          </p:cNvSpPr>
          <p:nvPr>
            <p:ph idx="1"/>
          </p:nvPr>
        </p:nvSpPr>
        <p:spPr/>
        <p:txBody>
          <a:bodyPr/>
          <a:lstStyle/>
          <a:p>
            <a:r>
              <a:rPr lang="en-US" dirty="0" smtClean="0"/>
              <a:t>Regularly Attend Steering Committee Meetings</a:t>
            </a:r>
          </a:p>
          <a:p>
            <a:r>
              <a:rPr lang="en-US" dirty="0" smtClean="0"/>
              <a:t>Identify Resources for Project and for Project Backfill</a:t>
            </a:r>
          </a:p>
          <a:p>
            <a:r>
              <a:rPr lang="en-US" dirty="0" smtClean="0"/>
              <a:t>Final Authority on Scope Changes and Process Definitions</a:t>
            </a:r>
          </a:p>
          <a:p>
            <a:r>
              <a:rPr lang="en-US" dirty="0" smtClean="0"/>
              <a:t>Resolve Project Conflicts and Issues</a:t>
            </a:r>
          </a:p>
          <a:p>
            <a:r>
              <a:rPr lang="en-US" dirty="0" smtClean="0"/>
              <a:t>Receives Monthly Status Updates</a:t>
            </a:r>
          </a:p>
          <a:p>
            <a:r>
              <a:rPr lang="en-US" dirty="0" smtClean="0"/>
              <a:t>Formal Acceptance of Project Deliverables OR Milestones</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Summary (First Meeting Only)</a:t>
            </a:r>
            <a:endParaRPr lang="en-US" dirty="0"/>
          </a:p>
        </p:txBody>
      </p:sp>
      <p:sp>
        <p:nvSpPr>
          <p:cNvPr id="3" name="Content Placeholder 2"/>
          <p:cNvSpPr>
            <a:spLocks noGrp="1"/>
          </p:cNvSpPr>
          <p:nvPr>
            <p:ph idx="1"/>
          </p:nvPr>
        </p:nvSpPr>
        <p:spPr/>
        <p:txBody>
          <a:bodyPr/>
          <a:lstStyle/>
          <a:p>
            <a:r>
              <a:rPr lang="en-US" b="1" dirty="0" smtClean="0"/>
              <a:t>Project Description </a:t>
            </a:r>
            <a:r>
              <a:rPr lang="en-US" dirty="0" smtClean="0"/>
              <a:t>- &lt;Cut and paste data from Project Management Framework/Scope Management Plan.&gt;</a:t>
            </a:r>
          </a:p>
          <a:p>
            <a:r>
              <a:rPr lang="en-US" b="1" dirty="0" smtClean="0"/>
              <a:t>Project Scope </a:t>
            </a:r>
            <a:r>
              <a:rPr lang="en-US" dirty="0" smtClean="0"/>
              <a:t>- &lt;Cut and paste data from Project Management Framework/Scope Management Plan.&gt;</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Dashboard &lt;Option 1:  Reuse from Status Report&gt;</a:t>
            </a:r>
            <a:endParaRPr lang="en-US" dirty="0"/>
          </a:p>
        </p:txBody>
      </p:sp>
      <p:graphicFrame>
        <p:nvGraphicFramePr>
          <p:cNvPr id="4" name="Group 117"/>
          <p:cNvGraphicFramePr>
            <a:graphicFrameLocks/>
          </p:cNvGraphicFramePr>
          <p:nvPr/>
        </p:nvGraphicFramePr>
        <p:xfrm>
          <a:off x="608011" y="1447800"/>
          <a:ext cx="10591801" cy="4038601"/>
        </p:xfrm>
        <a:graphic>
          <a:graphicData uri="http://schemas.openxmlformats.org/drawingml/2006/table">
            <a:tbl>
              <a:tblPr/>
              <a:tblGrid>
                <a:gridCol w="1869141"/>
                <a:gridCol w="1349936"/>
                <a:gridCol w="1142253"/>
                <a:gridCol w="6230471"/>
              </a:tblGrid>
              <a:tr h="619125">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Tx/>
                        <a:buNone/>
                        <a:tabLst/>
                      </a:pPr>
                      <a:r>
                        <a:rPr kumimoji="0" lang="en-US" sz="1400" b="1" i="0" u="none" strike="noStrike" cap="none" normalizeH="0" baseline="0" dirty="0" smtClean="0">
                          <a:ln>
                            <a:noFill/>
                          </a:ln>
                          <a:solidFill>
                            <a:schemeClr val="tx1"/>
                          </a:solidFill>
                          <a:effectLst/>
                          <a:latin typeface="+mn-lt"/>
                        </a:rPr>
                        <a:t>Parameters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r>
                        <a:rPr kumimoji="0" lang="en-US" sz="1400" b="1" i="0" u="none" strike="noStrike" cap="none" normalizeH="0" baseline="0" dirty="0" smtClean="0">
                          <a:ln>
                            <a:noFill/>
                          </a:ln>
                          <a:solidFill>
                            <a:schemeClr val="tx1"/>
                          </a:solidFill>
                          <a:effectLst/>
                          <a:latin typeface="+mn-lt"/>
                        </a:rPr>
                        <a:t>Current Status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r>
                        <a:rPr kumimoji="0" lang="en-US" sz="1400" b="1" i="0" u="none" strike="noStrike" cap="none" normalizeH="0" baseline="0" dirty="0" smtClean="0">
                          <a:ln>
                            <a:noFill/>
                          </a:ln>
                          <a:solidFill>
                            <a:schemeClr val="tx1"/>
                          </a:solidFill>
                          <a:effectLst/>
                          <a:latin typeface="+mn-lt"/>
                        </a:rPr>
                        <a:t>Last Month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Tx/>
                        <a:buNone/>
                        <a:tabLst/>
                      </a:pPr>
                      <a:r>
                        <a:rPr kumimoji="0" lang="en-US" sz="1400" b="1" i="0" u="none" strike="noStrike" cap="none" normalizeH="0" baseline="0" dirty="0" smtClean="0">
                          <a:ln>
                            <a:noFill/>
                          </a:ln>
                          <a:solidFill>
                            <a:schemeClr val="tx1"/>
                          </a:solidFill>
                          <a:effectLst/>
                          <a:latin typeface="+mn-lt"/>
                        </a:rPr>
                        <a:t>Comments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55245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Tx/>
                        <a:buNone/>
                        <a:tabLst/>
                      </a:pPr>
                      <a:r>
                        <a:rPr kumimoji="0" lang="en-US" sz="1200" b="1" i="0" u="none" strike="noStrike" cap="none" normalizeH="0" baseline="0" dirty="0" smtClean="0">
                          <a:ln>
                            <a:noFill/>
                          </a:ln>
                          <a:solidFill>
                            <a:schemeClr val="tx1"/>
                          </a:solidFill>
                          <a:effectLst/>
                          <a:latin typeface="+mn-lt"/>
                        </a:rPr>
                        <a:t>Scope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endParaRPr kumimoji="0" lang="en-US" sz="1200" b="0" i="0" u="none" strike="noStrike" cap="none" normalizeH="0" baseline="0" dirty="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endParaRPr kumimoji="0" lang="en-US" sz="1200" b="0" i="0" u="none" strike="noStrike" cap="none" normalizeH="0" baseline="0" dirty="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Tx/>
                        <a:buNone/>
                        <a:tabLst/>
                      </a:pPr>
                      <a:r>
                        <a:rPr kumimoji="0" lang="en-US" sz="1200" b="1" i="0" u="none" strike="noStrike" cap="none" normalizeH="0" baseline="0" dirty="0" smtClean="0">
                          <a:ln>
                            <a:noFill/>
                          </a:ln>
                          <a:solidFill>
                            <a:schemeClr val="tx1"/>
                          </a:solidFill>
                          <a:effectLst/>
                          <a:latin typeface="+mn-lt"/>
                        </a:rPr>
                        <a:t>No concerns at this time.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9275">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Tx/>
                        <a:buNone/>
                        <a:tabLst/>
                      </a:pPr>
                      <a:r>
                        <a:rPr kumimoji="0" lang="en-US" sz="1200" b="1" i="0" u="none" strike="noStrike" cap="none" normalizeH="0" baseline="0" dirty="0" smtClean="0">
                          <a:ln>
                            <a:noFill/>
                          </a:ln>
                          <a:solidFill>
                            <a:schemeClr val="tx1"/>
                          </a:solidFill>
                          <a:effectLst/>
                          <a:latin typeface="+mn-lt"/>
                        </a:rPr>
                        <a:t>Resources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endParaRPr kumimoji="0" lang="en-US" sz="1200" b="0" i="0" u="none" strike="noStrike" cap="none" normalizeH="0" baseline="0" dirty="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endParaRPr kumimoji="0" lang="en-US" sz="1200" b="0" i="0" u="none" strike="noStrike" cap="none" normalizeH="0" baseline="0" dirty="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Tx/>
                        <a:buNone/>
                        <a:tabLst/>
                      </a:pPr>
                      <a:r>
                        <a:rPr kumimoji="0" lang="en-US" sz="1200" b="1" i="0" u="none" strike="noStrike" cap="none" normalizeH="0" baseline="0" dirty="0" smtClean="0">
                          <a:ln>
                            <a:noFill/>
                          </a:ln>
                          <a:solidFill>
                            <a:schemeClr val="tx1"/>
                          </a:solidFill>
                          <a:effectLst/>
                          <a:latin typeface="+mn-lt"/>
                        </a:rPr>
                        <a:t>Resources delayed.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7213">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Tx/>
                        <a:buNone/>
                        <a:tabLst/>
                      </a:pPr>
                      <a:r>
                        <a:rPr kumimoji="0" lang="en-US" sz="1200" b="1" i="0" u="none" strike="noStrike" cap="none" normalizeH="0" baseline="0" dirty="0" smtClean="0">
                          <a:ln>
                            <a:noFill/>
                          </a:ln>
                          <a:solidFill>
                            <a:schemeClr val="tx1"/>
                          </a:solidFill>
                          <a:effectLst/>
                          <a:latin typeface="+mn-lt"/>
                        </a:rPr>
                        <a:t>Timeline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endParaRPr kumimoji="0" lang="en-US" sz="1200" b="0" i="0" u="none" strike="noStrike" cap="none" normalizeH="0" baseline="0" dirty="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endParaRPr kumimoji="0" lang="en-US" sz="1200" b="1" i="0" u="none" strike="noStrike" cap="none" normalizeH="0" baseline="0" dirty="0" smtClean="0">
                        <a:ln>
                          <a:noFill/>
                        </a:ln>
                        <a:solidFill>
                          <a:schemeClr val="tx1"/>
                        </a:solidFill>
                        <a:effectLst/>
                        <a:latin typeface="+mn-lt"/>
                      </a:endParaRPr>
                    </a:p>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endParaRPr kumimoji="0" lang="en-US" sz="1200" b="1" i="0" u="none" strike="noStrike" cap="none" normalizeH="0" baseline="0" dirty="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Tx/>
                        <a:buNone/>
                        <a:tabLst/>
                      </a:pPr>
                      <a:r>
                        <a:rPr kumimoji="0" lang="en-US" sz="1200" b="1" i="0" u="none" strike="noStrike" cap="none" normalizeH="0" baseline="0" dirty="0" smtClean="0">
                          <a:ln>
                            <a:noFill/>
                          </a:ln>
                          <a:solidFill>
                            <a:schemeClr val="tx1"/>
                          </a:solidFill>
                          <a:effectLst/>
                          <a:latin typeface="+mn-lt"/>
                        </a:rPr>
                        <a:t>No concerns at this time.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2925">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Tx/>
                        <a:buNone/>
                        <a:tabLst/>
                      </a:pPr>
                      <a:r>
                        <a:rPr kumimoji="0" lang="en-US" sz="1200" b="1" i="0" u="none" strike="noStrike" cap="none" normalizeH="0" baseline="0" dirty="0" smtClean="0">
                          <a:ln>
                            <a:noFill/>
                          </a:ln>
                          <a:solidFill>
                            <a:schemeClr val="tx1"/>
                          </a:solidFill>
                          <a:effectLst/>
                          <a:latin typeface="+mn-lt"/>
                        </a:rPr>
                        <a:t>Financials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endParaRPr kumimoji="0" lang="en-US" sz="1200" b="0" i="0" u="none" strike="noStrike" cap="none" normalizeH="0" baseline="0" dirty="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endParaRPr kumimoji="0" lang="en-US" sz="1200" b="1" i="0" u="none" strike="noStrike" cap="none" normalizeH="0" baseline="0" dirty="0" smtClean="0">
                        <a:ln>
                          <a:noFill/>
                        </a:ln>
                        <a:solidFill>
                          <a:schemeClr val="tx1"/>
                        </a:solidFill>
                        <a:effectLst/>
                        <a:latin typeface="+mn-lt"/>
                        <a:sym typeface="Wingdings 3"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Tx/>
                        <a:buNone/>
                        <a:tabLst/>
                      </a:pPr>
                      <a:r>
                        <a:rPr kumimoji="0" lang="en-US" sz="1200" b="1" i="0" u="none" strike="noStrike" cap="none" normalizeH="0" baseline="0" dirty="0" smtClean="0">
                          <a:ln>
                            <a:noFill/>
                          </a:ln>
                          <a:solidFill>
                            <a:schemeClr val="tx1"/>
                          </a:solidFill>
                          <a:effectLst/>
                          <a:latin typeface="+mn-lt"/>
                        </a:rPr>
                        <a:t>Oracle resources needed to add additional hours.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0863">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Tx/>
                        <a:buNone/>
                        <a:tabLst/>
                      </a:pPr>
                      <a:r>
                        <a:rPr kumimoji="0" lang="en-US" sz="1200" b="1" i="0" u="none" strike="noStrike" cap="none" normalizeH="0" baseline="0" dirty="0" smtClean="0">
                          <a:ln>
                            <a:noFill/>
                          </a:ln>
                          <a:solidFill>
                            <a:schemeClr val="tx1"/>
                          </a:solidFill>
                          <a:effectLst/>
                          <a:latin typeface="+mn-lt"/>
                        </a:rPr>
                        <a:t>Quality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endParaRPr kumimoji="0" lang="en-US" sz="1200" b="0" i="0" u="none" strike="noStrike" cap="none" normalizeH="0" baseline="0" dirty="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endParaRPr kumimoji="0" lang="en-US" sz="1200" b="1" i="0" u="none" strike="noStrike" cap="none" normalizeH="0" baseline="0" dirty="0" smtClean="0">
                        <a:ln>
                          <a:noFill/>
                        </a:ln>
                        <a:solidFill>
                          <a:schemeClr val="tx1"/>
                        </a:solidFill>
                        <a:effectLst/>
                        <a:latin typeface="+mn-lt"/>
                        <a:sym typeface="Wingdings 3"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Tx/>
                        <a:buNone/>
                        <a:tabLst/>
                      </a:pPr>
                      <a:r>
                        <a:rPr kumimoji="0" lang="en-US" sz="1200" b="1" i="0" u="none" strike="noStrike" cap="none" normalizeH="0" baseline="0" dirty="0" smtClean="0">
                          <a:ln>
                            <a:noFill/>
                          </a:ln>
                          <a:solidFill>
                            <a:schemeClr val="tx1"/>
                          </a:solidFill>
                          <a:effectLst/>
                          <a:latin typeface="+mn-lt"/>
                        </a:rPr>
                        <a:t>No concerns at this time.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6675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Tx/>
                        <a:buNone/>
                        <a:tabLst/>
                      </a:pPr>
                      <a:r>
                        <a:rPr kumimoji="0" lang="en-US" sz="1200" b="1" i="0" u="none" strike="noStrike" cap="none" normalizeH="0" baseline="0" dirty="0" smtClean="0">
                          <a:ln>
                            <a:noFill/>
                          </a:ln>
                          <a:solidFill>
                            <a:schemeClr val="tx1"/>
                          </a:solidFill>
                          <a:effectLst/>
                          <a:latin typeface="+mn-lt"/>
                        </a:rPr>
                        <a:t>Risks &amp; Issues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endParaRPr kumimoji="0" lang="en-US" sz="1200" b="0" i="0" u="none" strike="noStrike" cap="none" normalizeH="0" baseline="0" dirty="0" smtClean="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Tx/>
                        <a:buFontTx/>
                        <a:buNone/>
                        <a:tabLst/>
                      </a:pPr>
                      <a:endParaRPr kumimoji="0" lang="en-US" sz="1200" b="1" i="0" u="none" strike="noStrike" cap="none" normalizeH="0" baseline="0" dirty="0" smtClean="0">
                        <a:ln>
                          <a:noFill/>
                        </a:ln>
                        <a:solidFill>
                          <a:schemeClr val="tx1"/>
                        </a:solidFill>
                        <a:effectLst/>
                        <a:latin typeface="+mn-lt"/>
                        <a:sym typeface="Wingdings 3"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Tx/>
                        <a:buNone/>
                        <a:tabLst/>
                      </a:pPr>
                      <a:r>
                        <a:rPr kumimoji="0" lang="en-US" sz="1200" b="1" i="0" u="none" strike="noStrike" cap="none" normalizeH="0" baseline="0" dirty="0" smtClean="0">
                          <a:ln>
                            <a:noFill/>
                          </a:ln>
                          <a:solidFill>
                            <a:schemeClr val="tx1"/>
                          </a:solidFill>
                          <a:effectLst/>
                          <a:latin typeface="+mn-lt"/>
                        </a:rPr>
                        <a:t>Two week catch-up period inserted between functional sessions.  Documentation time at end of phase reduced.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Text Box 51"/>
          <p:cNvSpPr txBox="1">
            <a:spLocks noChangeArrowheads="1"/>
          </p:cNvSpPr>
          <p:nvPr/>
        </p:nvSpPr>
        <p:spPr bwMode="auto">
          <a:xfrm>
            <a:off x="2436812" y="5715000"/>
            <a:ext cx="1727200" cy="457200"/>
          </a:xfrm>
          <a:prstGeom prst="rect">
            <a:avLst/>
          </a:prstGeom>
          <a:noFill/>
          <a:ln w="9525">
            <a:noFill/>
            <a:miter lim="800000"/>
            <a:headEnd/>
            <a:tailEnd/>
          </a:ln>
        </p:spPr>
        <p:txBody>
          <a:bodyPr>
            <a:spAutoFit/>
          </a:bodyPr>
          <a:lstStyle/>
          <a:p>
            <a:pPr algn="l" eaLnBrk="0" hangingPunct="0">
              <a:lnSpc>
                <a:spcPct val="100000"/>
              </a:lnSpc>
              <a:spcBef>
                <a:spcPct val="0"/>
              </a:spcBef>
              <a:buClrTx/>
            </a:pPr>
            <a:r>
              <a:rPr lang="en-US" sz="1800" b="0" dirty="0">
                <a:cs typeface="Arial" pitchFamily="34" charset="0"/>
              </a:rPr>
              <a:t>Overall Status:</a:t>
            </a:r>
            <a:r>
              <a:rPr lang="en-US" sz="2400" b="0" dirty="0">
                <a:latin typeface="Times New Roman" pitchFamily="18" charset="0"/>
                <a:cs typeface="Arial" pitchFamily="34" charset="0"/>
              </a:rPr>
              <a:t> </a:t>
            </a:r>
          </a:p>
        </p:txBody>
      </p:sp>
      <p:sp>
        <p:nvSpPr>
          <p:cNvPr id="6" name="Rectangle 52"/>
          <p:cNvSpPr>
            <a:spLocks noChangeArrowheads="1"/>
          </p:cNvSpPr>
          <p:nvPr/>
        </p:nvSpPr>
        <p:spPr bwMode="auto">
          <a:xfrm>
            <a:off x="4162425" y="5715000"/>
            <a:ext cx="431800" cy="381000"/>
          </a:xfrm>
          <a:prstGeom prst="rect">
            <a:avLst/>
          </a:prstGeom>
          <a:solidFill>
            <a:srgbClr val="00FF00"/>
          </a:solidFill>
          <a:ln w="9525">
            <a:solidFill>
              <a:schemeClr val="tx1"/>
            </a:solidFill>
            <a:miter lim="800000"/>
            <a:headEnd/>
            <a:tailEnd/>
          </a:ln>
        </p:spPr>
        <p:txBody>
          <a:bodyPr wrap="none" anchor="ctr"/>
          <a:lstStyle/>
          <a:p>
            <a:endParaRPr lang="en-US" dirty="0"/>
          </a:p>
        </p:txBody>
      </p:sp>
      <p:sp>
        <p:nvSpPr>
          <p:cNvPr id="7" name="Rectangle 103"/>
          <p:cNvSpPr>
            <a:spLocks noChangeArrowheads="1"/>
          </p:cNvSpPr>
          <p:nvPr/>
        </p:nvSpPr>
        <p:spPr bwMode="auto">
          <a:xfrm>
            <a:off x="5484812" y="5791200"/>
            <a:ext cx="228600" cy="152400"/>
          </a:xfrm>
          <a:prstGeom prst="rect">
            <a:avLst/>
          </a:prstGeom>
          <a:solidFill>
            <a:srgbClr val="00FF00"/>
          </a:solidFill>
          <a:ln w="9525">
            <a:solidFill>
              <a:schemeClr val="tx1"/>
            </a:solidFill>
            <a:miter lim="800000"/>
            <a:headEnd/>
            <a:tailEnd/>
          </a:ln>
        </p:spPr>
        <p:txBody>
          <a:bodyPr wrap="none" anchor="ctr"/>
          <a:lstStyle/>
          <a:p>
            <a:endParaRPr lang="en-US" dirty="0"/>
          </a:p>
        </p:txBody>
      </p:sp>
      <p:sp>
        <p:nvSpPr>
          <p:cNvPr id="8" name="Rectangle 49"/>
          <p:cNvSpPr>
            <a:spLocks noChangeArrowheads="1"/>
          </p:cNvSpPr>
          <p:nvPr/>
        </p:nvSpPr>
        <p:spPr bwMode="auto">
          <a:xfrm>
            <a:off x="5942012" y="5791200"/>
            <a:ext cx="228600" cy="152400"/>
          </a:xfrm>
          <a:prstGeom prst="rect">
            <a:avLst/>
          </a:prstGeom>
          <a:solidFill>
            <a:srgbClr val="FFFF00"/>
          </a:solidFill>
          <a:ln w="9525">
            <a:solidFill>
              <a:schemeClr val="tx1"/>
            </a:solidFill>
            <a:miter lim="800000"/>
            <a:headEnd/>
            <a:tailEnd/>
          </a:ln>
        </p:spPr>
        <p:txBody>
          <a:bodyPr wrap="none" anchor="ctr"/>
          <a:lstStyle/>
          <a:p>
            <a:endParaRPr lang="en-US" dirty="0"/>
          </a:p>
        </p:txBody>
      </p:sp>
      <p:sp>
        <p:nvSpPr>
          <p:cNvPr id="9" name="Rectangle 103"/>
          <p:cNvSpPr>
            <a:spLocks noChangeArrowheads="1"/>
          </p:cNvSpPr>
          <p:nvPr/>
        </p:nvSpPr>
        <p:spPr bwMode="auto">
          <a:xfrm>
            <a:off x="6323012" y="5791200"/>
            <a:ext cx="228600" cy="152400"/>
          </a:xfrm>
          <a:prstGeom prst="rect">
            <a:avLst/>
          </a:prstGeom>
          <a:solidFill>
            <a:schemeClr val="accent1"/>
          </a:solidFill>
          <a:ln w="9525">
            <a:solidFill>
              <a:schemeClr val="tx1"/>
            </a:solidFill>
            <a:miter lim="800000"/>
            <a:headEnd/>
            <a:tailEnd/>
          </a:ln>
        </p:spPr>
        <p:txBody>
          <a:bodyPr wrap="none" anchor="ctr"/>
          <a:lstStyle/>
          <a:p>
            <a:endParaRPr lang="en-US" dirty="0"/>
          </a:p>
        </p:txBody>
      </p:sp>
      <p:sp>
        <p:nvSpPr>
          <p:cNvPr id="10" name="Rectangle 47"/>
          <p:cNvSpPr>
            <a:spLocks noChangeArrowheads="1"/>
          </p:cNvSpPr>
          <p:nvPr/>
        </p:nvSpPr>
        <p:spPr bwMode="auto">
          <a:xfrm>
            <a:off x="2970212" y="2286000"/>
            <a:ext cx="228600" cy="152400"/>
          </a:xfrm>
          <a:prstGeom prst="rect">
            <a:avLst/>
          </a:prstGeom>
          <a:solidFill>
            <a:srgbClr val="00FF00"/>
          </a:solidFill>
          <a:ln w="9525">
            <a:solidFill>
              <a:schemeClr val="tx1"/>
            </a:solidFill>
            <a:miter lim="800000"/>
            <a:headEnd/>
            <a:tailEnd/>
          </a:ln>
        </p:spPr>
        <p:txBody>
          <a:bodyPr wrap="none" anchor="ctr"/>
          <a:lstStyle/>
          <a:p>
            <a:endParaRPr lang="en-US" dirty="0"/>
          </a:p>
        </p:txBody>
      </p:sp>
      <p:sp>
        <p:nvSpPr>
          <p:cNvPr id="11" name="Rectangle 47"/>
          <p:cNvSpPr>
            <a:spLocks noChangeArrowheads="1"/>
          </p:cNvSpPr>
          <p:nvPr/>
        </p:nvSpPr>
        <p:spPr bwMode="auto">
          <a:xfrm>
            <a:off x="4265612" y="2286000"/>
            <a:ext cx="228600" cy="152400"/>
          </a:xfrm>
          <a:prstGeom prst="rect">
            <a:avLst/>
          </a:prstGeom>
          <a:solidFill>
            <a:srgbClr val="00FF00"/>
          </a:solidFill>
          <a:ln w="9525">
            <a:solidFill>
              <a:schemeClr val="tx1"/>
            </a:solidFill>
            <a:miter lim="800000"/>
            <a:headEnd/>
            <a:tailEnd/>
          </a:ln>
        </p:spPr>
        <p:txBody>
          <a:bodyPr wrap="none" anchor="ctr"/>
          <a:lstStyle/>
          <a:p>
            <a:endParaRPr lang="en-US" dirty="0"/>
          </a:p>
        </p:txBody>
      </p:sp>
      <p:sp>
        <p:nvSpPr>
          <p:cNvPr id="12" name="Rectangle 47"/>
          <p:cNvSpPr>
            <a:spLocks noChangeArrowheads="1"/>
          </p:cNvSpPr>
          <p:nvPr/>
        </p:nvSpPr>
        <p:spPr bwMode="auto">
          <a:xfrm>
            <a:off x="4265612" y="2819400"/>
            <a:ext cx="228600" cy="152400"/>
          </a:xfrm>
          <a:prstGeom prst="rect">
            <a:avLst/>
          </a:prstGeom>
          <a:solidFill>
            <a:srgbClr val="00FF00"/>
          </a:solidFill>
          <a:ln w="9525">
            <a:solidFill>
              <a:schemeClr val="tx1"/>
            </a:solidFill>
            <a:miter lim="800000"/>
            <a:headEnd/>
            <a:tailEnd/>
          </a:ln>
        </p:spPr>
        <p:txBody>
          <a:bodyPr wrap="none" anchor="ctr"/>
          <a:lstStyle/>
          <a:p>
            <a:endParaRPr lang="en-US" dirty="0"/>
          </a:p>
        </p:txBody>
      </p:sp>
      <p:sp>
        <p:nvSpPr>
          <p:cNvPr id="13" name="Rectangle 47"/>
          <p:cNvSpPr>
            <a:spLocks noChangeArrowheads="1"/>
          </p:cNvSpPr>
          <p:nvPr/>
        </p:nvSpPr>
        <p:spPr bwMode="auto">
          <a:xfrm>
            <a:off x="2970212" y="3352800"/>
            <a:ext cx="228600" cy="152400"/>
          </a:xfrm>
          <a:prstGeom prst="rect">
            <a:avLst/>
          </a:prstGeom>
          <a:solidFill>
            <a:srgbClr val="00FF00"/>
          </a:solidFill>
          <a:ln w="9525">
            <a:solidFill>
              <a:schemeClr val="tx1"/>
            </a:solidFill>
            <a:miter lim="800000"/>
            <a:headEnd/>
            <a:tailEnd/>
          </a:ln>
        </p:spPr>
        <p:txBody>
          <a:bodyPr wrap="none" anchor="ctr"/>
          <a:lstStyle/>
          <a:p>
            <a:endParaRPr lang="en-US" dirty="0"/>
          </a:p>
        </p:txBody>
      </p:sp>
      <p:sp>
        <p:nvSpPr>
          <p:cNvPr id="14" name="Rectangle 47"/>
          <p:cNvSpPr>
            <a:spLocks noChangeArrowheads="1"/>
          </p:cNvSpPr>
          <p:nvPr/>
        </p:nvSpPr>
        <p:spPr bwMode="auto">
          <a:xfrm>
            <a:off x="4265612" y="3352800"/>
            <a:ext cx="228600" cy="152400"/>
          </a:xfrm>
          <a:prstGeom prst="rect">
            <a:avLst/>
          </a:prstGeom>
          <a:solidFill>
            <a:srgbClr val="00FF00"/>
          </a:solidFill>
          <a:ln w="9525">
            <a:solidFill>
              <a:schemeClr val="tx1"/>
            </a:solidFill>
            <a:miter lim="800000"/>
            <a:headEnd/>
            <a:tailEnd/>
          </a:ln>
        </p:spPr>
        <p:txBody>
          <a:bodyPr wrap="none" anchor="ctr"/>
          <a:lstStyle/>
          <a:p>
            <a:endParaRPr lang="en-US" dirty="0"/>
          </a:p>
        </p:txBody>
      </p:sp>
      <p:sp>
        <p:nvSpPr>
          <p:cNvPr id="15" name="Rectangle 49"/>
          <p:cNvSpPr>
            <a:spLocks noChangeArrowheads="1"/>
          </p:cNvSpPr>
          <p:nvPr/>
        </p:nvSpPr>
        <p:spPr bwMode="auto">
          <a:xfrm>
            <a:off x="2970212" y="2819400"/>
            <a:ext cx="228600" cy="152400"/>
          </a:xfrm>
          <a:prstGeom prst="rect">
            <a:avLst/>
          </a:prstGeom>
          <a:solidFill>
            <a:srgbClr val="FFFF00"/>
          </a:solidFill>
          <a:ln w="9525">
            <a:solidFill>
              <a:schemeClr val="tx1"/>
            </a:solidFill>
            <a:miter lim="800000"/>
            <a:headEnd/>
            <a:tailEnd/>
          </a:ln>
        </p:spPr>
        <p:txBody>
          <a:bodyPr wrap="none" anchor="ctr"/>
          <a:lstStyle/>
          <a:p>
            <a:endParaRPr lang="en-US" dirty="0"/>
          </a:p>
        </p:txBody>
      </p:sp>
      <p:sp>
        <p:nvSpPr>
          <p:cNvPr id="16" name="Rectangle 49"/>
          <p:cNvSpPr>
            <a:spLocks noChangeArrowheads="1"/>
          </p:cNvSpPr>
          <p:nvPr/>
        </p:nvSpPr>
        <p:spPr bwMode="auto">
          <a:xfrm>
            <a:off x="2970212" y="3886200"/>
            <a:ext cx="228600" cy="152400"/>
          </a:xfrm>
          <a:prstGeom prst="rect">
            <a:avLst/>
          </a:prstGeom>
          <a:solidFill>
            <a:srgbClr val="FFFF00"/>
          </a:solidFill>
          <a:ln w="9525">
            <a:solidFill>
              <a:schemeClr val="tx1"/>
            </a:solidFill>
            <a:miter lim="800000"/>
            <a:headEnd/>
            <a:tailEnd/>
          </a:ln>
        </p:spPr>
        <p:txBody>
          <a:bodyPr wrap="none" anchor="ctr"/>
          <a:lstStyle/>
          <a:p>
            <a:endParaRPr lang="en-US" dirty="0"/>
          </a:p>
        </p:txBody>
      </p:sp>
      <p:sp>
        <p:nvSpPr>
          <p:cNvPr id="17" name="Rectangle 47"/>
          <p:cNvSpPr>
            <a:spLocks noChangeArrowheads="1"/>
          </p:cNvSpPr>
          <p:nvPr/>
        </p:nvSpPr>
        <p:spPr bwMode="auto">
          <a:xfrm>
            <a:off x="4265612" y="3886200"/>
            <a:ext cx="228600" cy="152400"/>
          </a:xfrm>
          <a:prstGeom prst="rect">
            <a:avLst/>
          </a:prstGeom>
          <a:solidFill>
            <a:srgbClr val="00FF00"/>
          </a:solidFill>
          <a:ln w="9525">
            <a:solidFill>
              <a:schemeClr val="tx1"/>
            </a:solidFill>
            <a:miter lim="800000"/>
            <a:headEnd/>
            <a:tailEnd/>
          </a:ln>
        </p:spPr>
        <p:txBody>
          <a:bodyPr wrap="none" anchor="ctr"/>
          <a:lstStyle/>
          <a:p>
            <a:endParaRPr lang="en-US" dirty="0"/>
          </a:p>
        </p:txBody>
      </p:sp>
      <p:sp>
        <p:nvSpPr>
          <p:cNvPr id="18" name="Rectangle 47"/>
          <p:cNvSpPr>
            <a:spLocks noChangeArrowheads="1"/>
          </p:cNvSpPr>
          <p:nvPr/>
        </p:nvSpPr>
        <p:spPr bwMode="auto">
          <a:xfrm>
            <a:off x="4265612" y="4495800"/>
            <a:ext cx="228600" cy="152400"/>
          </a:xfrm>
          <a:prstGeom prst="rect">
            <a:avLst/>
          </a:prstGeom>
          <a:solidFill>
            <a:srgbClr val="00FF00"/>
          </a:solidFill>
          <a:ln w="9525">
            <a:solidFill>
              <a:schemeClr val="tx1"/>
            </a:solidFill>
            <a:miter lim="800000"/>
            <a:headEnd/>
            <a:tailEnd/>
          </a:ln>
        </p:spPr>
        <p:txBody>
          <a:bodyPr wrap="none" anchor="ctr"/>
          <a:lstStyle/>
          <a:p>
            <a:endParaRPr lang="en-US" dirty="0"/>
          </a:p>
        </p:txBody>
      </p:sp>
      <p:sp>
        <p:nvSpPr>
          <p:cNvPr id="19" name="Rectangle 47"/>
          <p:cNvSpPr>
            <a:spLocks noChangeArrowheads="1"/>
          </p:cNvSpPr>
          <p:nvPr/>
        </p:nvSpPr>
        <p:spPr bwMode="auto">
          <a:xfrm>
            <a:off x="4265612" y="5029200"/>
            <a:ext cx="228600" cy="152400"/>
          </a:xfrm>
          <a:prstGeom prst="rect">
            <a:avLst/>
          </a:prstGeom>
          <a:solidFill>
            <a:srgbClr val="00FF00"/>
          </a:solidFill>
          <a:ln w="9525">
            <a:solidFill>
              <a:schemeClr val="tx1"/>
            </a:solidFill>
            <a:miter lim="800000"/>
            <a:headEnd/>
            <a:tailEnd/>
          </a:ln>
        </p:spPr>
        <p:txBody>
          <a:bodyPr wrap="none" anchor="ctr"/>
          <a:lstStyle/>
          <a:p>
            <a:endParaRPr lang="en-US" dirty="0"/>
          </a:p>
        </p:txBody>
      </p:sp>
      <p:sp>
        <p:nvSpPr>
          <p:cNvPr id="20" name="Rectangle 47"/>
          <p:cNvSpPr>
            <a:spLocks noChangeArrowheads="1"/>
          </p:cNvSpPr>
          <p:nvPr/>
        </p:nvSpPr>
        <p:spPr bwMode="auto">
          <a:xfrm>
            <a:off x="2970212" y="4495800"/>
            <a:ext cx="228600" cy="152400"/>
          </a:xfrm>
          <a:prstGeom prst="rect">
            <a:avLst/>
          </a:prstGeom>
          <a:solidFill>
            <a:srgbClr val="00FF00"/>
          </a:solidFill>
          <a:ln w="9525">
            <a:solidFill>
              <a:schemeClr val="tx1"/>
            </a:solidFill>
            <a:miter lim="800000"/>
            <a:headEnd/>
            <a:tailEnd/>
          </a:ln>
        </p:spPr>
        <p:txBody>
          <a:bodyPr wrap="none" anchor="ctr"/>
          <a:lstStyle/>
          <a:p>
            <a:endParaRPr lang="en-US" dirty="0"/>
          </a:p>
        </p:txBody>
      </p:sp>
      <p:sp>
        <p:nvSpPr>
          <p:cNvPr id="21" name="Rectangle 47"/>
          <p:cNvSpPr>
            <a:spLocks noChangeArrowheads="1"/>
          </p:cNvSpPr>
          <p:nvPr/>
        </p:nvSpPr>
        <p:spPr bwMode="auto">
          <a:xfrm>
            <a:off x="2970212" y="5029200"/>
            <a:ext cx="228600" cy="152400"/>
          </a:xfrm>
          <a:prstGeom prst="rect">
            <a:avLst/>
          </a:prstGeom>
          <a:solidFill>
            <a:srgbClr val="00FF00"/>
          </a:solidFill>
          <a:ln w="9525">
            <a:solidFill>
              <a:schemeClr val="tx1"/>
            </a:solidFill>
            <a:miter lim="800000"/>
            <a:headEnd/>
            <a:tailEnd/>
          </a:ln>
        </p:spPr>
        <p:txBody>
          <a:bodyPr wrap="none" anchor="ctr"/>
          <a:lstStyle/>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Status Summary Dashboard &lt;Option 2&gt;</a:t>
            </a:r>
            <a:br>
              <a:rPr lang="en-US" dirty="0" smtClean="0"/>
            </a:br>
            <a:endParaRPr lang="en-US" dirty="0"/>
          </a:p>
        </p:txBody>
      </p:sp>
      <p:graphicFrame>
        <p:nvGraphicFramePr>
          <p:cNvPr id="3" name="Group 118"/>
          <p:cNvGraphicFramePr>
            <a:graphicFrameLocks noGrp="1"/>
          </p:cNvGraphicFramePr>
          <p:nvPr/>
        </p:nvGraphicFramePr>
        <p:xfrm>
          <a:off x="608012" y="2667000"/>
          <a:ext cx="10744199" cy="3513772"/>
        </p:xfrm>
        <a:graphic>
          <a:graphicData uri="http://schemas.openxmlformats.org/drawingml/2006/table">
            <a:tbl>
              <a:tblPr/>
              <a:tblGrid>
                <a:gridCol w="1494845"/>
                <a:gridCol w="1214562"/>
                <a:gridCol w="1121134"/>
                <a:gridCol w="934278"/>
                <a:gridCol w="5979380"/>
              </a:tblGrid>
              <a:tr h="328506">
                <a:tc>
                  <a:txBody>
                    <a:bodyPr/>
                    <a:lstStyle/>
                    <a:p>
                      <a:pPr marL="0" marR="0" lvl="0" indent="0" algn="ctr" defTabSz="457200" rtl="0" eaLnBrk="0" fontAlgn="base" latinLnBrk="0" hangingPunct="0">
                        <a:lnSpc>
                          <a:spcPct val="93000"/>
                        </a:lnSpc>
                        <a:spcBef>
                          <a:spcPts val="113"/>
                        </a:spcBef>
                        <a:spcAft>
                          <a:spcPct val="0"/>
                        </a:spcAft>
                        <a:buClr>
                          <a:srgbClr val="000000"/>
                        </a:buClr>
                        <a:buSzPct val="100000"/>
                        <a:buFont typeface="Times New Roman" pitchFamily="18" charset="0"/>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pPr>
                      <a:endParaRPr kumimoji="0" lang="en-US" sz="1000" b="1" i="0" u="none" strike="noStrike" cap="none" normalizeH="0" baseline="0" dirty="0" smtClean="0">
                        <a:ln>
                          <a:noFill/>
                        </a:ln>
                        <a:solidFill>
                          <a:srgbClr val="FFFFFF"/>
                        </a:solidFill>
                        <a:effectLst/>
                        <a:latin typeface="+mn-lt"/>
                        <a:ea typeface="MS Gothic" pitchFamily="49" charset="-128"/>
                      </a:endParaRPr>
                    </a:p>
                    <a:p>
                      <a:pPr marL="0" marR="0" lvl="0" indent="0" algn="l" defTabSz="457200" rtl="0" eaLnBrk="0" fontAlgn="base" latinLnBrk="0" hangingPunct="0">
                        <a:lnSpc>
                          <a:spcPct val="93000"/>
                        </a:lnSpc>
                        <a:spcBef>
                          <a:spcPts val="113"/>
                        </a:spcBef>
                        <a:spcAft>
                          <a:spcPct val="0"/>
                        </a:spcAft>
                        <a:buClr>
                          <a:srgbClr val="000000"/>
                        </a:buClr>
                        <a:buSzPct val="100000"/>
                        <a:buFont typeface="Times New Roman" pitchFamily="18" charset="0"/>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pPr>
                      <a:r>
                        <a:rPr kumimoji="0" lang="en-US" sz="1000" b="1" i="0" u="none" strike="noStrike" cap="none" normalizeH="0" baseline="0" dirty="0" smtClean="0">
                          <a:ln>
                            <a:noFill/>
                          </a:ln>
                          <a:solidFill>
                            <a:srgbClr val="FFFFFF"/>
                          </a:solidFill>
                          <a:effectLst/>
                          <a:latin typeface="+mn-lt"/>
                          <a:ea typeface="MS Gothic" pitchFamily="49" charset="-128"/>
                        </a:rPr>
                        <a:t>  Project Milestone</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rgbClr val="0057A6"/>
                    </a:solidFill>
                  </a:tcPr>
                </a:tc>
                <a:tc>
                  <a:txBody>
                    <a:bodyPr/>
                    <a:lstStyle/>
                    <a:p>
                      <a:pPr marL="0" marR="0" lvl="0" indent="0" algn="ctr" defTabSz="457200" rtl="0" eaLnBrk="0" fontAlgn="base" latinLnBrk="0" hangingPunct="0">
                        <a:lnSpc>
                          <a:spcPct val="93000"/>
                        </a:lnSpc>
                        <a:spcBef>
                          <a:spcPts val="113"/>
                        </a:spcBef>
                        <a:spcAft>
                          <a:spcPct val="0"/>
                        </a:spcAft>
                        <a:buClr>
                          <a:srgbClr val="000000"/>
                        </a:buClr>
                        <a:buSzPct val="100000"/>
                        <a:buFont typeface="Times New Roman" pitchFamily="18" charset="0"/>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pPr>
                      <a:endParaRPr kumimoji="0" lang="en-US" sz="1000" b="1" i="0" u="none" strike="noStrike" cap="none" normalizeH="0" baseline="0" dirty="0" smtClean="0">
                        <a:ln>
                          <a:noFill/>
                        </a:ln>
                        <a:solidFill>
                          <a:srgbClr val="FFFFFF"/>
                        </a:solidFill>
                        <a:effectLst/>
                        <a:latin typeface="+mn-lt"/>
                        <a:ea typeface="MS Gothic" pitchFamily="49" charset="-128"/>
                      </a:endParaRPr>
                    </a:p>
                    <a:p>
                      <a:pPr marL="0" marR="0" lvl="0" indent="0" algn="ctr" defTabSz="457200" rtl="0" eaLnBrk="0" fontAlgn="base" latinLnBrk="0" hangingPunct="0">
                        <a:lnSpc>
                          <a:spcPct val="93000"/>
                        </a:lnSpc>
                        <a:spcBef>
                          <a:spcPts val="113"/>
                        </a:spcBef>
                        <a:spcAft>
                          <a:spcPct val="0"/>
                        </a:spcAft>
                        <a:buClr>
                          <a:srgbClr val="000000"/>
                        </a:buClr>
                        <a:buSzPct val="100000"/>
                        <a:buFont typeface="Times New Roman" pitchFamily="18" charset="0"/>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pPr>
                      <a:r>
                        <a:rPr kumimoji="0" lang="en-US" sz="1000" b="1" i="0" u="none" strike="noStrike" cap="none" normalizeH="0" baseline="0" dirty="0" smtClean="0">
                          <a:ln>
                            <a:noFill/>
                          </a:ln>
                          <a:solidFill>
                            <a:srgbClr val="FFFFFF"/>
                          </a:solidFill>
                          <a:effectLst/>
                          <a:latin typeface="+mn-lt"/>
                          <a:ea typeface="MS Gothic" pitchFamily="49" charset="-128"/>
                        </a:rPr>
                        <a:t>Target</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rgbClr val="0057A6"/>
                    </a:solidFill>
                  </a:tcPr>
                </a:tc>
                <a:tc>
                  <a:txBody>
                    <a:bodyPr/>
                    <a:lstStyle/>
                    <a:p>
                      <a:pPr marL="0" marR="0" lvl="0" indent="0" algn="ctr" defTabSz="457200" rtl="0" eaLnBrk="0" fontAlgn="base" latinLnBrk="0" hangingPunct="0">
                        <a:lnSpc>
                          <a:spcPct val="93000"/>
                        </a:lnSpc>
                        <a:spcBef>
                          <a:spcPts val="113"/>
                        </a:spcBef>
                        <a:spcAft>
                          <a:spcPct val="0"/>
                        </a:spcAft>
                        <a:buClr>
                          <a:srgbClr val="000000"/>
                        </a:buClr>
                        <a:buSzPct val="100000"/>
                        <a:buFont typeface="Times New Roman" pitchFamily="18" charset="0"/>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pPr>
                      <a:endParaRPr kumimoji="0" lang="en-US" sz="1000" b="1" i="0" u="none" strike="noStrike" cap="none" normalizeH="0" baseline="0" dirty="0" smtClean="0">
                        <a:ln>
                          <a:noFill/>
                        </a:ln>
                        <a:solidFill>
                          <a:srgbClr val="FFFFFF"/>
                        </a:solidFill>
                        <a:effectLst/>
                        <a:latin typeface="+mn-lt"/>
                        <a:ea typeface="MS Gothic" pitchFamily="49" charset="-128"/>
                      </a:endParaRPr>
                    </a:p>
                    <a:p>
                      <a:pPr marL="0" marR="0" lvl="0" indent="0" algn="ctr" defTabSz="457200" rtl="0" eaLnBrk="0" fontAlgn="base" latinLnBrk="0" hangingPunct="0">
                        <a:lnSpc>
                          <a:spcPct val="93000"/>
                        </a:lnSpc>
                        <a:spcBef>
                          <a:spcPts val="113"/>
                        </a:spcBef>
                        <a:spcAft>
                          <a:spcPct val="0"/>
                        </a:spcAft>
                        <a:buClr>
                          <a:srgbClr val="000000"/>
                        </a:buClr>
                        <a:buSzPct val="100000"/>
                        <a:buFont typeface="Times New Roman" pitchFamily="18" charset="0"/>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pPr>
                      <a:r>
                        <a:rPr kumimoji="0" lang="en-US" sz="1000" b="1" i="0" u="none" strike="noStrike" cap="none" normalizeH="0" baseline="0" dirty="0" smtClean="0">
                          <a:ln>
                            <a:noFill/>
                          </a:ln>
                          <a:solidFill>
                            <a:srgbClr val="FFFFFF"/>
                          </a:solidFill>
                          <a:effectLst/>
                          <a:latin typeface="+mn-lt"/>
                          <a:ea typeface="MS Gothic" pitchFamily="49" charset="-128"/>
                        </a:rPr>
                        <a:t>% Complete</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rgbClr val="0057A6"/>
                    </a:solidFill>
                  </a:tcPr>
                </a:tc>
                <a:tc>
                  <a:txBody>
                    <a:bodyPr/>
                    <a:lstStyle/>
                    <a:p>
                      <a:pPr marL="0" marR="0" lvl="0" indent="0" algn="ctr" defTabSz="457200" rtl="0" eaLnBrk="0" fontAlgn="base" latinLnBrk="0" hangingPunct="0">
                        <a:lnSpc>
                          <a:spcPct val="93000"/>
                        </a:lnSpc>
                        <a:spcBef>
                          <a:spcPts val="113"/>
                        </a:spcBef>
                        <a:spcAft>
                          <a:spcPct val="0"/>
                        </a:spcAft>
                        <a:buClr>
                          <a:srgbClr val="000000"/>
                        </a:buClr>
                        <a:buSzPct val="100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sz="1000" b="1" i="0" u="none" strike="noStrike" cap="none" normalizeH="0" baseline="0" dirty="0" smtClean="0">
                        <a:ln>
                          <a:noFill/>
                        </a:ln>
                        <a:solidFill>
                          <a:srgbClr val="FFFFFF"/>
                        </a:solidFill>
                        <a:effectLst/>
                        <a:latin typeface="+mn-lt"/>
                        <a:ea typeface="MS Gothic" pitchFamily="49" charset="-128"/>
                      </a:endParaRPr>
                    </a:p>
                    <a:p>
                      <a:pPr marL="0" marR="0" lvl="0" indent="0" algn="ctr" defTabSz="457200" rtl="0" eaLnBrk="0" fontAlgn="base" latinLnBrk="0" hangingPunct="0">
                        <a:lnSpc>
                          <a:spcPct val="93000"/>
                        </a:lnSpc>
                        <a:spcBef>
                          <a:spcPts val="113"/>
                        </a:spcBef>
                        <a:spcAft>
                          <a:spcPct val="0"/>
                        </a:spcAft>
                        <a:buClr>
                          <a:srgbClr val="000000"/>
                        </a:buClr>
                        <a:buSzPct val="100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sz="1000" b="1" i="0" u="none" strike="noStrike" cap="none" normalizeH="0" baseline="0" dirty="0" smtClean="0">
                          <a:ln>
                            <a:noFill/>
                          </a:ln>
                          <a:solidFill>
                            <a:srgbClr val="FFFFFF"/>
                          </a:solidFill>
                          <a:effectLst/>
                          <a:latin typeface="+mn-lt"/>
                          <a:ea typeface="MS Gothic" pitchFamily="49" charset="-128"/>
                        </a:rPr>
                        <a:t>Status</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rgbClr val="0057A6"/>
                    </a:solidFill>
                  </a:tcPr>
                </a:tc>
                <a:tc>
                  <a:txBody>
                    <a:bodyPr/>
                    <a:lstStyle/>
                    <a:p>
                      <a:pPr marL="0" marR="0" lvl="0" indent="0" algn="ctr" defTabSz="457200" rtl="0" eaLnBrk="0" fontAlgn="base" latinLnBrk="0" hangingPunct="0">
                        <a:lnSpc>
                          <a:spcPct val="93000"/>
                        </a:lnSpc>
                        <a:spcBef>
                          <a:spcPts val="113"/>
                        </a:spcBef>
                        <a:spcAft>
                          <a:spcPct val="0"/>
                        </a:spcAft>
                        <a:buClr>
                          <a:srgbClr val="000000"/>
                        </a:buClr>
                        <a:buSzPct val="100000"/>
                        <a:buFont typeface="Times New Roman" pitchFamily="18" charset="0"/>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pPr>
                      <a:endParaRPr kumimoji="0" lang="en-US" sz="1000" b="1" i="0" u="none" strike="noStrike" cap="none" normalizeH="0" baseline="0" dirty="0" smtClean="0">
                        <a:ln>
                          <a:noFill/>
                        </a:ln>
                        <a:solidFill>
                          <a:srgbClr val="FFFFFF"/>
                        </a:solidFill>
                        <a:effectLst/>
                        <a:latin typeface="+mn-lt"/>
                        <a:ea typeface="MS Gothic" pitchFamily="49" charset="-128"/>
                      </a:endParaRPr>
                    </a:p>
                    <a:p>
                      <a:pPr marL="0" marR="0" lvl="0" indent="0" algn="ctr" defTabSz="457200" rtl="0" eaLnBrk="0" fontAlgn="base" latinLnBrk="0" hangingPunct="0">
                        <a:lnSpc>
                          <a:spcPct val="93000"/>
                        </a:lnSpc>
                        <a:spcBef>
                          <a:spcPts val="113"/>
                        </a:spcBef>
                        <a:spcAft>
                          <a:spcPct val="0"/>
                        </a:spcAft>
                        <a:buClr>
                          <a:srgbClr val="000000"/>
                        </a:buClr>
                        <a:buSzPct val="100000"/>
                        <a:buFont typeface="Times New Roman" pitchFamily="18" charset="0"/>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pPr>
                      <a:r>
                        <a:rPr kumimoji="0" lang="en-US" sz="1000" b="1" i="0" u="none" strike="noStrike" cap="none" normalizeH="0" baseline="0" dirty="0" smtClean="0">
                          <a:ln>
                            <a:noFill/>
                          </a:ln>
                          <a:solidFill>
                            <a:srgbClr val="FFFFFF"/>
                          </a:solidFill>
                          <a:effectLst/>
                          <a:latin typeface="+mn-lt"/>
                          <a:ea typeface="MS Gothic" pitchFamily="49" charset="-128"/>
                        </a:rPr>
                        <a:t>Comments</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rgbClr val="0057A6"/>
                    </a:solidFill>
                  </a:tcPr>
                </a:tc>
              </a:tr>
              <a:tr h="166504">
                <a:tc>
                  <a:txBody>
                    <a:bodyPr/>
                    <a:lstStyle/>
                    <a:p>
                      <a:pPr marL="0" marR="0" lvl="0" indent="0" algn="l" defTabSz="457200" rtl="0" eaLnBrk="0" fontAlgn="base" latinLnBrk="0" hangingPunct="0">
                        <a:lnSpc>
                          <a:spcPct val="93000"/>
                        </a:lnSpc>
                        <a:spcBef>
                          <a:spcPts val="675"/>
                        </a:spcBef>
                        <a:spcAft>
                          <a:spcPct val="0"/>
                        </a:spcAft>
                        <a:buClr>
                          <a:srgbClr val="000000"/>
                        </a:buClr>
                        <a:buSzPct val="100000"/>
                        <a:buFont typeface="Times New Roman" pitchFamily="18" charset="0"/>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defRPr/>
                      </a:pPr>
                      <a:r>
                        <a:rPr lang="en-US" sz="1100" kern="1200" baseline="0" dirty="0" smtClean="0">
                          <a:solidFill>
                            <a:schemeClr val="tx1"/>
                          </a:solidFill>
                          <a:latin typeface="+mn-lt"/>
                          <a:ea typeface="+mn-ea"/>
                          <a:cs typeface="+mn-cs"/>
                        </a:rPr>
                        <a:t>Project Mgmt. Plan</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algn="ctr" fontAlgn="b"/>
                      <a:r>
                        <a:rPr lang="en-US" sz="1100" kern="1200" baseline="0" dirty="0" smtClean="0">
                          <a:solidFill>
                            <a:schemeClr val="tx1"/>
                          </a:solidFill>
                          <a:latin typeface="+mn-lt"/>
                          <a:ea typeface="+mn-ea"/>
                          <a:cs typeface="+mn-cs"/>
                        </a:rPr>
                        <a:t>On Schedule</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algn="ctr" fontAlgn="b"/>
                      <a:r>
                        <a:rPr lang="en-US" sz="1100" kern="1200" baseline="0" dirty="0" smtClean="0">
                          <a:solidFill>
                            <a:schemeClr val="tx1"/>
                          </a:solidFill>
                          <a:latin typeface="+mn-lt"/>
                          <a:ea typeface="+mn-ea"/>
                          <a:cs typeface="+mn-cs"/>
                        </a:rPr>
                        <a:t>100</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ctr" defTabSz="457200" rtl="0" eaLnBrk="0" fontAlgn="base" latinLnBrk="0" hangingPunct="0">
                        <a:lnSpc>
                          <a:spcPct val="100000"/>
                        </a:lnSpc>
                        <a:spcBef>
                          <a:spcPct val="10000"/>
                        </a:spcBef>
                        <a:spcAft>
                          <a:spcPct val="0"/>
                        </a:spcAft>
                        <a:buClr>
                          <a:srgbClr val="000000"/>
                        </a:buClr>
                        <a:buSzPct val="100000"/>
                        <a:buFont typeface="Wingdings" pitchFamily="2" charset="2"/>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pPr>
                      <a:endParaRPr kumimoji="0" lang="en-US" sz="1100" b="1" i="0" u="none" strike="noStrike" cap="none" normalizeH="0" baseline="0" dirty="0" smtClean="0">
                        <a:ln>
                          <a:noFill/>
                        </a:ln>
                        <a:solidFill>
                          <a:schemeClr val="bg1"/>
                        </a:solidFill>
                        <a:effectLst/>
                        <a:latin typeface="+mn-lt"/>
                        <a:ea typeface="MS Gothic" pitchFamily="49" charset="-128"/>
                      </a:endParaRP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112713" algn="l"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pPr>
                      <a:endParaRPr lang="en-US" sz="1100" kern="1200" baseline="0" dirty="0" smtClean="0">
                        <a:solidFill>
                          <a:schemeClr val="tx1"/>
                        </a:solidFill>
                        <a:latin typeface="+mn-lt"/>
                        <a:ea typeface="+mn-ea"/>
                        <a:cs typeface="+mn-cs"/>
                      </a:endParaRP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r>
              <a:tr h="119073">
                <a:tc>
                  <a:txBody>
                    <a:bodyPr/>
                    <a:lstStyle/>
                    <a:p>
                      <a:pPr marL="0" marR="0" lvl="0" indent="0" algn="l" defTabSz="457200" rtl="0" eaLnBrk="0" fontAlgn="base" latinLnBrk="0" hangingPunct="0">
                        <a:lnSpc>
                          <a:spcPct val="93000"/>
                        </a:lnSpc>
                        <a:spcBef>
                          <a:spcPts val="675"/>
                        </a:spcBef>
                        <a:spcAft>
                          <a:spcPct val="0"/>
                        </a:spcAft>
                        <a:buClr>
                          <a:srgbClr val="000000"/>
                        </a:buClr>
                        <a:buSzPct val="100000"/>
                        <a:buFont typeface="Times New Roman" pitchFamily="18" charset="0"/>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defRPr/>
                      </a:pPr>
                      <a:r>
                        <a:rPr lang="en-US" sz="1100" kern="1200" baseline="0" dirty="0" smtClean="0">
                          <a:solidFill>
                            <a:schemeClr val="tx1"/>
                          </a:solidFill>
                          <a:latin typeface="+mn-lt"/>
                          <a:ea typeface="+mn-ea"/>
                          <a:cs typeface="+mn-cs"/>
                        </a:rPr>
                        <a:t>Bus. Reqs.</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algn="ctr" fontAlgn="b"/>
                      <a:r>
                        <a:rPr lang="en-US" sz="1100" kern="1200" baseline="0" dirty="0" smtClean="0">
                          <a:solidFill>
                            <a:schemeClr val="tx1"/>
                          </a:solidFill>
                          <a:latin typeface="+mn-lt"/>
                          <a:ea typeface="+mn-ea"/>
                          <a:cs typeface="+mn-cs"/>
                        </a:rPr>
                        <a:t>On Schedule</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algn="ctr" fontAlgn="b"/>
                      <a:r>
                        <a:rPr lang="en-US" sz="1100" kern="1200" baseline="0" dirty="0" smtClean="0">
                          <a:solidFill>
                            <a:schemeClr val="tx1"/>
                          </a:solidFill>
                          <a:latin typeface="+mn-lt"/>
                          <a:ea typeface="+mn-ea"/>
                          <a:cs typeface="+mn-cs"/>
                        </a:rPr>
                        <a:t>100</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ctr" defTabSz="457200" rtl="0" eaLnBrk="0" fontAlgn="base" latinLnBrk="0" hangingPunct="0">
                        <a:lnSpc>
                          <a:spcPct val="100000"/>
                        </a:lnSpc>
                        <a:spcBef>
                          <a:spcPct val="10000"/>
                        </a:spcBef>
                        <a:spcAft>
                          <a:spcPct val="0"/>
                        </a:spcAft>
                        <a:buClr>
                          <a:srgbClr val="000000"/>
                        </a:buClr>
                        <a:buSzPct val="100000"/>
                        <a:buFont typeface="Wingdings" pitchFamily="2" charset="2"/>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pPr>
                      <a:endParaRPr kumimoji="0" lang="en-US" sz="1100" b="1" i="0" u="none" strike="noStrike" cap="none" normalizeH="0" baseline="0" dirty="0" smtClean="0">
                        <a:ln>
                          <a:noFill/>
                        </a:ln>
                        <a:solidFill>
                          <a:schemeClr val="bg1"/>
                        </a:solidFill>
                        <a:effectLst/>
                        <a:latin typeface="+mn-lt"/>
                        <a:ea typeface="MS Gothic" pitchFamily="49" charset="-128"/>
                      </a:endParaRP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112713" algn="l"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pPr>
                      <a:endParaRPr lang="en-US" sz="1100" kern="1200" baseline="0" dirty="0" smtClean="0">
                        <a:solidFill>
                          <a:schemeClr val="tx1"/>
                        </a:solidFill>
                        <a:latin typeface="+mn-lt"/>
                        <a:ea typeface="+mn-ea"/>
                        <a:cs typeface="+mn-cs"/>
                      </a:endParaRP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r>
              <a:tr h="147842">
                <a:tc>
                  <a:txBody>
                    <a:bodyPr/>
                    <a:lstStyle/>
                    <a:p>
                      <a:pPr marL="0" marR="0" lvl="0" indent="0" algn="l" defTabSz="457200" rtl="0" eaLnBrk="0" fontAlgn="base" latinLnBrk="0" hangingPunct="0">
                        <a:lnSpc>
                          <a:spcPct val="93000"/>
                        </a:lnSpc>
                        <a:spcBef>
                          <a:spcPts val="675"/>
                        </a:spcBef>
                        <a:spcAft>
                          <a:spcPct val="0"/>
                        </a:spcAft>
                        <a:buClr>
                          <a:srgbClr val="000000"/>
                        </a:buClr>
                        <a:buSzPct val="100000"/>
                        <a:buFont typeface="Times New Roman" pitchFamily="18" charset="0"/>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defRPr/>
                      </a:pPr>
                      <a:r>
                        <a:rPr lang="en-US" sz="1100" kern="1200" baseline="0" dirty="0" smtClean="0">
                          <a:solidFill>
                            <a:schemeClr val="tx1"/>
                          </a:solidFill>
                          <a:latin typeface="+mn-lt"/>
                          <a:ea typeface="+mn-ea"/>
                          <a:cs typeface="+mn-cs"/>
                        </a:rPr>
                        <a:t>App Setup</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algn="ctr" fontAlgn="b"/>
                      <a:r>
                        <a:rPr lang="en-US" sz="1100" kern="1200" baseline="0" dirty="0" smtClean="0">
                          <a:solidFill>
                            <a:schemeClr val="tx1"/>
                          </a:solidFill>
                          <a:latin typeface="+mn-lt"/>
                          <a:ea typeface="+mn-ea"/>
                          <a:cs typeface="+mn-cs"/>
                        </a:rPr>
                        <a:t>On Schedule</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algn="ctr" fontAlgn="b"/>
                      <a:r>
                        <a:rPr lang="en-US" sz="1100" kern="1200" baseline="0" dirty="0" smtClean="0">
                          <a:solidFill>
                            <a:schemeClr val="tx1"/>
                          </a:solidFill>
                          <a:latin typeface="+mn-lt"/>
                          <a:ea typeface="+mn-ea"/>
                          <a:cs typeface="+mn-cs"/>
                        </a:rPr>
                        <a:t>100</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ctr" defTabSz="457200" rtl="0" eaLnBrk="0" fontAlgn="base" latinLnBrk="0" hangingPunct="0">
                        <a:lnSpc>
                          <a:spcPct val="100000"/>
                        </a:lnSpc>
                        <a:spcBef>
                          <a:spcPct val="10000"/>
                        </a:spcBef>
                        <a:spcAft>
                          <a:spcPct val="0"/>
                        </a:spcAft>
                        <a:buClr>
                          <a:srgbClr val="000000"/>
                        </a:buClr>
                        <a:buSzPct val="100000"/>
                        <a:buFont typeface="Wingdings" pitchFamily="2" charset="2"/>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pPr>
                      <a:endParaRPr kumimoji="0" lang="en-US" sz="1100" b="1" i="0" u="none" strike="noStrike" cap="none" normalizeH="0" baseline="0" dirty="0" smtClean="0">
                        <a:ln>
                          <a:noFill/>
                        </a:ln>
                        <a:solidFill>
                          <a:schemeClr val="bg1"/>
                        </a:solidFill>
                        <a:effectLst/>
                        <a:latin typeface="+mn-lt"/>
                        <a:ea typeface="MS Gothic" pitchFamily="49" charset="-128"/>
                      </a:endParaRP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112713" algn="l"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pPr>
                      <a:r>
                        <a:rPr lang="en-US" sz="1100" kern="1200" baseline="0" dirty="0" smtClean="0">
                          <a:solidFill>
                            <a:schemeClr val="tx1"/>
                          </a:solidFill>
                          <a:latin typeface="+mn-lt"/>
                          <a:ea typeface="+mn-ea"/>
                          <a:cs typeface="+mn-cs"/>
                        </a:rPr>
                        <a:t>  </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r>
              <a:tr h="176611">
                <a:tc>
                  <a:txBody>
                    <a:bodyPr/>
                    <a:lstStyle/>
                    <a:p>
                      <a:pPr marL="0" marR="0" lvl="0" indent="-112713" algn="l"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defRPr/>
                      </a:pPr>
                      <a:r>
                        <a:rPr lang="en-US" sz="1100" kern="1200" baseline="0" dirty="0" smtClean="0">
                          <a:solidFill>
                            <a:schemeClr val="tx1"/>
                          </a:solidFill>
                          <a:latin typeface="+mn-lt"/>
                          <a:ea typeface="+mn-ea"/>
                          <a:cs typeface="+mn-cs"/>
                        </a:rPr>
                        <a:t>DU Team Training</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algn="ctr" fontAlgn="b"/>
                      <a:r>
                        <a:rPr lang="en-US" sz="1100" kern="1200" baseline="0" dirty="0" smtClean="0">
                          <a:solidFill>
                            <a:schemeClr val="tx1"/>
                          </a:solidFill>
                          <a:latin typeface="+mn-lt"/>
                          <a:ea typeface="+mn-ea"/>
                          <a:cs typeface="+mn-cs"/>
                        </a:rPr>
                        <a:t>On Schedule</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112713" algn="ctr"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pPr>
                      <a:r>
                        <a:rPr lang="en-US" sz="1100" kern="1200" baseline="0" dirty="0" smtClean="0">
                          <a:solidFill>
                            <a:schemeClr val="tx1"/>
                          </a:solidFill>
                          <a:latin typeface="+mn-lt"/>
                          <a:ea typeface="+mn-ea"/>
                          <a:cs typeface="+mn-cs"/>
                        </a:rPr>
                        <a:t>100</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112713" algn="l"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pPr>
                      <a:endParaRPr lang="en-US" sz="1100" kern="1200" baseline="0" dirty="0" smtClean="0">
                        <a:solidFill>
                          <a:schemeClr val="tx1"/>
                        </a:solidFill>
                        <a:latin typeface="+mn-lt"/>
                        <a:ea typeface="+mn-ea"/>
                        <a:cs typeface="+mn-cs"/>
                      </a:endParaRP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112713" algn="l"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pPr>
                      <a:endParaRPr lang="en-US" sz="1100" kern="1200" baseline="0" dirty="0" smtClean="0">
                        <a:solidFill>
                          <a:schemeClr val="tx1"/>
                        </a:solidFill>
                        <a:latin typeface="+mn-lt"/>
                        <a:ea typeface="+mn-ea"/>
                        <a:cs typeface="+mn-cs"/>
                      </a:endParaRP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r>
              <a:tr h="129180">
                <a:tc>
                  <a:txBody>
                    <a:bodyPr/>
                    <a:lstStyle/>
                    <a:p>
                      <a:pPr marL="0" marR="0" lvl="0" indent="-112713" algn="l"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defRPr/>
                      </a:pPr>
                      <a:r>
                        <a:rPr lang="en-US" sz="1100" kern="1200" baseline="0" dirty="0" smtClean="0">
                          <a:solidFill>
                            <a:schemeClr val="tx1"/>
                          </a:solidFill>
                          <a:latin typeface="+mn-lt"/>
                          <a:ea typeface="+mn-ea"/>
                          <a:cs typeface="+mn-cs"/>
                        </a:rPr>
                        <a:t>CRP 1 - Vanilla</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algn="ctr" fontAlgn="b"/>
                      <a:r>
                        <a:rPr lang="en-US" sz="1100" kern="1200" baseline="0" dirty="0" smtClean="0">
                          <a:solidFill>
                            <a:schemeClr val="tx1"/>
                          </a:solidFill>
                          <a:latin typeface="+mn-lt"/>
                          <a:ea typeface="+mn-ea"/>
                          <a:cs typeface="+mn-cs"/>
                        </a:rPr>
                        <a:t>On Schedule</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112713" algn="ctr"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pPr>
                      <a:r>
                        <a:rPr lang="en-US" sz="1100" kern="1200" baseline="0" dirty="0" smtClean="0">
                          <a:solidFill>
                            <a:schemeClr val="tx1"/>
                          </a:solidFill>
                          <a:latin typeface="+mn-lt"/>
                          <a:ea typeface="+mn-ea"/>
                          <a:cs typeface="+mn-cs"/>
                        </a:rPr>
                        <a:t>100</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112713" algn="l"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pPr>
                      <a:endParaRPr lang="en-US" sz="1100" kern="1200" baseline="0" dirty="0" smtClean="0">
                        <a:solidFill>
                          <a:schemeClr val="tx1"/>
                        </a:solidFill>
                        <a:latin typeface="+mn-lt"/>
                        <a:ea typeface="+mn-ea"/>
                        <a:cs typeface="+mn-cs"/>
                      </a:endParaRP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112713" algn="l"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pPr>
                      <a:r>
                        <a:rPr lang="en-US" sz="1100" kern="1200" baseline="0" dirty="0" smtClean="0">
                          <a:solidFill>
                            <a:schemeClr val="tx1"/>
                          </a:solidFill>
                          <a:latin typeface="+mn-lt"/>
                          <a:ea typeface="+mn-ea"/>
                          <a:cs typeface="+mn-cs"/>
                        </a:rPr>
                        <a:t>   Sign off  Complete</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r>
              <a:tr h="186718">
                <a:tc>
                  <a:txBody>
                    <a:bodyPr/>
                    <a:lstStyle/>
                    <a:p>
                      <a:pPr marL="0" marR="0" lvl="0" indent="-112713" algn="l"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defRPr/>
                      </a:pPr>
                      <a:r>
                        <a:rPr lang="en-US" sz="1100" kern="1200" baseline="0" dirty="0" smtClean="0">
                          <a:solidFill>
                            <a:schemeClr val="tx1"/>
                          </a:solidFill>
                          <a:latin typeface="+mn-lt"/>
                          <a:ea typeface="+mn-ea"/>
                          <a:cs typeface="+mn-cs"/>
                        </a:rPr>
                        <a:t>CRP 2 – Custom</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algn="ctr" fontAlgn="b"/>
                      <a:r>
                        <a:rPr lang="en-US" sz="1100" kern="1200" baseline="0" dirty="0" smtClean="0">
                          <a:solidFill>
                            <a:schemeClr val="tx1"/>
                          </a:solidFill>
                          <a:latin typeface="+mn-lt"/>
                          <a:ea typeface="+mn-ea"/>
                          <a:cs typeface="+mn-cs"/>
                        </a:rPr>
                        <a:t>On Schedule</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112713" algn="ctr"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pPr>
                      <a:r>
                        <a:rPr lang="en-US" sz="1100" kern="1200" baseline="0" dirty="0" smtClean="0">
                          <a:solidFill>
                            <a:schemeClr val="tx1"/>
                          </a:solidFill>
                          <a:latin typeface="+mn-lt"/>
                          <a:ea typeface="+mn-ea"/>
                          <a:cs typeface="+mn-cs"/>
                        </a:rPr>
                        <a:t>100</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112713" algn="l"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pPr>
                      <a:endParaRPr lang="en-US" sz="1100" kern="1200" baseline="0" dirty="0" smtClean="0">
                        <a:solidFill>
                          <a:schemeClr val="tx1"/>
                        </a:solidFill>
                        <a:latin typeface="+mn-lt"/>
                        <a:ea typeface="+mn-ea"/>
                        <a:cs typeface="+mn-cs"/>
                      </a:endParaRP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112713" algn="l"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defRPr/>
                      </a:pPr>
                      <a:r>
                        <a:rPr lang="en-US" sz="1100" kern="1200" baseline="0" dirty="0" smtClean="0">
                          <a:solidFill>
                            <a:schemeClr val="tx1"/>
                          </a:solidFill>
                          <a:latin typeface="+mn-lt"/>
                          <a:ea typeface="+mn-ea"/>
                          <a:cs typeface="+mn-cs"/>
                        </a:rPr>
                        <a:t>   Sign off  Complete</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lumMod val="75000"/>
                      </a:schemeClr>
                    </a:solidFill>
                  </a:tcPr>
                </a:tc>
              </a:tr>
              <a:tr h="99498">
                <a:tc>
                  <a:txBody>
                    <a:bodyPr/>
                    <a:lstStyle/>
                    <a:p>
                      <a:pPr marL="0" marR="0" lvl="0" indent="0" algn="l" defTabSz="457200" rtl="0" eaLnBrk="0" fontAlgn="base" latinLnBrk="0" hangingPunct="0">
                        <a:lnSpc>
                          <a:spcPct val="93000"/>
                        </a:lnSpc>
                        <a:spcBef>
                          <a:spcPts val="675"/>
                        </a:spcBef>
                        <a:spcAft>
                          <a:spcPct val="0"/>
                        </a:spcAft>
                        <a:buClr>
                          <a:srgbClr val="000000"/>
                        </a:buClr>
                        <a:buSzPct val="100000"/>
                        <a:buFont typeface="Times New Roman" pitchFamily="18" charset="0"/>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defRPr/>
                      </a:pPr>
                      <a:r>
                        <a:rPr lang="en-US" sz="1100" kern="1200" baseline="0" dirty="0" smtClean="0">
                          <a:solidFill>
                            <a:schemeClr val="tx1"/>
                          </a:solidFill>
                          <a:latin typeface="+mn-lt"/>
                          <a:ea typeface="+mn-ea"/>
                          <a:cs typeface="+mn-cs"/>
                        </a:rPr>
                        <a:t>Design &amp; Build</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algn="ctr" fontAlgn="b"/>
                      <a:r>
                        <a:rPr lang="en-US" sz="1100" kern="1200" baseline="0" dirty="0" smtClean="0">
                          <a:solidFill>
                            <a:schemeClr val="tx1"/>
                          </a:solidFill>
                          <a:latin typeface="+mn-lt"/>
                          <a:ea typeface="+mn-ea"/>
                          <a:cs typeface="+mn-cs"/>
                        </a:rPr>
                        <a:t>xx/xx/xx</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algn="ctr" fontAlgn="b"/>
                      <a:r>
                        <a:rPr lang="en-US" sz="1100" kern="1200" baseline="0" dirty="0" smtClean="0">
                          <a:solidFill>
                            <a:schemeClr val="tx1"/>
                          </a:solidFill>
                          <a:latin typeface="+mn-lt"/>
                          <a:ea typeface="+mn-ea"/>
                          <a:cs typeface="+mn-cs"/>
                        </a:rPr>
                        <a:t>50%</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marL="0" marR="0" lvl="0" indent="0" algn="ctr" defTabSz="457200" rtl="0" eaLnBrk="0" fontAlgn="base" latinLnBrk="0" hangingPunct="0">
                        <a:lnSpc>
                          <a:spcPct val="100000"/>
                        </a:lnSpc>
                        <a:spcBef>
                          <a:spcPct val="10000"/>
                        </a:spcBef>
                        <a:spcAft>
                          <a:spcPct val="0"/>
                        </a:spcAft>
                        <a:buClr>
                          <a:srgbClr val="000000"/>
                        </a:buClr>
                        <a:buSzPct val="100000"/>
                        <a:buFont typeface="Wingdings" pitchFamily="2" charset="2"/>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pPr>
                      <a:r>
                        <a:rPr kumimoji="0" lang="en-US" sz="1100" b="1" i="0" u="none" strike="noStrike" cap="none" normalizeH="0" baseline="0" dirty="0" smtClean="0">
                          <a:ln>
                            <a:noFill/>
                          </a:ln>
                          <a:solidFill>
                            <a:schemeClr val="tx1"/>
                          </a:solidFill>
                          <a:effectLst/>
                          <a:latin typeface="+mn-lt"/>
                          <a:ea typeface="MS Gothic" pitchFamily="49" charset="-128"/>
                        </a:rPr>
                        <a:t>Y</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rgbClr val="FFFF00"/>
                    </a:solidFill>
                  </a:tcPr>
                </a:tc>
                <a:tc>
                  <a:txBody>
                    <a:bodyPr/>
                    <a:lstStyle/>
                    <a:p>
                      <a:pPr marL="0" marR="0" lvl="0" indent="-112713" algn="l"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pPr>
                      <a:r>
                        <a:rPr lang="en-US" sz="1100" kern="1200" baseline="0" dirty="0" smtClean="0">
                          <a:solidFill>
                            <a:schemeClr val="tx1"/>
                          </a:solidFill>
                          <a:latin typeface="+mn-lt"/>
                          <a:ea typeface="+mn-ea"/>
                          <a:cs typeface="+mn-cs"/>
                        </a:rPr>
                        <a:t>   Remediation Technical Issues: 4 open SRs – 75% Target</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r>
              <a:tr h="124775">
                <a:tc>
                  <a:txBody>
                    <a:bodyPr/>
                    <a:lstStyle/>
                    <a:p>
                      <a:pPr marL="0" marR="0" lvl="0" indent="0" algn="l" defTabSz="457200" rtl="0" eaLnBrk="0" fontAlgn="base" latinLnBrk="0" hangingPunct="0">
                        <a:lnSpc>
                          <a:spcPct val="93000"/>
                        </a:lnSpc>
                        <a:spcBef>
                          <a:spcPts val="675"/>
                        </a:spcBef>
                        <a:spcAft>
                          <a:spcPct val="0"/>
                        </a:spcAft>
                        <a:buClr>
                          <a:srgbClr val="000000"/>
                        </a:buClr>
                        <a:buSzPct val="100000"/>
                        <a:buFont typeface="Times New Roman" pitchFamily="18" charset="0"/>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defRPr/>
                      </a:pPr>
                      <a:r>
                        <a:rPr lang="en-US" sz="1100" kern="1200" baseline="0" dirty="0" smtClean="0">
                          <a:solidFill>
                            <a:schemeClr val="tx1"/>
                          </a:solidFill>
                          <a:latin typeface="+mn-lt"/>
                          <a:ea typeface="+mn-ea"/>
                          <a:cs typeface="+mn-cs"/>
                        </a:rPr>
                        <a:t>Primavera Interface </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algn="ctr" fontAlgn="b"/>
                      <a:r>
                        <a:rPr lang="en-US" sz="1100" kern="1200" baseline="0" dirty="0" smtClean="0">
                          <a:solidFill>
                            <a:schemeClr val="tx1"/>
                          </a:solidFill>
                          <a:latin typeface="+mn-lt"/>
                          <a:ea typeface="+mn-ea"/>
                          <a:cs typeface="+mn-cs"/>
                        </a:rPr>
                        <a:t>xx/xx/xx</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algn="ctr" fontAlgn="b"/>
                      <a:r>
                        <a:rPr lang="en-US" sz="1100" kern="1200" baseline="0" dirty="0" smtClean="0">
                          <a:solidFill>
                            <a:schemeClr val="tx1"/>
                          </a:solidFill>
                          <a:latin typeface="+mn-lt"/>
                          <a:ea typeface="+mn-ea"/>
                          <a:cs typeface="+mn-cs"/>
                        </a:rPr>
                        <a:t>100%</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marL="0" marR="0" lvl="0" indent="0" algn="ctr" defTabSz="457200" rtl="0" eaLnBrk="0" fontAlgn="base" latinLnBrk="0" hangingPunct="0">
                        <a:lnSpc>
                          <a:spcPct val="100000"/>
                        </a:lnSpc>
                        <a:spcBef>
                          <a:spcPct val="10000"/>
                        </a:spcBef>
                        <a:spcAft>
                          <a:spcPct val="0"/>
                        </a:spcAft>
                        <a:buClr>
                          <a:srgbClr val="000000"/>
                        </a:buClr>
                        <a:buSzPct val="100000"/>
                        <a:buFont typeface="Wingdings" pitchFamily="2" charset="2"/>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pPr>
                      <a:endParaRPr kumimoji="0" lang="en-US" sz="1100" b="1" i="0" u="none" strike="noStrike" cap="none" normalizeH="0" baseline="0" dirty="0" smtClean="0">
                        <a:ln>
                          <a:noFill/>
                        </a:ln>
                        <a:solidFill>
                          <a:schemeClr val="tx1"/>
                        </a:solidFill>
                        <a:effectLst/>
                        <a:latin typeface="+mn-lt"/>
                        <a:ea typeface="MS Gothic" pitchFamily="49" charset="-128"/>
                      </a:endParaRP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rgbClr val="00CC00"/>
                    </a:solidFill>
                  </a:tcPr>
                </a:tc>
                <a:tc>
                  <a:txBody>
                    <a:bodyPr/>
                    <a:lstStyle/>
                    <a:p>
                      <a:pPr marL="0" marR="0" lvl="0" indent="-112713" algn="l"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pPr>
                      <a:endParaRPr lang="en-US" sz="1100" kern="1200" baseline="0" dirty="0" smtClean="0">
                        <a:solidFill>
                          <a:schemeClr val="tx1"/>
                        </a:solidFill>
                        <a:latin typeface="+mn-lt"/>
                        <a:ea typeface="+mn-ea"/>
                        <a:cs typeface="+mn-cs"/>
                      </a:endParaRP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r>
              <a:tr h="153544">
                <a:tc>
                  <a:txBody>
                    <a:bodyPr/>
                    <a:lstStyle/>
                    <a:p>
                      <a:pPr marL="0" marR="0" lvl="0" indent="0" algn="l" defTabSz="457200" rtl="0" eaLnBrk="0" fontAlgn="base" latinLnBrk="0" hangingPunct="0">
                        <a:lnSpc>
                          <a:spcPct val="93000"/>
                        </a:lnSpc>
                        <a:spcBef>
                          <a:spcPts val="675"/>
                        </a:spcBef>
                        <a:spcAft>
                          <a:spcPct val="0"/>
                        </a:spcAft>
                        <a:buClr>
                          <a:srgbClr val="000000"/>
                        </a:buClr>
                        <a:buSzPct val="100000"/>
                        <a:buFont typeface="Times New Roman" pitchFamily="18" charset="0"/>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defRPr/>
                      </a:pPr>
                      <a:r>
                        <a:rPr lang="en-US" sz="1100" kern="1200" baseline="0" dirty="0" smtClean="0">
                          <a:solidFill>
                            <a:schemeClr val="tx1"/>
                          </a:solidFill>
                          <a:latin typeface="+mn-lt"/>
                          <a:ea typeface="+mn-ea"/>
                          <a:cs typeface="+mn-cs"/>
                        </a:rPr>
                        <a:t>Data Conversion</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algn="ctr" fontAlgn="b"/>
                      <a:r>
                        <a:rPr lang="en-US" sz="1100" kern="1200" baseline="0" dirty="0" smtClean="0">
                          <a:solidFill>
                            <a:schemeClr val="tx1"/>
                          </a:solidFill>
                          <a:latin typeface="+mn-lt"/>
                          <a:ea typeface="+mn-ea"/>
                          <a:cs typeface="+mn-cs"/>
                        </a:rPr>
                        <a:t>xx/xx/xx</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algn="ctr" fontAlgn="b"/>
                      <a:r>
                        <a:rPr lang="en-US" sz="1100" kern="1200" baseline="0" dirty="0" smtClean="0">
                          <a:solidFill>
                            <a:schemeClr val="tx1"/>
                          </a:solidFill>
                          <a:latin typeface="+mn-lt"/>
                          <a:ea typeface="+mn-ea"/>
                          <a:cs typeface="+mn-cs"/>
                        </a:rPr>
                        <a:t>10%</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marL="0" marR="0" lvl="0" indent="0" algn="ctr" defTabSz="457200" rtl="0" eaLnBrk="0" fontAlgn="base" latinLnBrk="0" hangingPunct="0">
                        <a:lnSpc>
                          <a:spcPct val="100000"/>
                        </a:lnSpc>
                        <a:spcBef>
                          <a:spcPct val="10000"/>
                        </a:spcBef>
                        <a:spcAft>
                          <a:spcPct val="0"/>
                        </a:spcAft>
                        <a:buClr>
                          <a:srgbClr val="000000"/>
                        </a:buClr>
                        <a:buSzPct val="100000"/>
                        <a:buFont typeface="Wingdings" pitchFamily="2" charset="2"/>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pPr>
                      <a:r>
                        <a:rPr kumimoji="0" lang="en-US" sz="1100" b="1" i="0" u="none" strike="noStrike" cap="none" normalizeH="0" baseline="0" dirty="0" smtClean="0">
                          <a:ln>
                            <a:noFill/>
                          </a:ln>
                          <a:solidFill>
                            <a:schemeClr val="tx1"/>
                          </a:solidFill>
                          <a:effectLst/>
                          <a:latin typeface="+mn-lt"/>
                          <a:ea typeface="MS Gothic" pitchFamily="49" charset="-128"/>
                        </a:rPr>
                        <a:t>Y</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rgbClr val="FFFF00"/>
                    </a:solidFill>
                  </a:tcPr>
                </a:tc>
                <a:tc>
                  <a:txBody>
                    <a:bodyPr/>
                    <a:lstStyle/>
                    <a:p>
                      <a:pPr marL="0" marR="0" lvl="0" indent="-112713" algn="l"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pPr>
                      <a:r>
                        <a:rPr lang="en-US" sz="1100" kern="1200" baseline="0" dirty="0" smtClean="0">
                          <a:solidFill>
                            <a:schemeClr val="tx1"/>
                          </a:solidFill>
                          <a:latin typeface="+mn-lt"/>
                          <a:ea typeface="+mn-ea"/>
                          <a:cs typeface="+mn-cs"/>
                        </a:rPr>
                        <a:t>   Mitigation In Progress –50% Target</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r>
              <a:tr h="153544">
                <a:tc>
                  <a:txBody>
                    <a:bodyPr/>
                    <a:lstStyle/>
                    <a:p>
                      <a:pPr marL="0" marR="0" lvl="0" indent="0" algn="l" defTabSz="457200" rtl="0" eaLnBrk="0" fontAlgn="base" latinLnBrk="0" hangingPunct="0">
                        <a:lnSpc>
                          <a:spcPct val="93000"/>
                        </a:lnSpc>
                        <a:spcBef>
                          <a:spcPts val="675"/>
                        </a:spcBef>
                        <a:spcAft>
                          <a:spcPct val="0"/>
                        </a:spcAft>
                        <a:buClr>
                          <a:srgbClr val="000000"/>
                        </a:buClr>
                        <a:buSzPct val="100000"/>
                        <a:buFont typeface="Times New Roman" pitchFamily="18" charset="0"/>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defRPr/>
                      </a:pPr>
                      <a:r>
                        <a:rPr lang="en-US" sz="1100" kern="1200" baseline="0" dirty="0" smtClean="0">
                          <a:solidFill>
                            <a:schemeClr val="tx1"/>
                          </a:solidFill>
                          <a:latin typeface="+mn-lt"/>
                          <a:ea typeface="+mn-ea"/>
                          <a:cs typeface="+mn-cs"/>
                        </a:rPr>
                        <a:t>CRP 3</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algn="ctr" fontAlgn="b"/>
                      <a:r>
                        <a:rPr lang="en-US" sz="1100" kern="1200" baseline="0" dirty="0" smtClean="0">
                          <a:solidFill>
                            <a:schemeClr val="tx1"/>
                          </a:solidFill>
                          <a:latin typeface="+mn-lt"/>
                          <a:ea typeface="+mn-ea"/>
                          <a:cs typeface="+mn-cs"/>
                        </a:rPr>
                        <a:t>xx/xx/xx</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algn="ctr" fontAlgn="b"/>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marL="0" marR="0" lvl="0" indent="0" algn="ctr" defTabSz="457200" rtl="0" eaLnBrk="0" fontAlgn="base" latinLnBrk="0" hangingPunct="0">
                        <a:lnSpc>
                          <a:spcPct val="100000"/>
                        </a:lnSpc>
                        <a:spcBef>
                          <a:spcPct val="10000"/>
                        </a:spcBef>
                        <a:spcAft>
                          <a:spcPct val="0"/>
                        </a:spcAft>
                        <a:buClr>
                          <a:srgbClr val="000000"/>
                        </a:buClr>
                        <a:buSzPct val="100000"/>
                        <a:buFont typeface="Wingdings" pitchFamily="2" charset="2"/>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pPr>
                      <a:endParaRPr kumimoji="0" lang="en-US" sz="1100" b="1" i="0" u="none" strike="noStrike" cap="none" normalizeH="0" baseline="0" dirty="0" smtClean="0">
                        <a:ln>
                          <a:noFill/>
                        </a:ln>
                        <a:solidFill>
                          <a:schemeClr val="tx1"/>
                        </a:solidFill>
                        <a:effectLst/>
                        <a:latin typeface="+mn-lt"/>
                        <a:ea typeface="MS Gothic" pitchFamily="49" charset="-128"/>
                      </a:endParaRP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rgbClr val="00CC00"/>
                    </a:solidFill>
                  </a:tcPr>
                </a:tc>
                <a:tc>
                  <a:txBody>
                    <a:bodyPr/>
                    <a:lstStyle/>
                    <a:p>
                      <a:pPr marL="0" marR="0" lvl="0" indent="-112713" algn="l"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pPr>
                      <a:endParaRPr lang="en-US" sz="1100" kern="1200" baseline="0" dirty="0" smtClean="0">
                        <a:solidFill>
                          <a:schemeClr val="tx1"/>
                        </a:solidFill>
                        <a:latin typeface="+mn-lt"/>
                        <a:ea typeface="+mn-ea"/>
                        <a:cs typeface="+mn-cs"/>
                      </a:endParaRP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r>
              <a:tr h="181169">
                <a:tc>
                  <a:txBody>
                    <a:bodyPr/>
                    <a:lstStyle/>
                    <a:p>
                      <a:pPr marL="0" marR="0" lvl="0" indent="0" algn="l" defTabSz="457200" rtl="0" eaLnBrk="0" fontAlgn="base" latinLnBrk="0" hangingPunct="0">
                        <a:lnSpc>
                          <a:spcPct val="93000"/>
                        </a:lnSpc>
                        <a:spcBef>
                          <a:spcPts val="675"/>
                        </a:spcBef>
                        <a:spcAft>
                          <a:spcPct val="0"/>
                        </a:spcAft>
                        <a:buClr>
                          <a:srgbClr val="000000"/>
                        </a:buClr>
                        <a:buSzPct val="100000"/>
                        <a:buFont typeface="Times New Roman" pitchFamily="18" charset="0"/>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defRPr/>
                      </a:pPr>
                      <a:r>
                        <a:rPr lang="en-US" sz="1100" kern="1200" baseline="0" dirty="0" smtClean="0">
                          <a:solidFill>
                            <a:schemeClr val="tx1"/>
                          </a:solidFill>
                          <a:latin typeface="+mn-lt"/>
                          <a:ea typeface="+mn-ea"/>
                          <a:cs typeface="+mn-cs"/>
                        </a:rPr>
                        <a:t>Train the Trainer</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algn="ctr" fontAlgn="b"/>
                      <a:r>
                        <a:rPr lang="en-US" sz="1100" kern="1200" baseline="0" dirty="0" smtClean="0">
                          <a:solidFill>
                            <a:schemeClr val="tx1"/>
                          </a:solidFill>
                          <a:latin typeface="+mn-lt"/>
                          <a:ea typeface="+mn-ea"/>
                          <a:cs typeface="+mn-cs"/>
                        </a:rPr>
                        <a:t>xx/xx/xx</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algn="ctr" fontAlgn="b"/>
                      <a:r>
                        <a:rPr lang="en-US" sz="1100" kern="1200" baseline="0" dirty="0" smtClean="0">
                          <a:solidFill>
                            <a:schemeClr val="tx1"/>
                          </a:solidFill>
                          <a:latin typeface="+mn-lt"/>
                          <a:ea typeface="+mn-ea"/>
                          <a:cs typeface="+mn-cs"/>
                        </a:rPr>
                        <a:t>15%</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marL="0" marR="0" lvl="0" indent="0" algn="ctr" defTabSz="457200" rtl="0" eaLnBrk="0" fontAlgn="base" latinLnBrk="0" hangingPunct="0">
                        <a:lnSpc>
                          <a:spcPct val="100000"/>
                        </a:lnSpc>
                        <a:spcBef>
                          <a:spcPct val="10000"/>
                        </a:spcBef>
                        <a:spcAft>
                          <a:spcPct val="0"/>
                        </a:spcAft>
                        <a:buClr>
                          <a:srgbClr val="000000"/>
                        </a:buClr>
                        <a:buSzPct val="100000"/>
                        <a:buFont typeface="Wingdings" pitchFamily="2" charset="2"/>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pPr>
                      <a:r>
                        <a:rPr kumimoji="0" lang="en-US" sz="1100" b="1" i="0" u="none" strike="noStrike" kern="1200" cap="none" normalizeH="0" baseline="0" dirty="0" smtClean="0">
                          <a:ln>
                            <a:noFill/>
                          </a:ln>
                          <a:solidFill>
                            <a:schemeClr val="tx1"/>
                          </a:solidFill>
                          <a:effectLst/>
                          <a:latin typeface="+mn-lt"/>
                          <a:ea typeface="MS Gothic" pitchFamily="49" charset="-128"/>
                          <a:cs typeface="+mn-cs"/>
                        </a:rPr>
                        <a:t>Y</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rgbClr val="FFFF00"/>
                    </a:solidFill>
                  </a:tcPr>
                </a:tc>
                <a:tc>
                  <a:txBody>
                    <a:bodyPr/>
                    <a:lstStyle/>
                    <a:p>
                      <a:pPr marL="0" marR="0" lvl="0" indent="-112713" algn="l"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pPr>
                      <a:r>
                        <a:rPr lang="en-US" sz="1100" kern="1200" baseline="0" dirty="0" smtClean="0">
                          <a:solidFill>
                            <a:schemeClr val="tx1"/>
                          </a:solidFill>
                          <a:latin typeface="+mn-lt"/>
                          <a:ea typeface="+mn-ea"/>
                          <a:cs typeface="+mn-cs"/>
                        </a:rPr>
                        <a:t>   Training Material – 35% Target</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r>
              <a:tr h="120559">
                <a:tc>
                  <a:txBody>
                    <a:bodyPr/>
                    <a:lstStyle/>
                    <a:p>
                      <a:pPr marL="0" marR="0" lvl="0" indent="0" algn="l" defTabSz="457200" rtl="0" eaLnBrk="0" fontAlgn="base" latinLnBrk="0" hangingPunct="0">
                        <a:lnSpc>
                          <a:spcPct val="93000"/>
                        </a:lnSpc>
                        <a:spcBef>
                          <a:spcPts val="675"/>
                        </a:spcBef>
                        <a:spcAft>
                          <a:spcPct val="0"/>
                        </a:spcAft>
                        <a:buClr>
                          <a:srgbClr val="000000"/>
                        </a:buClr>
                        <a:buSzPct val="100000"/>
                        <a:buFont typeface="Times New Roman" pitchFamily="18" charset="0"/>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defRPr/>
                      </a:pPr>
                      <a:r>
                        <a:rPr lang="en-US" sz="1100" b="0" kern="1200" baseline="0" dirty="0" smtClean="0">
                          <a:solidFill>
                            <a:schemeClr val="tx1"/>
                          </a:solidFill>
                          <a:latin typeface="+mn-lt"/>
                          <a:ea typeface="+mn-ea"/>
                          <a:cs typeface="+mn-cs"/>
                        </a:rPr>
                        <a:t>User Accept Testing</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algn="ctr" fontAlgn="b"/>
                      <a:r>
                        <a:rPr lang="en-US" sz="1100" kern="1200" baseline="0" dirty="0" smtClean="0">
                          <a:solidFill>
                            <a:schemeClr val="tx1"/>
                          </a:solidFill>
                          <a:latin typeface="+mn-lt"/>
                          <a:ea typeface="+mn-ea"/>
                          <a:cs typeface="+mn-cs"/>
                        </a:rPr>
                        <a:t>xx/xx/xx</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algn="ctr" fontAlgn="b"/>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marL="0" marR="0" lvl="0" indent="0" algn="ctr" defTabSz="457200" rtl="0" eaLnBrk="0" fontAlgn="base" latinLnBrk="0" hangingPunct="0">
                        <a:lnSpc>
                          <a:spcPct val="100000"/>
                        </a:lnSpc>
                        <a:spcBef>
                          <a:spcPct val="10000"/>
                        </a:spcBef>
                        <a:spcAft>
                          <a:spcPct val="0"/>
                        </a:spcAft>
                        <a:buClr>
                          <a:srgbClr val="000000"/>
                        </a:buClr>
                        <a:buSzPct val="100000"/>
                        <a:buFont typeface="Wingdings" pitchFamily="2" charset="2"/>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pPr>
                      <a:endParaRPr kumimoji="0" lang="en-US" sz="1100" b="1" i="0" u="none" strike="noStrike" cap="none" normalizeH="0" baseline="0" dirty="0" smtClean="0">
                        <a:ln>
                          <a:noFill/>
                        </a:ln>
                        <a:solidFill>
                          <a:schemeClr val="tx1"/>
                        </a:solidFill>
                        <a:effectLst/>
                        <a:latin typeface="+mn-lt"/>
                        <a:ea typeface="MS Gothic" pitchFamily="49" charset="-128"/>
                      </a:endParaRP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rgbClr val="00CC00"/>
                    </a:solidFill>
                  </a:tcPr>
                </a:tc>
                <a:tc>
                  <a:txBody>
                    <a:bodyPr/>
                    <a:lstStyle/>
                    <a:p>
                      <a:pPr marL="0" marR="0" lvl="0" indent="-112713" algn="l"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pPr>
                      <a:endParaRPr lang="en-US" sz="1100" kern="1200" baseline="0" dirty="0" smtClean="0">
                        <a:solidFill>
                          <a:schemeClr val="tx1"/>
                        </a:solidFill>
                        <a:latin typeface="+mn-lt"/>
                        <a:ea typeface="+mn-ea"/>
                        <a:cs typeface="+mn-cs"/>
                      </a:endParaRP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r>
              <a:tr h="149328">
                <a:tc>
                  <a:txBody>
                    <a:bodyPr/>
                    <a:lstStyle/>
                    <a:p>
                      <a:pPr marL="0" marR="0" lvl="0" indent="0" algn="l" defTabSz="457200" rtl="0" eaLnBrk="0" fontAlgn="base" latinLnBrk="0" hangingPunct="0">
                        <a:lnSpc>
                          <a:spcPct val="93000"/>
                        </a:lnSpc>
                        <a:spcBef>
                          <a:spcPts val="675"/>
                        </a:spcBef>
                        <a:spcAft>
                          <a:spcPct val="0"/>
                        </a:spcAft>
                        <a:buClr>
                          <a:srgbClr val="000000"/>
                        </a:buClr>
                        <a:buSzPct val="100000"/>
                        <a:buFont typeface="Times New Roman" pitchFamily="18" charset="0"/>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defRPr/>
                      </a:pPr>
                      <a:r>
                        <a:rPr lang="en-US" sz="1100" b="0" kern="1200" baseline="0" dirty="0" smtClean="0">
                          <a:solidFill>
                            <a:schemeClr val="tx1"/>
                          </a:solidFill>
                          <a:latin typeface="+mn-lt"/>
                          <a:ea typeface="+mn-ea"/>
                          <a:cs typeface="+mn-cs"/>
                        </a:rPr>
                        <a:t>Bus. Acceptance</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algn="ctr" fontAlgn="b"/>
                      <a:r>
                        <a:rPr lang="en-US" sz="1100" kern="1200" baseline="0" dirty="0" smtClean="0">
                          <a:solidFill>
                            <a:schemeClr val="tx1"/>
                          </a:solidFill>
                          <a:latin typeface="+mn-lt"/>
                          <a:ea typeface="+mn-ea"/>
                          <a:cs typeface="+mn-cs"/>
                        </a:rPr>
                        <a:t>xx/xx/xx</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algn="ctr" fontAlgn="b"/>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marL="0" marR="0" lvl="0" indent="0" algn="ctr" defTabSz="457200" rtl="0" eaLnBrk="0" fontAlgn="base" latinLnBrk="0" hangingPunct="0">
                        <a:lnSpc>
                          <a:spcPct val="100000"/>
                        </a:lnSpc>
                        <a:spcBef>
                          <a:spcPct val="10000"/>
                        </a:spcBef>
                        <a:spcAft>
                          <a:spcPct val="0"/>
                        </a:spcAft>
                        <a:buClr>
                          <a:srgbClr val="000000"/>
                        </a:buClr>
                        <a:buSzPct val="100000"/>
                        <a:buFont typeface="Wingdings" pitchFamily="2" charset="2"/>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pPr>
                      <a:endParaRPr kumimoji="0" lang="en-US" sz="1100" b="1" i="0" u="none" strike="noStrike" cap="none" normalizeH="0" baseline="0" dirty="0" smtClean="0">
                        <a:ln>
                          <a:noFill/>
                        </a:ln>
                        <a:solidFill>
                          <a:schemeClr val="tx1"/>
                        </a:solidFill>
                        <a:effectLst/>
                        <a:latin typeface="+mn-lt"/>
                        <a:ea typeface="MS Gothic" pitchFamily="49" charset="-128"/>
                      </a:endParaRP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rgbClr val="00CC00"/>
                    </a:solidFill>
                  </a:tcPr>
                </a:tc>
                <a:tc>
                  <a:txBody>
                    <a:bodyPr/>
                    <a:lstStyle/>
                    <a:p>
                      <a:pPr marL="0" marR="0" lvl="0" indent="-112713" algn="l"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pPr>
                      <a:endParaRPr lang="en-US" sz="1100" kern="1200" baseline="0" dirty="0" smtClean="0">
                        <a:solidFill>
                          <a:schemeClr val="tx1"/>
                        </a:solidFill>
                        <a:latin typeface="+mn-lt"/>
                        <a:ea typeface="+mn-ea"/>
                        <a:cs typeface="+mn-cs"/>
                      </a:endParaRP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r>
              <a:tr h="152400">
                <a:tc>
                  <a:txBody>
                    <a:bodyPr/>
                    <a:lstStyle/>
                    <a:p>
                      <a:pPr marL="0" marR="0" lvl="0" indent="0" algn="l" defTabSz="457200" rtl="0" eaLnBrk="0" fontAlgn="base" latinLnBrk="0" hangingPunct="0">
                        <a:lnSpc>
                          <a:spcPct val="93000"/>
                        </a:lnSpc>
                        <a:spcBef>
                          <a:spcPts val="675"/>
                        </a:spcBef>
                        <a:spcAft>
                          <a:spcPct val="0"/>
                        </a:spcAft>
                        <a:buClr>
                          <a:srgbClr val="000000"/>
                        </a:buClr>
                        <a:buSzPct val="100000"/>
                        <a:buFont typeface="Times New Roman" pitchFamily="18" charset="0"/>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defRPr/>
                      </a:pPr>
                      <a:r>
                        <a:rPr lang="en-US" sz="1100" b="0" kern="1200" baseline="0" dirty="0" smtClean="0">
                          <a:solidFill>
                            <a:schemeClr val="tx1"/>
                          </a:solidFill>
                          <a:latin typeface="+mn-lt"/>
                          <a:ea typeface="+mn-ea"/>
                          <a:cs typeface="+mn-cs"/>
                        </a:rPr>
                        <a:t>Trans. to PROD</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algn="ctr" fontAlgn="b"/>
                      <a:r>
                        <a:rPr lang="en-US" sz="1100" kern="1200" baseline="0" dirty="0" smtClean="0">
                          <a:solidFill>
                            <a:schemeClr val="tx1"/>
                          </a:solidFill>
                          <a:latin typeface="+mn-lt"/>
                          <a:ea typeface="+mn-ea"/>
                          <a:cs typeface="+mn-cs"/>
                        </a:rPr>
                        <a:t>xx/xx/xx</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algn="ctr" fontAlgn="b"/>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marL="0" marR="0" lvl="0" indent="0" algn="ctr" defTabSz="457200" rtl="0" eaLnBrk="0" fontAlgn="base" latinLnBrk="0" hangingPunct="0">
                        <a:lnSpc>
                          <a:spcPct val="100000"/>
                        </a:lnSpc>
                        <a:spcBef>
                          <a:spcPct val="10000"/>
                        </a:spcBef>
                        <a:spcAft>
                          <a:spcPct val="0"/>
                        </a:spcAft>
                        <a:buClr>
                          <a:srgbClr val="000000"/>
                        </a:buClr>
                        <a:buSzPct val="100000"/>
                        <a:buFont typeface="Wingdings" pitchFamily="2" charset="2"/>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pPr>
                      <a:endParaRPr kumimoji="0" lang="en-US" sz="1100" b="1" i="0" u="none" strike="noStrike" cap="none" normalizeH="0" baseline="0" dirty="0" smtClean="0">
                        <a:ln>
                          <a:noFill/>
                        </a:ln>
                        <a:solidFill>
                          <a:schemeClr val="tx1"/>
                        </a:solidFill>
                        <a:effectLst/>
                        <a:latin typeface="+mn-lt"/>
                        <a:ea typeface="MS Gothic" pitchFamily="49" charset="-128"/>
                      </a:endParaRP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rgbClr val="00CC00"/>
                    </a:solidFill>
                  </a:tcPr>
                </a:tc>
                <a:tc>
                  <a:txBody>
                    <a:bodyPr/>
                    <a:lstStyle/>
                    <a:p>
                      <a:pPr marL="0" marR="0" lvl="0" indent="-112713" algn="l"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pPr>
                      <a:endParaRPr lang="en-US" sz="1100" kern="1200" baseline="0" dirty="0" smtClean="0">
                        <a:solidFill>
                          <a:schemeClr val="tx1"/>
                        </a:solidFill>
                        <a:latin typeface="+mn-lt"/>
                        <a:ea typeface="+mn-ea"/>
                        <a:cs typeface="+mn-cs"/>
                      </a:endParaRP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r>
              <a:tr h="99996">
                <a:tc>
                  <a:txBody>
                    <a:bodyPr/>
                    <a:lstStyle/>
                    <a:p>
                      <a:pPr marL="0" marR="0" lvl="0" indent="0" algn="l" defTabSz="457200" rtl="0" eaLnBrk="0" fontAlgn="base" latinLnBrk="0" hangingPunct="0">
                        <a:lnSpc>
                          <a:spcPct val="93000"/>
                        </a:lnSpc>
                        <a:spcBef>
                          <a:spcPts val="675"/>
                        </a:spcBef>
                        <a:spcAft>
                          <a:spcPct val="0"/>
                        </a:spcAft>
                        <a:buClr>
                          <a:srgbClr val="000000"/>
                        </a:buClr>
                        <a:buSzPct val="100000"/>
                        <a:buFont typeface="Times New Roman" pitchFamily="18" charset="0"/>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defRPr/>
                      </a:pPr>
                      <a:r>
                        <a:rPr lang="en-US" sz="1100" b="0" kern="1200" baseline="0" dirty="0" smtClean="0">
                          <a:solidFill>
                            <a:schemeClr val="tx1"/>
                          </a:solidFill>
                          <a:latin typeface="+mn-lt"/>
                          <a:ea typeface="+mn-ea"/>
                          <a:cs typeface="+mn-cs"/>
                        </a:rPr>
                        <a:t>Project Handover</a:t>
                      </a: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algn="ctr" fontAlgn="b"/>
                      <a:r>
                        <a:rPr lang="en-US" sz="1100" kern="1200" baseline="0" dirty="0" smtClean="0">
                          <a:solidFill>
                            <a:schemeClr val="tx1"/>
                          </a:solidFill>
                          <a:latin typeface="+mn-lt"/>
                          <a:ea typeface="+mn-ea"/>
                          <a:cs typeface="+mn-cs"/>
                        </a:rPr>
                        <a:t>XX/XX/XX</a:t>
                      </a:r>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algn="ctr" fontAlgn="b"/>
                      <a:endParaRPr lang="en-US" sz="1100" kern="1200" baseline="0" dirty="0">
                        <a:solidFill>
                          <a:schemeClr val="tx1"/>
                        </a:solidFill>
                        <a:latin typeface="+mn-lt"/>
                        <a:ea typeface="+mn-ea"/>
                        <a:cs typeface="+mn-cs"/>
                      </a:endParaRPr>
                    </a:p>
                  </a:txBody>
                  <a:tcPr marL="9525" marR="9525" marT="9525" marB="0" anchor="ctr">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c>
                  <a:txBody>
                    <a:bodyPr/>
                    <a:lstStyle/>
                    <a:p>
                      <a:pPr marL="0" marR="0" lvl="0" indent="0" algn="ctr" defTabSz="457200" rtl="0" eaLnBrk="0" fontAlgn="base" latinLnBrk="0" hangingPunct="0">
                        <a:lnSpc>
                          <a:spcPct val="100000"/>
                        </a:lnSpc>
                        <a:spcBef>
                          <a:spcPct val="10000"/>
                        </a:spcBef>
                        <a:spcAft>
                          <a:spcPct val="0"/>
                        </a:spcAft>
                        <a:buClr>
                          <a:srgbClr val="000000"/>
                        </a:buClr>
                        <a:buSzPct val="100000"/>
                        <a:buFont typeface="Wingdings" pitchFamily="2" charset="2"/>
                        <a:buNone/>
                        <a:tabLst>
                          <a:tab pos="114300" algn="l"/>
                          <a:tab pos="1028700" algn="l"/>
                          <a:tab pos="1943100" algn="l"/>
                          <a:tab pos="2857500" algn="l"/>
                          <a:tab pos="3771900" algn="l"/>
                          <a:tab pos="4686300" algn="l"/>
                          <a:tab pos="5600700" algn="l"/>
                          <a:tab pos="6515100" algn="l"/>
                          <a:tab pos="7429500" algn="l"/>
                          <a:tab pos="8343900" algn="l"/>
                          <a:tab pos="9258300" algn="l"/>
                          <a:tab pos="10172700" algn="l"/>
                        </a:tabLst>
                      </a:pPr>
                      <a:endParaRPr kumimoji="0" lang="en-US" sz="1100" b="1" i="0" u="none" strike="noStrike" cap="none" normalizeH="0" baseline="0" dirty="0" smtClean="0">
                        <a:ln>
                          <a:noFill/>
                        </a:ln>
                        <a:solidFill>
                          <a:schemeClr val="tx1"/>
                        </a:solidFill>
                        <a:effectLst/>
                        <a:latin typeface="+mn-lt"/>
                        <a:ea typeface="MS Gothic" pitchFamily="49" charset="-128"/>
                      </a:endParaRP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rgbClr val="00CC00"/>
                    </a:solidFill>
                  </a:tcPr>
                </a:tc>
                <a:tc>
                  <a:txBody>
                    <a:bodyPr/>
                    <a:lstStyle/>
                    <a:p>
                      <a:pPr marL="0" marR="0" lvl="0" indent="-112713" algn="l" defTabSz="914400" rtl="0" eaLnBrk="1" fontAlgn="b" latinLnBrk="0" hangingPunct="1">
                        <a:lnSpc>
                          <a:spcPct val="100000"/>
                        </a:lnSpc>
                        <a:spcBef>
                          <a:spcPct val="10000"/>
                        </a:spcBef>
                        <a:spcAft>
                          <a:spcPct val="0"/>
                        </a:spcAft>
                        <a:buClr>
                          <a:srgbClr val="000000"/>
                        </a:buClr>
                        <a:buSzPct val="100000"/>
                        <a:buFont typeface="Times New Roman" pitchFamily="18" charset="0"/>
                        <a:buNone/>
                        <a:tabLst>
                          <a:tab pos="112713" algn="l"/>
                          <a:tab pos="1027113" algn="l"/>
                          <a:tab pos="1941513" algn="l"/>
                          <a:tab pos="2855913" algn="l"/>
                          <a:tab pos="3770313" algn="l"/>
                          <a:tab pos="4684713" algn="l"/>
                          <a:tab pos="5599113" algn="l"/>
                          <a:tab pos="6513513" algn="l"/>
                          <a:tab pos="7427913" algn="l"/>
                          <a:tab pos="8342313" algn="l"/>
                          <a:tab pos="9256713" algn="l"/>
                          <a:tab pos="10171113" algn="l"/>
                        </a:tabLst>
                      </a:pPr>
                      <a:endParaRPr lang="en-US" sz="1100" kern="1200" baseline="0" dirty="0" smtClean="0">
                        <a:solidFill>
                          <a:schemeClr val="tx1"/>
                        </a:solidFill>
                        <a:latin typeface="+mn-lt"/>
                        <a:ea typeface="+mn-ea"/>
                        <a:cs typeface="+mn-cs"/>
                      </a:endParaRPr>
                    </a:p>
                  </a:txBody>
                  <a:tcPr marL="0" marR="0" marT="25938" marB="180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noFill/>
                  </a:tcPr>
                </a:tc>
              </a:tr>
            </a:tbl>
          </a:graphicData>
        </a:graphic>
      </p:graphicFrame>
      <p:graphicFrame>
        <p:nvGraphicFramePr>
          <p:cNvPr id="4" name="Table 3"/>
          <p:cNvGraphicFramePr>
            <a:graphicFrameLocks noGrp="1"/>
          </p:cNvGraphicFramePr>
          <p:nvPr/>
        </p:nvGraphicFramePr>
        <p:xfrm>
          <a:off x="608011" y="1127974"/>
          <a:ext cx="10744200" cy="1653289"/>
        </p:xfrm>
        <a:graphic>
          <a:graphicData uri="http://schemas.openxmlformats.org/drawingml/2006/table">
            <a:tbl>
              <a:tblPr/>
              <a:tblGrid>
                <a:gridCol w="5138531"/>
                <a:gridCol w="5605669"/>
              </a:tblGrid>
              <a:tr h="256565">
                <a:tc>
                  <a:txBody>
                    <a:bodyPr/>
                    <a:lstStyle/>
                    <a:p>
                      <a:pPr marL="0" marR="0" lvl="0" indent="0" algn="l" defTabSz="457200" rtl="0" eaLnBrk="0" fontAlgn="base" latinLnBrk="0" hangingPunct="0">
                        <a:lnSpc>
                          <a:spcPct val="93000"/>
                        </a:lnSpc>
                        <a:spcBef>
                          <a:spcPts val="675"/>
                        </a:spcBef>
                        <a:spcAft>
                          <a:spcPct val="0"/>
                        </a:spcAft>
                        <a:buClr>
                          <a:srgbClr val="000000"/>
                        </a:buClr>
                        <a:buSzPct val="100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sz="1200" b="1" i="0" u="none" strike="noStrike" cap="none" normalizeH="0" baseline="0" dirty="0" smtClean="0">
                          <a:ln>
                            <a:noFill/>
                          </a:ln>
                          <a:solidFill>
                            <a:schemeClr val="bg1"/>
                          </a:solidFill>
                          <a:effectLst/>
                          <a:latin typeface="+mn-lt"/>
                          <a:ea typeface="MS Gothic" pitchFamily="49" charset="-128"/>
                        </a:rPr>
                        <a:t>Key Accomplishments</a:t>
                      </a:r>
                    </a:p>
                  </a:txBody>
                  <a:tcPr marL="90000" marR="90000" marT="54738" marB="46800" anchor="ctr"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rgbClr val="0057A6"/>
                    </a:solidFill>
                  </a:tcPr>
                </a:tc>
                <a:tc>
                  <a:txBody>
                    <a:bodyPr/>
                    <a:lstStyle/>
                    <a:p>
                      <a:pPr marL="0" marR="0" lvl="0" indent="0" algn="l" defTabSz="457200" rtl="0" eaLnBrk="0" fontAlgn="base" latinLnBrk="0" hangingPunct="0">
                        <a:lnSpc>
                          <a:spcPct val="93000"/>
                        </a:lnSpc>
                        <a:spcBef>
                          <a:spcPts val="675"/>
                        </a:spcBef>
                        <a:spcAft>
                          <a:spcPct val="0"/>
                        </a:spcAft>
                        <a:buClr>
                          <a:srgbClr val="000000"/>
                        </a:buClr>
                        <a:buSzPct val="100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sz="1200" b="1" i="0" u="none" strike="noStrike" cap="none" normalizeH="0" baseline="0" dirty="0" smtClean="0">
                          <a:ln>
                            <a:noFill/>
                          </a:ln>
                          <a:solidFill>
                            <a:schemeClr val="tx1"/>
                          </a:solidFill>
                          <a:effectLst/>
                          <a:latin typeface="+mn-lt"/>
                          <a:ea typeface="MS Gothic" pitchFamily="49" charset="-128"/>
                        </a:rPr>
                        <a:t>STATUS – (Yellow) </a:t>
                      </a:r>
                      <a:endParaRPr kumimoji="0" lang="en-US" sz="900" b="1" i="0" u="none" strike="noStrike" cap="none" normalizeH="0" baseline="0" dirty="0" smtClean="0">
                        <a:ln>
                          <a:noFill/>
                        </a:ln>
                        <a:solidFill>
                          <a:schemeClr val="tx1"/>
                        </a:solidFill>
                        <a:effectLst/>
                        <a:latin typeface="+mn-lt"/>
                        <a:ea typeface="MS Gothic" pitchFamily="49" charset="-128"/>
                      </a:endParaRPr>
                    </a:p>
                  </a:txBody>
                  <a:tcPr marL="90000" marR="90000" marT="54738" marB="468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rgbClr val="FFFF00"/>
                    </a:solidFill>
                  </a:tcPr>
                </a:tc>
              </a:tr>
              <a:tr h="1267435">
                <a:tc>
                  <a:txBody>
                    <a:bodyPr/>
                    <a:lstStyle/>
                    <a:p>
                      <a:pPr>
                        <a:defRPr/>
                      </a:pPr>
                      <a:r>
                        <a:rPr lang="en-US" sz="1400" b="1" dirty="0" smtClean="0">
                          <a:latin typeface="+mn-lt"/>
                        </a:rPr>
                        <a:t>Initial Set</a:t>
                      </a:r>
                      <a:r>
                        <a:rPr lang="en-US" sz="1400" b="1" baseline="0" dirty="0" smtClean="0">
                          <a:latin typeface="+mn-lt"/>
                        </a:rPr>
                        <a:t> Ups - Complete</a:t>
                      </a:r>
                    </a:p>
                    <a:p>
                      <a:pPr>
                        <a:defRPr/>
                      </a:pPr>
                      <a:r>
                        <a:rPr lang="en-US" sz="1400" b="1" baseline="0" dirty="0" smtClean="0">
                          <a:latin typeface="+mn-lt"/>
                        </a:rPr>
                        <a:t>CRP 1 (Vanilla System) - Complete</a:t>
                      </a:r>
                    </a:p>
                    <a:p>
                      <a:pPr>
                        <a:defRPr/>
                      </a:pPr>
                      <a:r>
                        <a:rPr lang="en-US" sz="1400" b="1" baseline="0" dirty="0" smtClean="0">
                          <a:latin typeface="+mn-lt"/>
                        </a:rPr>
                        <a:t>Bus Req.  Gap Analysis - Complete</a:t>
                      </a:r>
                    </a:p>
                    <a:p>
                      <a:pPr>
                        <a:defRPr/>
                      </a:pPr>
                      <a:r>
                        <a:rPr lang="en-US" sz="1400" b="1" baseline="0" dirty="0" smtClean="0">
                          <a:latin typeface="+mn-lt"/>
                        </a:rPr>
                        <a:t>CRP 2 (with Initial Customizations) - Complete</a:t>
                      </a:r>
                    </a:p>
                    <a:p>
                      <a:pPr>
                        <a:defRPr/>
                      </a:pPr>
                      <a:r>
                        <a:rPr lang="en-US" sz="1400" b="1" baseline="0" dirty="0" smtClean="0">
                          <a:latin typeface="+mn-lt"/>
                        </a:rPr>
                        <a:t>Primavera Interface -  Complete</a:t>
                      </a:r>
                    </a:p>
                    <a:p>
                      <a:pPr>
                        <a:defRPr/>
                      </a:pPr>
                      <a:r>
                        <a:rPr lang="en-US" sz="1400" b="1" baseline="0" dirty="0" smtClean="0">
                          <a:latin typeface="+mn-lt"/>
                        </a:rPr>
                        <a:t>Design and Build - In Progress</a:t>
                      </a:r>
                      <a:endParaRPr lang="en-US" sz="1400" b="1" dirty="0" smtClean="0">
                        <a:latin typeface="+mn-lt"/>
                      </a:endParaRPr>
                    </a:p>
                  </a:txBody>
                  <a:tcPr marL="90000" marR="90000" marT="54738" marB="46800" anchor="ctr"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solidFill>
                  </a:tcPr>
                </a:tc>
                <a:tc>
                  <a:txBody>
                    <a:bodyPr/>
                    <a:lstStyle/>
                    <a:p>
                      <a:pPr marL="342900" lvl="0" indent="-342900">
                        <a:buFont typeface="+mj-lt"/>
                        <a:buNone/>
                      </a:pPr>
                      <a:r>
                        <a:rPr lang="en-US" sz="1400" b="1" baseline="0" dirty="0" smtClean="0">
                          <a:latin typeface="+mn-lt"/>
                        </a:rPr>
                        <a:t>  </a:t>
                      </a:r>
                      <a:r>
                        <a:rPr lang="en-US" sz="1400" b="1" dirty="0" smtClean="0">
                          <a:latin typeface="+mn-lt"/>
                        </a:rPr>
                        <a:t>Scope - No change</a:t>
                      </a:r>
                    </a:p>
                    <a:p>
                      <a:pPr marL="342900" indent="-342900">
                        <a:buFont typeface="+mj-lt"/>
                        <a:buNone/>
                      </a:pPr>
                      <a:r>
                        <a:rPr lang="en-US" sz="1400" b="1" dirty="0" smtClean="0">
                          <a:solidFill>
                            <a:schemeClr val="tx1"/>
                          </a:solidFill>
                          <a:latin typeface="+mn-lt"/>
                        </a:rPr>
                        <a:t>  Schedule - Delay</a:t>
                      </a:r>
                      <a:r>
                        <a:rPr lang="en-US" sz="1400" b="1" baseline="0" dirty="0" smtClean="0">
                          <a:solidFill>
                            <a:schemeClr val="tx1"/>
                          </a:solidFill>
                          <a:latin typeface="+mn-lt"/>
                        </a:rPr>
                        <a:t> Mitigations In Progress</a:t>
                      </a:r>
                      <a:endParaRPr lang="en-US" sz="1400" dirty="0" smtClean="0">
                        <a:solidFill>
                          <a:schemeClr val="tx1"/>
                        </a:solidFill>
                        <a:latin typeface="+mn-lt"/>
                      </a:endParaRPr>
                    </a:p>
                    <a:p>
                      <a:pPr marL="342900" indent="-342900">
                        <a:buFont typeface="+mj-lt"/>
                        <a:buNone/>
                      </a:pPr>
                      <a:r>
                        <a:rPr lang="en-US" sz="1400" b="1" dirty="0" smtClean="0">
                          <a:latin typeface="+mn-lt"/>
                        </a:rPr>
                        <a:t>  </a:t>
                      </a:r>
                      <a:r>
                        <a:rPr lang="en-US" sz="1400" b="1" dirty="0" smtClean="0">
                          <a:solidFill>
                            <a:schemeClr val="tx1"/>
                          </a:solidFill>
                          <a:latin typeface="+mn-lt"/>
                        </a:rPr>
                        <a:t>Cost - No Change</a:t>
                      </a:r>
                    </a:p>
                    <a:p>
                      <a:pPr marL="342900" indent="-342900">
                        <a:buFont typeface="+mj-lt"/>
                        <a:buNone/>
                      </a:pPr>
                      <a:r>
                        <a:rPr lang="en-US" sz="1400" b="1" dirty="0" smtClean="0">
                          <a:solidFill>
                            <a:schemeClr val="tx1"/>
                          </a:solidFill>
                          <a:latin typeface="+mn-lt"/>
                        </a:rPr>
                        <a:t>  Project Overall –</a:t>
                      </a:r>
                      <a:r>
                        <a:rPr lang="en-US" sz="1400" b="1" baseline="0" dirty="0" smtClean="0">
                          <a:solidFill>
                            <a:schemeClr val="tx1"/>
                          </a:solidFill>
                          <a:latin typeface="+mn-lt"/>
                        </a:rPr>
                        <a:t> 4 Open SR’s, data cleaning / conversion and Training Material Development </a:t>
                      </a:r>
                      <a:endParaRPr kumimoji="0" lang="en-US" sz="1400" b="1" i="0" u="none" strike="noStrike" cap="none" normalizeH="0" baseline="0" dirty="0" smtClean="0">
                        <a:ln>
                          <a:noFill/>
                        </a:ln>
                        <a:solidFill>
                          <a:srgbClr val="FF0000"/>
                        </a:solidFill>
                        <a:effectLst/>
                        <a:latin typeface="+mn-lt"/>
                        <a:ea typeface="MS Gothic" pitchFamily="49" charset="-128"/>
                      </a:endParaRPr>
                    </a:p>
                  </a:txBody>
                  <a:tcPr marL="90000" marR="90000" marT="54738" marB="46800" horzOverflow="overflow">
                    <a:lnL w="12600" cap="flat" cmpd="sng" algn="ctr">
                      <a:solidFill>
                        <a:srgbClr val="3F3F3F"/>
                      </a:solidFill>
                      <a:prstDash val="solid"/>
                      <a:round/>
                      <a:headEnd type="none" w="med" len="med"/>
                      <a:tailEnd type="none" w="med" len="med"/>
                    </a:lnL>
                    <a:lnR w="12600" cap="flat" cmpd="sng" algn="ctr">
                      <a:solidFill>
                        <a:srgbClr val="3F3F3F"/>
                      </a:solidFill>
                      <a:prstDash val="solid"/>
                      <a:round/>
                      <a:headEnd type="none" w="med" len="med"/>
                      <a:tailEnd type="none" w="med" len="med"/>
                    </a:lnR>
                    <a:lnT w="12600" cap="flat" cmpd="sng" algn="ctr">
                      <a:solidFill>
                        <a:srgbClr val="3F3F3F"/>
                      </a:solidFill>
                      <a:prstDash val="solid"/>
                      <a:round/>
                      <a:headEnd type="none" w="med" len="med"/>
                      <a:tailEnd type="none" w="med" len="med"/>
                    </a:lnT>
                    <a:lnB w="12600" cap="flat" cmpd="sng" algn="ctr">
                      <a:solidFill>
                        <a:srgbClr val="3F3F3F"/>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Dashboard &lt;Option 3:  Alternate View&gt;</a:t>
            </a:r>
            <a:endParaRPr lang="en-US" dirty="0"/>
          </a:p>
        </p:txBody>
      </p:sp>
      <p:graphicFrame>
        <p:nvGraphicFramePr>
          <p:cNvPr id="3" name="Group 93"/>
          <p:cNvGraphicFramePr>
            <a:graphicFrameLocks/>
          </p:cNvGraphicFramePr>
          <p:nvPr/>
        </p:nvGraphicFramePr>
        <p:xfrm>
          <a:off x="1523999" y="1371600"/>
          <a:ext cx="3678238" cy="714376"/>
        </p:xfrm>
        <a:graphic>
          <a:graphicData uri="http://schemas.openxmlformats.org/drawingml/2006/table">
            <a:tbl>
              <a:tblPr/>
              <a:tblGrid>
                <a:gridCol w="1858963"/>
                <a:gridCol w="1819275"/>
              </a:tblGrid>
              <a:tr h="357188">
                <a:tc>
                  <a:txBody>
                    <a:bodyPr/>
                    <a:lstStyle/>
                    <a:p>
                      <a:pPr marL="236538" marR="0" lvl="0" indent="0" algn="l" defTabSz="914400" rtl="0" eaLnBrk="1" fontAlgn="base" latinLnBrk="0" hangingPunct="1">
                        <a:lnSpc>
                          <a:spcPct val="100000"/>
                        </a:lnSpc>
                        <a:spcBef>
                          <a:spcPct val="30000"/>
                        </a:spcBef>
                        <a:spcAft>
                          <a:spcPct val="0"/>
                        </a:spcAft>
                        <a:buClr>
                          <a:schemeClr val="tx2"/>
                        </a:buClr>
                        <a:buSzTx/>
                        <a:buFont typeface="Times"/>
                        <a:buNone/>
                        <a:tabLst/>
                      </a:pPr>
                      <a:r>
                        <a:rPr kumimoji="0" lang="en-US" sz="1400" b="1" i="0" u="none" strike="noStrike" cap="none" normalizeH="0" baseline="0" dirty="0" smtClean="0">
                          <a:ln>
                            <a:noFill/>
                          </a:ln>
                          <a:solidFill>
                            <a:schemeClr val="tx1"/>
                          </a:solidFill>
                          <a:effectLst/>
                          <a:latin typeface="+mn-lt"/>
                        </a:rPr>
                        <a:t>Status Color</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7188">
                <a:tc>
                  <a:txBody>
                    <a:bodyPr/>
                    <a:lstStyle/>
                    <a:p>
                      <a:pPr marL="236538" marR="0" lvl="0" indent="0" algn="l" defTabSz="914400" rtl="0" eaLnBrk="1" fontAlgn="base" latinLnBrk="0" hangingPunct="1">
                        <a:lnSpc>
                          <a:spcPct val="100000"/>
                        </a:lnSpc>
                        <a:spcBef>
                          <a:spcPct val="30000"/>
                        </a:spcBef>
                        <a:spcAft>
                          <a:spcPct val="0"/>
                        </a:spcAft>
                        <a:buClr>
                          <a:schemeClr val="tx2"/>
                        </a:buClr>
                        <a:buSzTx/>
                        <a:buFont typeface="Times"/>
                        <a:buNone/>
                        <a:tabLst/>
                      </a:pPr>
                      <a:r>
                        <a:rPr kumimoji="0" lang="en-US" sz="1400" b="1" i="0" u="none" strike="noStrike" cap="none" normalizeH="0" baseline="0" dirty="0" smtClean="0">
                          <a:ln>
                            <a:noFill/>
                          </a:ln>
                          <a:solidFill>
                            <a:schemeClr val="tx1"/>
                          </a:solidFill>
                          <a:effectLst/>
                          <a:latin typeface="+mn-lt"/>
                        </a:rPr>
                        <a:t>Status Month</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30000"/>
                        </a:spcBef>
                        <a:spcAft>
                          <a:spcPct val="0"/>
                        </a:spcAft>
                        <a:buClr>
                          <a:schemeClr val="tx2"/>
                        </a:buClr>
                        <a:buSzTx/>
                        <a:buFont typeface="Times"/>
                        <a:buNone/>
                        <a:tabLst/>
                      </a:pPr>
                      <a:r>
                        <a:rPr kumimoji="0" lang="en-US" sz="1400" b="0" i="0" u="none" strike="noStrike" cap="none" normalizeH="0" baseline="0" dirty="0" smtClean="0">
                          <a:ln>
                            <a:noFill/>
                          </a:ln>
                          <a:solidFill>
                            <a:schemeClr val="tx1"/>
                          </a:solidFill>
                          <a:effectLst/>
                          <a:latin typeface="+mn-lt"/>
                        </a:rPr>
                        <a:t>Month YYYY</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 name="Group 553"/>
          <p:cNvGraphicFramePr>
            <a:graphicFrameLocks noGrp="1"/>
          </p:cNvGraphicFramePr>
          <p:nvPr/>
        </p:nvGraphicFramePr>
        <p:xfrm>
          <a:off x="5321299" y="1368425"/>
          <a:ext cx="4776788" cy="2935290"/>
        </p:xfrm>
        <a:graphic>
          <a:graphicData uri="http://schemas.openxmlformats.org/drawingml/2006/table">
            <a:tbl>
              <a:tblPr/>
              <a:tblGrid>
                <a:gridCol w="1308100"/>
                <a:gridCol w="1174750"/>
                <a:gridCol w="1187450"/>
                <a:gridCol w="1106488"/>
              </a:tblGrid>
              <a:tr h="365125">
                <a:tc>
                  <a:txBody>
                    <a:bodyPr/>
                    <a:lstStyle/>
                    <a:p>
                      <a:pPr marL="0" marR="0" lvl="0" indent="0" algn="ctr" defTabSz="914400" rtl="0" eaLnBrk="1" fontAlgn="base" latinLnBrk="0" hangingPunct="1">
                        <a:lnSpc>
                          <a:spcPct val="100000"/>
                        </a:lnSpc>
                        <a:spcBef>
                          <a:spcPct val="30000"/>
                        </a:spcBef>
                        <a:spcAft>
                          <a:spcPct val="0"/>
                        </a:spcAft>
                        <a:buClr>
                          <a:schemeClr val="tx2"/>
                        </a:buClr>
                        <a:buSzTx/>
                        <a:buFont typeface="Times"/>
                        <a:buNone/>
                        <a:tabLst/>
                      </a:pPr>
                      <a:r>
                        <a:rPr kumimoji="0" lang="en-US" sz="1400" b="1" i="0" u="none" strike="noStrike" cap="none" normalizeH="0" baseline="0" dirty="0" smtClean="0">
                          <a:ln>
                            <a:noFill/>
                          </a:ln>
                          <a:solidFill>
                            <a:schemeClr val="tx1"/>
                          </a:solidFill>
                          <a:effectLst/>
                          <a:latin typeface="+mn-lt"/>
                        </a:rPr>
                        <a:t>Modules</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30000"/>
                        </a:spcBef>
                        <a:spcAft>
                          <a:spcPct val="0"/>
                        </a:spcAft>
                        <a:buClr>
                          <a:schemeClr val="tx2"/>
                        </a:buClr>
                        <a:buSzTx/>
                        <a:buFont typeface="Times"/>
                        <a:buNone/>
                        <a:tabLst/>
                      </a:pPr>
                      <a:r>
                        <a:rPr kumimoji="0" lang="en-US" sz="1400" b="1" i="0" u="none" strike="noStrike" cap="none" normalizeH="0" baseline="0" dirty="0" smtClean="0">
                          <a:ln>
                            <a:noFill/>
                          </a:ln>
                          <a:solidFill>
                            <a:schemeClr val="tx1"/>
                          </a:solidFill>
                          <a:effectLst/>
                          <a:latin typeface="+mn-lt"/>
                        </a:rPr>
                        <a:t>Jul 2012</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30000"/>
                        </a:spcBef>
                        <a:spcAft>
                          <a:spcPct val="0"/>
                        </a:spcAft>
                        <a:buClr>
                          <a:schemeClr val="tx2"/>
                        </a:buClr>
                        <a:buSzTx/>
                        <a:buFont typeface="Times"/>
                        <a:buNone/>
                        <a:tabLst/>
                      </a:pPr>
                      <a:r>
                        <a:rPr kumimoji="0" lang="en-US" sz="1400" b="1" i="0" u="none" strike="noStrike" cap="none" normalizeH="0" baseline="0" dirty="0" smtClean="0">
                          <a:ln>
                            <a:noFill/>
                          </a:ln>
                          <a:solidFill>
                            <a:schemeClr val="tx1"/>
                          </a:solidFill>
                          <a:effectLst/>
                          <a:latin typeface="+mn-lt"/>
                        </a:rPr>
                        <a:t>Aug 2012</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30000"/>
                        </a:spcBef>
                        <a:spcAft>
                          <a:spcPct val="0"/>
                        </a:spcAft>
                        <a:buClr>
                          <a:schemeClr val="tx2"/>
                        </a:buClr>
                        <a:buSzTx/>
                        <a:buFont typeface="Times"/>
                        <a:buNone/>
                        <a:tabLst/>
                      </a:pPr>
                      <a:r>
                        <a:rPr kumimoji="0" lang="en-US" sz="1400" b="1" i="0" u="none" strike="noStrike" cap="none" normalizeH="0" baseline="0" dirty="0" smtClean="0">
                          <a:ln>
                            <a:noFill/>
                          </a:ln>
                          <a:solidFill>
                            <a:schemeClr val="tx1"/>
                          </a:solidFill>
                          <a:effectLst/>
                          <a:latin typeface="+mn-lt"/>
                        </a:rPr>
                        <a:t>Sep 2012</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350838">
                <a:tc>
                  <a:txBody>
                    <a:bodyPr/>
                    <a:lstStyle/>
                    <a:p>
                      <a:pPr marL="0" marR="0" lvl="0" indent="0" algn="ctr" defTabSz="914400" rtl="0" eaLnBrk="1" fontAlgn="base" latinLnBrk="0" hangingPunct="1">
                        <a:lnSpc>
                          <a:spcPct val="100000"/>
                        </a:lnSpc>
                        <a:spcBef>
                          <a:spcPct val="30000"/>
                        </a:spcBef>
                        <a:spcAft>
                          <a:spcPct val="0"/>
                        </a:spcAft>
                        <a:buClr>
                          <a:schemeClr val="tx2"/>
                        </a:buClr>
                        <a:buSzTx/>
                        <a:buFont typeface="Times"/>
                        <a:buNone/>
                        <a:tabLst/>
                      </a:pPr>
                      <a:r>
                        <a:rPr kumimoji="0" lang="en-US" sz="1400" b="1" i="0" u="none" strike="noStrike" cap="none" normalizeH="0" baseline="0" dirty="0" smtClean="0">
                          <a:ln>
                            <a:noFill/>
                          </a:ln>
                          <a:solidFill>
                            <a:schemeClr val="tx1"/>
                          </a:solidFill>
                          <a:effectLst/>
                          <a:latin typeface="+mn-lt"/>
                        </a:rPr>
                        <a:t>PMT</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5288">
                <a:tc>
                  <a:txBody>
                    <a:bodyPr/>
                    <a:lstStyle/>
                    <a:p>
                      <a:pPr marL="0" marR="0" lvl="0" indent="0" algn="ctr" defTabSz="914400" rtl="0" eaLnBrk="1" fontAlgn="base" latinLnBrk="0" hangingPunct="1">
                        <a:lnSpc>
                          <a:spcPct val="100000"/>
                        </a:lnSpc>
                        <a:spcBef>
                          <a:spcPct val="30000"/>
                        </a:spcBef>
                        <a:spcAft>
                          <a:spcPct val="0"/>
                        </a:spcAft>
                        <a:buClr>
                          <a:schemeClr val="tx2"/>
                        </a:buClr>
                        <a:buSzTx/>
                        <a:buFont typeface="Times"/>
                        <a:buNone/>
                        <a:tabLst/>
                      </a:pPr>
                      <a:r>
                        <a:rPr kumimoji="0" lang="en-US" sz="1400" b="1" i="0" u="none" strike="noStrike" cap="none" normalizeH="0" baseline="0" dirty="0" smtClean="0">
                          <a:ln>
                            <a:noFill/>
                          </a:ln>
                          <a:solidFill>
                            <a:schemeClr val="tx1"/>
                          </a:solidFill>
                          <a:effectLst/>
                          <a:latin typeface="+mn-lt"/>
                        </a:rPr>
                        <a:t>BAT</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366713">
                <a:tc>
                  <a:txBody>
                    <a:bodyPr/>
                    <a:lstStyle/>
                    <a:p>
                      <a:pPr marL="0" marR="0" lvl="0" indent="0" algn="ctr" defTabSz="914400" rtl="0" eaLnBrk="1" fontAlgn="base" latinLnBrk="0" hangingPunct="1">
                        <a:lnSpc>
                          <a:spcPct val="100000"/>
                        </a:lnSpc>
                        <a:spcBef>
                          <a:spcPct val="30000"/>
                        </a:spcBef>
                        <a:spcAft>
                          <a:spcPct val="0"/>
                        </a:spcAft>
                        <a:buClr>
                          <a:schemeClr val="tx2"/>
                        </a:buClr>
                        <a:buSzTx/>
                        <a:buFont typeface="Times"/>
                        <a:buNone/>
                        <a:tabLst/>
                      </a:pPr>
                      <a:r>
                        <a:rPr kumimoji="0" lang="en-US" sz="1400" b="1" i="0" u="none" strike="noStrike" cap="none" normalizeH="0" baseline="0" dirty="0" smtClean="0">
                          <a:ln>
                            <a:noFill/>
                          </a:ln>
                          <a:solidFill>
                            <a:schemeClr val="tx1"/>
                          </a:solidFill>
                          <a:effectLst/>
                          <a:latin typeface="+mn-lt"/>
                        </a:rPr>
                        <a:t>Change</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6713">
                <a:tc>
                  <a:txBody>
                    <a:bodyPr/>
                    <a:lstStyle/>
                    <a:p>
                      <a:pPr marL="0" marR="0" lvl="0" indent="0" algn="ctr" defTabSz="914400" rtl="0" eaLnBrk="1" fontAlgn="base" latinLnBrk="0" hangingPunct="1">
                        <a:lnSpc>
                          <a:spcPct val="100000"/>
                        </a:lnSpc>
                        <a:spcBef>
                          <a:spcPct val="30000"/>
                        </a:spcBef>
                        <a:spcAft>
                          <a:spcPct val="0"/>
                        </a:spcAft>
                        <a:buClr>
                          <a:schemeClr val="tx2"/>
                        </a:buClr>
                        <a:buSzTx/>
                        <a:buFont typeface="Times"/>
                        <a:buNone/>
                        <a:tabLst/>
                      </a:pPr>
                      <a:r>
                        <a:rPr kumimoji="0" lang="en-US" sz="1400" b="1" i="0" u="none" strike="noStrike" cap="none" normalizeH="0" baseline="0" dirty="0" smtClean="0">
                          <a:ln>
                            <a:noFill/>
                          </a:ln>
                          <a:solidFill>
                            <a:schemeClr val="tx1"/>
                          </a:solidFill>
                          <a:effectLst/>
                          <a:latin typeface="+mn-lt"/>
                        </a:rPr>
                        <a:t>Financial</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365125">
                <a:tc>
                  <a:txBody>
                    <a:bodyPr/>
                    <a:lstStyle/>
                    <a:p>
                      <a:pPr marL="0" marR="0" lvl="0" indent="0" algn="ctr" defTabSz="914400" rtl="0" eaLnBrk="1" fontAlgn="base" latinLnBrk="0" hangingPunct="1">
                        <a:lnSpc>
                          <a:spcPct val="100000"/>
                        </a:lnSpc>
                        <a:spcBef>
                          <a:spcPct val="30000"/>
                        </a:spcBef>
                        <a:spcAft>
                          <a:spcPct val="0"/>
                        </a:spcAft>
                        <a:buClr>
                          <a:schemeClr val="tx2"/>
                        </a:buClr>
                        <a:buSzTx/>
                        <a:buFont typeface="Times"/>
                        <a:buNone/>
                        <a:tabLst/>
                      </a:pPr>
                      <a:r>
                        <a:rPr kumimoji="0" lang="en-US" sz="1400" b="1" i="0" u="none" strike="noStrike" cap="none" normalizeH="0" baseline="0" dirty="0" smtClean="0">
                          <a:ln>
                            <a:noFill/>
                          </a:ln>
                          <a:solidFill>
                            <a:schemeClr val="tx1"/>
                          </a:solidFill>
                          <a:effectLst/>
                          <a:latin typeface="+mn-lt"/>
                        </a:rPr>
                        <a:t>Technical</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0838">
                <a:tc>
                  <a:txBody>
                    <a:bodyPr/>
                    <a:lstStyle/>
                    <a:p>
                      <a:pPr marL="0" marR="0" lvl="0" indent="0" algn="ctr" defTabSz="914400" rtl="0" eaLnBrk="1" fontAlgn="base" latinLnBrk="0" hangingPunct="1">
                        <a:lnSpc>
                          <a:spcPct val="100000"/>
                        </a:lnSpc>
                        <a:spcBef>
                          <a:spcPct val="30000"/>
                        </a:spcBef>
                        <a:spcAft>
                          <a:spcPct val="0"/>
                        </a:spcAft>
                        <a:buClr>
                          <a:schemeClr val="tx2"/>
                        </a:buClr>
                        <a:buSzTx/>
                        <a:buFont typeface="Times"/>
                        <a:buNone/>
                        <a:tabLst/>
                      </a:pPr>
                      <a:r>
                        <a:rPr kumimoji="0" lang="en-US" sz="1400" b="1" i="0" u="none" strike="noStrike" cap="none" normalizeH="0" baseline="0" dirty="0" smtClean="0">
                          <a:ln>
                            <a:noFill/>
                          </a:ln>
                          <a:solidFill>
                            <a:schemeClr val="tx1"/>
                          </a:solidFill>
                          <a:effectLst/>
                          <a:latin typeface="+mn-lt"/>
                        </a:rPr>
                        <a:t>Risk/Issue</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374650">
                <a:tc>
                  <a:txBody>
                    <a:bodyPr/>
                    <a:lstStyle/>
                    <a:p>
                      <a:pPr marL="0" marR="0" lvl="0" indent="0" algn="ctr" defTabSz="914400" rtl="0" eaLnBrk="1" fontAlgn="base" latinLnBrk="0" hangingPunct="1">
                        <a:lnSpc>
                          <a:spcPct val="100000"/>
                        </a:lnSpc>
                        <a:spcBef>
                          <a:spcPct val="30000"/>
                        </a:spcBef>
                        <a:spcAft>
                          <a:spcPct val="0"/>
                        </a:spcAft>
                        <a:buClr>
                          <a:schemeClr val="tx2"/>
                        </a:buClr>
                        <a:buSzTx/>
                        <a:buFont typeface="Times"/>
                        <a:buNone/>
                        <a:tabLst/>
                      </a:pPr>
                      <a:r>
                        <a:rPr kumimoji="0" lang="en-US" sz="1400" b="1" i="0" u="none" strike="noStrike" cap="none" normalizeH="0" baseline="0" dirty="0" smtClean="0">
                          <a:ln>
                            <a:noFill/>
                          </a:ln>
                          <a:solidFill>
                            <a:schemeClr val="tx1"/>
                          </a:solidFill>
                          <a:effectLst/>
                          <a:latin typeface="+mn-lt"/>
                        </a:rPr>
                        <a:t>Budget</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5" name="Group 145"/>
          <p:cNvGrpSpPr>
            <a:grpSpLocks/>
          </p:cNvGrpSpPr>
          <p:nvPr/>
        </p:nvGrpSpPr>
        <p:grpSpPr bwMode="auto">
          <a:xfrm>
            <a:off x="6704012" y="2149475"/>
            <a:ext cx="993775" cy="295275"/>
            <a:chOff x="2016" y="1985"/>
            <a:chExt cx="626" cy="195"/>
          </a:xfrm>
        </p:grpSpPr>
        <p:sp>
          <p:nvSpPr>
            <p:cNvPr id="6" name="Oval 146"/>
            <p:cNvSpPr>
              <a:spLocks noChangeArrowheads="1"/>
            </p:cNvSpPr>
            <p:nvPr/>
          </p:nvSpPr>
          <p:spPr bwMode="auto">
            <a:xfrm>
              <a:off x="2016" y="1985"/>
              <a:ext cx="626" cy="189"/>
            </a:xfrm>
            <a:prstGeom prst="ellipse">
              <a:avLst/>
            </a:prstGeom>
            <a:solidFill>
              <a:srgbClr val="00FF00"/>
            </a:solidFill>
            <a:ln w="38100" cmpd="dbl" algn="ctr">
              <a:solidFill>
                <a:schemeClr val="hlink"/>
              </a:solidFill>
              <a:round/>
              <a:headEnd/>
              <a:tailEnd/>
            </a:ln>
          </p:spPr>
          <p:txBody>
            <a:bodyPr lIns="92075" tIns="46038" rIns="92075" bIns="46038" anchor="ctr">
              <a:spAutoFit/>
            </a:bodyPr>
            <a:lstStyle/>
            <a:p>
              <a:endParaRPr lang="en-US" dirty="0"/>
            </a:p>
          </p:txBody>
        </p:sp>
        <p:sp>
          <p:nvSpPr>
            <p:cNvPr id="7" name="Text Box 147"/>
            <p:cNvSpPr txBox="1">
              <a:spLocks noChangeArrowheads="1"/>
            </p:cNvSpPr>
            <p:nvPr/>
          </p:nvSpPr>
          <p:spPr bwMode="auto">
            <a:xfrm>
              <a:off x="2122" y="1992"/>
              <a:ext cx="407" cy="188"/>
            </a:xfrm>
            <a:prstGeom prst="rect">
              <a:avLst/>
            </a:prstGeom>
            <a:noFill/>
            <a:ln w="9525" algn="ctr">
              <a:noFill/>
              <a:miter lim="800000"/>
              <a:headEnd/>
              <a:tailEnd/>
            </a:ln>
          </p:spPr>
          <p:txBody>
            <a:bodyPr wrap="none" lIns="92075" tIns="46038" rIns="92075" bIns="46038">
              <a:spAutoFit/>
            </a:bodyPr>
            <a:lstStyle/>
            <a:p>
              <a:pPr marL="119063" indent="-119063"/>
              <a:r>
                <a:rPr lang="en-US" sz="1400" dirty="0"/>
                <a:t>Good</a:t>
              </a:r>
            </a:p>
          </p:txBody>
        </p:sp>
      </p:grpSp>
      <p:graphicFrame>
        <p:nvGraphicFramePr>
          <p:cNvPr id="8" name="Group 386"/>
          <p:cNvGraphicFramePr>
            <a:graphicFrameLocks noGrp="1"/>
          </p:cNvGraphicFramePr>
          <p:nvPr/>
        </p:nvGraphicFramePr>
        <p:xfrm>
          <a:off x="1522412" y="2224088"/>
          <a:ext cx="3675062" cy="1871668"/>
        </p:xfrm>
        <a:graphic>
          <a:graphicData uri="http://schemas.openxmlformats.org/drawingml/2006/table">
            <a:tbl>
              <a:tblPr/>
              <a:tblGrid>
                <a:gridCol w="3675062"/>
              </a:tblGrid>
              <a:tr h="211138">
                <a:tc>
                  <a:txBody>
                    <a:bodyPr/>
                    <a:lstStyle/>
                    <a:p>
                      <a:pPr marL="1028700" marR="0" lvl="0" indent="-914400" algn="l" defTabSz="914400" rtl="0" eaLnBrk="1" fontAlgn="base" latinLnBrk="0" hangingPunct="1">
                        <a:lnSpc>
                          <a:spcPct val="100000"/>
                        </a:lnSpc>
                        <a:spcBef>
                          <a:spcPct val="30000"/>
                        </a:spcBef>
                        <a:spcAft>
                          <a:spcPct val="0"/>
                        </a:spcAft>
                        <a:buClr>
                          <a:schemeClr val="tx2"/>
                        </a:buClr>
                        <a:buSzTx/>
                        <a:buFont typeface="Times"/>
                        <a:buNone/>
                        <a:tabLst/>
                      </a:pPr>
                      <a:r>
                        <a:rPr kumimoji="0" lang="en-US" sz="1400" b="1" i="0" u="none" strike="noStrike" cap="none" normalizeH="0" baseline="0" dirty="0" smtClean="0">
                          <a:ln>
                            <a:noFill/>
                          </a:ln>
                          <a:solidFill>
                            <a:schemeClr val="tx1"/>
                          </a:solidFill>
                          <a:effectLst/>
                          <a:latin typeface="+mn-lt"/>
                        </a:rPr>
                        <a:t>Month – Year Key Accomplishments</a:t>
                      </a:r>
                    </a:p>
                  </a:txBody>
                  <a:tcPr marL="92075" marR="92075" marT="46038" marB="4603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184150">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Times"/>
                        <a:buNone/>
                        <a:tabLst/>
                      </a:pPr>
                      <a:r>
                        <a:rPr kumimoji="0" lang="en-US" sz="1400" b="0" i="0" u="none" strike="noStrike" cap="none" normalizeH="0" baseline="0" dirty="0" smtClean="0">
                          <a:ln>
                            <a:noFill/>
                          </a:ln>
                          <a:solidFill>
                            <a:schemeClr val="tx1"/>
                          </a:solidFill>
                          <a:effectLst/>
                          <a:latin typeface="+mn-lt"/>
                        </a:rPr>
                        <a:t>Launched New Customer</a:t>
                      </a:r>
                    </a:p>
                  </a:txBody>
                  <a:tcPr marL="92075" marR="92075" marT="46038" marB="4603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4150">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Times"/>
                        <a:buNone/>
                        <a:tabLst/>
                      </a:pPr>
                      <a:r>
                        <a:rPr kumimoji="0" lang="en-US" sz="1400" b="0" i="0" u="none" strike="noStrike" cap="none" normalizeH="0" baseline="0" dirty="0" smtClean="0">
                          <a:ln>
                            <a:noFill/>
                          </a:ln>
                          <a:solidFill>
                            <a:schemeClr val="tx1"/>
                          </a:solidFill>
                          <a:effectLst/>
                          <a:latin typeface="+mn-lt"/>
                        </a:rPr>
                        <a:t>Structured/ Engaged Project Teams</a:t>
                      </a:r>
                    </a:p>
                  </a:txBody>
                  <a:tcPr marL="92075" marR="92075" marT="46038" marB="4603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4150">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Times"/>
                        <a:buNone/>
                        <a:tabLst/>
                      </a:pPr>
                      <a:r>
                        <a:rPr kumimoji="0" lang="en-US" sz="1400" b="0" i="0" u="none" strike="noStrike" cap="none" normalizeH="0" baseline="0" dirty="0" smtClean="0">
                          <a:ln>
                            <a:noFill/>
                          </a:ln>
                          <a:solidFill>
                            <a:schemeClr val="tx1"/>
                          </a:solidFill>
                          <a:effectLst/>
                          <a:latin typeface="+mn-lt"/>
                        </a:rPr>
                        <a:t>Project Charter &amp; Admin Processes</a:t>
                      </a:r>
                    </a:p>
                  </a:txBody>
                  <a:tcPr marL="92075" marR="92075" marT="46038" marB="4603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4150">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Times"/>
                        <a:buNone/>
                        <a:tabLst/>
                      </a:pPr>
                      <a:r>
                        <a:rPr kumimoji="0" lang="en-US" sz="1400" b="0" i="0" u="none" strike="noStrike" cap="none" normalizeH="0" baseline="0" dirty="0" smtClean="0">
                          <a:ln>
                            <a:noFill/>
                          </a:ln>
                          <a:solidFill>
                            <a:schemeClr val="tx1"/>
                          </a:solidFill>
                          <a:effectLst/>
                          <a:latin typeface="+mn-lt"/>
                        </a:rPr>
                        <a:t>Financial Orientation Training/ Workshops</a:t>
                      </a:r>
                    </a:p>
                  </a:txBody>
                  <a:tcPr marL="92075" marR="92075" marT="46038" marB="4603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4488">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Times"/>
                        <a:buNone/>
                        <a:tabLst/>
                      </a:pPr>
                      <a:r>
                        <a:rPr kumimoji="0" lang="en-US" sz="1400" b="0" i="0" u="none" strike="noStrike" cap="none" normalizeH="0" baseline="0" dirty="0" smtClean="0">
                          <a:ln>
                            <a:noFill/>
                          </a:ln>
                          <a:solidFill>
                            <a:schemeClr val="tx1"/>
                          </a:solidFill>
                          <a:effectLst/>
                          <a:latin typeface="+mn-lt"/>
                        </a:rPr>
                        <a:t>Hardware Ordered</a:t>
                      </a:r>
                    </a:p>
                  </a:txBody>
                  <a:tcPr marL="92075" marR="92075" marT="46038" marB="4603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9" name="Group 399"/>
          <p:cNvGraphicFramePr>
            <a:graphicFrameLocks noGrp="1"/>
          </p:cNvGraphicFramePr>
          <p:nvPr/>
        </p:nvGraphicFramePr>
        <p:xfrm>
          <a:off x="1522412" y="4211638"/>
          <a:ext cx="3671887" cy="1914530"/>
        </p:xfrm>
        <a:graphic>
          <a:graphicData uri="http://schemas.openxmlformats.org/drawingml/2006/table">
            <a:tbl>
              <a:tblPr/>
              <a:tblGrid>
                <a:gridCol w="3671887"/>
              </a:tblGrid>
              <a:tr h="277813">
                <a:tc>
                  <a:txBody>
                    <a:bodyPr/>
                    <a:lstStyle/>
                    <a:p>
                      <a:pPr marL="1028700" marR="0" lvl="0" indent="-914400" algn="l" defTabSz="914400" rtl="0" eaLnBrk="1" fontAlgn="base" latinLnBrk="0" hangingPunct="1">
                        <a:lnSpc>
                          <a:spcPct val="100000"/>
                        </a:lnSpc>
                        <a:spcBef>
                          <a:spcPct val="20000"/>
                        </a:spcBef>
                        <a:spcAft>
                          <a:spcPct val="0"/>
                        </a:spcAft>
                        <a:buClr>
                          <a:schemeClr val="tx2"/>
                        </a:buClr>
                        <a:buSzTx/>
                        <a:buFont typeface="Times"/>
                        <a:buNone/>
                        <a:tabLst/>
                      </a:pPr>
                      <a:r>
                        <a:rPr kumimoji="0" lang="en-US" sz="1400" b="1" i="0" u="none" strike="noStrike" cap="none" normalizeH="0" baseline="0" dirty="0" smtClean="0">
                          <a:ln>
                            <a:noFill/>
                          </a:ln>
                          <a:solidFill>
                            <a:schemeClr val="tx1"/>
                          </a:solidFill>
                          <a:effectLst/>
                          <a:latin typeface="+mn-lt"/>
                        </a:rPr>
                        <a:t>(Month – year)  Main Objectives</a:t>
                      </a:r>
                    </a:p>
                  </a:txBody>
                  <a:tcPr marL="92075" marR="92075" marT="46038" marB="4603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269875">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Times"/>
                        <a:buNone/>
                        <a:tabLst/>
                      </a:pPr>
                      <a:r>
                        <a:rPr kumimoji="0" lang="en-US" sz="1400" b="0" i="0" u="none" strike="noStrike" cap="none" normalizeH="0" baseline="0" dirty="0" smtClean="0">
                          <a:ln>
                            <a:noFill/>
                          </a:ln>
                          <a:solidFill>
                            <a:schemeClr val="tx1"/>
                          </a:solidFill>
                          <a:effectLst/>
                          <a:latin typeface="+mn-lt"/>
                        </a:rPr>
                        <a:t>Exadata Implementation Plan</a:t>
                      </a:r>
                    </a:p>
                  </a:txBody>
                  <a:tcPr marL="92075" marR="92075" marT="46038" marB="4603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6375">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Times"/>
                        <a:buNone/>
                        <a:tabLst/>
                      </a:pPr>
                      <a:r>
                        <a:rPr kumimoji="0" lang="en-US" sz="1400" b="0" i="0" u="none" strike="noStrike" cap="none" normalizeH="0" baseline="0" dirty="0" smtClean="0">
                          <a:ln>
                            <a:noFill/>
                          </a:ln>
                          <a:solidFill>
                            <a:schemeClr val="tx1"/>
                          </a:solidFill>
                          <a:effectLst/>
                          <a:latin typeface="+mn-lt"/>
                        </a:rPr>
                        <a:t>Technology Strategies/ Conversion Designs</a:t>
                      </a:r>
                    </a:p>
                  </a:txBody>
                  <a:tcPr marL="92075" marR="92075" marT="46038" marB="4603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4150">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Times"/>
                        <a:buNone/>
                        <a:tabLst/>
                      </a:pPr>
                      <a:r>
                        <a:rPr kumimoji="0" lang="en-US" sz="1400" b="0" i="0" u="none" strike="noStrike" cap="none" normalizeH="0" baseline="0" dirty="0" smtClean="0">
                          <a:ln>
                            <a:noFill/>
                          </a:ln>
                          <a:solidFill>
                            <a:schemeClr val="tx1"/>
                          </a:solidFill>
                          <a:effectLst/>
                          <a:latin typeface="+mn-lt"/>
                        </a:rPr>
                        <a:t>Develop Migration Plan</a:t>
                      </a:r>
                    </a:p>
                  </a:txBody>
                  <a:tcPr marL="92075" marR="92075" marT="46038" marB="4603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4150">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Times"/>
                        <a:buNone/>
                        <a:tabLst/>
                      </a:pPr>
                      <a:r>
                        <a:rPr kumimoji="0" lang="en-US" sz="1400" b="0" i="0" u="none" strike="noStrike" cap="none" normalizeH="0" baseline="0" dirty="0" smtClean="0">
                          <a:ln>
                            <a:noFill/>
                          </a:ln>
                          <a:solidFill>
                            <a:schemeClr val="tx1"/>
                          </a:solidFill>
                          <a:effectLst/>
                          <a:latin typeface="+mn-lt"/>
                        </a:rPr>
                        <a:t>Financial Conceptual Solution Design</a:t>
                      </a:r>
                    </a:p>
                  </a:txBody>
                  <a:tcPr marL="92075" marR="92075" marT="46038" marB="4603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7350">
                <a:tc>
                  <a:txBody>
                    <a:bodyPr/>
                    <a:lstStyle/>
                    <a:p>
                      <a:pPr marL="0" marR="0" lvl="0" indent="0" algn="l" defTabSz="914400" rtl="0" eaLnBrk="1" fontAlgn="base" latinLnBrk="0" hangingPunct="1">
                        <a:lnSpc>
                          <a:spcPct val="100000"/>
                        </a:lnSpc>
                        <a:spcBef>
                          <a:spcPct val="2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0" name="Group 560"/>
          <p:cNvGraphicFramePr>
            <a:graphicFrameLocks noGrp="1"/>
          </p:cNvGraphicFramePr>
          <p:nvPr/>
        </p:nvGraphicFramePr>
        <p:xfrm>
          <a:off x="5319712" y="4443413"/>
          <a:ext cx="4773612" cy="1052514"/>
        </p:xfrm>
        <a:graphic>
          <a:graphicData uri="http://schemas.openxmlformats.org/drawingml/2006/table">
            <a:tbl>
              <a:tblPr/>
              <a:tblGrid>
                <a:gridCol w="1306512"/>
                <a:gridCol w="1171575"/>
                <a:gridCol w="1190625"/>
                <a:gridCol w="1104900"/>
              </a:tblGrid>
              <a:tr h="338138">
                <a:tc>
                  <a:txBody>
                    <a:bodyPr/>
                    <a:lstStyle/>
                    <a:p>
                      <a:pPr marL="0" marR="0" lvl="0" indent="0" algn="ctr" defTabSz="914400" rtl="0" eaLnBrk="1" fontAlgn="base" latinLnBrk="0" hangingPunct="1">
                        <a:lnSpc>
                          <a:spcPct val="100000"/>
                        </a:lnSpc>
                        <a:spcBef>
                          <a:spcPct val="30000"/>
                        </a:spcBef>
                        <a:spcAft>
                          <a:spcPct val="0"/>
                        </a:spcAft>
                        <a:buClr>
                          <a:schemeClr val="tx2"/>
                        </a:buClr>
                        <a:buSzTx/>
                        <a:buFont typeface="Times"/>
                        <a:buNone/>
                        <a:tabLst/>
                      </a:pPr>
                      <a:r>
                        <a:rPr kumimoji="0" lang="en-US" sz="1400" b="1" i="0" u="none" strike="noStrike" cap="none" normalizeH="0" baseline="0" dirty="0" smtClean="0">
                          <a:ln>
                            <a:noFill/>
                          </a:ln>
                          <a:solidFill>
                            <a:schemeClr val="tx1"/>
                          </a:solidFill>
                          <a:effectLst/>
                          <a:latin typeface="+mn-lt"/>
                        </a:rPr>
                        <a:t>Funded</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30000"/>
                        </a:spcBef>
                        <a:spcAft>
                          <a:spcPct val="0"/>
                        </a:spcAft>
                        <a:buClr>
                          <a:schemeClr val="tx2"/>
                        </a:buClr>
                        <a:buSzTx/>
                        <a:buFont typeface="Times"/>
                        <a:buNone/>
                        <a:tabLst/>
                      </a:pPr>
                      <a:r>
                        <a:rPr kumimoji="0" lang="en-US" sz="1400" b="1" i="0" u="none" strike="noStrike" cap="none" normalizeH="0" baseline="0" dirty="0" smtClean="0">
                          <a:ln>
                            <a:noFill/>
                          </a:ln>
                          <a:solidFill>
                            <a:schemeClr val="tx1"/>
                          </a:solidFill>
                          <a:effectLst/>
                          <a:latin typeface="+mn-lt"/>
                        </a:rPr>
                        <a:t>Time</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30000"/>
                        </a:spcBef>
                        <a:spcAft>
                          <a:spcPct val="0"/>
                        </a:spcAft>
                        <a:buClr>
                          <a:schemeClr val="tx2"/>
                        </a:buClr>
                        <a:buSzTx/>
                        <a:buFont typeface="Times"/>
                        <a:buNone/>
                        <a:tabLst/>
                      </a:pPr>
                      <a:r>
                        <a:rPr kumimoji="0" lang="en-US" sz="1400" b="1" i="0" u="none" strike="noStrike" cap="none" normalizeH="0" baseline="0" dirty="0" smtClean="0">
                          <a:ln>
                            <a:noFill/>
                          </a:ln>
                          <a:solidFill>
                            <a:schemeClr val="tx1"/>
                          </a:solidFill>
                          <a:effectLst/>
                          <a:latin typeface="+mn-lt"/>
                        </a:rPr>
                        <a:t>Cost</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30000"/>
                        </a:spcBef>
                        <a:spcAft>
                          <a:spcPct val="0"/>
                        </a:spcAft>
                        <a:buClr>
                          <a:schemeClr val="tx2"/>
                        </a:buClr>
                        <a:buSzTx/>
                        <a:buFont typeface="Times"/>
                        <a:buNone/>
                        <a:tabLst/>
                      </a:pPr>
                      <a:r>
                        <a:rPr kumimoji="0" lang="en-US" sz="1400" b="1" i="0" u="none" strike="noStrike" cap="none" normalizeH="0" baseline="0" dirty="0" smtClean="0">
                          <a:ln>
                            <a:noFill/>
                          </a:ln>
                          <a:solidFill>
                            <a:schemeClr val="tx1"/>
                          </a:solidFill>
                          <a:effectLst/>
                          <a:latin typeface="+mn-lt"/>
                        </a:rPr>
                        <a:t>Staff</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334963">
                <a:tc>
                  <a:txBody>
                    <a:bodyPr/>
                    <a:lstStyle/>
                    <a:p>
                      <a:pPr marL="0" marR="0" lvl="0" indent="0" algn="ctr" defTabSz="914400" rtl="0" eaLnBrk="1" fontAlgn="base" latinLnBrk="0" hangingPunct="1">
                        <a:lnSpc>
                          <a:spcPct val="100000"/>
                        </a:lnSpc>
                        <a:spcBef>
                          <a:spcPct val="30000"/>
                        </a:spcBef>
                        <a:spcAft>
                          <a:spcPct val="0"/>
                        </a:spcAft>
                        <a:buClr>
                          <a:schemeClr val="tx2"/>
                        </a:buClr>
                        <a:buSzTx/>
                        <a:buFont typeface="Times"/>
                        <a:buNone/>
                        <a:tabLst/>
                      </a:pPr>
                      <a:r>
                        <a:rPr kumimoji="0" lang="en-US" sz="1400" b="1" i="0" u="none" strike="noStrike" cap="none" normalizeH="0" baseline="0" dirty="0" smtClean="0">
                          <a:ln>
                            <a:noFill/>
                          </a:ln>
                          <a:solidFill>
                            <a:schemeClr val="tx1"/>
                          </a:solidFill>
                          <a:effectLst/>
                          <a:latin typeface="+mn-lt"/>
                        </a:rPr>
                        <a:t>Fixed Price</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ctr" defTabSz="914400" rtl="0" eaLnBrk="1" fontAlgn="base" latinLnBrk="0" hangingPunct="1">
                        <a:lnSpc>
                          <a:spcPct val="100000"/>
                        </a:lnSpc>
                        <a:spcBef>
                          <a:spcPct val="30000"/>
                        </a:spcBef>
                        <a:spcAft>
                          <a:spcPct val="0"/>
                        </a:spcAft>
                        <a:buClr>
                          <a:schemeClr val="tx2"/>
                        </a:buClr>
                        <a:buSzTx/>
                        <a:buFont typeface="Times"/>
                        <a:buNone/>
                        <a:tabLst/>
                      </a:pPr>
                      <a:r>
                        <a:rPr kumimoji="0" lang="en-US" sz="1400" b="1" i="0" u="none" strike="noStrike" cap="none" normalizeH="0" baseline="0" dirty="0" smtClean="0">
                          <a:ln>
                            <a:noFill/>
                          </a:ln>
                          <a:solidFill>
                            <a:schemeClr val="tx1"/>
                          </a:solidFill>
                          <a:effectLst/>
                          <a:latin typeface="+mn-lt"/>
                        </a:rPr>
                        <a:t>Time &amp; Mtl.</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30000"/>
                        </a:spcBef>
                        <a:spcAft>
                          <a:spcPct val="0"/>
                        </a:spcAft>
                        <a:buClr>
                          <a:schemeClr val="tx2"/>
                        </a:buClr>
                        <a:buSzTx/>
                        <a:buFont typeface="Times"/>
                        <a:buNone/>
                        <a:tabLst/>
                      </a:pPr>
                      <a:endParaRPr kumimoji="0" lang="en-US" sz="1400" b="0" i="0" u="none" strike="noStrike" cap="none" normalizeH="0" baseline="0" dirty="0" smtClean="0">
                        <a:ln>
                          <a:noFill/>
                        </a:ln>
                        <a:solidFill>
                          <a:schemeClr val="tx1"/>
                        </a:solidFill>
                        <a:effectLst/>
                        <a:latin typeface="+mn-lt"/>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11" name="Group 525"/>
          <p:cNvGrpSpPr>
            <a:grpSpLocks/>
          </p:cNvGrpSpPr>
          <p:nvPr/>
        </p:nvGrpSpPr>
        <p:grpSpPr bwMode="auto">
          <a:xfrm>
            <a:off x="6700837" y="4805363"/>
            <a:ext cx="993775" cy="295275"/>
            <a:chOff x="2016" y="1985"/>
            <a:chExt cx="626" cy="195"/>
          </a:xfrm>
        </p:grpSpPr>
        <p:sp>
          <p:nvSpPr>
            <p:cNvPr id="12" name="Oval 526"/>
            <p:cNvSpPr>
              <a:spLocks noChangeArrowheads="1"/>
            </p:cNvSpPr>
            <p:nvPr/>
          </p:nvSpPr>
          <p:spPr bwMode="auto">
            <a:xfrm>
              <a:off x="2016" y="1985"/>
              <a:ext cx="626" cy="189"/>
            </a:xfrm>
            <a:prstGeom prst="ellipse">
              <a:avLst/>
            </a:prstGeom>
            <a:solidFill>
              <a:srgbClr val="00FF00"/>
            </a:solidFill>
            <a:ln w="38100" cmpd="dbl" algn="ctr">
              <a:solidFill>
                <a:schemeClr val="hlink"/>
              </a:solidFill>
              <a:round/>
              <a:headEnd/>
              <a:tailEnd/>
            </a:ln>
          </p:spPr>
          <p:txBody>
            <a:bodyPr lIns="92075" tIns="46038" rIns="92075" bIns="46038" anchor="ctr">
              <a:spAutoFit/>
            </a:bodyPr>
            <a:lstStyle/>
            <a:p>
              <a:endParaRPr lang="en-US" dirty="0"/>
            </a:p>
          </p:txBody>
        </p:sp>
        <p:sp>
          <p:nvSpPr>
            <p:cNvPr id="13" name="Text Box 527"/>
            <p:cNvSpPr txBox="1">
              <a:spLocks noChangeArrowheads="1"/>
            </p:cNvSpPr>
            <p:nvPr/>
          </p:nvSpPr>
          <p:spPr bwMode="auto">
            <a:xfrm>
              <a:off x="2122" y="1992"/>
              <a:ext cx="407" cy="188"/>
            </a:xfrm>
            <a:prstGeom prst="rect">
              <a:avLst/>
            </a:prstGeom>
            <a:noFill/>
            <a:ln w="9525" algn="ctr">
              <a:noFill/>
              <a:miter lim="800000"/>
              <a:headEnd/>
              <a:tailEnd/>
            </a:ln>
          </p:spPr>
          <p:txBody>
            <a:bodyPr wrap="none" lIns="92075" tIns="46038" rIns="92075" bIns="46038">
              <a:spAutoFit/>
            </a:bodyPr>
            <a:lstStyle/>
            <a:p>
              <a:pPr marL="119063" indent="-119063"/>
              <a:r>
                <a:rPr lang="en-US" sz="1400" dirty="0"/>
                <a:t>Good</a:t>
              </a:r>
            </a:p>
          </p:txBody>
        </p:sp>
      </p:grpSp>
      <p:grpSp>
        <p:nvGrpSpPr>
          <p:cNvPr id="16" name="Group 145"/>
          <p:cNvGrpSpPr>
            <a:grpSpLocks/>
          </p:cNvGrpSpPr>
          <p:nvPr/>
        </p:nvGrpSpPr>
        <p:grpSpPr bwMode="auto">
          <a:xfrm>
            <a:off x="3733799" y="1371600"/>
            <a:ext cx="993775" cy="295275"/>
            <a:chOff x="2016" y="1985"/>
            <a:chExt cx="626" cy="195"/>
          </a:xfrm>
        </p:grpSpPr>
        <p:sp>
          <p:nvSpPr>
            <p:cNvPr id="17" name="Oval 146"/>
            <p:cNvSpPr>
              <a:spLocks noChangeArrowheads="1"/>
            </p:cNvSpPr>
            <p:nvPr/>
          </p:nvSpPr>
          <p:spPr bwMode="auto">
            <a:xfrm>
              <a:off x="2016" y="1985"/>
              <a:ext cx="626" cy="189"/>
            </a:xfrm>
            <a:prstGeom prst="ellipse">
              <a:avLst/>
            </a:prstGeom>
            <a:solidFill>
              <a:srgbClr val="00FF00"/>
            </a:solidFill>
            <a:ln w="38100" cmpd="dbl" algn="ctr">
              <a:solidFill>
                <a:schemeClr val="hlink"/>
              </a:solidFill>
              <a:round/>
              <a:headEnd/>
              <a:tailEnd/>
            </a:ln>
          </p:spPr>
          <p:txBody>
            <a:bodyPr lIns="92075" tIns="46038" rIns="92075" bIns="46038" anchor="ctr">
              <a:spAutoFit/>
            </a:bodyPr>
            <a:lstStyle/>
            <a:p>
              <a:endParaRPr lang="en-US" dirty="0"/>
            </a:p>
          </p:txBody>
        </p:sp>
        <p:sp>
          <p:nvSpPr>
            <p:cNvPr id="18" name="Text Box 147"/>
            <p:cNvSpPr txBox="1">
              <a:spLocks noChangeArrowheads="1"/>
            </p:cNvSpPr>
            <p:nvPr/>
          </p:nvSpPr>
          <p:spPr bwMode="auto">
            <a:xfrm>
              <a:off x="2122" y="1992"/>
              <a:ext cx="407" cy="188"/>
            </a:xfrm>
            <a:prstGeom prst="rect">
              <a:avLst/>
            </a:prstGeom>
            <a:noFill/>
            <a:ln w="9525" algn="ctr">
              <a:noFill/>
              <a:miter lim="800000"/>
              <a:headEnd/>
              <a:tailEnd/>
            </a:ln>
          </p:spPr>
          <p:txBody>
            <a:bodyPr wrap="none" lIns="92075" tIns="46038" rIns="92075" bIns="46038">
              <a:spAutoFit/>
            </a:bodyPr>
            <a:lstStyle/>
            <a:p>
              <a:pPr marL="119063" indent="-119063"/>
              <a:r>
                <a:rPr lang="en-US" sz="1400" dirty="0"/>
                <a:t>Good</a:t>
              </a:r>
            </a:p>
          </p:txBody>
        </p:sp>
      </p:grpSp>
      <p:sp>
        <p:nvSpPr>
          <p:cNvPr id="19" name="Oval 242"/>
          <p:cNvSpPr>
            <a:spLocks noChangeArrowheads="1"/>
          </p:cNvSpPr>
          <p:nvPr/>
        </p:nvSpPr>
        <p:spPr bwMode="auto">
          <a:xfrm>
            <a:off x="10510837" y="2122488"/>
            <a:ext cx="993775" cy="300037"/>
          </a:xfrm>
          <a:prstGeom prst="ellipse">
            <a:avLst/>
          </a:prstGeom>
          <a:solidFill>
            <a:srgbClr val="FF0000"/>
          </a:solidFill>
          <a:ln w="38100" cmpd="dbl" algn="ctr">
            <a:solidFill>
              <a:schemeClr val="hlink"/>
            </a:solidFill>
            <a:round/>
            <a:headEnd/>
            <a:tailEnd/>
          </a:ln>
        </p:spPr>
        <p:txBody>
          <a:bodyPr lIns="92075" tIns="46038" rIns="92075" bIns="46038" anchor="ctr">
            <a:spAutoFit/>
          </a:bodyPr>
          <a:lstStyle/>
          <a:p>
            <a:endParaRPr lang="en-US" dirty="0"/>
          </a:p>
        </p:txBody>
      </p:sp>
      <p:sp>
        <p:nvSpPr>
          <p:cNvPr id="20" name="Text Box 243"/>
          <p:cNvSpPr txBox="1">
            <a:spLocks noChangeArrowheads="1"/>
          </p:cNvSpPr>
          <p:nvPr/>
        </p:nvSpPr>
        <p:spPr bwMode="auto">
          <a:xfrm>
            <a:off x="10728324" y="2133600"/>
            <a:ext cx="547688" cy="284163"/>
          </a:xfrm>
          <a:prstGeom prst="rect">
            <a:avLst/>
          </a:prstGeom>
          <a:noFill/>
          <a:ln w="9525" algn="ctr">
            <a:noFill/>
            <a:miter lim="800000"/>
            <a:headEnd/>
            <a:tailEnd/>
          </a:ln>
        </p:spPr>
        <p:txBody>
          <a:bodyPr wrap="none" lIns="92075" tIns="46038" rIns="92075" bIns="46038">
            <a:spAutoFit/>
          </a:bodyPr>
          <a:lstStyle/>
          <a:p>
            <a:pPr marL="119063" indent="-119063"/>
            <a:r>
              <a:rPr lang="en-US" sz="1400" dirty="0"/>
              <a:t>Late</a:t>
            </a:r>
          </a:p>
        </p:txBody>
      </p:sp>
      <p:grpSp>
        <p:nvGrpSpPr>
          <p:cNvPr id="21" name="Group 145"/>
          <p:cNvGrpSpPr>
            <a:grpSpLocks/>
          </p:cNvGrpSpPr>
          <p:nvPr/>
        </p:nvGrpSpPr>
        <p:grpSpPr bwMode="auto">
          <a:xfrm>
            <a:off x="6704012" y="1752600"/>
            <a:ext cx="993775" cy="295275"/>
            <a:chOff x="2016" y="1985"/>
            <a:chExt cx="626" cy="195"/>
          </a:xfrm>
        </p:grpSpPr>
        <p:sp>
          <p:nvSpPr>
            <p:cNvPr id="22" name="Oval 146"/>
            <p:cNvSpPr>
              <a:spLocks noChangeArrowheads="1"/>
            </p:cNvSpPr>
            <p:nvPr/>
          </p:nvSpPr>
          <p:spPr bwMode="auto">
            <a:xfrm>
              <a:off x="2016" y="1985"/>
              <a:ext cx="626" cy="189"/>
            </a:xfrm>
            <a:prstGeom prst="ellipse">
              <a:avLst/>
            </a:prstGeom>
            <a:solidFill>
              <a:srgbClr val="00FF00"/>
            </a:solidFill>
            <a:ln w="38100" cmpd="dbl" algn="ctr">
              <a:solidFill>
                <a:schemeClr val="hlink"/>
              </a:solidFill>
              <a:round/>
              <a:headEnd/>
              <a:tailEnd/>
            </a:ln>
          </p:spPr>
          <p:txBody>
            <a:bodyPr lIns="92075" tIns="46038" rIns="92075" bIns="46038" anchor="ctr">
              <a:spAutoFit/>
            </a:bodyPr>
            <a:lstStyle/>
            <a:p>
              <a:endParaRPr lang="en-US" dirty="0"/>
            </a:p>
          </p:txBody>
        </p:sp>
        <p:sp>
          <p:nvSpPr>
            <p:cNvPr id="23" name="Text Box 147"/>
            <p:cNvSpPr txBox="1">
              <a:spLocks noChangeArrowheads="1"/>
            </p:cNvSpPr>
            <p:nvPr/>
          </p:nvSpPr>
          <p:spPr bwMode="auto">
            <a:xfrm>
              <a:off x="2122" y="1992"/>
              <a:ext cx="407" cy="188"/>
            </a:xfrm>
            <a:prstGeom prst="rect">
              <a:avLst/>
            </a:prstGeom>
            <a:noFill/>
            <a:ln w="9525" algn="ctr">
              <a:noFill/>
              <a:miter lim="800000"/>
              <a:headEnd/>
              <a:tailEnd/>
            </a:ln>
          </p:spPr>
          <p:txBody>
            <a:bodyPr wrap="none" lIns="92075" tIns="46038" rIns="92075" bIns="46038">
              <a:spAutoFit/>
            </a:bodyPr>
            <a:lstStyle/>
            <a:p>
              <a:pPr marL="119063" indent="-119063"/>
              <a:r>
                <a:rPr lang="en-US" sz="1400" dirty="0"/>
                <a:t>Good</a:t>
              </a:r>
            </a:p>
          </p:txBody>
        </p:sp>
      </p:grpSp>
      <p:grpSp>
        <p:nvGrpSpPr>
          <p:cNvPr id="24" name="Group 145"/>
          <p:cNvGrpSpPr>
            <a:grpSpLocks/>
          </p:cNvGrpSpPr>
          <p:nvPr/>
        </p:nvGrpSpPr>
        <p:grpSpPr bwMode="auto">
          <a:xfrm>
            <a:off x="7920037" y="2133600"/>
            <a:ext cx="993775" cy="295275"/>
            <a:chOff x="2016" y="1985"/>
            <a:chExt cx="626" cy="195"/>
          </a:xfrm>
        </p:grpSpPr>
        <p:sp>
          <p:nvSpPr>
            <p:cNvPr id="25" name="Oval 146"/>
            <p:cNvSpPr>
              <a:spLocks noChangeArrowheads="1"/>
            </p:cNvSpPr>
            <p:nvPr/>
          </p:nvSpPr>
          <p:spPr bwMode="auto">
            <a:xfrm>
              <a:off x="2016" y="1985"/>
              <a:ext cx="626" cy="189"/>
            </a:xfrm>
            <a:prstGeom prst="ellipse">
              <a:avLst/>
            </a:prstGeom>
            <a:solidFill>
              <a:srgbClr val="00FF00"/>
            </a:solidFill>
            <a:ln w="38100" cmpd="dbl" algn="ctr">
              <a:solidFill>
                <a:schemeClr val="hlink"/>
              </a:solidFill>
              <a:round/>
              <a:headEnd/>
              <a:tailEnd/>
            </a:ln>
          </p:spPr>
          <p:txBody>
            <a:bodyPr lIns="92075" tIns="46038" rIns="92075" bIns="46038" anchor="ctr">
              <a:spAutoFit/>
            </a:bodyPr>
            <a:lstStyle/>
            <a:p>
              <a:endParaRPr lang="en-US" dirty="0"/>
            </a:p>
          </p:txBody>
        </p:sp>
        <p:sp>
          <p:nvSpPr>
            <p:cNvPr id="26" name="Text Box 147"/>
            <p:cNvSpPr txBox="1">
              <a:spLocks noChangeArrowheads="1"/>
            </p:cNvSpPr>
            <p:nvPr/>
          </p:nvSpPr>
          <p:spPr bwMode="auto">
            <a:xfrm>
              <a:off x="2122" y="1992"/>
              <a:ext cx="407" cy="188"/>
            </a:xfrm>
            <a:prstGeom prst="rect">
              <a:avLst/>
            </a:prstGeom>
            <a:noFill/>
            <a:ln w="9525" algn="ctr">
              <a:noFill/>
              <a:miter lim="800000"/>
              <a:headEnd/>
              <a:tailEnd/>
            </a:ln>
          </p:spPr>
          <p:txBody>
            <a:bodyPr wrap="none" lIns="92075" tIns="46038" rIns="92075" bIns="46038">
              <a:spAutoFit/>
            </a:bodyPr>
            <a:lstStyle/>
            <a:p>
              <a:pPr marL="119063" indent="-119063"/>
              <a:r>
                <a:rPr lang="en-US" sz="1400" dirty="0"/>
                <a:t>Good</a:t>
              </a:r>
            </a:p>
          </p:txBody>
        </p:sp>
      </p:grpSp>
      <p:grpSp>
        <p:nvGrpSpPr>
          <p:cNvPr id="27" name="Group 145"/>
          <p:cNvGrpSpPr>
            <a:grpSpLocks/>
          </p:cNvGrpSpPr>
          <p:nvPr/>
        </p:nvGrpSpPr>
        <p:grpSpPr bwMode="auto">
          <a:xfrm>
            <a:off x="7920037" y="1752600"/>
            <a:ext cx="993775" cy="295275"/>
            <a:chOff x="2016" y="1985"/>
            <a:chExt cx="626" cy="195"/>
          </a:xfrm>
        </p:grpSpPr>
        <p:sp>
          <p:nvSpPr>
            <p:cNvPr id="28" name="Oval 146"/>
            <p:cNvSpPr>
              <a:spLocks noChangeArrowheads="1"/>
            </p:cNvSpPr>
            <p:nvPr/>
          </p:nvSpPr>
          <p:spPr bwMode="auto">
            <a:xfrm>
              <a:off x="2016" y="1985"/>
              <a:ext cx="626" cy="189"/>
            </a:xfrm>
            <a:prstGeom prst="ellipse">
              <a:avLst/>
            </a:prstGeom>
            <a:solidFill>
              <a:srgbClr val="00FF00"/>
            </a:solidFill>
            <a:ln w="38100" cmpd="dbl" algn="ctr">
              <a:solidFill>
                <a:schemeClr val="hlink"/>
              </a:solidFill>
              <a:round/>
              <a:headEnd/>
              <a:tailEnd/>
            </a:ln>
          </p:spPr>
          <p:txBody>
            <a:bodyPr lIns="92075" tIns="46038" rIns="92075" bIns="46038" anchor="ctr">
              <a:spAutoFit/>
            </a:bodyPr>
            <a:lstStyle/>
            <a:p>
              <a:endParaRPr lang="en-US" dirty="0"/>
            </a:p>
          </p:txBody>
        </p:sp>
        <p:sp>
          <p:nvSpPr>
            <p:cNvPr id="29" name="Text Box 147"/>
            <p:cNvSpPr txBox="1">
              <a:spLocks noChangeArrowheads="1"/>
            </p:cNvSpPr>
            <p:nvPr/>
          </p:nvSpPr>
          <p:spPr bwMode="auto">
            <a:xfrm>
              <a:off x="2122" y="1992"/>
              <a:ext cx="407" cy="188"/>
            </a:xfrm>
            <a:prstGeom prst="rect">
              <a:avLst/>
            </a:prstGeom>
            <a:noFill/>
            <a:ln w="9525" algn="ctr">
              <a:noFill/>
              <a:miter lim="800000"/>
              <a:headEnd/>
              <a:tailEnd/>
            </a:ln>
          </p:spPr>
          <p:txBody>
            <a:bodyPr wrap="none" lIns="92075" tIns="46038" rIns="92075" bIns="46038">
              <a:spAutoFit/>
            </a:bodyPr>
            <a:lstStyle/>
            <a:p>
              <a:pPr marL="119063" indent="-119063"/>
              <a:r>
                <a:rPr lang="en-US" sz="1400" dirty="0"/>
                <a:t>Good</a:t>
              </a:r>
            </a:p>
          </p:txBody>
        </p:sp>
      </p:grpSp>
      <p:grpSp>
        <p:nvGrpSpPr>
          <p:cNvPr id="30" name="Group 145"/>
          <p:cNvGrpSpPr>
            <a:grpSpLocks/>
          </p:cNvGrpSpPr>
          <p:nvPr/>
        </p:nvGrpSpPr>
        <p:grpSpPr bwMode="auto">
          <a:xfrm>
            <a:off x="7920037" y="2524125"/>
            <a:ext cx="993775" cy="295275"/>
            <a:chOff x="2016" y="1985"/>
            <a:chExt cx="626" cy="195"/>
          </a:xfrm>
        </p:grpSpPr>
        <p:sp>
          <p:nvSpPr>
            <p:cNvPr id="31" name="Oval 146"/>
            <p:cNvSpPr>
              <a:spLocks noChangeArrowheads="1"/>
            </p:cNvSpPr>
            <p:nvPr/>
          </p:nvSpPr>
          <p:spPr bwMode="auto">
            <a:xfrm>
              <a:off x="2016" y="1985"/>
              <a:ext cx="626" cy="189"/>
            </a:xfrm>
            <a:prstGeom prst="ellipse">
              <a:avLst/>
            </a:prstGeom>
            <a:solidFill>
              <a:srgbClr val="00FF00"/>
            </a:solidFill>
            <a:ln w="38100" cmpd="dbl" algn="ctr">
              <a:solidFill>
                <a:schemeClr val="hlink"/>
              </a:solidFill>
              <a:round/>
              <a:headEnd/>
              <a:tailEnd/>
            </a:ln>
          </p:spPr>
          <p:txBody>
            <a:bodyPr lIns="92075" tIns="46038" rIns="92075" bIns="46038" anchor="ctr">
              <a:spAutoFit/>
            </a:bodyPr>
            <a:lstStyle/>
            <a:p>
              <a:endParaRPr lang="en-US" dirty="0"/>
            </a:p>
          </p:txBody>
        </p:sp>
        <p:sp>
          <p:nvSpPr>
            <p:cNvPr id="32" name="Text Box 147"/>
            <p:cNvSpPr txBox="1">
              <a:spLocks noChangeArrowheads="1"/>
            </p:cNvSpPr>
            <p:nvPr/>
          </p:nvSpPr>
          <p:spPr bwMode="auto">
            <a:xfrm>
              <a:off x="2122" y="1992"/>
              <a:ext cx="407" cy="188"/>
            </a:xfrm>
            <a:prstGeom prst="rect">
              <a:avLst/>
            </a:prstGeom>
            <a:noFill/>
            <a:ln w="9525" algn="ctr">
              <a:noFill/>
              <a:miter lim="800000"/>
              <a:headEnd/>
              <a:tailEnd/>
            </a:ln>
          </p:spPr>
          <p:txBody>
            <a:bodyPr wrap="none" lIns="92075" tIns="46038" rIns="92075" bIns="46038">
              <a:spAutoFit/>
            </a:bodyPr>
            <a:lstStyle/>
            <a:p>
              <a:pPr marL="119063" indent="-119063"/>
              <a:r>
                <a:rPr lang="en-US" sz="1400" dirty="0"/>
                <a:t>Good</a:t>
              </a:r>
            </a:p>
          </p:txBody>
        </p:sp>
      </p:grpSp>
      <p:grpSp>
        <p:nvGrpSpPr>
          <p:cNvPr id="33" name="Group 145"/>
          <p:cNvGrpSpPr>
            <a:grpSpLocks/>
          </p:cNvGrpSpPr>
          <p:nvPr/>
        </p:nvGrpSpPr>
        <p:grpSpPr bwMode="auto">
          <a:xfrm>
            <a:off x="6704012" y="2905125"/>
            <a:ext cx="993775" cy="295275"/>
            <a:chOff x="2016" y="1985"/>
            <a:chExt cx="626" cy="195"/>
          </a:xfrm>
        </p:grpSpPr>
        <p:sp>
          <p:nvSpPr>
            <p:cNvPr id="34" name="Oval 146"/>
            <p:cNvSpPr>
              <a:spLocks noChangeArrowheads="1"/>
            </p:cNvSpPr>
            <p:nvPr/>
          </p:nvSpPr>
          <p:spPr bwMode="auto">
            <a:xfrm>
              <a:off x="2016" y="1985"/>
              <a:ext cx="626" cy="189"/>
            </a:xfrm>
            <a:prstGeom prst="ellipse">
              <a:avLst/>
            </a:prstGeom>
            <a:solidFill>
              <a:srgbClr val="00FF00"/>
            </a:solidFill>
            <a:ln w="38100" cmpd="dbl" algn="ctr">
              <a:solidFill>
                <a:schemeClr val="hlink"/>
              </a:solidFill>
              <a:round/>
              <a:headEnd/>
              <a:tailEnd/>
            </a:ln>
          </p:spPr>
          <p:txBody>
            <a:bodyPr lIns="92075" tIns="46038" rIns="92075" bIns="46038" anchor="ctr">
              <a:spAutoFit/>
            </a:bodyPr>
            <a:lstStyle/>
            <a:p>
              <a:endParaRPr lang="en-US" dirty="0"/>
            </a:p>
          </p:txBody>
        </p:sp>
        <p:sp>
          <p:nvSpPr>
            <p:cNvPr id="35" name="Text Box 147"/>
            <p:cNvSpPr txBox="1">
              <a:spLocks noChangeArrowheads="1"/>
            </p:cNvSpPr>
            <p:nvPr/>
          </p:nvSpPr>
          <p:spPr bwMode="auto">
            <a:xfrm>
              <a:off x="2122" y="1992"/>
              <a:ext cx="407" cy="188"/>
            </a:xfrm>
            <a:prstGeom prst="rect">
              <a:avLst/>
            </a:prstGeom>
            <a:noFill/>
            <a:ln w="9525" algn="ctr">
              <a:noFill/>
              <a:miter lim="800000"/>
              <a:headEnd/>
              <a:tailEnd/>
            </a:ln>
          </p:spPr>
          <p:txBody>
            <a:bodyPr wrap="none" lIns="92075" tIns="46038" rIns="92075" bIns="46038">
              <a:spAutoFit/>
            </a:bodyPr>
            <a:lstStyle/>
            <a:p>
              <a:pPr marL="119063" indent="-119063"/>
              <a:r>
                <a:rPr lang="en-US" sz="1400" dirty="0"/>
                <a:t>Good</a:t>
              </a:r>
            </a:p>
          </p:txBody>
        </p:sp>
      </p:grpSp>
      <p:grpSp>
        <p:nvGrpSpPr>
          <p:cNvPr id="36" name="Group 145"/>
          <p:cNvGrpSpPr>
            <a:grpSpLocks/>
          </p:cNvGrpSpPr>
          <p:nvPr/>
        </p:nvGrpSpPr>
        <p:grpSpPr bwMode="auto">
          <a:xfrm>
            <a:off x="6704012" y="3286125"/>
            <a:ext cx="993775" cy="295275"/>
            <a:chOff x="2016" y="1985"/>
            <a:chExt cx="626" cy="195"/>
          </a:xfrm>
        </p:grpSpPr>
        <p:sp>
          <p:nvSpPr>
            <p:cNvPr id="37" name="Oval 146"/>
            <p:cNvSpPr>
              <a:spLocks noChangeArrowheads="1"/>
            </p:cNvSpPr>
            <p:nvPr/>
          </p:nvSpPr>
          <p:spPr bwMode="auto">
            <a:xfrm>
              <a:off x="2016" y="1985"/>
              <a:ext cx="626" cy="189"/>
            </a:xfrm>
            <a:prstGeom prst="ellipse">
              <a:avLst/>
            </a:prstGeom>
            <a:solidFill>
              <a:srgbClr val="00FF00"/>
            </a:solidFill>
            <a:ln w="38100" cmpd="dbl" algn="ctr">
              <a:solidFill>
                <a:schemeClr val="hlink"/>
              </a:solidFill>
              <a:round/>
              <a:headEnd/>
              <a:tailEnd/>
            </a:ln>
          </p:spPr>
          <p:txBody>
            <a:bodyPr lIns="92075" tIns="46038" rIns="92075" bIns="46038" anchor="ctr">
              <a:spAutoFit/>
            </a:bodyPr>
            <a:lstStyle/>
            <a:p>
              <a:endParaRPr lang="en-US" dirty="0"/>
            </a:p>
          </p:txBody>
        </p:sp>
        <p:sp>
          <p:nvSpPr>
            <p:cNvPr id="38" name="Text Box 147"/>
            <p:cNvSpPr txBox="1">
              <a:spLocks noChangeArrowheads="1"/>
            </p:cNvSpPr>
            <p:nvPr/>
          </p:nvSpPr>
          <p:spPr bwMode="auto">
            <a:xfrm>
              <a:off x="2122" y="1992"/>
              <a:ext cx="407" cy="188"/>
            </a:xfrm>
            <a:prstGeom prst="rect">
              <a:avLst/>
            </a:prstGeom>
            <a:noFill/>
            <a:ln w="9525" algn="ctr">
              <a:noFill/>
              <a:miter lim="800000"/>
              <a:headEnd/>
              <a:tailEnd/>
            </a:ln>
          </p:spPr>
          <p:txBody>
            <a:bodyPr wrap="none" lIns="92075" tIns="46038" rIns="92075" bIns="46038">
              <a:spAutoFit/>
            </a:bodyPr>
            <a:lstStyle/>
            <a:p>
              <a:pPr marL="119063" indent="-119063"/>
              <a:r>
                <a:rPr lang="en-US" sz="1400" dirty="0"/>
                <a:t>Good</a:t>
              </a:r>
            </a:p>
          </p:txBody>
        </p:sp>
      </p:grpSp>
      <p:grpSp>
        <p:nvGrpSpPr>
          <p:cNvPr id="39" name="Group 145"/>
          <p:cNvGrpSpPr>
            <a:grpSpLocks/>
          </p:cNvGrpSpPr>
          <p:nvPr/>
        </p:nvGrpSpPr>
        <p:grpSpPr bwMode="auto">
          <a:xfrm>
            <a:off x="7920037" y="2895600"/>
            <a:ext cx="993775" cy="295275"/>
            <a:chOff x="2016" y="1985"/>
            <a:chExt cx="626" cy="195"/>
          </a:xfrm>
        </p:grpSpPr>
        <p:sp>
          <p:nvSpPr>
            <p:cNvPr id="40" name="Oval 146"/>
            <p:cNvSpPr>
              <a:spLocks noChangeArrowheads="1"/>
            </p:cNvSpPr>
            <p:nvPr/>
          </p:nvSpPr>
          <p:spPr bwMode="auto">
            <a:xfrm>
              <a:off x="2016" y="1985"/>
              <a:ext cx="626" cy="189"/>
            </a:xfrm>
            <a:prstGeom prst="ellipse">
              <a:avLst/>
            </a:prstGeom>
            <a:solidFill>
              <a:srgbClr val="00FF00"/>
            </a:solidFill>
            <a:ln w="38100" cmpd="dbl" algn="ctr">
              <a:solidFill>
                <a:schemeClr val="hlink"/>
              </a:solidFill>
              <a:round/>
              <a:headEnd/>
              <a:tailEnd/>
            </a:ln>
          </p:spPr>
          <p:txBody>
            <a:bodyPr lIns="92075" tIns="46038" rIns="92075" bIns="46038" anchor="ctr">
              <a:spAutoFit/>
            </a:bodyPr>
            <a:lstStyle/>
            <a:p>
              <a:endParaRPr lang="en-US" dirty="0"/>
            </a:p>
          </p:txBody>
        </p:sp>
        <p:sp>
          <p:nvSpPr>
            <p:cNvPr id="41" name="Text Box 147"/>
            <p:cNvSpPr txBox="1">
              <a:spLocks noChangeArrowheads="1"/>
            </p:cNvSpPr>
            <p:nvPr/>
          </p:nvSpPr>
          <p:spPr bwMode="auto">
            <a:xfrm>
              <a:off x="2122" y="1992"/>
              <a:ext cx="407" cy="188"/>
            </a:xfrm>
            <a:prstGeom prst="rect">
              <a:avLst/>
            </a:prstGeom>
            <a:noFill/>
            <a:ln w="9525" algn="ctr">
              <a:noFill/>
              <a:miter lim="800000"/>
              <a:headEnd/>
              <a:tailEnd/>
            </a:ln>
          </p:spPr>
          <p:txBody>
            <a:bodyPr wrap="none" lIns="92075" tIns="46038" rIns="92075" bIns="46038">
              <a:spAutoFit/>
            </a:bodyPr>
            <a:lstStyle/>
            <a:p>
              <a:pPr marL="119063" indent="-119063"/>
              <a:r>
                <a:rPr lang="en-US" sz="1400" dirty="0"/>
                <a:t>Good</a:t>
              </a:r>
            </a:p>
          </p:txBody>
        </p:sp>
      </p:grpSp>
      <p:grpSp>
        <p:nvGrpSpPr>
          <p:cNvPr id="42" name="Group 145"/>
          <p:cNvGrpSpPr>
            <a:grpSpLocks/>
          </p:cNvGrpSpPr>
          <p:nvPr/>
        </p:nvGrpSpPr>
        <p:grpSpPr bwMode="auto">
          <a:xfrm>
            <a:off x="7920037" y="3286125"/>
            <a:ext cx="993775" cy="295275"/>
            <a:chOff x="2016" y="1985"/>
            <a:chExt cx="626" cy="195"/>
          </a:xfrm>
        </p:grpSpPr>
        <p:sp>
          <p:nvSpPr>
            <p:cNvPr id="43" name="Oval 146"/>
            <p:cNvSpPr>
              <a:spLocks noChangeArrowheads="1"/>
            </p:cNvSpPr>
            <p:nvPr/>
          </p:nvSpPr>
          <p:spPr bwMode="auto">
            <a:xfrm>
              <a:off x="2016" y="1985"/>
              <a:ext cx="626" cy="189"/>
            </a:xfrm>
            <a:prstGeom prst="ellipse">
              <a:avLst/>
            </a:prstGeom>
            <a:solidFill>
              <a:srgbClr val="00FF00"/>
            </a:solidFill>
            <a:ln w="38100" cmpd="dbl" algn="ctr">
              <a:solidFill>
                <a:schemeClr val="hlink"/>
              </a:solidFill>
              <a:round/>
              <a:headEnd/>
              <a:tailEnd/>
            </a:ln>
          </p:spPr>
          <p:txBody>
            <a:bodyPr lIns="92075" tIns="46038" rIns="92075" bIns="46038" anchor="ctr">
              <a:spAutoFit/>
            </a:bodyPr>
            <a:lstStyle/>
            <a:p>
              <a:endParaRPr lang="en-US" dirty="0"/>
            </a:p>
          </p:txBody>
        </p:sp>
        <p:sp>
          <p:nvSpPr>
            <p:cNvPr id="44" name="Text Box 147"/>
            <p:cNvSpPr txBox="1">
              <a:spLocks noChangeArrowheads="1"/>
            </p:cNvSpPr>
            <p:nvPr/>
          </p:nvSpPr>
          <p:spPr bwMode="auto">
            <a:xfrm>
              <a:off x="2122" y="1992"/>
              <a:ext cx="407" cy="188"/>
            </a:xfrm>
            <a:prstGeom prst="rect">
              <a:avLst/>
            </a:prstGeom>
            <a:noFill/>
            <a:ln w="9525" algn="ctr">
              <a:noFill/>
              <a:miter lim="800000"/>
              <a:headEnd/>
              <a:tailEnd/>
            </a:ln>
          </p:spPr>
          <p:txBody>
            <a:bodyPr wrap="none" lIns="92075" tIns="46038" rIns="92075" bIns="46038">
              <a:spAutoFit/>
            </a:bodyPr>
            <a:lstStyle/>
            <a:p>
              <a:pPr marL="119063" indent="-119063"/>
              <a:r>
                <a:rPr lang="en-US" sz="1400" dirty="0"/>
                <a:t>Good</a:t>
              </a:r>
            </a:p>
          </p:txBody>
        </p:sp>
      </p:grpSp>
      <p:grpSp>
        <p:nvGrpSpPr>
          <p:cNvPr id="45" name="Group 222"/>
          <p:cNvGrpSpPr>
            <a:grpSpLocks/>
          </p:cNvGrpSpPr>
          <p:nvPr/>
        </p:nvGrpSpPr>
        <p:grpSpPr bwMode="auto">
          <a:xfrm>
            <a:off x="6700837" y="3667125"/>
            <a:ext cx="993775" cy="295275"/>
            <a:chOff x="3440" y="3363"/>
            <a:chExt cx="626" cy="195"/>
          </a:xfrm>
        </p:grpSpPr>
        <p:sp>
          <p:nvSpPr>
            <p:cNvPr id="46" name="Oval 223"/>
            <p:cNvSpPr>
              <a:spLocks noChangeArrowheads="1"/>
            </p:cNvSpPr>
            <p:nvPr/>
          </p:nvSpPr>
          <p:spPr bwMode="auto">
            <a:xfrm>
              <a:off x="3440" y="3363"/>
              <a:ext cx="626" cy="189"/>
            </a:xfrm>
            <a:prstGeom prst="ellipse">
              <a:avLst/>
            </a:prstGeom>
            <a:solidFill>
              <a:srgbClr val="0000FF"/>
            </a:solidFill>
            <a:ln w="38100" cmpd="dbl" algn="ctr">
              <a:solidFill>
                <a:schemeClr val="hlink"/>
              </a:solidFill>
              <a:round/>
              <a:headEnd/>
              <a:tailEnd/>
            </a:ln>
          </p:spPr>
          <p:txBody>
            <a:bodyPr lIns="92075" tIns="46038" rIns="92075" bIns="46038" anchor="ctr">
              <a:spAutoFit/>
            </a:bodyPr>
            <a:lstStyle/>
            <a:p>
              <a:endParaRPr lang="en-US" dirty="0"/>
            </a:p>
          </p:txBody>
        </p:sp>
        <p:sp>
          <p:nvSpPr>
            <p:cNvPr id="47" name="Text Box 224"/>
            <p:cNvSpPr txBox="1">
              <a:spLocks noChangeArrowheads="1"/>
            </p:cNvSpPr>
            <p:nvPr/>
          </p:nvSpPr>
          <p:spPr bwMode="auto">
            <a:xfrm>
              <a:off x="3565" y="3370"/>
              <a:ext cx="371" cy="188"/>
            </a:xfrm>
            <a:prstGeom prst="rect">
              <a:avLst/>
            </a:prstGeom>
            <a:noFill/>
            <a:ln w="9525" algn="ctr">
              <a:noFill/>
              <a:miter lim="800000"/>
              <a:headEnd/>
              <a:tailEnd/>
            </a:ln>
          </p:spPr>
          <p:txBody>
            <a:bodyPr wrap="none" lIns="92075" tIns="46038" rIns="92075" bIns="46038">
              <a:spAutoFit/>
            </a:bodyPr>
            <a:lstStyle/>
            <a:p>
              <a:pPr marL="119063" indent="-119063"/>
              <a:r>
                <a:rPr lang="en-US" sz="1400" dirty="0">
                  <a:solidFill>
                    <a:schemeClr val="bg1"/>
                  </a:solidFill>
                </a:rPr>
                <a:t>Start</a:t>
              </a:r>
            </a:p>
          </p:txBody>
        </p:sp>
      </p:grpSp>
      <p:grpSp>
        <p:nvGrpSpPr>
          <p:cNvPr id="48" name="Group 222"/>
          <p:cNvGrpSpPr>
            <a:grpSpLocks/>
          </p:cNvGrpSpPr>
          <p:nvPr/>
        </p:nvGrpSpPr>
        <p:grpSpPr bwMode="auto">
          <a:xfrm>
            <a:off x="7920037" y="3971925"/>
            <a:ext cx="993775" cy="295275"/>
            <a:chOff x="3440" y="3363"/>
            <a:chExt cx="626" cy="195"/>
          </a:xfrm>
        </p:grpSpPr>
        <p:sp>
          <p:nvSpPr>
            <p:cNvPr id="49" name="Oval 223"/>
            <p:cNvSpPr>
              <a:spLocks noChangeArrowheads="1"/>
            </p:cNvSpPr>
            <p:nvPr/>
          </p:nvSpPr>
          <p:spPr bwMode="auto">
            <a:xfrm>
              <a:off x="3440" y="3363"/>
              <a:ext cx="626" cy="189"/>
            </a:xfrm>
            <a:prstGeom prst="ellipse">
              <a:avLst/>
            </a:prstGeom>
            <a:solidFill>
              <a:srgbClr val="0000FF"/>
            </a:solidFill>
            <a:ln w="38100" cmpd="dbl" algn="ctr">
              <a:solidFill>
                <a:schemeClr val="hlink"/>
              </a:solidFill>
              <a:round/>
              <a:headEnd/>
              <a:tailEnd/>
            </a:ln>
          </p:spPr>
          <p:txBody>
            <a:bodyPr lIns="92075" tIns="46038" rIns="92075" bIns="46038" anchor="ctr">
              <a:spAutoFit/>
            </a:bodyPr>
            <a:lstStyle/>
            <a:p>
              <a:endParaRPr lang="en-US" dirty="0"/>
            </a:p>
          </p:txBody>
        </p:sp>
        <p:sp>
          <p:nvSpPr>
            <p:cNvPr id="50" name="Text Box 224"/>
            <p:cNvSpPr txBox="1">
              <a:spLocks noChangeArrowheads="1"/>
            </p:cNvSpPr>
            <p:nvPr/>
          </p:nvSpPr>
          <p:spPr bwMode="auto">
            <a:xfrm>
              <a:off x="3565" y="3370"/>
              <a:ext cx="371" cy="188"/>
            </a:xfrm>
            <a:prstGeom prst="rect">
              <a:avLst/>
            </a:prstGeom>
            <a:noFill/>
            <a:ln w="9525" algn="ctr">
              <a:noFill/>
              <a:miter lim="800000"/>
              <a:headEnd/>
              <a:tailEnd/>
            </a:ln>
          </p:spPr>
          <p:txBody>
            <a:bodyPr wrap="none" lIns="92075" tIns="46038" rIns="92075" bIns="46038">
              <a:spAutoFit/>
            </a:bodyPr>
            <a:lstStyle/>
            <a:p>
              <a:pPr marL="119063" indent="-119063"/>
              <a:r>
                <a:rPr lang="en-US" sz="1400" dirty="0">
                  <a:solidFill>
                    <a:schemeClr val="bg1"/>
                  </a:solidFill>
                </a:rPr>
                <a:t>Start</a:t>
              </a:r>
            </a:p>
          </p:txBody>
        </p:sp>
      </p:grpSp>
      <p:grpSp>
        <p:nvGrpSpPr>
          <p:cNvPr id="51" name="Group 145"/>
          <p:cNvGrpSpPr>
            <a:grpSpLocks/>
          </p:cNvGrpSpPr>
          <p:nvPr/>
        </p:nvGrpSpPr>
        <p:grpSpPr bwMode="auto">
          <a:xfrm>
            <a:off x="7923212" y="3667125"/>
            <a:ext cx="993775" cy="295275"/>
            <a:chOff x="2016" y="1985"/>
            <a:chExt cx="626" cy="195"/>
          </a:xfrm>
        </p:grpSpPr>
        <p:sp>
          <p:nvSpPr>
            <p:cNvPr id="52" name="Oval 146"/>
            <p:cNvSpPr>
              <a:spLocks noChangeArrowheads="1"/>
            </p:cNvSpPr>
            <p:nvPr/>
          </p:nvSpPr>
          <p:spPr bwMode="auto">
            <a:xfrm>
              <a:off x="2016" y="1985"/>
              <a:ext cx="626" cy="189"/>
            </a:xfrm>
            <a:prstGeom prst="ellipse">
              <a:avLst/>
            </a:prstGeom>
            <a:solidFill>
              <a:srgbClr val="00FF00"/>
            </a:solidFill>
            <a:ln w="38100" cmpd="dbl" algn="ctr">
              <a:solidFill>
                <a:schemeClr val="hlink"/>
              </a:solidFill>
              <a:round/>
              <a:headEnd/>
              <a:tailEnd/>
            </a:ln>
          </p:spPr>
          <p:txBody>
            <a:bodyPr lIns="92075" tIns="46038" rIns="92075" bIns="46038" anchor="ctr">
              <a:spAutoFit/>
            </a:bodyPr>
            <a:lstStyle/>
            <a:p>
              <a:endParaRPr lang="en-US" dirty="0"/>
            </a:p>
          </p:txBody>
        </p:sp>
        <p:sp>
          <p:nvSpPr>
            <p:cNvPr id="53" name="Text Box 147"/>
            <p:cNvSpPr txBox="1">
              <a:spLocks noChangeArrowheads="1"/>
            </p:cNvSpPr>
            <p:nvPr/>
          </p:nvSpPr>
          <p:spPr bwMode="auto">
            <a:xfrm>
              <a:off x="2122" y="1992"/>
              <a:ext cx="407" cy="188"/>
            </a:xfrm>
            <a:prstGeom prst="rect">
              <a:avLst/>
            </a:prstGeom>
            <a:noFill/>
            <a:ln w="9525" algn="ctr">
              <a:noFill/>
              <a:miter lim="800000"/>
              <a:headEnd/>
              <a:tailEnd/>
            </a:ln>
          </p:spPr>
          <p:txBody>
            <a:bodyPr wrap="none" lIns="92075" tIns="46038" rIns="92075" bIns="46038">
              <a:spAutoFit/>
            </a:bodyPr>
            <a:lstStyle/>
            <a:p>
              <a:pPr marL="119063" indent="-119063"/>
              <a:r>
                <a:rPr lang="en-US" sz="1400" dirty="0"/>
                <a:t>Good</a:t>
              </a:r>
            </a:p>
          </p:txBody>
        </p:sp>
      </p:grpSp>
      <p:grpSp>
        <p:nvGrpSpPr>
          <p:cNvPr id="54" name="Group 145"/>
          <p:cNvGrpSpPr>
            <a:grpSpLocks/>
          </p:cNvGrpSpPr>
          <p:nvPr/>
        </p:nvGrpSpPr>
        <p:grpSpPr bwMode="auto">
          <a:xfrm>
            <a:off x="7923212" y="4810125"/>
            <a:ext cx="993775" cy="295275"/>
            <a:chOff x="2016" y="1985"/>
            <a:chExt cx="626" cy="195"/>
          </a:xfrm>
        </p:grpSpPr>
        <p:sp>
          <p:nvSpPr>
            <p:cNvPr id="55" name="Oval 146"/>
            <p:cNvSpPr>
              <a:spLocks noChangeArrowheads="1"/>
            </p:cNvSpPr>
            <p:nvPr/>
          </p:nvSpPr>
          <p:spPr bwMode="auto">
            <a:xfrm>
              <a:off x="2016" y="1985"/>
              <a:ext cx="626" cy="189"/>
            </a:xfrm>
            <a:prstGeom prst="ellipse">
              <a:avLst/>
            </a:prstGeom>
            <a:solidFill>
              <a:srgbClr val="00FF00"/>
            </a:solidFill>
            <a:ln w="38100" cmpd="dbl" algn="ctr">
              <a:solidFill>
                <a:schemeClr val="hlink"/>
              </a:solidFill>
              <a:round/>
              <a:headEnd/>
              <a:tailEnd/>
            </a:ln>
          </p:spPr>
          <p:txBody>
            <a:bodyPr lIns="92075" tIns="46038" rIns="92075" bIns="46038" anchor="ctr">
              <a:spAutoFit/>
            </a:bodyPr>
            <a:lstStyle/>
            <a:p>
              <a:endParaRPr lang="en-US" dirty="0"/>
            </a:p>
          </p:txBody>
        </p:sp>
        <p:sp>
          <p:nvSpPr>
            <p:cNvPr id="56" name="Text Box 147"/>
            <p:cNvSpPr txBox="1">
              <a:spLocks noChangeArrowheads="1"/>
            </p:cNvSpPr>
            <p:nvPr/>
          </p:nvSpPr>
          <p:spPr bwMode="auto">
            <a:xfrm>
              <a:off x="2122" y="1992"/>
              <a:ext cx="407" cy="188"/>
            </a:xfrm>
            <a:prstGeom prst="rect">
              <a:avLst/>
            </a:prstGeom>
            <a:noFill/>
            <a:ln w="9525" algn="ctr">
              <a:noFill/>
              <a:miter lim="800000"/>
              <a:headEnd/>
              <a:tailEnd/>
            </a:ln>
          </p:spPr>
          <p:txBody>
            <a:bodyPr wrap="none" lIns="92075" tIns="46038" rIns="92075" bIns="46038">
              <a:spAutoFit/>
            </a:bodyPr>
            <a:lstStyle/>
            <a:p>
              <a:pPr marL="119063" indent="-119063"/>
              <a:r>
                <a:rPr lang="en-US" sz="1400" dirty="0"/>
                <a:t>Good</a:t>
              </a:r>
            </a:p>
          </p:txBody>
        </p:sp>
      </p:grpSp>
      <p:grpSp>
        <p:nvGrpSpPr>
          <p:cNvPr id="57" name="Group 145"/>
          <p:cNvGrpSpPr>
            <a:grpSpLocks/>
          </p:cNvGrpSpPr>
          <p:nvPr/>
        </p:nvGrpSpPr>
        <p:grpSpPr bwMode="auto">
          <a:xfrm>
            <a:off x="7923212" y="5191125"/>
            <a:ext cx="993775" cy="295275"/>
            <a:chOff x="2016" y="1985"/>
            <a:chExt cx="626" cy="195"/>
          </a:xfrm>
        </p:grpSpPr>
        <p:sp>
          <p:nvSpPr>
            <p:cNvPr id="58" name="Oval 146"/>
            <p:cNvSpPr>
              <a:spLocks noChangeArrowheads="1"/>
            </p:cNvSpPr>
            <p:nvPr/>
          </p:nvSpPr>
          <p:spPr bwMode="auto">
            <a:xfrm>
              <a:off x="2016" y="1985"/>
              <a:ext cx="626" cy="189"/>
            </a:xfrm>
            <a:prstGeom prst="ellipse">
              <a:avLst/>
            </a:prstGeom>
            <a:solidFill>
              <a:srgbClr val="00FF00"/>
            </a:solidFill>
            <a:ln w="38100" cmpd="dbl" algn="ctr">
              <a:solidFill>
                <a:schemeClr val="hlink"/>
              </a:solidFill>
              <a:round/>
              <a:headEnd/>
              <a:tailEnd/>
            </a:ln>
          </p:spPr>
          <p:txBody>
            <a:bodyPr lIns="92075" tIns="46038" rIns="92075" bIns="46038" anchor="ctr">
              <a:spAutoFit/>
            </a:bodyPr>
            <a:lstStyle/>
            <a:p>
              <a:endParaRPr lang="en-US" dirty="0"/>
            </a:p>
          </p:txBody>
        </p:sp>
        <p:sp>
          <p:nvSpPr>
            <p:cNvPr id="59" name="Text Box 147"/>
            <p:cNvSpPr txBox="1">
              <a:spLocks noChangeArrowheads="1"/>
            </p:cNvSpPr>
            <p:nvPr/>
          </p:nvSpPr>
          <p:spPr bwMode="auto">
            <a:xfrm>
              <a:off x="2122" y="1992"/>
              <a:ext cx="407" cy="188"/>
            </a:xfrm>
            <a:prstGeom prst="rect">
              <a:avLst/>
            </a:prstGeom>
            <a:noFill/>
            <a:ln w="9525" algn="ctr">
              <a:noFill/>
              <a:miter lim="800000"/>
              <a:headEnd/>
              <a:tailEnd/>
            </a:ln>
          </p:spPr>
          <p:txBody>
            <a:bodyPr wrap="none" lIns="92075" tIns="46038" rIns="92075" bIns="46038">
              <a:spAutoFit/>
            </a:bodyPr>
            <a:lstStyle/>
            <a:p>
              <a:pPr marL="119063" indent="-119063"/>
              <a:r>
                <a:rPr lang="en-US" sz="1400" dirty="0"/>
                <a:t>Good</a:t>
              </a:r>
            </a:p>
          </p:txBody>
        </p:sp>
      </p:grpSp>
      <p:grpSp>
        <p:nvGrpSpPr>
          <p:cNvPr id="60" name="Group 145"/>
          <p:cNvGrpSpPr>
            <a:grpSpLocks/>
          </p:cNvGrpSpPr>
          <p:nvPr/>
        </p:nvGrpSpPr>
        <p:grpSpPr bwMode="auto">
          <a:xfrm>
            <a:off x="9066212" y="4810125"/>
            <a:ext cx="993775" cy="295275"/>
            <a:chOff x="2016" y="1985"/>
            <a:chExt cx="626" cy="195"/>
          </a:xfrm>
        </p:grpSpPr>
        <p:sp>
          <p:nvSpPr>
            <p:cNvPr id="61" name="Oval 146"/>
            <p:cNvSpPr>
              <a:spLocks noChangeArrowheads="1"/>
            </p:cNvSpPr>
            <p:nvPr/>
          </p:nvSpPr>
          <p:spPr bwMode="auto">
            <a:xfrm>
              <a:off x="2016" y="1985"/>
              <a:ext cx="626" cy="189"/>
            </a:xfrm>
            <a:prstGeom prst="ellipse">
              <a:avLst/>
            </a:prstGeom>
            <a:solidFill>
              <a:srgbClr val="00FF00"/>
            </a:solidFill>
            <a:ln w="38100" cmpd="dbl" algn="ctr">
              <a:solidFill>
                <a:schemeClr val="hlink"/>
              </a:solidFill>
              <a:round/>
              <a:headEnd/>
              <a:tailEnd/>
            </a:ln>
          </p:spPr>
          <p:txBody>
            <a:bodyPr lIns="92075" tIns="46038" rIns="92075" bIns="46038" anchor="ctr">
              <a:spAutoFit/>
            </a:bodyPr>
            <a:lstStyle/>
            <a:p>
              <a:endParaRPr lang="en-US" dirty="0"/>
            </a:p>
          </p:txBody>
        </p:sp>
        <p:sp>
          <p:nvSpPr>
            <p:cNvPr id="62" name="Text Box 147"/>
            <p:cNvSpPr txBox="1">
              <a:spLocks noChangeArrowheads="1"/>
            </p:cNvSpPr>
            <p:nvPr/>
          </p:nvSpPr>
          <p:spPr bwMode="auto">
            <a:xfrm>
              <a:off x="2122" y="1992"/>
              <a:ext cx="407" cy="188"/>
            </a:xfrm>
            <a:prstGeom prst="rect">
              <a:avLst/>
            </a:prstGeom>
            <a:noFill/>
            <a:ln w="9525" algn="ctr">
              <a:noFill/>
              <a:miter lim="800000"/>
              <a:headEnd/>
              <a:tailEnd/>
            </a:ln>
          </p:spPr>
          <p:txBody>
            <a:bodyPr wrap="none" lIns="92075" tIns="46038" rIns="92075" bIns="46038">
              <a:spAutoFit/>
            </a:bodyPr>
            <a:lstStyle/>
            <a:p>
              <a:pPr marL="119063" indent="-119063"/>
              <a:r>
                <a:rPr lang="en-US" sz="1400" dirty="0"/>
                <a:t>Good</a:t>
              </a:r>
            </a:p>
          </p:txBody>
        </p:sp>
      </p:grpSp>
      <p:grpSp>
        <p:nvGrpSpPr>
          <p:cNvPr id="63" name="Group 145"/>
          <p:cNvGrpSpPr>
            <a:grpSpLocks/>
          </p:cNvGrpSpPr>
          <p:nvPr/>
        </p:nvGrpSpPr>
        <p:grpSpPr bwMode="auto">
          <a:xfrm>
            <a:off x="9063037" y="5191125"/>
            <a:ext cx="993775" cy="295275"/>
            <a:chOff x="2016" y="1985"/>
            <a:chExt cx="626" cy="195"/>
          </a:xfrm>
        </p:grpSpPr>
        <p:sp>
          <p:nvSpPr>
            <p:cNvPr id="64" name="Oval 146"/>
            <p:cNvSpPr>
              <a:spLocks noChangeArrowheads="1"/>
            </p:cNvSpPr>
            <p:nvPr/>
          </p:nvSpPr>
          <p:spPr bwMode="auto">
            <a:xfrm>
              <a:off x="2016" y="1985"/>
              <a:ext cx="626" cy="189"/>
            </a:xfrm>
            <a:prstGeom prst="ellipse">
              <a:avLst/>
            </a:prstGeom>
            <a:solidFill>
              <a:srgbClr val="00FF00"/>
            </a:solidFill>
            <a:ln w="38100" cmpd="dbl" algn="ctr">
              <a:solidFill>
                <a:schemeClr val="hlink"/>
              </a:solidFill>
              <a:round/>
              <a:headEnd/>
              <a:tailEnd/>
            </a:ln>
          </p:spPr>
          <p:txBody>
            <a:bodyPr lIns="92075" tIns="46038" rIns="92075" bIns="46038" anchor="ctr">
              <a:spAutoFit/>
            </a:bodyPr>
            <a:lstStyle/>
            <a:p>
              <a:endParaRPr lang="en-US" dirty="0"/>
            </a:p>
          </p:txBody>
        </p:sp>
        <p:sp>
          <p:nvSpPr>
            <p:cNvPr id="65" name="Text Box 147"/>
            <p:cNvSpPr txBox="1">
              <a:spLocks noChangeArrowheads="1"/>
            </p:cNvSpPr>
            <p:nvPr/>
          </p:nvSpPr>
          <p:spPr bwMode="auto">
            <a:xfrm>
              <a:off x="2122" y="1992"/>
              <a:ext cx="407" cy="188"/>
            </a:xfrm>
            <a:prstGeom prst="rect">
              <a:avLst/>
            </a:prstGeom>
            <a:noFill/>
            <a:ln w="9525" algn="ctr">
              <a:noFill/>
              <a:miter lim="800000"/>
              <a:headEnd/>
              <a:tailEnd/>
            </a:ln>
          </p:spPr>
          <p:txBody>
            <a:bodyPr wrap="none" lIns="92075" tIns="46038" rIns="92075" bIns="46038">
              <a:spAutoFit/>
            </a:bodyPr>
            <a:lstStyle/>
            <a:p>
              <a:pPr marL="119063" indent="-119063"/>
              <a:r>
                <a:rPr lang="en-US" sz="1400" dirty="0"/>
                <a:t>Good</a:t>
              </a:r>
            </a:p>
          </p:txBody>
        </p:sp>
      </p:grpSp>
      <p:grpSp>
        <p:nvGrpSpPr>
          <p:cNvPr id="66" name="Group 145"/>
          <p:cNvGrpSpPr>
            <a:grpSpLocks/>
          </p:cNvGrpSpPr>
          <p:nvPr/>
        </p:nvGrpSpPr>
        <p:grpSpPr bwMode="auto">
          <a:xfrm>
            <a:off x="6704012" y="5191125"/>
            <a:ext cx="993775" cy="295275"/>
            <a:chOff x="2016" y="1985"/>
            <a:chExt cx="626" cy="195"/>
          </a:xfrm>
        </p:grpSpPr>
        <p:sp>
          <p:nvSpPr>
            <p:cNvPr id="67" name="Oval 146"/>
            <p:cNvSpPr>
              <a:spLocks noChangeArrowheads="1"/>
            </p:cNvSpPr>
            <p:nvPr/>
          </p:nvSpPr>
          <p:spPr bwMode="auto">
            <a:xfrm>
              <a:off x="2016" y="1985"/>
              <a:ext cx="626" cy="189"/>
            </a:xfrm>
            <a:prstGeom prst="ellipse">
              <a:avLst/>
            </a:prstGeom>
            <a:solidFill>
              <a:srgbClr val="00FF00"/>
            </a:solidFill>
            <a:ln w="38100" cmpd="dbl" algn="ctr">
              <a:solidFill>
                <a:schemeClr val="hlink"/>
              </a:solidFill>
              <a:round/>
              <a:headEnd/>
              <a:tailEnd/>
            </a:ln>
          </p:spPr>
          <p:txBody>
            <a:bodyPr lIns="92075" tIns="46038" rIns="92075" bIns="46038" anchor="ctr">
              <a:spAutoFit/>
            </a:bodyPr>
            <a:lstStyle/>
            <a:p>
              <a:endParaRPr lang="en-US" dirty="0"/>
            </a:p>
          </p:txBody>
        </p:sp>
        <p:sp>
          <p:nvSpPr>
            <p:cNvPr id="68" name="Text Box 147"/>
            <p:cNvSpPr txBox="1">
              <a:spLocks noChangeArrowheads="1"/>
            </p:cNvSpPr>
            <p:nvPr/>
          </p:nvSpPr>
          <p:spPr bwMode="auto">
            <a:xfrm>
              <a:off x="2122" y="1992"/>
              <a:ext cx="407" cy="188"/>
            </a:xfrm>
            <a:prstGeom prst="rect">
              <a:avLst/>
            </a:prstGeom>
            <a:noFill/>
            <a:ln w="9525" algn="ctr">
              <a:noFill/>
              <a:miter lim="800000"/>
              <a:headEnd/>
              <a:tailEnd/>
            </a:ln>
          </p:spPr>
          <p:txBody>
            <a:bodyPr wrap="none" lIns="92075" tIns="46038" rIns="92075" bIns="46038">
              <a:spAutoFit/>
            </a:bodyPr>
            <a:lstStyle/>
            <a:p>
              <a:pPr marL="119063" indent="-119063"/>
              <a:r>
                <a:rPr lang="en-US" sz="1400" dirty="0"/>
                <a:t>Good</a:t>
              </a:r>
            </a:p>
          </p:txBody>
        </p:sp>
      </p:gr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Executive Summary &lt;Option 4&gt;</a:t>
            </a:r>
            <a:endParaRPr lang="en-US" dirty="0"/>
          </a:p>
        </p:txBody>
      </p:sp>
      <p:graphicFrame>
        <p:nvGraphicFramePr>
          <p:cNvPr id="7" name="Table 6"/>
          <p:cNvGraphicFramePr>
            <a:graphicFrameLocks noGrp="1"/>
          </p:cNvGraphicFramePr>
          <p:nvPr/>
        </p:nvGraphicFramePr>
        <p:xfrm>
          <a:off x="608012" y="1905000"/>
          <a:ext cx="10439400" cy="3441280"/>
        </p:xfrm>
        <a:graphic>
          <a:graphicData uri="http://schemas.openxmlformats.org/drawingml/2006/table">
            <a:tbl>
              <a:tblPr firstRow="1" bandRow="1">
                <a:tableStyleId>{5C22544A-7EE6-4342-B048-85BDC9FD1C3A}</a:tableStyleId>
              </a:tblPr>
              <a:tblGrid>
                <a:gridCol w="2609850"/>
                <a:gridCol w="1763315"/>
                <a:gridCol w="1774401"/>
                <a:gridCol w="4291834"/>
              </a:tblGrid>
              <a:tr h="799216">
                <a:tc>
                  <a:txBody>
                    <a:bodyPr/>
                    <a:lstStyle/>
                    <a:p>
                      <a:r>
                        <a:rPr lang="en-US" dirty="0" smtClean="0"/>
                        <a:t>Item</a:t>
                      </a:r>
                      <a:endParaRPr lang="en-US" dirty="0"/>
                    </a:p>
                  </a:txBody>
                  <a:tcPr/>
                </a:tc>
                <a:tc>
                  <a:txBody>
                    <a:bodyPr/>
                    <a:lstStyle/>
                    <a:p>
                      <a:r>
                        <a:rPr lang="en-US" dirty="0" smtClean="0"/>
                        <a:t>Current</a:t>
                      </a:r>
                    </a:p>
                    <a:p>
                      <a:r>
                        <a:rPr lang="en-US" dirty="0" smtClean="0"/>
                        <a:t>Status</a:t>
                      </a:r>
                      <a:endParaRPr lang="en-US" dirty="0"/>
                    </a:p>
                  </a:txBody>
                  <a:tcPr/>
                </a:tc>
                <a:tc>
                  <a:txBody>
                    <a:bodyPr/>
                    <a:lstStyle/>
                    <a:p>
                      <a:r>
                        <a:rPr lang="en-US" dirty="0" smtClean="0"/>
                        <a:t>Prior</a:t>
                      </a:r>
                    </a:p>
                    <a:p>
                      <a:r>
                        <a:rPr lang="en-US" dirty="0" smtClean="0"/>
                        <a:t>Status</a:t>
                      </a:r>
                      <a:endParaRPr lang="en-US" dirty="0"/>
                    </a:p>
                  </a:txBody>
                  <a:tcPr/>
                </a:tc>
                <a:tc>
                  <a:txBody>
                    <a:bodyPr/>
                    <a:lstStyle/>
                    <a:p>
                      <a:r>
                        <a:rPr lang="en-US" dirty="0" smtClean="0"/>
                        <a:t>Comments</a:t>
                      </a:r>
                      <a:endParaRPr lang="en-US" dirty="0"/>
                    </a:p>
                  </a:txBody>
                  <a:tcPr/>
                </a:tc>
              </a:tr>
              <a:tr h="40255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effectLst/>
                          <a:latin typeface="+mn-lt"/>
                          <a:cs typeface="Arial" pitchFamily="34" charset="0"/>
                        </a:rPr>
                        <a:t>Overall Project Status</a:t>
                      </a:r>
                      <a:endParaRPr lang="en-GB" sz="1400" dirty="0" smtClean="0">
                        <a:effectLst/>
                        <a:latin typeface="+mn-lt"/>
                        <a:ea typeface="Times New Roman"/>
                        <a:cs typeface="Arial" pitchFamily="34" charset="0"/>
                      </a:endParaRPr>
                    </a:p>
                  </a:txBody>
                  <a:tcPr/>
                </a:tc>
                <a:tc>
                  <a:txBody>
                    <a:bodyPr/>
                    <a:lstStyle/>
                    <a:p>
                      <a:r>
                        <a:rPr lang="en-US" sz="1400" dirty="0" smtClean="0">
                          <a:latin typeface="+mn-lt"/>
                          <a:cs typeface="Arial" pitchFamily="34" charset="0"/>
                        </a:rPr>
                        <a:t>Yellow</a:t>
                      </a:r>
                      <a:endParaRPr lang="en-US" sz="1400" dirty="0">
                        <a:latin typeface="+mn-lt"/>
                        <a:cs typeface="Arial" pitchFamily="34" charset="0"/>
                      </a:endParaRPr>
                    </a:p>
                  </a:txBody>
                  <a:tcPr>
                    <a:solidFill>
                      <a:srgbClr val="FFFF00"/>
                    </a:solidFill>
                  </a:tcPr>
                </a:tc>
                <a:tc>
                  <a:txBody>
                    <a:bodyPr/>
                    <a:lstStyle/>
                    <a:p>
                      <a:r>
                        <a:rPr lang="en-US" sz="1400" dirty="0" smtClean="0">
                          <a:latin typeface="+mn-lt"/>
                          <a:cs typeface="Arial" pitchFamily="34" charset="0"/>
                        </a:rPr>
                        <a:t>Yellow</a:t>
                      </a:r>
                      <a:endParaRPr lang="en-US" sz="1400" dirty="0">
                        <a:latin typeface="+mn-lt"/>
                        <a:cs typeface="Arial" pitchFamily="34" charset="0"/>
                      </a:endParaRPr>
                    </a:p>
                  </a:txBody>
                  <a:tcPr>
                    <a:solidFill>
                      <a:srgbClr val="FFFF00"/>
                    </a:solidFill>
                  </a:tcPr>
                </a:tc>
                <a:tc>
                  <a:txBody>
                    <a:bodyPr/>
                    <a:lstStyle/>
                    <a:p>
                      <a:endParaRPr lang="en-US" sz="1400" dirty="0">
                        <a:latin typeface="+mn-lt"/>
                        <a:cs typeface="Arial" pitchFamily="34" charset="0"/>
                      </a:endParaRPr>
                    </a:p>
                  </a:txBody>
                  <a:tcPr/>
                </a:tc>
              </a:tr>
              <a:tr h="380579">
                <a:tc>
                  <a:txBody>
                    <a:bodyPr/>
                    <a:lstStyle/>
                    <a:p>
                      <a:r>
                        <a:rPr lang="en-US" sz="1400" dirty="0" smtClean="0">
                          <a:latin typeface="+mn-lt"/>
                          <a:cs typeface="Arial" pitchFamily="34" charset="0"/>
                        </a:rPr>
                        <a:t>Contracts</a:t>
                      </a:r>
                      <a:endParaRPr lang="en-US" sz="1400" dirty="0">
                        <a:latin typeface="+mn-lt"/>
                        <a:cs typeface="Arial" pitchFamily="34" charset="0"/>
                      </a:endParaRPr>
                    </a:p>
                  </a:txBody>
                  <a:tcPr/>
                </a:tc>
                <a:tc>
                  <a:txBody>
                    <a:bodyPr/>
                    <a:lstStyle/>
                    <a:p>
                      <a:r>
                        <a:rPr lang="en-US" sz="1400" dirty="0" smtClean="0">
                          <a:latin typeface="+mn-lt"/>
                          <a:cs typeface="Arial" pitchFamily="34" charset="0"/>
                        </a:rPr>
                        <a:t>Green</a:t>
                      </a:r>
                      <a:endParaRPr lang="en-US" sz="1400" dirty="0">
                        <a:latin typeface="+mn-lt"/>
                        <a:cs typeface="Arial" pitchFamily="34" charset="0"/>
                      </a:endParaRPr>
                    </a:p>
                  </a:txBody>
                  <a:tcPr>
                    <a:solidFill>
                      <a:srgbClr val="00B050"/>
                    </a:solidFill>
                  </a:tcPr>
                </a:tc>
                <a:tc>
                  <a:txBody>
                    <a:bodyPr/>
                    <a:lstStyle/>
                    <a:p>
                      <a:r>
                        <a:rPr lang="en-US" sz="1400" dirty="0" smtClean="0">
                          <a:latin typeface="+mn-lt"/>
                          <a:cs typeface="Arial" pitchFamily="34" charset="0"/>
                        </a:rPr>
                        <a:t>Red</a:t>
                      </a:r>
                      <a:endParaRPr lang="en-US" sz="1400" dirty="0">
                        <a:latin typeface="+mn-lt"/>
                        <a:cs typeface="Arial" pitchFamily="34" charset="0"/>
                      </a:endParaRPr>
                    </a:p>
                  </a:txBody>
                  <a:tcPr>
                    <a:solidFill>
                      <a:srgbClr val="FF1414"/>
                    </a:solidFill>
                  </a:tcPr>
                </a:tc>
                <a:tc>
                  <a:txBody>
                    <a:bodyPr/>
                    <a:lstStyle/>
                    <a:p>
                      <a:r>
                        <a:rPr lang="en-US" sz="1400" dirty="0" smtClean="0">
                          <a:latin typeface="+mn-lt"/>
                          <a:cs typeface="Arial" pitchFamily="34" charset="0"/>
                        </a:rPr>
                        <a:t>Contract signed</a:t>
                      </a:r>
                      <a:endParaRPr lang="en-US" sz="1400" dirty="0">
                        <a:latin typeface="+mn-lt"/>
                        <a:cs typeface="Arial" pitchFamily="34" charset="0"/>
                      </a:endParaRPr>
                    </a:p>
                  </a:txBody>
                  <a:tcPr/>
                </a:tc>
              </a:tr>
              <a:tr h="380579">
                <a:tc>
                  <a:txBody>
                    <a:bodyPr/>
                    <a:lstStyle/>
                    <a:p>
                      <a:r>
                        <a:rPr lang="en-US" sz="1400" dirty="0" smtClean="0">
                          <a:latin typeface="+mn-lt"/>
                          <a:cs typeface="Arial" pitchFamily="34" charset="0"/>
                        </a:rPr>
                        <a:t>Scope</a:t>
                      </a:r>
                      <a:endParaRPr lang="en-US" sz="1400" dirty="0">
                        <a:latin typeface="+mn-lt"/>
                        <a:cs typeface="Arial" pitchFamily="34" charset="0"/>
                      </a:endParaRPr>
                    </a:p>
                  </a:txBody>
                  <a:tcPr/>
                </a:tc>
                <a:tc>
                  <a:txBody>
                    <a:bodyPr/>
                    <a:lstStyle/>
                    <a:p>
                      <a:r>
                        <a:rPr lang="en-US" sz="1400" dirty="0" smtClean="0">
                          <a:latin typeface="+mn-lt"/>
                          <a:cs typeface="Arial" pitchFamily="34" charset="0"/>
                        </a:rPr>
                        <a:t>Green</a:t>
                      </a:r>
                      <a:endParaRPr lang="en-US" sz="1400" dirty="0">
                        <a:latin typeface="+mn-lt"/>
                        <a:cs typeface="Arial" pitchFamily="34" charset="0"/>
                      </a:endParaRPr>
                    </a:p>
                  </a:txBody>
                  <a:tcPr>
                    <a:solidFill>
                      <a:srgbClr val="00B050"/>
                    </a:solidFill>
                  </a:tcPr>
                </a:tc>
                <a:tc>
                  <a:txBody>
                    <a:bodyPr/>
                    <a:lstStyle/>
                    <a:p>
                      <a:r>
                        <a:rPr lang="en-US" sz="1400" dirty="0" smtClean="0">
                          <a:latin typeface="+mn-lt"/>
                          <a:cs typeface="Arial" pitchFamily="34" charset="0"/>
                        </a:rPr>
                        <a:t>Green</a:t>
                      </a:r>
                      <a:endParaRPr lang="en-US" sz="1400" dirty="0">
                        <a:latin typeface="+mn-lt"/>
                        <a:cs typeface="Arial" pitchFamily="34" charset="0"/>
                      </a:endParaRPr>
                    </a:p>
                  </a:txBody>
                  <a:tcPr>
                    <a:solidFill>
                      <a:srgbClr val="00B050"/>
                    </a:solidFill>
                  </a:tcPr>
                </a:tc>
                <a:tc>
                  <a:txBody>
                    <a:bodyPr/>
                    <a:lstStyle/>
                    <a:p>
                      <a:endParaRPr lang="en-US" sz="1400" dirty="0">
                        <a:latin typeface="+mn-lt"/>
                        <a:cs typeface="Arial" pitchFamily="34" charset="0"/>
                      </a:endParaRPr>
                    </a:p>
                  </a:txBody>
                  <a:tcPr/>
                </a:tc>
              </a:tr>
              <a:tr h="380579">
                <a:tc>
                  <a:txBody>
                    <a:bodyPr/>
                    <a:lstStyle/>
                    <a:p>
                      <a:r>
                        <a:rPr lang="en-US" sz="1400" dirty="0" smtClean="0">
                          <a:latin typeface="+mn-lt"/>
                          <a:cs typeface="Arial" pitchFamily="34" charset="0"/>
                        </a:rPr>
                        <a:t>Schedule</a:t>
                      </a:r>
                      <a:endParaRPr lang="en-US" sz="1400" dirty="0">
                        <a:latin typeface="+mn-lt"/>
                        <a:cs typeface="Arial" pitchFamily="34" charset="0"/>
                      </a:endParaRPr>
                    </a:p>
                  </a:txBody>
                  <a:tcPr/>
                </a:tc>
                <a:tc>
                  <a:txBody>
                    <a:bodyPr/>
                    <a:lstStyle/>
                    <a:p>
                      <a:r>
                        <a:rPr lang="en-US" sz="1400" dirty="0" smtClean="0">
                          <a:latin typeface="+mn-lt"/>
                          <a:cs typeface="Arial" pitchFamily="34" charset="0"/>
                        </a:rPr>
                        <a:t>Red</a:t>
                      </a:r>
                      <a:endParaRPr lang="en-US" sz="1400" dirty="0">
                        <a:latin typeface="+mn-lt"/>
                        <a:cs typeface="Arial" pitchFamily="34" charset="0"/>
                      </a:endParaRPr>
                    </a:p>
                  </a:txBody>
                  <a:tcPr>
                    <a:solidFill>
                      <a:srgbClr val="FF0000"/>
                    </a:solidFill>
                  </a:tcPr>
                </a:tc>
                <a:tc>
                  <a:txBody>
                    <a:bodyPr/>
                    <a:lstStyle/>
                    <a:p>
                      <a:r>
                        <a:rPr lang="en-US" sz="1400" dirty="0" smtClean="0">
                          <a:latin typeface="+mn-lt"/>
                          <a:cs typeface="Arial" pitchFamily="34" charset="0"/>
                        </a:rPr>
                        <a:t>Yellow</a:t>
                      </a:r>
                      <a:endParaRPr lang="en-US" sz="1400" dirty="0">
                        <a:latin typeface="+mn-lt"/>
                        <a:cs typeface="Arial" pitchFamily="34" charset="0"/>
                      </a:endParaRPr>
                    </a:p>
                  </a:txBody>
                  <a:tcPr>
                    <a:solidFill>
                      <a:srgbClr val="FFFF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latin typeface="+mn-lt"/>
                          <a:cs typeface="Arial" pitchFamily="34" charset="0"/>
                        </a:rPr>
                        <a:t>Resource challenges</a:t>
                      </a:r>
                    </a:p>
                  </a:txBody>
                  <a:tcPr/>
                </a:tc>
              </a:tr>
              <a:tr h="380579">
                <a:tc>
                  <a:txBody>
                    <a:bodyPr/>
                    <a:lstStyle/>
                    <a:p>
                      <a:r>
                        <a:rPr lang="en-US" sz="1400" dirty="0" smtClean="0">
                          <a:latin typeface="+mn-lt"/>
                          <a:cs typeface="Arial" pitchFamily="34" charset="0"/>
                        </a:rPr>
                        <a:t>Financials</a:t>
                      </a:r>
                      <a:endParaRPr lang="en-US" sz="1400" dirty="0">
                        <a:latin typeface="+mn-lt"/>
                        <a:cs typeface="Arial" pitchFamily="34" charset="0"/>
                      </a:endParaRPr>
                    </a:p>
                  </a:txBody>
                  <a:tcPr/>
                </a:tc>
                <a:tc>
                  <a:txBody>
                    <a:bodyPr/>
                    <a:lstStyle/>
                    <a:p>
                      <a:r>
                        <a:rPr lang="en-US" sz="1400" dirty="0" smtClean="0">
                          <a:latin typeface="+mn-lt"/>
                          <a:cs typeface="Arial" pitchFamily="34" charset="0"/>
                        </a:rPr>
                        <a:t>Green</a:t>
                      </a:r>
                      <a:endParaRPr lang="en-US" sz="1400" dirty="0">
                        <a:latin typeface="+mn-lt"/>
                        <a:cs typeface="Arial" pitchFamily="34" charset="0"/>
                      </a:endParaRPr>
                    </a:p>
                  </a:txBody>
                  <a:tcPr>
                    <a:solidFill>
                      <a:srgbClr val="00B050"/>
                    </a:solidFill>
                  </a:tcPr>
                </a:tc>
                <a:tc>
                  <a:txBody>
                    <a:bodyPr/>
                    <a:lstStyle/>
                    <a:p>
                      <a:pPr marL="0" algn="l" defTabSz="914400" rtl="0" eaLnBrk="1" latinLnBrk="0" hangingPunct="1"/>
                      <a:r>
                        <a:rPr lang="en-US" sz="1400" kern="1200" dirty="0" smtClean="0">
                          <a:solidFill>
                            <a:schemeClr val="dk1"/>
                          </a:solidFill>
                          <a:latin typeface="+mn-lt"/>
                          <a:ea typeface="+mn-ea"/>
                          <a:cs typeface="Arial" pitchFamily="34" charset="0"/>
                        </a:rPr>
                        <a:t>Green</a:t>
                      </a:r>
                      <a:endParaRPr lang="en-US" sz="1400" kern="1200" dirty="0">
                        <a:solidFill>
                          <a:schemeClr val="dk1"/>
                        </a:solidFill>
                        <a:latin typeface="+mn-lt"/>
                        <a:ea typeface="+mn-ea"/>
                        <a:cs typeface="Arial" pitchFamily="34" charset="0"/>
                      </a:endParaRPr>
                    </a:p>
                  </a:txBody>
                  <a:tcPr>
                    <a:solidFill>
                      <a:srgbClr val="00B050"/>
                    </a:solidFill>
                  </a:tcPr>
                </a:tc>
                <a:tc>
                  <a:txBody>
                    <a:bodyPr/>
                    <a:lstStyle/>
                    <a:p>
                      <a:endParaRPr lang="en-US" sz="1400" dirty="0">
                        <a:latin typeface="+mn-lt"/>
                        <a:cs typeface="Arial" pitchFamily="34" charset="0"/>
                      </a:endParaRPr>
                    </a:p>
                  </a:txBody>
                  <a:tcPr/>
                </a:tc>
              </a:tr>
              <a:tr h="336616">
                <a:tc>
                  <a:txBody>
                    <a:bodyPr/>
                    <a:lstStyle/>
                    <a:p>
                      <a:r>
                        <a:rPr lang="en-US" sz="1400" dirty="0" smtClean="0">
                          <a:latin typeface="+mn-lt"/>
                          <a:cs typeface="Arial" pitchFamily="34" charset="0"/>
                        </a:rPr>
                        <a:t>Project Risks / Issues</a:t>
                      </a:r>
                      <a:endParaRPr lang="en-US" sz="1400" dirty="0">
                        <a:latin typeface="+mn-lt"/>
                        <a:cs typeface="Arial" pitchFamily="34" charset="0"/>
                      </a:endParaRPr>
                    </a:p>
                  </a:txBody>
                  <a:tcPr/>
                </a:tc>
                <a:tc>
                  <a:txBody>
                    <a:bodyPr/>
                    <a:lstStyle/>
                    <a:p>
                      <a:r>
                        <a:rPr lang="en-US" sz="1400" dirty="0" smtClean="0">
                          <a:latin typeface="+mn-lt"/>
                          <a:cs typeface="Arial" pitchFamily="34" charset="0"/>
                        </a:rPr>
                        <a:t>Yellow</a:t>
                      </a:r>
                      <a:endParaRPr lang="en-US" sz="1400" dirty="0">
                        <a:latin typeface="+mn-lt"/>
                        <a:cs typeface="Arial" pitchFamily="34" charset="0"/>
                      </a:endParaRPr>
                    </a:p>
                  </a:txBody>
                  <a:tcPr>
                    <a:solidFill>
                      <a:srgbClr val="FFFF00"/>
                    </a:solidFill>
                  </a:tcPr>
                </a:tc>
                <a:tc>
                  <a:txBody>
                    <a:bodyPr/>
                    <a:lstStyle/>
                    <a:p>
                      <a:pPr marL="0" algn="l" defTabSz="914400" rtl="0" eaLnBrk="1" latinLnBrk="0" hangingPunct="1"/>
                      <a:r>
                        <a:rPr lang="en-US" sz="1400" kern="1200" dirty="0" smtClean="0">
                          <a:solidFill>
                            <a:schemeClr val="dk1"/>
                          </a:solidFill>
                          <a:latin typeface="+mn-lt"/>
                          <a:ea typeface="+mn-ea"/>
                          <a:cs typeface="Arial" pitchFamily="34" charset="0"/>
                        </a:rPr>
                        <a:t>Green</a:t>
                      </a:r>
                      <a:endParaRPr lang="en-US" sz="1400" kern="1200" dirty="0">
                        <a:solidFill>
                          <a:schemeClr val="dk1"/>
                        </a:solidFill>
                        <a:latin typeface="+mn-lt"/>
                        <a:ea typeface="+mn-ea"/>
                        <a:cs typeface="Arial" pitchFamily="34" charset="0"/>
                      </a:endParaRPr>
                    </a:p>
                  </a:txBody>
                  <a:tcPr>
                    <a:solidFill>
                      <a:srgbClr val="00B050"/>
                    </a:solidFill>
                  </a:tcPr>
                </a:tc>
                <a:tc>
                  <a:txBody>
                    <a:bodyPr/>
                    <a:lstStyle/>
                    <a:p>
                      <a:endParaRPr lang="en-US" sz="1400" dirty="0">
                        <a:latin typeface="+mn-lt"/>
                        <a:cs typeface="Arial" pitchFamily="34" charset="0"/>
                      </a:endParaRPr>
                    </a:p>
                  </a:txBody>
                  <a:tcPr/>
                </a:tc>
              </a:tr>
              <a:tr h="380579">
                <a:tc>
                  <a:txBody>
                    <a:bodyPr/>
                    <a:lstStyle/>
                    <a:p>
                      <a:r>
                        <a:rPr lang="en-US" sz="1400" dirty="0" smtClean="0">
                          <a:latin typeface="+mn-lt"/>
                          <a:cs typeface="Arial" pitchFamily="34" charset="0"/>
                        </a:rPr>
                        <a:t>Resources</a:t>
                      </a:r>
                      <a:endParaRPr lang="en-US" sz="1400" dirty="0">
                        <a:latin typeface="+mn-lt"/>
                        <a:cs typeface="Arial" pitchFamily="34" charset="0"/>
                      </a:endParaRPr>
                    </a:p>
                  </a:txBody>
                  <a:tcPr/>
                </a:tc>
                <a:tc>
                  <a:txBody>
                    <a:bodyPr/>
                    <a:lstStyle/>
                    <a:p>
                      <a:r>
                        <a:rPr lang="en-US" sz="1400" dirty="0" smtClean="0">
                          <a:latin typeface="+mn-lt"/>
                          <a:cs typeface="Arial" pitchFamily="34" charset="0"/>
                        </a:rPr>
                        <a:t>Yellow</a:t>
                      </a:r>
                      <a:endParaRPr lang="en-US" sz="1400" dirty="0">
                        <a:latin typeface="+mn-lt"/>
                        <a:cs typeface="Arial" pitchFamily="34" charset="0"/>
                      </a:endParaRPr>
                    </a:p>
                  </a:txBody>
                  <a:tcPr>
                    <a:solidFill>
                      <a:srgbClr val="FFFF00"/>
                    </a:solidFill>
                  </a:tcPr>
                </a:tc>
                <a:tc>
                  <a:txBody>
                    <a:bodyPr/>
                    <a:lstStyle/>
                    <a:p>
                      <a:pPr marL="0" algn="l" defTabSz="914400" rtl="0" eaLnBrk="1" latinLnBrk="0" hangingPunct="1"/>
                      <a:r>
                        <a:rPr lang="en-US" sz="1400" kern="1200" dirty="0" smtClean="0">
                          <a:solidFill>
                            <a:schemeClr val="dk1"/>
                          </a:solidFill>
                          <a:latin typeface="+mn-lt"/>
                          <a:ea typeface="+mn-ea"/>
                          <a:cs typeface="Arial" pitchFamily="34" charset="0"/>
                        </a:rPr>
                        <a:t>Yellow</a:t>
                      </a:r>
                      <a:endParaRPr lang="en-US" sz="1400" kern="1200" dirty="0">
                        <a:solidFill>
                          <a:schemeClr val="dk1"/>
                        </a:solidFill>
                        <a:latin typeface="+mn-lt"/>
                        <a:ea typeface="+mn-ea"/>
                        <a:cs typeface="Arial" pitchFamily="34" charset="0"/>
                      </a:endParaRPr>
                    </a:p>
                  </a:txBody>
                  <a:tcPr>
                    <a:solidFill>
                      <a:srgbClr val="FFFF00"/>
                    </a:solidFill>
                  </a:tcPr>
                </a:tc>
                <a:tc>
                  <a:txBody>
                    <a:bodyPr/>
                    <a:lstStyle/>
                    <a:p>
                      <a:r>
                        <a:rPr lang="en-US" sz="1400" dirty="0" smtClean="0">
                          <a:latin typeface="+mn-lt"/>
                          <a:cs typeface="Arial" pitchFamily="34" charset="0"/>
                        </a:rPr>
                        <a:t>Productivity,</a:t>
                      </a:r>
                      <a:r>
                        <a:rPr lang="en-US" sz="1400" baseline="0" dirty="0" smtClean="0">
                          <a:latin typeface="+mn-lt"/>
                          <a:cs typeface="Arial" pitchFamily="34" charset="0"/>
                        </a:rPr>
                        <a:t> availability</a:t>
                      </a:r>
                      <a:endParaRPr lang="en-US" sz="1400" dirty="0">
                        <a:latin typeface="+mn-lt"/>
                        <a:cs typeface="Arial" pitchFamily="34" charset="0"/>
                      </a:endParaRPr>
                    </a:p>
                  </a:txBody>
                  <a:tcPr/>
                </a:tc>
              </a:tr>
            </a:tbl>
          </a:graphicData>
        </a:graphic>
      </p:graphicFrame>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Accomplishments This Period</a:t>
            </a:r>
            <a:endParaRPr lang="en-US" dirty="0"/>
          </a:p>
        </p:txBody>
      </p:sp>
      <p:graphicFrame>
        <p:nvGraphicFramePr>
          <p:cNvPr id="3" name="Table 2"/>
          <p:cNvGraphicFramePr>
            <a:graphicFrameLocks noGrp="1"/>
          </p:cNvGraphicFramePr>
          <p:nvPr/>
        </p:nvGraphicFramePr>
        <p:xfrm>
          <a:off x="455611" y="1524000"/>
          <a:ext cx="10972800" cy="4480560"/>
        </p:xfrm>
        <a:graphic>
          <a:graphicData uri="http://schemas.openxmlformats.org/drawingml/2006/table">
            <a:tbl>
              <a:tblPr firstRow="1" bandRow="1">
                <a:tableStyleId>{5C22544A-7EE6-4342-B048-85BDC9FD1C3A}</a:tableStyleId>
              </a:tblPr>
              <a:tblGrid>
                <a:gridCol w="1941341"/>
                <a:gridCol w="1193744"/>
                <a:gridCol w="1567543"/>
                <a:gridCol w="1567543"/>
                <a:gridCol w="1567543"/>
                <a:gridCol w="1567543"/>
                <a:gridCol w="1567543"/>
              </a:tblGrid>
              <a:tr h="370840">
                <a:tc>
                  <a:txBody>
                    <a:bodyPr/>
                    <a:lstStyle/>
                    <a:p>
                      <a:pPr algn="ctr"/>
                      <a:r>
                        <a:rPr lang="en-US" dirty="0" smtClean="0"/>
                        <a:t>Key Deliverable/</a:t>
                      </a:r>
                      <a:r>
                        <a:rPr lang="en-US" baseline="0" dirty="0" smtClean="0"/>
                        <a:t> Milestone</a:t>
                      </a:r>
                      <a:endParaRPr lang="en-US" dirty="0"/>
                    </a:p>
                  </a:txBody>
                  <a:tcPr/>
                </a:tc>
                <a:tc>
                  <a:txBody>
                    <a:bodyPr/>
                    <a:lstStyle/>
                    <a:p>
                      <a:pPr algn="ctr"/>
                      <a:r>
                        <a:rPr lang="en-US" dirty="0" smtClean="0"/>
                        <a:t>Owner</a:t>
                      </a:r>
                      <a:endParaRPr lang="en-US" dirty="0"/>
                    </a:p>
                  </a:txBody>
                  <a:tcPr/>
                </a:tc>
                <a:tc>
                  <a:txBody>
                    <a:bodyPr/>
                    <a:lstStyle/>
                    <a:p>
                      <a:pPr algn="ctr"/>
                      <a:r>
                        <a:rPr lang="en-US" dirty="0" smtClean="0"/>
                        <a:t>Est. Date</a:t>
                      </a:r>
                      <a:endParaRPr lang="en-US" dirty="0"/>
                    </a:p>
                  </a:txBody>
                  <a:tcPr/>
                </a:tc>
                <a:tc>
                  <a:txBody>
                    <a:bodyPr/>
                    <a:lstStyle/>
                    <a:p>
                      <a:pPr algn="ctr"/>
                      <a:r>
                        <a:rPr lang="en-US" dirty="0" smtClean="0"/>
                        <a:t>Baseline Date</a:t>
                      </a:r>
                      <a:endParaRPr lang="en-US" dirty="0"/>
                    </a:p>
                  </a:txBody>
                  <a:tcPr/>
                </a:tc>
                <a:tc>
                  <a:txBody>
                    <a:bodyPr/>
                    <a:lstStyle/>
                    <a:p>
                      <a:pPr algn="ctr"/>
                      <a:r>
                        <a:rPr lang="en-US" dirty="0" smtClean="0"/>
                        <a:t>Actual Date</a:t>
                      </a:r>
                      <a:endParaRPr lang="en-US" dirty="0"/>
                    </a:p>
                  </a:txBody>
                  <a:tcPr/>
                </a:tc>
                <a:tc>
                  <a:txBody>
                    <a:bodyPr/>
                    <a:lstStyle/>
                    <a:p>
                      <a:pPr algn="ctr"/>
                      <a:r>
                        <a:rPr lang="en-US" dirty="0" smtClean="0"/>
                        <a:t>% Complete</a:t>
                      </a:r>
                      <a:endParaRPr lang="en-US" dirty="0"/>
                    </a:p>
                  </a:txBody>
                  <a:tcPr/>
                </a:tc>
                <a:tc>
                  <a:txBody>
                    <a:bodyPr/>
                    <a:lstStyle/>
                    <a:p>
                      <a:pPr algn="ctr"/>
                      <a:r>
                        <a:rPr lang="en-US" dirty="0" smtClean="0"/>
                        <a:t>Status</a:t>
                      </a:r>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r>
                        <a:rPr lang="en-US" dirty="0" smtClean="0"/>
                        <a:t>In-Progress</a:t>
                      </a:r>
                    </a:p>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In-Progress</a:t>
                      </a:r>
                    </a:p>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r>
                        <a:rPr lang="en-US" dirty="0" smtClean="0"/>
                        <a:t>Ahead</a:t>
                      </a:r>
                    </a:p>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r>
                        <a:rPr lang="en-US" dirty="0" smtClean="0"/>
                        <a:t>Complete</a:t>
                      </a:r>
                    </a:p>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r>
                        <a:rPr lang="en-US" dirty="0" smtClean="0"/>
                        <a:t>Ahead</a:t>
                      </a:r>
                    </a:p>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r>
                        <a:rPr lang="en-US" dirty="0" smtClean="0"/>
                        <a:t>Complete</a:t>
                      </a:r>
                    </a:p>
                    <a:p>
                      <a:endParaRPr lang="en-US" dirty="0"/>
                    </a:p>
                  </a:txBody>
                  <a:tcPr/>
                </a:tc>
              </a:tr>
            </a:tbl>
          </a:graphicData>
        </a:graphic>
      </p:graphicFrame>
      <p:sp>
        <p:nvSpPr>
          <p:cNvPr id="4" name="Oval 515"/>
          <p:cNvSpPr>
            <a:spLocks noChangeArrowheads="1"/>
          </p:cNvSpPr>
          <p:nvPr/>
        </p:nvSpPr>
        <p:spPr bwMode="auto">
          <a:xfrm>
            <a:off x="11237912" y="2286000"/>
            <a:ext cx="319087" cy="304800"/>
          </a:xfrm>
          <a:prstGeom prst="ellipse">
            <a:avLst/>
          </a:prstGeom>
          <a:solidFill>
            <a:srgbClr val="00FF00"/>
          </a:solidFill>
          <a:ln w="9525" algn="ctr">
            <a:solidFill>
              <a:schemeClr val="hlink"/>
            </a:solidFill>
            <a:round/>
            <a:headEnd/>
            <a:tailEnd/>
          </a:ln>
        </p:spPr>
        <p:txBody>
          <a:bodyPr wrap="none" lIns="92075" tIns="46038" rIns="92075" bIns="46038" anchor="ctr">
            <a:spAutoFit/>
          </a:bodyPr>
          <a:lstStyle/>
          <a:p>
            <a:endParaRPr lang="en-US" dirty="0"/>
          </a:p>
        </p:txBody>
      </p:sp>
      <p:sp>
        <p:nvSpPr>
          <p:cNvPr id="19" name="Oval 515"/>
          <p:cNvSpPr>
            <a:spLocks noChangeArrowheads="1"/>
          </p:cNvSpPr>
          <p:nvPr/>
        </p:nvSpPr>
        <p:spPr bwMode="auto">
          <a:xfrm>
            <a:off x="11237912" y="2971800"/>
            <a:ext cx="319087" cy="304800"/>
          </a:xfrm>
          <a:prstGeom prst="ellipse">
            <a:avLst/>
          </a:prstGeom>
          <a:solidFill>
            <a:srgbClr val="00FF00"/>
          </a:solidFill>
          <a:ln w="9525" algn="ctr">
            <a:solidFill>
              <a:schemeClr val="hlink"/>
            </a:solidFill>
            <a:round/>
            <a:headEnd/>
            <a:tailEnd/>
          </a:ln>
        </p:spPr>
        <p:txBody>
          <a:bodyPr wrap="none" lIns="92075" tIns="46038" rIns="92075" bIns="46038" anchor="ctr">
            <a:spAutoFit/>
          </a:bodyPr>
          <a:lstStyle/>
          <a:p>
            <a:endParaRPr lang="en-US" dirty="0"/>
          </a:p>
        </p:txBody>
      </p:sp>
      <p:sp>
        <p:nvSpPr>
          <p:cNvPr id="20" name="Oval 515"/>
          <p:cNvSpPr>
            <a:spLocks noChangeArrowheads="1"/>
          </p:cNvSpPr>
          <p:nvPr/>
        </p:nvSpPr>
        <p:spPr bwMode="auto">
          <a:xfrm>
            <a:off x="11237912" y="3581400"/>
            <a:ext cx="319087" cy="304800"/>
          </a:xfrm>
          <a:prstGeom prst="ellipse">
            <a:avLst/>
          </a:prstGeom>
          <a:solidFill>
            <a:srgbClr val="00FF00"/>
          </a:solidFill>
          <a:ln w="9525" algn="ctr">
            <a:solidFill>
              <a:schemeClr val="hlink"/>
            </a:solidFill>
            <a:round/>
            <a:headEnd/>
            <a:tailEnd/>
          </a:ln>
        </p:spPr>
        <p:txBody>
          <a:bodyPr wrap="none" lIns="92075" tIns="46038" rIns="92075" bIns="46038" anchor="ctr">
            <a:spAutoFit/>
          </a:bodyPr>
          <a:lstStyle/>
          <a:p>
            <a:endParaRPr lang="en-US" dirty="0"/>
          </a:p>
        </p:txBody>
      </p:sp>
      <p:sp>
        <p:nvSpPr>
          <p:cNvPr id="21" name="Oval 521"/>
          <p:cNvSpPr>
            <a:spLocks noChangeArrowheads="1"/>
          </p:cNvSpPr>
          <p:nvPr/>
        </p:nvSpPr>
        <p:spPr bwMode="auto">
          <a:xfrm>
            <a:off x="11237912" y="4191000"/>
            <a:ext cx="319087" cy="304800"/>
          </a:xfrm>
          <a:prstGeom prst="ellipse">
            <a:avLst/>
          </a:prstGeom>
          <a:solidFill>
            <a:srgbClr val="3366FF"/>
          </a:solidFill>
          <a:ln w="9525" algn="ctr">
            <a:solidFill>
              <a:schemeClr val="hlink"/>
            </a:solidFill>
            <a:round/>
            <a:headEnd/>
            <a:tailEnd/>
          </a:ln>
        </p:spPr>
        <p:txBody>
          <a:bodyPr wrap="none" lIns="92075" tIns="46038" rIns="92075" bIns="46038" anchor="ctr">
            <a:spAutoFit/>
          </a:bodyPr>
          <a:lstStyle/>
          <a:p>
            <a:endParaRPr lang="en-US" dirty="0"/>
          </a:p>
        </p:txBody>
      </p:sp>
      <p:sp>
        <p:nvSpPr>
          <p:cNvPr id="23" name="Oval 521"/>
          <p:cNvSpPr>
            <a:spLocks noChangeArrowheads="1"/>
          </p:cNvSpPr>
          <p:nvPr/>
        </p:nvSpPr>
        <p:spPr bwMode="auto">
          <a:xfrm>
            <a:off x="11237912" y="5486400"/>
            <a:ext cx="319087" cy="304800"/>
          </a:xfrm>
          <a:prstGeom prst="ellipse">
            <a:avLst/>
          </a:prstGeom>
          <a:solidFill>
            <a:srgbClr val="3366FF"/>
          </a:solidFill>
          <a:ln w="9525" algn="ctr">
            <a:solidFill>
              <a:schemeClr val="hlink"/>
            </a:solidFill>
            <a:round/>
            <a:headEnd/>
            <a:tailEnd/>
          </a:ln>
        </p:spPr>
        <p:txBody>
          <a:bodyPr wrap="none" lIns="92075" tIns="46038" rIns="92075" bIns="46038" anchor="ctr">
            <a:spAutoFit/>
          </a:bodyPr>
          <a:lstStyle/>
          <a:p>
            <a:endParaRPr lang="en-US" dirty="0"/>
          </a:p>
        </p:txBody>
      </p:sp>
      <p:sp>
        <p:nvSpPr>
          <p:cNvPr id="24" name="Oval 515"/>
          <p:cNvSpPr>
            <a:spLocks noChangeArrowheads="1"/>
          </p:cNvSpPr>
          <p:nvPr/>
        </p:nvSpPr>
        <p:spPr bwMode="auto">
          <a:xfrm>
            <a:off x="11237912" y="4876800"/>
            <a:ext cx="319087" cy="304800"/>
          </a:xfrm>
          <a:prstGeom prst="ellipse">
            <a:avLst/>
          </a:prstGeom>
          <a:solidFill>
            <a:srgbClr val="00FF00"/>
          </a:solidFill>
          <a:ln w="9525" algn="ctr">
            <a:solidFill>
              <a:schemeClr val="hlink"/>
            </a:solidFill>
            <a:round/>
            <a:headEnd/>
            <a:tailEnd/>
          </a:ln>
        </p:spPr>
        <p:txBody>
          <a:bodyPr wrap="none" lIns="92075" tIns="46038" rIns="92075" bIns="46038" anchor="ctr">
            <a:spAutoFit/>
          </a:bodyPr>
          <a:lstStyle/>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High-Level Schedule Timeline &lt;Option 1&gt;</a:t>
            </a:r>
            <a:endParaRPr lang="en-US" dirty="0"/>
          </a:p>
        </p:txBody>
      </p:sp>
      <p:sp>
        <p:nvSpPr>
          <p:cNvPr id="3" name="AutoShape 54"/>
          <p:cNvSpPr>
            <a:spLocks noChangeAspect="1" noChangeArrowheads="1"/>
          </p:cNvSpPr>
          <p:nvPr/>
        </p:nvSpPr>
        <p:spPr bwMode="auto">
          <a:xfrm>
            <a:off x="1422283" y="4516068"/>
            <a:ext cx="8462425" cy="765544"/>
          </a:xfrm>
          <a:prstGeom prst="rightArrow">
            <a:avLst>
              <a:gd name="adj1" fmla="val 56472"/>
              <a:gd name="adj2" fmla="val 74615"/>
            </a:avLst>
          </a:prstGeom>
          <a:solidFill>
            <a:schemeClr val="bg2"/>
          </a:solidFill>
          <a:ln w="9525" algn="ctr">
            <a:noFill/>
            <a:miter lim="800000"/>
            <a:headEnd/>
            <a:tailEnd/>
          </a:ln>
          <a:effectLst/>
        </p:spPr>
        <p:txBody>
          <a:bodyPr wrap="none" lIns="0" tIns="0" rIns="0" bIns="0" anchor="ctr"/>
          <a:lstStyle/>
          <a:p>
            <a:endParaRPr lang="en-US" dirty="0"/>
          </a:p>
        </p:txBody>
      </p:sp>
      <p:graphicFrame>
        <p:nvGraphicFramePr>
          <p:cNvPr id="4" name="Table 3"/>
          <p:cNvGraphicFramePr>
            <a:graphicFrameLocks noGrp="1"/>
          </p:cNvGraphicFramePr>
          <p:nvPr/>
        </p:nvGraphicFramePr>
        <p:xfrm>
          <a:off x="1467264" y="4776920"/>
          <a:ext cx="8045304" cy="243840"/>
        </p:xfrm>
        <a:graphic>
          <a:graphicData uri="http://schemas.openxmlformats.org/drawingml/2006/table">
            <a:tbl>
              <a:tblPr>
                <a:tableStyleId>{00A15C55-8517-42AA-B614-E9B94910E393}</a:tableStyleId>
              </a:tblPr>
              <a:tblGrid>
                <a:gridCol w="670442"/>
                <a:gridCol w="670442"/>
                <a:gridCol w="670442"/>
                <a:gridCol w="670442"/>
                <a:gridCol w="670442"/>
                <a:gridCol w="670442"/>
                <a:gridCol w="670442"/>
                <a:gridCol w="670442"/>
                <a:gridCol w="670442"/>
                <a:gridCol w="670442"/>
                <a:gridCol w="670442"/>
                <a:gridCol w="670442"/>
              </a:tblGrid>
              <a:tr h="219149">
                <a:tc>
                  <a:txBody>
                    <a:bodyPr/>
                    <a:lstStyle/>
                    <a:p>
                      <a:pPr algn="ctr"/>
                      <a:r>
                        <a:rPr lang="en-US" sz="1000" dirty="0" smtClean="0"/>
                        <a:t>Jan-12</a:t>
                      </a:r>
                      <a:endParaRPr lang="en-US" sz="1000" dirty="0"/>
                    </a:p>
                  </a:txBody>
                  <a:tcPr anchor="ctr">
                    <a:solidFill>
                      <a:schemeClr val="bg2"/>
                    </a:solidFill>
                  </a:tcPr>
                </a:tc>
                <a:tc>
                  <a:txBody>
                    <a:bodyPr/>
                    <a:lstStyle/>
                    <a:p>
                      <a:pPr algn="ctr"/>
                      <a:r>
                        <a:rPr lang="en-US" sz="1000" dirty="0" smtClean="0"/>
                        <a:t>Feb-12</a:t>
                      </a:r>
                      <a:endParaRPr lang="en-US" sz="1000" dirty="0"/>
                    </a:p>
                  </a:txBody>
                  <a:tcPr anchor="ctr">
                    <a:solidFill>
                      <a:schemeClr val="bg2"/>
                    </a:solidFill>
                  </a:tcPr>
                </a:tc>
                <a:tc>
                  <a:txBody>
                    <a:bodyPr/>
                    <a:lstStyle/>
                    <a:p>
                      <a:pPr algn="ctr"/>
                      <a:r>
                        <a:rPr lang="en-US" sz="1000" dirty="0" smtClean="0"/>
                        <a:t>Mar-12</a:t>
                      </a:r>
                      <a:endParaRPr lang="en-US" sz="1000" dirty="0"/>
                    </a:p>
                  </a:txBody>
                  <a:tcPr anchor="ctr">
                    <a:solidFill>
                      <a:schemeClr val="bg2"/>
                    </a:solidFill>
                  </a:tcPr>
                </a:tc>
                <a:tc>
                  <a:txBody>
                    <a:bodyPr/>
                    <a:lstStyle/>
                    <a:p>
                      <a:pPr algn="ctr"/>
                      <a:r>
                        <a:rPr lang="en-US" sz="1000" dirty="0" smtClean="0"/>
                        <a:t>Apr-12</a:t>
                      </a:r>
                      <a:endParaRPr lang="en-US" sz="1000" dirty="0"/>
                    </a:p>
                  </a:txBody>
                  <a:tcPr anchor="ctr">
                    <a:solidFill>
                      <a:schemeClr val="bg2"/>
                    </a:solidFill>
                  </a:tcPr>
                </a:tc>
                <a:tc>
                  <a:txBody>
                    <a:bodyPr/>
                    <a:lstStyle/>
                    <a:p>
                      <a:pPr algn="ctr"/>
                      <a:r>
                        <a:rPr lang="en-US" sz="1000" dirty="0" smtClean="0"/>
                        <a:t>May-12</a:t>
                      </a:r>
                      <a:endParaRPr lang="en-US" sz="1000" dirty="0"/>
                    </a:p>
                  </a:txBody>
                  <a:tcPr anchor="ctr">
                    <a:solidFill>
                      <a:schemeClr val="bg2"/>
                    </a:solidFill>
                  </a:tcPr>
                </a:tc>
                <a:tc>
                  <a:txBody>
                    <a:bodyPr/>
                    <a:lstStyle/>
                    <a:p>
                      <a:pPr algn="ctr"/>
                      <a:r>
                        <a:rPr lang="en-US" sz="1000" dirty="0" smtClean="0"/>
                        <a:t>Jun-12</a:t>
                      </a:r>
                      <a:endParaRPr lang="en-US" sz="1000" dirty="0"/>
                    </a:p>
                  </a:txBody>
                  <a:tcPr anchor="ctr">
                    <a:solidFill>
                      <a:schemeClr val="bg2"/>
                    </a:solidFill>
                  </a:tcPr>
                </a:tc>
                <a:tc>
                  <a:txBody>
                    <a:bodyPr/>
                    <a:lstStyle/>
                    <a:p>
                      <a:pPr algn="ctr"/>
                      <a:r>
                        <a:rPr lang="en-US" sz="1000" dirty="0" smtClean="0"/>
                        <a:t>Jul-12</a:t>
                      </a:r>
                      <a:endParaRPr lang="en-US" sz="1000" dirty="0"/>
                    </a:p>
                  </a:txBody>
                  <a:tcPr anchor="ctr">
                    <a:solidFill>
                      <a:schemeClr val="bg2"/>
                    </a:solidFill>
                  </a:tcPr>
                </a:tc>
                <a:tc>
                  <a:txBody>
                    <a:bodyPr/>
                    <a:lstStyle/>
                    <a:p>
                      <a:pPr algn="ctr"/>
                      <a:r>
                        <a:rPr lang="en-US" sz="1000" dirty="0" smtClean="0"/>
                        <a:t>Aug-12</a:t>
                      </a:r>
                      <a:endParaRPr lang="en-US" sz="1000" dirty="0"/>
                    </a:p>
                  </a:txBody>
                  <a:tcPr anchor="ctr">
                    <a:solidFill>
                      <a:schemeClr val="bg2"/>
                    </a:solidFill>
                  </a:tcPr>
                </a:tc>
                <a:tc>
                  <a:txBody>
                    <a:bodyPr/>
                    <a:lstStyle/>
                    <a:p>
                      <a:pPr algn="ctr"/>
                      <a:r>
                        <a:rPr lang="en-US" sz="1000" dirty="0" smtClean="0"/>
                        <a:t>Sep-12</a:t>
                      </a:r>
                      <a:endParaRPr lang="en-US" sz="1000" dirty="0"/>
                    </a:p>
                  </a:txBody>
                  <a:tcPr anchor="ctr">
                    <a:solidFill>
                      <a:schemeClr val="bg2"/>
                    </a:solidFill>
                  </a:tcPr>
                </a:tc>
                <a:tc>
                  <a:txBody>
                    <a:bodyPr/>
                    <a:lstStyle/>
                    <a:p>
                      <a:pPr algn="ctr"/>
                      <a:r>
                        <a:rPr lang="en-US" sz="1000" dirty="0" smtClean="0"/>
                        <a:t>Oct-12</a:t>
                      </a:r>
                      <a:endParaRPr lang="en-US" sz="1000" dirty="0"/>
                    </a:p>
                  </a:txBody>
                  <a:tcPr anchor="ctr">
                    <a:solidFill>
                      <a:schemeClr val="bg2"/>
                    </a:solidFill>
                  </a:tcPr>
                </a:tc>
                <a:tc>
                  <a:txBody>
                    <a:bodyPr/>
                    <a:lstStyle/>
                    <a:p>
                      <a:pPr algn="ctr"/>
                      <a:r>
                        <a:rPr lang="en-US" sz="1000" dirty="0" smtClean="0"/>
                        <a:t>Nov-12</a:t>
                      </a:r>
                      <a:endParaRPr lang="en-US" sz="1000" dirty="0"/>
                    </a:p>
                  </a:txBody>
                  <a:tcPr anchor="ctr">
                    <a:solidFill>
                      <a:schemeClr val="bg2"/>
                    </a:solidFill>
                  </a:tcPr>
                </a:tc>
                <a:tc>
                  <a:txBody>
                    <a:bodyPr/>
                    <a:lstStyle/>
                    <a:p>
                      <a:pPr algn="ctr"/>
                      <a:r>
                        <a:rPr lang="en-US" sz="1000" dirty="0" smtClean="0"/>
                        <a:t>Dec-12</a:t>
                      </a:r>
                      <a:endParaRPr lang="en-US" sz="1000" dirty="0"/>
                    </a:p>
                  </a:txBody>
                  <a:tcPr anchor="ctr">
                    <a:solidFill>
                      <a:schemeClr val="bg2"/>
                    </a:solidFill>
                  </a:tcPr>
                </a:tc>
              </a:tr>
            </a:tbl>
          </a:graphicData>
        </a:graphic>
      </p:graphicFrame>
      <p:graphicFrame>
        <p:nvGraphicFramePr>
          <p:cNvPr id="5" name="Table 4"/>
          <p:cNvGraphicFramePr>
            <a:graphicFrameLocks noGrp="1"/>
          </p:cNvGraphicFramePr>
          <p:nvPr/>
        </p:nvGraphicFramePr>
        <p:xfrm>
          <a:off x="1339676" y="1524000"/>
          <a:ext cx="8782495" cy="1444733"/>
        </p:xfrm>
        <a:graphic>
          <a:graphicData uri="http://schemas.openxmlformats.org/drawingml/2006/table">
            <a:tbl>
              <a:tblPr firstRow="1" bandRow="1">
                <a:tableStyleId>{5C22544A-7EE6-4342-B048-85BDC9FD1C3A}</a:tableStyleId>
              </a:tblPr>
              <a:tblGrid>
                <a:gridCol w="1756499"/>
                <a:gridCol w="1756499"/>
                <a:gridCol w="1756499"/>
                <a:gridCol w="1756499"/>
                <a:gridCol w="1756499"/>
              </a:tblGrid>
              <a:tr h="370840">
                <a:tc>
                  <a:txBody>
                    <a:bodyPr/>
                    <a:lstStyle/>
                    <a:p>
                      <a:pPr algn="ctr"/>
                      <a:r>
                        <a:rPr lang="en-US" sz="1400" dirty="0" smtClean="0"/>
                        <a:t>Inception</a:t>
                      </a:r>
                      <a:endParaRPr lang="en-US" sz="1400" dirty="0"/>
                    </a:p>
                  </a:txBody>
                  <a:tcPr/>
                </a:tc>
                <a:tc>
                  <a:txBody>
                    <a:bodyPr/>
                    <a:lstStyle/>
                    <a:p>
                      <a:pPr algn="ctr"/>
                      <a:r>
                        <a:rPr lang="en-US" sz="1400" dirty="0" smtClean="0"/>
                        <a:t>Elaboration</a:t>
                      </a:r>
                      <a:endParaRPr lang="en-US" sz="1400" dirty="0"/>
                    </a:p>
                  </a:txBody>
                  <a:tcPr/>
                </a:tc>
                <a:tc>
                  <a:txBody>
                    <a:bodyPr/>
                    <a:lstStyle/>
                    <a:p>
                      <a:pPr algn="ctr"/>
                      <a:r>
                        <a:rPr lang="en-US" sz="1400" dirty="0" smtClean="0"/>
                        <a:t>Construction</a:t>
                      </a:r>
                      <a:endParaRPr lang="en-US" sz="1400" dirty="0"/>
                    </a:p>
                  </a:txBody>
                  <a:tcPr/>
                </a:tc>
                <a:tc>
                  <a:txBody>
                    <a:bodyPr/>
                    <a:lstStyle/>
                    <a:p>
                      <a:pPr algn="ctr"/>
                      <a:r>
                        <a:rPr lang="en-US" sz="1400" dirty="0" smtClean="0"/>
                        <a:t>Transition</a:t>
                      </a:r>
                      <a:endParaRPr lang="en-US" sz="1400" dirty="0"/>
                    </a:p>
                  </a:txBody>
                  <a:tcPr/>
                </a:tc>
                <a:tc>
                  <a:txBody>
                    <a:bodyPr/>
                    <a:lstStyle/>
                    <a:p>
                      <a:pPr algn="ctr"/>
                      <a:r>
                        <a:rPr lang="en-US" sz="1400" dirty="0" smtClean="0"/>
                        <a:t>Production</a:t>
                      </a:r>
                      <a:endParaRPr lang="en-US" sz="1400" dirty="0"/>
                    </a:p>
                  </a:txBody>
                  <a:tcPr/>
                </a:tc>
              </a:tr>
              <a:tr h="220453">
                <a:tc>
                  <a:txBody>
                    <a:bodyPr/>
                    <a:lstStyle/>
                    <a:p>
                      <a:r>
                        <a:rPr lang="en-US" sz="800" dirty="0" smtClean="0"/>
                        <a:t>Start:</a:t>
                      </a:r>
                      <a:endParaRPr lang="en-US" sz="800" dirty="0"/>
                    </a:p>
                  </a:txBody>
                  <a:tcPr anchor="ctr"/>
                </a:tc>
                <a:tc>
                  <a:txBody>
                    <a:bodyPr/>
                    <a:lstStyle/>
                    <a:p>
                      <a:r>
                        <a:rPr lang="en-US" sz="800" dirty="0" smtClean="0"/>
                        <a:t>Start:</a:t>
                      </a:r>
                      <a:endParaRPr lang="en-US" sz="800" dirty="0"/>
                    </a:p>
                  </a:txBody>
                  <a:tcPr anchor="ctr"/>
                </a:tc>
                <a:tc>
                  <a:txBody>
                    <a:bodyPr/>
                    <a:lstStyle/>
                    <a:p>
                      <a:r>
                        <a:rPr lang="en-US" sz="800" dirty="0" smtClean="0"/>
                        <a:t>Start:</a:t>
                      </a:r>
                      <a:endParaRPr lang="en-US" sz="800" dirty="0"/>
                    </a:p>
                  </a:txBody>
                  <a:tcPr anchor="ctr"/>
                </a:tc>
                <a:tc>
                  <a:txBody>
                    <a:bodyPr/>
                    <a:lstStyle/>
                    <a:p>
                      <a:r>
                        <a:rPr lang="en-US" sz="800" dirty="0" smtClean="0"/>
                        <a:t>Start:</a:t>
                      </a:r>
                      <a:endParaRPr lang="en-US" sz="800" dirty="0"/>
                    </a:p>
                  </a:txBody>
                  <a:tcPr anchor="ctr"/>
                </a:tc>
                <a:tc>
                  <a:txBody>
                    <a:bodyPr/>
                    <a:lstStyle/>
                    <a:p>
                      <a:r>
                        <a:rPr lang="en-US" sz="800" dirty="0" smtClean="0"/>
                        <a:t>Start:</a:t>
                      </a:r>
                      <a:endParaRPr lang="en-US" sz="800" dirty="0"/>
                    </a:p>
                  </a:txBody>
                  <a:tcPr anchor="ctr"/>
                </a:tc>
              </a:tr>
              <a:tr h="202019">
                <a:tc>
                  <a:txBody>
                    <a:bodyPr/>
                    <a:lstStyle/>
                    <a:p>
                      <a:r>
                        <a:rPr lang="en-US" sz="800" dirty="0" smtClean="0"/>
                        <a:t>End:</a:t>
                      </a:r>
                      <a:endParaRPr lang="en-US" sz="800" dirty="0"/>
                    </a:p>
                  </a:txBody>
                  <a:tcPr anchor="ctr"/>
                </a:tc>
                <a:tc>
                  <a:txBody>
                    <a:bodyPr/>
                    <a:lstStyle/>
                    <a:p>
                      <a:r>
                        <a:rPr lang="en-US" sz="800" dirty="0" smtClean="0"/>
                        <a:t>End:</a:t>
                      </a:r>
                      <a:endParaRPr lang="en-US" sz="800" dirty="0"/>
                    </a:p>
                  </a:txBody>
                  <a:tcPr anchor="ctr"/>
                </a:tc>
                <a:tc>
                  <a:txBody>
                    <a:bodyPr/>
                    <a:lstStyle/>
                    <a:p>
                      <a:r>
                        <a:rPr lang="en-US" sz="800" dirty="0" smtClean="0"/>
                        <a:t>End:</a:t>
                      </a:r>
                      <a:endParaRPr lang="en-US" sz="800" dirty="0"/>
                    </a:p>
                  </a:txBody>
                  <a:tcPr anchor="ctr"/>
                </a:tc>
                <a:tc>
                  <a:txBody>
                    <a:bodyPr/>
                    <a:lstStyle/>
                    <a:p>
                      <a:r>
                        <a:rPr lang="en-US" sz="800" dirty="0" smtClean="0"/>
                        <a:t>End:</a:t>
                      </a:r>
                      <a:endParaRPr lang="en-US" sz="800" dirty="0"/>
                    </a:p>
                  </a:txBody>
                  <a:tcPr anchor="ctr"/>
                </a:tc>
                <a:tc>
                  <a:txBody>
                    <a:bodyPr/>
                    <a:lstStyle/>
                    <a:p>
                      <a:r>
                        <a:rPr lang="en-US" sz="800" dirty="0" smtClean="0"/>
                        <a:t>End:</a:t>
                      </a:r>
                      <a:endParaRPr lang="en-US" sz="800" dirty="0"/>
                    </a:p>
                  </a:txBody>
                  <a:tcPr anchor="ctr"/>
                </a:tc>
              </a:tr>
              <a:tr h="370840">
                <a:tc>
                  <a:txBody>
                    <a:bodyPr/>
                    <a:lstStyle/>
                    <a:p>
                      <a:pPr>
                        <a:lnSpc>
                          <a:spcPct val="150000"/>
                        </a:lnSpc>
                        <a:buFontTx/>
                        <a:buBlip>
                          <a:blip r:embed="rId3"/>
                        </a:buBlip>
                      </a:pPr>
                      <a:r>
                        <a:rPr lang="en-US" sz="800" dirty="0" smtClean="0"/>
                        <a:t>Milestone:</a:t>
                      </a:r>
                    </a:p>
                    <a:p>
                      <a:pPr>
                        <a:lnSpc>
                          <a:spcPct val="150000"/>
                        </a:lnSpc>
                        <a:buFontTx/>
                        <a:buBlip>
                          <a:blip r:embed="rId3"/>
                        </a:buBlip>
                      </a:pPr>
                      <a:r>
                        <a:rPr lang="en-US" sz="800" dirty="0" smtClean="0"/>
                        <a:t>Milestone:</a:t>
                      </a:r>
                    </a:p>
                    <a:p>
                      <a:pPr>
                        <a:lnSpc>
                          <a:spcPct val="150000"/>
                        </a:lnSpc>
                        <a:buFontTx/>
                        <a:buBlip>
                          <a:blip r:embed="rId3"/>
                        </a:buBlip>
                      </a:pPr>
                      <a:r>
                        <a:rPr lang="en-US" sz="800" dirty="0" smtClean="0"/>
                        <a:t>Milestone:</a:t>
                      </a:r>
                      <a:endParaRPr lang="en-US" sz="800" dirty="0"/>
                    </a:p>
                  </a:txBody>
                  <a:tcPr/>
                </a:tc>
                <a:tc>
                  <a:txBody>
                    <a:bodyPr/>
                    <a:lstStyle/>
                    <a:p>
                      <a:pPr marL="0" marR="0" lvl="0" indent="0" algn="l" defTabSz="914400" rtl="0" eaLnBrk="1" fontAlgn="auto" latinLnBrk="0" hangingPunct="1">
                        <a:lnSpc>
                          <a:spcPct val="150000"/>
                        </a:lnSpc>
                        <a:spcBef>
                          <a:spcPts val="0"/>
                        </a:spcBef>
                        <a:spcAft>
                          <a:spcPts val="0"/>
                        </a:spcAft>
                        <a:buClrTx/>
                        <a:buSzTx/>
                        <a:buFontTx/>
                        <a:buBlip>
                          <a:blip r:embed="rId3"/>
                        </a:buBlip>
                        <a:tabLst/>
                        <a:defRPr/>
                      </a:pPr>
                      <a:r>
                        <a:rPr kumimoji="0" lang="en-US" sz="800" b="0" i="0" u="none" strike="noStrike" kern="1200" cap="none" spc="0" normalizeH="0" baseline="0" noProof="0" dirty="0" smtClean="0">
                          <a:ln>
                            <a:noFill/>
                          </a:ln>
                          <a:solidFill>
                            <a:srgbClr val="000000"/>
                          </a:solidFill>
                          <a:effectLst/>
                          <a:uLnTx/>
                          <a:uFillTx/>
                          <a:latin typeface="+mn-lt"/>
                          <a:ea typeface="+mn-ea"/>
                          <a:cs typeface="+mn-cs"/>
                        </a:rPr>
                        <a:t>Milestone:</a:t>
                      </a:r>
                    </a:p>
                    <a:p>
                      <a:pPr marL="0" marR="0" lvl="0" indent="0" algn="l" defTabSz="914400" rtl="0" eaLnBrk="1" fontAlgn="auto" latinLnBrk="0" hangingPunct="1">
                        <a:lnSpc>
                          <a:spcPct val="150000"/>
                        </a:lnSpc>
                        <a:spcBef>
                          <a:spcPts val="0"/>
                        </a:spcBef>
                        <a:spcAft>
                          <a:spcPts val="0"/>
                        </a:spcAft>
                        <a:buClrTx/>
                        <a:buSzTx/>
                        <a:buFontTx/>
                        <a:buBlip>
                          <a:blip r:embed="rId3"/>
                        </a:buBlip>
                        <a:tabLst/>
                        <a:defRPr/>
                      </a:pPr>
                      <a:r>
                        <a:rPr kumimoji="0" lang="en-US" sz="800" b="0" i="0" u="none" strike="noStrike" kern="1200" cap="none" spc="0" normalizeH="0" baseline="0" noProof="0" dirty="0" smtClean="0">
                          <a:ln>
                            <a:noFill/>
                          </a:ln>
                          <a:solidFill>
                            <a:srgbClr val="000000"/>
                          </a:solidFill>
                          <a:effectLst/>
                          <a:uLnTx/>
                          <a:uFillTx/>
                          <a:latin typeface="+mn-lt"/>
                          <a:ea typeface="+mn-ea"/>
                          <a:cs typeface="+mn-cs"/>
                        </a:rPr>
                        <a:t>Milestone:</a:t>
                      </a:r>
                    </a:p>
                    <a:p>
                      <a:pPr marL="0" marR="0" lvl="0" indent="0" algn="l" defTabSz="914400" rtl="0" eaLnBrk="1" fontAlgn="auto" latinLnBrk="0" hangingPunct="1">
                        <a:lnSpc>
                          <a:spcPct val="150000"/>
                        </a:lnSpc>
                        <a:spcBef>
                          <a:spcPts val="0"/>
                        </a:spcBef>
                        <a:spcAft>
                          <a:spcPts val="0"/>
                        </a:spcAft>
                        <a:buClrTx/>
                        <a:buSzTx/>
                        <a:buFontTx/>
                        <a:buBlip>
                          <a:blip r:embed="rId3"/>
                        </a:buBlip>
                        <a:tabLst/>
                        <a:defRPr/>
                      </a:pPr>
                      <a:r>
                        <a:rPr kumimoji="0" lang="en-US" sz="800" b="0" i="0" u="none" strike="noStrike" kern="1200" cap="none" spc="0" normalizeH="0" baseline="0" noProof="0" dirty="0" smtClean="0">
                          <a:ln>
                            <a:noFill/>
                          </a:ln>
                          <a:solidFill>
                            <a:srgbClr val="000000"/>
                          </a:solidFill>
                          <a:effectLst/>
                          <a:uLnTx/>
                          <a:uFillTx/>
                          <a:latin typeface="+mn-lt"/>
                          <a:ea typeface="+mn-ea"/>
                          <a:cs typeface="+mn-cs"/>
                        </a:rPr>
                        <a:t>Milestone:</a:t>
                      </a:r>
                    </a:p>
                  </a:txBody>
                  <a:tcPr/>
                </a:tc>
                <a:tc>
                  <a:txBody>
                    <a:bodyPr/>
                    <a:lstStyle/>
                    <a:p>
                      <a:pPr marL="0" marR="0" lvl="0" indent="0" algn="l" defTabSz="914400" rtl="0" eaLnBrk="1" fontAlgn="auto" latinLnBrk="0" hangingPunct="1">
                        <a:lnSpc>
                          <a:spcPct val="150000"/>
                        </a:lnSpc>
                        <a:spcBef>
                          <a:spcPts val="0"/>
                        </a:spcBef>
                        <a:spcAft>
                          <a:spcPts val="0"/>
                        </a:spcAft>
                        <a:buClrTx/>
                        <a:buSzTx/>
                        <a:buFontTx/>
                        <a:buBlip>
                          <a:blip r:embed="rId3"/>
                        </a:buBlip>
                        <a:tabLst/>
                        <a:defRPr/>
                      </a:pPr>
                      <a:r>
                        <a:rPr kumimoji="0" lang="en-US" sz="800" b="0" i="0" u="none" strike="noStrike" kern="1200" cap="none" spc="0" normalizeH="0" baseline="0" noProof="0" dirty="0" smtClean="0">
                          <a:ln>
                            <a:noFill/>
                          </a:ln>
                          <a:solidFill>
                            <a:srgbClr val="000000"/>
                          </a:solidFill>
                          <a:effectLst/>
                          <a:uLnTx/>
                          <a:uFillTx/>
                          <a:latin typeface="+mn-lt"/>
                          <a:ea typeface="+mn-ea"/>
                          <a:cs typeface="+mn-cs"/>
                        </a:rPr>
                        <a:t>Milestone:</a:t>
                      </a:r>
                    </a:p>
                    <a:p>
                      <a:pPr marL="0" marR="0" lvl="0" indent="0" algn="l" defTabSz="914400" rtl="0" eaLnBrk="1" fontAlgn="auto" latinLnBrk="0" hangingPunct="1">
                        <a:lnSpc>
                          <a:spcPct val="150000"/>
                        </a:lnSpc>
                        <a:spcBef>
                          <a:spcPts val="0"/>
                        </a:spcBef>
                        <a:spcAft>
                          <a:spcPts val="0"/>
                        </a:spcAft>
                        <a:buClrTx/>
                        <a:buSzTx/>
                        <a:buFontTx/>
                        <a:buBlip>
                          <a:blip r:embed="rId3"/>
                        </a:buBlip>
                        <a:tabLst/>
                        <a:defRPr/>
                      </a:pPr>
                      <a:r>
                        <a:rPr kumimoji="0" lang="en-US" sz="800" b="0" i="0" u="none" strike="noStrike" kern="1200" cap="none" spc="0" normalizeH="0" baseline="0" noProof="0" dirty="0" smtClean="0">
                          <a:ln>
                            <a:noFill/>
                          </a:ln>
                          <a:solidFill>
                            <a:srgbClr val="000000"/>
                          </a:solidFill>
                          <a:effectLst/>
                          <a:uLnTx/>
                          <a:uFillTx/>
                          <a:latin typeface="+mn-lt"/>
                          <a:ea typeface="+mn-ea"/>
                          <a:cs typeface="+mn-cs"/>
                        </a:rPr>
                        <a:t>Milestone:</a:t>
                      </a:r>
                    </a:p>
                    <a:p>
                      <a:pPr marL="0" marR="0" lvl="0" indent="0" algn="l" defTabSz="914400" rtl="0" eaLnBrk="1" fontAlgn="auto" latinLnBrk="0" hangingPunct="1">
                        <a:lnSpc>
                          <a:spcPct val="150000"/>
                        </a:lnSpc>
                        <a:spcBef>
                          <a:spcPts val="0"/>
                        </a:spcBef>
                        <a:spcAft>
                          <a:spcPts val="0"/>
                        </a:spcAft>
                        <a:buClrTx/>
                        <a:buSzTx/>
                        <a:buFontTx/>
                        <a:buBlip>
                          <a:blip r:embed="rId3"/>
                        </a:buBlip>
                        <a:tabLst/>
                        <a:defRPr/>
                      </a:pPr>
                      <a:r>
                        <a:rPr kumimoji="0" lang="en-US" sz="800" b="0" i="0" u="none" strike="noStrike" kern="1200" cap="none" spc="0" normalizeH="0" baseline="0" noProof="0" dirty="0" smtClean="0">
                          <a:ln>
                            <a:noFill/>
                          </a:ln>
                          <a:solidFill>
                            <a:srgbClr val="000000"/>
                          </a:solidFill>
                          <a:effectLst/>
                          <a:uLnTx/>
                          <a:uFillTx/>
                          <a:latin typeface="+mn-lt"/>
                          <a:ea typeface="+mn-ea"/>
                          <a:cs typeface="+mn-cs"/>
                        </a:rPr>
                        <a:t>Milestone:</a:t>
                      </a:r>
                    </a:p>
                  </a:txBody>
                  <a:tcPr/>
                </a:tc>
                <a:tc>
                  <a:txBody>
                    <a:bodyPr/>
                    <a:lstStyle/>
                    <a:p>
                      <a:pPr marL="0" marR="0" lvl="0" indent="0" algn="l" defTabSz="914400" rtl="0" eaLnBrk="1" fontAlgn="auto" latinLnBrk="0" hangingPunct="1">
                        <a:lnSpc>
                          <a:spcPct val="150000"/>
                        </a:lnSpc>
                        <a:spcBef>
                          <a:spcPts val="0"/>
                        </a:spcBef>
                        <a:spcAft>
                          <a:spcPts val="0"/>
                        </a:spcAft>
                        <a:buClrTx/>
                        <a:buSzTx/>
                        <a:buFontTx/>
                        <a:buBlip>
                          <a:blip r:embed="rId3"/>
                        </a:buBlip>
                        <a:tabLst/>
                        <a:defRPr/>
                      </a:pPr>
                      <a:r>
                        <a:rPr kumimoji="0" lang="en-US" sz="800" b="0" i="0" u="none" strike="noStrike" kern="1200" cap="none" spc="0" normalizeH="0" baseline="0" noProof="0" dirty="0" smtClean="0">
                          <a:ln>
                            <a:noFill/>
                          </a:ln>
                          <a:solidFill>
                            <a:srgbClr val="000000"/>
                          </a:solidFill>
                          <a:effectLst/>
                          <a:uLnTx/>
                          <a:uFillTx/>
                          <a:latin typeface="+mn-lt"/>
                          <a:ea typeface="+mn-ea"/>
                          <a:cs typeface="+mn-cs"/>
                        </a:rPr>
                        <a:t>Milestone:</a:t>
                      </a:r>
                    </a:p>
                    <a:p>
                      <a:pPr marL="0" marR="0" lvl="0" indent="0" algn="l" defTabSz="914400" rtl="0" eaLnBrk="1" fontAlgn="auto" latinLnBrk="0" hangingPunct="1">
                        <a:lnSpc>
                          <a:spcPct val="150000"/>
                        </a:lnSpc>
                        <a:spcBef>
                          <a:spcPts val="0"/>
                        </a:spcBef>
                        <a:spcAft>
                          <a:spcPts val="0"/>
                        </a:spcAft>
                        <a:buClrTx/>
                        <a:buSzTx/>
                        <a:buFontTx/>
                        <a:buBlip>
                          <a:blip r:embed="rId3"/>
                        </a:buBlip>
                        <a:tabLst/>
                        <a:defRPr/>
                      </a:pPr>
                      <a:r>
                        <a:rPr kumimoji="0" lang="en-US" sz="800" b="0" i="0" u="none" strike="noStrike" kern="1200" cap="none" spc="0" normalizeH="0" baseline="0" noProof="0" dirty="0" smtClean="0">
                          <a:ln>
                            <a:noFill/>
                          </a:ln>
                          <a:solidFill>
                            <a:srgbClr val="000000"/>
                          </a:solidFill>
                          <a:effectLst/>
                          <a:uLnTx/>
                          <a:uFillTx/>
                          <a:latin typeface="+mn-lt"/>
                          <a:ea typeface="+mn-ea"/>
                          <a:cs typeface="+mn-cs"/>
                        </a:rPr>
                        <a:t>Milestone:</a:t>
                      </a:r>
                    </a:p>
                    <a:p>
                      <a:pPr marL="0" marR="0" lvl="0" indent="0" algn="l" defTabSz="914400" rtl="0" eaLnBrk="1" fontAlgn="auto" latinLnBrk="0" hangingPunct="1">
                        <a:lnSpc>
                          <a:spcPct val="150000"/>
                        </a:lnSpc>
                        <a:spcBef>
                          <a:spcPts val="0"/>
                        </a:spcBef>
                        <a:spcAft>
                          <a:spcPts val="0"/>
                        </a:spcAft>
                        <a:buClrTx/>
                        <a:buSzTx/>
                        <a:buFontTx/>
                        <a:buBlip>
                          <a:blip r:embed="rId3"/>
                        </a:buBlip>
                        <a:tabLst/>
                        <a:defRPr/>
                      </a:pPr>
                      <a:r>
                        <a:rPr kumimoji="0" lang="en-US" sz="800" b="0" i="0" u="none" strike="noStrike" kern="1200" cap="none" spc="0" normalizeH="0" baseline="0" noProof="0" dirty="0" smtClean="0">
                          <a:ln>
                            <a:noFill/>
                          </a:ln>
                          <a:solidFill>
                            <a:srgbClr val="000000"/>
                          </a:solidFill>
                          <a:effectLst/>
                          <a:uLnTx/>
                          <a:uFillTx/>
                          <a:latin typeface="+mn-lt"/>
                          <a:ea typeface="+mn-ea"/>
                          <a:cs typeface="+mn-cs"/>
                        </a:rPr>
                        <a:t>Milestone:</a:t>
                      </a:r>
                    </a:p>
                  </a:txBody>
                  <a:tcPr/>
                </a:tc>
                <a:tc>
                  <a:txBody>
                    <a:bodyPr/>
                    <a:lstStyle/>
                    <a:p>
                      <a:pPr marL="0" marR="0" lvl="0" indent="0" algn="l" defTabSz="914400" rtl="0" eaLnBrk="1" fontAlgn="auto" latinLnBrk="0" hangingPunct="1">
                        <a:lnSpc>
                          <a:spcPct val="150000"/>
                        </a:lnSpc>
                        <a:spcBef>
                          <a:spcPts val="0"/>
                        </a:spcBef>
                        <a:spcAft>
                          <a:spcPts val="0"/>
                        </a:spcAft>
                        <a:buClrTx/>
                        <a:buSzTx/>
                        <a:buFontTx/>
                        <a:buBlip>
                          <a:blip r:embed="rId3"/>
                        </a:buBlip>
                        <a:tabLst/>
                        <a:defRPr/>
                      </a:pPr>
                      <a:r>
                        <a:rPr kumimoji="0" lang="en-US" sz="800" b="0" i="0" u="none" strike="noStrike" kern="1200" cap="none" spc="0" normalizeH="0" baseline="0" noProof="0" dirty="0" smtClean="0">
                          <a:ln>
                            <a:noFill/>
                          </a:ln>
                          <a:solidFill>
                            <a:srgbClr val="000000"/>
                          </a:solidFill>
                          <a:effectLst/>
                          <a:uLnTx/>
                          <a:uFillTx/>
                          <a:latin typeface="+mn-lt"/>
                          <a:ea typeface="+mn-ea"/>
                          <a:cs typeface="+mn-cs"/>
                        </a:rPr>
                        <a:t>Milestone:</a:t>
                      </a:r>
                    </a:p>
                    <a:p>
                      <a:pPr marL="0" marR="0" lvl="0" indent="0" algn="l" defTabSz="914400" rtl="0" eaLnBrk="1" fontAlgn="auto" latinLnBrk="0" hangingPunct="1">
                        <a:lnSpc>
                          <a:spcPct val="150000"/>
                        </a:lnSpc>
                        <a:spcBef>
                          <a:spcPts val="0"/>
                        </a:spcBef>
                        <a:spcAft>
                          <a:spcPts val="0"/>
                        </a:spcAft>
                        <a:buClrTx/>
                        <a:buSzTx/>
                        <a:buFontTx/>
                        <a:buBlip>
                          <a:blip r:embed="rId3"/>
                        </a:buBlip>
                        <a:tabLst/>
                        <a:defRPr/>
                      </a:pPr>
                      <a:r>
                        <a:rPr kumimoji="0" lang="en-US" sz="800" b="0" i="0" u="none" strike="noStrike" kern="1200" cap="none" spc="0" normalizeH="0" baseline="0" noProof="0" dirty="0" smtClean="0">
                          <a:ln>
                            <a:noFill/>
                          </a:ln>
                          <a:solidFill>
                            <a:srgbClr val="000000"/>
                          </a:solidFill>
                          <a:effectLst/>
                          <a:uLnTx/>
                          <a:uFillTx/>
                          <a:latin typeface="+mn-lt"/>
                          <a:ea typeface="+mn-ea"/>
                          <a:cs typeface="+mn-cs"/>
                        </a:rPr>
                        <a:t>Milestone:</a:t>
                      </a:r>
                    </a:p>
                    <a:p>
                      <a:pPr marL="0" marR="0" lvl="0" indent="0" algn="l" defTabSz="914400" rtl="0" eaLnBrk="1" fontAlgn="auto" latinLnBrk="0" hangingPunct="1">
                        <a:lnSpc>
                          <a:spcPct val="150000"/>
                        </a:lnSpc>
                        <a:spcBef>
                          <a:spcPts val="0"/>
                        </a:spcBef>
                        <a:spcAft>
                          <a:spcPts val="0"/>
                        </a:spcAft>
                        <a:buClrTx/>
                        <a:buSzTx/>
                        <a:buFontTx/>
                        <a:buBlip>
                          <a:blip r:embed="rId3"/>
                        </a:buBlip>
                        <a:tabLst/>
                        <a:defRPr/>
                      </a:pPr>
                      <a:r>
                        <a:rPr kumimoji="0" lang="en-US" sz="800" b="0" i="0" u="none" strike="noStrike" kern="1200" cap="none" spc="0" normalizeH="0" baseline="0" noProof="0" dirty="0" smtClean="0">
                          <a:ln>
                            <a:noFill/>
                          </a:ln>
                          <a:solidFill>
                            <a:srgbClr val="000000"/>
                          </a:solidFill>
                          <a:effectLst/>
                          <a:uLnTx/>
                          <a:uFillTx/>
                          <a:latin typeface="+mn-lt"/>
                          <a:ea typeface="+mn-ea"/>
                          <a:cs typeface="+mn-cs"/>
                        </a:rPr>
                        <a:t>Milestone:</a:t>
                      </a:r>
                    </a:p>
                  </a:txBody>
                  <a:tcPr/>
                </a:tc>
              </a:tr>
            </a:tbl>
          </a:graphicData>
        </a:graphic>
      </p:graphicFrame>
      <p:grpSp>
        <p:nvGrpSpPr>
          <p:cNvPr id="6" name="Group 5"/>
          <p:cNvGrpSpPr/>
          <p:nvPr/>
        </p:nvGrpSpPr>
        <p:grpSpPr>
          <a:xfrm>
            <a:off x="3016077" y="4227329"/>
            <a:ext cx="723014" cy="885929"/>
            <a:chOff x="1796902" y="2847871"/>
            <a:chExt cx="723014" cy="885929"/>
          </a:xfrm>
        </p:grpSpPr>
        <p:cxnSp>
          <p:nvCxnSpPr>
            <p:cNvPr id="7" name="Straight Connector 6"/>
            <p:cNvCxnSpPr/>
            <p:nvPr/>
          </p:nvCxnSpPr>
          <p:spPr bwMode="auto">
            <a:xfrm>
              <a:off x="2158409" y="3124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8" name="Rectangle 7"/>
            <p:cNvSpPr/>
            <p:nvPr/>
          </p:nvSpPr>
          <p:spPr bwMode="auto">
            <a:xfrm>
              <a:off x="1796902" y="2847871"/>
              <a:ext cx="723014" cy="277320"/>
            </a:xfrm>
            <a:prstGeom prst="rect">
              <a:avLst/>
            </a:prstGeom>
            <a:solidFill>
              <a:schemeClr val="tx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2075" tIns="91440" rIns="92075" bIns="46038" numCol="1" rtlCol="0" anchor="ctr" anchorCtr="0" compatLnSpc="1">
              <a:prstTxWarp prst="textNoShape">
                <a:avLst/>
              </a:prstTxWarp>
              <a:spAutoFit/>
            </a:bodyPr>
            <a:lstStyle/>
            <a:p>
              <a:pPr marL="119063" marR="0" indent="-119063" algn="ctr" defTabSz="914400" rtl="0" eaLnBrk="1" fontAlgn="base" latinLnBrk="0" hangingPunct="1">
                <a:lnSpc>
                  <a:spcPct val="90000"/>
                </a:lnSpc>
                <a:spcBef>
                  <a:spcPct val="50000"/>
                </a:spcBef>
                <a:spcAft>
                  <a:spcPct val="0"/>
                </a:spcAft>
                <a:buClr>
                  <a:schemeClr val="accent1"/>
                </a:buClr>
                <a:buSzTx/>
                <a:buFontTx/>
                <a:buNone/>
                <a:tabLst/>
              </a:pPr>
              <a:r>
                <a:rPr kumimoji="0" lang="en-US" sz="1000" b="1" i="0" u="none" strike="noStrike" cap="none" normalizeH="0" baseline="0" dirty="0" smtClean="0">
                  <a:ln>
                    <a:noFill/>
                  </a:ln>
                  <a:solidFill>
                    <a:schemeClr val="tx1"/>
                  </a:solidFill>
                  <a:effectLst/>
                </a:rPr>
                <a:t>Today</a:t>
              </a:r>
            </a:p>
          </p:txBody>
        </p:sp>
      </p:grpSp>
      <p:grpSp>
        <p:nvGrpSpPr>
          <p:cNvPr id="9" name="Group 8"/>
          <p:cNvGrpSpPr/>
          <p:nvPr/>
        </p:nvGrpSpPr>
        <p:grpSpPr>
          <a:xfrm>
            <a:off x="4529440" y="5035308"/>
            <a:ext cx="793898" cy="908292"/>
            <a:chOff x="3342164" y="3124200"/>
            <a:chExt cx="793898" cy="908292"/>
          </a:xfrm>
        </p:grpSpPr>
        <p:cxnSp>
          <p:nvCxnSpPr>
            <p:cNvPr id="11" name="Straight Connector 10"/>
            <p:cNvCxnSpPr/>
            <p:nvPr/>
          </p:nvCxnSpPr>
          <p:spPr bwMode="auto">
            <a:xfrm>
              <a:off x="3735572" y="3124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2" name="Rectangle 11"/>
            <p:cNvSpPr/>
            <p:nvPr/>
          </p:nvSpPr>
          <p:spPr bwMode="auto">
            <a:xfrm>
              <a:off x="3342164" y="3755172"/>
              <a:ext cx="793898" cy="277320"/>
            </a:xfrm>
            <a:prstGeom prst="rect">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2075" tIns="91440" rIns="92075" bIns="46038" numCol="1" rtlCol="0" anchor="ctr" anchorCtr="0" compatLnSpc="1">
              <a:prstTxWarp prst="textNoShape">
                <a:avLst/>
              </a:prstTxWarp>
              <a:spAutoFit/>
            </a:bodyPr>
            <a:lstStyle/>
            <a:p>
              <a:pPr marL="119063" marR="0" indent="-119063" algn="ctr" defTabSz="914400" rtl="0" eaLnBrk="1" fontAlgn="base" latinLnBrk="0" hangingPunct="1">
                <a:lnSpc>
                  <a:spcPct val="90000"/>
                </a:lnSpc>
                <a:spcBef>
                  <a:spcPct val="50000"/>
                </a:spcBef>
                <a:spcAft>
                  <a:spcPct val="0"/>
                </a:spcAft>
                <a:buClr>
                  <a:schemeClr val="accent1"/>
                </a:buClr>
                <a:buSzTx/>
                <a:buFontTx/>
                <a:buNone/>
                <a:tabLst/>
              </a:pPr>
              <a:r>
                <a:rPr lang="en-US" sz="1000" dirty="0" smtClean="0"/>
                <a:t>Milestone</a:t>
              </a:r>
              <a:endParaRPr kumimoji="0" lang="en-US" sz="1000" b="1" i="0" u="none" strike="noStrike" cap="none" normalizeH="0" baseline="0" dirty="0" smtClean="0">
                <a:ln>
                  <a:noFill/>
                </a:ln>
                <a:solidFill>
                  <a:schemeClr val="tx1"/>
                </a:solidFill>
                <a:effectLst/>
              </a:endParaRPr>
            </a:p>
          </p:txBody>
        </p:sp>
      </p:grpSp>
      <p:grpSp>
        <p:nvGrpSpPr>
          <p:cNvPr id="13" name="Group 12"/>
          <p:cNvGrpSpPr/>
          <p:nvPr/>
        </p:nvGrpSpPr>
        <p:grpSpPr>
          <a:xfrm>
            <a:off x="5947167" y="5035308"/>
            <a:ext cx="793898" cy="908292"/>
            <a:chOff x="3342164" y="3124200"/>
            <a:chExt cx="793898" cy="908292"/>
          </a:xfrm>
        </p:grpSpPr>
        <p:cxnSp>
          <p:nvCxnSpPr>
            <p:cNvPr id="15" name="Straight Connector 14"/>
            <p:cNvCxnSpPr/>
            <p:nvPr/>
          </p:nvCxnSpPr>
          <p:spPr bwMode="auto">
            <a:xfrm>
              <a:off x="3735572" y="3124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6" name="Rectangle 15"/>
            <p:cNvSpPr/>
            <p:nvPr/>
          </p:nvSpPr>
          <p:spPr bwMode="auto">
            <a:xfrm>
              <a:off x="3342164" y="3755172"/>
              <a:ext cx="793898" cy="277320"/>
            </a:xfrm>
            <a:prstGeom prst="rect">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2075" tIns="91440" rIns="92075" bIns="46038" numCol="1" rtlCol="0" anchor="ctr" anchorCtr="0" compatLnSpc="1">
              <a:prstTxWarp prst="textNoShape">
                <a:avLst/>
              </a:prstTxWarp>
              <a:spAutoFit/>
            </a:bodyPr>
            <a:lstStyle/>
            <a:p>
              <a:pPr marL="119063" marR="0" indent="-119063" algn="ctr" defTabSz="914400" rtl="0" eaLnBrk="1" fontAlgn="base" latinLnBrk="0" hangingPunct="1">
                <a:lnSpc>
                  <a:spcPct val="90000"/>
                </a:lnSpc>
                <a:spcBef>
                  <a:spcPct val="50000"/>
                </a:spcBef>
                <a:spcAft>
                  <a:spcPct val="0"/>
                </a:spcAft>
                <a:buClr>
                  <a:schemeClr val="accent1"/>
                </a:buClr>
                <a:buSzTx/>
                <a:buFontTx/>
                <a:buNone/>
                <a:tabLst/>
              </a:pPr>
              <a:r>
                <a:rPr lang="en-US" sz="1000" dirty="0" smtClean="0"/>
                <a:t>Milestone</a:t>
              </a:r>
              <a:endParaRPr kumimoji="0" lang="en-US" sz="1000" b="1" i="0" u="none" strike="noStrike" cap="none" normalizeH="0" baseline="0" dirty="0" smtClean="0">
                <a:ln>
                  <a:noFill/>
                </a:ln>
                <a:solidFill>
                  <a:schemeClr val="tx1"/>
                </a:solidFill>
                <a:effectLst/>
              </a:endParaRPr>
            </a:p>
          </p:txBody>
        </p:sp>
      </p:grpSp>
      <p:grpSp>
        <p:nvGrpSpPr>
          <p:cNvPr id="17" name="Group 16"/>
          <p:cNvGrpSpPr/>
          <p:nvPr/>
        </p:nvGrpSpPr>
        <p:grpSpPr>
          <a:xfrm>
            <a:off x="7758315" y="5035308"/>
            <a:ext cx="793898" cy="908292"/>
            <a:chOff x="3342164" y="3124200"/>
            <a:chExt cx="793898" cy="908292"/>
          </a:xfrm>
        </p:grpSpPr>
        <p:cxnSp>
          <p:nvCxnSpPr>
            <p:cNvPr id="19" name="Straight Connector 18"/>
            <p:cNvCxnSpPr/>
            <p:nvPr/>
          </p:nvCxnSpPr>
          <p:spPr bwMode="auto">
            <a:xfrm>
              <a:off x="3735572" y="3124200"/>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0" name="Rectangle 19"/>
            <p:cNvSpPr/>
            <p:nvPr/>
          </p:nvSpPr>
          <p:spPr bwMode="auto">
            <a:xfrm>
              <a:off x="3342164" y="3755172"/>
              <a:ext cx="793898" cy="277320"/>
            </a:xfrm>
            <a:prstGeom prst="rect">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2075" tIns="91440" rIns="92075" bIns="46038" numCol="1" rtlCol="0" anchor="ctr" anchorCtr="0" compatLnSpc="1">
              <a:prstTxWarp prst="textNoShape">
                <a:avLst/>
              </a:prstTxWarp>
              <a:spAutoFit/>
            </a:bodyPr>
            <a:lstStyle/>
            <a:p>
              <a:pPr marL="119063" marR="0" indent="-119063" algn="ctr" defTabSz="914400" rtl="0" eaLnBrk="1" fontAlgn="base" latinLnBrk="0" hangingPunct="1">
                <a:lnSpc>
                  <a:spcPct val="90000"/>
                </a:lnSpc>
                <a:spcBef>
                  <a:spcPct val="50000"/>
                </a:spcBef>
                <a:spcAft>
                  <a:spcPct val="0"/>
                </a:spcAft>
                <a:buClr>
                  <a:schemeClr val="accent1"/>
                </a:buClr>
                <a:buSzTx/>
                <a:buFontTx/>
                <a:buNone/>
                <a:tabLst/>
              </a:pPr>
              <a:r>
                <a:rPr lang="en-US" sz="1000" dirty="0" smtClean="0"/>
                <a:t>Milestone</a:t>
              </a:r>
              <a:endParaRPr kumimoji="0" lang="en-US" sz="1000" b="1" i="0" u="none" strike="noStrike" cap="none" normalizeH="0" baseline="0" dirty="0" smtClean="0">
                <a:ln>
                  <a:noFill/>
                </a:ln>
                <a:solidFill>
                  <a:schemeClr val="tx1"/>
                </a:solidFill>
                <a:effectLst/>
              </a:endParaRPr>
            </a:p>
          </p:txBody>
        </p:sp>
      </p:grpSp>
      <p:grpSp>
        <p:nvGrpSpPr>
          <p:cNvPr id="21" name="Group 20"/>
          <p:cNvGrpSpPr/>
          <p:nvPr/>
        </p:nvGrpSpPr>
        <p:grpSpPr>
          <a:xfrm>
            <a:off x="1640802" y="5035308"/>
            <a:ext cx="793898" cy="908292"/>
            <a:chOff x="453526" y="3219897"/>
            <a:chExt cx="793898" cy="908292"/>
          </a:xfrm>
        </p:grpSpPr>
        <p:cxnSp>
          <p:nvCxnSpPr>
            <p:cNvPr id="23" name="Straight Connector 22"/>
            <p:cNvCxnSpPr/>
            <p:nvPr/>
          </p:nvCxnSpPr>
          <p:spPr bwMode="auto">
            <a:xfrm>
              <a:off x="846934" y="3219897"/>
              <a:ext cx="0" cy="609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4" name="Rectangle 23"/>
            <p:cNvSpPr/>
            <p:nvPr/>
          </p:nvSpPr>
          <p:spPr bwMode="auto">
            <a:xfrm>
              <a:off x="453526" y="3850869"/>
              <a:ext cx="793898" cy="277320"/>
            </a:xfrm>
            <a:prstGeom prst="rect">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2075" tIns="91440" rIns="92075" bIns="46038" numCol="1" rtlCol="0" anchor="ctr" anchorCtr="0" compatLnSpc="1">
              <a:prstTxWarp prst="textNoShape">
                <a:avLst/>
              </a:prstTxWarp>
              <a:spAutoFit/>
            </a:bodyPr>
            <a:lstStyle/>
            <a:p>
              <a:pPr marL="119063" marR="0" indent="-119063" algn="ctr" defTabSz="914400" rtl="0" eaLnBrk="1" fontAlgn="base" latinLnBrk="0" hangingPunct="1">
                <a:lnSpc>
                  <a:spcPct val="90000"/>
                </a:lnSpc>
                <a:spcBef>
                  <a:spcPct val="50000"/>
                </a:spcBef>
                <a:spcAft>
                  <a:spcPct val="0"/>
                </a:spcAft>
                <a:buClr>
                  <a:schemeClr val="accent1"/>
                </a:buClr>
                <a:buSzTx/>
                <a:buFontTx/>
                <a:buNone/>
                <a:tabLst/>
              </a:pPr>
              <a:r>
                <a:rPr lang="en-US" sz="1000" dirty="0" smtClean="0"/>
                <a:t>Milestone</a:t>
              </a:r>
              <a:endParaRPr kumimoji="0" lang="en-US" sz="1000" b="1" i="0" u="none" strike="noStrike" cap="none" normalizeH="0" baseline="0" dirty="0" smtClean="0">
                <a:ln>
                  <a:noFill/>
                </a:ln>
                <a:solidFill>
                  <a:schemeClr val="tx1"/>
                </a:solidFill>
                <a:effectLst/>
              </a:endParaRPr>
            </a:p>
          </p:txBody>
        </p:sp>
      </p:grpSp>
      <p:grpSp>
        <p:nvGrpSpPr>
          <p:cNvPr id="25" name="Group 24"/>
          <p:cNvGrpSpPr/>
          <p:nvPr/>
        </p:nvGrpSpPr>
        <p:grpSpPr>
          <a:xfrm>
            <a:off x="3827722" y="3780724"/>
            <a:ext cx="1080949" cy="1087956"/>
            <a:chOff x="2640446" y="2730908"/>
            <a:chExt cx="1080949" cy="1087956"/>
          </a:xfrm>
        </p:grpSpPr>
        <p:cxnSp>
          <p:nvCxnSpPr>
            <p:cNvPr id="26" name="Straight Connector 25"/>
            <p:cNvCxnSpPr/>
            <p:nvPr/>
          </p:nvCxnSpPr>
          <p:spPr bwMode="auto">
            <a:xfrm>
              <a:off x="3180920" y="2828264"/>
              <a:ext cx="0" cy="99060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8" name="Rectangle 27"/>
            <p:cNvSpPr/>
            <p:nvPr/>
          </p:nvSpPr>
          <p:spPr bwMode="auto">
            <a:xfrm>
              <a:off x="2640446" y="2730908"/>
              <a:ext cx="1080949" cy="277320"/>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2075" tIns="91440" rIns="92075" bIns="46038" numCol="1" rtlCol="0" anchor="ctr" anchorCtr="0" compatLnSpc="1">
              <a:prstTxWarp prst="textNoShape">
                <a:avLst/>
              </a:prstTxWarp>
              <a:spAutoFit/>
            </a:bodyPr>
            <a:lstStyle/>
            <a:p>
              <a:pPr marL="119063" marR="0" indent="-119063" algn="ctr" defTabSz="914400" rtl="0" eaLnBrk="1" fontAlgn="base" latinLnBrk="0" hangingPunct="1">
                <a:lnSpc>
                  <a:spcPct val="90000"/>
                </a:lnSpc>
                <a:spcBef>
                  <a:spcPct val="50000"/>
                </a:spcBef>
                <a:spcAft>
                  <a:spcPct val="0"/>
                </a:spcAft>
                <a:buClr>
                  <a:schemeClr val="accent1"/>
                </a:buClr>
                <a:buSzTx/>
                <a:buFontTx/>
                <a:buNone/>
                <a:tabLst/>
              </a:pPr>
              <a:r>
                <a:rPr kumimoji="0" lang="en-US" sz="1000" b="1" i="0" u="none" strike="noStrike" cap="none" normalizeH="0" baseline="0" dirty="0" smtClean="0">
                  <a:ln>
                    <a:noFill/>
                  </a:ln>
                  <a:solidFill>
                    <a:schemeClr val="tx1"/>
                  </a:solidFill>
                  <a:effectLst/>
                </a:rPr>
                <a:t>Key Decision</a:t>
              </a:r>
            </a:p>
          </p:txBody>
        </p:sp>
      </p:grpSp>
      <p:grpSp>
        <p:nvGrpSpPr>
          <p:cNvPr id="29" name="Group 28"/>
          <p:cNvGrpSpPr/>
          <p:nvPr/>
        </p:nvGrpSpPr>
        <p:grpSpPr>
          <a:xfrm>
            <a:off x="9052063" y="3780724"/>
            <a:ext cx="1080949" cy="1087956"/>
            <a:chOff x="7864787" y="2730908"/>
            <a:chExt cx="1080949" cy="1087956"/>
          </a:xfrm>
        </p:grpSpPr>
        <p:cxnSp>
          <p:nvCxnSpPr>
            <p:cNvPr id="30" name="Straight Connector 29"/>
            <p:cNvCxnSpPr/>
            <p:nvPr/>
          </p:nvCxnSpPr>
          <p:spPr bwMode="auto">
            <a:xfrm>
              <a:off x="8405261" y="2828264"/>
              <a:ext cx="0" cy="990600"/>
            </a:xfrm>
            <a:prstGeom prst="line">
              <a:avLst/>
            </a:prstGeom>
            <a:solidFill>
              <a:schemeClr val="tx2"/>
            </a:solidFill>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2" name="Rectangle 31"/>
            <p:cNvSpPr/>
            <p:nvPr/>
          </p:nvSpPr>
          <p:spPr bwMode="auto">
            <a:xfrm>
              <a:off x="7864787" y="2730908"/>
              <a:ext cx="1080949" cy="277320"/>
            </a:xfrm>
            <a:prstGeom prst="rect">
              <a:avLst/>
            </a:prstGeom>
            <a:solidFill>
              <a:srgbClr val="FF0000"/>
            </a:solidFill>
            <a:ln w="9525" cap="flat" cmpd="sng" algn="ctr">
              <a:solidFill>
                <a:schemeClr val="accent1"/>
              </a:solidFill>
              <a:prstDash val="solid"/>
              <a:round/>
              <a:headEnd type="none" w="med" len="med"/>
              <a:tailEnd type="none" w="med" len="med"/>
            </a:ln>
            <a:effectLst/>
          </p:spPr>
          <p:txBody>
            <a:bodyPr vert="horz" wrap="square" lIns="92075" tIns="91440" rIns="92075" bIns="46038" numCol="1" rtlCol="0" anchor="ctr" anchorCtr="0" compatLnSpc="1">
              <a:prstTxWarp prst="textNoShape">
                <a:avLst/>
              </a:prstTxWarp>
              <a:spAutoFit/>
            </a:bodyPr>
            <a:lstStyle/>
            <a:p>
              <a:pPr marL="119063" marR="0" indent="-119063" algn="ctr" defTabSz="914400" rtl="0" eaLnBrk="1" fontAlgn="base" latinLnBrk="0" hangingPunct="1">
                <a:lnSpc>
                  <a:spcPct val="90000"/>
                </a:lnSpc>
                <a:spcBef>
                  <a:spcPct val="50000"/>
                </a:spcBef>
                <a:spcAft>
                  <a:spcPct val="0"/>
                </a:spcAft>
                <a:buClr>
                  <a:schemeClr val="accent1"/>
                </a:buClr>
                <a:buSzTx/>
                <a:buFontTx/>
                <a:buNone/>
                <a:tabLst/>
              </a:pPr>
              <a:r>
                <a:rPr lang="en-US" sz="1000" dirty="0" smtClean="0"/>
                <a:t>Go-Live!</a:t>
              </a:r>
              <a:endParaRPr kumimoji="0" lang="en-US" sz="1000" b="1" i="0" u="none" strike="noStrike" cap="none" normalizeH="0" baseline="0" dirty="0" smtClean="0">
                <a:ln>
                  <a:noFill/>
                </a:ln>
                <a:solidFill>
                  <a:schemeClr val="tx1"/>
                </a:solidFill>
                <a:effectLst/>
              </a:endParaRPr>
            </a:p>
          </p:txBody>
        </p:sp>
      </p:grpSp>
      <p:grpSp>
        <p:nvGrpSpPr>
          <p:cNvPr id="33" name="Group 32"/>
          <p:cNvGrpSpPr/>
          <p:nvPr/>
        </p:nvGrpSpPr>
        <p:grpSpPr>
          <a:xfrm>
            <a:off x="5171018" y="3780724"/>
            <a:ext cx="1080949" cy="1087956"/>
            <a:chOff x="2640446" y="2730908"/>
            <a:chExt cx="1080949" cy="1087956"/>
          </a:xfrm>
          <a:solidFill>
            <a:srgbClr val="92D050"/>
          </a:solidFill>
        </p:grpSpPr>
        <p:cxnSp>
          <p:nvCxnSpPr>
            <p:cNvPr id="34" name="Straight Connector 33"/>
            <p:cNvCxnSpPr/>
            <p:nvPr/>
          </p:nvCxnSpPr>
          <p:spPr bwMode="auto">
            <a:xfrm>
              <a:off x="3180920" y="2828264"/>
              <a:ext cx="0" cy="990600"/>
            </a:xfrm>
            <a:prstGeom prst="line">
              <a:avLst/>
            </a:prstGeom>
            <a:grpFill/>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6" name="Rectangle 35"/>
            <p:cNvSpPr/>
            <p:nvPr/>
          </p:nvSpPr>
          <p:spPr bwMode="auto">
            <a:xfrm>
              <a:off x="2640446" y="2730908"/>
              <a:ext cx="1080949" cy="277320"/>
            </a:xfrm>
            <a:prstGeom prst="rect">
              <a:avLst/>
            </a:prstGeom>
            <a:grpFill/>
            <a:ln w="9525" cap="flat" cmpd="sng" algn="ctr">
              <a:solidFill>
                <a:schemeClr val="tx1"/>
              </a:solidFill>
              <a:prstDash val="solid"/>
              <a:round/>
              <a:headEnd type="none" w="med" len="med"/>
              <a:tailEnd type="none" w="med" len="med"/>
            </a:ln>
            <a:effectLst/>
          </p:spPr>
          <p:txBody>
            <a:bodyPr vert="horz" wrap="square" lIns="92075" tIns="91440" rIns="92075" bIns="46038" numCol="1" rtlCol="0" anchor="ctr" anchorCtr="0" compatLnSpc="1">
              <a:prstTxWarp prst="textNoShape">
                <a:avLst/>
              </a:prstTxWarp>
              <a:spAutoFit/>
            </a:bodyPr>
            <a:lstStyle/>
            <a:p>
              <a:pPr marL="119063" marR="0" indent="-119063" algn="ctr" defTabSz="914400" rtl="0" eaLnBrk="1" fontAlgn="base" latinLnBrk="0" hangingPunct="1">
                <a:lnSpc>
                  <a:spcPct val="90000"/>
                </a:lnSpc>
                <a:spcBef>
                  <a:spcPct val="50000"/>
                </a:spcBef>
                <a:spcAft>
                  <a:spcPct val="0"/>
                </a:spcAft>
                <a:buClr>
                  <a:schemeClr val="accent1"/>
                </a:buClr>
                <a:buSzTx/>
                <a:buFontTx/>
                <a:buNone/>
                <a:tabLst/>
              </a:pPr>
              <a:r>
                <a:rPr kumimoji="0" lang="en-US" sz="1000" b="1" i="0" u="none" strike="noStrike" cap="none" normalizeH="0" baseline="0" dirty="0" smtClean="0">
                  <a:ln>
                    <a:noFill/>
                  </a:ln>
                  <a:solidFill>
                    <a:schemeClr val="tx1"/>
                  </a:solidFill>
                  <a:effectLst/>
                </a:rPr>
                <a:t>Project Event</a:t>
              </a:r>
            </a:p>
          </p:txBody>
        </p:sp>
      </p:grpSp>
      <p:grpSp>
        <p:nvGrpSpPr>
          <p:cNvPr id="37" name="Group 36"/>
          <p:cNvGrpSpPr/>
          <p:nvPr/>
        </p:nvGrpSpPr>
        <p:grpSpPr>
          <a:xfrm>
            <a:off x="6429250" y="3780724"/>
            <a:ext cx="1080949" cy="1087956"/>
            <a:chOff x="2640446" y="2730908"/>
            <a:chExt cx="1080949" cy="1087956"/>
          </a:xfrm>
          <a:solidFill>
            <a:srgbClr val="92D050"/>
          </a:solidFill>
        </p:grpSpPr>
        <p:cxnSp>
          <p:nvCxnSpPr>
            <p:cNvPr id="38" name="Straight Connector 37"/>
            <p:cNvCxnSpPr/>
            <p:nvPr/>
          </p:nvCxnSpPr>
          <p:spPr bwMode="auto">
            <a:xfrm>
              <a:off x="3180920" y="2828264"/>
              <a:ext cx="0" cy="990600"/>
            </a:xfrm>
            <a:prstGeom prst="line">
              <a:avLst/>
            </a:prstGeom>
            <a:grpFill/>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0" name="Rectangle 39"/>
            <p:cNvSpPr/>
            <p:nvPr/>
          </p:nvSpPr>
          <p:spPr bwMode="auto">
            <a:xfrm>
              <a:off x="2640446" y="2730908"/>
              <a:ext cx="1080949" cy="277320"/>
            </a:xfrm>
            <a:prstGeom prst="rect">
              <a:avLst/>
            </a:prstGeom>
            <a:grpFill/>
            <a:ln w="9525" cap="flat" cmpd="sng" algn="ctr">
              <a:solidFill>
                <a:schemeClr val="tx1"/>
              </a:solidFill>
              <a:prstDash val="solid"/>
              <a:round/>
              <a:headEnd type="none" w="med" len="med"/>
              <a:tailEnd type="none" w="med" len="med"/>
            </a:ln>
            <a:effectLst/>
          </p:spPr>
          <p:txBody>
            <a:bodyPr vert="horz" wrap="square" lIns="92075" tIns="91440" rIns="92075" bIns="46038" numCol="1" rtlCol="0" anchor="ctr" anchorCtr="0" compatLnSpc="1">
              <a:prstTxWarp prst="textNoShape">
                <a:avLst/>
              </a:prstTxWarp>
              <a:spAutoFit/>
            </a:bodyPr>
            <a:lstStyle/>
            <a:p>
              <a:pPr marL="119063" marR="0" indent="-119063" algn="ctr" defTabSz="914400" rtl="0" eaLnBrk="1" fontAlgn="base" latinLnBrk="0" hangingPunct="1">
                <a:lnSpc>
                  <a:spcPct val="90000"/>
                </a:lnSpc>
                <a:spcBef>
                  <a:spcPct val="50000"/>
                </a:spcBef>
                <a:spcAft>
                  <a:spcPct val="0"/>
                </a:spcAft>
                <a:buClr>
                  <a:schemeClr val="accent1"/>
                </a:buClr>
                <a:buSzTx/>
                <a:buFontTx/>
                <a:buNone/>
                <a:tabLst/>
              </a:pPr>
              <a:r>
                <a:rPr kumimoji="0" lang="en-US" sz="1000" b="1" i="0" u="none" strike="noStrike" cap="none" normalizeH="0" baseline="0" dirty="0" smtClean="0">
                  <a:ln>
                    <a:noFill/>
                  </a:ln>
                  <a:solidFill>
                    <a:schemeClr val="tx1"/>
                  </a:solidFill>
                  <a:effectLst/>
                </a:rPr>
                <a:t>Project Event</a:t>
              </a:r>
            </a:p>
          </p:txBody>
        </p:sp>
      </p:grpSp>
      <p:grpSp>
        <p:nvGrpSpPr>
          <p:cNvPr id="41" name="Group 40"/>
          <p:cNvGrpSpPr/>
          <p:nvPr/>
        </p:nvGrpSpPr>
        <p:grpSpPr>
          <a:xfrm>
            <a:off x="7687482" y="3780724"/>
            <a:ext cx="1080949" cy="1087956"/>
            <a:chOff x="2640446" y="2730908"/>
            <a:chExt cx="1080949" cy="1087956"/>
          </a:xfrm>
          <a:solidFill>
            <a:srgbClr val="92D050"/>
          </a:solidFill>
        </p:grpSpPr>
        <p:cxnSp>
          <p:nvCxnSpPr>
            <p:cNvPr id="42" name="Straight Connector 41"/>
            <p:cNvCxnSpPr/>
            <p:nvPr/>
          </p:nvCxnSpPr>
          <p:spPr bwMode="auto">
            <a:xfrm>
              <a:off x="3180920" y="2828264"/>
              <a:ext cx="0" cy="990600"/>
            </a:xfrm>
            <a:prstGeom prst="line">
              <a:avLst/>
            </a:prstGeom>
            <a:grpFill/>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4" name="Rectangle 43"/>
            <p:cNvSpPr/>
            <p:nvPr/>
          </p:nvSpPr>
          <p:spPr bwMode="auto">
            <a:xfrm>
              <a:off x="2640446" y="2730908"/>
              <a:ext cx="1080949" cy="277320"/>
            </a:xfrm>
            <a:prstGeom prst="rect">
              <a:avLst/>
            </a:prstGeom>
            <a:grpFill/>
            <a:ln w="9525" cap="flat" cmpd="sng" algn="ctr">
              <a:solidFill>
                <a:schemeClr val="tx1"/>
              </a:solidFill>
              <a:prstDash val="solid"/>
              <a:round/>
              <a:headEnd type="none" w="med" len="med"/>
              <a:tailEnd type="none" w="med" len="med"/>
            </a:ln>
            <a:effectLst/>
          </p:spPr>
          <p:txBody>
            <a:bodyPr vert="horz" wrap="square" lIns="92075" tIns="91440" rIns="92075" bIns="46038" numCol="1" rtlCol="0" anchor="ctr" anchorCtr="0" compatLnSpc="1">
              <a:prstTxWarp prst="textNoShape">
                <a:avLst/>
              </a:prstTxWarp>
              <a:spAutoFit/>
            </a:bodyPr>
            <a:lstStyle/>
            <a:p>
              <a:pPr marL="119063" marR="0" indent="-119063" algn="ctr" defTabSz="914400" rtl="0" eaLnBrk="1" fontAlgn="base" latinLnBrk="0" hangingPunct="1">
                <a:lnSpc>
                  <a:spcPct val="90000"/>
                </a:lnSpc>
                <a:spcBef>
                  <a:spcPct val="50000"/>
                </a:spcBef>
                <a:spcAft>
                  <a:spcPct val="0"/>
                </a:spcAft>
                <a:buClr>
                  <a:schemeClr val="accent1"/>
                </a:buClr>
                <a:buSzTx/>
                <a:buFontTx/>
                <a:buNone/>
                <a:tabLst/>
              </a:pPr>
              <a:r>
                <a:rPr kumimoji="0" lang="en-US" sz="1000" b="1" i="0" u="none" strike="noStrike" cap="none" normalizeH="0" baseline="0" dirty="0" smtClean="0">
                  <a:ln>
                    <a:noFill/>
                  </a:ln>
                  <a:solidFill>
                    <a:schemeClr val="tx1"/>
                  </a:solidFill>
                  <a:effectLst/>
                </a:rPr>
                <a:t>Project Event</a:t>
              </a:r>
            </a:p>
          </p:txBody>
        </p:sp>
      </p:grpSp>
      <p:grpSp>
        <p:nvGrpSpPr>
          <p:cNvPr id="45" name="Group 44"/>
          <p:cNvGrpSpPr/>
          <p:nvPr/>
        </p:nvGrpSpPr>
        <p:grpSpPr>
          <a:xfrm>
            <a:off x="1853751" y="3780723"/>
            <a:ext cx="1080949" cy="1087954"/>
            <a:chOff x="2640446" y="2730908"/>
            <a:chExt cx="1080949" cy="1087956"/>
          </a:xfrm>
          <a:solidFill>
            <a:srgbClr val="92D050"/>
          </a:solidFill>
        </p:grpSpPr>
        <p:cxnSp>
          <p:nvCxnSpPr>
            <p:cNvPr id="46" name="Straight Connector 45"/>
            <p:cNvCxnSpPr/>
            <p:nvPr/>
          </p:nvCxnSpPr>
          <p:spPr bwMode="auto">
            <a:xfrm>
              <a:off x="3180920" y="2828264"/>
              <a:ext cx="0" cy="990600"/>
            </a:xfrm>
            <a:prstGeom prst="line">
              <a:avLst/>
            </a:prstGeom>
            <a:grpFill/>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8" name="Rectangle 47"/>
            <p:cNvSpPr/>
            <p:nvPr/>
          </p:nvSpPr>
          <p:spPr bwMode="auto">
            <a:xfrm>
              <a:off x="2640446" y="2730908"/>
              <a:ext cx="1080949" cy="277320"/>
            </a:xfrm>
            <a:prstGeom prst="rect">
              <a:avLst/>
            </a:prstGeom>
            <a:grpFill/>
            <a:ln w="9525" cap="flat" cmpd="sng" algn="ctr">
              <a:solidFill>
                <a:schemeClr val="tx1"/>
              </a:solidFill>
              <a:prstDash val="solid"/>
              <a:round/>
              <a:headEnd type="none" w="med" len="med"/>
              <a:tailEnd type="none" w="med" len="med"/>
            </a:ln>
            <a:effectLst/>
          </p:spPr>
          <p:txBody>
            <a:bodyPr vert="horz" wrap="square" lIns="92075" tIns="91440" rIns="92075" bIns="46038" numCol="1" rtlCol="0" anchor="ctr" anchorCtr="0" compatLnSpc="1">
              <a:prstTxWarp prst="textNoShape">
                <a:avLst/>
              </a:prstTxWarp>
              <a:spAutoFit/>
            </a:bodyPr>
            <a:lstStyle/>
            <a:p>
              <a:pPr marL="119063" marR="0" indent="-119063" algn="ctr" defTabSz="914400" rtl="0" eaLnBrk="1" fontAlgn="base" latinLnBrk="0" hangingPunct="1">
                <a:lnSpc>
                  <a:spcPct val="90000"/>
                </a:lnSpc>
                <a:spcBef>
                  <a:spcPct val="50000"/>
                </a:spcBef>
                <a:spcAft>
                  <a:spcPct val="0"/>
                </a:spcAft>
                <a:buClr>
                  <a:schemeClr val="accent1"/>
                </a:buClr>
                <a:buSzTx/>
                <a:buFontTx/>
                <a:buNone/>
                <a:tabLst/>
              </a:pPr>
              <a:r>
                <a:rPr kumimoji="0" lang="en-US" sz="1000" b="1" i="0" u="none" strike="noStrike" cap="none" normalizeH="0" baseline="0" dirty="0" smtClean="0">
                  <a:ln>
                    <a:noFill/>
                  </a:ln>
                  <a:solidFill>
                    <a:schemeClr val="tx1"/>
                  </a:solidFill>
                  <a:effectLst/>
                </a:rPr>
                <a:t>Project Event</a:t>
              </a:r>
            </a:p>
          </p:txBody>
        </p:sp>
      </p:grpSp>
      <p:sp>
        <p:nvSpPr>
          <p:cNvPr id="49" name="Diamond 48"/>
          <p:cNvSpPr/>
          <p:nvPr/>
        </p:nvSpPr>
        <p:spPr bwMode="auto">
          <a:xfrm>
            <a:off x="2279925" y="4399074"/>
            <a:ext cx="228600" cy="228600"/>
          </a:xfrm>
          <a:prstGeom prst="diamond">
            <a:avLst/>
          </a:prstGeom>
          <a:solidFill>
            <a:srgbClr val="92D050"/>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spAutoFit/>
          </a:bodyPr>
          <a:lstStyle/>
          <a:p>
            <a:pPr marL="119063" marR="0" indent="-119063" algn="ctr" defTabSz="914400" rtl="0" eaLnBrk="1" fontAlgn="base" latinLnBrk="0" hangingPunct="1">
              <a:lnSpc>
                <a:spcPct val="90000"/>
              </a:lnSpc>
              <a:spcBef>
                <a:spcPct val="50000"/>
              </a:spcBef>
              <a:spcAft>
                <a:spcPct val="0"/>
              </a:spcAft>
              <a:buClr>
                <a:schemeClr val="accent1"/>
              </a:buClr>
              <a:buSzTx/>
              <a:buFontTx/>
              <a:buNone/>
              <a:tabLst/>
            </a:pPr>
            <a:endParaRPr kumimoji="0" lang="en-US" sz="2000" b="1" i="0" u="none" strike="noStrike" cap="none" normalizeH="0" baseline="0" dirty="0" smtClean="0">
              <a:ln>
                <a:noFill/>
              </a:ln>
              <a:solidFill>
                <a:schemeClr val="tx1"/>
              </a:solidFill>
              <a:effectLst/>
              <a:latin typeface="Arial" charset="0"/>
            </a:endParaRPr>
          </a:p>
        </p:txBody>
      </p:sp>
      <p:sp>
        <p:nvSpPr>
          <p:cNvPr id="50" name="Diamond 49"/>
          <p:cNvSpPr/>
          <p:nvPr/>
        </p:nvSpPr>
        <p:spPr bwMode="auto">
          <a:xfrm>
            <a:off x="5597192" y="4419600"/>
            <a:ext cx="228600" cy="228600"/>
          </a:xfrm>
          <a:prstGeom prst="diamond">
            <a:avLst/>
          </a:prstGeom>
          <a:solidFill>
            <a:srgbClr val="92D050"/>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spAutoFit/>
          </a:bodyPr>
          <a:lstStyle/>
          <a:p>
            <a:pPr marL="119063" marR="0" indent="-119063" algn="ctr" defTabSz="914400" rtl="0" eaLnBrk="1" fontAlgn="base" latinLnBrk="0" hangingPunct="1">
              <a:lnSpc>
                <a:spcPct val="90000"/>
              </a:lnSpc>
              <a:spcBef>
                <a:spcPct val="50000"/>
              </a:spcBef>
              <a:spcAft>
                <a:spcPct val="0"/>
              </a:spcAft>
              <a:buClr>
                <a:schemeClr val="accent1"/>
              </a:buClr>
              <a:buSzTx/>
              <a:buFontTx/>
              <a:buNone/>
              <a:tabLst/>
            </a:pPr>
            <a:endParaRPr kumimoji="0" lang="en-US" sz="2000" b="1" i="0" u="none" strike="noStrike" cap="none" normalizeH="0" baseline="0" dirty="0" smtClean="0">
              <a:ln>
                <a:noFill/>
              </a:ln>
              <a:solidFill>
                <a:schemeClr val="tx1"/>
              </a:solidFill>
              <a:effectLst/>
              <a:latin typeface="Arial" charset="0"/>
            </a:endParaRPr>
          </a:p>
        </p:txBody>
      </p:sp>
      <p:sp>
        <p:nvSpPr>
          <p:cNvPr id="51" name="Diamond 50"/>
          <p:cNvSpPr/>
          <p:nvPr/>
        </p:nvSpPr>
        <p:spPr bwMode="auto">
          <a:xfrm>
            <a:off x="6855424" y="4399074"/>
            <a:ext cx="228600" cy="228600"/>
          </a:xfrm>
          <a:prstGeom prst="diamond">
            <a:avLst/>
          </a:prstGeom>
          <a:solidFill>
            <a:srgbClr val="92D050"/>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spAutoFit/>
          </a:bodyPr>
          <a:lstStyle/>
          <a:p>
            <a:pPr marL="119063" marR="0" indent="-119063" algn="ctr" defTabSz="914400" rtl="0" eaLnBrk="1" fontAlgn="base" latinLnBrk="0" hangingPunct="1">
              <a:lnSpc>
                <a:spcPct val="90000"/>
              </a:lnSpc>
              <a:spcBef>
                <a:spcPct val="50000"/>
              </a:spcBef>
              <a:spcAft>
                <a:spcPct val="0"/>
              </a:spcAft>
              <a:buClr>
                <a:schemeClr val="accent1"/>
              </a:buClr>
              <a:buSzTx/>
              <a:buFontTx/>
              <a:buNone/>
              <a:tabLst/>
            </a:pPr>
            <a:endParaRPr kumimoji="0" lang="en-US" sz="2000" b="1" i="0" u="none" strike="noStrike" cap="none" normalizeH="0" baseline="0" dirty="0" smtClean="0">
              <a:ln>
                <a:noFill/>
              </a:ln>
              <a:solidFill>
                <a:schemeClr val="tx1"/>
              </a:solidFill>
              <a:effectLst/>
              <a:latin typeface="Arial" charset="0"/>
            </a:endParaRPr>
          </a:p>
        </p:txBody>
      </p:sp>
      <p:sp>
        <p:nvSpPr>
          <p:cNvPr id="52" name="Diamond 51"/>
          <p:cNvSpPr/>
          <p:nvPr/>
        </p:nvSpPr>
        <p:spPr bwMode="auto">
          <a:xfrm>
            <a:off x="8113656" y="4399074"/>
            <a:ext cx="228600" cy="228600"/>
          </a:xfrm>
          <a:prstGeom prst="diamond">
            <a:avLst/>
          </a:prstGeom>
          <a:solidFill>
            <a:srgbClr val="92D050"/>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spAutoFit/>
          </a:bodyPr>
          <a:lstStyle/>
          <a:p>
            <a:pPr marL="119063" marR="0" indent="-119063" algn="ctr" defTabSz="914400" rtl="0" eaLnBrk="1" fontAlgn="base" latinLnBrk="0" hangingPunct="1">
              <a:lnSpc>
                <a:spcPct val="90000"/>
              </a:lnSpc>
              <a:spcBef>
                <a:spcPct val="50000"/>
              </a:spcBef>
              <a:spcAft>
                <a:spcPct val="0"/>
              </a:spcAft>
              <a:buClr>
                <a:schemeClr val="accent1"/>
              </a:buClr>
              <a:buSzTx/>
              <a:buFontTx/>
              <a:buNone/>
              <a:tabLst/>
            </a:pPr>
            <a:endParaRPr kumimoji="0" lang="en-US" sz="2000" b="1" i="0" u="none" strike="noStrike" cap="none" normalizeH="0" baseline="0" dirty="0" smtClean="0">
              <a:ln>
                <a:noFill/>
              </a:ln>
              <a:solidFill>
                <a:schemeClr val="tx1"/>
              </a:solidFill>
              <a:effectLst/>
              <a:latin typeface="Arial" charset="0"/>
            </a:endParaRPr>
          </a:p>
        </p:txBody>
      </p:sp>
      <p:sp>
        <p:nvSpPr>
          <p:cNvPr id="53" name="Diamond 52"/>
          <p:cNvSpPr/>
          <p:nvPr/>
        </p:nvSpPr>
        <p:spPr bwMode="auto">
          <a:xfrm>
            <a:off x="9478237" y="4399074"/>
            <a:ext cx="228600" cy="228600"/>
          </a:xfrm>
          <a:prstGeom prst="diamond">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spAutoFit/>
          </a:bodyPr>
          <a:lstStyle/>
          <a:p>
            <a:pPr marL="119063" marR="0" indent="-119063" algn="ctr" defTabSz="914400" rtl="0" eaLnBrk="1" fontAlgn="base" latinLnBrk="0" hangingPunct="1">
              <a:lnSpc>
                <a:spcPct val="90000"/>
              </a:lnSpc>
              <a:spcBef>
                <a:spcPct val="50000"/>
              </a:spcBef>
              <a:spcAft>
                <a:spcPct val="0"/>
              </a:spcAft>
              <a:buClr>
                <a:schemeClr val="accent1"/>
              </a:buClr>
              <a:buSzTx/>
              <a:buFontTx/>
              <a:buNone/>
              <a:tabLst/>
            </a:pPr>
            <a:endParaRPr kumimoji="0" lang="en-US" sz="2000" b="1" i="0" u="none" strike="noStrike" cap="none" normalizeH="0" baseline="0" dirty="0" smtClean="0">
              <a:ln>
                <a:noFill/>
              </a:ln>
              <a:solidFill>
                <a:schemeClr val="tx1"/>
              </a:solidFill>
              <a:effectLst/>
              <a:latin typeface="Arial" charset="0"/>
            </a:endParaRPr>
          </a:p>
        </p:txBody>
      </p:sp>
      <p:sp>
        <p:nvSpPr>
          <p:cNvPr id="54" name="Diamond 53"/>
          <p:cNvSpPr/>
          <p:nvPr/>
        </p:nvSpPr>
        <p:spPr bwMode="auto">
          <a:xfrm>
            <a:off x="4253896" y="4399074"/>
            <a:ext cx="228600" cy="228600"/>
          </a:xfrm>
          <a:prstGeom prst="diamond">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spAutoFit/>
          </a:bodyPr>
          <a:lstStyle/>
          <a:p>
            <a:pPr marL="119063" marR="0" indent="-119063" algn="ctr" defTabSz="914400" rtl="0" eaLnBrk="1" fontAlgn="base" latinLnBrk="0" hangingPunct="1">
              <a:lnSpc>
                <a:spcPct val="90000"/>
              </a:lnSpc>
              <a:spcBef>
                <a:spcPct val="50000"/>
              </a:spcBef>
              <a:spcAft>
                <a:spcPct val="0"/>
              </a:spcAft>
              <a:buClr>
                <a:schemeClr val="accent1"/>
              </a:buClr>
              <a:buSzTx/>
              <a:buFontTx/>
              <a:buNone/>
              <a:tabLst/>
            </a:pPr>
            <a:endParaRPr kumimoji="0" lang="en-US" sz="2000" b="1" i="0" u="none" strike="noStrike" cap="none" normalizeH="0" baseline="0" dirty="0" smtClean="0">
              <a:ln>
                <a:noFill/>
              </a:ln>
              <a:solidFill>
                <a:schemeClr val="tx1"/>
              </a:solidFill>
              <a:effectLst/>
              <a:latin typeface="Arial" charset="0"/>
            </a:endParaRPr>
          </a:p>
        </p:txBody>
      </p:sp>
      <p:sp>
        <p:nvSpPr>
          <p:cNvPr id="55" name="Diamond 54"/>
          <p:cNvSpPr/>
          <p:nvPr/>
        </p:nvSpPr>
        <p:spPr bwMode="auto">
          <a:xfrm>
            <a:off x="1923451" y="5181600"/>
            <a:ext cx="228600" cy="228600"/>
          </a:xfrm>
          <a:prstGeom prst="diamond">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spAutoFit/>
          </a:bodyPr>
          <a:lstStyle/>
          <a:p>
            <a:pPr marL="119063" marR="0" indent="-119063" algn="ctr" defTabSz="914400" rtl="0" eaLnBrk="1" fontAlgn="base" latinLnBrk="0" hangingPunct="1">
              <a:lnSpc>
                <a:spcPct val="90000"/>
              </a:lnSpc>
              <a:spcBef>
                <a:spcPct val="50000"/>
              </a:spcBef>
              <a:spcAft>
                <a:spcPct val="0"/>
              </a:spcAft>
              <a:buClr>
                <a:schemeClr val="accent1"/>
              </a:buClr>
              <a:buSzTx/>
              <a:buFontTx/>
              <a:buNone/>
              <a:tabLst/>
            </a:pPr>
            <a:endParaRPr kumimoji="0" lang="en-US" sz="2000" b="1" i="0" u="none" strike="noStrike" cap="none" normalizeH="0" baseline="0" dirty="0" smtClean="0">
              <a:ln>
                <a:noFill/>
              </a:ln>
              <a:solidFill>
                <a:schemeClr val="tx1"/>
              </a:solidFill>
              <a:effectLst/>
              <a:latin typeface="Arial" charset="0"/>
            </a:endParaRPr>
          </a:p>
        </p:txBody>
      </p:sp>
      <p:sp>
        <p:nvSpPr>
          <p:cNvPr id="61" name="Diamond 60"/>
          <p:cNvSpPr/>
          <p:nvPr/>
        </p:nvSpPr>
        <p:spPr bwMode="auto">
          <a:xfrm>
            <a:off x="4812089" y="5181600"/>
            <a:ext cx="228600" cy="228600"/>
          </a:xfrm>
          <a:prstGeom prst="diamond">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spAutoFit/>
          </a:bodyPr>
          <a:lstStyle/>
          <a:p>
            <a:pPr marL="119063" marR="0" indent="-119063" algn="ctr" defTabSz="914400" rtl="0" eaLnBrk="1" fontAlgn="base" latinLnBrk="0" hangingPunct="1">
              <a:lnSpc>
                <a:spcPct val="90000"/>
              </a:lnSpc>
              <a:spcBef>
                <a:spcPct val="50000"/>
              </a:spcBef>
              <a:spcAft>
                <a:spcPct val="0"/>
              </a:spcAft>
              <a:buClr>
                <a:schemeClr val="accent1"/>
              </a:buClr>
              <a:buSzTx/>
              <a:buFontTx/>
              <a:buNone/>
              <a:tabLst/>
            </a:pPr>
            <a:endParaRPr kumimoji="0" lang="en-US" sz="2000" b="1" i="0" u="none" strike="noStrike" cap="none" normalizeH="0" baseline="0" dirty="0" smtClean="0">
              <a:ln>
                <a:noFill/>
              </a:ln>
              <a:solidFill>
                <a:schemeClr val="tx1"/>
              </a:solidFill>
              <a:effectLst/>
              <a:latin typeface="Arial" charset="0"/>
            </a:endParaRPr>
          </a:p>
        </p:txBody>
      </p:sp>
      <p:sp>
        <p:nvSpPr>
          <p:cNvPr id="62" name="Diamond 61"/>
          <p:cNvSpPr/>
          <p:nvPr/>
        </p:nvSpPr>
        <p:spPr bwMode="auto">
          <a:xfrm>
            <a:off x="8040964" y="5181600"/>
            <a:ext cx="228600" cy="228600"/>
          </a:xfrm>
          <a:prstGeom prst="diamond">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spAutoFit/>
          </a:bodyPr>
          <a:lstStyle/>
          <a:p>
            <a:pPr marL="119063" marR="0" indent="-119063" algn="ctr" defTabSz="914400" rtl="0" eaLnBrk="1" fontAlgn="base" latinLnBrk="0" hangingPunct="1">
              <a:lnSpc>
                <a:spcPct val="90000"/>
              </a:lnSpc>
              <a:spcBef>
                <a:spcPct val="50000"/>
              </a:spcBef>
              <a:spcAft>
                <a:spcPct val="0"/>
              </a:spcAft>
              <a:buClr>
                <a:schemeClr val="accent1"/>
              </a:buClr>
              <a:buSzTx/>
              <a:buFontTx/>
              <a:buNone/>
              <a:tabLst/>
            </a:pPr>
            <a:endParaRPr kumimoji="0" lang="en-US" sz="2000" b="1" i="0" u="none" strike="noStrike" cap="none" normalizeH="0" baseline="0" dirty="0" smtClean="0">
              <a:ln>
                <a:noFill/>
              </a:ln>
              <a:solidFill>
                <a:schemeClr val="tx1"/>
              </a:solidFill>
              <a:effectLst/>
              <a:latin typeface="Arial" charset="0"/>
            </a:endParaRPr>
          </a:p>
        </p:txBody>
      </p:sp>
      <p:sp>
        <p:nvSpPr>
          <p:cNvPr id="63" name="Diamond 62"/>
          <p:cNvSpPr/>
          <p:nvPr/>
        </p:nvSpPr>
        <p:spPr bwMode="auto">
          <a:xfrm>
            <a:off x="6229816" y="5181600"/>
            <a:ext cx="228600" cy="228600"/>
          </a:xfrm>
          <a:prstGeom prst="diamond">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spAutoFit/>
          </a:bodyPr>
          <a:lstStyle/>
          <a:p>
            <a:pPr marL="119063" marR="0" indent="-119063" algn="ctr" defTabSz="914400" rtl="0" eaLnBrk="1" fontAlgn="base" latinLnBrk="0" hangingPunct="1">
              <a:lnSpc>
                <a:spcPct val="90000"/>
              </a:lnSpc>
              <a:spcBef>
                <a:spcPct val="50000"/>
              </a:spcBef>
              <a:spcAft>
                <a:spcPct val="0"/>
              </a:spcAft>
              <a:buClr>
                <a:schemeClr val="accent1"/>
              </a:buClr>
              <a:buSzTx/>
              <a:buFontTx/>
              <a:buNone/>
              <a:tabLst/>
            </a:pPr>
            <a:endParaRPr kumimoji="0" lang="en-US" sz="2000" b="1" i="0" u="none" strike="noStrike" cap="none" normalizeH="0" baseline="0" dirty="0" smtClean="0">
              <a:ln>
                <a:noFill/>
              </a:ln>
              <a:solidFill>
                <a:schemeClr val="tx1"/>
              </a:solidFill>
              <a:effectLst/>
              <a:latin typeface="Arial" charset="0"/>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High-Level Schedule Timeline &lt;Option 2:  Using Visio&gt;</a:t>
            </a:r>
            <a:endParaRPr lang="en-US" dirty="0"/>
          </a:p>
        </p:txBody>
      </p:sp>
      <p:pic>
        <p:nvPicPr>
          <p:cNvPr id="3" name="Picture 2"/>
          <p:cNvPicPr>
            <a:picLocks noChangeAspect="1" noChangeArrowheads="1"/>
          </p:cNvPicPr>
          <p:nvPr/>
        </p:nvPicPr>
        <p:blipFill>
          <a:blip r:embed="rId3" cstate="print"/>
          <a:srcRect/>
          <a:stretch>
            <a:fillRect/>
          </a:stretch>
        </p:blipFill>
        <p:spPr bwMode="auto">
          <a:xfrm>
            <a:off x="2284412" y="1295400"/>
            <a:ext cx="8686800" cy="495300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High-Level Timelines &lt;Option 3 using PPT objects&gt;</a:t>
            </a:r>
            <a:endParaRPr lang="en-US" dirty="0"/>
          </a:p>
        </p:txBody>
      </p:sp>
      <p:sp>
        <p:nvSpPr>
          <p:cNvPr id="49" name="Rectangle 2"/>
          <p:cNvSpPr>
            <a:spLocks noChangeArrowheads="1"/>
          </p:cNvSpPr>
          <p:nvPr/>
        </p:nvSpPr>
        <p:spPr bwMode="auto">
          <a:xfrm>
            <a:off x="1404936" y="5641182"/>
            <a:ext cx="8869362" cy="125016"/>
          </a:xfrm>
          <a:prstGeom prst="rect">
            <a:avLst/>
          </a:prstGeom>
          <a:solidFill>
            <a:srgbClr val="DDDDDD"/>
          </a:solidFill>
          <a:ln w="9525">
            <a:noFill/>
            <a:miter lim="800000"/>
            <a:headEnd type="none" w="sm" len="sm"/>
            <a:tailEnd type="none" w="sm" len="sm"/>
          </a:ln>
          <a:effectLst/>
        </p:spPr>
        <p:txBody>
          <a:bodyPr wrap="none" anchor="ctr"/>
          <a:lstStyle/>
          <a:p>
            <a:endParaRPr lang="en-US" altLang="en-US" sz="1400" b="1" dirty="0"/>
          </a:p>
        </p:txBody>
      </p:sp>
      <p:sp>
        <p:nvSpPr>
          <p:cNvPr id="50" name="Rectangle 3"/>
          <p:cNvSpPr>
            <a:spLocks noChangeArrowheads="1"/>
          </p:cNvSpPr>
          <p:nvPr/>
        </p:nvSpPr>
        <p:spPr bwMode="auto">
          <a:xfrm>
            <a:off x="1427161" y="2257587"/>
            <a:ext cx="8826500" cy="3143250"/>
          </a:xfrm>
          <a:prstGeom prst="rect">
            <a:avLst/>
          </a:prstGeom>
          <a:gradFill rotWithShape="0">
            <a:gsLst>
              <a:gs pos="0">
                <a:srgbClr val="CCECFF"/>
              </a:gs>
              <a:gs pos="100000">
                <a:schemeClr val="bg1"/>
              </a:gs>
            </a:gsLst>
            <a:lin ang="5400000" scaled="1"/>
          </a:gradFill>
          <a:ln w="9525">
            <a:noFill/>
            <a:miter lim="800000"/>
            <a:headEnd/>
            <a:tailEnd/>
          </a:ln>
          <a:effectLst/>
        </p:spPr>
        <p:txBody>
          <a:bodyPr wrap="none" anchor="ctr"/>
          <a:lstStyle/>
          <a:p>
            <a:pPr>
              <a:spcBef>
                <a:spcPct val="20000"/>
              </a:spcBef>
              <a:buClr>
                <a:schemeClr val="hlink"/>
              </a:buClr>
              <a:buFont typeface="Wingdings" pitchFamily="2" charset="2"/>
              <a:buNone/>
            </a:pPr>
            <a:r>
              <a:rPr lang="en-US" sz="1000" b="1" dirty="0">
                <a:solidFill>
                  <a:schemeClr val="bg1"/>
                </a:solidFill>
              </a:rPr>
              <a:t/>
            </a:r>
            <a:br>
              <a:rPr lang="en-US" sz="1000" b="1" dirty="0">
                <a:solidFill>
                  <a:schemeClr val="bg1"/>
                </a:solidFill>
              </a:rPr>
            </a:br>
            <a:endParaRPr lang="en-US" sz="1000" b="1" dirty="0">
              <a:solidFill>
                <a:schemeClr val="bg1"/>
              </a:solidFill>
            </a:endParaRPr>
          </a:p>
        </p:txBody>
      </p:sp>
      <p:sp>
        <p:nvSpPr>
          <p:cNvPr id="51" name="Rectangle 4"/>
          <p:cNvSpPr>
            <a:spLocks noChangeArrowheads="1"/>
          </p:cNvSpPr>
          <p:nvPr/>
        </p:nvSpPr>
        <p:spPr bwMode="auto">
          <a:xfrm>
            <a:off x="1446212" y="1752600"/>
            <a:ext cx="8821737" cy="539354"/>
          </a:xfrm>
          <a:prstGeom prst="rect">
            <a:avLst/>
          </a:prstGeom>
          <a:solidFill>
            <a:srgbClr val="6666FF"/>
          </a:solidFill>
          <a:ln w="9525">
            <a:noFill/>
            <a:miter lim="800000"/>
            <a:headEnd type="none" w="sm" len="sm"/>
            <a:tailEnd type="none" w="sm" len="sm"/>
          </a:ln>
          <a:effectLst/>
        </p:spPr>
        <p:txBody>
          <a:bodyPr wrap="none" anchor="ctr"/>
          <a:lstStyle/>
          <a:p>
            <a:endParaRPr lang="en-US" altLang="en-US" sz="1400" b="1" dirty="0">
              <a:solidFill>
                <a:srgbClr val="FFFF00"/>
              </a:solidFill>
            </a:endParaRPr>
          </a:p>
        </p:txBody>
      </p:sp>
      <p:sp>
        <p:nvSpPr>
          <p:cNvPr id="52" name="Text Box 5"/>
          <p:cNvSpPr txBox="1">
            <a:spLocks noChangeArrowheads="1"/>
          </p:cNvSpPr>
          <p:nvPr/>
        </p:nvSpPr>
        <p:spPr bwMode="auto">
          <a:xfrm>
            <a:off x="1958974" y="1784034"/>
            <a:ext cx="630238" cy="369332"/>
          </a:xfrm>
          <a:prstGeom prst="rect">
            <a:avLst/>
          </a:prstGeom>
          <a:noFill/>
          <a:ln w="9525">
            <a:noFill/>
            <a:miter lim="800000"/>
            <a:headEnd type="none" w="sm" len="sm"/>
            <a:tailEnd type="none" w="sm" len="sm"/>
          </a:ln>
          <a:effectLst/>
        </p:spPr>
        <p:txBody>
          <a:bodyPr wrap="square" anchor="ctr">
            <a:spAutoFit/>
          </a:bodyPr>
          <a:lstStyle/>
          <a:p>
            <a:r>
              <a:rPr lang="en-US" altLang="en-US" sz="1800" b="1" dirty="0">
                <a:solidFill>
                  <a:srgbClr val="FFFF00"/>
                </a:solidFill>
              </a:rPr>
              <a:t>Q3</a:t>
            </a:r>
          </a:p>
        </p:txBody>
      </p:sp>
      <p:sp>
        <p:nvSpPr>
          <p:cNvPr id="53" name="Text Box 6"/>
          <p:cNvSpPr txBox="1">
            <a:spLocks noChangeArrowheads="1"/>
          </p:cNvSpPr>
          <p:nvPr/>
        </p:nvSpPr>
        <p:spPr bwMode="auto">
          <a:xfrm>
            <a:off x="3795712" y="1791178"/>
            <a:ext cx="457176" cy="369332"/>
          </a:xfrm>
          <a:prstGeom prst="rect">
            <a:avLst/>
          </a:prstGeom>
          <a:noFill/>
          <a:ln w="9525">
            <a:noFill/>
            <a:miter lim="800000"/>
            <a:headEnd type="none" w="sm" len="sm"/>
            <a:tailEnd type="none" w="sm" len="sm"/>
          </a:ln>
          <a:effectLst/>
        </p:spPr>
        <p:txBody>
          <a:bodyPr wrap="none" anchor="ctr">
            <a:spAutoFit/>
          </a:bodyPr>
          <a:lstStyle/>
          <a:p>
            <a:r>
              <a:rPr lang="en-US" altLang="en-US" sz="1800" b="1" dirty="0">
                <a:solidFill>
                  <a:srgbClr val="FFFF00"/>
                </a:solidFill>
              </a:rPr>
              <a:t>Q4</a:t>
            </a:r>
          </a:p>
        </p:txBody>
      </p:sp>
      <p:sp>
        <p:nvSpPr>
          <p:cNvPr id="54" name="Text Box 7"/>
          <p:cNvSpPr txBox="1">
            <a:spLocks noChangeArrowheads="1"/>
          </p:cNvSpPr>
          <p:nvPr/>
        </p:nvSpPr>
        <p:spPr bwMode="auto">
          <a:xfrm>
            <a:off x="6262687" y="1805465"/>
            <a:ext cx="457176" cy="369332"/>
          </a:xfrm>
          <a:prstGeom prst="rect">
            <a:avLst/>
          </a:prstGeom>
          <a:noFill/>
          <a:ln w="9525">
            <a:noFill/>
            <a:miter lim="800000"/>
            <a:headEnd type="none" w="sm" len="sm"/>
            <a:tailEnd type="none" w="sm" len="sm"/>
          </a:ln>
          <a:effectLst/>
        </p:spPr>
        <p:txBody>
          <a:bodyPr wrap="none" anchor="ctr">
            <a:spAutoFit/>
          </a:bodyPr>
          <a:lstStyle/>
          <a:p>
            <a:r>
              <a:rPr lang="en-US" altLang="en-US" sz="1800" b="1" dirty="0">
                <a:solidFill>
                  <a:srgbClr val="FFFF00"/>
                </a:solidFill>
              </a:rPr>
              <a:t>Q1</a:t>
            </a:r>
          </a:p>
        </p:txBody>
      </p:sp>
      <p:sp>
        <p:nvSpPr>
          <p:cNvPr id="55" name="Line 8"/>
          <p:cNvSpPr>
            <a:spLocks noChangeShapeType="1"/>
          </p:cNvSpPr>
          <p:nvPr/>
        </p:nvSpPr>
        <p:spPr bwMode="auto">
          <a:xfrm>
            <a:off x="7456486" y="2230042"/>
            <a:ext cx="0" cy="3427809"/>
          </a:xfrm>
          <a:prstGeom prst="line">
            <a:avLst/>
          </a:prstGeom>
          <a:noFill/>
          <a:ln w="31750">
            <a:solidFill>
              <a:srgbClr val="003300"/>
            </a:solidFill>
            <a:prstDash val="dash"/>
            <a:round/>
            <a:headEnd type="none" w="sm" len="sm"/>
            <a:tailEnd type="none" w="sm" len="sm"/>
          </a:ln>
          <a:effectLst/>
        </p:spPr>
        <p:txBody>
          <a:bodyPr anchor="ctr">
            <a:spAutoFit/>
          </a:bodyPr>
          <a:lstStyle/>
          <a:p>
            <a:endParaRPr lang="en-US" b="1" dirty="0"/>
          </a:p>
        </p:txBody>
      </p:sp>
      <p:sp>
        <p:nvSpPr>
          <p:cNvPr id="56" name="Line 9"/>
          <p:cNvSpPr>
            <a:spLocks noChangeShapeType="1"/>
          </p:cNvSpPr>
          <p:nvPr/>
        </p:nvSpPr>
        <p:spPr bwMode="auto">
          <a:xfrm>
            <a:off x="8172448" y="2180035"/>
            <a:ext cx="0" cy="3442097"/>
          </a:xfrm>
          <a:prstGeom prst="line">
            <a:avLst/>
          </a:prstGeom>
          <a:noFill/>
          <a:ln w="19050">
            <a:solidFill>
              <a:srgbClr val="6699FF"/>
            </a:solidFill>
            <a:prstDash val="dash"/>
            <a:round/>
            <a:headEnd type="none" w="sm" len="sm"/>
            <a:tailEnd type="none" w="sm" len="sm"/>
          </a:ln>
          <a:effectLst/>
        </p:spPr>
        <p:txBody>
          <a:bodyPr anchor="ctr">
            <a:spAutoFit/>
          </a:bodyPr>
          <a:lstStyle/>
          <a:p>
            <a:endParaRPr lang="en-US" b="1" dirty="0"/>
          </a:p>
        </p:txBody>
      </p:sp>
      <p:sp>
        <p:nvSpPr>
          <p:cNvPr id="57" name="Line 10"/>
          <p:cNvSpPr>
            <a:spLocks noChangeShapeType="1"/>
          </p:cNvSpPr>
          <p:nvPr/>
        </p:nvSpPr>
        <p:spPr bwMode="auto">
          <a:xfrm>
            <a:off x="6646861" y="2230042"/>
            <a:ext cx="0" cy="3420665"/>
          </a:xfrm>
          <a:prstGeom prst="line">
            <a:avLst/>
          </a:prstGeom>
          <a:noFill/>
          <a:ln w="19050">
            <a:solidFill>
              <a:srgbClr val="6699FF"/>
            </a:solidFill>
            <a:prstDash val="dash"/>
            <a:round/>
            <a:headEnd type="none" w="sm" len="sm"/>
            <a:tailEnd type="none" w="sm" len="sm"/>
          </a:ln>
          <a:effectLst/>
        </p:spPr>
        <p:txBody>
          <a:bodyPr anchor="ctr">
            <a:spAutoFit/>
          </a:bodyPr>
          <a:lstStyle/>
          <a:p>
            <a:endParaRPr lang="en-US" b="1" dirty="0"/>
          </a:p>
        </p:txBody>
      </p:sp>
      <p:sp>
        <p:nvSpPr>
          <p:cNvPr id="58" name="Line 11"/>
          <p:cNvSpPr>
            <a:spLocks noChangeShapeType="1"/>
          </p:cNvSpPr>
          <p:nvPr/>
        </p:nvSpPr>
        <p:spPr bwMode="auto">
          <a:xfrm>
            <a:off x="1449386" y="2220517"/>
            <a:ext cx="0" cy="3430190"/>
          </a:xfrm>
          <a:prstGeom prst="line">
            <a:avLst/>
          </a:prstGeom>
          <a:noFill/>
          <a:ln w="31750">
            <a:solidFill>
              <a:srgbClr val="003300"/>
            </a:solidFill>
            <a:prstDash val="dash"/>
            <a:round/>
            <a:headEnd type="none" w="sm" len="sm"/>
            <a:tailEnd type="none" w="sm" len="sm"/>
          </a:ln>
          <a:effectLst/>
        </p:spPr>
        <p:txBody>
          <a:bodyPr anchor="ctr">
            <a:spAutoFit/>
          </a:bodyPr>
          <a:lstStyle/>
          <a:p>
            <a:endParaRPr lang="en-US" b="1" dirty="0"/>
          </a:p>
        </p:txBody>
      </p:sp>
      <p:sp>
        <p:nvSpPr>
          <p:cNvPr id="59" name="Line 13"/>
          <p:cNvSpPr>
            <a:spLocks noChangeShapeType="1"/>
          </p:cNvSpPr>
          <p:nvPr/>
        </p:nvSpPr>
        <p:spPr bwMode="auto">
          <a:xfrm>
            <a:off x="2176461" y="2219326"/>
            <a:ext cx="0" cy="3436144"/>
          </a:xfrm>
          <a:prstGeom prst="line">
            <a:avLst/>
          </a:prstGeom>
          <a:noFill/>
          <a:ln w="19050">
            <a:solidFill>
              <a:srgbClr val="6699FF"/>
            </a:solidFill>
            <a:prstDash val="dash"/>
            <a:round/>
            <a:headEnd type="none" w="sm" len="sm"/>
            <a:tailEnd type="none" w="sm" len="sm"/>
          </a:ln>
          <a:effectLst/>
        </p:spPr>
        <p:txBody>
          <a:bodyPr anchor="ctr">
            <a:spAutoFit/>
          </a:bodyPr>
          <a:lstStyle/>
          <a:p>
            <a:endParaRPr lang="en-US" b="1" dirty="0"/>
          </a:p>
        </p:txBody>
      </p:sp>
      <p:sp>
        <p:nvSpPr>
          <p:cNvPr id="60" name="Line 14"/>
          <p:cNvSpPr>
            <a:spLocks noChangeShapeType="1"/>
          </p:cNvSpPr>
          <p:nvPr/>
        </p:nvSpPr>
        <p:spPr bwMode="auto">
          <a:xfrm>
            <a:off x="2895599" y="2247901"/>
            <a:ext cx="4763" cy="3412331"/>
          </a:xfrm>
          <a:prstGeom prst="line">
            <a:avLst/>
          </a:prstGeom>
          <a:noFill/>
          <a:ln w="31750">
            <a:solidFill>
              <a:srgbClr val="003300"/>
            </a:solidFill>
            <a:prstDash val="dash"/>
            <a:round/>
            <a:headEnd type="none" w="sm" len="sm"/>
            <a:tailEnd type="none" w="sm" len="sm"/>
          </a:ln>
          <a:effectLst/>
        </p:spPr>
        <p:txBody>
          <a:bodyPr anchor="ctr">
            <a:spAutoFit/>
          </a:bodyPr>
          <a:lstStyle/>
          <a:p>
            <a:endParaRPr lang="en-US" b="1" dirty="0"/>
          </a:p>
        </p:txBody>
      </p:sp>
      <p:sp>
        <p:nvSpPr>
          <p:cNvPr id="61" name="Line 15"/>
          <p:cNvSpPr>
            <a:spLocks noChangeShapeType="1"/>
          </p:cNvSpPr>
          <p:nvPr/>
        </p:nvSpPr>
        <p:spPr bwMode="auto">
          <a:xfrm flipH="1">
            <a:off x="5935662" y="2202657"/>
            <a:ext cx="9525" cy="3423047"/>
          </a:xfrm>
          <a:prstGeom prst="line">
            <a:avLst/>
          </a:prstGeom>
          <a:noFill/>
          <a:ln w="19050">
            <a:solidFill>
              <a:srgbClr val="6699FF"/>
            </a:solidFill>
            <a:prstDash val="dash"/>
            <a:round/>
            <a:headEnd type="none" w="sm" len="sm"/>
            <a:tailEnd type="none" w="sm" len="sm"/>
          </a:ln>
          <a:effectLst/>
        </p:spPr>
        <p:txBody>
          <a:bodyPr anchor="ctr">
            <a:spAutoFit/>
          </a:bodyPr>
          <a:lstStyle/>
          <a:p>
            <a:endParaRPr lang="en-US" b="1" dirty="0"/>
          </a:p>
        </p:txBody>
      </p:sp>
      <p:sp>
        <p:nvSpPr>
          <p:cNvPr id="62" name="Line 16"/>
          <p:cNvSpPr>
            <a:spLocks noChangeShapeType="1"/>
          </p:cNvSpPr>
          <p:nvPr/>
        </p:nvSpPr>
        <p:spPr bwMode="auto">
          <a:xfrm>
            <a:off x="4408486" y="2216945"/>
            <a:ext cx="0" cy="3426619"/>
          </a:xfrm>
          <a:prstGeom prst="line">
            <a:avLst/>
          </a:prstGeom>
          <a:noFill/>
          <a:ln w="19050">
            <a:solidFill>
              <a:srgbClr val="6699FF"/>
            </a:solidFill>
            <a:prstDash val="dash"/>
            <a:round/>
            <a:headEnd type="none" w="sm" len="sm"/>
            <a:tailEnd type="none" w="sm" len="sm"/>
          </a:ln>
          <a:effectLst/>
        </p:spPr>
        <p:txBody>
          <a:bodyPr anchor="ctr">
            <a:spAutoFit/>
          </a:bodyPr>
          <a:lstStyle/>
          <a:p>
            <a:endParaRPr lang="en-US" b="1" dirty="0"/>
          </a:p>
        </p:txBody>
      </p:sp>
      <p:sp>
        <p:nvSpPr>
          <p:cNvPr id="63" name="Line 17"/>
          <p:cNvSpPr>
            <a:spLocks noChangeShapeType="1"/>
          </p:cNvSpPr>
          <p:nvPr/>
        </p:nvSpPr>
        <p:spPr bwMode="auto">
          <a:xfrm>
            <a:off x="5240336" y="2322911"/>
            <a:ext cx="23812" cy="3434953"/>
          </a:xfrm>
          <a:prstGeom prst="line">
            <a:avLst/>
          </a:prstGeom>
          <a:noFill/>
          <a:ln w="31750">
            <a:solidFill>
              <a:srgbClr val="003300"/>
            </a:solidFill>
            <a:prstDash val="dash"/>
            <a:round/>
            <a:headEnd type="none" w="sm" len="sm"/>
            <a:tailEnd type="none" w="sm" len="sm"/>
          </a:ln>
          <a:effectLst/>
        </p:spPr>
        <p:txBody>
          <a:bodyPr anchor="ctr">
            <a:spAutoFit/>
          </a:bodyPr>
          <a:lstStyle/>
          <a:p>
            <a:endParaRPr lang="en-US" b="1" dirty="0"/>
          </a:p>
        </p:txBody>
      </p:sp>
      <p:sp>
        <p:nvSpPr>
          <p:cNvPr id="64" name="Line 18"/>
          <p:cNvSpPr>
            <a:spLocks noChangeShapeType="1"/>
          </p:cNvSpPr>
          <p:nvPr/>
        </p:nvSpPr>
        <p:spPr bwMode="auto">
          <a:xfrm flipH="1">
            <a:off x="8858249" y="2205038"/>
            <a:ext cx="4763" cy="3445669"/>
          </a:xfrm>
          <a:prstGeom prst="line">
            <a:avLst/>
          </a:prstGeom>
          <a:noFill/>
          <a:ln w="19050">
            <a:solidFill>
              <a:srgbClr val="6699FF"/>
            </a:solidFill>
            <a:prstDash val="dash"/>
            <a:round/>
            <a:headEnd type="none" w="sm" len="sm"/>
            <a:tailEnd type="none" w="sm" len="sm"/>
          </a:ln>
          <a:effectLst/>
        </p:spPr>
        <p:txBody>
          <a:bodyPr anchor="ctr">
            <a:spAutoFit/>
          </a:bodyPr>
          <a:lstStyle/>
          <a:p>
            <a:endParaRPr lang="en-US" b="1" dirty="0"/>
          </a:p>
        </p:txBody>
      </p:sp>
      <p:sp>
        <p:nvSpPr>
          <p:cNvPr id="65" name="Text Box 19"/>
          <p:cNvSpPr txBox="1">
            <a:spLocks noChangeArrowheads="1"/>
          </p:cNvSpPr>
          <p:nvPr/>
        </p:nvSpPr>
        <p:spPr bwMode="auto">
          <a:xfrm>
            <a:off x="8228012" y="1791178"/>
            <a:ext cx="536575" cy="369332"/>
          </a:xfrm>
          <a:prstGeom prst="rect">
            <a:avLst/>
          </a:prstGeom>
          <a:noFill/>
          <a:ln w="9525">
            <a:noFill/>
            <a:miter lim="800000"/>
            <a:headEnd type="none" w="sm" len="sm"/>
            <a:tailEnd type="none" w="sm" len="sm"/>
          </a:ln>
          <a:effectLst/>
        </p:spPr>
        <p:txBody>
          <a:bodyPr wrap="square" anchor="ctr">
            <a:spAutoFit/>
          </a:bodyPr>
          <a:lstStyle/>
          <a:p>
            <a:r>
              <a:rPr lang="en-US" altLang="en-US" sz="1800" b="1" dirty="0">
                <a:solidFill>
                  <a:srgbClr val="FFFF00"/>
                </a:solidFill>
              </a:rPr>
              <a:t>Q2</a:t>
            </a:r>
          </a:p>
        </p:txBody>
      </p:sp>
      <p:sp>
        <p:nvSpPr>
          <p:cNvPr id="66" name="Line 21"/>
          <p:cNvSpPr>
            <a:spLocks noChangeShapeType="1"/>
          </p:cNvSpPr>
          <p:nvPr/>
        </p:nvSpPr>
        <p:spPr bwMode="auto">
          <a:xfrm>
            <a:off x="9628187" y="2316957"/>
            <a:ext cx="9525" cy="3456385"/>
          </a:xfrm>
          <a:prstGeom prst="line">
            <a:avLst/>
          </a:prstGeom>
          <a:noFill/>
          <a:ln w="31750">
            <a:solidFill>
              <a:srgbClr val="003300"/>
            </a:solidFill>
            <a:prstDash val="dash"/>
            <a:round/>
            <a:headEnd type="none" w="sm" len="sm"/>
            <a:tailEnd type="none" w="sm" len="sm"/>
          </a:ln>
          <a:effectLst/>
        </p:spPr>
        <p:txBody>
          <a:bodyPr anchor="ctr">
            <a:spAutoFit/>
          </a:bodyPr>
          <a:lstStyle/>
          <a:p>
            <a:endParaRPr lang="en-US" b="1" dirty="0"/>
          </a:p>
        </p:txBody>
      </p:sp>
      <p:sp>
        <p:nvSpPr>
          <p:cNvPr id="67" name="Rectangle 23"/>
          <p:cNvSpPr>
            <a:spLocks noChangeArrowheads="1"/>
          </p:cNvSpPr>
          <p:nvPr/>
        </p:nvSpPr>
        <p:spPr bwMode="auto">
          <a:xfrm>
            <a:off x="5575298" y="3344467"/>
            <a:ext cx="2571750" cy="250031"/>
          </a:xfrm>
          <a:prstGeom prst="rect">
            <a:avLst/>
          </a:prstGeom>
          <a:solidFill>
            <a:srgbClr val="99CCFF"/>
          </a:solidFill>
          <a:ln w="9525">
            <a:noFill/>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99CCFF"/>
            </a:extrusionClr>
          </a:sp3d>
        </p:spPr>
        <p:txBody>
          <a:bodyPr wrap="none" anchor="ctr">
            <a:flatTx/>
          </a:bodyPr>
          <a:lstStyle/>
          <a:p>
            <a:pPr>
              <a:lnSpc>
                <a:spcPct val="80000"/>
              </a:lnSpc>
            </a:pPr>
            <a:r>
              <a:rPr lang="en-US" altLang="en-US" sz="1200" b="1" dirty="0" smtClean="0"/>
              <a:t>Construction </a:t>
            </a:r>
            <a:endParaRPr lang="en-US" altLang="en-US" sz="1400" b="1" dirty="0"/>
          </a:p>
        </p:txBody>
      </p:sp>
      <p:sp>
        <p:nvSpPr>
          <p:cNvPr id="68" name="Rectangle 24"/>
          <p:cNvSpPr>
            <a:spLocks noChangeArrowheads="1"/>
          </p:cNvSpPr>
          <p:nvPr/>
        </p:nvSpPr>
        <p:spPr bwMode="auto">
          <a:xfrm>
            <a:off x="1821035" y="2431836"/>
            <a:ext cx="1154196" cy="201088"/>
          </a:xfrm>
          <a:prstGeom prst="rect">
            <a:avLst/>
          </a:prstGeom>
          <a:solidFill>
            <a:schemeClr val="bg2"/>
          </a:solidFill>
          <a:ln w="9525">
            <a:noFill/>
            <a:miter lim="800000"/>
            <a:headEnd type="none" w="sm" len="sm"/>
            <a:tailEnd type="none" w="sm" len="sm"/>
          </a:ln>
          <a:effectLst/>
          <a:scene3d>
            <a:camera prst="legacyObliqueTopRight"/>
            <a:lightRig rig="legacyFlat3" dir="b"/>
          </a:scene3d>
          <a:sp3d extrusionH="430200" contourW="12700" prstMaterial="legacyMatte">
            <a:bevelT w="13500" h="13500" prst="angle"/>
            <a:bevelB w="13500" h="13500" prst="angle"/>
            <a:extrusionClr>
              <a:schemeClr val="bg2"/>
            </a:extrusionClr>
            <a:contourClr>
              <a:schemeClr val="tx2"/>
            </a:contourClr>
          </a:sp3d>
        </p:spPr>
        <p:txBody>
          <a:bodyPr wrap="none" anchor="ctr">
            <a:flatTx/>
          </a:bodyPr>
          <a:lstStyle/>
          <a:p>
            <a:r>
              <a:rPr lang="en-US" altLang="en-US" sz="1400" dirty="0" smtClean="0"/>
              <a:t>Project Start Up</a:t>
            </a:r>
            <a:endParaRPr lang="en-US" altLang="en-US" sz="1400" dirty="0"/>
          </a:p>
        </p:txBody>
      </p:sp>
      <p:sp>
        <p:nvSpPr>
          <p:cNvPr id="69" name="Rectangle 25"/>
          <p:cNvSpPr>
            <a:spLocks noChangeArrowheads="1"/>
          </p:cNvSpPr>
          <p:nvPr/>
        </p:nvSpPr>
        <p:spPr bwMode="auto">
          <a:xfrm>
            <a:off x="2967680" y="2711795"/>
            <a:ext cx="2189163" cy="232172"/>
          </a:xfrm>
          <a:prstGeom prst="rect">
            <a:avLst/>
          </a:prstGeom>
          <a:solidFill>
            <a:srgbClr val="99CCFF"/>
          </a:solidFill>
          <a:ln w="9525">
            <a:noFill/>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99CCFF"/>
            </a:extrusionClr>
          </a:sp3d>
        </p:spPr>
        <p:txBody>
          <a:bodyPr wrap="none" anchor="ctr">
            <a:flatTx/>
          </a:bodyPr>
          <a:lstStyle/>
          <a:p>
            <a:pPr>
              <a:lnSpc>
                <a:spcPct val="90000"/>
              </a:lnSpc>
            </a:pPr>
            <a:r>
              <a:rPr lang="en-US" altLang="en-US" sz="1200" b="1" dirty="0" smtClean="0"/>
              <a:t>Inception - Requirements gathering</a:t>
            </a:r>
            <a:endParaRPr lang="en-US" altLang="en-US" sz="1200" b="1" dirty="0"/>
          </a:p>
        </p:txBody>
      </p:sp>
      <p:sp>
        <p:nvSpPr>
          <p:cNvPr id="70" name="Line 26"/>
          <p:cNvSpPr>
            <a:spLocks noChangeShapeType="1"/>
          </p:cNvSpPr>
          <p:nvPr/>
        </p:nvSpPr>
        <p:spPr bwMode="auto">
          <a:xfrm flipV="1">
            <a:off x="1846262" y="5738813"/>
            <a:ext cx="7958137" cy="0"/>
          </a:xfrm>
          <a:prstGeom prst="line">
            <a:avLst/>
          </a:prstGeom>
          <a:noFill/>
          <a:ln w="19050">
            <a:solidFill>
              <a:srgbClr val="000000"/>
            </a:solidFill>
            <a:round/>
            <a:headEnd type="triangle" w="med" len="med"/>
            <a:tailEnd type="triangle" w="med" len="med"/>
          </a:ln>
          <a:effectLst/>
        </p:spPr>
        <p:txBody>
          <a:bodyPr anchor="ctr"/>
          <a:lstStyle/>
          <a:p>
            <a:endParaRPr lang="en-US" b="1" dirty="0"/>
          </a:p>
        </p:txBody>
      </p:sp>
      <p:sp>
        <p:nvSpPr>
          <p:cNvPr id="71" name="Text Box 27"/>
          <p:cNvSpPr txBox="1">
            <a:spLocks noChangeArrowheads="1"/>
          </p:cNvSpPr>
          <p:nvPr/>
        </p:nvSpPr>
        <p:spPr bwMode="auto">
          <a:xfrm>
            <a:off x="5226048" y="5641182"/>
            <a:ext cx="1213281" cy="369332"/>
          </a:xfrm>
          <a:prstGeom prst="rect">
            <a:avLst/>
          </a:prstGeom>
          <a:solidFill>
            <a:srgbClr val="FFFFFF"/>
          </a:solidFill>
          <a:ln w="19050">
            <a:noFill/>
            <a:miter lim="800000"/>
            <a:headEnd/>
            <a:tailEnd/>
          </a:ln>
          <a:effectLst/>
        </p:spPr>
        <p:txBody>
          <a:bodyPr wrap="none">
            <a:spAutoFit/>
          </a:bodyPr>
          <a:lstStyle/>
          <a:p>
            <a:pPr algn="l">
              <a:spcBef>
                <a:spcPct val="50000"/>
              </a:spcBef>
            </a:pPr>
            <a:r>
              <a:rPr lang="en-US" b="1" dirty="0">
                <a:solidFill>
                  <a:srgbClr val="000000"/>
                </a:solidFill>
              </a:rPr>
              <a:t>12 Months</a:t>
            </a:r>
          </a:p>
        </p:txBody>
      </p:sp>
      <p:sp>
        <p:nvSpPr>
          <p:cNvPr id="72" name="Text Box 29"/>
          <p:cNvSpPr txBox="1">
            <a:spLocks noChangeArrowheads="1"/>
          </p:cNvSpPr>
          <p:nvPr/>
        </p:nvSpPr>
        <p:spPr bwMode="auto">
          <a:xfrm>
            <a:off x="5587998" y="1705453"/>
            <a:ext cx="630301" cy="369332"/>
          </a:xfrm>
          <a:prstGeom prst="rect">
            <a:avLst/>
          </a:prstGeom>
          <a:noFill/>
          <a:ln w="9525">
            <a:noFill/>
            <a:miter lim="800000"/>
            <a:headEnd type="none" w="sm" len="sm"/>
            <a:tailEnd type="none" w="sm" len="sm"/>
          </a:ln>
          <a:effectLst/>
        </p:spPr>
        <p:txBody>
          <a:bodyPr wrap="none" anchor="ctr">
            <a:spAutoFit/>
          </a:bodyPr>
          <a:lstStyle/>
          <a:p>
            <a:r>
              <a:rPr lang="en-US" altLang="en-US" sz="1800" b="1" dirty="0" smtClean="0">
                <a:solidFill>
                  <a:srgbClr val="FFFF00"/>
                </a:solidFill>
              </a:rPr>
              <a:t>20xx</a:t>
            </a:r>
            <a:endParaRPr lang="en-US" altLang="en-US" sz="1800" b="1" dirty="0">
              <a:solidFill>
                <a:srgbClr val="FFFF00"/>
              </a:solidFill>
            </a:endParaRPr>
          </a:p>
        </p:txBody>
      </p:sp>
      <p:sp>
        <p:nvSpPr>
          <p:cNvPr id="73" name="Rectangle 31"/>
          <p:cNvSpPr>
            <a:spLocks noChangeArrowheads="1"/>
          </p:cNvSpPr>
          <p:nvPr/>
        </p:nvSpPr>
        <p:spPr bwMode="auto">
          <a:xfrm>
            <a:off x="4473573" y="3088482"/>
            <a:ext cx="2160588" cy="241697"/>
          </a:xfrm>
          <a:prstGeom prst="rect">
            <a:avLst/>
          </a:prstGeom>
          <a:solidFill>
            <a:schemeClr val="bg2"/>
          </a:solidFill>
          <a:ln w="9525">
            <a:noFill/>
            <a:miter lim="800000"/>
            <a:headEnd type="none" w="sm" len="sm"/>
            <a:tailEnd type="none" w="sm" len="sm"/>
          </a:ln>
          <a:effectLst/>
          <a:scene3d>
            <a:camera prst="legacyObliqueTopRight"/>
            <a:lightRig rig="legacyFlat3" dir="b"/>
          </a:scene3d>
          <a:sp3d extrusionH="430200" contourW="12700" prstMaterial="legacyMatte">
            <a:bevelT w="13500" h="13500" prst="angle"/>
            <a:bevelB w="13500" h="13500" prst="angle"/>
            <a:extrusionClr>
              <a:schemeClr val="bg2"/>
            </a:extrusionClr>
            <a:contourClr>
              <a:schemeClr val="tx2"/>
            </a:contourClr>
          </a:sp3d>
        </p:spPr>
        <p:txBody>
          <a:bodyPr wrap="none" anchor="ctr">
            <a:flatTx/>
          </a:bodyPr>
          <a:lstStyle/>
          <a:p>
            <a:r>
              <a:rPr lang="en-US" altLang="en-US" sz="1200" b="1" dirty="0" smtClean="0"/>
              <a:t>Elaboration</a:t>
            </a:r>
            <a:endParaRPr lang="en-US" altLang="en-US" sz="1200" b="1" dirty="0"/>
          </a:p>
        </p:txBody>
      </p:sp>
      <p:sp>
        <p:nvSpPr>
          <p:cNvPr id="74" name="Rectangle 32"/>
          <p:cNvSpPr>
            <a:spLocks noChangeArrowheads="1"/>
          </p:cNvSpPr>
          <p:nvPr/>
        </p:nvSpPr>
        <p:spPr bwMode="auto">
          <a:xfrm>
            <a:off x="8132889" y="4001145"/>
            <a:ext cx="1391422" cy="272299"/>
          </a:xfrm>
          <a:prstGeom prst="rect">
            <a:avLst/>
          </a:prstGeom>
          <a:solidFill>
            <a:srgbClr val="99CCFF"/>
          </a:solidFill>
          <a:ln w="9525">
            <a:noFill/>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99CCFF"/>
            </a:extrusionClr>
          </a:sp3d>
        </p:spPr>
        <p:txBody>
          <a:bodyPr wrap="none" anchor="ctr">
            <a:flatTx/>
          </a:bodyPr>
          <a:lstStyle/>
          <a:p>
            <a:r>
              <a:rPr lang="en-US" altLang="en-US" sz="1200" b="1" dirty="0" smtClean="0"/>
              <a:t>Cutover to Production</a:t>
            </a:r>
            <a:endParaRPr lang="en-US" altLang="en-US" sz="1400" b="1" dirty="0"/>
          </a:p>
        </p:txBody>
      </p:sp>
      <p:sp>
        <p:nvSpPr>
          <p:cNvPr id="75" name="Rectangle 33"/>
          <p:cNvSpPr>
            <a:spLocks noChangeArrowheads="1"/>
          </p:cNvSpPr>
          <p:nvPr/>
        </p:nvSpPr>
        <p:spPr bwMode="auto">
          <a:xfrm>
            <a:off x="6525354" y="3729296"/>
            <a:ext cx="1998061" cy="212864"/>
          </a:xfrm>
          <a:prstGeom prst="rect">
            <a:avLst/>
          </a:prstGeom>
          <a:solidFill>
            <a:schemeClr val="bg2"/>
          </a:solidFill>
          <a:ln w="9525">
            <a:noFill/>
            <a:miter lim="800000"/>
            <a:headEnd type="none" w="sm" len="sm"/>
            <a:tailEnd type="none" w="sm" len="sm"/>
          </a:ln>
          <a:effectLst/>
          <a:scene3d>
            <a:camera prst="legacyObliqueTopRight"/>
            <a:lightRig rig="legacyFlat3" dir="b"/>
          </a:scene3d>
          <a:sp3d extrusionH="430200" contourW="12700" prstMaterial="legacyMatte">
            <a:bevelT w="13500" h="13500" prst="angle"/>
            <a:bevelB w="13500" h="13500" prst="angle"/>
            <a:extrusionClr>
              <a:schemeClr val="bg2"/>
            </a:extrusionClr>
            <a:contourClr>
              <a:schemeClr val="tx2"/>
            </a:contourClr>
          </a:sp3d>
        </p:spPr>
        <p:txBody>
          <a:bodyPr wrap="none" anchor="ctr">
            <a:flatTx/>
          </a:bodyPr>
          <a:lstStyle/>
          <a:p>
            <a:r>
              <a:rPr lang="en-US" altLang="en-US" sz="1200" b="1" dirty="0" smtClean="0"/>
              <a:t>Transition</a:t>
            </a:r>
            <a:r>
              <a:rPr lang="en-US" altLang="en-US" sz="1200" b="1" dirty="0" smtClean="0">
                <a:solidFill>
                  <a:schemeClr val="bg2"/>
                </a:solidFill>
              </a:rPr>
              <a:t>)</a:t>
            </a:r>
            <a:endParaRPr lang="en-US" altLang="en-US" sz="1400" b="1" dirty="0">
              <a:solidFill>
                <a:schemeClr val="bg2"/>
              </a:solidFill>
            </a:endParaRPr>
          </a:p>
        </p:txBody>
      </p:sp>
      <p:sp>
        <p:nvSpPr>
          <p:cNvPr id="76" name="Text Box 34"/>
          <p:cNvSpPr txBox="1">
            <a:spLocks noChangeArrowheads="1"/>
          </p:cNvSpPr>
          <p:nvPr/>
        </p:nvSpPr>
        <p:spPr bwMode="auto">
          <a:xfrm>
            <a:off x="1579562" y="1997572"/>
            <a:ext cx="428322" cy="307777"/>
          </a:xfrm>
          <a:prstGeom prst="rect">
            <a:avLst/>
          </a:prstGeom>
          <a:noFill/>
          <a:ln w="9525">
            <a:noFill/>
            <a:miter lim="800000"/>
            <a:headEnd type="none" w="sm" len="sm"/>
            <a:tailEnd type="none" w="sm" len="sm"/>
          </a:ln>
          <a:effectLst/>
        </p:spPr>
        <p:txBody>
          <a:bodyPr wrap="none" anchor="ctr">
            <a:spAutoFit/>
          </a:bodyPr>
          <a:lstStyle/>
          <a:p>
            <a:r>
              <a:rPr lang="en-US" altLang="en-US" sz="1400" b="1" dirty="0">
                <a:solidFill>
                  <a:srgbClr val="FFFF00"/>
                </a:solidFill>
              </a:rPr>
              <a:t>Jan</a:t>
            </a:r>
          </a:p>
        </p:txBody>
      </p:sp>
      <p:sp>
        <p:nvSpPr>
          <p:cNvPr id="77" name="Text Box 35"/>
          <p:cNvSpPr txBox="1">
            <a:spLocks noChangeArrowheads="1"/>
          </p:cNvSpPr>
          <p:nvPr/>
        </p:nvSpPr>
        <p:spPr bwMode="auto">
          <a:xfrm>
            <a:off x="2324099" y="1997572"/>
            <a:ext cx="448136" cy="307777"/>
          </a:xfrm>
          <a:prstGeom prst="rect">
            <a:avLst/>
          </a:prstGeom>
          <a:noFill/>
          <a:ln w="9525">
            <a:noFill/>
            <a:miter lim="800000"/>
            <a:headEnd type="none" w="sm" len="sm"/>
            <a:tailEnd type="none" w="sm" len="sm"/>
          </a:ln>
          <a:effectLst/>
        </p:spPr>
        <p:txBody>
          <a:bodyPr wrap="none" anchor="ctr">
            <a:spAutoFit/>
          </a:bodyPr>
          <a:lstStyle/>
          <a:p>
            <a:r>
              <a:rPr lang="en-US" altLang="en-US" sz="1400" b="1" dirty="0">
                <a:solidFill>
                  <a:srgbClr val="FFFF00"/>
                </a:solidFill>
              </a:rPr>
              <a:t>Feb</a:t>
            </a:r>
          </a:p>
        </p:txBody>
      </p:sp>
      <p:sp>
        <p:nvSpPr>
          <p:cNvPr id="78" name="Text Box 36"/>
          <p:cNvSpPr txBox="1">
            <a:spLocks noChangeArrowheads="1"/>
          </p:cNvSpPr>
          <p:nvPr/>
        </p:nvSpPr>
        <p:spPr bwMode="auto">
          <a:xfrm>
            <a:off x="3073398" y="1997572"/>
            <a:ext cx="494046" cy="307777"/>
          </a:xfrm>
          <a:prstGeom prst="rect">
            <a:avLst/>
          </a:prstGeom>
          <a:noFill/>
          <a:ln w="9525">
            <a:noFill/>
            <a:miter lim="800000"/>
            <a:headEnd type="none" w="sm" len="sm"/>
            <a:tailEnd type="none" w="sm" len="sm"/>
          </a:ln>
          <a:effectLst/>
        </p:spPr>
        <p:txBody>
          <a:bodyPr wrap="none" anchor="ctr">
            <a:spAutoFit/>
          </a:bodyPr>
          <a:lstStyle/>
          <a:p>
            <a:r>
              <a:rPr lang="en-US" altLang="en-US" sz="1400" b="1" dirty="0">
                <a:solidFill>
                  <a:srgbClr val="FFFF00"/>
                </a:solidFill>
              </a:rPr>
              <a:t>Mar</a:t>
            </a:r>
          </a:p>
        </p:txBody>
      </p:sp>
      <p:sp>
        <p:nvSpPr>
          <p:cNvPr id="79" name="Text Box 37"/>
          <p:cNvSpPr txBox="1">
            <a:spLocks noChangeArrowheads="1"/>
          </p:cNvSpPr>
          <p:nvPr/>
        </p:nvSpPr>
        <p:spPr bwMode="auto">
          <a:xfrm>
            <a:off x="3863974" y="1997572"/>
            <a:ext cx="453970" cy="307777"/>
          </a:xfrm>
          <a:prstGeom prst="rect">
            <a:avLst/>
          </a:prstGeom>
          <a:noFill/>
          <a:ln w="9525">
            <a:noFill/>
            <a:miter lim="800000"/>
            <a:headEnd type="none" w="sm" len="sm"/>
            <a:tailEnd type="none" w="sm" len="sm"/>
          </a:ln>
          <a:effectLst/>
        </p:spPr>
        <p:txBody>
          <a:bodyPr wrap="none" anchor="ctr">
            <a:spAutoFit/>
          </a:bodyPr>
          <a:lstStyle/>
          <a:p>
            <a:r>
              <a:rPr lang="en-US" altLang="en-US" sz="1400" b="1" dirty="0">
                <a:solidFill>
                  <a:srgbClr val="FFFF00"/>
                </a:solidFill>
              </a:rPr>
              <a:t>Apr</a:t>
            </a:r>
          </a:p>
        </p:txBody>
      </p:sp>
      <p:sp>
        <p:nvSpPr>
          <p:cNvPr id="80" name="Text Box 38"/>
          <p:cNvSpPr txBox="1">
            <a:spLocks noChangeArrowheads="1"/>
          </p:cNvSpPr>
          <p:nvPr/>
        </p:nvSpPr>
        <p:spPr bwMode="auto">
          <a:xfrm>
            <a:off x="8394698" y="1997572"/>
            <a:ext cx="444352" cy="307777"/>
          </a:xfrm>
          <a:prstGeom prst="rect">
            <a:avLst/>
          </a:prstGeom>
          <a:noFill/>
          <a:ln w="9525">
            <a:noFill/>
            <a:miter lim="800000"/>
            <a:headEnd type="none" w="sm" len="sm"/>
            <a:tailEnd type="none" w="sm" len="sm"/>
          </a:ln>
          <a:effectLst/>
        </p:spPr>
        <p:txBody>
          <a:bodyPr wrap="none" anchor="ctr">
            <a:spAutoFit/>
          </a:bodyPr>
          <a:lstStyle/>
          <a:p>
            <a:r>
              <a:rPr lang="en-US" altLang="en-US" sz="1400" b="1" dirty="0">
                <a:solidFill>
                  <a:srgbClr val="FFFF00"/>
                </a:solidFill>
              </a:rPr>
              <a:t>Oct</a:t>
            </a:r>
          </a:p>
        </p:txBody>
      </p:sp>
      <p:sp>
        <p:nvSpPr>
          <p:cNvPr id="81" name="Text Box 39"/>
          <p:cNvSpPr txBox="1">
            <a:spLocks noChangeArrowheads="1"/>
          </p:cNvSpPr>
          <p:nvPr/>
        </p:nvSpPr>
        <p:spPr bwMode="auto">
          <a:xfrm>
            <a:off x="7567611" y="1997572"/>
            <a:ext cx="455574" cy="307777"/>
          </a:xfrm>
          <a:prstGeom prst="rect">
            <a:avLst/>
          </a:prstGeom>
          <a:noFill/>
          <a:ln w="9525">
            <a:noFill/>
            <a:miter lim="800000"/>
            <a:headEnd type="none" w="sm" len="sm"/>
            <a:tailEnd type="none" w="sm" len="sm"/>
          </a:ln>
          <a:effectLst/>
        </p:spPr>
        <p:txBody>
          <a:bodyPr wrap="none" anchor="ctr">
            <a:spAutoFit/>
          </a:bodyPr>
          <a:lstStyle/>
          <a:p>
            <a:r>
              <a:rPr lang="en-US" altLang="en-US" sz="1400" b="1" dirty="0">
                <a:solidFill>
                  <a:srgbClr val="FFFF00"/>
                </a:solidFill>
              </a:rPr>
              <a:t>Sep</a:t>
            </a:r>
          </a:p>
        </p:txBody>
      </p:sp>
      <p:sp>
        <p:nvSpPr>
          <p:cNvPr id="82" name="Text Box 40"/>
          <p:cNvSpPr txBox="1">
            <a:spLocks noChangeArrowheads="1"/>
          </p:cNvSpPr>
          <p:nvPr/>
        </p:nvSpPr>
        <p:spPr bwMode="auto">
          <a:xfrm>
            <a:off x="6796087" y="1997572"/>
            <a:ext cx="474810" cy="307777"/>
          </a:xfrm>
          <a:prstGeom prst="rect">
            <a:avLst/>
          </a:prstGeom>
          <a:noFill/>
          <a:ln w="9525">
            <a:noFill/>
            <a:miter lim="800000"/>
            <a:headEnd type="none" w="sm" len="sm"/>
            <a:tailEnd type="none" w="sm" len="sm"/>
          </a:ln>
          <a:effectLst/>
        </p:spPr>
        <p:txBody>
          <a:bodyPr wrap="none" anchor="ctr">
            <a:spAutoFit/>
          </a:bodyPr>
          <a:lstStyle/>
          <a:p>
            <a:r>
              <a:rPr lang="en-US" altLang="en-US" sz="1400" b="1" dirty="0">
                <a:solidFill>
                  <a:srgbClr val="FFFF00"/>
                </a:solidFill>
              </a:rPr>
              <a:t>Aug</a:t>
            </a:r>
          </a:p>
        </p:txBody>
      </p:sp>
      <p:sp>
        <p:nvSpPr>
          <p:cNvPr id="83" name="Text Box 41"/>
          <p:cNvSpPr txBox="1">
            <a:spLocks noChangeArrowheads="1"/>
          </p:cNvSpPr>
          <p:nvPr/>
        </p:nvSpPr>
        <p:spPr bwMode="auto">
          <a:xfrm>
            <a:off x="6083298" y="1997572"/>
            <a:ext cx="385042" cy="307777"/>
          </a:xfrm>
          <a:prstGeom prst="rect">
            <a:avLst/>
          </a:prstGeom>
          <a:noFill/>
          <a:ln w="9525">
            <a:noFill/>
            <a:miter lim="800000"/>
            <a:headEnd type="none" w="sm" len="sm"/>
            <a:tailEnd type="none" w="sm" len="sm"/>
          </a:ln>
          <a:effectLst/>
        </p:spPr>
        <p:txBody>
          <a:bodyPr wrap="none" anchor="ctr">
            <a:spAutoFit/>
          </a:bodyPr>
          <a:lstStyle/>
          <a:p>
            <a:r>
              <a:rPr lang="en-US" altLang="en-US" sz="1400" b="1" dirty="0">
                <a:solidFill>
                  <a:srgbClr val="FFFF00"/>
                </a:solidFill>
              </a:rPr>
              <a:t>Jul</a:t>
            </a:r>
          </a:p>
        </p:txBody>
      </p:sp>
      <p:sp>
        <p:nvSpPr>
          <p:cNvPr id="84" name="Text Box 42"/>
          <p:cNvSpPr txBox="1">
            <a:spLocks noChangeArrowheads="1"/>
          </p:cNvSpPr>
          <p:nvPr/>
        </p:nvSpPr>
        <p:spPr bwMode="auto">
          <a:xfrm>
            <a:off x="5311774" y="1997572"/>
            <a:ext cx="436338" cy="307777"/>
          </a:xfrm>
          <a:prstGeom prst="rect">
            <a:avLst/>
          </a:prstGeom>
          <a:noFill/>
          <a:ln w="9525">
            <a:noFill/>
            <a:miter lim="800000"/>
            <a:headEnd type="none" w="sm" len="sm"/>
            <a:tailEnd type="none" w="sm" len="sm"/>
          </a:ln>
          <a:effectLst/>
        </p:spPr>
        <p:txBody>
          <a:bodyPr wrap="none" anchor="ctr">
            <a:spAutoFit/>
          </a:bodyPr>
          <a:lstStyle/>
          <a:p>
            <a:r>
              <a:rPr lang="en-US" altLang="en-US" sz="1400" b="1" dirty="0">
                <a:solidFill>
                  <a:srgbClr val="FFFF00"/>
                </a:solidFill>
              </a:rPr>
              <a:t>Jun</a:t>
            </a:r>
          </a:p>
        </p:txBody>
      </p:sp>
      <p:sp>
        <p:nvSpPr>
          <p:cNvPr id="85" name="Text Box 43"/>
          <p:cNvSpPr txBox="1">
            <a:spLocks noChangeArrowheads="1"/>
          </p:cNvSpPr>
          <p:nvPr/>
        </p:nvSpPr>
        <p:spPr bwMode="auto">
          <a:xfrm>
            <a:off x="4578349" y="1997572"/>
            <a:ext cx="511615" cy="307777"/>
          </a:xfrm>
          <a:prstGeom prst="rect">
            <a:avLst/>
          </a:prstGeom>
          <a:noFill/>
          <a:ln w="9525">
            <a:noFill/>
            <a:miter lim="800000"/>
            <a:headEnd type="none" w="sm" len="sm"/>
            <a:tailEnd type="none" w="sm" len="sm"/>
          </a:ln>
          <a:effectLst/>
        </p:spPr>
        <p:txBody>
          <a:bodyPr wrap="none" anchor="ctr">
            <a:spAutoFit/>
          </a:bodyPr>
          <a:lstStyle/>
          <a:p>
            <a:r>
              <a:rPr lang="en-US" altLang="en-US" sz="1400" b="1" dirty="0">
                <a:solidFill>
                  <a:srgbClr val="FFFF00"/>
                </a:solidFill>
              </a:rPr>
              <a:t>May</a:t>
            </a:r>
          </a:p>
        </p:txBody>
      </p:sp>
      <p:sp>
        <p:nvSpPr>
          <p:cNvPr id="86" name="Text Box 44"/>
          <p:cNvSpPr txBox="1">
            <a:spLocks noChangeArrowheads="1"/>
          </p:cNvSpPr>
          <p:nvPr/>
        </p:nvSpPr>
        <p:spPr bwMode="auto">
          <a:xfrm>
            <a:off x="9059862" y="1997572"/>
            <a:ext cx="483915" cy="307777"/>
          </a:xfrm>
          <a:prstGeom prst="rect">
            <a:avLst/>
          </a:prstGeom>
          <a:noFill/>
          <a:ln w="9525">
            <a:noFill/>
            <a:miter lim="800000"/>
            <a:headEnd type="none" w="sm" len="sm"/>
            <a:tailEnd type="none" w="sm" len="sm"/>
          </a:ln>
          <a:effectLst/>
        </p:spPr>
        <p:txBody>
          <a:bodyPr wrap="none" anchor="ctr">
            <a:spAutoFit/>
          </a:bodyPr>
          <a:lstStyle/>
          <a:p>
            <a:r>
              <a:rPr lang="en-US" altLang="en-US" sz="1400" b="1" dirty="0">
                <a:solidFill>
                  <a:srgbClr val="FFFF00"/>
                </a:solidFill>
              </a:rPr>
              <a:t>Nov</a:t>
            </a:r>
          </a:p>
        </p:txBody>
      </p:sp>
      <p:sp>
        <p:nvSpPr>
          <p:cNvPr id="87" name="Text Box 45"/>
          <p:cNvSpPr txBox="1">
            <a:spLocks noChangeArrowheads="1"/>
          </p:cNvSpPr>
          <p:nvPr/>
        </p:nvSpPr>
        <p:spPr bwMode="auto">
          <a:xfrm>
            <a:off x="9707561" y="1997572"/>
            <a:ext cx="460382" cy="307777"/>
          </a:xfrm>
          <a:prstGeom prst="rect">
            <a:avLst/>
          </a:prstGeom>
          <a:noFill/>
          <a:ln w="9525">
            <a:noFill/>
            <a:miter lim="800000"/>
            <a:headEnd type="none" w="sm" len="sm"/>
            <a:tailEnd type="none" w="sm" len="sm"/>
          </a:ln>
          <a:effectLst/>
        </p:spPr>
        <p:txBody>
          <a:bodyPr wrap="none" anchor="ctr">
            <a:spAutoFit/>
          </a:bodyPr>
          <a:lstStyle/>
          <a:p>
            <a:r>
              <a:rPr lang="en-US" altLang="en-US" sz="1400" b="1" dirty="0">
                <a:solidFill>
                  <a:srgbClr val="FFFF00"/>
                </a:solidFill>
              </a:rPr>
              <a:t>Dec</a:t>
            </a:r>
          </a:p>
        </p:txBody>
      </p:sp>
      <p:sp>
        <p:nvSpPr>
          <p:cNvPr id="88" name="AutoShape 46"/>
          <p:cNvSpPr>
            <a:spLocks noChangeArrowheads="1"/>
          </p:cNvSpPr>
          <p:nvPr/>
        </p:nvSpPr>
        <p:spPr bwMode="auto">
          <a:xfrm>
            <a:off x="8972548" y="4696469"/>
            <a:ext cx="1206672" cy="519113"/>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6699FF"/>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6699FF"/>
            </a:extrusionClr>
          </a:sp3d>
        </p:spPr>
        <p:txBody>
          <a:bodyPr wrap="none" anchor="ctr">
            <a:flatTx/>
          </a:bodyPr>
          <a:lstStyle/>
          <a:p>
            <a:r>
              <a:rPr lang="en-US" sz="1200" b="1" dirty="0" smtClean="0"/>
              <a:t>Project </a:t>
            </a:r>
          </a:p>
          <a:p>
            <a:r>
              <a:rPr lang="en-US" sz="1200" b="1" dirty="0" smtClean="0"/>
              <a:t>complete</a:t>
            </a:r>
            <a:endParaRPr lang="en-US" sz="1200" b="1" dirty="0">
              <a:solidFill>
                <a:schemeClr val="bg2"/>
              </a:solidFill>
            </a:endParaRPr>
          </a:p>
        </p:txBody>
      </p:sp>
      <p:sp>
        <p:nvSpPr>
          <p:cNvPr id="89" name="Rectangle 48"/>
          <p:cNvSpPr>
            <a:spLocks noChangeArrowheads="1"/>
          </p:cNvSpPr>
          <p:nvPr/>
        </p:nvSpPr>
        <p:spPr bwMode="auto">
          <a:xfrm>
            <a:off x="6680199" y="3100388"/>
            <a:ext cx="601663" cy="217885"/>
          </a:xfrm>
          <a:prstGeom prst="rect">
            <a:avLst/>
          </a:prstGeom>
          <a:solidFill>
            <a:schemeClr val="bg2"/>
          </a:solidFill>
          <a:ln w="9525">
            <a:noFill/>
            <a:miter lim="800000"/>
            <a:headEnd type="none" w="sm" len="sm"/>
            <a:tailEnd type="none" w="sm" len="sm"/>
          </a:ln>
          <a:effectLst/>
          <a:scene3d>
            <a:camera prst="legacyObliqueTopRight"/>
            <a:lightRig rig="legacyFlat3" dir="b"/>
          </a:scene3d>
          <a:sp3d extrusionH="430200" contourW="12700" prstMaterial="legacyMatte">
            <a:bevelT w="13500" h="13500" prst="angle"/>
            <a:bevelB w="13500" h="13500" prst="angle"/>
            <a:extrusionClr>
              <a:schemeClr val="bg2"/>
            </a:extrusionClr>
            <a:contourClr>
              <a:schemeClr val="bg2"/>
            </a:contourClr>
          </a:sp3d>
        </p:spPr>
        <p:txBody>
          <a:bodyPr wrap="none" anchor="ctr">
            <a:flatTx/>
          </a:bodyPr>
          <a:lstStyle/>
          <a:p>
            <a:r>
              <a:rPr lang="en-US" altLang="en-US" sz="1200" b="1" dirty="0" smtClean="0"/>
              <a:t>Iteration Plan</a:t>
            </a:r>
            <a:endParaRPr lang="en-US" altLang="en-US" sz="1200" b="1" dirty="0"/>
          </a:p>
        </p:txBody>
      </p:sp>
      <p:sp>
        <p:nvSpPr>
          <p:cNvPr id="90" name="Rectangle 49"/>
          <p:cNvSpPr>
            <a:spLocks noChangeArrowheads="1"/>
          </p:cNvSpPr>
          <p:nvPr/>
        </p:nvSpPr>
        <p:spPr bwMode="auto">
          <a:xfrm>
            <a:off x="8864596" y="4383882"/>
            <a:ext cx="1092202" cy="259814"/>
          </a:xfrm>
          <a:prstGeom prst="rect">
            <a:avLst/>
          </a:prstGeom>
          <a:solidFill>
            <a:schemeClr val="bg2"/>
          </a:solidFill>
          <a:ln w="9525">
            <a:noFill/>
            <a:miter lim="800000"/>
            <a:headEnd type="none" w="sm" len="sm"/>
            <a:tailEnd type="none" w="sm" len="sm"/>
          </a:ln>
          <a:effectLst/>
          <a:scene3d>
            <a:camera prst="legacyObliqueTopRight"/>
            <a:lightRig rig="legacyFlat3" dir="b"/>
          </a:scene3d>
          <a:sp3d extrusionH="430200" contourW="12700" prstMaterial="legacyMatte">
            <a:bevelT w="13500" h="13500" prst="angle"/>
            <a:bevelB w="13500" h="13500" prst="angle"/>
            <a:extrusionClr>
              <a:schemeClr val="bg2"/>
            </a:extrusionClr>
            <a:contourClr>
              <a:schemeClr val="tx2"/>
            </a:contourClr>
          </a:sp3d>
        </p:spPr>
        <p:txBody>
          <a:bodyPr wrap="none" anchor="ctr">
            <a:flatTx/>
          </a:bodyPr>
          <a:lstStyle/>
          <a:p>
            <a:r>
              <a:rPr lang="en-US" altLang="en-US" sz="1200" b="1" dirty="0" smtClean="0"/>
              <a:t>Production Monitor</a:t>
            </a:r>
            <a:endParaRPr lang="en-US" altLang="en-US" sz="1200" b="1" dirty="0">
              <a:solidFill>
                <a:schemeClr val="bg2"/>
              </a:solidFill>
            </a:endParaRPr>
          </a:p>
        </p:txBody>
      </p:sp>
      <p:sp>
        <p:nvSpPr>
          <p:cNvPr id="91" name="AutoShape 50"/>
          <p:cNvSpPr>
            <a:spLocks noChangeArrowheads="1"/>
          </p:cNvSpPr>
          <p:nvPr/>
        </p:nvSpPr>
        <p:spPr bwMode="auto">
          <a:xfrm>
            <a:off x="4470399" y="5100896"/>
            <a:ext cx="3682313" cy="680427"/>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bg2"/>
          </a:solidFill>
          <a:ln w="9525">
            <a:noFill/>
            <a:miter lim="800000"/>
            <a:headEnd/>
            <a:tailEnd/>
          </a:ln>
          <a:effectLst/>
          <a:scene3d>
            <a:camera prst="legacyObliqueTopRight"/>
            <a:lightRig rig="legacyFlat3" dir="b"/>
          </a:scene3d>
          <a:sp3d extrusionH="430200" contourW="12700" prstMaterial="legacyMatte">
            <a:bevelT w="13500" h="13500" prst="angle"/>
            <a:bevelB w="13500" h="13500" prst="angle"/>
            <a:extrusionClr>
              <a:schemeClr val="bg2"/>
            </a:extrusionClr>
            <a:contourClr>
              <a:schemeClr val="tx2"/>
            </a:contourClr>
          </a:sp3d>
        </p:spPr>
        <p:txBody>
          <a:bodyPr wrap="none" anchor="ctr">
            <a:flatTx/>
          </a:bodyPr>
          <a:lstStyle/>
          <a:p>
            <a:r>
              <a:rPr lang="en-US" sz="1200" b="1" dirty="0" smtClean="0"/>
              <a:t>Communications, Documentation, Training</a:t>
            </a:r>
            <a:endParaRPr lang="en-US" sz="1200" b="1" dirty="0"/>
          </a:p>
        </p:txBody>
      </p:sp>
      <p:sp>
        <p:nvSpPr>
          <p:cNvPr id="92" name="Line 56"/>
          <p:cNvSpPr>
            <a:spLocks noChangeShapeType="1"/>
          </p:cNvSpPr>
          <p:nvPr/>
        </p:nvSpPr>
        <p:spPr bwMode="auto">
          <a:xfrm>
            <a:off x="3630611" y="2446735"/>
            <a:ext cx="0" cy="3436144"/>
          </a:xfrm>
          <a:prstGeom prst="line">
            <a:avLst/>
          </a:prstGeom>
          <a:noFill/>
          <a:ln w="19050">
            <a:solidFill>
              <a:srgbClr val="6699FF"/>
            </a:solidFill>
            <a:prstDash val="dash"/>
            <a:round/>
            <a:headEnd type="none" w="sm" len="sm"/>
            <a:tailEnd type="none" w="sm" len="sm"/>
          </a:ln>
          <a:effectLst/>
        </p:spPr>
        <p:txBody>
          <a:bodyPr anchor="ctr">
            <a:spAutoFit/>
          </a:bodyPr>
          <a:lstStyle/>
          <a:p>
            <a:endParaRPr lang="en-US" b="1" dirty="0"/>
          </a:p>
        </p:txBody>
      </p:sp>
      <p:sp>
        <p:nvSpPr>
          <p:cNvPr id="93" name="Line 57"/>
          <p:cNvSpPr>
            <a:spLocks noChangeShapeType="1"/>
          </p:cNvSpPr>
          <p:nvPr/>
        </p:nvSpPr>
        <p:spPr bwMode="auto">
          <a:xfrm>
            <a:off x="10256836" y="2220517"/>
            <a:ext cx="0" cy="3436144"/>
          </a:xfrm>
          <a:prstGeom prst="line">
            <a:avLst/>
          </a:prstGeom>
          <a:noFill/>
          <a:ln w="19050">
            <a:solidFill>
              <a:srgbClr val="6699FF"/>
            </a:solidFill>
            <a:prstDash val="dash"/>
            <a:round/>
            <a:headEnd type="none" w="sm" len="sm"/>
            <a:tailEnd type="none" w="sm" len="sm"/>
          </a:ln>
          <a:effectLst/>
        </p:spPr>
        <p:txBody>
          <a:bodyPr anchor="ctr">
            <a:spAutoFit/>
          </a:bodyPr>
          <a:lstStyle/>
          <a:p>
            <a:endParaRPr lang="en-US" b="1"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Issues and Risks &lt;Option 1&gt;</a:t>
            </a:r>
            <a:endParaRPr lang="en-US" dirty="0"/>
          </a:p>
        </p:txBody>
      </p:sp>
      <p:graphicFrame>
        <p:nvGraphicFramePr>
          <p:cNvPr id="4" name="Table 3"/>
          <p:cNvGraphicFramePr>
            <a:graphicFrameLocks noGrp="1"/>
          </p:cNvGraphicFramePr>
          <p:nvPr/>
        </p:nvGraphicFramePr>
        <p:xfrm>
          <a:off x="455611" y="1524000"/>
          <a:ext cx="10972799" cy="3510280"/>
        </p:xfrm>
        <a:graphic>
          <a:graphicData uri="http://schemas.openxmlformats.org/drawingml/2006/table">
            <a:tbl>
              <a:tblPr firstRow="1" bandRow="1">
                <a:tableStyleId>{5C22544A-7EE6-4342-B048-85BDC9FD1C3A}</a:tableStyleId>
              </a:tblPr>
              <a:tblGrid>
                <a:gridCol w="800101"/>
                <a:gridCol w="3314700"/>
                <a:gridCol w="1066800"/>
                <a:gridCol w="990600"/>
                <a:gridCol w="1295400"/>
                <a:gridCol w="1295400"/>
                <a:gridCol w="1219200"/>
                <a:gridCol w="990598"/>
              </a:tblGrid>
              <a:tr h="370840">
                <a:tc>
                  <a:txBody>
                    <a:bodyPr/>
                    <a:lstStyle/>
                    <a:p>
                      <a:pPr algn="ctr"/>
                      <a:r>
                        <a:rPr lang="en-US" dirty="0" smtClean="0"/>
                        <a:t>Risk #</a:t>
                      </a:r>
                      <a:endParaRPr lang="en-US" dirty="0"/>
                    </a:p>
                  </a:txBody>
                  <a:tcPr/>
                </a:tc>
                <a:tc>
                  <a:txBody>
                    <a:bodyPr/>
                    <a:lstStyle/>
                    <a:p>
                      <a:pPr algn="ctr"/>
                      <a:r>
                        <a:rPr lang="en-US" dirty="0" smtClean="0"/>
                        <a:t>Description of Risk/Issue</a:t>
                      </a:r>
                      <a:endParaRPr lang="en-US" dirty="0"/>
                    </a:p>
                  </a:txBody>
                  <a:tcPr/>
                </a:tc>
                <a:tc>
                  <a:txBody>
                    <a:bodyPr/>
                    <a:lstStyle/>
                    <a:p>
                      <a:pPr algn="ctr"/>
                      <a:r>
                        <a:rPr lang="en-US" dirty="0" smtClean="0"/>
                        <a:t>Assigned To</a:t>
                      </a:r>
                      <a:endParaRPr lang="en-US" dirty="0"/>
                    </a:p>
                  </a:txBody>
                  <a:tcPr/>
                </a:tc>
                <a:tc>
                  <a:txBody>
                    <a:bodyPr/>
                    <a:lstStyle/>
                    <a:p>
                      <a:pPr algn="ctr"/>
                      <a:r>
                        <a:rPr lang="en-US" dirty="0" smtClean="0"/>
                        <a:t>Type</a:t>
                      </a:r>
                      <a:endParaRPr lang="en-US" dirty="0"/>
                    </a:p>
                  </a:txBody>
                  <a:tcPr/>
                </a:tc>
                <a:tc>
                  <a:txBody>
                    <a:bodyPr/>
                    <a:lstStyle/>
                    <a:p>
                      <a:pPr algn="ctr"/>
                      <a:r>
                        <a:rPr lang="en-US" dirty="0" smtClean="0"/>
                        <a:t>Expected Resolution</a:t>
                      </a:r>
                      <a:r>
                        <a:rPr lang="en-US" baseline="0" dirty="0" smtClean="0"/>
                        <a:t> Date</a:t>
                      </a:r>
                      <a:endParaRPr lang="en-US" dirty="0"/>
                    </a:p>
                  </a:txBody>
                  <a:tcPr/>
                </a:tc>
                <a:tc>
                  <a:txBody>
                    <a:bodyPr/>
                    <a:lstStyle/>
                    <a:p>
                      <a:pPr algn="ctr"/>
                      <a:r>
                        <a:rPr lang="en-US" dirty="0" smtClean="0"/>
                        <a:t>Impact on Other Risks</a:t>
                      </a:r>
                      <a:endParaRPr lang="en-US" dirty="0"/>
                    </a:p>
                  </a:txBody>
                  <a:tcPr/>
                </a:tc>
                <a:tc>
                  <a:txBody>
                    <a:bodyPr/>
                    <a:lstStyle/>
                    <a:p>
                      <a:pPr algn="ctr"/>
                      <a:r>
                        <a:rPr lang="en-US" dirty="0" smtClean="0"/>
                        <a:t>Date Completed</a:t>
                      </a:r>
                      <a:endParaRPr lang="en-US" dirty="0"/>
                    </a:p>
                  </a:txBody>
                  <a:tcPr/>
                </a:tc>
                <a:tc>
                  <a:txBody>
                    <a:bodyPr/>
                    <a:lstStyle/>
                    <a:p>
                      <a:pPr algn="ctr"/>
                      <a:r>
                        <a:rPr lang="en-US" dirty="0" smtClean="0"/>
                        <a:t>Current Status</a:t>
                      </a:r>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Issues and Impact &lt;Option 2&gt;</a:t>
            </a:r>
            <a:endParaRPr lang="en-US" dirty="0"/>
          </a:p>
        </p:txBody>
      </p:sp>
      <p:graphicFrame>
        <p:nvGraphicFramePr>
          <p:cNvPr id="3" name="Table 2"/>
          <p:cNvGraphicFramePr>
            <a:graphicFrameLocks noGrp="1"/>
          </p:cNvGraphicFramePr>
          <p:nvPr/>
        </p:nvGraphicFramePr>
        <p:xfrm>
          <a:off x="608013" y="1676400"/>
          <a:ext cx="10591798" cy="2774950"/>
        </p:xfrm>
        <a:graphic>
          <a:graphicData uri="http://schemas.openxmlformats.org/drawingml/2006/table">
            <a:tbl>
              <a:tblPr firstRow="1" bandRow="1">
                <a:tableStyleId>{5C22544A-7EE6-4342-B048-85BDC9FD1C3A}</a:tableStyleId>
              </a:tblPr>
              <a:tblGrid>
                <a:gridCol w="274484"/>
                <a:gridCol w="2952624"/>
                <a:gridCol w="3156296"/>
                <a:gridCol w="930702"/>
                <a:gridCol w="961052"/>
                <a:gridCol w="1446636"/>
                <a:gridCol w="870004"/>
              </a:tblGrid>
              <a:tr h="554990">
                <a:tc>
                  <a:txBody>
                    <a:bodyPr/>
                    <a:lstStyle/>
                    <a:p>
                      <a:pPr algn="l">
                        <a:spcAft>
                          <a:spcPts val="0"/>
                        </a:spcAft>
                      </a:pPr>
                      <a:r>
                        <a:rPr lang="en-US" sz="1200" dirty="0" smtClean="0">
                          <a:effectLst/>
                          <a:latin typeface="+mn-lt"/>
                        </a:rPr>
                        <a:t>#</a:t>
                      </a:r>
                      <a:endParaRPr lang="en-GB" sz="1200" dirty="0">
                        <a:effectLst/>
                        <a:latin typeface="+mn-lt"/>
                        <a:ea typeface="Times New Roman"/>
                        <a:cs typeface="Times New Roman"/>
                      </a:endParaRPr>
                    </a:p>
                  </a:txBody>
                  <a:tcPr marL="68580" marR="68580" marT="0" marB="0" anchor="ctr"/>
                </a:tc>
                <a:tc>
                  <a:txBody>
                    <a:bodyPr/>
                    <a:lstStyle/>
                    <a:p>
                      <a:pPr algn="l">
                        <a:spcAft>
                          <a:spcPts val="0"/>
                        </a:spcAft>
                      </a:pPr>
                      <a:r>
                        <a:rPr lang="en-US" sz="1200" dirty="0">
                          <a:effectLst/>
                          <a:latin typeface="+mn-lt"/>
                        </a:rPr>
                        <a:t>Description</a:t>
                      </a:r>
                      <a:endParaRPr lang="en-GB" sz="1200" dirty="0">
                        <a:effectLst/>
                        <a:latin typeface="+mn-lt"/>
                        <a:ea typeface="Times New Roman"/>
                        <a:cs typeface="Times New Roman"/>
                      </a:endParaRPr>
                    </a:p>
                  </a:txBody>
                  <a:tcPr marL="68580" marR="68580" marT="0" marB="0" anchor="ctr"/>
                </a:tc>
                <a:tc>
                  <a:txBody>
                    <a:bodyPr/>
                    <a:lstStyle/>
                    <a:p>
                      <a:pPr algn="l">
                        <a:spcAft>
                          <a:spcPts val="0"/>
                        </a:spcAft>
                      </a:pPr>
                      <a:r>
                        <a:rPr lang="en-US" sz="1200" dirty="0" smtClean="0">
                          <a:effectLst/>
                          <a:latin typeface="+mn-lt"/>
                        </a:rPr>
                        <a:t>Resolution</a:t>
                      </a:r>
                      <a:endParaRPr lang="en-GB" sz="1200" dirty="0">
                        <a:effectLst/>
                        <a:latin typeface="+mn-lt"/>
                        <a:ea typeface="Times New Roman"/>
                        <a:cs typeface="Times New Roman"/>
                      </a:endParaRPr>
                    </a:p>
                  </a:txBody>
                  <a:tcPr marL="68580" marR="68580" marT="0" marB="0" anchor="ctr"/>
                </a:tc>
                <a:tc>
                  <a:txBody>
                    <a:bodyPr/>
                    <a:lstStyle/>
                    <a:p>
                      <a:pPr algn="l">
                        <a:spcAft>
                          <a:spcPts val="0"/>
                        </a:spcAft>
                      </a:pPr>
                      <a:r>
                        <a:rPr lang="en-US" sz="1200" dirty="0">
                          <a:effectLst/>
                          <a:latin typeface="+mn-lt"/>
                        </a:rPr>
                        <a:t>Owner</a:t>
                      </a:r>
                      <a:endParaRPr lang="en-GB" sz="1200" dirty="0">
                        <a:effectLst/>
                        <a:latin typeface="+mn-lt"/>
                        <a:ea typeface="Times New Roman"/>
                        <a:cs typeface="Times New Roman"/>
                      </a:endParaRPr>
                    </a:p>
                  </a:txBody>
                  <a:tcPr marL="68580" marR="68580" marT="0" marB="0" anchor="ctr"/>
                </a:tc>
                <a:tc>
                  <a:txBody>
                    <a:bodyPr/>
                    <a:lstStyle/>
                    <a:p>
                      <a:pPr algn="l">
                        <a:spcAft>
                          <a:spcPts val="0"/>
                        </a:spcAft>
                      </a:pPr>
                      <a:r>
                        <a:rPr lang="en-US" sz="1200" dirty="0">
                          <a:effectLst/>
                          <a:latin typeface="+mn-lt"/>
                        </a:rPr>
                        <a:t>Due</a:t>
                      </a:r>
                      <a:endParaRPr lang="en-GB" sz="1200" dirty="0">
                        <a:effectLst/>
                        <a:latin typeface="+mn-lt"/>
                        <a:ea typeface="Times New Roman"/>
                        <a:cs typeface="Times New Roman"/>
                      </a:endParaRPr>
                    </a:p>
                  </a:txBody>
                  <a:tcPr marL="68580" marR="68580" marT="0" marB="0" anchor="ctr"/>
                </a:tc>
                <a:tc>
                  <a:txBody>
                    <a:bodyPr/>
                    <a:lstStyle/>
                    <a:p>
                      <a:pPr algn="l">
                        <a:spcAft>
                          <a:spcPts val="0"/>
                        </a:spcAft>
                      </a:pPr>
                      <a:r>
                        <a:rPr lang="en-US" sz="1200" dirty="0" smtClean="0">
                          <a:effectLst/>
                          <a:latin typeface="+mn-lt"/>
                        </a:rPr>
                        <a:t>Impact/Risk</a:t>
                      </a:r>
                      <a:endParaRPr lang="en-GB" sz="1200" dirty="0">
                        <a:effectLst/>
                        <a:latin typeface="+mn-lt"/>
                        <a:ea typeface="Times New Roman"/>
                        <a:cs typeface="Times New Roman"/>
                      </a:endParaRPr>
                    </a:p>
                  </a:txBody>
                  <a:tcPr marL="68580" marR="68580" marT="0" marB="0" anchor="ctr"/>
                </a:tc>
                <a:tc>
                  <a:txBody>
                    <a:bodyPr/>
                    <a:lstStyle/>
                    <a:p>
                      <a:pPr algn="l">
                        <a:spcAft>
                          <a:spcPts val="0"/>
                        </a:spcAft>
                      </a:pPr>
                      <a:r>
                        <a:rPr lang="en-GB" sz="1200" dirty="0" smtClean="0">
                          <a:effectLst/>
                          <a:latin typeface="+mn-lt"/>
                          <a:ea typeface="Times New Roman"/>
                          <a:cs typeface="Times New Roman"/>
                        </a:rPr>
                        <a:t>Priority</a:t>
                      </a:r>
                      <a:endParaRPr lang="en-GB" sz="1200" dirty="0">
                        <a:effectLst/>
                        <a:latin typeface="+mn-lt"/>
                        <a:ea typeface="Times New Roman"/>
                        <a:cs typeface="Times New Roman"/>
                      </a:endParaRPr>
                    </a:p>
                  </a:txBody>
                  <a:tcPr marL="68580" marR="68580" marT="0" marB="0" anchor="ctr"/>
                </a:tc>
              </a:tr>
              <a:tr h="554990">
                <a:tc>
                  <a:txBody>
                    <a:bodyPr/>
                    <a:lstStyle/>
                    <a:p>
                      <a:pPr algn="ctr">
                        <a:spcAft>
                          <a:spcPts val="0"/>
                        </a:spcAft>
                      </a:pPr>
                      <a:r>
                        <a:rPr lang="en-US" sz="1000" dirty="0" smtClean="0">
                          <a:effectLst/>
                          <a:latin typeface="+mn-lt"/>
                        </a:rPr>
                        <a:t>1</a:t>
                      </a:r>
                      <a:endParaRPr lang="en-GB" sz="1000" dirty="0">
                        <a:effectLst/>
                        <a:latin typeface="+mn-lt"/>
                        <a:ea typeface="Times New Roman"/>
                        <a:cs typeface="Times New Roman"/>
                      </a:endParaRPr>
                    </a:p>
                  </a:txBody>
                  <a:tcPr marL="68580" marR="68580" marT="0" marB="0" anchor="ctr"/>
                </a:tc>
                <a:tc>
                  <a:txBody>
                    <a:bodyPr/>
                    <a:lstStyle/>
                    <a:p>
                      <a:pPr indent="-228600">
                        <a:spcBef>
                          <a:spcPts val="300"/>
                        </a:spcBef>
                        <a:spcAft>
                          <a:spcPts val="300"/>
                        </a:spcAft>
                        <a:buFontTx/>
                        <a:buNone/>
                      </a:pPr>
                      <a:r>
                        <a:rPr lang="en-GB" sz="1000" dirty="0" smtClean="0">
                          <a:effectLst/>
                          <a:latin typeface="+mn-lt"/>
                          <a:ea typeface="Times New Roman"/>
                          <a:cs typeface="Times New Roman"/>
                        </a:rPr>
                        <a:t>Strained NRS</a:t>
                      </a:r>
                      <a:r>
                        <a:rPr lang="en-GB" sz="1000" baseline="0" dirty="0" smtClean="0">
                          <a:effectLst/>
                          <a:latin typeface="+mn-lt"/>
                          <a:ea typeface="Times New Roman"/>
                          <a:cs typeface="Times New Roman"/>
                        </a:rPr>
                        <a:t> IT / ORC </a:t>
                      </a:r>
                      <a:r>
                        <a:rPr lang="en-GB" sz="1000" dirty="0" smtClean="0">
                          <a:effectLst/>
                          <a:latin typeface="+mn-lt"/>
                          <a:ea typeface="Times New Roman"/>
                          <a:cs typeface="Times New Roman"/>
                        </a:rPr>
                        <a:t>Relationship</a:t>
                      </a:r>
                      <a:endParaRPr lang="en-GB" sz="1000" dirty="0">
                        <a:effectLst/>
                        <a:latin typeface="+mn-lt"/>
                        <a:ea typeface="Times New Roman"/>
                        <a:cs typeface="Times New Roman"/>
                      </a:endParaRPr>
                    </a:p>
                  </a:txBody>
                  <a:tcPr marL="68580" marR="68580" marT="0" marB="0" anchor="ctr"/>
                </a:tc>
                <a:tc>
                  <a:txBody>
                    <a:bodyPr/>
                    <a:lstStyle/>
                    <a:p>
                      <a:pPr>
                        <a:spcAft>
                          <a:spcPts val="0"/>
                        </a:spcAft>
                      </a:pPr>
                      <a:r>
                        <a:rPr lang="en-GB" sz="1000" dirty="0" smtClean="0">
                          <a:effectLst/>
                          <a:latin typeface="+mn-lt"/>
                          <a:ea typeface="Times New Roman"/>
                          <a:cs typeface="Times New Roman"/>
                        </a:rPr>
                        <a:t>NRS to fill 2 Planned IT Positions</a:t>
                      </a:r>
                      <a:r>
                        <a:rPr lang="en-GB" sz="1000" baseline="0" dirty="0" smtClean="0">
                          <a:effectLst/>
                          <a:latin typeface="+mn-lt"/>
                          <a:ea typeface="Times New Roman"/>
                          <a:cs typeface="Times New Roman"/>
                        </a:rPr>
                        <a:t> &amp; assess Fusion skill levels with ORC assist</a:t>
                      </a:r>
                      <a:endParaRPr lang="en-GB" sz="1000" dirty="0" smtClean="0">
                        <a:effectLst/>
                        <a:latin typeface="+mn-lt"/>
                        <a:ea typeface="Times New Roman"/>
                        <a:cs typeface="Times New Roman"/>
                      </a:endParaRPr>
                    </a:p>
                  </a:txBody>
                  <a:tcPr marL="68580" marR="68580" marT="0" marB="0" anchor="ctr"/>
                </a:tc>
                <a:tc>
                  <a:txBody>
                    <a:bodyPr/>
                    <a:lstStyle/>
                    <a:p>
                      <a:pPr>
                        <a:spcAft>
                          <a:spcPts val="0"/>
                        </a:spcAft>
                      </a:pPr>
                      <a:r>
                        <a:rPr lang="en-US" sz="1000" dirty="0" smtClean="0">
                          <a:effectLst/>
                          <a:latin typeface="+mn-lt"/>
                          <a:ea typeface="Times New Roman"/>
                          <a:cs typeface="Times New Roman"/>
                        </a:rPr>
                        <a:t>Peter</a:t>
                      </a:r>
                      <a:endParaRPr lang="en-GB" sz="1000" dirty="0">
                        <a:effectLst/>
                        <a:latin typeface="+mn-lt"/>
                        <a:ea typeface="Times New Roman"/>
                        <a:cs typeface="Times New Roman"/>
                      </a:endParaRPr>
                    </a:p>
                  </a:txBody>
                  <a:tcPr marL="68580" marR="68580" marT="0" marB="0" anchor="ctr"/>
                </a:tc>
                <a:tc>
                  <a:txBody>
                    <a:bodyPr/>
                    <a:lstStyle/>
                    <a:p>
                      <a:pPr>
                        <a:spcAft>
                          <a:spcPts val="0"/>
                        </a:spcAft>
                      </a:pPr>
                      <a:r>
                        <a:rPr lang="en-US" sz="1000" dirty="0" smtClean="0">
                          <a:effectLst/>
                          <a:latin typeface="+mn-lt"/>
                          <a:ea typeface="Times New Roman"/>
                          <a:cs typeface="Times New Roman"/>
                        </a:rPr>
                        <a:t>4/20/14</a:t>
                      </a:r>
                      <a:endParaRPr lang="en-GB" sz="1000" dirty="0">
                        <a:effectLst/>
                        <a:latin typeface="+mn-lt"/>
                        <a:ea typeface="Times New Roman"/>
                        <a:cs typeface="Times New Roman"/>
                      </a:endParaRPr>
                    </a:p>
                  </a:txBody>
                  <a:tcPr marL="68580" marR="68580" marT="0" marB="0" anchor="ctr"/>
                </a:tc>
                <a:tc>
                  <a:txBody>
                    <a:bodyPr/>
                    <a:lstStyle/>
                    <a:p>
                      <a:pPr>
                        <a:spcAft>
                          <a:spcPts val="0"/>
                        </a:spcAft>
                      </a:pPr>
                      <a:r>
                        <a:rPr lang="en-GB" sz="1000" dirty="0" smtClean="0">
                          <a:effectLst/>
                          <a:latin typeface="+mn-lt"/>
                          <a:ea typeface="Times New Roman"/>
                          <a:cs typeface="Times New Roman"/>
                        </a:rPr>
                        <a:t>Cost &amp; Schedule</a:t>
                      </a:r>
                    </a:p>
                  </a:txBody>
                  <a:tcPr marL="68580" marR="68580" marT="0" marB="0" anchor="ctr"/>
                </a:tc>
                <a:tc>
                  <a:txBody>
                    <a:bodyPr/>
                    <a:lstStyle/>
                    <a:p>
                      <a:pPr>
                        <a:spcAft>
                          <a:spcPts val="0"/>
                        </a:spcAft>
                      </a:pPr>
                      <a:r>
                        <a:rPr lang="en-GB" sz="1000" dirty="0" smtClean="0">
                          <a:effectLst/>
                          <a:latin typeface="+mn-lt"/>
                          <a:ea typeface="Times New Roman"/>
                          <a:cs typeface="Times New Roman"/>
                        </a:rPr>
                        <a:t>High</a:t>
                      </a:r>
                    </a:p>
                  </a:txBody>
                  <a:tcPr marL="68580" marR="68580" marT="0" marB="0" anchor="ctr"/>
                </a:tc>
              </a:tr>
              <a:tr h="554990">
                <a:tc>
                  <a:txBody>
                    <a:bodyPr/>
                    <a:lstStyle/>
                    <a:p>
                      <a:pPr algn="ctr">
                        <a:spcAft>
                          <a:spcPts val="0"/>
                        </a:spcAft>
                      </a:pPr>
                      <a:r>
                        <a:rPr lang="en-US" sz="1000" dirty="0" smtClean="0">
                          <a:effectLst/>
                          <a:latin typeface="+mn-lt"/>
                        </a:rPr>
                        <a:t>2</a:t>
                      </a:r>
                      <a:endParaRPr lang="en-GB" sz="1000" dirty="0">
                        <a:effectLst/>
                        <a:latin typeface="+mn-lt"/>
                        <a:ea typeface="Times New Roman"/>
                        <a:cs typeface="Times New Roman"/>
                      </a:endParaRPr>
                    </a:p>
                  </a:txBody>
                  <a:tcPr marL="68580" marR="68580" marT="0" marB="0" anchor="ctr"/>
                </a:tc>
                <a:tc>
                  <a:txBody>
                    <a:bodyPr/>
                    <a:lstStyle/>
                    <a:p>
                      <a:pPr>
                        <a:spcAft>
                          <a:spcPts val="0"/>
                        </a:spcAft>
                        <a:buFont typeface="Wingdings" pitchFamily="2" charset="2"/>
                        <a:buNone/>
                      </a:pPr>
                      <a:r>
                        <a:rPr lang="en-US" sz="1000" dirty="0" smtClean="0">
                          <a:effectLst/>
                          <a:latin typeface="+mn-lt"/>
                        </a:rPr>
                        <a:t>Security Performance &amp; Scalability</a:t>
                      </a:r>
                      <a:endParaRPr lang="en-GB" sz="1000" dirty="0">
                        <a:effectLst/>
                        <a:latin typeface="+mn-lt"/>
                        <a:ea typeface="Times New Roman"/>
                        <a:cs typeface="Times New Roman"/>
                      </a:endParaRPr>
                    </a:p>
                  </a:txBody>
                  <a:tcPr marL="68580" marR="68580" marT="0" marB="0" anchor="ctr"/>
                </a:tc>
                <a:tc>
                  <a:txBody>
                    <a:bodyPr/>
                    <a:lstStyle/>
                    <a:p>
                      <a:pPr>
                        <a:spcAft>
                          <a:spcPts val="0"/>
                        </a:spcAft>
                      </a:pPr>
                      <a:r>
                        <a:rPr lang="en-US" sz="1000" dirty="0" smtClean="0">
                          <a:effectLst/>
                          <a:latin typeface="+mn-lt"/>
                        </a:rPr>
                        <a:t>Oracle DBA Extended</a:t>
                      </a:r>
                      <a:endParaRPr lang="en-GB" sz="1000" dirty="0">
                        <a:effectLst/>
                        <a:latin typeface="+mn-lt"/>
                        <a:ea typeface="Times New Roman"/>
                        <a:cs typeface="Times New Roman"/>
                      </a:endParaRPr>
                    </a:p>
                  </a:txBody>
                  <a:tcPr marL="68580" marR="68580" marT="0" marB="0" anchor="ctr"/>
                </a:tc>
                <a:tc>
                  <a:txBody>
                    <a:bodyPr/>
                    <a:lstStyle/>
                    <a:p>
                      <a:pPr>
                        <a:spcAft>
                          <a:spcPts val="0"/>
                        </a:spcAft>
                      </a:pPr>
                      <a:r>
                        <a:rPr lang="en-US" sz="1000" dirty="0" smtClean="0">
                          <a:effectLst/>
                          <a:latin typeface="+mn-lt"/>
                        </a:rPr>
                        <a:t>Jerry</a:t>
                      </a:r>
                      <a:endParaRPr lang="en-GB" sz="1000" dirty="0">
                        <a:effectLst/>
                        <a:latin typeface="+mn-lt"/>
                        <a:ea typeface="Times New Roman"/>
                        <a:cs typeface="Times New Roman"/>
                      </a:endParaRPr>
                    </a:p>
                  </a:txBody>
                  <a:tcPr marL="68580" marR="68580" marT="0" marB="0" anchor="ctr"/>
                </a:tc>
                <a:tc>
                  <a:txBody>
                    <a:bodyPr/>
                    <a:lstStyle/>
                    <a:p>
                      <a:pPr>
                        <a:spcAft>
                          <a:spcPts val="0"/>
                        </a:spcAft>
                      </a:pPr>
                      <a:r>
                        <a:rPr lang="en-US" sz="1000" dirty="0" smtClean="0">
                          <a:effectLst/>
                          <a:latin typeface="+mn-lt"/>
                        </a:rPr>
                        <a:t>5/5/14</a:t>
                      </a:r>
                      <a:endParaRPr lang="en-GB" sz="1000" dirty="0">
                        <a:effectLst/>
                        <a:latin typeface="+mn-lt"/>
                        <a:ea typeface="Times New Roman"/>
                        <a:cs typeface="Times New Roman"/>
                      </a:endParaRPr>
                    </a:p>
                  </a:txBody>
                  <a:tcPr marL="68580" marR="68580" marT="0" marB="0" anchor="ctr"/>
                </a:tc>
                <a:tc>
                  <a:txBody>
                    <a:bodyPr/>
                    <a:lstStyle/>
                    <a:p>
                      <a:pPr>
                        <a:spcAft>
                          <a:spcPts val="0"/>
                        </a:spcAft>
                      </a:pPr>
                      <a:r>
                        <a:rPr lang="en-US" sz="1000" dirty="0" smtClean="0">
                          <a:effectLst/>
                          <a:latin typeface="+mn-lt"/>
                        </a:rPr>
                        <a:t>Cost</a:t>
                      </a:r>
                      <a:endParaRPr lang="en-GB" sz="1000" dirty="0">
                        <a:effectLst/>
                        <a:latin typeface="+mn-lt"/>
                        <a:ea typeface="Times New Roman"/>
                        <a:cs typeface="Times New Roman"/>
                      </a:endParaRPr>
                    </a:p>
                  </a:txBody>
                  <a:tcPr marL="68580" marR="68580" marT="0" marB="0" anchor="ctr"/>
                </a:tc>
                <a:tc>
                  <a:txBody>
                    <a:bodyPr/>
                    <a:lstStyle/>
                    <a:p>
                      <a:pPr>
                        <a:spcAft>
                          <a:spcPts val="0"/>
                        </a:spcAft>
                      </a:pPr>
                      <a:r>
                        <a:rPr lang="en-GB" sz="1000" dirty="0" smtClean="0">
                          <a:effectLst/>
                          <a:latin typeface="+mn-lt"/>
                          <a:ea typeface="Times New Roman"/>
                          <a:cs typeface="Times New Roman"/>
                        </a:rPr>
                        <a:t>Medium</a:t>
                      </a:r>
                      <a:endParaRPr lang="en-GB" sz="1000" dirty="0">
                        <a:effectLst/>
                        <a:latin typeface="+mn-lt"/>
                        <a:ea typeface="Times New Roman"/>
                        <a:cs typeface="Times New Roman"/>
                      </a:endParaRPr>
                    </a:p>
                  </a:txBody>
                  <a:tcPr marL="68580" marR="68580" marT="0" marB="0" anchor="ctr"/>
                </a:tc>
              </a:tr>
              <a:tr h="554990">
                <a:tc>
                  <a:txBody>
                    <a:bodyPr/>
                    <a:lstStyle/>
                    <a:p>
                      <a:pPr algn="ctr">
                        <a:spcAft>
                          <a:spcPts val="0"/>
                        </a:spcAft>
                      </a:pPr>
                      <a:r>
                        <a:rPr lang="en-US" sz="1000" dirty="0" smtClean="0">
                          <a:effectLst/>
                          <a:latin typeface="+mn-lt"/>
                        </a:rPr>
                        <a:t>3</a:t>
                      </a:r>
                      <a:endParaRPr lang="en-GB" sz="1000" dirty="0">
                        <a:effectLst/>
                        <a:latin typeface="+mn-lt"/>
                        <a:ea typeface="Times New Roman"/>
                        <a:cs typeface="Times New Roman"/>
                      </a:endParaRPr>
                    </a:p>
                  </a:txBody>
                  <a:tcPr marL="68580" marR="68580" marT="0" marB="0" anchor="ctr"/>
                </a:tc>
                <a:tc>
                  <a:txBody>
                    <a:bodyPr/>
                    <a:lstStyle/>
                    <a:p>
                      <a:pPr>
                        <a:spcAft>
                          <a:spcPts val="0"/>
                        </a:spcAft>
                      </a:pPr>
                      <a:r>
                        <a:rPr lang="en-US" sz="1000" dirty="0" smtClean="0">
                          <a:effectLst/>
                          <a:latin typeface="+mn-lt"/>
                        </a:rPr>
                        <a:t>CRP Delay</a:t>
                      </a:r>
                      <a:endParaRPr lang="en-GB" sz="1000" dirty="0">
                        <a:effectLst/>
                        <a:latin typeface="+mn-lt"/>
                        <a:ea typeface="Times New Roman"/>
                        <a:cs typeface="Times New Roman"/>
                      </a:endParaRPr>
                    </a:p>
                  </a:txBody>
                  <a:tcPr marL="68580" marR="68580" marT="0" marB="0" anchor="ctr"/>
                </a:tc>
                <a:tc>
                  <a:txBody>
                    <a:bodyPr/>
                    <a:lstStyle/>
                    <a:p>
                      <a:pPr>
                        <a:spcAft>
                          <a:spcPts val="0"/>
                        </a:spcAft>
                      </a:pPr>
                      <a:r>
                        <a:rPr lang="en-US" sz="1000" dirty="0" smtClean="0">
                          <a:effectLst/>
                          <a:latin typeface="+mn-lt"/>
                        </a:rPr>
                        <a:t>Rescheduled for Solution Design</a:t>
                      </a:r>
                      <a:endParaRPr lang="en-GB" sz="1000" dirty="0">
                        <a:effectLst/>
                        <a:latin typeface="+mn-lt"/>
                        <a:ea typeface="Times New Roman"/>
                        <a:cs typeface="Times New Roman"/>
                      </a:endParaRPr>
                    </a:p>
                  </a:txBody>
                  <a:tcPr marL="68580" marR="68580" marT="0" marB="0" anchor="ctr"/>
                </a:tc>
                <a:tc>
                  <a:txBody>
                    <a:bodyPr/>
                    <a:lstStyle/>
                    <a:p>
                      <a:pPr>
                        <a:spcAft>
                          <a:spcPts val="0"/>
                        </a:spcAft>
                      </a:pPr>
                      <a:r>
                        <a:rPr lang="en-US" sz="1000" dirty="0" smtClean="0">
                          <a:effectLst/>
                          <a:latin typeface="+mn-lt"/>
                        </a:rPr>
                        <a:t>Jerry</a:t>
                      </a:r>
                      <a:endParaRPr lang="en-GB" sz="1000" dirty="0">
                        <a:effectLst/>
                        <a:latin typeface="+mn-lt"/>
                        <a:ea typeface="Times New Roman"/>
                        <a:cs typeface="Times New Roman"/>
                      </a:endParaRPr>
                    </a:p>
                  </a:txBody>
                  <a:tcPr marL="68580" marR="68580" marT="0" marB="0" anchor="ctr"/>
                </a:tc>
                <a:tc>
                  <a:txBody>
                    <a:bodyPr/>
                    <a:lstStyle/>
                    <a:p>
                      <a:pPr>
                        <a:spcAft>
                          <a:spcPts val="0"/>
                        </a:spcAft>
                      </a:pPr>
                      <a:r>
                        <a:rPr lang="en-US" sz="1000" dirty="0" smtClean="0">
                          <a:effectLst/>
                          <a:latin typeface="+mn-lt"/>
                        </a:rPr>
                        <a:t>5/19/14</a:t>
                      </a:r>
                      <a:endParaRPr lang="en-GB" sz="1000" dirty="0">
                        <a:effectLst/>
                        <a:latin typeface="+mn-lt"/>
                        <a:ea typeface="Times New Roman"/>
                        <a:cs typeface="Times New Roman"/>
                      </a:endParaRPr>
                    </a:p>
                  </a:txBody>
                  <a:tcPr marL="68580" marR="68580" marT="0" marB="0" anchor="ctr"/>
                </a:tc>
                <a:tc>
                  <a:txBody>
                    <a:bodyPr/>
                    <a:lstStyle/>
                    <a:p>
                      <a:pPr>
                        <a:spcAft>
                          <a:spcPts val="0"/>
                        </a:spcAft>
                      </a:pPr>
                      <a:r>
                        <a:rPr lang="en-US" sz="1000" dirty="0" smtClean="0">
                          <a:effectLst/>
                          <a:latin typeface="+mn-lt"/>
                        </a:rPr>
                        <a:t>Schedule</a:t>
                      </a:r>
                      <a:endParaRPr lang="en-GB" sz="1000" dirty="0">
                        <a:effectLst/>
                        <a:latin typeface="+mn-lt"/>
                        <a:ea typeface="Times New Roman"/>
                        <a:cs typeface="Times New Roman"/>
                      </a:endParaRPr>
                    </a:p>
                  </a:txBody>
                  <a:tcPr marL="68580" marR="68580" marT="0" marB="0" anchor="ctr"/>
                </a:tc>
                <a:tc>
                  <a:txBody>
                    <a:bodyPr/>
                    <a:lstStyle/>
                    <a:p>
                      <a:pPr>
                        <a:spcAft>
                          <a:spcPts val="0"/>
                        </a:spcAft>
                      </a:pPr>
                      <a:r>
                        <a:rPr lang="en-GB" sz="1000" dirty="0" smtClean="0">
                          <a:effectLst/>
                          <a:latin typeface="+mn-lt"/>
                          <a:ea typeface="Times New Roman"/>
                          <a:cs typeface="Times New Roman"/>
                        </a:rPr>
                        <a:t>High</a:t>
                      </a:r>
                      <a:endParaRPr lang="en-GB" sz="1000" dirty="0">
                        <a:effectLst/>
                        <a:latin typeface="+mn-lt"/>
                        <a:ea typeface="Times New Roman"/>
                        <a:cs typeface="Times New Roman"/>
                      </a:endParaRPr>
                    </a:p>
                  </a:txBody>
                  <a:tcPr marL="68580" marR="68580" marT="0" marB="0" anchor="ctr"/>
                </a:tc>
              </a:tr>
              <a:tr h="554990">
                <a:tc>
                  <a:txBody>
                    <a:bodyPr/>
                    <a:lstStyle/>
                    <a:p>
                      <a:pPr algn="ctr">
                        <a:spcAft>
                          <a:spcPts val="0"/>
                        </a:spcAft>
                      </a:pPr>
                      <a:r>
                        <a:rPr lang="en-US" sz="1000" dirty="0" smtClean="0">
                          <a:effectLst/>
                          <a:latin typeface="+mn-lt"/>
                        </a:rPr>
                        <a:t>4</a:t>
                      </a:r>
                      <a:endParaRPr lang="en-GB" sz="1000" dirty="0">
                        <a:effectLst/>
                        <a:latin typeface="+mn-lt"/>
                        <a:ea typeface="Times New Roman"/>
                        <a:cs typeface="Times New Roman"/>
                      </a:endParaRPr>
                    </a:p>
                  </a:txBody>
                  <a:tcPr marL="68580" marR="68580" marT="0" marB="0" anchor="ctr"/>
                </a:tc>
                <a:tc>
                  <a:txBody>
                    <a:bodyPr/>
                    <a:lstStyle/>
                    <a:p>
                      <a:pPr>
                        <a:spcAft>
                          <a:spcPts val="0"/>
                        </a:spcAft>
                      </a:pPr>
                      <a:r>
                        <a:rPr lang="en-US" sz="1000" dirty="0" smtClean="0">
                          <a:effectLst/>
                          <a:latin typeface="+mn-lt"/>
                        </a:rPr>
                        <a:t>Business SME Assignment Delay</a:t>
                      </a:r>
                      <a:endParaRPr lang="en-GB" sz="1000" dirty="0">
                        <a:effectLst/>
                        <a:latin typeface="+mn-lt"/>
                        <a:ea typeface="Times New Roman"/>
                        <a:cs typeface="Times New Roman"/>
                      </a:endParaRPr>
                    </a:p>
                  </a:txBody>
                  <a:tcPr marL="68580" marR="68580" marT="0" marB="0" anchor="ctr"/>
                </a:tc>
                <a:tc>
                  <a:txBody>
                    <a:bodyPr/>
                    <a:lstStyle/>
                    <a:p>
                      <a:pPr>
                        <a:spcAft>
                          <a:spcPts val="0"/>
                        </a:spcAft>
                      </a:pPr>
                      <a:r>
                        <a:rPr lang="en-US" sz="1000" dirty="0" smtClean="0">
                          <a:effectLst/>
                          <a:latin typeface="+mn-lt"/>
                        </a:rPr>
                        <a:t>Fully Engaged</a:t>
                      </a:r>
                      <a:endParaRPr lang="en-GB" sz="1000" dirty="0">
                        <a:effectLst/>
                        <a:latin typeface="+mn-lt"/>
                        <a:ea typeface="Times New Roman"/>
                        <a:cs typeface="Times New Roman"/>
                      </a:endParaRPr>
                    </a:p>
                  </a:txBody>
                  <a:tcPr marL="68580" marR="68580" marT="0" marB="0" anchor="ctr"/>
                </a:tc>
                <a:tc>
                  <a:txBody>
                    <a:bodyPr/>
                    <a:lstStyle/>
                    <a:p>
                      <a:pPr>
                        <a:spcAft>
                          <a:spcPts val="0"/>
                        </a:spcAft>
                      </a:pPr>
                      <a:r>
                        <a:rPr lang="en-US" sz="1000" dirty="0" smtClean="0">
                          <a:effectLst/>
                          <a:latin typeface="+mn-lt"/>
                        </a:rPr>
                        <a:t>Chris</a:t>
                      </a:r>
                      <a:endParaRPr lang="en-GB" sz="1000" dirty="0">
                        <a:effectLst/>
                        <a:latin typeface="+mn-lt"/>
                        <a:ea typeface="Times New Roman"/>
                        <a:cs typeface="Times New Roman"/>
                      </a:endParaRPr>
                    </a:p>
                  </a:txBody>
                  <a:tcPr marL="68580" marR="68580" marT="0" marB="0" anchor="ctr"/>
                </a:tc>
                <a:tc>
                  <a:txBody>
                    <a:bodyPr/>
                    <a:lstStyle/>
                    <a:p>
                      <a:pPr>
                        <a:spcAft>
                          <a:spcPts val="0"/>
                        </a:spcAft>
                      </a:pPr>
                      <a:r>
                        <a:rPr lang="en-US" sz="1000" dirty="0" smtClean="0">
                          <a:effectLst/>
                          <a:latin typeface="+mn-lt"/>
                        </a:rPr>
                        <a:t>4/14/14</a:t>
                      </a:r>
                      <a:endParaRPr lang="en-GB" sz="1000" dirty="0">
                        <a:effectLst/>
                        <a:latin typeface="+mn-lt"/>
                        <a:ea typeface="Times New Roman"/>
                        <a:cs typeface="Times New Roman"/>
                      </a:endParaRPr>
                    </a:p>
                  </a:txBody>
                  <a:tcPr marL="68580" marR="68580" marT="0" marB="0" anchor="ctr"/>
                </a:tc>
                <a:tc>
                  <a:txBody>
                    <a:bodyPr/>
                    <a:lstStyle/>
                    <a:p>
                      <a:pPr>
                        <a:spcAft>
                          <a:spcPts val="0"/>
                        </a:spcAft>
                      </a:pPr>
                      <a:r>
                        <a:rPr lang="en-US" sz="1000" dirty="0" smtClean="0">
                          <a:effectLst/>
                          <a:latin typeface="+mn-lt"/>
                        </a:rPr>
                        <a:t>Schedule</a:t>
                      </a:r>
                      <a:endParaRPr lang="en-GB" sz="1000" dirty="0">
                        <a:effectLst/>
                        <a:latin typeface="+mn-lt"/>
                        <a:ea typeface="Times New Roman"/>
                        <a:cs typeface="Times New Roman"/>
                      </a:endParaRPr>
                    </a:p>
                  </a:txBody>
                  <a:tcPr marL="68580" marR="68580" marT="0" marB="0" anchor="ctr"/>
                </a:tc>
                <a:tc>
                  <a:txBody>
                    <a:bodyPr/>
                    <a:lstStyle/>
                    <a:p>
                      <a:pPr>
                        <a:spcAft>
                          <a:spcPts val="0"/>
                        </a:spcAft>
                      </a:pPr>
                      <a:r>
                        <a:rPr lang="en-GB" sz="1000" dirty="0" smtClean="0">
                          <a:effectLst/>
                          <a:latin typeface="+mn-lt"/>
                          <a:ea typeface="Times New Roman"/>
                          <a:cs typeface="Times New Roman"/>
                        </a:rPr>
                        <a:t>Medium</a:t>
                      </a:r>
                      <a:endParaRPr lang="en-GB" sz="1000" dirty="0">
                        <a:effectLst/>
                        <a:latin typeface="+mn-lt"/>
                        <a:ea typeface="Times New Roman"/>
                        <a:cs typeface="Times New Roman"/>
                      </a:endParaRPr>
                    </a:p>
                  </a:txBody>
                  <a:tcPr marL="68580" marR="68580" marT="0" marB="0" anchor="ctr"/>
                </a:tc>
              </a:tr>
            </a:tbl>
          </a:graphicData>
        </a:graphic>
      </p:graphicFrame>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Financial Review &lt;Option 1&gt;</a:t>
            </a:r>
            <a:endParaRPr lang="en-US" dirty="0"/>
          </a:p>
        </p:txBody>
      </p:sp>
      <p:graphicFrame>
        <p:nvGraphicFramePr>
          <p:cNvPr id="3" name="Table 2"/>
          <p:cNvGraphicFramePr>
            <a:graphicFrameLocks noGrp="1"/>
          </p:cNvGraphicFramePr>
          <p:nvPr/>
        </p:nvGraphicFramePr>
        <p:xfrm>
          <a:off x="608012" y="1524000"/>
          <a:ext cx="10820400" cy="2966720"/>
        </p:xfrm>
        <a:graphic>
          <a:graphicData uri="http://schemas.openxmlformats.org/drawingml/2006/table">
            <a:tbl>
              <a:tblPr firstRow="1" bandRow="1">
                <a:tableStyleId>{5C22544A-7EE6-4342-B048-85BDC9FD1C3A}</a:tableStyleId>
              </a:tblPr>
              <a:tblGrid>
                <a:gridCol w="3352800"/>
                <a:gridCol w="2209800"/>
                <a:gridCol w="1371600"/>
                <a:gridCol w="1524000"/>
                <a:gridCol w="1371600"/>
                <a:gridCol w="990600"/>
              </a:tblGrid>
              <a:tr h="370840">
                <a:tc>
                  <a:txBody>
                    <a:bodyPr/>
                    <a:lstStyle/>
                    <a:p>
                      <a:pPr algn="ctr"/>
                      <a:r>
                        <a:rPr lang="en-US" dirty="0" smtClean="0"/>
                        <a:t>Expenditure</a:t>
                      </a:r>
                      <a:r>
                        <a:rPr lang="en-US" baseline="0" dirty="0" smtClean="0"/>
                        <a:t> / PA #</a:t>
                      </a:r>
                      <a:endParaRPr lang="en-US" dirty="0"/>
                    </a:p>
                  </a:txBody>
                  <a:tcPr/>
                </a:tc>
                <a:tc>
                  <a:txBody>
                    <a:bodyPr/>
                    <a:lstStyle/>
                    <a:p>
                      <a:pPr algn="ctr"/>
                      <a:r>
                        <a:rPr lang="en-US" dirty="0" smtClean="0"/>
                        <a:t>Approved Budget</a:t>
                      </a:r>
                      <a:endParaRPr lang="en-US" dirty="0"/>
                    </a:p>
                  </a:txBody>
                  <a:tcPr/>
                </a:tc>
                <a:tc>
                  <a:txBody>
                    <a:bodyPr/>
                    <a:lstStyle/>
                    <a:p>
                      <a:pPr algn="ctr"/>
                      <a:r>
                        <a:rPr lang="en-US" dirty="0" smtClean="0"/>
                        <a:t>ATD</a:t>
                      </a:r>
                      <a:endParaRPr lang="en-US" dirty="0"/>
                    </a:p>
                  </a:txBody>
                  <a:tcPr/>
                </a:tc>
                <a:tc>
                  <a:txBody>
                    <a:bodyPr/>
                    <a:lstStyle/>
                    <a:p>
                      <a:pPr algn="ctr"/>
                      <a:r>
                        <a:rPr lang="en-US" dirty="0" smtClean="0"/>
                        <a:t>ETC</a:t>
                      </a:r>
                      <a:endParaRPr lang="en-US" dirty="0"/>
                    </a:p>
                  </a:txBody>
                  <a:tcPr/>
                </a:tc>
                <a:tc>
                  <a:txBody>
                    <a:bodyPr/>
                    <a:lstStyle/>
                    <a:p>
                      <a:pPr algn="ctr"/>
                      <a:r>
                        <a:rPr lang="en-US" dirty="0" smtClean="0"/>
                        <a:t>EAC</a:t>
                      </a:r>
                      <a:endParaRPr lang="en-US" dirty="0"/>
                    </a:p>
                  </a:txBody>
                  <a:tcPr/>
                </a:tc>
                <a:tc>
                  <a:txBody>
                    <a:bodyPr/>
                    <a:lstStyle/>
                    <a:p>
                      <a:pPr algn="ctr"/>
                      <a:r>
                        <a:rPr lang="en-US" dirty="0" smtClean="0"/>
                        <a:t>Status</a:t>
                      </a:r>
                      <a:endParaRPr lang="en-US" dirty="0"/>
                    </a:p>
                  </a:txBody>
                  <a:tcPr/>
                </a:tc>
              </a:tr>
              <a:tr h="370840">
                <a:tc>
                  <a:txBody>
                    <a:bodyPr/>
                    <a:lstStyle/>
                    <a:p>
                      <a:endParaRPr lang="en-US" dirty="0"/>
                    </a:p>
                  </a:txBody>
                  <a:tcPr/>
                </a:tc>
                <a:tc>
                  <a:txBody>
                    <a:bodyPr/>
                    <a:lstStyle/>
                    <a:p>
                      <a:r>
                        <a:rPr lang="en-US" dirty="0" smtClean="0"/>
                        <a:t>$</a:t>
                      </a:r>
                      <a:endParaRPr lang="en-US" dirty="0"/>
                    </a:p>
                  </a:txBody>
                  <a:tcPr/>
                </a:tc>
                <a:tc>
                  <a:txBody>
                    <a:bodyPr/>
                    <a:lstStyle/>
                    <a:p>
                      <a:r>
                        <a:rPr lang="en-US" dirty="0" smtClean="0"/>
                        <a:t>$</a:t>
                      </a:r>
                      <a:endParaRPr lang="en-US" dirty="0"/>
                    </a:p>
                  </a:txBody>
                  <a:tcPr/>
                </a:tc>
                <a:tc>
                  <a:txBody>
                    <a:bodyPr/>
                    <a:lstStyle/>
                    <a:p>
                      <a:r>
                        <a:rPr lang="en-US" dirty="0" smtClean="0"/>
                        <a:t>$</a:t>
                      </a:r>
                      <a:endParaRPr lang="en-US" dirty="0"/>
                    </a:p>
                  </a:txBody>
                  <a:tcPr/>
                </a:tc>
                <a:tc>
                  <a:txBody>
                    <a:bodyPr/>
                    <a:lstStyle/>
                    <a:p>
                      <a:r>
                        <a:rPr lang="en-US" dirty="0" smtClean="0"/>
                        <a:t>$</a:t>
                      </a:r>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r>
                        <a:rPr lang="en-US" dirty="0" smtClean="0"/>
                        <a:t>$</a:t>
                      </a:r>
                      <a:endParaRPr lang="en-US" dirty="0"/>
                    </a:p>
                  </a:txBody>
                  <a:tcPr/>
                </a:tc>
                <a:tc>
                  <a:txBody>
                    <a:bodyPr/>
                    <a:lstStyle/>
                    <a:p>
                      <a:r>
                        <a:rPr lang="en-US" dirty="0" smtClean="0"/>
                        <a:t>$</a:t>
                      </a:r>
                      <a:endParaRPr lang="en-US" dirty="0"/>
                    </a:p>
                  </a:txBody>
                  <a:tcPr/>
                </a:tc>
                <a:tc>
                  <a:txBody>
                    <a:bodyPr/>
                    <a:lstStyle/>
                    <a:p>
                      <a:r>
                        <a:rPr lang="en-US" dirty="0" smtClean="0"/>
                        <a:t>$</a:t>
                      </a:r>
                      <a:endParaRPr lang="en-US" dirty="0"/>
                    </a:p>
                  </a:txBody>
                  <a:tcPr/>
                </a:tc>
                <a:tc>
                  <a:txBody>
                    <a:bodyPr/>
                    <a:lstStyle/>
                    <a:p>
                      <a:endParaRPr lang="en-US" dirty="0"/>
                    </a:p>
                  </a:txBody>
                  <a:tcPr/>
                </a:tc>
              </a:tr>
            </a:tbl>
          </a:graphicData>
        </a:graphic>
      </p:graphicFrame>
      <p:sp>
        <p:nvSpPr>
          <p:cNvPr id="4" name="Oval 188"/>
          <p:cNvSpPr>
            <a:spLocks noChangeArrowheads="1"/>
          </p:cNvSpPr>
          <p:nvPr/>
        </p:nvSpPr>
        <p:spPr bwMode="auto">
          <a:xfrm>
            <a:off x="10818812" y="1952625"/>
            <a:ext cx="261937" cy="257175"/>
          </a:xfrm>
          <a:prstGeom prst="ellipse">
            <a:avLst/>
          </a:prstGeom>
          <a:solidFill>
            <a:srgbClr val="00FF00"/>
          </a:solidFill>
          <a:ln w="9525" algn="ctr">
            <a:solidFill>
              <a:schemeClr val="hlink"/>
            </a:solidFill>
            <a:round/>
            <a:headEnd/>
            <a:tailEnd/>
          </a:ln>
        </p:spPr>
        <p:txBody>
          <a:bodyPr lIns="92075" tIns="46038" rIns="92075" bIns="46038" anchor="ctr">
            <a:spAutoFit/>
          </a:bodyPr>
          <a:lstStyle/>
          <a:p>
            <a:endParaRPr lang="en-US" dirty="0"/>
          </a:p>
        </p:txBody>
      </p:sp>
      <p:sp>
        <p:nvSpPr>
          <p:cNvPr id="5" name="Oval 310"/>
          <p:cNvSpPr>
            <a:spLocks noChangeArrowheads="1"/>
          </p:cNvSpPr>
          <p:nvPr/>
        </p:nvSpPr>
        <p:spPr bwMode="auto">
          <a:xfrm>
            <a:off x="10785475" y="3429000"/>
            <a:ext cx="261937" cy="257175"/>
          </a:xfrm>
          <a:prstGeom prst="ellipse">
            <a:avLst/>
          </a:prstGeom>
          <a:solidFill>
            <a:srgbClr val="FFFF00"/>
          </a:solidFill>
          <a:ln w="9525" algn="ctr">
            <a:solidFill>
              <a:schemeClr val="hlink"/>
            </a:solidFill>
            <a:round/>
            <a:headEnd/>
            <a:tailEnd/>
          </a:ln>
        </p:spPr>
        <p:txBody>
          <a:bodyPr lIns="92075" tIns="46038" rIns="92075" bIns="46038" anchor="ctr">
            <a:spAutoFit/>
          </a:bodyPr>
          <a:lstStyle/>
          <a:p>
            <a:endParaRPr lang="en-US" dirty="0"/>
          </a:p>
        </p:txBody>
      </p:sp>
      <p:graphicFrame>
        <p:nvGraphicFramePr>
          <p:cNvPr id="7" name="Table 6"/>
          <p:cNvGraphicFramePr>
            <a:graphicFrameLocks noGrp="1"/>
          </p:cNvGraphicFramePr>
          <p:nvPr/>
        </p:nvGraphicFramePr>
        <p:xfrm>
          <a:off x="608012" y="5105400"/>
          <a:ext cx="8125884" cy="370840"/>
        </p:xfrm>
        <a:graphic>
          <a:graphicData uri="http://schemas.openxmlformats.org/drawingml/2006/table">
            <a:tbl>
              <a:tblPr firstRow="1" bandRow="1">
                <a:tableStyleId>{5940675A-B579-460E-94D1-54222C63F5DA}</a:tableStyleId>
              </a:tblPr>
              <a:tblGrid>
                <a:gridCol w="4419600"/>
                <a:gridCol w="3706284"/>
              </a:tblGrid>
              <a:tr h="370840">
                <a:tc>
                  <a:txBody>
                    <a:bodyPr/>
                    <a:lstStyle/>
                    <a:p>
                      <a:r>
                        <a:rPr lang="en-US" b="1" dirty="0" smtClean="0"/>
                        <a:t>Planned Total Expenditure for Next Month</a:t>
                      </a:r>
                      <a:endParaRPr lang="en-US" b="1" dirty="0"/>
                    </a:p>
                  </a:txBody>
                  <a:tcPr/>
                </a:tc>
                <a:tc>
                  <a:txBody>
                    <a:bodyPr/>
                    <a:lstStyle/>
                    <a:p>
                      <a:r>
                        <a:rPr lang="en-US" dirty="0" smtClean="0"/>
                        <a:t>$</a:t>
                      </a:r>
                      <a:endParaRPr lang="en-US" dirty="0"/>
                    </a:p>
                  </a:txBody>
                  <a:tcPr>
                    <a:solidFill>
                      <a:schemeClr val="bg2"/>
                    </a:solidFill>
                  </a:tcPr>
                </a:tc>
              </a:tr>
            </a:tbl>
          </a:graphicData>
        </a:graphic>
      </p:graphicFrame>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Financial Review (Option 2)</a:t>
            </a:r>
            <a:endParaRPr lang="en-US" dirty="0"/>
          </a:p>
        </p:txBody>
      </p:sp>
      <p:sp>
        <p:nvSpPr>
          <p:cNvPr id="4" name="Content Placeholder 3"/>
          <p:cNvSpPr>
            <a:spLocks noGrp="1"/>
          </p:cNvSpPr>
          <p:nvPr>
            <p:ph idx="1"/>
          </p:nvPr>
        </p:nvSpPr>
        <p:spPr/>
        <p:txBody>
          <a:bodyPr/>
          <a:lstStyle/>
          <a:p>
            <a:r>
              <a:rPr lang="en-US" dirty="0" smtClean="0"/>
              <a:t>Project Implementation Services</a:t>
            </a:r>
          </a:p>
          <a:p>
            <a:pPr lvl="1"/>
            <a:r>
              <a:rPr lang="en-US" dirty="0" smtClean="0"/>
              <a:t>Time &amp; Material:  $</a:t>
            </a:r>
          </a:p>
          <a:p>
            <a:pPr lvl="1"/>
            <a:r>
              <a:rPr lang="en-US" dirty="0" smtClean="0"/>
              <a:t>Total Invoiced To-Date:  $</a:t>
            </a:r>
          </a:p>
          <a:p>
            <a:pPr lvl="1"/>
            <a:r>
              <a:rPr lang="en-US" dirty="0" smtClean="0"/>
              <a:t>Total Outstanding Invoices:  $</a:t>
            </a:r>
          </a:p>
          <a:p>
            <a:pPr lvl="1"/>
            <a:r>
              <a:rPr lang="en-US" dirty="0" smtClean="0"/>
              <a:t>Total Overdue Invoices:  $</a:t>
            </a:r>
          </a:p>
          <a:p>
            <a:pPr lvl="1"/>
            <a:endParaRPr lang="en-US" dirty="0" smtClean="0"/>
          </a:p>
          <a:p>
            <a:pPr lvl="1"/>
            <a:endParaRPr lang="en-US" dirty="0" smtClean="0"/>
          </a:p>
          <a:p>
            <a:pPr lvl="1"/>
            <a:endParaRPr lang="en-US" dirty="0" smtClean="0"/>
          </a:p>
          <a:p>
            <a:pPr lvl="1"/>
            <a:r>
              <a:rPr lang="en-US" dirty="0" smtClean="0"/>
              <a:t>No Open Change Orders At This Time</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Orders</a:t>
            </a:r>
            <a:endParaRPr lang="en-US" dirty="0"/>
          </a:p>
        </p:txBody>
      </p:sp>
      <p:graphicFrame>
        <p:nvGraphicFramePr>
          <p:cNvPr id="4" name="Table 3"/>
          <p:cNvGraphicFramePr>
            <a:graphicFrameLocks noGrp="1"/>
          </p:cNvGraphicFramePr>
          <p:nvPr/>
        </p:nvGraphicFramePr>
        <p:xfrm>
          <a:off x="455611" y="1524000"/>
          <a:ext cx="10744202" cy="3235960"/>
        </p:xfrm>
        <a:graphic>
          <a:graphicData uri="http://schemas.openxmlformats.org/drawingml/2006/table">
            <a:tbl>
              <a:tblPr firstRow="1" bandRow="1">
                <a:tableStyleId>{5C22544A-7EE6-4342-B048-85BDC9FD1C3A}</a:tableStyleId>
              </a:tblPr>
              <a:tblGrid>
                <a:gridCol w="1130970"/>
                <a:gridCol w="3231339"/>
                <a:gridCol w="1292536"/>
                <a:gridCol w="1373319"/>
                <a:gridCol w="1373319"/>
                <a:gridCol w="1292536"/>
                <a:gridCol w="1050183"/>
              </a:tblGrid>
              <a:tr h="370840">
                <a:tc>
                  <a:txBody>
                    <a:bodyPr/>
                    <a:lstStyle/>
                    <a:p>
                      <a:pPr algn="ctr"/>
                      <a:r>
                        <a:rPr lang="en-US" dirty="0" smtClean="0"/>
                        <a:t>Change Request #</a:t>
                      </a:r>
                      <a:endParaRPr lang="en-US" dirty="0"/>
                    </a:p>
                  </a:txBody>
                  <a:tcPr/>
                </a:tc>
                <a:tc>
                  <a:txBody>
                    <a:bodyPr/>
                    <a:lstStyle/>
                    <a:p>
                      <a:pPr algn="ctr"/>
                      <a:r>
                        <a:rPr lang="en-US" dirty="0" smtClean="0"/>
                        <a:t>Description of Change</a:t>
                      </a:r>
                      <a:endParaRPr lang="en-US" dirty="0"/>
                    </a:p>
                  </a:txBody>
                  <a:tcPr/>
                </a:tc>
                <a:tc>
                  <a:txBody>
                    <a:bodyPr/>
                    <a:lstStyle/>
                    <a:p>
                      <a:pPr algn="ctr"/>
                      <a:r>
                        <a:rPr lang="en-US" dirty="0" smtClean="0"/>
                        <a:t>Originator</a:t>
                      </a:r>
                      <a:endParaRPr lang="en-US" dirty="0"/>
                    </a:p>
                  </a:txBody>
                  <a:tcPr/>
                </a:tc>
                <a:tc>
                  <a:txBody>
                    <a:bodyPr/>
                    <a:lstStyle/>
                    <a:p>
                      <a:pPr algn="ctr"/>
                      <a:r>
                        <a:rPr lang="en-US" dirty="0" smtClean="0"/>
                        <a:t>Date Raised</a:t>
                      </a:r>
                      <a:endParaRPr lang="en-US" dirty="0"/>
                    </a:p>
                  </a:txBody>
                  <a:tcPr/>
                </a:tc>
                <a:tc>
                  <a:txBody>
                    <a:bodyPr/>
                    <a:lstStyle/>
                    <a:p>
                      <a:pPr algn="ctr"/>
                      <a:r>
                        <a:rPr lang="en-US" dirty="0" smtClean="0"/>
                        <a:t>Current Status</a:t>
                      </a:r>
                      <a:endParaRPr lang="en-US" dirty="0"/>
                    </a:p>
                  </a:txBody>
                  <a:tcPr/>
                </a:tc>
                <a:tc>
                  <a:txBody>
                    <a:bodyPr/>
                    <a:lstStyle/>
                    <a:p>
                      <a:pPr algn="ctr"/>
                      <a:r>
                        <a:rPr lang="en-US" dirty="0" smtClean="0"/>
                        <a:t>Date</a:t>
                      </a:r>
                      <a:r>
                        <a:rPr lang="en-US" baseline="0" dirty="0" smtClean="0"/>
                        <a:t> Approved</a:t>
                      </a:r>
                      <a:endParaRPr lang="en-US" dirty="0"/>
                    </a:p>
                  </a:txBody>
                  <a:tcPr/>
                </a:tc>
                <a:tc>
                  <a:txBody>
                    <a:bodyPr/>
                    <a:lstStyle/>
                    <a:p>
                      <a:pPr algn="ctr"/>
                      <a:r>
                        <a:rPr lang="en-US" dirty="0" smtClean="0"/>
                        <a:t>Date Closed</a:t>
                      </a:r>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Next Period Tasks &lt;Option 1&gt;</a:t>
            </a:r>
            <a:endParaRPr lang="en-US" dirty="0"/>
          </a:p>
        </p:txBody>
      </p:sp>
      <p:sp>
        <p:nvSpPr>
          <p:cNvPr id="4" name="Content Placeholder 3"/>
          <p:cNvSpPr>
            <a:spLocks noGrp="1"/>
          </p:cNvSpPr>
          <p:nvPr>
            <p:ph idx="1"/>
          </p:nvPr>
        </p:nvSpPr>
        <p:spPr/>
        <p:txBody>
          <a:bodyPr/>
          <a:lstStyle/>
          <a:p>
            <a:r>
              <a:rPr lang="en-US" dirty="0" smtClean="0"/>
              <a:t>Close out Inception &lt;or other phase name&gt; activities</a:t>
            </a:r>
          </a:p>
          <a:p>
            <a:r>
              <a:rPr lang="en-US" dirty="0" smtClean="0"/>
              <a:t>Begin Elaboration &lt;or other phase name&gt; activities</a:t>
            </a:r>
          </a:p>
          <a:p>
            <a:r>
              <a:rPr lang="en-US" dirty="0" smtClean="0"/>
              <a:t>Bring on team to begin Custom Development activities</a:t>
            </a:r>
          </a:p>
          <a:p>
            <a:r>
              <a:rPr lang="en-US" dirty="0" smtClean="0"/>
              <a:t>Bring on team to complete Software Configuration using CRP</a:t>
            </a:r>
          </a:p>
          <a:p>
            <a:r>
              <a:rPr lang="en-US" dirty="0" smtClean="0"/>
              <a:t>Xx</a:t>
            </a:r>
          </a:p>
          <a:p>
            <a:r>
              <a:rPr lang="en-US" dirty="0" smtClean="0"/>
              <a:t>Xx</a:t>
            </a:r>
          </a:p>
          <a:p>
            <a:r>
              <a:rPr lang="en-US" dirty="0" smtClean="0"/>
              <a:t>Xx</a:t>
            </a:r>
          </a:p>
          <a:p>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&lt;Month&gt; High-Level Activities and Milestones &lt;Option 2&gt;</a:t>
            </a:r>
            <a:endParaRPr lang="en-US" dirty="0"/>
          </a:p>
        </p:txBody>
      </p:sp>
      <p:graphicFrame>
        <p:nvGraphicFramePr>
          <p:cNvPr id="3" name="Group 104"/>
          <p:cNvGraphicFramePr>
            <a:graphicFrameLocks/>
          </p:cNvGraphicFramePr>
          <p:nvPr/>
        </p:nvGraphicFramePr>
        <p:xfrm>
          <a:off x="760411" y="1524000"/>
          <a:ext cx="10439399" cy="4494066"/>
        </p:xfrm>
        <a:graphic>
          <a:graphicData uri="http://schemas.openxmlformats.org/drawingml/2006/table">
            <a:tbl>
              <a:tblPr/>
              <a:tblGrid>
                <a:gridCol w="1491899"/>
                <a:gridCol w="1489953"/>
                <a:gridCol w="1491898"/>
                <a:gridCol w="1491899"/>
                <a:gridCol w="1491898"/>
                <a:gridCol w="1489953"/>
                <a:gridCol w="1491899"/>
              </a:tblGrid>
              <a:tr h="931551">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endParaRPr kumimoji="0" lang="en-US" sz="1300" b="1" i="0" u="none" strike="noStrike" cap="none" normalizeH="0" baseline="0" dirty="0" smtClean="0">
                        <a:ln>
                          <a:noFill/>
                        </a:ln>
                        <a:solidFill>
                          <a:schemeClr val="tx1"/>
                        </a:solidFill>
                        <a:effectLst/>
                        <a:latin typeface="Book Antiqua" pitchFamily="18" charset="0"/>
                      </a:endParaRPr>
                    </a:p>
                  </a:txBody>
                  <a:tcPr marT="34290" marB="34290"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endParaRPr kumimoji="0" lang="en-US" sz="1300" b="1" i="0" u="none" strike="noStrike" cap="none" normalizeH="0" baseline="0" dirty="0" smtClean="0">
                        <a:ln>
                          <a:noFill/>
                        </a:ln>
                        <a:solidFill>
                          <a:schemeClr val="tx1"/>
                        </a:solidFill>
                        <a:effectLst/>
                        <a:latin typeface="Book Antiqua" pitchFamily="18" charset="0"/>
                      </a:endParaRPr>
                    </a:p>
                  </a:txBody>
                  <a:tcPr marT="34290" marB="34290"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endParaRPr kumimoji="0" lang="en-US" sz="1300" b="1" i="0" u="none" strike="noStrike" cap="none" normalizeH="0" baseline="0" dirty="0" smtClean="0">
                        <a:ln>
                          <a:noFill/>
                        </a:ln>
                        <a:solidFill>
                          <a:schemeClr val="tx1"/>
                        </a:solidFill>
                        <a:effectLst/>
                        <a:latin typeface="Book Antiqua" pitchFamily="18" charset="0"/>
                      </a:endParaRPr>
                    </a:p>
                  </a:txBody>
                  <a:tcPr marT="34290" marB="34290"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a:t>
                      </a:r>
                    </a:p>
                  </a:txBody>
                  <a:tcPr marT="34290" marB="34290"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a:t>
                      </a:r>
                    </a:p>
                  </a:txBody>
                  <a:tcPr marT="34290" marB="34290"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a:t>
                      </a:r>
                    </a:p>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800" b="1" i="0" u="none" strike="noStrike" cap="none" normalizeH="0" baseline="0" dirty="0" smtClean="0">
                          <a:ln>
                            <a:noFill/>
                          </a:ln>
                          <a:solidFill>
                            <a:schemeClr val="tx1"/>
                          </a:solidFill>
                          <a:effectLst/>
                          <a:latin typeface="Arial" charset="0"/>
                        </a:rPr>
                        <a:t>   </a:t>
                      </a:r>
                      <a:r>
                        <a:rPr kumimoji="0" lang="en-US" sz="700" b="1" i="0" u="none" strike="noStrike" cap="none" normalizeH="0" baseline="0" dirty="0" smtClean="0">
                          <a:ln>
                            <a:noFill/>
                          </a:ln>
                          <a:solidFill>
                            <a:schemeClr val="tx1"/>
                          </a:solidFill>
                          <a:effectLst/>
                          <a:latin typeface="Arial" charset="0"/>
                        </a:rPr>
                        <a:t> </a:t>
                      </a:r>
                    </a:p>
                  </a:txBody>
                  <a:tcPr marT="34290" marB="34290" horzOverflow="overflow">
                    <a:lnL>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1</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r>
              <a:tr h="985097">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2</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alpha val="5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3 </a:t>
                      </a:r>
                    </a:p>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050" b="1" i="0" u="none" strike="noStrike" cap="none" normalizeH="0" baseline="0" dirty="0" smtClean="0">
                          <a:ln>
                            <a:noFill/>
                          </a:ln>
                          <a:solidFill>
                            <a:schemeClr val="tx1"/>
                          </a:solidFill>
                          <a:effectLst/>
                          <a:latin typeface="+mn-lt"/>
                        </a:rPr>
                        <a:t>Project announcements</a:t>
                      </a:r>
                    </a:p>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800" b="1" i="0" u="none" strike="noStrike" cap="none" normalizeH="0" baseline="0" dirty="0" smtClean="0">
                          <a:ln>
                            <a:noFill/>
                          </a:ln>
                          <a:solidFill>
                            <a:schemeClr val="tx1"/>
                          </a:solidFill>
                          <a:effectLst/>
                          <a:latin typeface="Arial" charset="0"/>
                        </a:rPr>
                        <a:t>  </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4</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5</a:t>
                      </a:r>
                    </a:p>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6  </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7 </a:t>
                      </a:r>
                      <a:endParaRPr kumimoji="0" lang="en-US" sz="800" b="1" i="0" u="none" strike="noStrike" cap="none" normalizeH="0" baseline="0" dirty="0" smtClean="0">
                        <a:ln>
                          <a:noFill/>
                        </a:ln>
                        <a:solidFill>
                          <a:schemeClr val="tx1"/>
                        </a:solidFill>
                        <a:effectLst/>
                        <a:latin typeface="Arial" charset="0"/>
                      </a:endParaRPr>
                    </a:p>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mn-lt"/>
                        </a:rPr>
                        <a:t>All team members onsite</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8 </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r>
              <a:tr h="925116">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9</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alpha val="5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10 </a:t>
                      </a:r>
                    </a:p>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mn-lt"/>
                        </a:rPr>
                        <a:t>All Team </a:t>
                      </a:r>
                      <a:br>
                        <a:rPr kumimoji="0" lang="en-US" sz="1300" b="1" i="0" u="none" strike="noStrike" cap="none" normalizeH="0" baseline="0" dirty="0" smtClean="0">
                          <a:ln>
                            <a:noFill/>
                          </a:ln>
                          <a:solidFill>
                            <a:schemeClr val="tx1"/>
                          </a:solidFill>
                          <a:effectLst/>
                          <a:latin typeface="+mn-lt"/>
                        </a:rPr>
                      </a:br>
                      <a:r>
                        <a:rPr kumimoji="0" lang="en-US" sz="1300" b="1" i="0" u="none" strike="noStrike" cap="none" normalizeH="0" baseline="0" dirty="0" smtClean="0">
                          <a:ln>
                            <a:noFill/>
                          </a:ln>
                          <a:solidFill>
                            <a:schemeClr val="tx1"/>
                          </a:solidFill>
                          <a:effectLst/>
                          <a:latin typeface="+mn-lt"/>
                        </a:rPr>
                        <a:t>Meeting</a:t>
                      </a:r>
                    </a:p>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mn-lt"/>
                        </a:rPr>
                        <a:t>Kick-off</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11</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12</a:t>
                      </a:r>
                    </a:p>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800" b="1" i="0" u="none" strike="noStrike" cap="none" normalizeH="0" baseline="0" dirty="0" smtClean="0">
                          <a:ln>
                            <a:noFill/>
                          </a:ln>
                          <a:solidFill>
                            <a:schemeClr val="tx1"/>
                          </a:solidFill>
                          <a:effectLst/>
                          <a:latin typeface="Arial" charset="0"/>
                        </a:rPr>
                        <a:t>  </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13</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14</a:t>
                      </a:r>
                    </a:p>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800" b="1" i="0" u="none" strike="noStrike" cap="none" normalizeH="0" baseline="0" dirty="0" smtClean="0">
                          <a:ln>
                            <a:noFill/>
                          </a:ln>
                          <a:solidFill>
                            <a:schemeClr val="tx1"/>
                          </a:solidFill>
                          <a:effectLst/>
                          <a:latin typeface="Arial" charset="0"/>
                        </a:rPr>
                        <a:t>  </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15 </a:t>
                      </a:r>
                      <a:r>
                        <a:rPr kumimoji="0" lang="en-US" sz="800" b="1" i="0" u="none" strike="noStrike" cap="none" normalizeH="0" baseline="0" dirty="0" smtClean="0">
                          <a:ln>
                            <a:noFill/>
                          </a:ln>
                          <a:solidFill>
                            <a:schemeClr val="tx1"/>
                          </a:solidFill>
                          <a:effectLst/>
                          <a:latin typeface="Arial" charset="0"/>
                        </a:rPr>
                        <a:t> </a:t>
                      </a:r>
                    </a:p>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800" b="1" i="0" u="none" strike="noStrike" cap="none" normalizeH="0" baseline="0" dirty="0" smtClean="0">
                          <a:ln>
                            <a:noFill/>
                          </a:ln>
                          <a:solidFill>
                            <a:schemeClr val="tx1"/>
                          </a:solidFill>
                          <a:effectLst/>
                          <a:latin typeface="Arial" charset="0"/>
                        </a:rPr>
                        <a:t>  </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r>
              <a:tr h="860822">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16</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alpha val="5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17</a:t>
                      </a:r>
                    </a:p>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800" b="1" i="0" u="none" strike="noStrike" cap="none" normalizeH="0" baseline="0" dirty="0" smtClean="0">
                          <a:ln>
                            <a:noFill/>
                          </a:ln>
                          <a:solidFill>
                            <a:schemeClr val="tx1"/>
                          </a:solidFill>
                          <a:effectLst/>
                          <a:latin typeface="Arial" charset="0"/>
                        </a:rPr>
                        <a:t>   </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18</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19</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20</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21</a:t>
                      </a:r>
                    </a:p>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000" b="1" i="0" u="none" strike="noStrike" cap="none" normalizeH="0" baseline="0" dirty="0" smtClean="0">
                          <a:ln>
                            <a:noFill/>
                          </a:ln>
                          <a:solidFill>
                            <a:schemeClr val="tx1"/>
                          </a:solidFill>
                          <a:effectLst/>
                          <a:latin typeface="Arial" charset="0"/>
                        </a:rPr>
                        <a:t>   </a:t>
                      </a:r>
                      <a:r>
                        <a:rPr kumimoji="0" lang="en-US" sz="1050" b="1" i="0" u="none" strike="noStrike" cap="none" normalizeH="0" baseline="0" dirty="0" smtClean="0">
                          <a:ln>
                            <a:noFill/>
                          </a:ln>
                          <a:solidFill>
                            <a:schemeClr val="tx1"/>
                          </a:solidFill>
                          <a:effectLst/>
                          <a:latin typeface="Arial" charset="0"/>
                        </a:rPr>
                        <a:t>BI Walk</a:t>
                      </a:r>
                      <a:br>
                        <a:rPr kumimoji="0" lang="en-US" sz="1050" b="1" i="0" u="none" strike="noStrike" cap="none" normalizeH="0" baseline="0" dirty="0" smtClean="0">
                          <a:ln>
                            <a:noFill/>
                          </a:ln>
                          <a:solidFill>
                            <a:schemeClr val="tx1"/>
                          </a:solidFill>
                          <a:effectLst/>
                          <a:latin typeface="Arial" charset="0"/>
                        </a:rPr>
                      </a:br>
                      <a:r>
                        <a:rPr kumimoji="0" lang="en-US" sz="1050" b="1" i="0" u="none" strike="noStrike" cap="none" normalizeH="0" baseline="0" dirty="0" smtClean="0">
                          <a:ln>
                            <a:noFill/>
                          </a:ln>
                          <a:solidFill>
                            <a:schemeClr val="tx1"/>
                          </a:solidFill>
                          <a:effectLst/>
                          <a:latin typeface="Arial" charset="0"/>
                        </a:rPr>
                        <a:t>   Through</a:t>
                      </a:r>
                      <a:r>
                        <a:rPr kumimoji="0" lang="en-US" sz="900" b="1" i="0" u="none" strike="noStrike" cap="none" normalizeH="0" baseline="0" dirty="0" smtClean="0">
                          <a:ln>
                            <a:noFill/>
                          </a:ln>
                          <a:solidFill>
                            <a:schemeClr val="tx1"/>
                          </a:solidFill>
                          <a:effectLst/>
                          <a:latin typeface="Arial" charset="0"/>
                        </a:rPr>
                        <a:t/>
                      </a:r>
                      <a:br>
                        <a:rPr kumimoji="0" lang="en-US" sz="900" b="1" i="0" u="none" strike="noStrike" cap="none" normalizeH="0" baseline="0" dirty="0" smtClean="0">
                          <a:ln>
                            <a:noFill/>
                          </a:ln>
                          <a:solidFill>
                            <a:schemeClr val="tx1"/>
                          </a:solidFill>
                          <a:effectLst/>
                          <a:latin typeface="Arial" charset="0"/>
                        </a:rPr>
                      </a:br>
                      <a:r>
                        <a:rPr kumimoji="0" lang="en-US" sz="800" b="1" i="0" u="none" strike="noStrike" cap="none" normalizeH="0" baseline="0" dirty="0" smtClean="0">
                          <a:ln>
                            <a:noFill/>
                          </a:ln>
                          <a:solidFill>
                            <a:schemeClr val="tx1"/>
                          </a:solidFill>
                          <a:effectLst/>
                          <a:latin typeface="Arial" charset="0"/>
                        </a:rPr>
                        <a:t>   </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22</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r>
              <a:tr h="776288">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23</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alpha val="5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24</a:t>
                      </a:r>
                    </a:p>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a:t>
                      </a:r>
                      <a:endParaRPr kumimoji="0" lang="en-US" sz="800" b="1" i="0" u="none" strike="noStrike" cap="none" normalizeH="0" baseline="0" dirty="0" smtClean="0">
                        <a:ln>
                          <a:noFill/>
                        </a:ln>
                        <a:solidFill>
                          <a:schemeClr val="tx1"/>
                        </a:solidFill>
                        <a:effectLst/>
                        <a:latin typeface="Arial" charset="0"/>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25</a:t>
                      </a:r>
                    </a:p>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800" b="1" i="0" u="none" strike="noStrike" cap="none" normalizeH="0" baseline="0" dirty="0" smtClean="0">
                          <a:ln>
                            <a:noFill/>
                          </a:ln>
                          <a:solidFill>
                            <a:schemeClr val="tx1"/>
                          </a:solidFill>
                          <a:effectLst/>
                          <a:latin typeface="Arial" charset="0"/>
                        </a:rPr>
                        <a:t/>
                      </a:r>
                      <a:br>
                        <a:rPr kumimoji="0" lang="en-US" sz="800" b="1" i="0" u="none" strike="noStrike" cap="none" normalizeH="0" baseline="0" dirty="0" smtClean="0">
                          <a:ln>
                            <a:noFill/>
                          </a:ln>
                          <a:solidFill>
                            <a:schemeClr val="tx1"/>
                          </a:solidFill>
                          <a:effectLst/>
                          <a:latin typeface="Arial" charset="0"/>
                        </a:rPr>
                      </a:br>
                      <a:endParaRPr kumimoji="0" lang="en-US" sz="800" b="1" i="0" u="none" strike="noStrike" cap="none" normalizeH="0" baseline="0" dirty="0" smtClean="0">
                        <a:ln>
                          <a:noFill/>
                        </a:ln>
                        <a:solidFill>
                          <a:schemeClr val="tx1"/>
                        </a:solidFill>
                        <a:effectLst/>
                        <a:latin typeface="Arial" charset="0"/>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26</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27</a:t>
                      </a:r>
                    </a:p>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a:t>
                      </a:r>
                      <a:endParaRPr kumimoji="0" lang="en-US" sz="800" b="1" i="0" u="none" strike="noStrike" cap="none" normalizeH="0" baseline="0" dirty="0" smtClean="0">
                        <a:ln>
                          <a:noFill/>
                        </a:ln>
                        <a:solidFill>
                          <a:schemeClr val="tx1"/>
                        </a:solidFill>
                        <a:effectLst/>
                        <a:latin typeface="Arial" charset="0"/>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28</a:t>
                      </a:r>
                    </a:p>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800" b="1" i="0" u="none" strike="noStrike" cap="none" normalizeH="0" baseline="0" dirty="0" smtClean="0">
                          <a:ln>
                            <a:noFill/>
                          </a:ln>
                          <a:solidFill>
                            <a:schemeClr val="tx1"/>
                          </a:solidFill>
                          <a:effectLst/>
                          <a:latin typeface="Arial" charset="0"/>
                        </a:rPr>
                        <a:t>   </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29</a:t>
                      </a:r>
                    </a:p>
                    <a:p>
                      <a:pPr marL="0" marR="0" lvl="0" indent="0" algn="l" defTabSz="841375" rtl="0" eaLnBrk="0" fontAlgn="base" latinLnBrk="0" hangingPunct="0">
                        <a:lnSpc>
                          <a:spcPct val="100000"/>
                        </a:lnSpc>
                        <a:spcBef>
                          <a:spcPct val="20000"/>
                        </a:spcBef>
                        <a:spcAft>
                          <a:spcPct val="0"/>
                        </a:spcAft>
                        <a:buClr>
                          <a:srgbClr val="000099"/>
                        </a:buClr>
                        <a:buSzPct val="70000"/>
                        <a:buFont typeface="Monotype Sorts" pitchFamily="2" charset="2"/>
                        <a:buNone/>
                        <a:tabLst/>
                      </a:pPr>
                      <a:r>
                        <a:rPr kumimoji="0" lang="en-US" sz="1300" b="1" i="0" u="none" strike="noStrike" cap="none" normalizeH="0" baseline="0" dirty="0" smtClean="0">
                          <a:ln>
                            <a:noFill/>
                          </a:ln>
                          <a:solidFill>
                            <a:schemeClr val="tx1"/>
                          </a:solidFill>
                          <a:effectLst/>
                          <a:latin typeface="Book Antiqua" pitchFamily="18" charset="0"/>
                        </a:rPr>
                        <a:t>        30 </a:t>
                      </a:r>
                      <a:r>
                        <a:rPr kumimoji="0" lang="en-US" sz="700" b="1" i="0" u="none" strike="noStrike" cap="none" normalizeH="0" baseline="0" dirty="0" smtClean="0">
                          <a:ln>
                            <a:noFill/>
                          </a:ln>
                          <a:solidFill>
                            <a:schemeClr val="tx1"/>
                          </a:solidFill>
                          <a:effectLst/>
                          <a:latin typeface="Book Antiqua" pitchFamily="18" charset="0"/>
                        </a:rPr>
                        <a:t>   </a:t>
                      </a:r>
                      <a:br>
                        <a:rPr kumimoji="0" lang="en-US" sz="700" b="1" i="0" u="none" strike="noStrike" cap="none" normalizeH="0" baseline="0" dirty="0" smtClean="0">
                          <a:ln>
                            <a:noFill/>
                          </a:ln>
                          <a:solidFill>
                            <a:schemeClr val="tx1"/>
                          </a:solidFill>
                          <a:effectLst/>
                          <a:latin typeface="Book Antiqua" pitchFamily="18" charset="0"/>
                        </a:rPr>
                      </a:br>
                      <a:endParaRPr kumimoji="0" lang="en-US" sz="900" b="1" i="0" u="none" strike="noStrike" cap="none" normalizeH="0" baseline="0" dirty="0" smtClean="0">
                        <a:ln>
                          <a:noFill/>
                        </a:ln>
                        <a:solidFill>
                          <a:schemeClr val="folHlink"/>
                        </a:solidFill>
                        <a:effectLst/>
                        <a:latin typeface="Book Antiqua" pitchFamily="18" charset="0"/>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w="12700" cap="flat" cmpd="sng" algn="ctr">
                      <a:solidFill>
                        <a:schemeClr val="tx1"/>
                      </a:solidFill>
                      <a:prstDash val="solid"/>
                      <a:round/>
                      <a:headEnd type="none" w="med" len="med"/>
                      <a:tailEnd type="none" w="med" len="med"/>
                    </a:lnBlToTr>
                    <a:solidFill>
                      <a:schemeClr val="accent5">
                        <a:lumMod val="20000"/>
                        <a:lumOff val="80000"/>
                      </a:schemeClr>
                    </a:solidFill>
                  </a:tcPr>
                </a:tc>
              </a:tr>
            </a:tbl>
          </a:graphicData>
        </a:graphic>
      </p:graphicFrame>
      <p:sp>
        <p:nvSpPr>
          <p:cNvPr id="4" name="AutoShape 105"/>
          <p:cNvSpPr>
            <a:spLocks noChangeArrowheads="1"/>
          </p:cNvSpPr>
          <p:nvPr/>
        </p:nvSpPr>
        <p:spPr bwMode="auto">
          <a:xfrm>
            <a:off x="3046412" y="4817269"/>
            <a:ext cx="4076700" cy="364331"/>
          </a:xfrm>
          <a:prstGeom prst="rightArrow">
            <a:avLst>
              <a:gd name="adj1" fmla="val 50000"/>
              <a:gd name="adj2" fmla="val 178431"/>
            </a:avLst>
          </a:prstGeom>
          <a:solidFill>
            <a:schemeClr val="bg2"/>
          </a:solidFill>
          <a:ln w="9525">
            <a:noFill/>
            <a:miter lim="800000"/>
            <a:headEnd/>
            <a:tailEnd/>
          </a:ln>
          <a:effectLst/>
          <a:scene3d>
            <a:camera prst="legacyObliqueTopRight"/>
            <a:lightRig rig="legacyFlat3" dir="b"/>
          </a:scene3d>
          <a:sp3d extrusionH="430200" contourW="12700" prstMaterial="legacyMatte">
            <a:bevelT w="13500" h="13500" prst="angle"/>
            <a:bevelB w="13500" h="13500" prst="angle"/>
            <a:extrusionClr>
              <a:srgbClr val="0070C0"/>
            </a:extrusionClr>
            <a:contourClr>
              <a:srgbClr val="0070C0"/>
            </a:contourClr>
          </a:sp3d>
        </p:spPr>
        <p:txBody>
          <a:bodyPr wrap="none" anchor="ctr">
            <a:flatTx/>
          </a:bodyPr>
          <a:lstStyle/>
          <a:p>
            <a:pPr>
              <a:spcBef>
                <a:spcPct val="20000"/>
              </a:spcBef>
              <a:buClr>
                <a:srgbClr val="000099"/>
              </a:buClr>
              <a:buSzPct val="70000"/>
              <a:buFont typeface="Monotype Sorts" pitchFamily="2" charset="2"/>
              <a:buNone/>
            </a:pPr>
            <a:r>
              <a:rPr lang="en-US" sz="1100" b="1" dirty="0"/>
              <a:t>Applications </a:t>
            </a:r>
            <a:r>
              <a:rPr lang="en-US" sz="1100" b="1" dirty="0" smtClean="0"/>
              <a:t>Configuration Prototype #1 (CRP 1)</a:t>
            </a:r>
            <a:endParaRPr lang="en-US" b="1"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Steering Committee Decisions or Actions Needed</a:t>
            </a:r>
            <a:endParaRPr lang="en-US" dirty="0"/>
          </a:p>
        </p:txBody>
      </p:sp>
      <p:sp>
        <p:nvSpPr>
          <p:cNvPr id="3" name="Content Placeholder 2"/>
          <p:cNvSpPr>
            <a:spLocks noGrp="1"/>
          </p:cNvSpPr>
          <p:nvPr>
            <p:ph idx="1"/>
          </p:nvPr>
        </p:nvSpPr>
        <p:spPr/>
        <p:txBody>
          <a:bodyPr/>
          <a:lstStyle/>
          <a:p>
            <a:r>
              <a:rPr lang="en-US" dirty="0" smtClean="0"/>
              <a:t>&lt;See slide 4 for Steering Committee Responsibilities.&gt;</a:t>
            </a:r>
            <a:r>
              <a:rPr lang="en-US" dirty="0"/>
              <a:t> </a:t>
            </a:r>
            <a:r>
              <a:rPr lang="en-US" dirty="0" smtClean="0"/>
              <a:t>(for first meeting)</a:t>
            </a:r>
          </a:p>
          <a:p>
            <a:r>
              <a:rPr lang="en-US" dirty="0" smtClean="0"/>
              <a:t>For 2 – n subsequent meetings Slide 4 could be used to status the Steering Committee Decisions or Actions needed from the last Steering Committee meeting.</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26"/>
          <p:cNvSpPr>
            <a:spLocks noChangeArrowheads="1"/>
          </p:cNvSpPr>
          <p:nvPr/>
        </p:nvSpPr>
        <p:spPr bwMode="invGray">
          <a:xfrm>
            <a:off x="6018212" y="2264222"/>
            <a:ext cx="3478914" cy="4666727"/>
          </a:xfrm>
          <a:prstGeom prst="rect">
            <a:avLst/>
          </a:prstGeom>
          <a:noFill/>
          <a:ln w="9525">
            <a:noFill/>
            <a:miter lim="800000"/>
            <a:headEnd/>
            <a:tailEnd/>
          </a:ln>
        </p:spPr>
        <p:txBody>
          <a:bodyPr wrap="square" lIns="122745" tIns="61373" rIns="122745" bIns="61373">
            <a:spAutoFit/>
          </a:bodyPr>
          <a:lstStyle/>
          <a:p>
            <a:pPr algn="ctr">
              <a:lnSpc>
                <a:spcPct val="80000"/>
              </a:lnSpc>
              <a:spcBef>
                <a:spcPct val="50000"/>
              </a:spcBef>
            </a:pPr>
            <a:r>
              <a:rPr lang="en-US" sz="36900" b="1" i="1" dirty="0">
                <a:solidFill>
                  <a:srgbClr val="292929"/>
                </a:solidFill>
                <a:latin typeface="Times" pitchFamily="18" charset="0"/>
              </a:rPr>
              <a:t>A</a:t>
            </a:r>
          </a:p>
        </p:txBody>
      </p:sp>
      <p:grpSp>
        <p:nvGrpSpPr>
          <p:cNvPr id="2" name="Group 1027"/>
          <p:cNvGrpSpPr>
            <a:grpSpLocks/>
          </p:cNvGrpSpPr>
          <p:nvPr/>
        </p:nvGrpSpPr>
        <p:grpSpPr bwMode="auto">
          <a:xfrm>
            <a:off x="2590125" y="228600"/>
            <a:ext cx="5713512" cy="5930900"/>
            <a:chOff x="1224" y="336"/>
            <a:chExt cx="2700" cy="3736"/>
          </a:xfrm>
        </p:grpSpPr>
        <p:sp>
          <p:nvSpPr>
            <p:cNvPr id="10244" name="Rectangle 1028"/>
            <p:cNvSpPr>
              <a:spLocks noChangeArrowheads="1"/>
            </p:cNvSpPr>
            <p:nvPr/>
          </p:nvSpPr>
          <p:spPr bwMode="invGray">
            <a:xfrm>
              <a:off x="1224" y="336"/>
              <a:ext cx="1872" cy="2920"/>
            </a:xfrm>
            <a:prstGeom prst="rect">
              <a:avLst/>
            </a:prstGeom>
            <a:noFill/>
            <a:ln w="9525">
              <a:noFill/>
              <a:miter lim="800000"/>
              <a:headEnd/>
              <a:tailEnd/>
            </a:ln>
          </p:spPr>
          <p:txBody>
            <a:bodyPr wrap="square" lIns="92075" tIns="46038" rIns="92075" bIns="46038">
              <a:spAutoFit/>
            </a:bodyPr>
            <a:lstStyle/>
            <a:p>
              <a:pPr algn="ctr">
                <a:lnSpc>
                  <a:spcPct val="80000"/>
                </a:lnSpc>
                <a:spcBef>
                  <a:spcPct val="50000"/>
                </a:spcBef>
              </a:pPr>
              <a:r>
                <a:rPr lang="en-US" sz="36900" b="1" i="1" dirty="0" smtClean="0">
                  <a:solidFill>
                    <a:srgbClr val="292929"/>
                  </a:solidFill>
                  <a:latin typeface="Times" pitchFamily="18" charset="0"/>
                </a:rPr>
                <a:t>Q</a:t>
              </a:r>
              <a:endParaRPr lang="en-US" sz="36900" b="1" i="1" dirty="0">
                <a:solidFill>
                  <a:srgbClr val="292929"/>
                </a:solidFill>
                <a:latin typeface="Times" pitchFamily="18" charset="0"/>
              </a:endParaRPr>
            </a:p>
          </p:txBody>
        </p:sp>
        <p:sp>
          <p:nvSpPr>
            <p:cNvPr id="10245" name="Rectangle 1029"/>
            <p:cNvSpPr>
              <a:spLocks noChangeArrowheads="1"/>
            </p:cNvSpPr>
            <p:nvPr/>
          </p:nvSpPr>
          <p:spPr bwMode="invGray">
            <a:xfrm>
              <a:off x="2088" y="1152"/>
              <a:ext cx="1836" cy="2920"/>
            </a:xfrm>
            <a:prstGeom prst="rect">
              <a:avLst/>
            </a:prstGeom>
            <a:noFill/>
            <a:ln w="9525">
              <a:noFill/>
              <a:miter lim="800000"/>
              <a:headEnd/>
              <a:tailEnd/>
            </a:ln>
          </p:spPr>
          <p:txBody>
            <a:bodyPr wrap="square" lIns="92075" tIns="46038" rIns="92075" bIns="46038">
              <a:spAutoFit/>
            </a:bodyPr>
            <a:lstStyle/>
            <a:p>
              <a:pPr algn="ctr">
                <a:lnSpc>
                  <a:spcPct val="80000"/>
                </a:lnSpc>
                <a:spcBef>
                  <a:spcPct val="50000"/>
                </a:spcBef>
              </a:pPr>
              <a:r>
                <a:rPr lang="en-US" sz="36900" b="1" i="1" dirty="0">
                  <a:solidFill>
                    <a:schemeClr val="accent1"/>
                  </a:solidFill>
                  <a:latin typeface="Times" pitchFamily="18" charset="0"/>
                </a:rPr>
                <a:t>&amp;</a:t>
              </a:r>
            </a:p>
          </p:txBody>
        </p:sp>
      </p:gr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15373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thm15="http://schemas.microsoft.com/office/thememl/2012/main" xmlns=""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196</TotalTime>
  <Words>1637</Words>
  <Application>Microsoft Office PowerPoint</Application>
  <PresentationFormat>Custom</PresentationFormat>
  <Paragraphs>483</Paragraphs>
  <Slides>23</Slides>
  <Notes>16</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blank</vt:lpstr>
      <vt:lpstr>Slide 1</vt:lpstr>
      <vt:lpstr>Executive Steering Committee Presentation</vt:lpstr>
      <vt:lpstr>Agenda</vt:lpstr>
      <vt:lpstr>Steering Committee Responsibilities (First Meeting Only)</vt:lpstr>
      <vt:lpstr>Project Summary (First Meeting Only)</vt:lpstr>
      <vt:lpstr>Project Dashboard &lt;Option 1:  Reuse from Status Report&gt;</vt:lpstr>
      <vt:lpstr>Status Summary Dashboard &lt;Option 2&gt; </vt:lpstr>
      <vt:lpstr>Project Dashboard &lt;Option 3:  Alternate View&gt;</vt:lpstr>
      <vt:lpstr>Executive Summary &lt;Option 4&gt;</vt:lpstr>
      <vt:lpstr>Accomplishments This Period</vt:lpstr>
      <vt:lpstr>High-Level Schedule Timeline &lt;Option 1&gt;</vt:lpstr>
      <vt:lpstr>High-Level Schedule Timeline &lt;Option 2:  Using Visio&gt;</vt:lpstr>
      <vt:lpstr>High-Level Timelines &lt;Option 3 using PPT objects&gt;</vt:lpstr>
      <vt:lpstr>Project Issues and Risks &lt;Option 1&gt;</vt:lpstr>
      <vt:lpstr>Key Issues and Impact &lt;Option 2&gt;</vt:lpstr>
      <vt:lpstr>Financial Review &lt;Option 1&gt;</vt:lpstr>
      <vt:lpstr>Financial Review (Option 2)</vt:lpstr>
      <vt:lpstr>Change Orders</vt:lpstr>
      <vt:lpstr>Next Period Tasks &lt;Option 1&gt;</vt:lpstr>
      <vt:lpstr>&lt;Month&gt; High-Level Activities and Milestones &lt;Option 2&gt;</vt:lpstr>
      <vt:lpstr>Steering Committee Decisions or Actions Needed</vt:lpstr>
      <vt:lpstr>Slide 22</vt:lpstr>
      <vt:lpstr>Slide 23</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CMM.030 Steering Committee Presentation</dc:title>
  <dc:creator>Oracle Global Methods</dc:creator>
  <cp:keywords>OUM</cp:keywords>
  <dc:description>Copyright © 2016 Oracle and/or its affiliates.  All rights reserved.</dc:description>
  <cp:lastModifiedBy>masander</cp:lastModifiedBy>
  <cp:revision>15</cp:revision>
  <dcterms:created xsi:type="dcterms:W3CDTF">2014-06-17T20:36:48Z</dcterms:created>
  <dcterms:modified xsi:type="dcterms:W3CDTF">2016-09-12T01:10:14Z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