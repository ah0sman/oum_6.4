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388" r:id="rId2"/>
    <p:sldId id="392" r:id="rId3"/>
    <p:sldId id="396" r:id="rId4"/>
    <p:sldId id="397" r:id="rId5"/>
    <p:sldId id="398" r:id="rId6"/>
    <p:sldId id="399" r:id="rId7"/>
    <p:sldId id="393" r:id="rId8"/>
    <p:sldId id="389" r:id="rId9"/>
  </p:sldIdLst>
  <p:sldSz cx="12188825"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4213" autoAdjust="0"/>
  </p:normalViewPr>
  <p:slideViewPr>
    <p:cSldViewPr>
      <p:cViewPr varScale="1">
        <p:scale>
          <a:sx n="88" d="100"/>
          <a:sy n="88" d="100"/>
        </p:scale>
        <p:origin x="-64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9/2/2016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9/2/2016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9/2/2016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9/2/2016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9/2/2016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9/2/2016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9/2/2016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9/2/2016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9/2/2016</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9/2/2016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9/2/2016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9/2/2016</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9/2/2016</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9/2/2016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9/2/2016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9/2/2016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9/2/2016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9/2/2016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9/2/2016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9/2/2016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9/2/2016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9/2/2016</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9/2/2016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9/2/2016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Instructions</a:t>
            </a:r>
            <a:endParaRPr lang="en-US" dirty="0"/>
          </a:p>
        </p:txBody>
      </p:sp>
      <p:sp>
        <p:nvSpPr>
          <p:cNvPr id="7" name="Content Placeholder 6"/>
          <p:cNvSpPr>
            <a:spLocks noGrp="1"/>
          </p:cNvSpPr>
          <p:nvPr>
            <p:ph idx="1"/>
          </p:nvPr>
        </p:nvSpPr>
        <p:spPr/>
        <p:txBody>
          <a:bodyPr/>
          <a:lstStyle/>
          <a:p>
            <a:r>
              <a:rPr lang="en-US" dirty="0" smtClean="0"/>
              <a:t>This document contains example resources that you can copy and customize for your Project Management Plan (PMP).</a:t>
            </a:r>
          </a:p>
          <a:p>
            <a:r>
              <a:rPr lang="en-US" dirty="0" smtClean="0"/>
              <a:t>You can copy the items into a Word PMP or a Presentation PMP.</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2</a:t>
            </a:fld>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Management – Change Management</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3</a:t>
            </a:fld>
            <a:endParaRPr lang="en-US" dirty="0"/>
          </a:p>
        </p:txBody>
      </p:sp>
      <p:cxnSp>
        <p:nvCxnSpPr>
          <p:cNvPr id="6" name="Straight Arrow Connector 5"/>
          <p:cNvCxnSpPr/>
          <p:nvPr/>
        </p:nvCxnSpPr>
        <p:spPr>
          <a:xfrm>
            <a:off x="7360861" y="3456639"/>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372585" y="4776915"/>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07692" y="2262482"/>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Create Suggested Change Request (CR)</a:t>
            </a:r>
            <a:endParaRPr lang="en-US" sz="2000" dirty="0">
              <a:solidFill>
                <a:schemeClr val="tx1"/>
              </a:solidFill>
            </a:endParaRPr>
          </a:p>
        </p:txBody>
      </p:sp>
      <p:sp>
        <p:nvSpPr>
          <p:cNvPr id="9" name="Rectangle 8"/>
          <p:cNvSpPr/>
          <p:nvPr/>
        </p:nvSpPr>
        <p:spPr>
          <a:xfrm>
            <a:off x="3609701" y="2262482"/>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Evaluate Impact to Effort and Timeline</a:t>
            </a:r>
            <a:endParaRPr lang="en-US" sz="2000" dirty="0">
              <a:solidFill>
                <a:schemeClr val="tx1"/>
              </a:solidFill>
            </a:endParaRPr>
          </a:p>
        </p:txBody>
      </p:sp>
      <p:sp>
        <p:nvSpPr>
          <p:cNvPr id="10" name="Rectangle 9"/>
          <p:cNvSpPr/>
          <p:nvPr/>
        </p:nvSpPr>
        <p:spPr>
          <a:xfrm>
            <a:off x="9128378" y="230111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 and Close Request</a:t>
            </a:r>
            <a:endParaRPr lang="en-US" sz="2000" dirty="0">
              <a:solidFill>
                <a:schemeClr val="tx1"/>
              </a:solidFill>
            </a:endParaRPr>
          </a:p>
        </p:txBody>
      </p:sp>
      <p:sp>
        <p:nvSpPr>
          <p:cNvPr id="11" name="Rectangle 10"/>
          <p:cNvSpPr/>
          <p:nvPr/>
        </p:nvSpPr>
        <p:spPr>
          <a:xfrm>
            <a:off x="6366422" y="388628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7. Draft and Execute Contract Change Order</a:t>
            </a:r>
            <a:endParaRPr lang="en-US" sz="2000" dirty="0">
              <a:solidFill>
                <a:schemeClr val="tx1"/>
              </a:solidFill>
            </a:endParaRPr>
          </a:p>
        </p:txBody>
      </p:sp>
      <p:sp>
        <p:nvSpPr>
          <p:cNvPr id="12" name="Rectangle 11"/>
          <p:cNvSpPr/>
          <p:nvPr/>
        </p:nvSpPr>
        <p:spPr>
          <a:xfrm>
            <a:off x="6366422" y="52132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8. Update Project Documents (</a:t>
            </a:r>
            <a:r>
              <a:rPr lang="en-US" sz="2000" dirty="0" err="1" smtClean="0">
                <a:solidFill>
                  <a:schemeClr val="tx1"/>
                </a:solidFill>
              </a:rPr>
              <a:t>Workplan</a:t>
            </a:r>
            <a:r>
              <a:rPr lang="en-US" sz="2000" dirty="0" smtClean="0">
                <a:solidFill>
                  <a:schemeClr val="tx1"/>
                </a:solidFill>
              </a:rPr>
              <a:t>, etc.)</a:t>
            </a:r>
            <a:endParaRPr lang="en-US" sz="2000" dirty="0">
              <a:solidFill>
                <a:schemeClr val="tx1"/>
              </a:solidFill>
            </a:endParaRPr>
          </a:p>
        </p:txBody>
      </p:sp>
      <p:sp>
        <p:nvSpPr>
          <p:cNvPr id="13" name="Diamond 12"/>
          <p:cNvSpPr/>
          <p:nvPr/>
        </p:nvSpPr>
        <p:spPr>
          <a:xfrm>
            <a:off x="6110278" y="2085999"/>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Approved?</a:t>
            </a:r>
            <a:endParaRPr lang="en-US" sz="2000" dirty="0">
              <a:solidFill>
                <a:schemeClr val="tx1"/>
              </a:solidFill>
            </a:endParaRPr>
          </a:p>
        </p:txBody>
      </p:sp>
      <p:sp>
        <p:nvSpPr>
          <p:cNvPr id="14" name="TextBox 13"/>
          <p:cNvSpPr txBox="1"/>
          <p:nvPr/>
        </p:nvSpPr>
        <p:spPr>
          <a:xfrm>
            <a:off x="6765247" y="3512728"/>
            <a:ext cx="741472" cy="369332"/>
          </a:xfrm>
          <a:prstGeom prst="rect">
            <a:avLst/>
          </a:prstGeom>
          <a:noFill/>
        </p:spPr>
        <p:txBody>
          <a:bodyPr wrap="square" rtlCol="0">
            <a:spAutoFit/>
          </a:bodyPr>
          <a:lstStyle/>
          <a:p>
            <a:r>
              <a:rPr lang="en-US" b="1" dirty="0" smtClean="0">
                <a:solidFill>
                  <a:schemeClr val="tx2"/>
                </a:solidFill>
              </a:rPr>
              <a:t>Yes</a:t>
            </a:r>
          </a:p>
        </p:txBody>
      </p:sp>
      <p:sp>
        <p:nvSpPr>
          <p:cNvPr id="15" name="TextBox 14"/>
          <p:cNvSpPr txBox="1"/>
          <p:nvPr/>
        </p:nvSpPr>
        <p:spPr>
          <a:xfrm>
            <a:off x="8542664" y="2435968"/>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16" name="Straight Arrow Connector 15"/>
          <p:cNvCxnSpPr/>
          <p:nvPr/>
        </p:nvCxnSpPr>
        <p:spPr>
          <a:xfrm>
            <a:off x="3002926" y="2851454"/>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8551706" y="2871550"/>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560718" y="2851454"/>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65212" y="1527132"/>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20" name="TextBox 19"/>
          <p:cNvSpPr txBox="1"/>
          <p:nvPr/>
        </p:nvSpPr>
        <p:spPr>
          <a:xfrm>
            <a:off x="3656012" y="1794726"/>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21" name="TextBox 20"/>
          <p:cNvSpPr txBox="1"/>
          <p:nvPr/>
        </p:nvSpPr>
        <p:spPr>
          <a:xfrm>
            <a:off x="6144840" y="1374732"/>
            <a:ext cx="2438399" cy="711316"/>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Project Owners,</a:t>
            </a:r>
            <a:br>
              <a:rPr lang="en-US" dirty="0" smtClean="0">
                <a:solidFill>
                  <a:schemeClr val="accent1"/>
                </a:solidFill>
              </a:rPr>
            </a:br>
            <a:r>
              <a:rPr lang="en-US" dirty="0" smtClean="0">
                <a:solidFill>
                  <a:schemeClr val="accent1"/>
                </a:solidFill>
              </a:rPr>
              <a:t>CCB</a:t>
            </a:r>
          </a:p>
        </p:txBody>
      </p:sp>
      <p:sp>
        <p:nvSpPr>
          <p:cNvPr id="22" name="TextBox 21"/>
          <p:cNvSpPr txBox="1"/>
          <p:nvPr/>
        </p:nvSpPr>
        <p:spPr>
          <a:xfrm>
            <a:off x="9218612" y="15271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25" name="Rectangle 24"/>
          <p:cNvSpPr/>
          <p:nvPr/>
        </p:nvSpPr>
        <p:spPr>
          <a:xfrm>
            <a:off x="1032935" y="388628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26" name="Straight Arrow Connector 25"/>
          <p:cNvCxnSpPr/>
          <p:nvPr/>
        </p:nvCxnSpPr>
        <p:spPr>
          <a:xfrm>
            <a:off x="1947335" y="3330416"/>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609701" y="523541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Update Log</a:t>
            </a:r>
            <a:endParaRPr lang="en-US" sz="2000" dirty="0">
              <a:solidFill>
                <a:schemeClr val="tx1"/>
              </a:solidFill>
            </a:endParaRPr>
          </a:p>
        </p:txBody>
      </p:sp>
      <p:cxnSp>
        <p:nvCxnSpPr>
          <p:cNvPr id="29" name="Straight Arrow Connector 28"/>
          <p:cNvCxnSpPr>
            <a:stCxn id="12" idx="1"/>
            <a:endCxn id="28" idx="3"/>
          </p:cNvCxnSpPr>
          <p:nvPr/>
        </p:nvCxnSpPr>
        <p:spPr>
          <a:xfrm flipH="1">
            <a:off x="5604935" y="5757891"/>
            <a:ext cx="761487" cy="2211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046412" y="40417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32" name="TextBox 31"/>
          <p:cNvSpPr txBox="1"/>
          <p:nvPr/>
        </p:nvSpPr>
        <p:spPr>
          <a:xfrm>
            <a:off x="8380412" y="40417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33" name="TextBox 32"/>
          <p:cNvSpPr txBox="1"/>
          <p:nvPr/>
        </p:nvSpPr>
        <p:spPr>
          <a:xfrm>
            <a:off x="8380412" y="54133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34" name="TextBox 33"/>
          <p:cNvSpPr txBox="1"/>
          <p:nvPr/>
        </p:nvSpPr>
        <p:spPr>
          <a:xfrm>
            <a:off x="1751012" y="5413332"/>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2" y="228600"/>
            <a:ext cx="11125200" cy="533400"/>
          </a:xfrm>
        </p:spPr>
        <p:txBody>
          <a:bodyPr/>
          <a:lstStyle/>
          <a:p>
            <a:r>
              <a:rPr lang="en-US" dirty="0" smtClean="0"/>
              <a:t>Risk Management – 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a:t>
            </a:fld>
            <a:endParaRPr lang="en-US" dirty="0"/>
          </a:p>
        </p:txBody>
      </p:sp>
      <p:cxnSp>
        <p:nvCxnSpPr>
          <p:cNvPr id="6" name="Straight Arrow Connector 5"/>
          <p:cNvCxnSpPr/>
          <p:nvPr/>
        </p:nvCxnSpPr>
        <p:spPr>
          <a:xfrm>
            <a:off x="8230144" y="3456506"/>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8241868" y="4776782"/>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041778" y="8382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Identify Risk</a:t>
            </a:r>
          </a:p>
          <a:p>
            <a:pPr algn="ctr"/>
            <a:r>
              <a:rPr lang="en-US" sz="2000" dirty="0" smtClean="0">
                <a:solidFill>
                  <a:schemeClr val="tx1"/>
                </a:solidFill>
              </a:rPr>
              <a:t>(Risk Form)</a:t>
            </a:r>
            <a:endParaRPr lang="en-US" sz="2000" dirty="0">
              <a:solidFill>
                <a:schemeClr val="tx1"/>
              </a:solidFill>
            </a:endParaRPr>
          </a:p>
        </p:txBody>
      </p:sp>
      <p:sp>
        <p:nvSpPr>
          <p:cNvPr id="9" name="Rectangle 8"/>
          <p:cNvSpPr/>
          <p:nvPr/>
        </p:nvSpPr>
        <p:spPr>
          <a:xfrm>
            <a:off x="4464039" y="8382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Assign Risk</a:t>
            </a:r>
            <a:endParaRPr lang="en-US" sz="2000" dirty="0">
              <a:solidFill>
                <a:schemeClr val="tx1"/>
              </a:solidFill>
            </a:endParaRPr>
          </a:p>
        </p:txBody>
      </p:sp>
      <p:sp>
        <p:nvSpPr>
          <p:cNvPr id="10" name="Rectangle 9"/>
          <p:cNvSpPr/>
          <p:nvPr/>
        </p:nvSpPr>
        <p:spPr>
          <a:xfrm>
            <a:off x="9966578" y="2209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Update Log and Close Risk</a:t>
            </a:r>
            <a:endParaRPr lang="en-US" sz="2000" dirty="0">
              <a:solidFill>
                <a:schemeClr val="tx1"/>
              </a:solidFill>
            </a:endParaRPr>
          </a:p>
        </p:txBody>
      </p:sp>
      <p:sp>
        <p:nvSpPr>
          <p:cNvPr id="11" name="Rectangle 10"/>
          <p:cNvSpPr/>
          <p:nvPr/>
        </p:nvSpPr>
        <p:spPr>
          <a:xfrm>
            <a:off x="7235705" y="388614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Develop (Review) Risk Mitigation Plan</a:t>
            </a:r>
            <a:endParaRPr lang="en-US" sz="2000" dirty="0">
              <a:solidFill>
                <a:schemeClr val="tx1"/>
              </a:solidFill>
            </a:endParaRPr>
          </a:p>
        </p:txBody>
      </p:sp>
      <p:sp>
        <p:nvSpPr>
          <p:cNvPr id="12" name="Rectangle 11"/>
          <p:cNvSpPr/>
          <p:nvPr/>
        </p:nvSpPr>
        <p:spPr>
          <a:xfrm>
            <a:off x="4449095" y="5257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Manage (Review) Risk</a:t>
            </a:r>
            <a:endParaRPr lang="en-US" sz="2000" dirty="0">
              <a:solidFill>
                <a:schemeClr val="tx1"/>
              </a:solidFill>
            </a:endParaRPr>
          </a:p>
        </p:txBody>
      </p:sp>
      <p:sp>
        <p:nvSpPr>
          <p:cNvPr id="13" name="Diamond 12"/>
          <p:cNvSpPr/>
          <p:nvPr/>
        </p:nvSpPr>
        <p:spPr>
          <a:xfrm>
            <a:off x="6979561" y="1981200"/>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14" name="TextBox 13"/>
          <p:cNvSpPr txBox="1"/>
          <p:nvPr/>
        </p:nvSpPr>
        <p:spPr>
          <a:xfrm>
            <a:off x="7634530" y="3512595"/>
            <a:ext cx="741472" cy="369332"/>
          </a:xfrm>
          <a:prstGeom prst="rect">
            <a:avLst/>
          </a:prstGeom>
          <a:noFill/>
        </p:spPr>
        <p:txBody>
          <a:bodyPr wrap="square" rtlCol="0">
            <a:spAutoFit/>
          </a:bodyPr>
          <a:lstStyle/>
          <a:p>
            <a:r>
              <a:rPr lang="en-US" b="1" dirty="0" smtClean="0">
                <a:solidFill>
                  <a:schemeClr val="tx2"/>
                </a:solidFill>
              </a:rPr>
              <a:t>Yes</a:t>
            </a:r>
          </a:p>
        </p:txBody>
      </p:sp>
      <p:sp>
        <p:nvSpPr>
          <p:cNvPr id="15" name="TextBox 14"/>
          <p:cNvSpPr txBox="1"/>
          <p:nvPr/>
        </p:nvSpPr>
        <p:spPr>
          <a:xfrm>
            <a:off x="9411947" y="2344649"/>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16" name="Straight Arrow Connector 15"/>
          <p:cNvCxnSpPr>
            <a:endCxn id="9" idx="1"/>
          </p:cNvCxnSpPr>
          <p:nvPr/>
        </p:nvCxnSpPr>
        <p:spPr>
          <a:xfrm>
            <a:off x="4037012" y="1371600"/>
            <a:ext cx="427027" cy="1119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420989" y="2780231"/>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430001" y="2760135"/>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2041778" y="2347214"/>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26" name="Straight Arrow Connector 25"/>
          <p:cNvCxnSpPr>
            <a:stCxn id="8" idx="2"/>
            <a:endCxn id="25" idx="0"/>
          </p:cNvCxnSpPr>
          <p:nvPr/>
        </p:nvCxnSpPr>
        <p:spPr>
          <a:xfrm>
            <a:off x="3039395" y="1927384"/>
            <a:ext cx="0" cy="419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407869" y="2632048"/>
            <a:ext cx="1613226" cy="400966"/>
          </a:xfrm>
          <a:prstGeom prst="rect">
            <a:avLst/>
          </a:prstGeom>
          <a:noFill/>
        </p:spPr>
        <p:txBody>
          <a:bodyPr wrap="square" lIns="0" tIns="0" rIns="0" bIns="0" rtlCol="0">
            <a:noAutofit/>
          </a:bodyPr>
          <a:lstStyle/>
          <a:p>
            <a:pPr algn="ctr">
              <a:lnSpc>
                <a:spcPct val="90000"/>
              </a:lnSpc>
            </a:pPr>
            <a:r>
              <a:rPr lang="en-US" sz="2000" dirty="0" smtClean="0"/>
              <a:t>4. Valid</a:t>
            </a:r>
          </a:p>
        </p:txBody>
      </p:sp>
      <p:sp>
        <p:nvSpPr>
          <p:cNvPr id="34" name="Rectangle 33"/>
          <p:cNvSpPr/>
          <p:nvPr/>
        </p:nvSpPr>
        <p:spPr>
          <a:xfrm>
            <a:off x="7192295" y="5257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a:t>
            </a:r>
            <a:endParaRPr lang="en-US" sz="2000" dirty="0">
              <a:solidFill>
                <a:schemeClr val="tx1"/>
              </a:solidFill>
            </a:endParaRPr>
          </a:p>
        </p:txBody>
      </p:sp>
      <p:cxnSp>
        <p:nvCxnSpPr>
          <p:cNvPr id="35" name="Straight Arrow Connector 34"/>
          <p:cNvCxnSpPr>
            <a:stCxn id="34" idx="1"/>
            <a:endCxn id="12" idx="3"/>
          </p:cNvCxnSpPr>
          <p:nvPr/>
        </p:nvCxnSpPr>
        <p:spPr>
          <a:xfrm flipH="1">
            <a:off x="6444329" y="5802392"/>
            <a:ext cx="7479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464039" y="2347214"/>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Analyze Risk</a:t>
            </a:r>
            <a:endParaRPr lang="en-US" sz="2000" dirty="0">
              <a:solidFill>
                <a:schemeClr val="tx1"/>
              </a:solidFill>
            </a:endParaRPr>
          </a:p>
        </p:txBody>
      </p:sp>
      <p:cxnSp>
        <p:nvCxnSpPr>
          <p:cNvPr id="24" name="Straight Arrow Connector 23"/>
          <p:cNvCxnSpPr>
            <a:stCxn id="9" idx="2"/>
            <a:endCxn id="23" idx="0"/>
          </p:cNvCxnSpPr>
          <p:nvPr/>
        </p:nvCxnSpPr>
        <p:spPr>
          <a:xfrm>
            <a:off x="5461656" y="1927384"/>
            <a:ext cx="0" cy="419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4449095" y="388614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&amp; 6. Update Log</a:t>
            </a:r>
            <a:endParaRPr lang="en-US" sz="2000" dirty="0">
              <a:solidFill>
                <a:schemeClr val="tx1"/>
              </a:solidFill>
            </a:endParaRPr>
          </a:p>
        </p:txBody>
      </p:sp>
      <p:cxnSp>
        <p:nvCxnSpPr>
          <p:cNvPr id="38" name="Straight Arrow Connector 37"/>
          <p:cNvCxnSpPr>
            <a:endCxn id="37" idx="0"/>
          </p:cNvCxnSpPr>
          <p:nvPr/>
        </p:nvCxnSpPr>
        <p:spPr>
          <a:xfrm>
            <a:off x="5439695" y="3429000"/>
            <a:ext cx="7017" cy="4571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0"/>
            <a:endCxn id="37" idx="2"/>
          </p:cNvCxnSpPr>
          <p:nvPr/>
        </p:nvCxnSpPr>
        <p:spPr>
          <a:xfrm flipV="1">
            <a:off x="5446712" y="4975331"/>
            <a:ext cx="0" cy="282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7" idx="3"/>
            <a:endCxn id="11" idx="1"/>
          </p:cNvCxnSpPr>
          <p:nvPr/>
        </p:nvCxnSpPr>
        <p:spPr>
          <a:xfrm>
            <a:off x="6444329" y="4430739"/>
            <a:ext cx="79137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7" name="Rectangle 106"/>
          <p:cNvSpPr/>
          <p:nvPr/>
        </p:nvSpPr>
        <p:spPr>
          <a:xfrm>
            <a:off x="4830095" y="2438400"/>
            <a:ext cx="1244251" cy="341632"/>
          </a:xfrm>
          <a:prstGeom prst="rect">
            <a:avLst/>
          </a:prstGeom>
        </p:spPr>
        <p:txBody>
          <a:bodyPr wrap="none">
            <a:spAutoFit/>
          </a:bodyPr>
          <a:lstStyle/>
          <a:p>
            <a:pPr algn="ctr">
              <a:lnSpc>
                <a:spcPct val="90000"/>
              </a:lnSpc>
            </a:pPr>
            <a:r>
              <a:rPr lang="en-US" dirty="0" smtClean="0">
                <a:solidFill>
                  <a:schemeClr val="accent1"/>
                </a:solidFill>
              </a:rPr>
              <a:t>Risk Owner</a:t>
            </a:r>
          </a:p>
        </p:txBody>
      </p:sp>
      <p:sp>
        <p:nvSpPr>
          <p:cNvPr id="36" name="TextBox 35"/>
          <p:cNvSpPr txBox="1"/>
          <p:nvPr/>
        </p:nvSpPr>
        <p:spPr>
          <a:xfrm>
            <a:off x="227012" y="762000"/>
            <a:ext cx="1752600" cy="1219200"/>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a:t>
            </a:r>
            <a:br>
              <a:rPr lang="en-US" dirty="0" smtClean="0">
                <a:solidFill>
                  <a:schemeClr val="accent1"/>
                </a:solidFill>
              </a:rPr>
            </a:br>
            <a:r>
              <a:rPr lang="en-US" dirty="0" smtClean="0">
                <a:solidFill>
                  <a:schemeClr val="accent1"/>
                </a:solidFill>
              </a:rPr>
              <a:t>Team Member,</a:t>
            </a:r>
            <a:br>
              <a:rPr lang="en-US" dirty="0" smtClean="0">
                <a:solidFill>
                  <a:schemeClr val="accent1"/>
                </a:solidFill>
              </a:rPr>
            </a:br>
            <a:r>
              <a:rPr lang="en-US" dirty="0" smtClean="0">
                <a:solidFill>
                  <a:schemeClr val="accent1"/>
                </a:solidFill>
              </a:rPr>
              <a:t>Team Lead, PM, etc.)</a:t>
            </a:r>
          </a:p>
        </p:txBody>
      </p:sp>
      <p:sp>
        <p:nvSpPr>
          <p:cNvPr id="55" name="TextBox 54"/>
          <p:cNvSpPr txBox="1"/>
          <p:nvPr/>
        </p:nvSpPr>
        <p:spPr>
          <a:xfrm>
            <a:off x="6475412" y="9906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56" name="TextBox 55"/>
          <p:cNvSpPr txBox="1"/>
          <p:nvPr/>
        </p:nvSpPr>
        <p:spPr>
          <a:xfrm>
            <a:off x="10056812" y="1447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57" name="TextBox 56"/>
          <p:cNvSpPr txBox="1"/>
          <p:nvPr/>
        </p:nvSpPr>
        <p:spPr>
          <a:xfrm>
            <a:off x="227012" y="24384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59" name="TextBox 58"/>
          <p:cNvSpPr txBox="1"/>
          <p:nvPr/>
        </p:nvSpPr>
        <p:spPr>
          <a:xfrm>
            <a:off x="9218612" y="40386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Risk Owner</a:t>
            </a:r>
          </a:p>
        </p:txBody>
      </p:sp>
      <p:sp>
        <p:nvSpPr>
          <p:cNvPr id="60" name="TextBox 59"/>
          <p:cNvSpPr txBox="1"/>
          <p:nvPr/>
        </p:nvSpPr>
        <p:spPr>
          <a:xfrm>
            <a:off x="2589212" y="54102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Risk Owner</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 – 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5</a:t>
            </a:fld>
            <a:endParaRPr lang="en-US" dirty="0"/>
          </a:p>
        </p:txBody>
      </p:sp>
      <p:cxnSp>
        <p:nvCxnSpPr>
          <p:cNvPr id="31" name="Straight Arrow Connector 30"/>
          <p:cNvCxnSpPr/>
          <p:nvPr/>
        </p:nvCxnSpPr>
        <p:spPr>
          <a:xfrm>
            <a:off x="7360861" y="3478756"/>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7372585" y="4799032"/>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007692" y="22845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Raise Issue</a:t>
            </a:r>
          </a:p>
          <a:p>
            <a:pPr algn="ctr"/>
            <a:r>
              <a:rPr lang="en-US" sz="2000" dirty="0" smtClean="0">
                <a:solidFill>
                  <a:schemeClr val="tx1"/>
                </a:solidFill>
              </a:rPr>
              <a:t>(Issue Form)</a:t>
            </a:r>
            <a:endParaRPr lang="en-US" sz="2000" dirty="0">
              <a:solidFill>
                <a:schemeClr val="tx1"/>
              </a:solidFill>
            </a:endParaRPr>
          </a:p>
        </p:txBody>
      </p:sp>
      <p:sp>
        <p:nvSpPr>
          <p:cNvPr id="34" name="Rectangle 33"/>
          <p:cNvSpPr/>
          <p:nvPr/>
        </p:nvSpPr>
        <p:spPr>
          <a:xfrm>
            <a:off x="3609701" y="228459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 Assign</a:t>
            </a:r>
            <a:endParaRPr lang="en-US" sz="2000" dirty="0">
              <a:solidFill>
                <a:schemeClr val="tx1"/>
              </a:solidFill>
            </a:endParaRPr>
          </a:p>
        </p:txBody>
      </p:sp>
      <p:sp>
        <p:nvSpPr>
          <p:cNvPr id="35" name="Rectangle 34"/>
          <p:cNvSpPr/>
          <p:nvPr/>
        </p:nvSpPr>
        <p:spPr>
          <a:xfrm>
            <a:off x="9128378" y="232323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Follow Escalation Process</a:t>
            </a:r>
            <a:endParaRPr lang="en-US" sz="2000" dirty="0">
              <a:solidFill>
                <a:schemeClr val="tx1"/>
              </a:solidFill>
            </a:endParaRPr>
          </a:p>
        </p:txBody>
      </p:sp>
      <p:sp>
        <p:nvSpPr>
          <p:cNvPr id="36" name="Rectangle 35"/>
          <p:cNvSpPr/>
          <p:nvPr/>
        </p:nvSpPr>
        <p:spPr>
          <a:xfrm>
            <a:off x="6366422" y="390839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Track Issue to Completion</a:t>
            </a:r>
            <a:endParaRPr lang="en-US" sz="2000" dirty="0">
              <a:solidFill>
                <a:schemeClr val="tx1"/>
              </a:solidFill>
            </a:endParaRPr>
          </a:p>
        </p:txBody>
      </p:sp>
      <p:sp>
        <p:nvSpPr>
          <p:cNvPr id="37" name="Rectangle 36"/>
          <p:cNvSpPr/>
          <p:nvPr/>
        </p:nvSpPr>
        <p:spPr>
          <a:xfrm>
            <a:off x="6366422" y="5235416"/>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 Update Log</a:t>
            </a:r>
            <a:endParaRPr lang="en-US" sz="2000" dirty="0">
              <a:solidFill>
                <a:schemeClr val="tx1"/>
              </a:solidFill>
            </a:endParaRPr>
          </a:p>
        </p:txBody>
      </p:sp>
      <p:sp>
        <p:nvSpPr>
          <p:cNvPr id="38" name="Diamond 37"/>
          <p:cNvSpPr/>
          <p:nvPr/>
        </p:nvSpPr>
        <p:spPr>
          <a:xfrm>
            <a:off x="6110278" y="2108116"/>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39" name="TextBox 38"/>
          <p:cNvSpPr txBox="1"/>
          <p:nvPr/>
        </p:nvSpPr>
        <p:spPr>
          <a:xfrm>
            <a:off x="6765247" y="3534845"/>
            <a:ext cx="741472" cy="369332"/>
          </a:xfrm>
          <a:prstGeom prst="rect">
            <a:avLst/>
          </a:prstGeom>
          <a:noFill/>
        </p:spPr>
        <p:txBody>
          <a:bodyPr wrap="square" rtlCol="0">
            <a:spAutoFit/>
          </a:bodyPr>
          <a:lstStyle/>
          <a:p>
            <a:r>
              <a:rPr lang="en-US" b="1" dirty="0" smtClean="0">
                <a:solidFill>
                  <a:schemeClr val="tx2"/>
                </a:solidFill>
              </a:rPr>
              <a:t>Yes</a:t>
            </a:r>
          </a:p>
        </p:txBody>
      </p:sp>
      <p:sp>
        <p:nvSpPr>
          <p:cNvPr id="40" name="TextBox 39"/>
          <p:cNvSpPr txBox="1"/>
          <p:nvPr/>
        </p:nvSpPr>
        <p:spPr>
          <a:xfrm>
            <a:off x="8542664" y="2458085"/>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41" name="Straight Arrow Connector 40"/>
          <p:cNvCxnSpPr/>
          <p:nvPr/>
        </p:nvCxnSpPr>
        <p:spPr>
          <a:xfrm>
            <a:off x="3002926" y="2873571"/>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8551706" y="2893667"/>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560718" y="2873571"/>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627812" y="2689117"/>
            <a:ext cx="1524000" cy="304800"/>
          </a:xfrm>
          <a:prstGeom prst="rect">
            <a:avLst/>
          </a:prstGeom>
          <a:noFill/>
        </p:spPr>
        <p:txBody>
          <a:bodyPr wrap="none" lIns="0" tIns="0" rIns="0" bIns="0" rtlCol="0">
            <a:noAutofit/>
          </a:bodyPr>
          <a:lstStyle/>
          <a:p>
            <a:pPr algn="ctr">
              <a:lnSpc>
                <a:spcPct val="90000"/>
              </a:lnSpc>
            </a:pPr>
            <a:r>
              <a:rPr lang="en-US" sz="2000" dirty="0" smtClean="0"/>
              <a:t>4. Resolvable?</a:t>
            </a:r>
          </a:p>
        </p:txBody>
      </p:sp>
      <p:sp>
        <p:nvSpPr>
          <p:cNvPr id="50" name="Rectangle 49"/>
          <p:cNvSpPr/>
          <p:nvPr/>
        </p:nvSpPr>
        <p:spPr>
          <a:xfrm>
            <a:off x="1032935" y="3908397"/>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51" name="Straight Arrow Connector 50"/>
          <p:cNvCxnSpPr/>
          <p:nvPr/>
        </p:nvCxnSpPr>
        <p:spPr>
          <a:xfrm>
            <a:off x="1947335" y="3352533"/>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065212" y="1546117"/>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29" name="TextBox 28"/>
          <p:cNvSpPr txBox="1"/>
          <p:nvPr/>
        </p:nvSpPr>
        <p:spPr>
          <a:xfrm>
            <a:off x="3656012" y="1791595"/>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30" name="TextBox 29"/>
          <p:cNvSpPr txBox="1"/>
          <p:nvPr/>
        </p:nvSpPr>
        <p:spPr>
          <a:xfrm>
            <a:off x="6144840" y="1371600"/>
            <a:ext cx="2438399" cy="711316"/>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54" name="TextBox 53"/>
          <p:cNvSpPr txBox="1"/>
          <p:nvPr/>
        </p:nvSpPr>
        <p:spPr>
          <a:xfrm>
            <a:off x="3046412" y="4114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55" name="TextBox 54"/>
          <p:cNvSpPr txBox="1"/>
          <p:nvPr/>
        </p:nvSpPr>
        <p:spPr>
          <a:xfrm>
            <a:off x="8380412" y="4114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56" name="TextBox 55"/>
          <p:cNvSpPr txBox="1"/>
          <p:nvPr/>
        </p:nvSpPr>
        <p:spPr>
          <a:xfrm>
            <a:off x="8380412" y="54102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Management </a:t>
            </a:r>
            <a:r>
              <a:rPr lang="en-US" smtClean="0"/>
              <a:t>– </a:t>
            </a:r>
            <a:r>
              <a:rPr lang="en-US" smtClean="0"/>
              <a:t>Flow</a:t>
            </a:r>
            <a:endParaRPr lang="en-US" dirty="0"/>
          </a:p>
        </p:txBody>
      </p:sp>
      <p:sp>
        <p:nvSpPr>
          <p:cNvPr id="4" name="Footer Placeholder 3"/>
          <p:cNvSpPr>
            <a:spLocks noGrp="1"/>
          </p:cNvSpPr>
          <p:nvPr>
            <p:ph type="ftr" sz="quarter" idx="11"/>
          </p:nvPr>
        </p:nvSpPr>
        <p:spPr/>
        <p:txBody>
          <a:bodyPr/>
          <a:lstStyle/>
          <a:p>
            <a:r>
              <a:rPr lang="en-US" smtClean="0"/>
              <a:t>Confidential – Oracle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6</a:t>
            </a:fld>
            <a:endParaRPr lang="en-US" dirty="0"/>
          </a:p>
        </p:txBody>
      </p:sp>
      <p:cxnSp>
        <p:nvCxnSpPr>
          <p:cNvPr id="31" name="Straight Arrow Connector 30"/>
          <p:cNvCxnSpPr/>
          <p:nvPr/>
        </p:nvCxnSpPr>
        <p:spPr>
          <a:xfrm>
            <a:off x="7360861" y="4024112"/>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007692" y="2829955"/>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1. Raise Problem</a:t>
            </a:r>
          </a:p>
          <a:p>
            <a:pPr algn="ctr"/>
            <a:r>
              <a:rPr lang="en-US" sz="2000" dirty="0" smtClean="0">
                <a:solidFill>
                  <a:schemeClr val="tx1"/>
                </a:solidFill>
              </a:rPr>
              <a:t>(Problem Form)</a:t>
            </a:r>
            <a:endParaRPr lang="en-US" sz="2000" dirty="0">
              <a:solidFill>
                <a:schemeClr val="tx1"/>
              </a:solidFill>
            </a:endParaRPr>
          </a:p>
        </p:txBody>
      </p:sp>
      <p:sp>
        <p:nvSpPr>
          <p:cNvPr id="33" name="Rectangle 32"/>
          <p:cNvSpPr/>
          <p:nvPr/>
        </p:nvSpPr>
        <p:spPr>
          <a:xfrm>
            <a:off x="3625839" y="2829955"/>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3.Assign</a:t>
            </a:r>
            <a:endParaRPr lang="en-US" sz="2000" dirty="0">
              <a:solidFill>
                <a:schemeClr val="tx1"/>
              </a:solidFill>
            </a:endParaRPr>
          </a:p>
        </p:txBody>
      </p:sp>
      <p:sp>
        <p:nvSpPr>
          <p:cNvPr id="34" name="Rectangle 33"/>
          <p:cNvSpPr/>
          <p:nvPr/>
        </p:nvSpPr>
        <p:spPr>
          <a:xfrm>
            <a:off x="9128378" y="2868592"/>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8. Follow Escalation Process</a:t>
            </a:r>
            <a:endParaRPr lang="en-US" sz="2000" dirty="0">
              <a:solidFill>
                <a:schemeClr val="tx1"/>
              </a:solidFill>
            </a:endParaRPr>
          </a:p>
        </p:txBody>
      </p:sp>
      <p:sp>
        <p:nvSpPr>
          <p:cNvPr id="35" name="Rectangle 34"/>
          <p:cNvSpPr/>
          <p:nvPr/>
        </p:nvSpPr>
        <p:spPr>
          <a:xfrm>
            <a:off x="6366422" y="4491773"/>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Test Passed?</a:t>
            </a:r>
            <a:endParaRPr lang="en-US" sz="2000" dirty="0">
              <a:solidFill>
                <a:schemeClr val="tx1"/>
              </a:solidFill>
            </a:endParaRPr>
          </a:p>
        </p:txBody>
      </p:sp>
      <p:sp>
        <p:nvSpPr>
          <p:cNvPr id="36" name="Diamond 35"/>
          <p:cNvSpPr/>
          <p:nvPr/>
        </p:nvSpPr>
        <p:spPr>
          <a:xfrm>
            <a:off x="6110278" y="2653472"/>
            <a:ext cx="2507522" cy="1562742"/>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37" name="TextBox 36"/>
          <p:cNvSpPr txBox="1"/>
          <p:nvPr/>
        </p:nvSpPr>
        <p:spPr>
          <a:xfrm>
            <a:off x="6765247" y="4080201"/>
            <a:ext cx="741472" cy="369332"/>
          </a:xfrm>
          <a:prstGeom prst="rect">
            <a:avLst/>
          </a:prstGeom>
          <a:noFill/>
        </p:spPr>
        <p:txBody>
          <a:bodyPr wrap="square" rtlCol="0">
            <a:spAutoFit/>
          </a:bodyPr>
          <a:lstStyle/>
          <a:p>
            <a:r>
              <a:rPr lang="en-US" b="1" dirty="0" smtClean="0">
                <a:solidFill>
                  <a:schemeClr val="tx2"/>
                </a:solidFill>
              </a:rPr>
              <a:t>Yes</a:t>
            </a:r>
          </a:p>
        </p:txBody>
      </p:sp>
      <p:sp>
        <p:nvSpPr>
          <p:cNvPr id="38" name="TextBox 37"/>
          <p:cNvSpPr txBox="1"/>
          <p:nvPr/>
        </p:nvSpPr>
        <p:spPr>
          <a:xfrm>
            <a:off x="8542664" y="3003441"/>
            <a:ext cx="577449" cy="369332"/>
          </a:xfrm>
          <a:prstGeom prst="rect">
            <a:avLst/>
          </a:prstGeom>
          <a:noFill/>
        </p:spPr>
        <p:txBody>
          <a:bodyPr wrap="square" rtlCol="0">
            <a:spAutoFit/>
          </a:bodyPr>
          <a:lstStyle/>
          <a:p>
            <a:r>
              <a:rPr lang="en-US" b="1" dirty="0" smtClean="0">
                <a:solidFill>
                  <a:schemeClr val="tx2"/>
                </a:solidFill>
              </a:rPr>
              <a:t>No</a:t>
            </a:r>
          </a:p>
        </p:txBody>
      </p:sp>
      <p:cxnSp>
        <p:nvCxnSpPr>
          <p:cNvPr id="39" name="Straight Arrow Connector 38"/>
          <p:cNvCxnSpPr/>
          <p:nvPr/>
        </p:nvCxnSpPr>
        <p:spPr>
          <a:xfrm>
            <a:off x="3002926" y="3418927"/>
            <a:ext cx="5881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8551706" y="3439023"/>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5560718" y="3418927"/>
            <a:ext cx="57294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627812" y="3234473"/>
            <a:ext cx="1524000" cy="304800"/>
          </a:xfrm>
          <a:prstGeom prst="rect">
            <a:avLst/>
          </a:prstGeom>
          <a:noFill/>
        </p:spPr>
        <p:txBody>
          <a:bodyPr wrap="none" lIns="0" tIns="0" rIns="0" bIns="0" rtlCol="0">
            <a:noAutofit/>
          </a:bodyPr>
          <a:lstStyle/>
          <a:p>
            <a:pPr algn="ctr">
              <a:lnSpc>
                <a:spcPct val="90000"/>
              </a:lnSpc>
            </a:pPr>
            <a:r>
              <a:rPr lang="en-US" sz="2000" dirty="0" smtClean="0"/>
              <a:t>4&amp;5. Problem Fixed?</a:t>
            </a:r>
          </a:p>
        </p:txBody>
      </p:sp>
      <p:sp>
        <p:nvSpPr>
          <p:cNvPr id="46" name="Rectangle 45"/>
          <p:cNvSpPr/>
          <p:nvPr/>
        </p:nvSpPr>
        <p:spPr>
          <a:xfrm>
            <a:off x="1032935" y="4491773"/>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 Add to Log</a:t>
            </a:r>
            <a:endParaRPr lang="en-US" sz="2000" dirty="0">
              <a:solidFill>
                <a:schemeClr val="tx1"/>
              </a:solidFill>
            </a:endParaRPr>
          </a:p>
        </p:txBody>
      </p:sp>
      <p:cxnSp>
        <p:nvCxnSpPr>
          <p:cNvPr id="47" name="Straight Arrow Connector 46"/>
          <p:cNvCxnSpPr/>
          <p:nvPr/>
        </p:nvCxnSpPr>
        <p:spPr>
          <a:xfrm>
            <a:off x="1947335" y="3897889"/>
            <a:ext cx="0"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9142412" y="4491773"/>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 Update Log and Close</a:t>
            </a:r>
            <a:endParaRPr lang="en-US" sz="2000" dirty="0">
              <a:solidFill>
                <a:schemeClr val="tx1"/>
              </a:solidFill>
            </a:endParaRPr>
          </a:p>
        </p:txBody>
      </p:sp>
      <p:cxnSp>
        <p:nvCxnSpPr>
          <p:cNvPr id="51" name="Straight Arrow Connector 50"/>
          <p:cNvCxnSpPr>
            <a:stCxn id="35" idx="3"/>
            <a:endCxn id="50" idx="1"/>
          </p:cNvCxnSpPr>
          <p:nvPr/>
        </p:nvCxnSpPr>
        <p:spPr>
          <a:xfrm>
            <a:off x="8361656" y="5036365"/>
            <a:ext cx="7807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8456612" y="4659868"/>
            <a:ext cx="533400" cy="369332"/>
          </a:xfrm>
          <a:prstGeom prst="rect">
            <a:avLst/>
          </a:prstGeom>
          <a:noFill/>
        </p:spPr>
        <p:txBody>
          <a:bodyPr wrap="square" rtlCol="0">
            <a:spAutoFit/>
          </a:bodyPr>
          <a:lstStyle/>
          <a:p>
            <a:r>
              <a:rPr lang="en-US" b="1" dirty="0" smtClean="0">
                <a:solidFill>
                  <a:schemeClr val="tx2"/>
                </a:solidFill>
              </a:rPr>
              <a:t>Yes</a:t>
            </a:r>
          </a:p>
        </p:txBody>
      </p:sp>
      <p:sp>
        <p:nvSpPr>
          <p:cNvPr id="53" name="Rectangle 52"/>
          <p:cNvSpPr/>
          <p:nvPr/>
        </p:nvSpPr>
        <p:spPr>
          <a:xfrm>
            <a:off x="3625839" y="4491773"/>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7. Start Again</a:t>
            </a:r>
            <a:endParaRPr lang="en-US" sz="2000" dirty="0">
              <a:solidFill>
                <a:schemeClr val="tx1"/>
              </a:solidFill>
            </a:endParaRPr>
          </a:p>
        </p:txBody>
      </p:sp>
      <p:cxnSp>
        <p:nvCxnSpPr>
          <p:cNvPr id="54" name="Straight Arrow Connector 53"/>
          <p:cNvCxnSpPr>
            <a:stCxn id="53" idx="0"/>
            <a:endCxn id="33" idx="2"/>
          </p:cNvCxnSpPr>
          <p:nvPr/>
        </p:nvCxnSpPr>
        <p:spPr>
          <a:xfrm flipV="1">
            <a:off x="4623456" y="3919139"/>
            <a:ext cx="0" cy="57263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5" idx="1"/>
            <a:endCxn id="53" idx="3"/>
          </p:cNvCxnSpPr>
          <p:nvPr/>
        </p:nvCxnSpPr>
        <p:spPr>
          <a:xfrm flipH="1">
            <a:off x="5621073" y="5036365"/>
            <a:ext cx="74534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9142412" y="106680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 Update Log and Close</a:t>
            </a:r>
            <a:endParaRPr lang="en-US" sz="2000" dirty="0">
              <a:solidFill>
                <a:schemeClr val="tx1"/>
              </a:solidFill>
            </a:endParaRPr>
          </a:p>
        </p:txBody>
      </p:sp>
      <p:cxnSp>
        <p:nvCxnSpPr>
          <p:cNvPr id="57" name="Straight Arrow Connector 56"/>
          <p:cNvCxnSpPr>
            <a:endCxn id="56" idx="1"/>
          </p:cNvCxnSpPr>
          <p:nvPr/>
        </p:nvCxnSpPr>
        <p:spPr>
          <a:xfrm flipV="1">
            <a:off x="7999412" y="1611392"/>
            <a:ext cx="1143000" cy="136040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7770812" y="1828800"/>
            <a:ext cx="1219200" cy="369332"/>
          </a:xfrm>
          <a:prstGeom prst="rect">
            <a:avLst/>
          </a:prstGeom>
          <a:noFill/>
        </p:spPr>
        <p:txBody>
          <a:bodyPr wrap="square" rtlCol="0">
            <a:spAutoFit/>
          </a:bodyPr>
          <a:lstStyle/>
          <a:p>
            <a:r>
              <a:rPr lang="en-US" b="1" dirty="0" smtClean="0">
                <a:solidFill>
                  <a:schemeClr val="tx2"/>
                </a:solidFill>
              </a:rPr>
              <a:t>Resolved</a:t>
            </a:r>
          </a:p>
        </p:txBody>
      </p:sp>
      <p:sp>
        <p:nvSpPr>
          <p:cNvPr id="59" name="TextBox 58"/>
          <p:cNvSpPr txBox="1"/>
          <p:nvPr/>
        </p:nvSpPr>
        <p:spPr>
          <a:xfrm>
            <a:off x="989012" y="2057400"/>
            <a:ext cx="1981200" cy="685799"/>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p>
          <a:p>
            <a:pPr algn="ctr">
              <a:lnSpc>
                <a:spcPct val="90000"/>
              </a:lnSpc>
            </a:pPr>
            <a:r>
              <a:rPr lang="en-US" dirty="0" smtClean="0">
                <a:solidFill>
                  <a:schemeClr val="accent1"/>
                </a:solidFill>
              </a:rPr>
              <a:t>(e.g., Any Project Team </a:t>
            </a:r>
            <a:br>
              <a:rPr lang="en-US" dirty="0" smtClean="0">
                <a:solidFill>
                  <a:schemeClr val="accent1"/>
                </a:solidFill>
              </a:rPr>
            </a:br>
            <a:r>
              <a:rPr lang="en-US" dirty="0" smtClean="0">
                <a:solidFill>
                  <a:schemeClr val="accent1"/>
                </a:solidFill>
              </a:rPr>
              <a:t>Member, Team Lead, PM, etc.)</a:t>
            </a:r>
          </a:p>
        </p:txBody>
      </p:sp>
      <p:sp>
        <p:nvSpPr>
          <p:cNvPr id="60" name="TextBox 59"/>
          <p:cNvSpPr txBox="1"/>
          <p:nvPr/>
        </p:nvSpPr>
        <p:spPr>
          <a:xfrm>
            <a:off x="3656012" y="2286000"/>
            <a:ext cx="1905000" cy="494405"/>
          </a:xfrm>
          <a:prstGeom prst="rect">
            <a:avLst/>
          </a:prstGeom>
          <a:noFill/>
        </p:spPr>
        <p:txBody>
          <a:bodyPr wrap="none" lIns="0" tIns="0" rIns="0" bIns="0" rtlCol="0">
            <a:noAutofit/>
          </a:bodyPr>
          <a:lstStyle/>
          <a:p>
            <a:pPr algn="ctr">
              <a:lnSpc>
                <a:spcPct val="90000"/>
              </a:lnSpc>
            </a:pPr>
            <a:r>
              <a:rPr lang="en-US" dirty="0" smtClean="0">
                <a:solidFill>
                  <a:schemeClr val="accent1"/>
                </a:solidFill>
              </a:rPr>
              <a:t>Role</a:t>
            </a:r>
            <a:br>
              <a:rPr lang="en-US" dirty="0" smtClean="0">
                <a:solidFill>
                  <a:schemeClr val="accent1"/>
                </a:solidFill>
              </a:rPr>
            </a:br>
            <a:r>
              <a:rPr lang="en-US" dirty="0" smtClean="0">
                <a:solidFill>
                  <a:schemeClr val="accent1"/>
                </a:solidFill>
              </a:rPr>
              <a:t>(e.g., Team Lead)</a:t>
            </a:r>
          </a:p>
        </p:txBody>
      </p:sp>
      <p:sp>
        <p:nvSpPr>
          <p:cNvPr id="61" name="TextBox 60"/>
          <p:cNvSpPr txBox="1"/>
          <p:nvPr/>
        </p:nvSpPr>
        <p:spPr>
          <a:xfrm>
            <a:off x="9218612" y="304800"/>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62" name="TextBox 61"/>
          <p:cNvSpPr txBox="1"/>
          <p:nvPr/>
        </p:nvSpPr>
        <p:spPr>
          <a:xfrm>
            <a:off x="6449639" y="2133601"/>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63" name="TextBox 62"/>
          <p:cNvSpPr txBox="1"/>
          <p:nvPr/>
        </p:nvSpPr>
        <p:spPr>
          <a:xfrm>
            <a:off x="5789612" y="4659868"/>
            <a:ext cx="533400" cy="369332"/>
          </a:xfrm>
          <a:prstGeom prst="rect">
            <a:avLst/>
          </a:prstGeom>
          <a:noFill/>
        </p:spPr>
        <p:txBody>
          <a:bodyPr wrap="square" rtlCol="0">
            <a:spAutoFit/>
          </a:bodyPr>
          <a:lstStyle/>
          <a:p>
            <a:r>
              <a:rPr lang="en-US" b="1" dirty="0" smtClean="0">
                <a:solidFill>
                  <a:schemeClr val="tx2"/>
                </a:solidFill>
              </a:rPr>
              <a:t>No</a:t>
            </a:r>
          </a:p>
        </p:txBody>
      </p:sp>
      <p:sp>
        <p:nvSpPr>
          <p:cNvPr id="64" name="TextBox 63"/>
          <p:cNvSpPr txBox="1"/>
          <p:nvPr/>
        </p:nvSpPr>
        <p:spPr>
          <a:xfrm>
            <a:off x="1065212" y="5562601"/>
            <a:ext cx="19050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Role</a:t>
            </a:r>
          </a:p>
        </p:txBody>
      </p:sp>
      <p:sp>
        <p:nvSpPr>
          <p:cNvPr id="65" name="TextBox 64"/>
          <p:cNvSpPr txBox="1"/>
          <p:nvPr/>
        </p:nvSpPr>
        <p:spPr>
          <a:xfrm>
            <a:off x="6399212" y="5562601"/>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66" name="TextBox 65"/>
          <p:cNvSpPr txBox="1"/>
          <p:nvPr/>
        </p:nvSpPr>
        <p:spPr>
          <a:xfrm>
            <a:off x="9218612" y="5562601"/>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
        <p:nvSpPr>
          <p:cNvPr id="67" name="TextBox 66"/>
          <p:cNvSpPr txBox="1"/>
          <p:nvPr/>
        </p:nvSpPr>
        <p:spPr>
          <a:xfrm>
            <a:off x="3656012" y="5562601"/>
            <a:ext cx="1828800" cy="761999"/>
          </a:xfrm>
          <a:prstGeom prst="rect">
            <a:avLst/>
          </a:prstGeom>
          <a:noFill/>
        </p:spPr>
        <p:txBody>
          <a:bodyPr wrap="none" lIns="0" tIns="0" rIns="0" bIns="0" rtlCol="0">
            <a:noAutofit/>
          </a:bodyPr>
          <a:lstStyle/>
          <a:p>
            <a:pPr algn="ctr">
              <a:lnSpc>
                <a:spcPct val="90000"/>
              </a:lnSpc>
            </a:pPr>
            <a:endParaRPr lang="en-US" dirty="0" smtClean="0">
              <a:solidFill>
                <a:schemeClr val="accent1"/>
              </a:solidFill>
            </a:endParaRPr>
          </a:p>
          <a:p>
            <a:pPr algn="ctr">
              <a:lnSpc>
                <a:spcPct val="90000"/>
              </a:lnSpc>
            </a:pPr>
            <a:r>
              <a:rPr lang="en-US" dirty="0" smtClean="0">
                <a:solidFill>
                  <a:schemeClr val="accent1"/>
                </a:solidFill>
              </a:rPr>
              <a:t>Assignee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Escalation Process</a:t>
            </a:r>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7</a:t>
            </a:fld>
            <a:endParaRPr lang="en-US" dirty="0"/>
          </a:p>
        </p:txBody>
      </p:sp>
      <p:sp>
        <p:nvSpPr>
          <p:cNvPr id="7" name="Rectangle 6"/>
          <p:cNvSpPr/>
          <p:nvPr/>
        </p:nvSpPr>
        <p:spPr>
          <a:xfrm>
            <a:off x="2055812"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Team Lead</a:t>
            </a:r>
            <a:endParaRPr lang="en-US" sz="2000" dirty="0">
              <a:solidFill>
                <a:schemeClr val="tx1"/>
              </a:solidFill>
            </a:endParaRPr>
          </a:p>
        </p:txBody>
      </p:sp>
      <p:sp>
        <p:nvSpPr>
          <p:cNvPr id="8" name="Rectangle 7"/>
          <p:cNvSpPr/>
          <p:nvPr/>
        </p:nvSpPr>
        <p:spPr>
          <a:xfrm>
            <a:off x="4556378"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Manager</a:t>
            </a:r>
            <a:endParaRPr lang="en-US" sz="2000" dirty="0">
              <a:solidFill>
                <a:schemeClr val="tx1"/>
              </a:solidFill>
            </a:endParaRPr>
          </a:p>
        </p:txBody>
      </p:sp>
      <p:sp>
        <p:nvSpPr>
          <p:cNvPr id="9" name="Rectangle 8"/>
          <p:cNvSpPr/>
          <p:nvPr/>
        </p:nvSpPr>
        <p:spPr>
          <a:xfrm>
            <a:off x="9495344"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Executive Sponsor</a:t>
            </a:r>
            <a:endParaRPr lang="en-US" sz="2000" dirty="0">
              <a:solidFill>
                <a:schemeClr val="tx1"/>
              </a:solidFill>
            </a:endParaRPr>
          </a:p>
        </p:txBody>
      </p:sp>
      <p:sp>
        <p:nvSpPr>
          <p:cNvPr id="10" name="Rectangle 9"/>
          <p:cNvSpPr/>
          <p:nvPr/>
        </p:nvSpPr>
        <p:spPr>
          <a:xfrm>
            <a:off x="7070978"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Owner</a:t>
            </a:r>
            <a:endParaRPr lang="en-US" sz="2000" dirty="0">
              <a:solidFill>
                <a:schemeClr val="tx1"/>
              </a:solidFill>
            </a:endParaRPr>
          </a:p>
        </p:txBody>
      </p:sp>
      <p:cxnSp>
        <p:nvCxnSpPr>
          <p:cNvPr id="14" name="Straight Arrow Connector 13"/>
          <p:cNvCxnSpPr/>
          <p:nvPr/>
        </p:nvCxnSpPr>
        <p:spPr>
          <a:xfrm>
            <a:off x="4037012" y="2482833"/>
            <a:ext cx="5334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551612" y="2482833"/>
            <a:ext cx="5193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055812"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Team Lead</a:t>
            </a:r>
            <a:endParaRPr lang="en-US" sz="2000" dirty="0">
              <a:solidFill>
                <a:schemeClr val="tx1"/>
              </a:solidFill>
            </a:endParaRPr>
          </a:p>
        </p:txBody>
      </p:sp>
      <p:cxnSp>
        <p:nvCxnSpPr>
          <p:cNvPr id="22" name="Straight Arrow Connector 21"/>
          <p:cNvCxnSpPr/>
          <p:nvPr/>
        </p:nvCxnSpPr>
        <p:spPr>
          <a:xfrm>
            <a:off x="4037012" y="4068842"/>
            <a:ext cx="5193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9509378"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Executive Sponsor</a:t>
            </a:r>
            <a:endParaRPr lang="en-US" sz="2000" dirty="0">
              <a:solidFill>
                <a:schemeClr val="tx1"/>
              </a:solidFill>
            </a:endParaRPr>
          </a:p>
        </p:txBody>
      </p:sp>
      <p:cxnSp>
        <p:nvCxnSpPr>
          <p:cNvPr id="26" name="Straight Arrow Connector 25"/>
          <p:cNvCxnSpPr>
            <a:stCxn id="10" idx="3"/>
          </p:cNvCxnSpPr>
          <p:nvPr/>
        </p:nvCxnSpPr>
        <p:spPr>
          <a:xfrm>
            <a:off x="9066212" y="4068842"/>
            <a:ext cx="4431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570412" y="3524250"/>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Manager</a:t>
            </a:r>
            <a:endParaRPr lang="en-US" sz="2000" dirty="0">
              <a:solidFill>
                <a:schemeClr val="tx1"/>
              </a:solidFill>
            </a:endParaRPr>
          </a:p>
        </p:txBody>
      </p:sp>
      <p:cxnSp>
        <p:nvCxnSpPr>
          <p:cNvPr id="30" name="Straight Arrow Connector 29"/>
          <p:cNvCxnSpPr>
            <a:stCxn id="28" idx="3"/>
            <a:endCxn id="10" idx="1"/>
          </p:cNvCxnSpPr>
          <p:nvPr/>
        </p:nvCxnSpPr>
        <p:spPr>
          <a:xfrm>
            <a:off x="6565646" y="4068842"/>
            <a:ext cx="50533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7070978" y="1912559"/>
            <a:ext cx="1995234" cy="10891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Project Owner</a:t>
            </a:r>
            <a:endParaRPr lang="en-US" sz="2000" dirty="0">
              <a:solidFill>
                <a:schemeClr val="tx1"/>
              </a:solidFill>
            </a:endParaRPr>
          </a:p>
        </p:txBody>
      </p:sp>
      <p:sp>
        <p:nvSpPr>
          <p:cNvPr id="68" name="Rectangle 67"/>
          <p:cNvSpPr/>
          <p:nvPr/>
        </p:nvSpPr>
        <p:spPr>
          <a:xfrm>
            <a:off x="608012" y="2133600"/>
            <a:ext cx="1219200" cy="685800"/>
          </a:xfrm>
          <a:prstGeom prst="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dirty="0" smtClean="0"/>
              <a:t>Customer Logo</a:t>
            </a:r>
            <a:endParaRPr lang="en-US" dirty="0"/>
          </a:p>
        </p:txBody>
      </p:sp>
      <p:cxnSp>
        <p:nvCxnSpPr>
          <p:cNvPr id="90" name="Straight Arrow Connector 89"/>
          <p:cNvCxnSpPr/>
          <p:nvPr/>
        </p:nvCxnSpPr>
        <p:spPr>
          <a:xfrm>
            <a:off x="9066212" y="2514600"/>
            <a:ext cx="44316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608012" y="3657600"/>
            <a:ext cx="1219200" cy="685800"/>
          </a:xfrm>
          <a:prstGeom prst="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dirty="0" smtClean="0"/>
              <a:t>Consulting Logo</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1074</TotalTime>
  <Words>364</Words>
  <Application>Microsoft Office PowerPoint</Application>
  <PresentationFormat>Custom</PresentationFormat>
  <Paragraphs>132</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blank</vt:lpstr>
      <vt:lpstr>Slide 1</vt:lpstr>
      <vt:lpstr>Instructions</vt:lpstr>
      <vt:lpstr>Scope Management – Change Management</vt:lpstr>
      <vt:lpstr>Risk Management – Flow</vt:lpstr>
      <vt:lpstr>Issue Management – Flow</vt:lpstr>
      <vt:lpstr>Problem Management – Flow</vt:lpstr>
      <vt:lpstr>Escalation Process</vt:lpstr>
      <vt:lpstr>Slide 8</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Plan Resources</dc:title>
  <dc:creator>Oracle Global Methods</dc:creator>
  <cp:keywords>OUM</cp:keywords>
  <dc:description>Copyright © 2016 Oracle and/or its affiliates.  All rights reserved.</dc:description>
  <cp:lastModifiedBy>masander</cp:lastModifiedBy>
  <cp:revision>31</cp:revision>
  <dcterms:created xsi:type="dcterms:W3CDTF">2014-06-17T19:24:55Z</dcterms:created>
  <dcterms:modified xsi:type="dcterms:W3CDTF">2016-09-03T02:27:54Z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