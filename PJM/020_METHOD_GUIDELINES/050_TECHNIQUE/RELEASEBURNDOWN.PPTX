
<file path=[Content_Types].xml><?xml version="1.0" encoding="utf-8"?>
<Types xmlns="http://schemas.openxmlformats.org/package/2006/content-types">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handoutMasterIdLst>
    <p:handoutMasterId r:id="rId4"/>
  </p:handoutMasterIdLst>
  <p:sldIdLst>
    <p:sldId id="355" r:id="rId2"/>
  </p:sldIdLst>
  <p:sldSz cx="12188825" cy="6858000"/>
  <p:notesSz cx="6858000" cy="9144000"/>
  <p:custDataLst>
    <p:tags r:id="rId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orient="horz" pos="3744">
          <p15:clr>
            <a:srgbClr val="A4A3A4"/>
          </p15:clr>
        </p15:guide>
        <p15:guide id="3" orient="horz" pos="960">
          <p15:clr>
            <a:srgbClr val="A4A3A4"/>
          </p15:clr>
        </p15:guide>
        <p15:guide id="4" orient="horz" pos="1248">
          <p15:clr>
            <a:srgbClr val="A4A3A4"/>
          </p15:clr>
        </p15:guide>
        <p15:guide id="5" pos="3839">
          <p15:clr>
            <a:srgbClr val="A4A3A4"/>
          </p15:clr>
        </p15:guide>
        <p15:guide id="6" pos="7343">
          <p15:clr>
            <a:srgbClr val="A4A3A4"/>
          </p15:clr>
        </p15:guide>
        <p15:guide id="7" pos="335">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5F5F5F"/>
    <a:srgbClr val="46575E"/>
    <a:srgbClr val="B0C3C8"/>
    <a:srgbClr val="8DA6B1"/>
    <a:srgbClr val="41555E"/>
    <a:srgbClr val="61808E"/>
    <a:srgbClr val="BBCAD0"/>
    <a:srgbClr val="D1DBE0"/>
    <a:srgbClr val="E8EDEF"/>
    <a:srgbClr val="232C2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82" autoAdjust="0"/>
    <p:restoredTop sz="90834" autoAdjust="0"/>
  </p:normalViewPr>
  <p:slideViewPr>
    <p:cSldViewPr snapToGrid="0">
      <p:cViewPr varScale="1">
        <p:scale>
          <a:sx n="78" d="100"/>
          <a:sy n="78" d="100"/>
        </p:scale>
        <p:origin x="-1128" y="-84"/>
      </p:cViewPr>
      <p:guideLst>
        <p:guide orient="horz" pos="2160"/>
        <p:guide orient="horz" pos="3744"/>
        <p:guide orient="horz" pos="960"/>
        <p:guide orient="horz" pos="1248"/>
        <p:guide pos="3839"/>
        <p:guide pos="7343"/>
        <p:guide pos="335"/>
      </p:guideLst>
    </p:cSldViewPr>
  </p:slideViewPr>
  <p:outlineViewPr>
    <p:cViewPr>
      <p:scale>
        <a:sx n="33" d="100"/>
        <a:sy n="33" d="100"/>
      </p:scale>
      <p:origin x="0" y="19746"/>
    </p:cViewPr>
  </p:outlineViewPr>
  <p:notesTextViewPr>
    <p:cViewPr>
      <p:scale>
        <a:sx n="1" d="1"/>
        <a:sy n="1" d="1"/>
      </p:scale>
      <p:origin x="0" y="0"/>
    </p:cViewPr>
  </p:notesTextViewPr>
  <p:sorterViewPr>
    <p:cViewPr>
      <p:scale>
        <a:sx n="75" d="100"/>
        <a:sy n="75" d="100"/>
      </p:scale>
      <p:origin x="0" y="0"/>
    </p:cViewPr>
  </p:sorterViewPr>
  <p:notesViewPr>
    <p:cSldViewPr snapToGrid="0">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tags" Target="tags/tag1.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10/3/2014</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p14="http://schemas.microsoft.com/office/powerpoint/2010/main" xmlns=""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p14="http://schemas.microsoft.com/office/powerpoint/2010/main" xmlns=""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pic>
        <p:nvPicPr>
          <p:cNvPr id="10" name="Picture 9"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6" name="Date Placeholder 5"/>
          <p:cNvSpPr>
            <a:spLocks noGrp="1"/>
          </p:cNvSpPr>
          <p:nvPr>
            <p:ph type="dt" sz="half" idx="14"/>
          </p:nvPr>
        </p:nvSpPr>
        <p:spPr/>
        <p:txBody>
          <a:bodyPr/>
          <a:lstStyle>
            <a:lvl1pPr>
              <a:defRPr>
                <a:solidFill>
                  <a:srgbClr val="5F5F5F"/>
                </a:solidFill>
              </a:defRPr>
            </a:lvl1pPr>
          </a:lstStyle>
          <a:p>
            <a:fld id="{F58637A1-2757-41E8-AD98-43E9D0558D9A}" type="datetime1">
              <a:rPr lang="en-US" smtClean="0"/>
              <a:pPr/>
              <a:t>10/3/2014</a:t>
            </a:fld>
            <a:endParaRPr lang="en-US" dirty="0"/>
          </a:p>
        </p:txBody>
      </p:sp>
      <p:sp>
        <p:nvSpPr>
          <p:cNvPr id="8" name="Footer Placeholder 7"/>
          <p:cNvSpPr>
            <a:spLocks noGrp="1"/>
          </p:cNvSpPr>
          <p:nvPr>
            <p:ph type="ftr" sz="quarter" idx="15"/>
          </p:nvPr>
        </p:nvSpPr>
        <p:spPr/>
        <p:txBody>
          <a:bodyPr/>
          <a:lstStyle>
            <a:lvl1pPr>
              <a:defRPr>
                <a:solidFill>
                  <a:srgbClr val="5F5F5F"/>
                </a:solidFill>
              </a:defRPr>
            </a:lvl1pPr>
          </a:lstStyle>
          <a:p>
            <a:r>
              <a:rPr lang="en-US" smtClean="0"/>
              <a:t>Oracle Confidential – Internal/Restricted/Highly Restricted</a:t>
            </a:r>
            <a:endParaRPr lang="en-US" dirty="0"/>
          </a:p>
        </p:txBody>
      </p:sp>
      <p:sp>
        <p:nvSpPr>
          <p:cNvPr id="16" name="TextBox 15"/>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a:t>
            </a:r>
            <a:r>
              <a:rPr sz="850" dirty="0" smtClean="0">
                <a:solidFill>
                  <a:srgbClr val="5F5F5F"/>
                </a:solidFill>
              </a:rPr>
              <a:t>2014</a:t>
            </a:r>
            <a:r>
              <a:rPr lang="en-US" sz="850" dirty="0" smtClean="0">
                <a:solidFill>
                  <a:srgbClr val="5F5F5F"/>
                </a:solidFill>
              </a:rPr>
              <a:t>,</a:t>
            </a:r>
            <a:r>
              <a:rPr sz="850" dirty="0" smtClean="0">
                <a:solidFill>
                  <a:srgbClr val="5F5F5F"/>
                </a:solidFill>
              </a:rPr>
              <a:t> </a:t>
            </a:r>
            <a:r>
              <a:rPr sz="850" dirty="0">
                <a:solidFill>
                  <a:srgbClr val="5F5F5F"/>
                </a:solidFill>
              </a:rPr>
              <a:t>Oracle and/or its affiliates. All rights reserved.  </a:t>
            </a:r>
            <a:r>
              <a:rPr sz="850" dirty="0" smtClean="0">
                <a:solidFill>
                  <a:srgbClr val="5F5F5F"/>
                </a:solidFill>
              </a:rPr>
              <a:t>|</a:t>
            </a:r>
            <a:endParaRPr sz="850" dirty="0">
              <a:solidFill>
                <a:srgbClr val="5F5F5F"/>
              </a:solidFill>
            </a:endParaRPr>
          </a:p>
        </p:txBody>
      </p:sp>
    </p:spTree>
    <p:extLst>
      <p:ext uri="{BB962C8B-B14F-4D97-AF65-F5344CB8AC3E}">
        <p14:creationId xmlns:p14="http://schemas.microsoft.com/office/powerpoint/2010/main" xmlns="" val="399320028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pic>
        <p:nvPicPr>
          <p:cNvPr id="9" name="Picture 8"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7" name="Date Placeholder 6"/>
          <p:cNvSpPr>
            <a:spLocks noGrp="1"/>
          </p:cNvSpPr>
          <p:nvPr>
            <p:ph type="dt" sz="half" idx="10"/>
          </p:nvPr>
        </p:nvSpPr>
        <p:spPr/>
        <p:txBody>
          <a:bodyPr/>
          <a:lstStyle>
            <a:lvl1pPr>
              <a:defRPr>
                <a:solidFill>
                  <a:srgbClr val="5F5F5F"/>
                </a:solidFill>
              </a:defRPr>
            </a:lvl1pPr>
          </a:lstStyle>
          <a:p>
            <a:fld id="{8DA0FC38-0FA5-4886-ABB4-D52548B1A4EE}" type="datetime1">
              <a:rPr lang="en-US" smtClean="0"/>
              <a:pPr/>
              <a:t>10/3/2014</a:t>
            </a:fld>
            <a:endParaRPr lang="en-US" dirty="0"/>
          </a:p>
        </p:txBody>
      </p:sp>
      <p:sp>
        <p:nvSpPr>
          <p:cNvPr id="8" name="Footer Placeholder 7"/>
          <p:cNvSpPr>
            <a:spLocks noGrp="1"/>
          </p:cNvSpPr>
          <p:nvPr>
            <p:ph type="ftr" sz="quarter" idx="11"/>
          </p:nvPr>
        </p:nvSpPr>
        <p:spPr/>
        <p:txBody>
          <a:bodyPr/>
          <a:lstStyle>
            <a:lvl1pPr>
              <a:defRPr>
                <a:solidFill>
                  <a:srgbClr val="5F5F5F"/>
                </a:solidFill>
              </a:defRPr>
            </a:lvl1pPr>
          </a:lstStyle>
          <a:p>
            <a:r>
              <a:rPr lang="en-US" smtClean="0"/>
              <a:t>Oracle Confidential – Internal/Restricted/Highly Restricted</a:t>
            </a:r>
            <a:endParaRPr lang="en-US" dirty="0"/>
          </a:p>
        </p:txBody>
      </p:sp>
      <p:sp>
        <p:nvSpPr>
          <p:cNvPr id="15" name="TextBox 14"/>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a:t>
            </a:r>
            <a:r>
              <a:rPr sz="850" dirty="0" smtClean="0">
                <a:solidFill>
                  <a:srgbClr val="5F5F5F"/>
                </a:solidFill>
              </a:rPr>
              <a:t>2014</a:t>
            </a:r>
            <a:r>
              <a:rPr lang="en-US" sz="850" dirty="0" smtClean="0">
                <a:solidFill>
                  <a:srgbClr val="5F5F5F"/>
                </a:solidFill>
              </a:rPr>
              <a:t>,</a:t>
            </a:r>
            <a:r>
              <a:rPr sz="850" dirty="0" smtClean="0">
                <a:solidFill>
                  <a:srgbClr val="5F5F5F"/>
                </a:solidFill>
              </a:rPr>
              <a:t> </a:t>
            </a:r>
            <a:r>
              <a:rPr sz="850" dirty="0">
                <a:solidFill>
                  <a:srgbClr val="5F5F5F"/>
                </a:solidFill>
              </a:rPr>
              <a:t>Oracle and/or its affiliates. All rights reserved.  </a:t>
            </a:r>
            <a:r>
              <a:rPr sz="850" dirty="0" smtClean="0">
                <a:solidFill>
                  <a:srgbClr val="5F5F5F"/>
                </a:solidFill>
              </a:rPr>
              <a:t>|</a:t>
            </a:r>
            <a:endParaRPr sz="850" dirty="0">
              <a:solidFill>
                <a:srgbClr val="5F5F5F"/>
              </a:solidFill>
            </a:endParaRPr>
          </a:p>
        </p:txBody>
      </p:sp>
    </p:spTree>
    <p:extLst>
      <p:ext uri="{BB962C8B-B14F-4D97-AF65-F5344CB8AC3E}">
        <p14:creationId xmlns:p14="http://schemas.microsoft.com/office/powerpoint/2010/main" xmlns="" val="240415743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96012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2" y="2286000"/>
            <a:ext cx="9601200"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96012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pic>
        <p:nvPicPr>
          <p:cNvPr id="12" name="Picture 11"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7" name="Date Placeholder 6"/>
          <p:cNvSpPr>
            <a:spLocks noGrp="1"/>
          </p:cNvSpPr>
          <p:nvPr>
            <p:ph type="dt" sz="half" idx="14"/>
          </p:nvPr>
        </p:nvSpPr>
        <p:spPr/>
        <p:txBody>
          <a:bodyPr/>
          <a:lstStyle>
            <a:lvl1pPr>
              <a:defRPr>
                <a:solidFill>
                  <a:schemeClr val="tx1"/>
                </a:solidFill>
              </a:defRPr>
            </a:lvl1pPr>
          </a:lstStyle>
          <a:p>
            <a:fld id="{4C505D5A-B256-44E1-AC96-C2C7474C5D8D}" type="datetime1">
              <a:rPr lang="en-US" smtClean="0"/>
              <a:pPr/>
              <a:t>10/3/2014</a:t>
            </a:fld>
            <a:endParaRPr lang="en-US" dirty="0"/>
          </a:p>
        </p:txBody>
      </p:sp>
      <p:sp>
        <p:nvSpPr>
          <p:cNvPr id="8" name="Footer Placeholder 7"/>
          <p:cNvSpPr>
            <a:spLocks noGrp="1"/>
          </p:cNvSpPr>
          <p:nvPr>
            <p:ph type="ftr" sz="quarter" idx="15"/>
          </p:nvPr>
        </p:nvSpPr>
        <p:spPr/>
        <p:txBody>
          <a:bodyPr/>
          <a:lstStyle>
            <a:lvl1pPr>
              <a:defRPr>
                <a:solidFill>
                  <a:schemeClr val="tx1"/>
                </a:solidFill>
              </a:defRPr>
            </a:lvl1pPr>
          </a:lstStyle>
          <a:p>
            <a:r>
              <a:rPr lang="en-US" smtClean="0"/>
              <a:t>Oracle Confidential – Internal/Restricted/Highly Restricted</a:t>
            </a:r>
            <a:endParaRPr lang="en-US" dirty="0"/>
          </a:p>
        </p:txBody>
      </p:sp>
      <p:sp>
        <p:nvSpPr>
          <p:cNvPr id="14" name="TextBox 13"/>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a:t>
            </a:r>
            <a:r>
              <a:rPr sz="850" dirty="0" smtClean="0">
                <a:solidFill>
                  <a:schemeClr val="tx1"/>
                </a:solidFill>
              </a:rPr>
              <a:t>2014</a:t>
            </a:r>
            <a:r>
              <a:rPr lang="en-US" sz="850" dirty="0" smtClean="0">
                <a:solidFill>
                  <a:schemeClr val="tx1"/>
                </a:solidFill>
              </a:rPr>
              <a:t>,</a:t>
            </a:r>
            <a:r>
              <a:rPr sz="850" dirty="0" smtClean="0">
                <a:solidFill>
                  <a:schemeClr val="tx1"/>
                </a:solidFill>
              </a:rPr>
              <a:t> </a:t>
            </a:r>
            <a:r>
              <a:rPr sz="850" dirty="0">
                <a:solidFill>
                  <a:schemeClr val="tx1"/>
                </a:solidFill>
              </a:rPr>
              <a:t>Oracle and/or its affiliates. All rights reserved.  </a:t>
            </a:r>
            <a:r>
              <a:rPr sz="850" dirty="0" smtClean="0">
                <a:solidFill>
                  <a:schemeClr val="tx1"/>
                </a:solidFill>
              </a:rPr>
              <a:t>|</a:t>
            </a:r>
            <a:endParaRPr sz="850" dirty="0">
              <a:solidFill>
                <a:schemeClr val="tx1"/>
              </a:solidFill>
            </a:endParaRPr>
          </a:p>
        </p:txBody>
      </p:sp>
    </p:spTree>
    <p:extLst>
      <p:ext uri="{BB962C8B-B14F-4D97-AF65-F5344CB8AC3E}">
        <p14:creationId xmlns:p14="http://schemas.microsoft.com/office/powerpoint/2010/main" xmlns=""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Picture and Logo">
    <p:bg>
      <p:bgPr>
        <a:blipFill dpi="0" rotWithShape="1">
          <a:blip r:embed="rId2" cstate="print">
            <a:lum/>
          </a:blip>
          <a:srcRect/>
          <a:stretch>
            <a:fillRect t="-9000" b="-9000"/>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9144000" cy="1470025"/>
          </a:xfrm>
        </p:spPr>
        <p:txBody>
          <a:bodyPr/>
          <a:lstStyle>
            <a:lvl1pPr>
              <a:lnSpc>
                <a:spcPct val="80000"/>
              </a:lnSpc>
              <a:defRPr sz="4800"/>
            </a:lvl1pPr>
          </a:lstStyle>
          <a:p>
            <a:r>
              <a:rPr lang="en-US" smtClean="0"/>
              <a:t>Click to edit Master title style</a:t>
            </a:r>
            <a:endParaRPr/>
          </a:p>
        </p:txBody>
      </p:sp>
      <p:sp>
        <p:nvSpPr>
          <p:cNvPr id="3" name="Subtitle 2"/>
          <p:cNvSpPr>
            <a:spLocks noGrp="1"/>
          </p:cNvSpPr>
          <p:nvPr>
            <p:ph type="subTitle" idx="1"/>
          </p:nvPr>
        </p:nvSpPr>
        <p:spPr>
          <a:xfrm>
            <a:off x="531762" y="2286000"/>
            <a:ext cx="9144000"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lvl1pPr>
              <a:defRPr>
                <a:solidFill>
                  <a:schemeClr val="tx1"/>
                </a:solidFill>
              </a:defRPr>
            </a:lvl1pPr>
          </a:lstStyle>
          <a:p>
            <a:fld id="{DB3EEE87-DDB3-4675-99CC-7EF64D192D2F}" type="datetime1">
              <a:rPr lang="en-US" smtClean="0"/>
              <a:pPr/>
              <a:t>10/3/2014</a:t>
            </a:fld>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smtClean="0"/>
              <a:t>Oracle Confidential – Internal/Restricted/Highly Restricted</a:t>
            </a:r>
            <a:endParaRPr lang="en-US" dirty="0"/>
          </a:p>
        </p:txBody>
      </p:sp>
      <p:sp>
        <p:nvSpPr>
          <p:cNvPr id="13" name="Text Placeholder 12"/>
          <p:cNvSpPr>
            <a:spLocks noGrp="1"/>
          </p:cNvSpPr>
          <p:nvPr>
            <p:ph type="body" sz="quarter" idx="13" hasCustomPrompt="1"/>
          </p:nvPr>
        </p:nvSpPr>
        <p:spPr>
          <a:xfrm>
            <a:off x="531814" y="3429451"/>
            <a:ext cx="9144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a:t>Click to add text</a:t>
            </a:r>
          </a:p>
        </p:txBody>
      </p:sp>
      <p:pic>
        <p:nvPicPr>
          <p:cNvPr id="14" name="Picture 13"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6" name="TextBox 15"/>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a:t>
            </a:r>
            <a:r>
              <a:rPr sz="850" dirty="0" smtClean="0">
                <a:solidFill>
                  <a:schemeClr val="tx1"/>
                </a:solidFill>
              </a:rPr>
              <a:t>2014</a:t>
            </a:r>
            <a:r>
              <a:rPr lang="en-US" sz="850" dirty="0" smtClean="0">
                <a:solidFill>
                  <a:schemeClr val="tx1"/>
                </a:solidFill>
              </a:rPr>
              <a:t>,</a:t>
            </a:r>
            <a:r>
              <a:rPr sz="850" dirty="0" smtClean="0">
                <a:solidFill>
                  <a:schemeClr val="tx1"/>
                </a:solidFill>
              </a:rPr>
              <a:t> </a:t>
            </a:r>
            <a:r>
              <a:rPr sz="850" dirty="0">
                <a:solidFill>
                  <a:schemeClr val="tx1"/>
                </a:solidFill>
              </a:rPr>
              <a:t>Oracle and/or its affiliates. All rights reserved.  </a:t>
            </a:r>
            <a:r>
              <a:rPr sz="850" dirty="0" smtClean="0">
                <a:solidFill>
                  <a:schemeClr val="tx1"/>
                </a:solidFill>
              </a:rPr>
              <a:t>|</a:t>
            </a:r>
            <a:endParaRPr sz="850" dirty="0">
              <a:solidFill>
                <a:schemeClr val="tx1"/>
              </a:solidFill>
            </a:endParaRPr>
          </a:p>
        </p:txBody>
      </p:sp>
    </p:spTree>
    <p:extLst>
      <p:ext uri="{BB962C8B-B14F-4D97-AF65-F5344CB8AC3E}">
        <p14:creationId xmlns:p14="http://schemas.microsoft.com/office/powerpoint/2010/main" xmlns="" val="25589805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with Picture and 2 Logos">
    <p:bg>
      <p:bgPr>
        <a:blipFill dpi="0" rotWithShape="1">
          <a:blip r:embed="rId2" cstate="print">
            <a:lum/>
          </a:blip>
          <a:srcRect/>
          <a:stretch>
            <a:fillRect t="-9000" b="-9000"/>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9144000" cy="1470025"/>
          </a:xfrm>
        </p:spPr>
        <p:txBody>
          <a:bodyPr/>
          <a:lstStyle>
            <a:lvl1pPr>
              <a:lnSpc>
                <a:spcPct val="80000"/>
              </a:lnSpc>
              <a:defRPr sz="4800"/>
            </a:lvl1pPr>
          </a:lstStyle>
          <a:p>
            <a:r>
              <a:rPr lang="en-US" smtClean="0"/>
              <a:t>Click to edit Master title style</a:t>
            </a:r>
            <a:endParaRPr/>
          </a:p>
        </p:txBody>
      </p:sp>
      <p:sp>
        <p:nvSpPr>
          <p:cNvPr id="3" name="Subtitle 2"/>
          <p:cNvSpPr>
            <a:spLocks noGrp="1"/>
          </p:cNvSpPr>
          <p:nvPr>
            <p:ph type="subTitle" idx="1"/>
          </p:nvPr>
        </p:nvSpPr>
        <p:spPr>
          <a:xfrm>
            <a:off x="531762" y="2286000"/>
            <a:ext cx="9144000"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lvl1pPr>
              <a:defRPr>
                <a:solidFill>
                  <a:schemeClr val="tx1"/>
                </a:solidFill>
              </a:defRPr>
            </a:lvl1pPr>
          </a:lstStyle>
          <a:p>
            <a:fld id="{D73022D7-D716-4AF5-B755-D22F080AC54D}" type="datetime1">
              <a:rPr lang="en-US" smtClean="0"/>
              <a:pPr/>
              <a:t>10/3/2014</a:t>
            </a:fld>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smtClean="0"/>
              <a:t>Oracle Confidential – Internal/Restricted/Highly Restricted</a:t>
            </a:r>
            <a:endParaRPr lang="en-US" dirty="0"/>
          </a:p>
        </p:txBody>
      </p:sp>
      <p:sp>
        <p:nvSpPr>
          <p:cNvPr id="13" name="Text Placeholder 12"/>
          <p:cNvSpPr>
            <a:spLocks noGrp="1"/>
          </p:cNvSpPr>
          <p:nvPr>
            <p:ph type="body" sz="quarter" idx="13" hasCustomPrompt="1"/>
          </p:nvPr>
        </p:nvSpPr>
        <p:spPr>
          <a:xfrm>
            <a:off x="531814" y="3429451"/>
            <a:ext cx="9144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a:t>Click to add text</a:t>
            </a:r>
          </a:p>
        </p:txBody>
      </p:sp>
      <p:pic>
        <p:nvPicPr>
          <p:cNvPr id="14" name="Picture 13"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
        <p:nvSpPr>
          <p:cNvPr id="17" name="TextBox 16"/>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a:t>
            </a:r>
            <a:r>
              <a:rPr sz="850" dirty="0" smtClean="0">
                <a:solidFill>
                  <a:schemeClr val="tx1"/>
                </a:solidFill>
              </a:rPr>
              <a:t>2014</a:t>
            </a:r>
            <a:r>
              <a:rPr lang="en-US" sz="850" dirty="0" smtClean="0">
                <a:solidFill>
                  <a:schemeClr val="tx1"/>
                </a:solidFill>
              </a:rPr>
              <a:t>,</a:t>
            </a:r>
            <a:r>
              <a:rPr sz="850" dirty="0" smtClean="0">
                <a:solidFill>
                  <a:schemeClr val="tx1"/>
                </a:solidFill>
              </a:rPr>
              <a:t> </a:t>
            </a:r>
            <a:r>
              <a:rPr sz="850" dirty="0">
                <a:solidFill>
                  <a:schemeClr val="tx1"/>
                </a:solidFill>
              </a:rPr>
              <a:t>Oracle and/or its affiliates. All rights reserved.  </a:t>
            </a:r>
            <a:r>
              <a:rPr sz="850" dirty="0" smtClean="0">
                <a:solidFill>
                  <a:schemeClr val="tx1"/>
                </a:solidFill>
              </a:rPr>
              <a:t>|</a:t>
            </a:r>
            <a:endParaRPr sz="850" dirty="0">
              <a:solidFill>
                <a:schemeClr val="tx1"/>
              </a:solidFill>
            </a:endParaRPr>
          </a:p>
        </p:txBody>
      </p:sp>
    </p:spTree>
    <p:extLst>
      <p:ext uri="{BB962C8B-B14F-4D97-AF65-F5344CB8AC3E}">
        <p14:creationId xmlns:p14="http://schemas.microsoft.com/office/powerpoint/2010/main" xmlns="" val="388520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F4B0713F-DA50-44B8-8328-CFEF845F6523}" type="datetime1">
              <a:rPr lang="en-US" smtClean="0"/>
              <a:pPr/>
              <a:t>10/3/2014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0752384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C7CD2E52-83C8-44FA-88AD-FB45DDFBF65F}" type="datetime1">
              <a:rPr lang="en-US" smtClean="0"/>
              <a:pPr/>
              <a:t>10/3/2014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Tree>
    <p:extLst>
      <p:ext uri="{BB962C8B-B14F-4D97-AF65-F5344CB8AC3E}">
        <p14:creationId xmlns:p14="http://schemas.microsoft.com/office/powerpoint/2010/main" xmlns="" val="337176835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4" name="Date Placeholder 3"/>
          <p:cNvSpPr>
            <a:spLocks noGrp="1"/>
          </p:cNvSpPr>
          <p:nvPr>
            <p:ph type="dt" sz="half" idx="10"/>
          </p:nvPr>
        </p:nvSpPr>
        <p:spPr/>
        <p:txBody>
          <a:bodyPr/>
          <a:lstStyle/>
          <a:p>
            <a:fld id="{CB2EC637-D865-4A1A-B82E-96829CE60973}" type="datetime1">
              <a:rPr lang="en-US" smtClean="0"/>
              <a:pPr/>
              <a:t>10/3/2014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Tree>
    <p:extLst>
      <p:ext uri="{BB962C8B-B14F-4D97-AF65-F5344CB8AC3E}">
        <p14:creationId xmlns:p14="http://schemas.microsoft.com/office/powerpoint/2010/main" xmlns="" val="68122964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1FC69AA-31D1-4BE3-A7F9-4499E9495C0A}" type="datetime1">
              <a:rPr lang="en-US" smtClean="0"/>
              <a:pPr/>
              <a:t>10/3/2014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51385333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solidFill>
                  <a:srgbClr val="5F5F5F"/>
                </a:solidFill>
              </a:defRPr>
            </a:lvl1pPr>
          </a:lstStyle>
          <a:p>
            <a:fld id="{28D98802-C4BE-44EF-A775-109B41689843}" type="datetime1">
              <a:rPr lang="en-US" smtClean="0"/>
              <a:pPr/>
              <a:t>10/3/2014</a:t>
            </a:fld>
            <a:endParaRPr lang="en-US" dirty="0"/>
          </a:p>
        </p:txBody>
      </p:sp>
      <p:sp>
        <p:nvSpPr>
          <p:cNvPr id="5" name="Footer Placeholder 4"/>
          <p:cNvSpPr>
            <a:spLocks noGrp="1"/>
          </p:cNvSpPr>
          <p:nvPr>
            <p:ph type="ftr" sz="quarter" idx="11"/>
          </p:nvPr>
        </p:nvSpPr>
        <p:spPr/>
        <p:txBody>
          <a:bodyPr/>
          <a:lstStyle>
            <a:lvl1pPr>
              <a:defRPr>
                <a:solidFill>
                  <a:srgbClr val="5F5F5F"/>
                </a:solidFill>
              </a:defRPr>
            </a:lvl1pPr>
          </a:lstStyle>
          <a:p>
            <a:r>
              <a:rPr lang="en-US" smtClean="0"/>
              <a:t>Oracle Confidential – Internal/Restricted/Highly Restricted</a:t>
            </a:r>
            <a:endParaRPr lang="en-US" dirty="0"/>
          </a:p>
        </p:txBody>
      </p:sp>
      <p:sp>
        <p:nvSpPr>
          <p:cNvPr id="6" name="Slide Number Placeholder 5"/>
          <p:cNvSpPr>
            <a:spLocks noGrp="1"/>
          </p:cNvSpPr>
          <p:nvPr>
            <p:ph type="sldNum" sz="quarter" idx="12"/>
          </p:nvPr>
        </p:nvSpPr>
        <p:spPr/>
        <p:txBody>
          <a:bodyPr/>
          <a:lstStyle>
            <a:lvl1pPr>
              <a:defRPr>
                <a:solidFill>
                  <a:srgbClr val="5F5F5F"/>
                </a:solidFill>
              </a:defRPr>
            </a:lvl1pPr>
          </a:lstStyle>
          <a:p>
            <a:fld id="{C51EAA63-D034-42AE-91FA-B13B9518C7BE}" type="slidenum">
              <a:rPr lang="en-US" smtClean="0"/>
              <a:pPr/>
              <a:t>‹#›</a:t>
            </a:fld>
            <a:endParaRPr lang="en-US" dirty="0"/>
          </a:p>
        </p:txBody>
      </p:sp>
      <p:pic>
        <p:nvPicPr>
          <p:cNvPr id="15" name="Picture 14"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7" name="TextBox 16"/>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a:t>
            </a:r>
            <a:r>
              <a:rPr sz="850" dirty="0" smtClean="0">
                <a:solidFill>
                  <a:srgbClr val="5F5F5F"/>
                </a:solidFill>
              </a:rPr>
              <a:t>2014</a:t>
            </a:r>
            <a:r>
              <a:rPr lang="en-US" sz="850" dirty="0" smtClean="0">
                <a:solidFill>
                  <a:srgbClr val="5F5F5F"/>
                </a:solidFill>
              </a:rPr>
              <a:t>,</a:t>
            </a:r>
            <a:r>
              <a:rPr sz="850" dirty="0" smtClean="0">
                <a:solidFill>
                  <a:srgbClr val="5F5F5F"/>
                </a:solidFill>
              </a:rPr>
              <a:t> </a:t>
            </a:r>
            <a:r>
              <a:rPr sz="850" dirty="0">
                <a:solidFill>
                  <a:srgbClr val="5F5F5F"/>
                </a:solidFill>
              </a:rPr>
              <a:t>Oracle and/or its affiliates. All rights reserved.  </a:t>
            </a:r>
            <a:r>
              <a:rPr sz="850" dirty="0" smtClean="0">
                <a:solidFill>
                  <a:srgbClr val="5F5F5F"/>
                </a:solidFill>
              </a:rPr>
              <a:t>|</a:t>
            </a:r>
            <a:endParaRPr sz="850" dirty="0">
              <a:solidFill>
                <a:srgbClr val="5F5F5F"/>
              </a:solidFill>
            </a:endParaRPr>
          </a:p>
        </p:txBody>
      </p:sp>
    </p:spTree>
    <p:extLst>
      <p:ext uri="{BB962C8B-B14F-4D97-AF65-F5344CB8AC3E}">
        <p14:creationId xmlns:p14="http://schemas.microsoft.com/office/powerpoint/2010/main" xmlns=""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3" name="Picture Placeholder 2"/>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4B324B-18FF-4147-BA18-D36160E9F106}"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67037058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6C8D6732-15F2-4802-8009-37AC693C551A}"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Picture Placeholder 15"/>
          <p:cNvSpPr>
            <a:spLocks noGrp="1"/>
          </p:cNvSpPr>
          <p:nvPr>
            <p:ph type="pic" sz="quarter" idx="14" hasCustomPrompt="1"/>
          </p:nvPr>
        </p:nvSpPr>
        <p:spPr>
          <a:xfrm>
            <a:off x="2286000" y="1828800"/>
            <a:ext cx="3474720" cy="3840480"/>
          </a:xfrm>
          <a:solidFill>
            <a:schemeClr val="bg2"/>
          </a:solid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10" name="Text Placeholder 10"/>
          <p:cNvSpPr>
            <a:spLocks noGrp="1"/>
          </p:cNvSpPr>
          <p:nvPr>
            <p:ph type="body" sz="quarter" idx="15"/>
          </p:nvPr>
        </p:nvSpPr>
        <p:spPr>
          <a:xfrm>
            <a:off x="6035040" y="1828799"/>
            <a:ext cx="562197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
        <p:nvSpPr>
          <p:cNvPr id="3" name="Title 2"/>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188907719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5B7D2015-66F5-48BA-96D8-17D36F2E0AA3}"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4509846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B4BFE1CA-6658-4197-8E4E-2C35AF1F1E72}"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Picture Placeholder 15"/>
          <p:cNvSpPr>
            <a:spLocks noGrp="1" noChangeAspect="1"/>
          </p:cNvSpPr>
          <p:nvPr>
            <p:ph type="pic" sz="quarter" idx="14" hasCustomPrompt="1"/>
          </p:nvPr>
        </p:nvSpPr>
        <p:spPr>
          <a:xfrm>
            <a:off x="531812" y="1905000"/>
            <a:ext cx="2194560" cy="3072384"/>
          </a:xfrm>
          <a:solidFill>
            <a:schemeClr val="bg2"/>
          </a:solid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Tree>
    <p:extLst>
      <p:ext uri="{BB962C8B-B14F-4D97-AF65-F5344CB8AC3E}">
        <p14:creationId xmlns:p14="http://schemas.microsoft.com/office/powerpoint/2010/main" xmlns="" val="10277668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6FBED1B2-9BE1-4BB3-AF93-47A294133177}"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Title 7"/>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52016615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9BE9BFC2-4754-4D3F-B8B7-155C41C1ECF0}"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5337141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947832B4-CFEF-4C48-9F00-42AED7DD8CEE}"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122633453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EC6703CB-F5F4-4371-82F0-CC855CC16EF3}"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3" name="Title 2"/>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242812501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12" name="Text Placeholder 11"/>
          <p:cNvSpPr>
            <a:spLocks noGrp="1"/>
          </p:cNvSpPr>
          <p:nvPr>
            <p:ph type="body" sz="quarter" idx="15"/>
          </p:nvPr>
        </p:nvSpPr>
        <p:spPr>
          <a:xfrm>
            <a:off x="5256213" y="1524000"/>
            <a:ext cx="54864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834887D-8006-4942-961D-3944DDB3075E}"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2" name="Title 1"/>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Tree>
    <p:extLst>
      <p:ext uri="{BB962C8B-B14F-4D97-AF65-F5344CB8AC3E}">
        <p14:creationId xmlns:p14="http://schemas.microsoft.com/office/powerpoint/2010/main" xmlns="" val="373938650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lstStyle/>
          <a:p>
            <a:fld id="{D9227421-3F85-42F8-BDFD-0A6C36E3C2FA}" type="datetime1">
              <a:rPr lang="en-US" smtClean="0"/>
              <a:pPr/>
              <a:t>10/3/2014</a:t>
            </a:fld>
            <a:endParaRPr dirty="0"/>
          </a:p>
        </p:txBody>
      </p:sp>
      <p:sp>
        <p:nvSpPr>
          <p:cNvPr id="8" name="Footer Placeholder 7"/>
          <p:cNvSpPr>
            <a:spLocks noGrp="1"/>
          </p:cNvSpPr>
          <p:nvPr>
            <p:ph type="ftr" sz="quarter" idx="11"/>
          </p:nvPr>
        </p:nvSpPr>
        <p:spPr/>
        <p:txBody>
          <a:bodyPr/>
          <a:lstStyle/>
          <a:p>
            <a:r>
              <a:rPr dirty="0"/>
              <a:t>Oracle Confidential – Internal/Restricted/Highly Restricted</a:t>
            </a:r>
          </a:p>
        </p:txBody>
      </p:sp>
      <p:sp>
        <p:nvSpPr>
          <p:cNvPr id="9" name="Slide Number Placeholder 8"/>
          <p:cNvSpPr>
            <a:spLocks noGrp="1"/>
          </p:cNvSpPr>
          <p:nvPr>
            <p:ph type="sldNum" sz="quarter" idx="12"/>
          </p:nvPr>
        </p:nvSpPr>
        <p:spPr/>
        <p:txBody>
          <a:bodyPr/>
          <a:lstStyle/>
          <a:p>
            <a:fld id="{C51EAA63-D034-42AE-91FA-B13B9518C7BE}" type="slidenum">
              <a:rPr/>
              <a:pPr/>
              <a:t>‹#›</a:t>
            </a:fld>
            <a:endParaRPr dirty="0"/>
          </a:p>
        </p:txBody>
      </p: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37870018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8A1F17C-4AFE-4B02-9BD6-67CB04075FF1}" type="datetime1">
              <a:rPr lang="en-US" smtClean="0"/>
              <a:pPr/>
              <a:t>10/3/2014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33769938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10010B8-11AC-4175-BF29-EB4A3C61102F}" type="datetime1">
              <a:rPr lang="en-US" smtClean="0"/>
              <a:pPr/>
              <a:t>10/3/2014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7" name="Title 6"/>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4163620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F58637A1-2757-41E8-AD98-43E9D0558D9A}" type="datetime1">
              <a:rPr lang="en-US" smtClean="0"/>
              <a:pPr/>
              <a:t>10/3/2014</a:t>
            </a:fld>
            <a:endParaRPr lang="en-US" dirty="0"/>
          </a:p>
        </p:txBody>
      </p:sp>
      <p:sp>
        <p:nvSpPr>
          <p:cNvPr id="6" name="Slide Number Placeholder 5"/>
          <p:cNvSpPr>
            <a:spLocks noGrp="1"/>
          </p:cNvSpPr>
          <p:nvPr>
            <p:ph type="sldNum" sz="quarter" idx="11"/>
          </p:nvPr>
        </p:nvSpPr>
        <p:spPr/>
        <p:txBody>
          <a:bodyPr/>
          <a:lstStyle/>
          <a:p>
            <a:fld id="{C51EAA63-D034-42AE-91FA-B13B9518C7BE}" type="slidenum">
              <a:rPr lang="en-US" smtClean="0"/>
              <a:pPr/>
              <a:t>‹#›</a:t>
            </a:fld>
            <a:endParaRPr lang="en-US" dirty="0"/>
          </a:p>
        </p:txBody>
      </p:sp>
      <p:sp>
        <p:nvSpPr>
          <p:cNvPr id="7" name="Footer Placeholder 6"/>
          <p:cNvSpPr>
            <a:spLocks noGrp="1"/>
          </p:cNvSpPr>
          <p:nvPr>
            <p:ph type="ftr" sz="quarter" idx="12"/>
          </p:nvPr>
        </p:nvSpPr>
        <p:spPr/>
        <p:txBody>
          <a:bodyPr/>
          <a:lstStyle/>
          <a:p>
            <a:r>
              <a:rPr lang="en-US" smtClean="0"/>
              <a:t>Oracle Confidential – Internal/Restricted/Highly Restricted</a:t>
            </a:r>
            <a:endParaRPr lang="en-US" dirty="0"/>
          </a:p>
        </p:txBody>
      </p:sp>
    </p:spTree>
    <p:extLst>
      <p:ext uri="{BB962C8B-B14F-4D97-AF65-F5344CB8AC3E}">
        <p14:creationId xmlns:p14="http://schemas.microsoft.com/office/powerpoint/2010/main" xmlns="" val="360822934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31662" y="1524000"/>
            <a:ext cx="777255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971800"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86C7CE-9D23-4A42-845E-2EB696664727}"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Title 7"/>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345785070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ABA32AB-378C-44A6-BBCB-4C90F374D0FC}"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Title 7"/>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305827476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Picture Placeholder 2"/>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87AD43-539D-4156-9FD6-437CAE9F93FE}"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90898225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Picture Placeholder 2"/>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8494F0A-3A42-4B5D-A4C2-90E38C5A7947}"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Title 7"/>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279085471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iOS Smartphone and Tablet: Horizontal">
    <p:spTree>
      <p:nvGrpSpPr>
        <p:cNvPr id="1" name=""/>
        <p:cNvGrpSpPr/>
        <p:nvPr/>
      </p:nvGrpSpPr>
      <p:grpSpPr>
        <a:xfrm>
          <a:off x="0" y="0"/>
          <a:ext cx="0" cy="0"/>
          <a:chOff x="0" y="0"/>
          <a:chExt cx="0" cy="0"/>
        </a:xfrm>
      </p:grpSpPr>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916717" y="1522826"/>
            <a:ext cx="6495366" cy="4567423"/>
          </a:xfrm>
          <a:prstGeom prst="rect">
            <a:avLst/>
          </a:prstGeom>
        </p:spPr>
      </p:pic>
      <p:pic>
        <p:nvPicPr>
          <p:cNvPr id="15" name="Picture 14"/>
          <p:cNvPicPr>
            <a:picLocks noChangeAspect="1"/>
          </p:cNvPicPr>
          <p:nvPr/>
        </p:nvPicPr>
        <p:blipFill rotWithShape="1">
          <a:blip r:embed="rId3" cstate="print">
            <a:extLst>
              <a:ext uri="{28A0092B-C50C-407E-A947-70E740481C1C}">
                <a14:useLocalDpi xmlns:a14="http://schemas.microsoft.com/office/drawing/2010/main" xmlns="" val="0"/>
              </a:ext>
            </a:extLst>
          </a:blip>
          <a:srcRect/>
          <a:stretch/>
        </p:blipFill>
        <p:spPr>
          <a:xfrm>
            <a:off x="1770494" y="1827861"/>
            <a:ext cx="1840875" cy="3887139"/>
          </a:xfrm>
          <a:prstGeom prst="rect">
            <a:avLst/>
          </a:prstGeom>
        </p:spPr>
      </p:pic>
      <p:sp>
        <p:nvSpPr>
          <p:cNvPr id="3" name="Picture Placeholder 2"/>
          <p:cNvSpPr>
            <a:spLocks noGrp="1"/>
          </p:cNvSpPr>
          <p:nvPr>
            <p:ph type="pic" idx="1"/>
          </p:nvPr>
        </p:nvSpPr>
        <p:spPr bwMode="gray">
          <a:xfrm>
            <a:off x="1889122" y="2364583"/>
            <a:ext cx="1618488" cy="283368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1BA0AC74-C01C-456F-BD5D-BCFFCE23EE8E}"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itle 3"/>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74544451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iOS Smartphone and Tablet: Vertical">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cstate="print">
            <a:extLst>
              <a:ext uri="{28A0092B-C50C-407E-A947-70E740481C1C}">
                <a14:useLocalDpi xmlns:a14="http://schemas.microsoft.com/office/drawing/2010/main" xmlns="" val="0"/>
              </a:ext>
            </a:extLst>
          </a:blip>
          <a:srcRect r="7518"/>
          <a:stretch/>
        </p:blipFill>
        <p:spPr>
          <a:xfrm rot="5400000">
            <a:off x="5748377" y="1113567"/>
            <a:ext cx="6007047" cy="4567423"/>
          </a:xfrm>
          <a:prstGeom prst="rect">
            <a:avLst/>
          </a:prstGeom>
        </p:spPr>
      </p:pic>
      <p:sp>
        <p:nvSpPr>
          <p:cNvPr id="2" name="Title 1"/>
          <p:cNvSpPr>
            <a:spLocks noGrp="1"/>
          </p:cNvSpPr>
          <p:nvPr>
            <p:ph type="title"/>
          </p:nvPr>
        </p:nvSpPr>
        <p:spPr>
          <a:xfrm>
            <a:off x="531811" y="406400"/>
            <a:ext cx="5943600" cy="889000"/>
          </a:xfrm>
        </p:spPr>
        <p:txBody>
          <a:bodyPr anchor="b"/>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C447B5AF-1809-4D52-BE60-78F570C83F44}"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3" name="Picture 12" descr="Photos, screen captures, graphics can be inserted in a white mobile phone and tablet"/>
          <p:cNvPicPr>
            <a:picLocks noChangeAspect="1"/>
          </p:cNvPicPr>
          <p:nvPr/>
        </p:nvPicPr>
        <p:blipFill rotWithShape="1">
          <a:blip r:embed="rId3" cstate="print">
            <a:extLst>
              <a:ext uri="{28A0092B-C50C-407E-A947-70E740481C1C}">
                <a14:useLocalDpi xmlns:a14="http://schemas.microsoft.com/office/drawing/2010/main" xmlns=""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272063404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1786728" y="2011145"/>
            <a:ext cx="1819656" cy="3522853"/>
          </a:xfrm>
          <a:prstGeom prst="rect">
            <a:avLst/>
          </a:prstGeom>
        </p:spPr>
      </p:pic>
      <p:pic>
        <p:nvPicPr>
          <p:cNvPr id="11" name="Picture 10" descr="Photos, screen captures, graphics can be inserted in a white mobile phone and tablet"/>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4241990" y="1585322"/>
            <a:ext cx="5829300" cy="4107283"/>
          </a:xfrm>
          <a:prstGeom prst="rect">
            <a:avLst/>
          </a:prstGeom>
        </p:spPr>
      </p:pic>
      <p:sp>
        <p:nvSpPr>
          <p:cNvPr id="3" name="Picture Placeholder 2"/>
          <p:cNvSpPr>
            <a:spLocks noGrp="1"/>
          </p:cNvSpPr>
          <p:nvPr>
            <p:ph type="pic" idx="1"/>
          </p:nvPr>
        </p:nvSpPr>
        <p:spPr bwMode="gray">
          <a:xfrm>
            <a:off x="1910171" y="2364583"/>
            <a:ext cx="1572768" cy="283368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1A2474AE-A74B-49A7-B5B1-A400C0D62D32}"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4532312" y="1975104"/>
            <a:ext cx="5248656" cy="3328416"/>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itle 3"/>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362906812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pic>
        <p:nvPicPr>
          <p:cNvPr id="21" name="Picture 20"/>
          <p:cNvPicPr>
            <a:picLocks noChangeAspect="1"/>
          </p:cNvPicPr>
          <p:nvPr userDrawn="1"/>
        </p:nvPicPr>
        <p:blipFill rotWithShape="1">
          <a:blip r:embed="rId2" cstate="print">
            <a:extLst>
              <a:ext uri="{28A0092B-C50C-407E-A947-70E740481C1C}">
                <a14:useLocalDpi xmlns:a14="http://schemas.microsoft.com/office/drawing/2010/main" xmlns="" val="0"/>
              </a:ext>
            </a:extLst>
          </a:blip>
          <a:srcRect r="2901"/>
          <a:stretch/>
        </p:blipFill>
        <p:spPr>
          <a:xfrm rot="5400000">
            <a:off x="5891726" y="1502667"/>
            <a:ext cx="5674025" cy="4117325"/>
          </a:xfrm>
          <a:prstGeom prst="rect">
            <a:avLst/>
          </a:prstGeom>
        </p:spPr>
      </p:pic>
      <p:sp>
        <p:nvSpPr>
          <p:cNvPr id="2" name="Title 1"/>
          <p:cNvSpPr>
            <a:spLocks noGrp="1"/>
          </p:cNvSpPr>
          <p:nvPr>
            <p:ph type="title"/>
          </p:nvPr>
        </p:nvSpPr>
        <p:spPr>
          <a:xfrm>
            <a:off x="531811" y="406400"/>
            <a:ext cx="5943600" cy="889000"/>
          </a:xfrm>
        </p:spPr>
        <p:txBody>
          <a:bodyPr anchor="b"/>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4B767A9A-D0AC-47FB-851D-810FC45BAB35}"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7061703" y="1013144"/>
            <a:ext cx="3313567" cy="5252348"/>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9" name="Picture 18" descr="Photos, screen captures, graphics can be inserted in a white mobile phone and tablet"/>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3969956" y="2096382"/>
            <a:ext cx="1819656" cy="3522853"/>
          </a:xfrm>
          <a:prstGeom prst="rect">
            <a:avLst/>
          </a:prstGeom>
        </p:spPr>
      </p:pic>
      <p:sp>
        <p:nvSpPr>
          <p:cNvPr id="20" name="Picture Placeholder 2"/>
          <p:cNvSpPr>
            <a:spLocks noGrp="1"/>
          </p:cNvSpPr>
          <p:nvPr>
            <p:ph type="pic" idx="1"/>
          </p:nvPr>
        </p:nvSpPr>
        <p:spPr bwMode="gray">
          <a:xfrm>
            <a:off x="4093399" y="2449820"/>
            <a:ext cx="1572768" cy="283368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396459250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0"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5" name="Date Placeholder 4"/>
          <p:cNvSpPr>
            <a:spLocks noGrp="1"/>
          </p:cNvSpPr>
          <p:nvPr>
            <p:ph type="dt" sz="half" idx="10"/>
          </p:nvPr>
        </p:nvSpPr>
        <p:spPr/>
        <p:txBody>
          <a:bodyPr/>
          <a:lstStyle>
            <a:lvl1pPr>
              <a:defRPr>
                <a:solidFill>
                  <a:srgbClr val="5F5F5F"/>
                </a:solidFill>
              </a:defRPr>
            </a:lvl1pPr>
          </a:lstStyle>
          <a:p>
            <a:fld id="{4ADD7E43-24FB-40CC-971F-1AFB4F96D58C}" type="datetime1">
              <a:rPr lang="en-US" smtClean="0"/>
              <a:pPr/>
              <a:t>10/3/2014</a:t>
            </a:fld>
            <a:endParaRPr lang="en-US" dirty="0"/>
          </a:p>
        </p:txBody>
      </p:sp>
      <p:sp>
        <p:nvSpPr>
          <p:cNvPr id="6" name="Footer Placeholder 5"/>
          <p:cNvSpPr>
            <a:spLocks noGrp="1"/>
          </p:cNvSpPr>
          <p:nvPr>
            <p:ph type="ftr" sz="quarter" idx="11"/>
          </p:nvPr>
        </p:nvSpPr>
        <p:spPr/>
        <p:txBody>
          <a:bodyPr/>
          <a:lstStyle>
            <a:lvl1pPr>
              <a:defRPr>
                <a:solidFill>
                  <a:srgbClr val="5F5F5F"/>
                </a:solidFill>
              </a:defRPr>
            </a:lvl1pPr>
          </a:lstStyle>
          <a:p>
            <a:r>
              <a:rPr lang="en-US" smtClean="0"/>
              <a:t>Oracle Confidential – Internal/Restricted/Highly Restricted</a:t>
            </a:r>
            <a:endParaRPr lang="en-US" dirty="0"/>
          </a:p>
        </p:txBody>
      </p:sp>
      <p:sp>
        <p:nvSpPr>
          <p:cNvPr id="7" name="Slide Number Placeholder 6"/>
          <p:cNvSpPr>
            <a:spLocks noGrp="1"/>
          </p:cNvSpPr>
          <p:nvPr>
            <p:ph type="sldNum" sz="quarter" idx="12"/>
          </p:nvPr>
        </p:nvSpPr>
        <p:spPr/>
        <p:txBody>
          <a:bodyPr/>
          <a:lstStyle>
            <a:lvl1pPr>
              <a:defRPr>
                <a:solidFill>
                  <a:srgbClr val="5F5F5F"/>
                </a:solidFill>
              </a:defRPr>
            </a:lvl1pPr>
          </a:lstStyle>
          <a:p>
            <a:fld id="{C51EAA63-D034-42AE-91FA-B13B9518C7BE}" type="slidenum">
              <a:rPr lang="en-US" smtClean="0"/>
              <a:pPr/>
              <a:t>‹#›</a:t>
            </a:fld>
            <a:endParaRPr lang="en-US" dirty="0"/>
          </a:p>
        </p:txBody>
      </p:sp>
      <p:sp>
        <p:nvSpPr>
          <p:cNvPr id="22" name="Text Placeholder 12"/>
          <p:cNvSpPr>
            <a:spLocks noGrp="1"/>
          </p:cNvSpPr>
          <p:nvPr>
            <p:ph type="body" sz="quarter" idx="13" hasCustomPrompt="1"/>
          </p:nvPr>
        </p:nvSpPr>
        <p:spPr>
          <a:xfrm>
            <a:off x="760412" y="2666999"/>
            <a:ext cx="50292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3" name="Title 2"/>
          <p:cNvSpPr>
            <a:spLocks noGrp="1"/>
          </p:cNvSpPr>
          <p:nvPr>
            <p:ph type="title" hasCustomPrompt="1"/>
          </p:nvPr>
        </p:nvSpPr>
        <p:spPr>
          <a:xfrm>
            <a:off x="760412" y="609600"/>
            <a:ext cx="5029200" cy="2044700"/>
          </a:xfrm>
        </p:spPr>
        <p:txBody>
          <a:bodyPr/>
          <a:lstStyle>
            <a:lvl1pPr>
              <a:defRPr sz="13800" b="1"/>
            </a:lvl1pPr>
          </a:lstStyle>
          <a:p>
            <a:r>
              <a:rPr lang="en-US" dirty="0" smtClean="0"/>
              <a:t>XX</a:t>
            </a:r>
            <a:endParaRPr lang="en-US" dirty="0"/>
          </a:p>
        </p:txBody>
      </p:sp>
      <p:pic>
        <p:nvPicPr>
          <p:cNvPr id="15" name="Picture 14"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9" name="TextBox 18"/>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a:t>
            </a:r>
            <a:r>
              <a:rPr sz="850" dirty="0" smtClean="0">
                <a:solidFill>
                  <a:srgbClr val="5F5F5F"/>
                </a:solidFill>
              </a:rPr>
              <a:t>2014</a:t>
            </a:r>
            <a:r>
              <a:rPr lang="en-US" sz="850" dirty="0" smtClean="0">
                <a:solidFill>
                  <a:srgbClr val="5F5F5F"/>
                </a:solidFill>
              </a:rPr>
              <a:t>,</a:t>
            </a:r>
            <a:r>
              <a:rPr sz="850" dirty="0" smtClean="0">
                <a:solidFill>
                  <a:srgbClr val="5F5F5F"/>
                </a:solidFill>
              </a:rPr>
              <a:t> </a:t>
            </a:r>
            <a:r>
              <a:rPr sz="850" dirty="0">
                <a:solidFill>
                  <a:srgbClr val="5F5F5F"/>
                </a:solidFill>
              </a:rPr>
              <a:t>Oracle and/or its affiliates. All rights reserved.  </a:t>
            </a:r>
            <a:r>
              <a:rPr sz="850" dirty="0" smtClean="0">
                <a:solidFill>
                  <a:srgbClr val="5F5F5F"/>
                </a:solidFill>
              </a:rPr>
              <a:t>|</a:t>
            </a:r>
            <a:endParaRPr sz="850" dirty="0">
              <a:solidFill>
                <a:srgbClr val="5F5F5F"/>
              </a:solidFill>
            </a:endParaRPr>
          </a:p>
        </p:txBody>
      </p:sp>
    </p:spTree>
    <p:extLst>
      <p:ext uri="{BB962C8B-B14F-4D97-AF65-F5344CB8AC3E}">
        <p14:creationId xmlns:p14="http://schemas.microsoft.com/office/powerpoint/2010/main" xmlns=""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ACD4C6-5F02-4E1D-8860-E571DA6DFE1F}" type="datetime1">
              <a:rPr lang="en-US" smtClean="0"/>
              <a:pPr/>
              <a:t>10/3/2014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Tree>
    <p:extLst>
      <p:ext uri="{BB962C8B-B14F-4D97-AF65-F5344CB8AC3E}">
        <p14:creationId xmlns:p14="http://schemas.microsoft.com/office/powerpoint/2010/main" xmlns="" val="259788944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134E1-025A-423B-B455-DC3D3A91EDB9}" type="datetime1">
              <a:rPr lang="en-US" smtClean="0"/>
              <a:pPr/>
              <a:t>10/3/2014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Tree>
    <p:extLst>
      <p:ext uri="{BB962C8B-B14F-4D97-AF65-F5344CB8AC3E}">
        <p14:creationId xmlns:p14="http://schemas.microsoft.com/office/powerpoint/2010/main" xmlns="" val="235887190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214A5B-588F-4C90-9D20-DD3B4D6AC865}" type="datetime1">
              <a:rPr lang="en-US" smtClean="0"/>
              <a:pPr/>
              <a:t>10/3/2014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grpSp>
        <p:nvGrpSpPr>
          <p:cNvPr id="3093" name="Group 3092" descr="&quot;Hardware and Software Engineered to work together&quot; tagline in red and black"/>
          <p:cNvGrpSpPr/>
          <p:nvPr userDrawn="1"/>
        </p:nvGrpSpPr>
        <p:grpSpPr bwMode="gray">
          <a:xfrm>
            <a:off x="3263901" y="2743200"/>
            <a:ext cx="5668962" cy="1081088"/>
            <a:chOff x="3263901" y="1227138"/>
            <a:chExt cx="5668962" cy="1081088"/>
          </a:xfrm>
        </p:grpSpPr>
        <p:sp>
          <p:nvSpPr>
            <p:cNvPr id="8" name="Rectangle 5"/>
            <p:cNvSpPr>
              <a:spLocks noChangeArrowheads="1"/>
            </p:cNvSpPr>
            <p:nvPr/>
          </p:nvSpPr>
          <p:spPr bwMode="gray">
            <a:xfrm>
              <a:off x="3997326" y="1855788"/>
              <a:ext cx="73025" cy="50800"/>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dirty="0"/>
            </a:p>
          </p:txBody>
        </p:sp>
        <p:sp>
          <p:nvSpPr>
            <p:cNvPr id="9" name="Freeform 6"/>
            <p:cNvSpPr>
              <a:spLocks noEditPoints="1"/>
            </p:cNvSpPr>
            <p:nvPr/>
          </p:nvSpPr>
          <p:spPr bwMode="gray">
            <a:xfrm>
              <a:off x="4835526" y="1362075"/>
              <a:ext cx="238125" cy="317500"/>
            </a:xfrm>
            <a:custGeom>
              <a:avLst/>
              <a:gdLst>
                <a:gd name="T0" fmla="*/ 29 w 29"/>
                <a:gd name="T1" fmla="*/ 30 h 38"/>
                <a:gd name="T2" fmla="*/ 29 w 29"/>
                <a:gd name="T3" fmla="*/ 37 h 38"/>
                <a:gd name="T4" fmla="*/ 20 w 29"/>
                <a:gd name="T5" fmla="*/ 37 h 38"/>
                <a:gd name="T6" fmla="*/ 19 w 29"/>
                <a:gd name="T7" fmla="*/ 32 h 38"/>
                <a:gd name="T8" fmla="*/ 19 w 29"/>
                <a:gd name="T9" fmla="*/ 32 h 38"/>
                <a:gd name="T10" fmla="*/ 10 w 29"/>
                <a:gd name="T11" fmla="*/ 38 h 38"/>
                <a:gd name="T12" fmla="*/ 0 w 29"/>
                <a:gd name="T13" fmla="*/ 26 h 38"/>
                <a:gd name="T14" fmla="*/ 19 w 29"/>
                <a:gd name="T15" fmla="*/ 13 h 38"/>
                <a:gd name="T16" fmla="*/ 19 w 29"/>
                <a:gd name="T17" fmla="*/ 11 h 38"/>
                <a:gd name="T18" fmla="*/ 15 w 29"/>
                <a:gd name="T19" fmla="*/ 5 h 38"/>
                <a:gd name="T20" fmla="*/ 11 w 29"/>
                <a:gd name="T21" fmla="*/ 11 h 38"/>
                <a:gd name="T22" fmla="*/ 1 w 29"/>
                <a:gd name="T23" fmla="*/ 11 h 38"/>
                <a:gd name="T24" fmla="*/ 5 w 29"/>
                <a:gd name="T25" fmla="*/ 2 h 38"/>
                <a:gd name="T26" fmla="*/ 14 w 29"/>
                <a:gd name="T27" fmla="*/ 0 h 38"/>
                <a:gd name="T28" fmla="*/ 29 w 29"/>
                <a:gd name="T29" fmla="*/ 12 h 38"/>
                <a:gd name="T30" fmla="*/ 29 w 29"/>
                <a:gd name="T31" fmla="*/ 30 h 38"/>
                <a:gd name="T32" fmla="*/ 10 w 29"/>
                <a:gd name="T33" fmla="*/ 26 h 38"/>
                <a:gd name="T34" fmla="*/ 14 w 29"/>
                <a:gd name="T35" fmla="*/ 31 h 38"/>
                <a:gd name="T36" fmla="*/ 19 w 29"/>
                <a:gd name="T37" fmla="*/ 19 h 38"/>
                <a:gd name="T38" fmla="*/ 10 w 29"/>
                <a:gd name="T39"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 h="38">
                  <a:moveTo>
                    <a:pt x="29" y="30"/>
                  </a:moveTo>
                  <a:cubicBezTo>
                    <a:pt x="29" y="32"/>
                    <a:pt x="29" y="35"/>
                    <a:pt x="29" y="37"/>
                  </a:cubicBezTo>
                  <a:cubicBezTo>
                    <a:pt x="20" y="37"/>
                    <a:pt x="20" y="37"/>
                    <a:pt x="20" y="37"/>
                  </a:cubicBezTo>
                  <a:cubicBezTo>
                    <a:pt x="19" y="32"/>
                    <a:pt x="19" y="32"/>
                    <a:pt x="19" y="32"/>
                  </a:cubicBezTo>
                  <a:cubicBezTo>
                    <a:pt x="19" y="32"/>
                    <a:pt x="19" y="32"/>
                    <a:pt x="19" y="32"/>
                  </a:cubicBezTo>
                  <a:cubicBezTo>
                    <a:pt x="17" y="36"/>
                    <a:pt x="14" y="38"/>
                    <a:pt x="10" y="38"/>
                  </a:cubicBezTo>
                  <a:cubicBezTo>
                    <a:pt x="2" y="38"/>
                    <a:pt x="0" y="32"/>
                    <a:pt x="0" y="26"/>
                  </a:cubicBezTo>
                  <a:cubicBezTo>
                    <a:pt x="0" y="14"/>
                    <a:pt x="9" y="13"/>
                    <a:pt x="19" y="13"/>
                  </a:cubicBezTo>
                  <a:cubicBezTo>
                    <a:pt x="19" y="11"/>
                    <a:pt x="19" y="11"/>
                    <a:pt x="19" y="11"/>
                  </a:cubicBezTo>
                  <a:cubicBezTo>
                    <a:pt x="19" y="8"/>
                    <a:pt x="18" y="5"/>
                    <a:pt x="15" y="5"/>
                  </a:cubicBezTo>
                  <a:cubicBezTo>
                    <a:pt x="11" y="5"/>
                    <a:pt x="11" y="8"/>
                    <a:pt x="11" y="11"/>
                  </a:cubicBezTo>
                  <a:cubicBezTo>
                    <a:pt x="1" y="11"/>
                    <a:pt x="1" y="11"/>
                    <a:pt x="1" y="11"/>
                  </a:cubicBezTo>
                  <a:cubicBezTo>
                    <a:pt x="1" y="6"/>
                    <a:pt x="2" y="4"/>
                    <a:pt x="5" y="2"/>
                  </a:cubicBezTo>
                  <a:cubicBezTo>
                    <a:pt x="7" y="0"/>
                    <a:pt x="10" y="0"/>
                    <a:pt x="14" y="0"/>
                  </a:cubicBezTo>
                  <a:cubicBezTo>
                    <a:pt x="27" y="0"/>
                    <a:pt x="29" y="5"/>
                    <a:pt x="29" y="12"/>
                  </a:cubicBezTo>
                  <a:lnTo>
                    <a:pt x="29" y="30"/>
                  </a:lnTo>
                  <a:close/>
                  <a:moveTo>
                    <a:pt x="10" y="26"/>
                  </a:moveTo>
                  <a:cubicBezTo>
                    <a:pt x="10" y="28"/>
                    <a:pt x="10" y="31"/>
                    <a:pt x="14" y="31"/>
                  </a:cubicBezTo>
                  <a:cubicBezTo>
                    <a:pt x="20" y="31"/>
                    <a:pt x="19" y="23"/>
                    <a:pt x="19" y="19"/>
                  </a:cubicBezTo>
                  <a:cubicBezTo>
                    <a:pt x="14" y="19"/>
                    <a:pt x="10" y="19"/>
                    <a:pt x="10" y="2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0" name="Freeform 7"/>
            <p:cNvSpPr>
              <a:spLocks/>
            </p:cNvSpPr>
            <p:nvPr/>
          </p:nvSpPr>
          <p:spPr bwMode="gray">
            <a:xfrm>
              <a:off x="3263901" y="1236663"/>
              <a:ext cx="288925" cy="434975"/>
            </a:xfrm>
            <a:custGeom>
              <a:avLst/>
              <a:gdLst>
                <a:gd name="T0" fmla="*/ 125 w 182"/>
                <a:gd name="T1" fmla="*/ 110 h 274"/>
                <a:gd name="T2" fmla="*/ 125 w 182"/>
                <a:gd name="T3" fmla="*/ 0 h 274"/>
                <a:gd name="T4" fmla="*/ 182 w 182"/>
                <a:gd name="T5" fmla="*/ 0 h 274"/>
                <a:gd name="T6" fmla="*/ 182 w 182"/>
                <a:gd name="T7" fmla="*/ 274 h 274"/>
                <a:gd name="T8" fmla="*/ 125 w 182"/>
                <a:gd name="T9" fmla="*/ 274 h 274"/>
                <a:gd name="T10" fmla="*/ 125 w 182"/>
                <a:gd name="T11" fmla="*/ 153 h 274"/>
                <a:gd name="T12" fmla="*/ 57 w 182"/>
                <a:gd name="T13" fmla="*/ 153 h 274"/>
                <a:gd name="T14" fmla="*/ 57 w 182"/>
                <a:gd name="T15" fmla="*/ 274 h 274"/>
                <a:gd name="T16" fmla="*/ 0 w 182"/>
                <a:gd name="T17" fmla="*/ 274 h 274"/>
                <a:gd name="T18" fmla="*/ 0 w 182"/>
                <a:gd name="T19" fmla="*/ 0 h 274"/>
                <a:gd name="T20" fmla="*/ 57 w 182"/>
                <a:gd name="T21" fmla="*/ 0 h 274"/>
                <a:gd name="T22" fmla="*/ 57 w 182"/>
                <a:gd name="T23" fmla="*/ 110 h 274"/>
                <a:gd name="T24" fmla="*/ 125 w 182"/>
                <a:gd name="T25" fmla="*/ 110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274">
                  <a:moveTo>
                    <a:pt x="125" y="110"/>
                  </a:moveTo>
                  <a:lnTo>
                    <a:pt x="125" y="0"/>
                  </a:lnTo>
                  <a:lnTo>
                    <a:pt x="182" y="0"/>
                  </a:lnTo>
                  <a:lnTo>
                    <a:pt x="182" y="274"/>
                  </a:lnTo>
                  <a:lnTo>
                    <a:pt x="125" y="274"/>
                  </a:lnTo>
                  <a:lnTo>
                    <a:pt x="125" y="153"/>
                  </a:lnTo>
                  <a:lnTo>
                    <a:pt x="57" y="153"/>
                  </a:lnTo>
                  <a:lnTo>
                    <a:pt x="57" y="274"/>
                  </a:lnTo>
                  <a:lnTo>
                    <a:pt x="0" y="274"/>
                  </a:lnTo>
                  <a:lnTo>
                    <a:pt x="0" y="0"/>
                  </a:lnTo>
                  <a:lnTo>
                    <a:pt x="57" y="0"/>
                  </a:lnTo>
                  <a:lnTo>
                    <a:pt x="57" y="110"/>
                  </a:lnTo>
                  <a:lnTo>
                    <a:pt x="125" y="11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1" name="Freeform 8"/>
            <p:cNvSpPr>
              <a:spLocks noEditPoints="1"/>
            </p:cNvSpPr>
            <p:nvPr/>
          </p:nvSpPr>
          <p:spPr bwMode="gray">
            <a:xfrm>
              <a:off x="3602038" y="1362075"/>
              <a:ext cx="246063" cy="317500"/>
            </a:xfrm>
            <a:custGeom>
              <a:avLst/>
              <a:gdLst>
                <a:gd name="T0" fmla="*/ 29 w 30"/>
                <a:gd name="T1" fmla="*/ 30 h 38"/>
                <a:gd name="T2" fmla="*/ 30 w 30"/>
                <a:gd name="T3" fmla="*/ 37 h 38"/>
                <a:gd name="T4" fmla="*/ 20 w 30"/>
                <a:gd name="T5" fmla="*/ 37 h 38"/>
                <a:gd name="T6" fmla="*/ 20 w 30"/>
                <a:gd name="T7" fmla="*/ 32 h 38"/>
                <a:gd name="T8" fmla="*/ 19 w 30"/>
                <a:gd name="T9" fmla="*/ 32 h 38"/>
                <a:gd name="T10" fmla="*/ 10 w 30"/>
                <a:gd name="T11" fmla="*/ 38 h 38"/>
                <a:gd name="T12" fmla="*/ 0 w 30"/>
                <a:gd name="T13" fmla="*/ 26 h 38"/>
                <a:gd name="T14" fmla="*/ 19 w 30"/>
                <a:gd name="T15" fmla="*/ 13 h 38"/>
                <a:gd name="T16" fmla="*/ 19 w 30"/>
                <a:gd name="T17" fmla="*/ 11 h 38"/>
                <a:gd name="T18" fmla="*/ 15 w 30"/>
                <a:gd name="T19" fmla="*/ 5 h 38"/>
                <a:gd name="T20" fmla="*/ 11 w 30"/>
                <a:gd name="T21" fmla="*/ 11 h 38"/>
                <a:gd name="T22" fmla="*/ 1 w 30"/>
                <a:gd name="T23" fmla="*/ 11 h 38"/>
                <a:gd name="T24" fmla="*/ 5 w 30"/>
                <a:gd name="T25" fmla="*/ 2 h 38"/>
                <a:gd name="T26" fmla="*/ 14 w 30"/>
                <a:gd name="T27" fmla="*/ 0 h 38"/>
                <a:gd name="T28" fmla="*/ 29 w 30"/>
                <a:gd name="T29" fmla="*/ 12 h 38"/>
                <a:gd name="T30" fmla="*/ 29 w 30"/>
                <a:gd name="T31" fmla="*/ 30 h 38"/>
                <a:gd name="T32" fmla="*/ 10 w 30"/>
                <a:gd name="T33" fmla="*/ 26 h 38"/>
                <a:gd name="T34" fmla="*/ 14 w 30"/>
                <a:gd name="T35" fmla="*/ 31 h 38"/>
                <a:gd name="T36" fmla="*/ 19 w 30"/>
                <a:gd name="T37" fmla="*/ 19 h 38"/>
                <a:gd name="T38" fmla="*/ 10 w 30"/>
                <a:gd name="T39"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 h="38">
                  <a:moveTo>
                    <a:pt x="29" y="30"/>
                  </a:moveTo>
                  <a:cubicBezTo>
                    <a:pt x="29" y="32"/>
                    <a:pt x="29" y="35"/>
                    <a:pt x="30" y="37"/>
                  </a:cubicBezTo>
                  <a:cubicBezTo>
                    <a:pt x="20" y="37"/>
                    <a:pt x="20" y="37"/>
                    <a:pt x="20" y="37"/>
                  </a:cubicBezTo>
                  <a:cubicBezTo>
                    <a:pt x="20" y="32"/>
                    <a:pt x="20" y="32"/>
                    <a:pt x="20" y="32"/>
                  </a:cubicBezTo>
                  <a:cubicBezTo>
                    <a:pt x="19" y="32"/>
                    <a:pt x="19" y="32"/>
                    <a:pt x="19" y="32"/>
                  </a:cubicBezTo>
                  <a:cubicBezTo>
                    <a:pt x="17" y="36"/>
                    <a:pt x="14" y="38"/>
                    <a:pt x="10" y="38"/>
                  </a:cubicBezTo>
                  <a:cubicBezTo>
                    <a:pt x="3" y="38"/>
                    <a:pt x="0" y="32"/>
                    <a:pt x="0" y="26"/>
                  </a:cubicBezTo>
                  <a:cubicBezTo>
                    <a:pt x="0" y="14"/>
                    <a:pt x="10" y="13"/>
                    <a:pt x="19" y="13"/>
                  </a:cubicBezTo>
                  <a:cubicBezTo>
                    <a:pt x="19" y="11"/>
                    <a:pt x="19" y="11"/>
                    <a:pt x="19" y="11"/>
                  </a:cubicBezTo>
                  <a:cubicBezTo>
                    <a:pt x="19" y="8"/>
                    <a:pt x="19" y="5"/>
                    <a:pt x="15" y="5"/>
                  </a:cubicBezTo>
                  <a:cubicBezTo>
                    <a:pt x="11" y="5"/>
                    <a:pt x="11" y="8"/>
                    <a:pt x="11" y="11"/>
                  </a:cubicBezTo>
                  <a:cubicBezTo>
                    <a:pt x="1" y="11"/>
                    <a:pt x="1" y="11"/>
                    <a:pt x="1" y="11"/>
                  </a:cubicBezTo>
                  <a:cubicBezTo>
                    <a:pt x="1" y="6"/>
                    <a:pt x="2" y="4"/>
                    <a:pt x="5" y="2"/>
                  </a:cubicBezTo>
                  <a:cubicBezTo>
                    <a:pt x="7" y="0"/>
                    <a:pt x="10" y="0"/>
                    <a:pt x="14" y="0"/>
                  </a:cubicBezTo>
                  <a:cubicBezTo>
                    <a:pt x="27" y="0"/>
                    <a:pt x="29" y="5"/>
                    <a:pt x="29" y="12"/>
                  </a:cubicBezTo>
                  <a:lnTo>
                    <a:pt x="29" y="30"/>
                  </a:lnTo>
                  <a:close/>
                  <a:moveTo>
                    <a:pt x="10" y="26"/>
                  </a:moveTo>
                  <a:cubicBezTo>
                    <a:pt x="10" y="28"/>
                    <a:pt x="11" y="31"/>
                    <a:pt x="14" y="31"/>
                  </a:cubicBezTo>
                  <a:cubicBezTo>
                    <a:pt x="20" y="31"/>
                    <a:pt x="19" y="23"/>
                    <a:pt x="19" y="19"/>
                  </a:cubicBezTo>
                  <a:cubicBezTo>
                    <a:pt x="14" y="19"/>
                    <a:pt x="10" y="19"/>
                    <a:pt x="10" y="2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2" name="Freeform 9"/>
            <p:cNvSpPr>
              <a:spLocks/>
            </p:cNvSpPr>
            <p:nvPr/>
          </p:nvSpPr>
          <p:spPr bwMode="gray">
            <a:xfrm>
              <a:off x="3897313" y="1362075"/>
              <a:ext cx="165100" cy="309563"/>
            </a:xfrm>
            <a:custGeom>
              <a:avLst/>
              <a:gdLst>
                <a:gd name="T0" fmla="*/ 10 w 20"/>
                <a:gd name="T1" fmla="*/ 0 h 37"/>
                <a:gd name="T2" fmla="*/ 10 w 20"/>
                <a:gd name="T3" fmla="*/ 5 h 37"/>
                <a:gd name="T4" fmla="*/ 10 w 20"/>
                <a:gd name="T5" fmla="*/ 5 h 37"/>
                <a:gd name="T6" fmla="*/ 20 w 20"/>
                <a:gd name="T7" fmla="*/ 0 h 37"/>
                <a:gd name="T8" fmla="*/ 20 w 20"/>
                <a:gd name="T9" fmla="*/ 9 h 37"/>
                <a:gd name="T10" fmla="*/ 10 w 20"/>
                <a:gd name="T11" fmla="*/ 17 h 37"/>
                <a:gd name="T12" fmla="*/ 10 w 20"/>
                <a:gd name="T13" fmla="*/ 37 h 37"/>
                <a:gd name="T14" fmla="*/ 0 w 20"/>
                <a:gd name="T15" fmla="*/ 37 h 37"/>
                <a:gd name="T16" fmla="*/ 0 w 20"/>
                <a:gd name="T17" fmla="*/ 0 h 37"/>
                <a:gd name="T18" fmla="*/ 10 w 20"/>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37">
                  <a:moveTo>
                    <a:pt x="10" y="0"/>
                  </a:moveTo>
                  <a:cubicBezTo>
                    <a:pt x="10" y="5"/>
                    <a:pt x="10" y="5"/>
                    <a:pt x="10" y="5"/>
                  </a:cubicBezTo>
                  <a:cubicBezTo>
                    <a:pt x="10" y="5"/>
                    <a:pt x="10" y="5"/>
                    <a:pt x="10" y="5"/>
                  </a:cubicBezTo>
                  <a:cubicBezTo>
                    <a:pt x="12" y="1"/>
                    <a:pt x="15" y="0"/>
                    <a:pt x="20" y="0"/>
                  </a:cubicBezTo>
                  <a:cubicBezTo>
                    <a:pt x="20" y="9"/>
                    <a:pt x="20" y="9"/>
                    <a:pt x="20" y="9"/>
                  </a:cubicBezTo>
                  <a:cubicBezTo>
                    <a:pt x="11" y="8"/>
                    <a:pt x="10" y="13"/>
                    <a:pt x="10" y="17"/>
                  </a:cubicBezTo>
                  <a:cubicBezTo>
                    <a:pt x="10" y="37"/>
                    <a:pt x="10" y="37"/>
                    <a:pt x="10" y="37"/>
                  </a:cubicBezTo>
                  <a:cubicBezTo>
                    <a:pt x="0" y="37"/>
                    <a:pt x="0" y="37"/>
                    <a:pt x="0" y="37"/>
                  </a:cubicBezTo>
                  <a:cubicBezTo>
                    <a:pt x="0" y="0"/>
                    <a:pt x="0" y="0"/>
                    <a:pt x="0" y="0"/>
                  </a:cubicBezTo>
                  <a:lnTo>
                    <a:pt x="1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3" name="Freeform 10"/>
            <p:cNvSpPr>
              <a:spLocks/>
            </p:cNvSpPr>
            <p:nvPr/>
          </p:nvSpPr>
          <p:spPr bwMode="gray">
            <a:xfrm>
              <a:off x="4367213" y="1362075"/>
              <a:ext cx="444500" cy="309563"/>
            </a:xfrm>
            <a:custGeom>
              <a:avLst/>
              <a:gdLst>
                <a:gd name="T0" fmla="*/ 0 w 280"/>
                <a:gd name="T1" fmla="*/ 0 h 195"/>
                <a:gd name="T2" fmla="*/ 52 w 280"/>
                <a:gd name="T3" fmla="*/ 0 h 195"/>
                <a:gd name="T4" fmla="*/ 77 w 280"/>
                <a:gd name="T5" fmla="*/ 148 h 195"/>
                <a:gd name="T6" fmla="*/ 77 w 280"/>
                <a:gd name="T7" fmla="*/ 148 h 195"/>
                <a:gd name="T8" fmla="*/ 114 w 280"/>
                <a:gd name="T9" fmla="*/ 0 h 195"/>
                <a:gd name="T10" fmla="*/ 171 w 280"/>
                <a:gd name="T11" fmla="*/ 0 h 195"/>
                <a:gd name="T12" fmla="*/ 202 w 280"/>
                <a:gd name="T13" fmla="*/ 148 h 195"/>
                <a:gd name="T14" fmla="*/ 202 w 280"/>
                <a:gd name="T15" fmla="*/ 148 h 195"/>
                <a:gd name="T16" fmla="*/ 233 w 280"/>
                <a:gd name="T17" fmla="*/ 0 h 195"/>
                <a:gd name="T18" fmla="*/ 280 w 280"/>
                <a:gd name="T19" fmla="*/ 0 h 195"/>
                <a:gd name="T20" fmla="*/ 233 w 280"/>
                <a:gd name="T21" fmla="*/ 195 h 195"/>
                <a:gd name="T22" fmla="*/ 176 w 280"/>
                <a:gd name="T23" fmla="*/ 195 h 195"/>
                <a:gd name="T24" fmla="*/ 140 w 280"/>
                <a:gd name="T25" fmla="*/ 63 h 195"/>
                <a:gd name="T26" fmla="*/ 140 w 280"/>
                <a:gd name="T27" fmla="*/ 63 h 195"/>
                <a:gd name="T28" fmla="*/ 103 w 280"/>
                <a:gd name="T29" fmla="*/ 195 h 195"/>
                <a:gd name="T30" fmla="*/ 46 w 280"/>
                <a:gd name="T31" fmla="*/ 195 h 195"/>
                <a:gd name="T32" fmla="*/ 0 w 280"/>
                <a:gd name="T33"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0" h="195">
                  <a:moveTo>
                    <a:pt x="0" y="0"/>
                  </a:moveTo>
                  <a:lnTo>
                    <a:pt x="52" y="0"/>
                  </a:lnTo>
                  <a:lnTo>
                    <a:pt x="77" y="148"/>
                  </a:lnTo>
                  <a:lnTo>
                    <a:pt x="77" y="148"/>
                  </a:lnTo>
                  <a:lnTo>
                    <a:pt x="114" y="0"/>
                  </a:lnTo>
                  <a:lnTo>
                    <a:pt x="171" y="0"/>
                  </a:lnTo>
                  <a:lnTo>
                    <a:pt x="202" y="148"/>
                  </a:lnTo>
                  <a:lnTo>
                    <a:pt x="202" y="148"/>
                  </a:lnTo>
                  <a:lnTo>
                    <a:pt x="233" y="0"/>
                  </a:lnTo>
                  <a:lnTo>
                    <a:pt x="280" y="0"/>
                  </a:lnTo>
                  <a:lnTo>
                    <a:pt x="233" y="195"/>
                  </a:lnTo>
                  <a:lnTo>
                    <a:pt x="176" y="195"/>
                  </a:lnTo>
                  <a:lnTo>
                    <a:pt x="140" y="63"/>
                  </a:lnTo>
                  <a:lnTo>
                    <a:pt x="140" y="63"/>
                  </a:lnTo>
                  <a:lnTo>
                    <a:pt x="103" y="195"/>
                  </a:lnTo>
                  <a:lnTo>
                    <a:pt x="46" y="195"/>
                  </a:lnTo>
                  <a:lnTo>
                    <a:pt x="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4" name="Freeform 11"/>
            <p:cNvSpPr>
              <a:spLocks/>
            </p:cNvSpPr>
            <p:nvPr/>
          </p:nvSpPr>
          <p:spPr bwMode="gray">
            <a:xfrm>
              <a:off x="5132388" y="1362075"/>
              <a:ext cx="155575" cy="309563"/>
            </a:xfrm>
            <a:custGeom>
              <a:avLst/>
              <a:gdLst>
                <a:gd name="T0" fmla="*/ 10 w 19"/>
                <a:gd name="T1" fmla="*/ 0 h 37"/>
                <a:gd name="T2" fmla="*/ 10 w 19"/>
                <a:gd name="T3" fmla="*/ 5 h 37"/>
                <a:gd name="T4" fmla="*/ 10 w 19"/>
                <a:gd name="T5" fmla="*/ 5 h 37"/>
                <a:gd name="T6" fmla="*/ 19 w 19"/>
                <a:gd name="T7" fmla="*/ 0 h 37"/>
                <a:gd name="T8" fmla="*/ 19 w 19"/>
                <a:gd name="T9" fmla="*/ 9 h 37"/>
                <a:gd name="T10" fmla="*/ 10 w 19"/>
                <a:gd name="T11" fmla="*/ 17 h 37"/>
                <a:gd name="T12" fmla="*/ 10 w 19"/>
                <a:gd name="T13" fmla="*/ 37 h 37"/>
                <a:gd name="T14" fmla="*/ 0 w 19"/>
                <a:gd name="T15" fmla="*/ 37 h 37"/>
                <a:gd name="T16" fmla="*/ 0 w 19"/>
                <a:gd name="T17" fmla="*/ 0 h 37"/>
                <a:gd name="T18" fmla="*/ 10 w 19"/>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37">
                  <a:moveTo>
                    <a:pt x="10" y="0"/>
                  </a:moveTo>
                  <a:cubicBezTo>
                    <a:pt x="10" y="5"/>
                    <a:pt x="10" y="5"/>
                    <a:pt x="10" y="5"/>
                  </a:cubicBezTo>
                  <a:cubicBezTo>
                    <a:pt x="10" y="5"/>
                    <a:pt x="10" y="5"/>
                    <a:pt x="10" y="5"/>
                  </a:cubicBezTo>
                  <a:cubicBezTo>
                    <a:pt x="12" y="1"/>
                    <a:pt x="15" y="0"/>
                    <a:pt x="19" y="0"/>
                  </a:cubicBezTo>
                  <a:cubicBezTo>
                    <a:pt x="19" y="9"/>
                    <a:pt x="19" y="9"/>
                    <a:pt x="19" y="9"/>
                  </a:cubicBezTo>
                  <a:cubicBezTo>
                    <a:pt x="10" y="8"/>
                    <a:pt x="10" y="13"/>
                    <a:pt x="10" y="17"/>
                  </a:cubicBezTo>
                  <a:cubicBezTo>
                    <a:pt x="10" y="37"/>
                    <a:pt x="10" y="37"/>
                    <a:pt x="10" y="37"/>
                  </a:cubicBezTo>
                  <a:cubicBezTo>
                    <a:pt x="0" y="37"/>
                    <a:pt x="0" y="37"/>
                    <a:pt x="0" y="37"/>
                  </a:cubicBezTo>
                  <a:cubicBezTo>
                    <a:pt x="0" y="0"/>
                    <a:pt x="0" y="0"/>
                    <a:pt x="0" y="0"/>
                  </a:cubicBezTo>
                  <a:lnTo>
                    <a:pt x="1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5" name="Freeform 12"/>
            <p:cNvSpPr>
              <a:spLocks noEditPoints="1"/>
            </p:cNvSpPr>
            <p:nvPr/>
          </p:nvSpPr>
          <p:spPr bwMode="gray">
            <a:xfrm>
              <a:off x="5321301" y="1362075"/>
              <a:ext cx="246063" cy="317500"/>
            </a:xfrm>
            <a:custGeom>
              <a:avLst/>
              <a:gdLst>
                <a:gd name="T0" fmla="*/ 10 w 30"/>
                <a:gd name="T1" fmla="*/ 20 h 38"/>
                <a:gd name="T2" fmla="*/ 15 w 30"/>
                <a:gd name="T3" fmla="*/ 31 h 38"/>
                <a:gd name="T4" fmla="*/ 19 w 30"/>
                <a:gd name="T5" fmla="*/ 25 h 38"/>
                <a:gd name="T6" fmla="*/ 30 w 30"/>
                <a:gd name="T7" fmla="*/ 25 h 38"/>
                <a:gd name="T8" fmla="*/ 26 w 30"/>
                <a:gd name="T9" fmla="*/ 34 h 38"/>
                <a:gd name="T10" fmla="*/ 15 w 30"/>
                <a:gd name="T11" fmla="*/ 38 h 38"/>
                <a:gd name="T12" fmla="*/ 0 w 30"/>
                <a:gd name="T13" fmla="*/ 18 h 38"/>
                <a:gd name="T14" fmla="*/ 15 w 30"/>
                <a:gd name="T15" fmla="*/ 0 h 38"/>
                <a:gd name="T16" fmla="*/ 30 w 30"/>
                <a:gd name="T17" fmla="*/ 20 h 38"/>
                <a:gd name="T18" fmla="*/ 10 w 30"/>
                <a:gd name="T19" fmla="*/ 20 h 38"/>
                <a:gd name="T20" fmla="*/ 20 w 30"/>
                <a:gd name="T21" fmla="*/ 15 h 38"/>
                <a:gd name="T22" fmla="*/ 15 w 30"/>
                <a:gd name="T23" fmla="*/ 6 h 38"/>
                <a:gd name="T24" fmla="*/ 10 w 30"/>
                <a:gd name="T25" fmla="*/ 15 h 38"/>
                <a:gd name="T26" fmla="*/ 20 w 30"/>
                <a:gd name="T27" fmla="*/ 1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38">
                  <a:moveTo>
                    <a:pt x="10" y="20"/>
                  </a:moveTo>
                  <a:cubicBezTo>
                    <a:pt x="10" y="25"/>
                    <a:pt x="11" y="31"/>
                    <a:pt x="15" y="31"/>
                  </a:cubicBezTo>
                  <a:cubicBezTo>
                    <a:pt x="19" y="31"/>
                    <a:pt x="19" y="28"/>
                    <a:pt x="19" y="25"/>
                  </a:cubicBezTo>
                  <a:cubicBezTo>
                    <a:pt x="30" y="25"/>
                    <a:pt x="30" y="25"/>
                    <a:pt x="30" y="25"/>
                  </a:cubicBezTo>
                  <a:cubicBezTo>
                    <a:pt x="30" y="29"/>
                    <a:pt x="28" y="32"/>
                    <a:pt x="26" y="34"/>
                  </a:cubicBezTo>
                  <a:cubicBezTo>
                    <a:pt x="24" y="36"/>
                    <a:pt x="20" y="38"/>
                    <a:pt x="15" y="38"/>
                  </a:cubicBezTo>
                  <a:cubicBezTo>
                    <a:pt x="2" y="38"/>
                    <a:pt x="0" y="30"/>
                    <a:pt x="0" y="18"/>
                  </a:cubicBezTo>
                  <a:cubicBezTo>
                    <a:pt x="0" y="8"/>
                    <a:pt x="2" y="0"/>
                    <a:pt x="15" y="0"/>
                  </a:cubicBezTo>
                  <a:cubicBezTo>
                    <a:pt x="29" y="0"/>
                    <a:pt x="30" y="8"/>
                    <a:pt x="30" y="20"/>
                  </a:cubicBezTo>
                  <a:lnTo>
                    <a:pt x="10" y="20"/>
                  </a:lnTo>
                  <a:close/>
                  <a:moveTo>
                    <a:pt x="20" y="15"/>
                  </a:moveTo>
                  <a:cubicBezTo>
                    <a:pt x="20" y="11"/>
                    <a:pt x="20" y="6"/>
                    <a:pt x="15" y="6"/>
                  </a:cubicBezTo>
                  <a:cubicBezTo>
                    <a:pt x="10" y="6"/>
                    <a:pt x="10" y="11"/>
                    <a:pt x="10" y="15"/>
                  </a:cubicBezTo>
                  <a:lnTo>
                    <a:pt x="20" y="1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6" name="Freeform 13"/>
            <p:cNvSpPr>
              <a:spLocks noEditPoints="1"/>
            </p:cNvSpPr>
            <p:nvPr/>
          </p:nvSpPr>
          <p:spPr bwMode="gray">
            <a:xfrm>
              <a:off x="5748338" y="1362075"/>
              <a:ext cx="247650" cy="317500"/>
            </a:xfrm>
            <a:custGeom>
              <a:avLst/>
              <a:gdLst>
                <a:gd name="T0" fmla="*/ 29 w 30"/>
                <a:gd name="T1" fmla="*/ 30 h 38"/>
                <a:gd name="T2" fmla="*/ 30 w 30"/>
                <a:gd name="T3" fmla="*/ 37 h 38"/>
                <a:gd name="T4" fmla="*/ 20 w 30"/>
                <a:gd name="T5" fmla="*/ 37 h 38"/>
                <a:gd name="T6" fmla="*/ 20 w 30"/>
                <a:gd name="T7" fmla="*/ 32 h 38"/>
                <a:gd name="T8" fmla="*/ 20 w 30"/>
                <a:gd name="T9" fmla="*/ 32 h 38"/>
                <a:gd name="T10" fmla="*/ 10 w 30"/>
                <a:gd name="T11" fmla="*/ 38 h 38"/>
                <a:gd name="T12" fmla="*/ 0 w 30"/>
                <a:gd name="T13" fmla="*/ 26 h 38"/>
                <a:gd name="T14" fmla="*/ 19 w 30"/>
                <a:gd name="T15" fmla="*/ 13 h 38"/>
                <a:gd name="T16" fmla="*/ 19 w 30"/>
                <a:gd name="T17" fmla="*/ 11 h 38"/>
                <a:gd name="T18" fmla="*/ 15 w 30"/>
                <a:gd name="T19" fmla="*/ 5 h 38"/>
                <a:gd name="T20" fmla="*/ 11 w 30"/>
                <a:gd name="T21" fmla="*/ 11 h 38"/>
                <a:gd name="T22" fmla="*/ 1 w 30"/>
                <a:gd name="T23" fmla="*/ 11 h 38"/>
                <a:gd name="T24" fmla="*/ 5 w 30"/>
                <a:gd name="T25" fmla="*/ 2 h 38"/>
                <a:gd name="T26" fmla="*/ 15 w 30"/>
                <a:gd name="T27" fmla="*/ 0 h 38"/>
                <a:gd name="T28" fmla="*/ 29 w 30"/>
                <a:gd name="T29" fmla="*/ 12 h 38"/>
                <a:gd name="T30" fmla="*/ 29 w 30"/>
                <a:gd name="T31" fmla="*/ 30 h 38"/>
                <a:gd name="T32" fmla="*/ 10 w 30"/>
                <a:gd name="T33" fmla="*/ 26 h 38"/>
                <a:gd name="T34" fmla="*/ 14 w 30"/>
                <a:gd name="T35" fmla="*/ 31 h 38"/>
                <a:gd name="T36" fmla="*/ 19 w 30"/>
                <a:gd name="T37" fmla="*/ 19 h 38"/>
                <a:gd name="T38" fmla="*/ 10 w 30"/>
                <a:gd name="T39"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 h="38">
                  <a:moveTo>
                    <a:pt x="29" y="30"/>
                  </a:moveTo>
                  <a:cubicBezTo>
                    <a:pt x="29" y="32"/>
                    <a:pt x="29" y="35"/>
                    <a:pt x="30" y="37"/>
                  </a:cubicBezTo>
                  <a:cubicBezTo>
                    <a:pt x="20" y="37"/>
                    <a:pt x="20" y="37"/>
                    <a:pt x="20" y="37"/>
                  </a:cubicBezTo>
                  <a:cubicBezTo>
                    <a:pt x="20" y="32"/>
                    <a:pt x="20" y="32"/>
                    <a:pt x="20" y="32"/>
                  </a:cubicBezTo>
                  <a:cubicBezTo>
                    <a:pt x="20" y="32"/>
                    <a:pt x="20" y="32"/>
                    <a:pt x="20" y="32"/>
                  </a:cubicBezTo>
                  <a:cubicBezTo>
                    <a:pt x="17" y="36"/>
                    <a:pt x="14" y="38"/>
                    <a:pt x="10" y="38"/>
                  </a:cubicBezTo>
                  <a:cubicBezTo>
                    <a:pt x="3" y="38"/>
                    <a:pt x="0" y="32"/>
                    <a:pt x="0" y="26"/>
                  </a:cubicBezTo>
                  <a:cubicBezTo>
                    <a:pt x="0" y="14"/>
                    <a:pt x="10" y="13"/>
                    <a:pt x="19" y="13"/>
                  </a:cubicBezTo>
                  <a:cubicBezTo>
                    <a:pt x="19" y="11"/>
                    <a:pt x="19" y="11"/>
                    <a:pt x="19" y="11"/>
                  </a:cubicBezTo>
                  <a:cubicBezTo>
                    <a:pt x="19" y="8"/>
                    <a:pt x="19" y="5"/>
                    <a:pt x="15" y="5"/>
                  </a:cubicBezTo>
                  <a:cubicBezTo>
                    <a:pt x="11" y="5"/>
                    <a:pt x="11" y="8"/>
                    <a:pt x="11" y="11"/>
                  </a:cubicBezTo>
                  <a:cubicBezTo>
                    <a:pt x="1" y="11"/>
                    <a:pt x="1" y="11"/>
                    <a:pt x="1" y="11"/>
                  </a:cubicBezTo>
                  <a:cubicBezTo>
                    <a:pt x="1" y="6"/>
                    <a:pt x="3" y="4"/>
                    <a:pt x="5" y="2"/>
                  </a:cubicBezTo>
                  <a:cubicBezTo>
                    <a:pt x="7" y="0"/>
                    <a:pt x="11" y="0"/>
                    <a:pt x="15" y="0"/>
                  </a:cubicBezTo>
                  <a:cubicBezTo>
                    <a:pt x="28" y="0"/>
                    <a:pt x="29" y="5"/>
                    <a:pt x="29" y="12"/>
                  </a:cubicBezTo>
                  <a:lnTo>
                    <a:pt x="29" y="30"/>
                  </a:lnTo>
                  <a:close/>
                  <a:moveTo>
                    <a:pt x="10" y="26"/>
                  </a:moveTo>
                  <a:cubicBezTo>
                    <a:pt x="10" y="28"/>
                    <a:pt x="11" y="31"/>
                    <a:pt x="14" y="31"/>
                  </a:cubicBezTo>
                  <a:cubicBezTo>
                    <a:pt x="20" y="31"/>
                    <a:pt x="19" y="23"/>
                    <a:pt x="19" y="19"/>
                  </a:cubicBezTo>
                  <a:cubicBezTo>
                    <a:pt x="14" y="19"/>
                    <a:pt x="10" y="19"/>
                    <a:pt x="10" y="2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7" name="Freeform 14"/>
            <p:cNvSpPr>
              <a:spLocks/>
            </p:cNvSpPr>
            <p:nvPr/>
          </p:nvSpPr>
          <p:spPr bwMode="gray">
            <a:xfrm>
              <a:off x="6045201" y="1362075"/>
              <a:ext cx="230188" cy="309563"/>
            </a:xfrm>
            <a:custGeom>
              <a:avLst/>
              <a:gdLst>
                <a:gd name="T0" fmla="*/ 11 w 28"/>
                <a:gd name="T1" fmla="*/ 4 h 37"/>
                <a:gd name="T2" fmla="*/ 11 w 28"/>
                <a:gd name="T3" fmla="*/ 4 h 37"/>
                <a:gd name="T4" fmla="*/ 14 w 28"/>
                <a:gd name="T5" fmla="*/ 1 h 37"/>
                <a:gd name="T6" fmla="*/ 19 w 28"/>
                <a:gd name="T7" fmla="*/ 0 h 37"/>
                <a:gd name="T8" fmla="*/ 28 w 28"/>
                <a:gd name="T9" fmla="*/ 8 h 37"/>
                <a:gd name="T10" fmla="*/ 28 w 28"/>
                <a:gd name="T11" fmla="*/ 37 h 37"/>
                <a:gd name="T12" fmla="*/ 18 w 28"/>
                <a:gd name="T13" fmla="*/ 37 h 37"/>
                <a:gd name="T14" fmla="*/ 18 w 28"/>
                <a:gd name="T15" fmla="*/ 12 h 37"/>
                <a:gd name="T16" fmla="*/ 14 w 28"/>
                <a:gd name="T17" fmla="*/ 6 h 37"/>
                <a:gd name="T18" fmla="*/ 11 w 28"/>
                <a:gd name="T19" fmla="*/ 12 h 37"/>
                <a:gd name="T20" fmla="*/ 11 w 28"/>
                <a:gd name="T21" fmla="*/ 37 h 37"/>
                <a:gd name="T22" fmla="*/ 0 w 28"/>
                <a:gd name="T23" fmla="*/ 37 h 37"/>
                <a:gd name="T24" fmla="*/ 0 w 28"/>
                <a:gd name="T25" fmla="*/ 0 h 37"/>
                <a:gd name="T26" fmla="*/ 11 w 28"/>
                <a:gd name="T27" fmla="*/ 0 h 37"/>
                <a:gd name="T28" fmla="*/ 11 w 28"/>
                <a:gd name="T29"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37">
                  <a:moveTo>
                    <a:pt x="11" y="4"/>
                  </a:moveTo>
                  <a:cubicBezTo>
                    <a:pt x="11" y="4"/>
                    <a:pt x="11" y="4"/>
                    <a:pt x="11" y="4"/>
                  </a:cubicBezTo>
                  <a:cubicBezTo>
                    <a:pt x="12" y="2"/>
                    <a:pt x="13" y="1"/>
                    <a:pt x="14" y="1"/>
                  </a:cubicBezTo>
                  <a:cubicBezTo>
                    <a:pt x="16" y="0"/>
                    <a:pt x="17" y="0"/>
                    <a:pt x="19" y="0"/>
                  </a:cubicBezTo>
                  <a:cubicBezTo>
                    <a:pt x="24" y="0"/>
                    <a:pt x="28" y="2"/>
                    <a:pt x="28" y="8"/>
                  </a:cubicBezTo>
                  <a:cubicBezTo>
                    <a:pt x="28" y="37"/>
                    <a:pt x="28" y="37"/>
                    <a:pt x="28" y="37"/>
                  </a:cubicBezTo>
                  <a:cubicBezTo>
                    <a:pt x="18" y="37"/>
                    <a:pt x="18" y="37"/>
                    <a:pt x="18" y="37"/>
                  </a:cubicBezTo>
                  <a:cubicBezTo>
                    <a:pt x="18" y="12"/>
                    <a:pt x="18" y="12"/>
                    <a:pt x="18" y="12"/>
                  </a:cubicBezTo>
                  <a:cubicBezTo>
                    <a:pt x="18" y="8"/>
                    <a:pt x="18" y="6"/>
                    <a:pt x="14" y="6"/>
                  </a:cubicBezTo>
                  <a:cubicBezTo>
                    <a:pt x="11" y="6"/>
                    <a:pt x="11" y="8"/>
                    <a:pt x="11" y="12"/>
                  </a:cubicBezTo>
                  <a:cubicBezTo>
                    <a:pt x="11" y="37"/>
                    <a:pt x="11" y="37"/>
                    <a:pt x="11" y="37"/>
                  </a:cubicBezTo>
                  <a:cubicBezTo>
                    <a:pt x="0" y="37"/>
                    <a:pt x="0" y="37"/>
                    <a:pt x="0" y="37"/>
                  </a:cubicBezTo>
                  <a:cubicBezTo>
                    <a:pt x="0" y="0"/>
                    <a:pt x="0" y="0"/>
                    <a:pt x="0" y="0"/>
                  </a:cubicBezTo>
                  <a:cubicBezTo>
                    <a:pt x="11" y="0"/>
                    <a:pt x="11" y="0"/>
                    <a:pt x="11" y="0"/>
                  </a:cubicBezTo>
                  <a:lnTo>
                    <a:pt x="11" y="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8" name="Freeform 15"/>
            <p:cNvSpPr>
              <a:spLocks noEditPoints="1"/>
            </p:cNvSpPr>
            <p:nvPr/>
          </p:nvSpPr>
          <p:spPr bwMode="gray">
            <a:xfrm>
              <a:off x="6332538" y="1236663"/>
              <a:ext cx="239713" cy="442913"/>
            </a:xfrm>
            <a:custGeom>
              <a:avLst/>
              <a:gdLst>
                <a:gd name="T0" fmla="*/ 19 w 29"/>
                <a:gd name="T1" fmla="*/ 52 h 53"/>
                <a:gd name="T2" fmla="*/ 19 w 29"/>
                <a:gd name="T3" fmla="*/ 48 h 53"/>
                <a:gd name="T4" fmla="*/ 19 w 29"/>
                <a:gd name="T5" fmla="*/ 48 h 53"/>
                <a:gd name="T6" fmla="*/ 10 w 29"/>
                <a:gd name="T7" fmla="*/ 53 h 53"/>
                <a:gd name="T8" fmla="*/ 0 w 29"/>
                <a:gd name="T9" fmla="*/ 33 h 53"/>
                <a:gd name="T10" fmla="*/ 10 w 29"/>
                <a:gd name="T11" fmla="*/ 15 h 53"/>
                <a:gd name="T12" fmla="*/ 19 w 29"/>
                <a:gd name="T13" fmla="*/ 19 h 53"/>
                <a:gd name="T14" fmla="*/ 19 w 29"/>
                <a:gd name="T15" fmla="*/ 19 h 53"/>
                <a:gd name="T16" fmla="*/ 19 w 29"/>
                <a:gd name="T17" fmla="*/ 0 h 53"/>
                <a:gd name="T18" fmla="*/ 29 w 29"/>
                <a:gd name="T19" fmla="*/ 0 h 53"/>
                <a:gd name="T20" fmla="*/ 29 w 29"/>
                <a:gd name="T21" fmla="*/ 52 h 53"/>
                <a:gd name="T22" fmla="*/ 19 w 29"/>
                <a:gd name="T23" fmla="*/ 52 h 53"/>
                <a:gd name="T24" fmla="*/ 19 w 29"/>
                <a:gd name="T25" fmla="*/ 33 h 53"/>
                <a:gd name="T26" fmla="*/ 15 w 29"/>
                <a:gd name="T27" fmla="*/ 21 h 53"/>
                <a:gd name="T28" fmla="*/ 10 w 29"/>
                <a:gd name="T29" fmla="*/ 33 h 53"/>
                <a:gd name="T30" fmla="*/ 15 w 29"/>
                <a:gd name="T31" fmla="*/ 46 h 53"/>
                <a:gd name="T32" fmla="*/ 19 w 29"/>
                <a:gd name="T33"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 h="53">
                  <a:moveTo>
                    <a:pt x="19" y="52"/>
                  </a:moveTo>
                  <a:cubicBezTo>
                    <a:pt x="19" y="48"/>
                    <a:pt x="19" y="48"/>
                    <a:pt x="19" y="48"/>
                  </a:cubicBezTo>
                  <a:cubicBezTo>
                    <a:pt x="19" y="48"/>
                    <a:pt x="19" y="48"/>
                    <a:pt x="19" y="48"/>
                  </a:cubicBezTo>
                  <a:cubicBezTo>
                    <a:pt x="17" y="51"/>
                    <a:pt x="14" y="53"/>
                    <a:pt x="10" y="53"/>
                  </a:cubicBezTo>
                  <a:cubicBezTo>
                    <a:pt x="0" y="53"/>
                    <a:pt x="0" y="41"/>
                    <a:pt x="0" y="33"/>
                  </a:cubicBezTo>
                  <a:cubicBezTo>
                    <a:pt x="0" y="26"/>
                    <a:pt x="0" y="15"/>
                    <a:pt x="10" y="15"/>
                  </a:cubicBezTo>
                  <a:cubicBezTo>
                    <a:pt x="14" y="15"/>
                    <a:pt x="16" y="16"/>
                    <a:pt x="19" y="19"/>
                  </a:cubicBezTo>
                  <a:cubicBezTo>
                    <a:pt x="19" y="19"/>
                    <a:pt x="19" y="19"/>
                    <a:pt x="19" y="19"/>
                  </a:cubicBezTo>
                  <a:cubicBezTo>
                    <a:pt x="19" y="0"/>
                    <a:pt x="19" y="0"/>
                    <a:pt x="19" y="0"/>
                  </a:cubicBezTo>
                  <a:cubicBezTo>
                    <a:pt x="29" y="0"/>
                    <a:pt x="29" y="0"/>
                    <a:pt x="29" y="0"/>
                  </a:cubicBezTo>
                  <a:cubicBezTo>
                    <a:pt x="29" y="52"/>
                    <a:pt x="29" y="52"/>
                    <a:pt x="29" y="52"/>
                  </a:cubicBezTo>
                  <a:lnTo>
                    <a:pt x="19" y="52"/>
                  </a:lnTo>
                  <a:close/>
                  <a:moveTo>
                    <a:pt x="19" y="33"/>
                  </a:moveTo>
                  <a:cubicBezTo>
                    <a:pt x="19" y="26"/>
                    <a:pt x="19" y="21"/>
                    <a:pt x="15" y="21"/>
                  </a:cubicBezTo>
                  <a:cubicBezTo>
                    <a:pt x="10" y="21"/>
                    <a:pt x="10" y="26"/>
                    <a:pt x="10" y="33"/>
                  </a:cubicBezTo>
                  <a:cubicBezTo>
                    <a:pt x="10" y="43"/>
                    <a:pt x="11" y="46"/>
                    <a:pt x="15" y="46"/>
                  </a:cubicBezTo>
                  <a:cubicBezTo>
                    <a:pt x="18" y="46"/>
                    <a:pt x="19" y="43"/>
                    <a:pt x="19" y="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9" name="Freeform 16"/>
            <p:cNvSpPr>
              <a:spLocks noEditPoints="1"/>
            </p:cNvSpPr>
            <p:nvPr/>
          </p:nvSpPr>
          <p:spPr bwMode="gray">
            <a:xfrm>
              <a:off x="4087813" y="1236663"/>
              <a:ext cx="238125" cy="442913"/>
            </a:xfrm>
            <a:custGeom>
              <a:avLst/>
              <a:gdLst>
                <a:gd name="T0" fmla="*/ 20 w 29"/>
                <a:gd name="T1" fmla="*/ 52 h 53"/>
                <a:gd name="T2" fmla="*/ 20 w 29"/>
                <a:gd name="T3" fmla="*/ 48 h 53"/>
                <a:gd name="T4" fmla="*/ 19 w 29"/>
                <a:gd name="T5" fmla="*/ 48 h 53"/>
                <a:gd name="T6" fmla="*/ 11 w 29"/>
                <a:gd name="T7" fmla="*/ 53 h 53"/>
                <a:gd name="T8" fmla="*/ 1 w 29"/>
                <a:gd name="T9" fmla="*/ 33 h 53"/>
                <a:gd name="T10" fmla="*/ 11 w 29"/>
                <a:gd name="T11" fmla="*/ 15 h 53"/>
                <a:gd name="T12" fmla="*/ 19 w 29"/>
                <a:gd name="T13" fmla="*/ 19 h 53"/>
                <a:gd name="T14" fmla="*/ 19 w 29"/>
                <a:gd name="T15" fmla="*/ 19 h 53"/>
                <a:gd name="T16" fmla="*/ 19 w 29"/>
                <a:gd name="T17" fmla="*/ 0 h 53"/>
                <a:gd name="T18" fmla="*/ 29 w 29"/>
                <a:gd name="T19" fmla="*/ 0 h 53"/>
                <a:gd name="T20" fmla="*/ 29 w 29"/>
                <a:gd name="T21" fmla="*/ 52 h 53"/>
                <a:gd name="T22" fmla="*/ 20 w 29"/>
                <a:gd name="T23" fmla="*/ 52 h 53"/>
                <a:gd name="T24" fmla="*/ 19 w 29"/>
                <a:gd name="T25" fmla="*/ 33 h 53"/>
                <a:gd name="T26" fmla="*/ 15 w 29"/>
                <a:gd name="T27" fmla="*/ 21 h 53"/>
                <a:gd name="T28" fmla="*/ 11 w 29"/>
                <a:gd name="T29" fmla="*/ 33 h 53"/>
                <a:gd name="T30" fmla="*/ 15 w 29"/>
                <a:gd name="T31" fmla="*/ 46 h 53"/>
                <a:gd name="T32" fmla="*/ 19 w 29"/>
                <a:gd name="T33"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 h="53">
                  <a:moveTo>
                    <a:pt x="20" y="52"/>
                  </a:moveTo>
                  <a:cubicBezTo>
                    <a:pt x="20" y="48"/>
                    <a:pt x="20" y="48"/>
                    <a:pt x="20" y="48"/>
                  </a:cubicBezTo>
                  <a:cubicBezTo>
                    <a:pt x="19" y="48"/>
                    <a:pt x="19" y="48"/>
                    <a:pt x="19" y="48"/>
                  </a:cubicBezTo>
                  <a:cubicBezTo>
                    <a:pt x="18" y="51"/>
                    <a:pt x="15" y="53"/>
                    <a:pt x="11" y="53"/>
                  </a:cubicBezTo>
                  <a:cubicBezTo>
                    <a:pt x="0" y="53"/>
                    <a:pt x="1" y="41"/>
                    <a:pt x="1" y="33"/>
                  </a:cubicBezTo>
                  <a:cubicBezTo>
                    <a:pt x="1" y="26"/>
                    <a:pt x="0" y="15"/>
                    <a:pt x="11" y="15"/>
                  </a:cubicBezTo>
                  <a:cubicBezTo>
                    <a:pt x="14" y="15"/>
                    <a:pt x="17" y="16"/>
                    <a:pt x="19" y="19"/>
                  </a:cubicBezTo>
                  <a:cubicBezTo>
                    <a:pt x="19" y="19"/>
                    <a:pt x="19" y="19"/>
                    <a:pt x="19" y="19"/>
                  </a:cubicBezTo>
                  <a:cubicBezTo>
                    <a:pt x="19" y="0"/>
                    <a:pt x="19" y="0"/>
                    <a:pt x="19" y="0"/>
                  </a:cubicBezTo>
                  <a:cubicBezTo>
                    <a:pt x="29" y="0"/>
                    <a:pt x="29" y="0"/>
                    <a:pt x="29" y="0"/>
                  </a:cubicBezTo>
                  <a:cubicBezTo>
                    <a:pt x="29" y="52"/>
                    <a:pt x="29" y="52"/>
                    <a:pt x="29" y="52"/>
                  </a:cubicBezTo>
                  <a:lnTo>
                    <a:pt x="20" y="52"/>
                  </a:lnTo>
                  <a:close/>
                  <a:moveTo>
                    <a:pt x="19" y="33"/>
                  </a:moveTo>
                  <a:cubicBezTo>
                    <a:pt x="19" y="26"/>
                    <a:pt x="19" y="21"/>
                    <a:pt x="15" y="21"/>
                  </a:cubicBezTo>
                  <a:cubicBezTo>
                    <a:pt x="11" y="21"/>
                    <a:pt x="11" y="26"/>
                    <a:pt x="11" y="33"/>
                  </a:cubicBezTo>
                  <a:cubicBezTo>
                    <a:pt x="11" y="43"/>
                    <a:pt x="11" y="46"/>
                    <a:pt x="15" y="46"/>
                  </a:cubicBezTo>
                  <a:cubicBezTo>
                    <a:pt x="18" y="46"/>
                    <a:pt x="19" y="43"/>
                    <a:pt x="19" y="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0" name="Freeform 17"/>
            <p:cNvSpPr>
              <a:spLocks/>
            </p:cNvSpPr>
            <p:nvPr/>
          </p:nvSpPr>
          <p:spPr bwMode="gray">
            <a:xfrm>
              <a:off x="6761163" y="1227138"/>
              <a:ext cx="279400" cy="452438"/>
            </a:xfrm>
            <a:custGeom>
              <a:avLst/>
              <a:gdLst>
                <a:gd name="T0" fmla="*/ 16 w 34"/>
                <a:gd name="T1" fmla="*/ 54 h 54"/>
                <a:gd name="T2" fmla="*/ 1 w 34"/>
                <a:gd name="T3" fmla="*/ 37 h 54"/>
                <a:gd name="T4" fmla="*/ 11 w 34"/>
                <a:gd name="T5" fmla="*/ 37 h 54"/>
                <a:gd name="T6" fmla="*/ 18 w 34"/>
                <a:gd name="T7" fmla="*/ 46 h 54"/>
                <a:gd name="T8" fmla="*/ 23 w 34"/>
                <a:gd name="T9" fmla="*/ 40 h 54"/>
                <a:gd name="T10" fmla="*/ 1 w 34"/>
                <a:gd name="T11" fmla="*/ 14 h 54"/>
                <a:gd name="T12" fmla="*/ 18 w 34"/>
                <a:gd name="T13" fmla="*/ 0 h 54"/>
                <a:gd name="T14" fmla="*/ 34 w 34"/>
                <a:gd name="T15" fmla="*/ 15 h 54"/>
                <a:gd name="T16" fmla="*/ 23 w 34"/>
                <a:gd name="T17" fmla="*/ 15 h 54"/>
                <a:gd name="T18" fmla="*/ 18 w 34"/>
                <a:gd name="T19" fmla="*/ 8 h 54"/>
                <a:gd name="T20" fmla="*/ 12 w 34"/>
                <a:gd name="T21" fmla="*/ 13 h 54"/>
                <a:gd name="T22" fmla="*/ 34 w 34"/>
                <a:gd name="T23" fmla="*/ 39 h 54"/>
                <a:gd name="T24" fmla="*/ 16 w 34"/>
                <a:gd name="T2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 h="54">
                  <a:moveTo>
                    <a:pt x="16" y="54"/>
                  </a:moveTo>
                  <a:cubicBezTo>
                    <a:pt x="2" y="54"/>
                    <a:pt x="0" y="46"/>
                    <a:pt x="1" y="37"/>
                  </a:cubicBezTo>
                  <a:cubicBezTo>
                    <a:pt x="11" y="37"/>
                    <a:pt x="11" y="37"/>
                    <a:pt x="11" y="37"/>
                  </a:cubicBezTo>
                  <a:cubicBezTo>
                    <a:pt x="11" y="42"/>
                    <a:pt x="12" y="46"/>
                    <a:pt x="18" y="46"/>
                  </a:cubicBezTo>
                  <a:cubicBezTo>
                    <a:pt x="21" y="46"/>
                    <a:pt x="23" y="44"/>
                    <a:pt x="23" y="40"/>
                  </a:cubicBezTo>
                  <a:cubicBezTo>
                    <a:pt x="23" y="31"/>
                    <a:pt x="1" y="30"/>
                    <a:pt x="1" y="14"/>
                  </a:cubicBezTo>
                  <a:cubicBezTo>
                    <a:pt x="1" y="6"/>
                    <a:pt x="5" y="0"/>
                    <a:pt x="18" y="0"/>
                  </a:cubicBezTo>
                  <a:cubicBezTo>
                    <a:pt x="29" y="0"/>
                    <a:pt x="34" y="4"/>
                    <a:pt x="34" y="15"/>
                  </a:cubicBezTo>
                  <a:cubicBezTo>
                    <a:pt x="23" y="15"/>
                    <a:pt x="23" y="15"/>
                    <a:pt x="23" y="15"/>
                  </a:cubicBezTo>
                  <a:cubicBezTo>
                    <a:pt x="23" y="12"/>
                    <a:pt x="22" y="8"/>
                    <a:pt x="18" y="8"/>
                  </a:cubicBezTo>
                  <a:cubicBezTo>
                    <a:pt x="14" y="8"/>
                    <a:pt x="12" y="9"/>
                    <a:pt x="12" y="13"/>
                  </a:cubicBezTo>
                  <a:cubicBezTo>
                    <a:pt x="12" y="23"/>
                    <a:pt x="34" y="22"/>
                    <a:pt x="34" y="39"/>
                  </a:cubicBezTo>
                  <a:cubicBezTo>
                    <a:pt x="34" y="52"/>
                    <a:pt x="24" y="54"/>
                    <a:pt x="16" y="5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1" name="Freeform 18"/>
            <p:cNvSpPr>
              <a:spLocks noEditPoints="1"/>
            </p:cNvSpPr>
            <p:nvPr/>
          </p:nvSpPr>
          <p:spPr bwMode="gray">
            <a:xfrm>
              <a:off x="7081838" y="1362075"/>
              <a:ext cx="238125" cy="317500"/>
            </a:xfrm>
            <a:custGeom>
              <a:avLst/>
              <a:gdLst>
                <a:gd name="T0" fmla="*/ 0 w 29"/>
                <a:gd name="T1" fmla="*/ 18 h 38"/>
                <a:gd name="T2" fmla="*/ 15 w 29"/>
                <a:gd name="T3" fmla="*/ 0 h 38"/>
                <a:gd name="T4" fmla="*/ 29 w 29"/>
                <a:gd name="T5" fmla="*/ 18 h 38"/>
                <a:gd name="T6" fmla="*/ 15 w 29"/>
                <a:gd name="T7" fmla="*/ 38 h 38"/>
                <a:gd name="T8" fmla="*/ 0 w 29"/>
                <a:gd name="T9" fmla="*/ 18 h 38"/>
                <a:gd name="T10" fmla="*/ 19 w 29"/>
                <a:gd name="T11" fmla="*/ 18 h 38"/>
                <a:gd name="T12" fmla="*/ 15 w 29"/>
                <a:gd name="T13" fmla="*/ 6 h 38"/>
                <a:gd name="T14" fmla="*/ 10 w 29"/>
                <a:gd name="T15" fmla="*/ 18 h 38"/>
                <a:gd name="T16" fmla="*/ 15 w 29"/>
                <a:gd name="T17" fmla="*/ 31 h 38"/>
                <a:gd name="T18" fmla="*/ 19 w 29"/>
                <a:gd name="T19" fmla="*/ 1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38">
                  <a:moveTo>
                    <a:pt x="0" y="18"/>
                  </a:moveTo>
                  <a:cubicBezTo>
                    <a:pt x="0" y="8"/>
                    <a:pt x="1" y="0"/>
                    <a:pt x="15" y="0"/>
                  </a:cubicBezTo>
                  <a:cubicBezTo>
                    <a:pt x="28" y="0"/>
                    <a:pt x="29" y="8"/>
                    <a:pt x="29" y="18"/>
                  </a:cubicBezTo>
                  <a:cubicBezTo>
                    <a:pt x="29" y="30"/>
                    <a:pt x="28" y="38"/>
                    <a:pt x="15" y="38"/>
                  </a:cubicBezTo>
                  <a:cubicBezTo>
                    <a:pt x="1" y="38"/>
                    <a:pt x="0" y="30"/>
                    <a:pt x="0" y="18"/>
                  </a:cubicBezTo>
                  <a:close/>
                  <a:moveTo>
                    <a:pt x="19" y="18"/>
                  </a:moveTo>
                  <a:cubicBezTo>
                    <a:pt x="19" y="10"/>
                    <a:pt x="19" y="6"/>
                    <a:pt x="15" y="6"/>
                  </a:cubicBezTo>
                  <a:cubicBezTo>
                    <a:pt x="10" y="6"/>
                    <a:pt x="10" y="10"/>
                    <a:pt x="10" y="18"/>
                  </a:cubicBezTo>
                  <a:cubicBezTo>
                    <a:pt x="10" y="29"/>
                    <a:pt x="11" y="31"/>
                    <a:pt x="15" y="31"/>
                  </a:cubicBezTo>
                  <a:cubicBezTo>
                    <a:pt x="18" y="31"/>
                    <a:pt x="19" y="29"/>
                    <a:pt x="19" y="1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2" name="Freeform 19"/>
            <p:cNvSpPr>
              <a:spLocks/>
            </p:cNvSpPr>
            <p:nvPr/>
          </p:nvSpPr>
          <p:spPr bwMode="gray">
            <a:xfrm>
              <a:off x="7345363" y="1227138"/>
              <a:ext cx="163513" cy="444500"/>
            </a:xfrm>
            <a:custGeom>
              <a:avLst/>
              <a:gdLst>
                <a:gd name="T0" fmla="*/ 20 w 20"/>
                <a:gd name="T1" fmla="*/ 7 h 53"/>
                <a:gd name="T2" fmla="*/ 15 w 20"/>
                <a:gd name="T3" fmla="*/ 12 h 53"/>
                <a:gd name="T4" fmla="*/ 15 w 20"/>
                <a:gd name="T5" fmla="*/ 16 h 53"/>
                <a:gd name="T6" fmla="*/ 19 w 20"/>
                <a:gd name="T7" fmla="*/ 16 h 53"/>
                <a:gd name="T8" fmla="*/ 19 w 20"/>
                <a:gd name="T9" fmla="*/ 23 h 53"/>
                <a:gd name="T10" fmla="*/ 15 w 20"/>
                <a:gd name="T11" fmla="*/ 23 h 53"/>
                <a:gd name="T12" fmla="*/ 15 w 20"/>
                <a:gd name="T13" fmla="*/ 53 h 53"/>
                <a:gd name="T14" fmla="*/ 4 w 20"/>
                <a:gd name="T15" fmla="*/ 53 h 53"/>
                <a:gd name="T16" fmla="*/ 4 w 20"/>
                <a:gd name="T17" fmla="*/ 23 h 53"/>
                <a:gd name="T18" fmla="*/ 0 w 20"/>
                <a:gd name="T19" fmla="*/ 23 h 53"/>
                <a:gd name="T20" fmla="*/ 0 w 20"/>
                <a:gd name="T21" fmla="*/ 16 h 53"/>
                <a:gd name="T22" fmla="*/ 5 w 20"/>
                <a:gd name="T23" fmla="*/ 16 h 53"/>
                <a:gd name="T24" fmla="*/ 16 w 20"/>
                <a:gd name="T25" fmla="*/ 0 h 53"/>
                <a:gd name="T26" fmla="*/ 20 w 20"/>
                <a:gd name="T27" fmla="*/ 0 h 53"/>
                <a:gd name="T28" fmla="*/ 20 w 20"/>
                <a:gd name="T29" fmla="*/ 7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53">
                  <a:moveTo>
                    <a:pt x="20" y="7"/>
                  </a:moveTo>
                  <a:cubicBezTo>
                    <a:pt x="16" y="7"/>
                    <a:pt x="15" y="8"/>
                    <a:pt x="15" y="12"/>
                  </a:cubicBezTo>
                  <a:cubicBezTo>
                    <a:pt x="15" y="16"/>
                    <a:pt x="15" y="16"/>
                    <a:pt x="15" y="16"/>
                  </a:cubicBezTo>
                  <a:cubicBezTo>
                    <a:pt x="19" y="16"/>
                    <a:pt x="19" y="16"/>
                    <a:pt x="19" y="16"/>
                  </a:cubicBezTo>
                  <a:cubicBezTo>
                    <a:pt x="19" y="23"/>
                    <a:pt x="19" y="23"/>
                    <a:pt x="19" y="23"/>
                  </a:cubicBezTo>
                  <a:cubicBezTo>
                    <a:pt x="15" y="23"/>
                    <a:pt x="15" y="23"/>
                    <a:pt x="15" y="23"/>
                  </a:cubicBezTo>
                  <a:cubicBezTo>
                    <a:pt x="15" y="53"/>
                    <a:pt x="15" y="53"/>
                    <a:pt x="15" y="53"/>
                  </a:cubicBezTo>
                  <a:cubicBezTo>
                    <a:pt x="4" y="53"/>
                    <a:pt x="4" y="53"/>
                    <a:pt x="4" y="53"/>
                  </a:cubicBezTo>
                  <a:cubicBezTo>
                    <a:pt x="4" y="23"/>
                    <a:pt x="4" y="23"/>
                    <a:pt x="4" y="23"/>
                  </a:cubicBezTo>
                  <a:cubicBezTo>
                    <a:pt x="0" y="23"/>
                    <a:pt x="0" y="23"/>
                    <a:pt x="0" y="23"/>
                  </a:cubicBezTo>
                  <a:cubicBezTo>
                    <a:pt x="0" y="16"/>
                    <a:pt x="0" y="16"/>
                    <a:pt x="0" y="16"/>
                  </a:cubicBezTo>
                  <a:cubicBezTo>
                    <a:pt x="5" y="16"/>
                    <a:pt x="5" y="16"/>
                    <a:pt x="5" y="16"/>
                  </a:cubicBezTo>
                  <a:cubicBezTo>
                    <a:pt x="4" y="6"/>
                    <a:pt x="4" y="0"/>
                    <a:pt x="16" y="0"/>
                  </a:cubicBezTo>
                  <a:cubicBezTo>
                    <a:pt x="17" y="0"/>
                    <a:pt x="18" y="0"/>
                    <a:pt x="20" y="0"/>
                  </a:cubicBezTo>
                  <a:lnTo>
                    <a:pt x="20" y="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3" name="Freeform 20"/>
            <p:cNvSpPr>
              <a:spLocks/>
            </p:cNvSpPr>
            <p:nvPr/>
          </p:nvSpPr>
          <p:spPr bwMode="gray">
            <a:xfrm>
              <a:off x="7542213" y="1277938"/>
              <a:ext cx="157163" cy="393700"/>
            </a:xfrm>
            <a:custGeom>
              <a:avLst/>
              <a:gdLst>
                <a:gd name="T0" fmla="*/ 0 w 19"/>
                <a:gd name="T1" fmla="*/ 10 h 47"/>
                <a:gd name="T2" fmla="*/ 4 w 19"/>
                <a:gd name="T3" fmla="*/ 10 h 47"/>
                <a:gd name="T4" fmla="*/ 4 w 19"/>
                <a:gd name="T5" fmla="*/ 4 h 47"/>
                <a:gd name="T6" fmla="*/ 14 w 19"/>
                <a:gd name="T7" fmla="*/ 0 h 47"/>
                <a:gd name="T8" fmla="*/ 14 w 19"/>
                <a:gd name="T9" fmla="*/ 10 h 47"/>
                <a:gd name="T10" fmla="*/ 19 w 19"/>
                <a:gd name="T11" fmla="*/ 10 h 47"/>
                <a:gd name="T12" fmla="*/ 19 w 19"/>
                <a:gd name="T13" fmla="*/ 17 h 47"/>
                <a:gd name="T14" fmla="*/ 14 w 19"/>
                <a:gd name="T15" fmla="*/ 17 h 47"/>
                <a:gd name="T16" fmla="*/ 14 w 19"/>
                <a:gd name="T17" fmla="*/ 36 h 47"/>
                <a:gd name="T18" fmla="*/ 17 w 19"/>
                <a:gd name="T19" fmla="*/ 41 h 47"/>
                <a:gd name="T20" fmla="*/ 19 w 19"/>
                <a:gd name="T21" fmla="*/ 41 h 47"/>
                <a:gd name="T22" fmla="*/ 19 w 19"/>
                <a:gd name="T23" fmla="*/ 47 h 47"/>
                <a:gd name="T24" fmla="*/ 14 w 19"/>
                <a:gd name="T25" fmla="*/ 47 h 47"/>
                <a:gd name="T26" fmla="*/ 4 w 19"/>
                <a:gd name="T27" fmla="*/ 39 h 47"/>
                <a:gd name="T28" fmla="*/ 4 w 19"/>
                <a:gd name="T29" fmla="*/ 17 h 47"/>
                <a:gd name="T30" fmla="*/ 0 w 19"/>
                <a:gd name="T31" fmla="*/ 17 h 47"/>
                <a:gd name="T32" fmla="*/ 0 w 19"/>
                <a:gd name="T33"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 h="47">
                  <a:moveTo>
                    <a:pt x="0" y="10"/>
                  </a:moveTo>
                  <a:cubicBezTo>
                    <a:pt x="4" y="10"/>
                    <a:pt x="4" y="10"/>
                    <a:pt x="4" y="10"/>
                  </a:cubicBezTo>
                  <a:cubicBezTo>
                    <a:pt x="4" y="4"/>
                    <a:pt x="4" y="4"/>
                    <a:pt x="4" y="4"/>
                  </a:cubicBezTo>
                  <a:cubicBezTo>
                    <a:pt x="14" y="0"/>
                    <a:pt x="14" y="0"/>
                    <a:pt x="14" y="0"/>
                  </a:cubicBezTo>
                  <a:cubicBezTo>
                    <a:pt x="14" y="10"/>
                    <a:pt x="14" y="10"/>
                    <a:pt x="14" y="10"/>
                  </a:cubicBezTo>
                  <a:cubicBezTo>
                    <a:pt x="19" y="10"/>
                    <a:pt x="19" y="10"/>
                    <a:pt x="19" y="10"/>
                  </a:cubicBezTo>
                  <a:cubicBezTo>
                    <a:pt x="19" y="17"/>
                    <a:pt x="19" y="17"/>
                    <a:pt x="19" y="17"/>
                  </a:cubicBezTo>
                  <a:cubicBezTo>
                    <a:pt x="14" y="17"/>
                    <a:pt x="14" y="17"/>
                    <a:pt x="14" y="17"/>
                  </a:cubicBezTo>
                  <a:cubicBezTo>
                    <a:pt x="14" y="36"/>
                    <a:pt x="14" y="36"/>
                    <a:pt x="14" y="36"/>
                  </a:cubicBezTo>
                  <a:cubicBezTo>
                    <a:pt x="14" y="39"/>
                    <a:pt x="14" y="41"/>
                    <a:pt x="17" y="41"/>
                  </a:cubicBezTo>
                  <a:cubicBezTo>
                    <a:pt x="18" y="41"/>
                    <a:pt x="18" y="41"/>
                    <a:pt x="19" y="41"/>
                  </a:cubicBezTo>
                  <a:cubicBezTo>
                    <a:pt x="19" y="47"/>
                    <a:pt x="19" y="47"/>
                    <a:pt x="19" y="47"/>
                  </a:cubicBezTo>
                  <a:cubicBezTo>
                    <a:pt x="18" y="47"/>
                    <a:pt x="16" y="47"/>
                    <a:pt x="14" y="47"/>
                  </a:cubicBezTo>
                  <a:cubicBezTo>
                    <a:pt x="5" y="47"/>
                    <a:pt x="4" y="41"/>
                    <a:pt x="4" y="39"/>
                  </a:cubicBezTo>
                  <a:cubicBezTo>
                    <a:pt x="4" y="17"/>
                    <a:pt x="4" y="17"/>
                    <a:pt x="4" y="17"/>
                  </a:cubicBezTo>
                  <a:cubicBezTo>
                    <a:pt x="0" y="17"/>
                    <a:pt x="0" y="17"/>
                    <a:pt x="0" y="17"/>
                  </a:cubicBezTo>
                  <a:lnTo>
                    <a:pt x="0" y="1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4" name="Freeform 21"/>
            <p:cNvSpPr>
              <a:spLocks/>
            </p:cNvSpPr>
            <p:nvPr/>
          </p:nvSpPr>
          <p:spPr bwMode="gray">
            <a:xfrm>
              <a:off x="7731126" y="1362075"/>
              <a:ext cx="452438" cy="309563"/>
            </a:xfrm>
            <a:custGeom>
              <a:avLst/>
              <a:gdLst>
                <a:gd name="T0" fmla="*/ 0 w 285"/>
                <a:gd name="T1" fmla="*/ 0 h 195"/>
                <a:gd name="T2" fmla="*/ 52 w 285"/>
                <a:gd name="T3" fmla="*/ 0 h 195"/>
                <a:gd name="T4" fmla="*/ 78 w 285"/>
                <a:gd name="T5" fmla="*/ 148 h 195"/>
                <a:gd name="T6" fmla="*/ 78 w 285"/>
                <a:gd name="T7" fmla="*/ 148 h 195"/>
                <a:gd name="T8" fmla="*/ 114 w 285"/>
                <a:gd name="T9" fmla="*/ 0 h 195"/>
                <a:gd name="T10" fmla="*/ 171 w 285"/>
                <a:gd name="T11" fmla="*/ 0 h 195"/>
                <a:gd name="T12" fmla="*/ 202 w 285"/>
                <a:gd name="T13" fmla="*/ 148 h 195"/>
                <a:gd name="T14" fmla="*/ 202 w 285"/>
                <a:gd name="T15" fmla="*/ 148 h 195"/>
                <a:gd name="T16" fmla="*/ 233 w 285"/>
                <a:gd name="T17" fmla="*/ 0 h 195"/>
                <a:gd name="T18" fmla="*/ 285 w 285"/>
                <a:gd name="T19" fmla="*/ 0 h 195"/>
                <a:gd name="T20" fmla="*/ 233 w 285"/>
                <a:gd name="T21" fmla="*/ 195 h 195"/>
                <a:gd name="T22" fmla="*/ 176 w 285"/>
                <a:gd name="T23" fmla="*/ 195 h 195"/>
                <a:gd name="T24" fmla="*/ 140 w 285"/>
                <a:gd name="T25" fmla="*/ 63 h 195"/>
                <a:gd name="T26" fmla="*/ 140 w 285"/>
                <a:gd name="T27" fmla="*/ 63 h 195"/>
                <a:gd name="T28" fmla="*/ 104 w 285"/>
                <a:gd name="T29" fmla="*/ 195 h 195"/>
                <a:gd name="T30" fmla="*/ 47 w 285"/>
                <a:gd name="T31" fmla="*/ 195 h 195"/>
                <a:gd name="T32" fmla="*/ 0 w 285"/>
                <a:gd name="T33"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5" h="195">
                  <a:moveTo>
                    <a:pt x="0" y="0"/>
                  </a:moveTo>
                  <a:lnTo>
                    <a:pt x="52" y="0"/>
                  </a:lnTo>
                  <a:lnTo>
                    <a:pt x="78" y="148"/>
                  </a:lnTo>
                  <a:lnTo>
                    <a:pt x="78" y="148"/>
                  </a:lnTo>
                  <a:lnTo>
                    <a:pt x="114" y="0"/>
                  </a:lnTo>
                  <a:lnTo>
                    <a:pt x="171" y="0"/>
                  </a:lnTo>
                  <a:lnTo>
                    <a:pt x="202" y="148"/>
                  </a:lnTo>
                  <a:lnTo>
                    <a:pt x="202" y="148"/>
                  </a:lnTo>
                  <a:lnTo>
                    <a:pt x="233" y="0"/>
                  </a:lnTo>
                  <a:lnTo>
                    <a:pt x="285" y="0"/>
                  </a:lnTo>
                  <a:lnTo>
                    <a:pt x="233" y="195"/>
                  </a:lnTo>
                  <a:lnTo>
                    <a:pt x="176" y="195"/>
                  </a:lnTo>
                  <a:lnTo>
                    <a:pt x="140" y="63"/>
                  </a:lnTo>
                  <a:lnTo>
                    <a:pt x="140" y="63"/>
                  </a:lnTo>
                  <a:lnTo>
                    <a:pt x="104" y="195"/>
                  </a:lnTo>
                  <a:lnTo>
                    <a:pt x="47" y="195"/>
                  </a:lnTo>
                  <a:lnTo>
                    <a:pt x="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5" name="Freeform 22"/>
            <p:cNvSpPr>
              <a:spLocks noEditPoints="1"/>
            </p:cNvSpPr>
            <p:nvPr/>
          </p:nvSpPr>
          <p:spPr bwMode="gray">
            <a:xfrm>
              <a:off x="8201026" y="1362075"/>
              <a:ext cx="238125" cy="317500"/>
            </a:xfrm>
            <a:custGeom>
              <a:avLst/>
              <a:gdLst>
                <a:gd name="T0" fmla="*/ 29 w 29"/>
                <a:gd name="T1" fmla="*/ 30 h 38"/>
                <a:gd name="T2" fmla="*/ 29 w 29"/>
                <a:gd name="T3" fmla="*/ 37 h 38"/>
                <a:gd name="T4" fmla="*/ 20 w 29"/>
                <a:gd name="T5" fmla="*/ 37 h 38"/>
                <a:gd name="T6" fmla="*/ 19 w 29"/>
                <a:gd name="T7" fmla="*/ 32 h 38"/>
                <a:gd name="T8" fmla="*/ 19 w 29"/>
                <a:gd name="T9" fmla="*/ 32 h 38"/>
                <a:gd name="T10" fmla="*/ 10 w 29"/>
                <a:gd name="T11" fmla="*/ 38 h 38"/>
                <a:gd name="T12" fmla="*/ 0 w 29"/>
                <a:gd name="T13" fmla="*/ 26 h 38"/>
                <a:gd name="T14" fmla="*/ 19 w 29"/>
                <a:gd name="T15" fmla="*/ 13 h 38"/>
                <a:gd name="T16" fmla="*/ 19 w 29"/>
                <a:gd name="T17" fmla="*/ 11 h 38"/>
                <a:gd name="T18" fmla="*/ 15 w 29"/>
                <a:gd name="T19" fmla="*/ 5 h 38"/>
                <a:gd name="T20" fmla="*/ 11 w 29"/>
                <a:gd name="T21" fmla="*/ 11 h 38"/>
                <a:gd name="T22" fmla="*/ 1 w 29"/>
                <a:gd name="T23" fmla="*/ 11 h 38"/>
                <a:gd name="T24" fmla="*/ 5 w 29"/>
                <a:gd name="T25" fmla="*/ 2 h 38"/>
                <a:gd name="T26" fmla="*/ 14 w 29"/>
                <a:gd name="T27" fmla="*/ 0 h 38"/>
                <a:gd name="T28" fmla="*/ 29 w 29"/>
                <a:gd name="T29" fmla="*/ 12 h 38"/>
                <a:gd name="T30" fmla="*/ 29 w 29"/>
                <a:gd name="T31" fmla="*/ 30 h 38"/>
                <a:gd name="T32" fmla="*/ 10 w 29"/>
                <a:gd name="T33" fmla="*/ 26 h 38"/>
                <a:gd name="T34" fmla="*/ 14 w 29"/>
                <a:gd name="T35" fmla="*/ 31 h 38"/>
                <a:gd name="T36" fmla="*/ 19 w 29"/>
                <a:gd name="T37" fmla="*/ 19 h 38"/>
                <a:gd name="T38" fmla="*/ 10 w 29"/>
                <a:gd name="T39"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 h="38">
                  <a:moveTo>
                    <a:pt x="29" y="30"/>
                  </a:moveTo>
                  <a:cubicBezTo>
                    <a:pt x="29" y="32"/>
                    <a:pt x="29" y="35"/>
                    <a:pt x="29" y="37"/>
                  </a:cubicBezTo>
                  <a:cubicBezTo>
                    <a:pt x="20" y="37"/>
                    <a:pt x="20" y="37"/>
                    <a:pt x="20" y="37"/>
                  </a:cubicBezTo>
                  <a:cubicBezTo>
                    <a:pt x="19" y="32"/>
                    <a:pt x="19" y="32"/>
                    <a:pt x="19" y="32"/>
                  </a:cubicBezTo>
                  <a:cubicBezTo>
                    <a:pt x="19" y="32"/>
                    <a:pt x="19" y="32"/>
                    <a:pt x="19" y="32"/>
                  </a:cubicBezTo>
                  <a:cubicBezTo>
                    <a:pt x="17" y="36"/>
                    <a:pt x="14" y="38"/>
                    <a:pt x="10" y="38"/>
                  </a:cubicBezTo>
                  <a:cubicBezTo>
                    <a:pt x="3" y="38"/>
                    <a:pt x="0" y="32"/>
                    <a:pt x="0" y="26"/>
                  </a:cubicBezTo>
                  <a:cubicBezTo>
                    <a:pt x="0" y="14"/>
                    <a:pt x="9" y="13"/>
                    <a:pt x="19" y="13"/>
                  </a:cubicBezTo>
                  <a:cubicBezTo>
                    <a:pt x="19" y="11"/>
                    <a:pt x="19" y="11"/>
                    <a:pt x="19" y="11"/>
                  </a:cubicBezTo>
                  <a:cubicBezTo>
                    <a:pt x="19" y="8"/>
                    <a:pt x="18" y="5"/>
                    <a:pt x="15" y="5"/>
                  </a:cubicBezTo>
                  <a:cubicBezTo>
                    <a:pt x="11" y="5"/>
                    <a:pt x="11" y="8"/>
                    <a:pt x="11" y="11"/>
                  </a:cubicBezTo>
                  <a:cubicBezTo>
                    <a:pt x="1" y="11"/>
                    <a:pt x="1" y="11"/>
                    <a:pt x="1" y="11"/>
                  </a:cubicBezTo>
                  <a:cubicBezTo>
                    <a:pt x="1" y="6"/>
                    <a:pt x="2" y="4"/>
                    <a:pt x="5" y="2"/>
                  </a:cubicBezTo>
                  <a:cubicBezTo>
                    <a:pt x="7" y="0"/>
                    <a:pt x="10" y="0"/>
                    <a:pt x="14" y="0"/>
                  </a:cubicBezTo>
                  <a:cubicBezTo>
                    <a:pt x="27" y="0"/>
                    <a:pt x="29" y="5"/>
                    <a:pt x="29" y="12"/>
                  </a:cubicBezTo>
                  <a:lnTo>
                    <a:pt x="29" y="30"/>
                  </a:lnTo>
                  <a:close/>
                  <a:moveTo>
                    <a:pt x="10" y="26"/>
                  </a:moveTo>
                  <a:cubicBezTo>
                    <a:pt x="10" y="28"/>
                    <a:pt x="10" y="31"/>
                    <a:pt x="14" y="31"/>
                  </a:cubicBezTo>
                  <a:cubicBezTo>
                    <a:pt x="20" y="31"/>
                    <a:pt x="19" y="23"/>
                    <a:pt x="19" y="19"/>
                  </a:cubicBezTo>
                  <a:cubicBezTo>
                    <a:pt x="14" y="19"/>
                    <a:pt x="10" y="19"/>
                    <a:pt x="10" y="2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6" name="Freeform 23"/>
            <p:cNvSpPr>
              <a:spLocks/>
            </p:cNvSpPr>
            <p:nvPr/>
          </p:nvSpPr>
          <p:spPr bwMode="gray">
            <a:xfrm>
              <a:off x="8496301" y="1362075"/>
              <a:ext cx="157163" cy="309563"/>
            </a:xfrm>
            <a:custGeom>
              <a:avLst/>
              <a:gdLst>
                <a:gd name="T0" fmla="*/ 10 w 19"/>
                <a:gd name="T1" fmla="*/ 0 h 37"/>
                <a:gd name="T2" fmla="*/ 10 w 19"/>
                <a:gd name="T3" fmla="*/ 5 h 37"/>
                <a:gd name="T4" fmla="*/ 10 w 19"/>
                <a:gd name="T5" fmla="*/ 5 h 37"/>
                <a:gd name="T6" fmla="*/ 19 w 19"/>
                <a:gd name="T7" fmla="*/ 0 h 37"/>
                <a:gd name="T8" fmla="*/ 19 w 19"/>
                <a:gd name="T9" fmla="*/ 9 h 37"/>
                <a:gd name="T10" fmla="*/ 10 w 19"/>
                <a:gd name="T11" fmla="*/ 17 h 37"/>
                <a:gd name="T12" fmla="*/ 10 w 19"/>
                <a:gd name="T13" fmla="*/ 37 h 37"/>
                <a:gd name="T14" fmla="*/ 0 w 19"/>
                <a:gd name="T15" fmla="*/ 37 h 37"/>
                <a:gd name="T16" fmla="*/ 0 w 19"/>
                <a:gd name="T17" fmla="*/ 0 h 37"/>
                <a:gd name="T18" fmla="*/ 10 w 19"/>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37">
                  <a:moveTo>
                    <a:pt x="10" y="0"/>
                  </a:moveTo>
                  <a:cubicBezTo>
                    <a:pt x="10" y="5"/>
                    <a:pt x="10" y="5"/>
                    <a:pt x="10" y="5"/>
                  </a:cubicBezTo>
                  <a:cubicBezTo>
                    <a:pt x="10" y="5"/>
                    <a:pt x="10" y="5"/>
                    <a:pt x="10" y="5"/>
                  </a:cubicBezTo>
                  <a:cubicBezTo>
                    <a:pt x="12" y="1"/>
                    <a:pt x="15" y="0"/>
                    <a:pt x="19" y="0"/>
                  </a:cubicBezTo>
                  <a:cubicBezTo>
                    <a:pt x="19" y="9"/>
                    <a:pt x="19" y="9"/>
                    <a:pt x="19" y="9"/>
                  </a:cubicBezTo>
                  <a:cubicBezTo>
                    <a:pt x="10" y="8"/>
                    <a:pt x="10" y="13"/>
                    <a:pt x="10" y="17"/>
                  </a:cubicBezTo>
                  <a:cubicBezTo>
                    <a:pt x="10" y="37"/>
                    <a:pt x="10" y="37"/>
                    <a:pt x="10" y="37"/>
                  </a:cubicBezTo>
                  <a:cubicBezTo>
                    <a:pt x="0" y="37"/>
                    <a:pt x="0" y="37"/>
                    <a:pt x="0" y="37"/>
                  </a:cubicBezTo>
                  <a:cubicBezTo>
                    <a:pt x="0" y="0"/>
                    <a:pt x="0" y="0"/>
                    <a:pt x="0" y="0"/>
                  </a:cubicBezTo>
                  <a:lnTo>
                    <a:pt x="1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7" name="Freeform 24"/>
            <p:cNvSpPr>
              <a:spLocks noEditPoints="1"/>
            </p:cNvSpPr>
            <p:nvPr/>
          </p:nvSpPr>
          <p:spPr bwMode="gray">
            <a:xfrm>
              <a:off x="8685213" y="1362075"/>
              <a:ext cx="247650" cy="317500"/>
            </a:xfrm>
            <a:custGeom>
              <a:avLst/>
              <a:gdLst>
                <a:gd name="T0" fmla="*/ 10 w 30"/>
                <a:gd name="T1" fmla="*/ 20 h 38"/>
                <a:gd name="T2" fmla="*/ 15 w 30"/>
                <a:gd name="T3" fmla="*/ 31 h 38"/>
                <a:gd name="T4" fmla="*/ 19 w 30"/>
                <a:gd name="T5" fmla="*/ 25 h 38"/>
                <a:gd name="T6" fmla="*/ 30 w 30"/>
                <a:gd name="T7" fmla="*/ 25 h 38"/>
                <a:gd name="T8" fmla="*/ 26 w 30"/>
                <a:gd name="T9" fmla="*/ 34 h 38"/>
                <a:gd name="T10" fmla="*/ 15 w 30"/>
                <a:gd name="T11" fmla="*/ 38 h 38"/>
                <a:gd name="T12" fmla="*/ 0 w 30"/>
                <a:gd name="T13" fmla="*/ 18 h 38"/>
                <a:gd name="T14" fmla="*/ 15 w 30"/>
                <a:gd name="T15" fmla="*/ 0 h 38"/>
                <a:gd name="T16" fmla="*/ 30 w 30"/>
                <a:gd name="T17" fmla="*/ 20 h 38"/>
                <a:gd name="T18" fmla="*/ 10 w 30"/>
                <a:gd name="T19" fmla="*/ 20 h 38"/>
                <a:gd name="T20" fmla="*/ 20 w 30"/>
                <a:gd name="T21" fmla="*/ 15 h 38"/>
                <a:gd name="T22" fmla="*/ 15 w 30"/>
                <a:gd name="T23" fmla="*/ 6 h 38"/>
                <a:gd name="T24" fmla="*/ 10 w 30"/>
                <a:gd name="T25" fmla="*/ 15 h 38"/>
                <a:gd name="T26" fmla="*/ 20 w 30"/>
                <a:gd name="T27" fmla="*/ 1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38">
                  <a:moveTo>
                    <a:pt x="10" y="20"/>
                  </a:moveTo>
                  <a:cubicBezTo>
                    <a:pt x="10" y="25"/>
                    <a:pt x="11" y="31"/>
                    <a:pt x="15" y="31"/>
                  </a:cubicBezTo>
                  <a:cubicBezTo>
                    <a:pt x="19" y="31"/>
                    <a:pt x="19" y="28"/>
                    <a:pt x="19" y="25"/>
                  </a:cubicBezTo>
                  <a:cubicBezTo>
                    <a:pt x="30" y="25"/>
                    <a:pt x="30" y="25"/>
                    <a:pt x="30" y="25"/>
                  </a:cubicBezTo>
                  <a:cubicBezTo>
                    <a:pt x="30" y="29"/>
                    <a:pt x="28" y="32"/>
                    <a:pt x="26" y="34"/>
                  </a:cubicBezTo>
                  <a:cubicBezTo>
                    <a:pt x="24" y="36"/>
                    <a:pt x="20" y="38"/>
                    <a:pt x="15" y="38"/>
                  </a:cubicBezTo>
                  <a:cubicBezTo>
                    <a:pt x="2" y="38"/>
                    <a:pt x="0" y="30"/>
                    <a:pt x="0" y="18"/>
                  </a:cubicBezTo>
                  <a:cubicBezTo>
                    <a:pt x="0" y="8"/>
                    <a:pt x="2" y="0"/>
                    <a:pt x="15" y="0"/>
                  </a:cubicBezTo>
                  <a:cubicBezTo>
                    <a:pt x="29" y="0"/>
                    <a:pt x="30" y="8"/>
                    <a:pt x="30" y="20"/>
                  </a:cubicBezTo>
                  <a:lnTo>
                    <a:pt x="10" y="20"/>
                  </a:lnTo>
                  <a:close/>
                  <a:moveTo>
                    <a:pt x="20" y="15"/>
                  </a:moveTo>
                  <a:cubicBezTo>
                    <a:pt x="20" y="11"/>
                    <a:pt x="20" y="6"/>
                    <a:pt x="15" y="6"/>
                  </a:cubicBezTo>
                  <a:cubicBezTo>
                    <a:pt x="10" y="6"/>
                    <a:pt x="10" y="11"/>
                    <a:pt x="10" y="15"/>
                  </a:cubicBezTo>
                  <a:lnTo>
                    <a:pt x="20" y="1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8" name="Freeform 25"/>
            <p:cNvSpPr>
              <a:spLocks noEditPoints="1"/>
            </p:cNvSpPr>
            <p:nvPr/>
          </p:nvSpPr>
          <p:spPr bwMode="gray">
            <a:xfrm>
              <a:off x="7920038" y="1957388"/>
              <a:ext cx="206375" cy="258763"/>
            </a:xfrm>
            <a:custGeom>
              <a:avLst/>
              <a:gdLst>
                <a:gd name="T0" fmla="*/ 9 w 25"/>
                <a:gd name="T1" fmla="*/ 17 h 31"/>
                <a:gd name="T2" fmla="*/ 13 w 25"/>
                <a:gd name="T3" fmla="*/ 26 h 31"/>
                <a:gd name="T4" fmla="*/ 16 w 25"/>
                <a:gd name="T5" fmla="*/ 20 h 31"/>
                <a:gd name="T6" fmla="*/ 25 w 25"/>
                <a:gd name="T7" fmla="*/ 20 h 31"/>
                <a:gd name="T8" fmla="*/ 22 w 25"/>
                <a:gd name="T9" fmla="*/ 28 h 31"/>
                <a:gd name="T10" fmla="*/ 13 w 25"/>
                <a:gd name="T11" fmla="*/ 31 h 31"/>
                <a:gd name="T12" fmla="*/ 0 w 25"/>
                <a:gd name="T13" fmla="*/ 15 h 31"/>
                <a:gd name="T14" fmla="*/ 13 w 25"/>
                <a:gd name="T15" fmla="*/ 0 h 31"/>
                <a:gd name="T16" fmla="*/ 25 w 25"/>
                <a:gd name="T17" fmla="*/ 17 h 31"/>
                <a:gd name="T18" fmla="*/ 9 w 25"/>
                <a:gd name="T19" fmla="*/ 17 h 31"/>
                <a:gd name="T20" fmla="*/ 17 w 25"/>
                <a:gd name="T21" fmla="*/ 12 h 31"/>
                <a:gd name="T22" fmla="*/ 13 w 25"/>
                <a:gd name="T23" fmla="*/ 5 h 31"/>
                <a:gd name="T24" fmla="*/ 9 w 25"/>
                <a:gd name="T25" fmla="*/ 12 h 31"/>
                <a:gd name="T26" fmla="*/ 17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3" y="26"/>
                  </a:cubicBezTo>
                  <a:cubicBezTo>
                    <a:pt x="16" y="26"/>
                    <a:pt x="16" y="23"/>
                    <a:pt x="16" y="20"/>
                  </a:cubicBezTo>
                  <a:cubicBezTo>
                    <a:pt x="25" y="20"/>
                    <a:pt x="25" y="20"/>
                    <a:pt x="25" y="20"/>
                  </a:cubicBezTo>
                  <a:cubicBezTo>
                    <a:pt x="25" y="24"/>
                    <a:pt x="24" y="26"/>
                    <a:pt x="22" y="28"/>
                  </a:cubicBezTo>
                  <a:cubicBezTo>
                    <a:pt x="20" y="30"/>
                    <a:pt x="17" y="31"/>
                    <a:pt x="13" y="31"/>
                  </a:cubicBezTo>
                  <a:cubicBezTo>
                    <a:pt x="2" y="31"/>
                    <a:pt x="0" y="24"/>
                    <a:pt x="0" y="15"/>
                  </a:cubicBezTo>
                  <a:cubicBezTo>
                    <a:pt x="0" y="7"/>
                    <a:pt x="2" y="0"/>
                    <a:pt x="13" y="0"/>
                  </a:cubicBezTo>
                  <a:cubicBezTo>
                    <a:pt x="24" y="0"/>
                    <a:pt x="25" y="7"/>
                    <a:pt x="25" y="17"/>
                  </a:cubicBezTo>
                  <a:lnTo>
                    <a:pt x="9" y="17"/>
                  </a:lnTo>
                  <a:close/>
                  <a:moveTo>
                    <a:pt x="17" y="12"/>
                  </a:moveTo>
                  <a:cubicBezTo>
                    <a:pt x="17" y="9"/>
                    <a:pt x="17" y="5"/>
                    <a:pt x="13" y="5"/>
                  </a:cubicBezTo>
                  <a:cubicBezTo>
                    <a:pt x="9" y="5"/>
                    <a:pt x="9" y="10"/>
                    <a:pt x="9" y="12"/>
                  </a:cubicBezTo>
                  <a:lnTo>
                    <a:pt x="17"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29" name="Freeform 26"/>
            <p:cNvSpPr>
              <a:spLocks noEditPoints="1"/>
            </p:cNvSpPr>
            <p:nvPr/>
          </p:nvSpPr>
          <p:spPr bwMode="gray">
            <a:xfrm>
              <a:off x="8553451" y="1957388"/>
              <a:ext cx="206375" cy="258763"/>
            </a:xfrm>
            <a:custGeom>
              <a:avLst/>
              <a:gdLst>
                <a:gd name="T0" fmla="*/ 9 w 25"/>
                <a:gd name="T1" fmla="*/ 17 h 31"/>
                <a:gd name="T2" fmla="*/ 12 w 25"/>
                <a:gd name="T3" fmla="*/ 26 h 31"/>
                <a:gd name="T4" fmla="*/ 16 w 25"/>
                <a:gd name="T5" fmla="*/ 20 h 31"/>
                <a:gd name="T6" fmla="*/ 24 w 25"/>
                <a:gd name="T7" fmla="*/ 20 h 31"/>
                <a:gd name="T8" fmla="*/ 21 w 25"/>
                <a:gd name="T9" fmla="*/ 28 h 31"/>
                <a:gd name="T10" fmla="*/ 12 w 25"/>
                <a:gd name="T11" fmla="*/ 31 h 31"/>
                <a:gd name="T12" fmla="*/ 0 w 25"/>
                <a:gd name="T13" fmla="*/ 15 h 31"/>
                <a:gd name="T14" fmla="*/ 12 w 25"/>
                <a:gd name="T15" fmla="*/ 0 h 31"/>
                <a:gd name="T16" fmla="*/ 25 w 25"/>
                <a:gd name="T17" fmla="*/ 17 h 31"/>
                <a:gd name="T18" fmla="*/ 9 w 25"/>
                <a:gd name="T19" fmla="*/ 17 h 31"/>
                <a:gd name="T20" fmla="*/ 16 w 25"/>
                <a:gd name="T21" fmla="*/ 12 h 31"/>
                <a:gd name="T22" fmla="*/ 12 w 25"/>
                <a:gd name="T23" fmla="*/ 5 h 31"/>
                <a:gd name="T24" fmla="*/ 9 w 25"/>
                <a:gd name="T25" fmla="*/ 12 h 31"/>
                <a:gd name="T26" fmla="*/ 16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2" y="26"/>
                  </a:cubicBezTo>
                  <a:cubicBezTo>
                    <a:pt x="15" y="26"/>
                    <a:pt x="16" y="23"/>
                    <a:pt x="16" y="20"/>
                  </a:cubicBezTo>
                  <a:cubicBezTo>
                    <a:pt x="24" y="20"/>
                    <a:pt x="24" y="20"/>
                    <a:pt x="24" y="20"/>
                  </a:cubicBezTo>
                  <a:cubicBezTo>
                    <a:pt x="24" y="24"/>
                    <a:pt x="23" y="26"/>
                    <a:pt x="21" y="28"/>
                  </a:cubicBezTo>
                  <a:cubicBezTo>
                    <a:pt x="19" y="30"/>
                    <a:pt x="16" y="31"/>
                    <a:pt x="12" y="31"/>
                  </a:cubicBezTo>
                  <a:cubicBezTo>
                    <a:pt x="2" y="31"/>
                    <a:pt x="0" y="24"/>
                    <a:pt x="0" y="15"/>
                  </a:cubicBezTo>
                  <a:cubicBezTo>
                    <a:pt x="0" y="7"/>
                    <a:pt x="1" y="0"/>
                    <a:pt x="12" y="0"/>
                  </a:cubicBezTo>
                  <a:cubicBezTo>
                    <a:pt x="24" y="0"/>
                    <a:pt x="25" y="7"/>
                    <a:pt x="25" y="17"/>
                  </a:cubicBezTo>
                  <a:lnTo>
                    <a:pt x="9" y="17"/>
                  </a:lnTo>
                  <a:close/>
                  <a:moveTo>
                    <a:pt x="16" y="12"/>
                  </a:moveTo>
                  <a:cubicBezTo>
                    <a:pt x="16" y="9"/>
                    <a:pt x="16" y="5"/>
                    <a:pt x="12" y="5"/>
                  </a:cubicBezTo>
                  <a:cubicBezTo>
                    <a:pt x="9" y="5"/>
                    <a:pt x="9" y="10"/>
                    <a:pt x="9" y="12"/>
                  </a:cubicBezTo>
                  <a:lnTo>
                    <a:pt x="16"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 name="Freeform 27"/>
            <p:cNvSpPr>
              <a:spLocks/>
            </p:cNvSpPr>
            <p:nvPr/>
          </p:nvSpPr>
          <p:spPr bwMode="gray">
            <a:xfrm>
              <a:off x="3263901" y="1855788"/>
              <a:ext cx="198438" cy="352425"/>
            </a:xfrm>
            <a:custGeom>
              <a:avLst/>
              <a:gdLst>
                <a:gd name="T0" fmla="*/ 0 w 125"/>
                <a:gd name="T1" fmla="*/ 222 h 222"/>
                <a:gd name="T2" fmla="*/ 0 w 125"/>
                <a:gd name="T3" fmla="*/ 0 h 222"/>
                <a:gd name="T4" fmla="*/ 125 w 125"/>
                <a:gd name="T5" fmla="*/ 0 h 222"/>
                <a:gd name="T6" fmla="*/ 125 w 125"/>
                <a:gd name="T7" fmla="*/ 32 h 222"/>
                <a:gd name="T8" fmla="*/ 47 w 125"/>
                <a:gd name="T9" fmla="*/ 32 h 222"/>
                <a:gd name="T10" fmla="*/ 47 w 125"/>
                <a:gd name="T11" fmla="*/ 90 h 222"/>
                <a:gd name="T12" fmla="*/ 114 w 125"/>
                <a:gd name="T13" fmla="*/ 90 h 222"/>
                <a:gd name="T14" fmla="*/ 114 w 125"/>
                <a:gd name="T15" fmla="*/ 122 h 222"/>
                <a:gd name="T16" fmla="*/ 47 w 125"/>
                <a:gd name="T17" fmla="*/ 122 h 222"/>
                <a:gd name="T18" fmla="*/ 47 w 125"/>
                <a:gd name="T19" fmla="*/ 190 h 222"/>
                <a:gd name="T20" fmla="*/ 125 w 125"/>
                <a:gd name="T21" fmla="*/ 190 h 222"/>
                <a:gd name="T22" fmla="*/ 125 w 125"/>
                <a:gd name="T23" fmla="*/ 222 h 222"/>
                <a:gd name="T24" fmla="*/ 0 w 125"/>
                <a:gd name="T25" fmla="*/ 22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222">
                  <a:moveTo>
                    <a:pt x="0" y="222"/>
                  </a:moveTo>
                  <a:lnTo>
                    <a:pt x="0" y="0"/>
                  </a:lnTo>
                  <a:lnTo>
                    <a:pt x="125" y="0"/>
                  </a:lnTo>
                  <a:lnTo>
                    <a:pt x="125" y="32"/>
                  </a:lnTo>
                  <a:lnTo>
                    <a:pt x="47" y="32"/>
                  </a:lnTo>
                  <a:lnTo>
                    <a:pt x="47" y="90"/>
                  </a:lnTo>
                  <a:lnTo>
                    <a:pt x="114" y="90"/>
                  </a:lnTo>
                  <a:lnTo>
                    <a:pt x="114" y="122"/>
                  </a:lnTo>
                  <a:lnTo>
                    <a:pt x="47" y="122"/>
                  </a:lnTo>
                  <a:lnTo>
                    <a:pt x="47" y="190"/>
                  </a:lnTo>
                  <a:lnTo>
                    <a:pt x="125" y="190"/>
                  </a:lnTo>
                  <a:lnTo>
                    <a:pt x="125" y="222"/>
                  </a:lnTo>
                  <a:lnTo>
                    <a:pt x="0" y="22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1" name="Freeform 28"/>
            <p:cNvSpPr>
              <a:spLocks/>
            </p:cNvSpPr>
            <p:nvPr/>
          </p:nvSpPr>
          <p:spPr bwMode="gray">
            <a:xfrm>
              <a:off x="3503613" y="1957388"/>
              <a:ext cx="188913" cy="250825"/>
            </a:xfrm>
            <a:custGeom>
              <a:avLst/>
              <a:gdLst>
                <a:gd name="T0" fmla="*/ 9 w 23"/>
                <a:gd name="T1" fmla="*/ 4 h 30"/>
                <a:gd name="T2" fmla="*/ 9 w 23"/>
                <a:gd name="T3" fmla="*/ 4 h 30"/>
                <a:gd name="T4" fmla="*/ 12 w 23"/>
                <a:gd name="T5" fmla="*/ 1 h 30"/>
                <a:gd name="T6" fmla="*/ 16 w 23"/>
                <a:gd name="T7" fmla="*/ 0 h 30"/>
                <a:gd name="T8" fmla="*/ 23 w 23"/>
                <a:gd name="T9" fmla="*/ 6 h 30"/>
                <a:gd name="T10" fmla="*/ 23 w 23"/>
                <a:gd name="T11" fmla="*/ 30 h 30"/>
                <a:gd name="T12" fmla="*/ 15 w 23"/>
                <a:gd name="T13" fmla="*/ 30 h 30"/>
                <a:gd name="T14" fmla="*/ 15 w 23"/>
                <a:gd name="T15" fmla="*/ 10 h 30"/>
                <a:gd name="T16" fmla="*/ 12 w 23"/>
                <a:gd name="T17" fmla="*/ 5 h 30"/>
                <a:gd name="T18" fmla="*/ 9 w 23"/>
                <a:gd name="T19" fmla="*/ 10 h 30"/>
                <a:gd name="T20" fmla="*/ 9 w 23"/>
                <a:gd name="T21" fmla="*/ 30 h 30"/>
                <a:gd name="T22" fmla="*/ 0 w 23"/>
                <a:gd name="T23" fmla="*/ 30 h 30"/>
                <a:gd name="T24" fmla="*/ 0 w 23"/>
                <a:gd name="T25" fmla="*/ 1 h 30"/>
                <a:gd name="T26" fmla="*/ 9 w 23"/>
                <a:gd name="T27" fmla="*/ 1 h 30"/>
                <a:gd name="T28" fmla="*/ 9 w 23"/>
                <a:gd name="T29"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30">
                  <a:moveTo>
                    <a:pt x="9" y="4"/>
                  </a:moveTo>
                  <a:cubicBezTo>
                    <a:pt x="9" y="4"/>
                    <a:pt x="9" y="4"/>
                    <a:pt x="9" y="4"/>
                  </a:cubicBezTo>
                  <a:cubicBezTo>
                    <a:pt x="10" y="2"/>
                    <a:pt x="11" y="1"/>
                    <a:pt x="12" y="1"/>
                  </a:cubicBezTo>
                  <a:cubicBezTo>
                    <a:pt x="13" y="0"/>
                    <a:pt x="14" y="0"/>
                    <a:pt x="16" y="0"/>
                  </a:cubicBezTo>
                  <a:cubicBezTo>
                    <a:pt x="20" y="0"/>
                    <a:pt x="23" y="2"/>
                    <a:pt x="23" y="6"/>
                  </a:cubicBezTo>
                  <a:cubicBezTo>
                    <a:pt x="23" y="30"/>
                    <a:pt x="23" y="30"/>
                    <a:pt x="23" y="30"/>
                  </a:cubicBezTo>
                  <a:cubicBezTo>
                    <a:pt x="15" y="30"/>
                    <a:pt x="15" y="30"/>
                    <a:pt x="15" y="30"/>
                  </a:cubicBezTo>
                  <a:cubicBezTo>
                    <a:pt x="15" y="10"/>
                    <a:pt x="15" y="10"/>
                    <a:pt x="15" y="10"/>
                  </a:cubicBezTo>
                  <a:cubicBezTo>
                    <a:pt x="15" y="7"/>
                    <a:pt x="15" y="5"/>
                    <a:pt x="12" y="5"/>
                  </a:cubicBezTo>
                  <a:cubicBezTo>
                    <a:pt x="9" y="5"/>
                    <a:pt x="9" y="7"/>
                    <a:pt x="9" y="10"/>
                  </a:cubicBezTo>
                  <a:cubicBezTo>
                    <a:pt x="9" y="30"/>
                    <a:pt x="9" y="30"/>
                    <a:pt x="9" y="30"/>
                  </a:cubicBezTo>
                  <a:cubicBezTo>
                    <a:pt x="0" y="30"/>
                    <a:pt x="0" y="30"/>
                    <a:pt x="0" y="30"/>
                  </a:cubicBezTo>
                  <a:cubicBezTo>
                    <a:pt x="0" y="1"/>
                    <a:pt x="0" y="1"/>
                    <a:pt x="0" y="1"/>
                  </a:cubicBezTo>
                  <a:cubicBezTo>
                    <a:pt x="9" y="1"/>
                    <a:pt x="9" y="1"/>
                    <a:pt x="9" y="1"/>
                  </a:cubicBezTo>
                  <a:lnTo>
                    <a:pt x="9" y="4"/>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2" name="Freeform 29"/>
            <p:cNvSpPr>
              <a:spLocks noEditPoints="1"/>
            </p:cNvSpPr>
            <p:nvPr/>
          </p:nvSpPr>
          <p:spPr bwMode="gray">
            <a:xfrm>
              <a:off x="3741738" y="1957388"/>
              <a:ext cx="196850" cy="350838"/>
            </a:xfrm>
            <a:custGeom>
              <a:avLst/>
              <a:gdLst>
                <a:gd name="T0" fmla="*/ 24 w 24"/>
                <a:gd name="T1" fmla="*/ 1 h 42"/>
                <a:gd name="T2" fmla="*/ 24 w 24"/>
                <a:gd name="T3" fmla="*/ 32 h 42"/>
                <a:gd name="T4" fmla="*/ 13 w 24"/>
                <a:gd name="T5" fmla="*/ 42 h 42"/>
                <a:gd name="T6" fmla="*/ 1 w 24"/>
                <a:gd name="T7" fmla="*/ 33 h 42"/>
                <a:gd name="T8" fmla="*/ 9 w 24"/>
                <a:gd name="T9" fmla="*/ 33 h 42"/>
                <a:gd name="T10" fmla="*/ 10 w 24"/>
                <a:gd name="T11" fmla="*/ 36 h 42"/>
                <a:gd name="T12" fmla="*/ 12 w 24"/>
                <a:gd name="T13" fmla="*/ 37 h 42"/>
                <a:gd name="T14" fmla="*/ 16 w 24"/>
                <a:gd name="T15" fmla="*/ 32 h 42"/>
                <a:gd name="T16" fmla="*/ 16 w 24"/>
                <a:gd name="T17" fmla="*/ 27 h 42"/>
                <a:gd name="T18" fmla="*/ 15 w 24"/>
                <a:gd name="T19" fmla="*/ 27 h 42"/>
                <a:gd name="T20" fmla="*/ 9 w 24"/>
                <a:gd name="T21" fmla="*/ 30 h 42"/>
                <a:gd name="T22" fmla="*/ 0 w 24"/>
                <a:gd name="T23" fmla="*/ 15 h 42"/>
                <a:gd name="T24" fmla="*/ 9 w 24"/>
                <a:gd name="T25" fmla="*/ 0 h 42"/>
                <a:gd name="T26" fmla="*/ 16 w 24"/>
                <a:gd name="T27" fmla="*/ 4 h 42"/>
                <a:gd name="T28" fmla="*/ 16 w 24"/>
                <a:gd name="T29" fmla="*/ 4 h 42"/>
                <a:gd name="T30" fmla="*/ 16 w 24"/>
                <a:gd name="T31" fmla="*/ 1 h 42"/>
                <a:gd name="T32" fmla="*/ 24 w 24"/>
                <a:gd name="T33" fmla="*/ 1 h 42"/>
                <a:gd name="T34" fmla="*/ 12 w 24"/>
                <a:gd name="T35" fmla="*/ 25 h 42"/>
                <a:gd name="T36" fmla="*/ 16 w 24"/>
                <a:gd name="T37" fmla="*/ 15 h 42"/>
                <a:gd name="T38" fmla="*/ 12 w 24"/>
                <a:gd name="T39" fmla="*/ 5 h 42"/>
                <a:gd name="T40" fmla="*/ 9 w 24"/>
                <a:gd name="T41" fmla="*/ 16 h 42"/>
                <a:gd name="T42" fmla="*/ 12 w 24"/>
                <a:gd name="T43" fmla="*/ 2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 h="42">
                  <a:moveTo>
                    <a:pt x="24" y="1"/>
                  </a:moveTo>
                  <a:cubicBezTo>
                    <a:pt x="24" y="32"/>
                    <a:pt x="24" y="32"/>
                    <a:pt x="24" y="32"/>
                  </a:cubicBezTo>
                  <a:cubicBezTo>
                    <a:pt x="24" y="34"/>
                    <a:pt x="24" y="42"/>
                    <a:pt x="13" y="42"/>
                  </a:cubicBezTo>
                  <a:cubicBezTo>
                    <a:pt x="6" y="42"/>
                    <a:pt x="1" y="40"/>
                    <a:pt x="1" y="33"/>
                  </a:cubicBezTo>
                  <a:cubicBezTo>
                    <a:pt x="9" y="33"/>
                    <a:pt x="9" y="33"/>
                    <a:pt x="9" y="33"/>
                  </a:cubicBezTo>
                  <a:cubicBezTo>
                    <a:pt x="9" y="34"/>
                    <a:pt x="9" y="35"/>
                    <a:pt x="10" y="36"/>
                  </a:cubicBezTo>
                  <a:cubicBezTo>
                    <a:pt x="10" y="37"/>
                    <a:pt x="11" y="37"/>
                    <a:pt x="12" y="37"/>
                  </a:cubicBezTo>
                  <a:cubicBezTo>
                    <a:pt x="15" y="37"/>
                    <a:pt x="16" y="35"/>
                    <a:pt x="16" y="32"/>
                  </a:cubicBezTo>
                  <a:cubicBezTo>
                    <a:pt x="16" y="27"/>
                    <a:pt x="16" y="27"/>
                    <a:pt x="16" y="27"/>
                  </a:cubicBezTo>
                  <a:cubicBezTo>
                    <a:pt x="15" y="27"/>
                    <a:pt x="15" y="27"/>
                    <a:pt x="15" y="27"/>
                  </a:cubicBezTo>
                  <a:cubicBezTo>
                    <a:pt x="14" y="29"/>
                    <a:pt x="12" y="30"/>
                    <a:pt x="9" y="30"/>
                  </a:cubicBezTo>
                  <a:cubicBezTo>
                    <a:pt x="0" y="30"/>
                    <a:pt x="0" y="22"/>
                    <a:pt x="0" y="15"/>
                  </a:cubicBezTo>
                  <a:cubicBezTo>
                    <a:pt x="0" y="8"/>
                    <a:pt x="0" y="0"/>
                    <a:pt x="9" y="0"/>
                  </a:cubicBezTo>
                  <a:cubicBezTo>
                    <a:pt x="12" y="0"/>
                    <a:pt x="15" y="1"/>
                    <a:pt x="16" y="4"/>
                  </a:cubicBezTo>
                  <a:cubicBezTo>
                    <a:pt x="16" y="4"/>
                    <a:pt x="16" y="4"/>
                    <a:pt x="16" y="4"/>
                  </a:cubicBezTo>
                  <a:cubicBezTo>
                    <a:pt x="16" y="1"/>
                    <a:pt x="16" y="1"/>
                    <a:pt x="16" y="1"/>
                  </a:cubicBezTo>
                  <a:lnTo>
                    <a:pt x="24" y="1"/>
                  </a:lnTo>
                  <a:close/>
                  <a:moveTo>
                    <a:pt x="12" y="25"/>
                  </a:moveTo>
                  <a:cubicBezTo>
                    <a:pt x="15" y="25"/>
                    <a:pt x="16" y="22"/>
                    <a:pt x="16" y="15"/>
                  </a:cubicBezTo>
                  <a:cubicBezTo>
                    <a:pt x="16" y="9"/>
                    <a:pt x="15" y="5"/>
                    <a:pt x="12" y="5"/>
                  </a:cubicBezTo>
                  <a:cubicBezTo>
                    <a:pt x="9" y="5"/>
                    <a:pt x="9" y="7"/>
                    <a:pt x="9" y="16"/>
                  </a:cubicBezTo>
                  <a:cubicBezTo>
                    <a:pt x="9" y="19"/>
                    <a:pt x="8" y="25"/>
                    <a:pt x="12" y="2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3" name="Rectangle 30"/>
            <p:cNvSpPr>
              <a:spLocks noChangeArrowheads="1"/>
            </p:cNvSpPr>
            <p:nvPr/>
          </p:nvSpPr>
          <p:spPr bwMode="gray">
            <a:xfrm>
              <a:off x="3997326" y="1965325"/>
              <a:ext cx="73025" cy="242888"/>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dirty="0"/>
            </a:p>
          </p:txBody>
        </p:sp>
        <p:sp>
          <p:nvSpPr>
            <p:cNvPr id="3074" name="Freeform 31"/>
            <p:cNvSpPr>
              <a:spLocks/>
            </p:cNvSpPr>
            <p:nvPr/>
          </p:nvSpPr>
          <p:spPr bwMode="gray">
            <a:xfrm>
              <a:off x="4127501" y="1957388"/>
              <a:ext cx="190500" cy="250825"/>
            </a:xfrm>
            <a:custGeom>
              <a:avLst/>
              <a:gdLst>
                <a:gd name="T0" fmla="*/ 9 w 23"/>
                <a:gd name="T1" fmla="*/ 4 h 30"/>
                <a:gd name="T2" fmla="*/ 9 w 23"/>
                <a:gd name="T3" fmla="*/ 4 h 30"/>
                <a:gd name="T4" fmla="*/ 12 w 23"/>
                <a:gd name="T5" fmla="*/ 1 h 30"/>
                <a:gd name="T6" fmla="*/ 16 w 23"/>
                <a:gd name="T7" fmla="*/ 0 h 30"/>
                <a:gd name="T8" fmla="*/ 23 w 23"/>
                <a:gd name="T9" fmla="*/ 6 h 30"/>
                <a:gd name="T10" fmla="*/ 23 w 23"/>
                <a:gd name="T11" fmla="*/ 30 h 30"/>
                <a:gd name="T12" fmla="*/ 15 w 23"/>
                <a:gd name="T13" fmla="*/ 30 h 30"/>
                <a:gd name="T14" fmla="*/ 15 w 23"/>
                <a:gd name="T15" fmla="*/ 10 h 30"/>
                <a:gd name="T16" fmla="*/ 12 w 23"/>
                <a:gd name="T17" fmla="*/ 5 h 30"/>
                <a:gd name="T18" fmla="*/ 9 w 23"/>
                <a:gd name="T19" fmla="*/ 10 h 30"/>
                <a:gd name="T20" fmla="*/ 9 w 23"/>
                <a:gd name="T21" fmla="*/ 30 h 30"/>
                <a:gd name="T22" fmla="*/ 0 w 23"/>
                <a:gd name="T23" fmla="*/ 30 h 30"/>
                <a:gd name="T24" fmla="*/ 0 w 23"/>
                <a:gd name="T25" fmla="*/ 1 h 30"/>
                <a:gd name="T26" fmla="*/ 9 w 23"/>
                <a:gd name="T27" fmla="*/ 1 h 30"/>
                <a:gd name="T28" fmla="*/ 9 w 23"/>
                <a:gd name="T29"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30">
                  <a:moveTo>
                    <a:pt x="9" y="4"/>
                  </a:moveTo>
                  <a:cubicBezTo>
                    <a:pt x="9" y="4"/>
                    <a:pt x="9" y="4"/>
                    <a:pt x="9" y="4"/>
                  </a:cubicBezTo>
                  <a:cubicBezTo>
                    <a:pt x="9" y="2"/>
                    <a:pt x="10" y="1"/>
                    <a:pt x="12" y="1"/>
                  </a:cubicBezTo>
                  <a:cubicBezTo>
                    <a:pt x="13" y="0"/>
                    <a:pt x="14" y="0"/>
                    <a:pt x="16" y="0"/>
                  </a:cubicBezTo>
                  <a:cubicBezTo>
                    <a:pt x="20" y="0"/>
                    <a:pt x="23" y="2"/>
                    <a:pt x="23" y="6"/>
                  </a:cubicBezTo>
                  <a:cubicBezTo>
                    <a:pt x="23" y="30"/>
                    <a:pt x="23" y="30"/>
                    <a:pt x="23" y="30"/>
                  </a:cubicBezTo>
                  <a:cubicBezTo>
                    <a:pt x="15" y="30"/>
                    <a:pt x="15" y="30"/>
                    <a:pt x="15" y="30"/>
                  </a:cubicBezTo>
                  <a:cubicBezTo>
                    <a:pt x="15" y="10"/>
                    <a:pt x="15" y="10"/>
                    <a:pt x="15" y="10"/>
                  </a:cubicBezTo>
                  <a:cubicBezTo>
                    <a:pt x="15" y="7"/>
                    <a:pt x="14" y="5"/>
                    <a:pt x="12" y="5"/>
                  </a:cubicBezTo>
                  <a:cubicBezTo>
                    <a:pt x="9" y="5"/>
                    <a:pt x="9" y="7"/>
                    <a:pt x="9" y="10"/>
                  </a:cubicBezTo>
                  <a:cubicBezTo>
                    <a:pt x="9" y="30"/>
                    <a:pt x="9" y="30"/>
                    <a:pt x="9" y="30"/>
                  </a:cubicBezTo>
                  <a:cubicBezTo>
                    <a:pt x="0" y="30"/>
                    <a:pt x="0" y="30"/>
                    <a:pt x="0" y="30"/>
                  </a:cubicBezTo>
                  <a:cubicBezTo>
                    <a:pt x="0" y="1"/>
                    <a:pt x="0" y="1"/>
                    <a:pt x="0" y="1"/>
                  </a:cubicBezTo>
                  <a:cubicBezTo>
                    <a:pt x="9" y="1"/>
                    <a:pt x="9" y="1"/>
                    <a:pt x="9" y="1"/>
                  </a:cubicBezTo>
                  <a:lnTo>
                    <a:pt x="9" y="4"/>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5" name="Freeform 32"/>
            <p:cNvSpPr>
              <a:spLocks noEditPoints="1"/>
            </p:cNvSpPr>
            <p:nvPr/>
          </p:nvSpPr>
          <p:spPr bwMode="gray">
            <a:xfrm>
              <a:off x="4359276" y="1957388"/>
              <a:ext cx="204788" cy="258763"/>
            </a:xfrm>
            <a:custGeom>
              <a:avLst/>
              <a:gdLst>
                <a:gd name="T0" fmla="*/ 9 w 25"/>
                <a:gd name="T1" fmla="*/ 17 h 31"/>
                <a:gd name="T2" fmla="*/ 13 w 25"/>
                <a:gd name="T3" fmla="*/ 26 h 31"/>
                <a:gd name="T4" fmla="*/ 16 w 25"/>
                <a:gd name="T5" fmla="*/ 20 h 31"/>
                <a:gd name="T6" fmla="*/ 25 w 25"/>
                <a:gd name="T7" fmla="*/ 20 h 31"/>
                <a:gd name="T8" fmla="*/ 21 w 25"/>
                <a:gd name="T9" fmla="*/ 28 h 31"/>
                <a:gd name="T10" fmla="*/ 13 w 25"/>
                <a:gd name="T11" fmla="*/ 31 h 31"/>
                <a:gd name="T12" fmla="*/ 0 w 25"/>
                <a:gd name="T13" fmla="*/ 15 h 31"/>
                <a:gd name="T14" fmla="*/ 13 w 25"/>
                <a:gd name="T15" fmla="*/ 0 h 31"/>
                <a:gd name="T16" fmla="*/ 25 w 25"/>
                <a:gd name="T17" fmla="*/ 17 h 31"/>
                <a:gd name="T18" fmla="*/ 9 w 25"/>
                <a:gd name="T19" fmla="*/ 17 h 31"/>
                <a:gd name="T20" fmla="*/ 16 w 25"/>
                <a:gd name="T21" fmla="*/ 12 h 31"/>
                <a:gd name="T22" fmla="*/ 13 w 25"/>
                <a:gd name="T23" fmla="*/ 5 h 31"/>
                <a:gd name="T24" fmla="*/ 9 w 25"/>
                <a:gd name="T25" fmla="*/ 12 h 31"/>
                <a:gd name="T26" fmla="*/ 16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3" y="26"/>
                  </a:cubicBezTo>
                  <a:cubicBezTo>
                    <a:pt x="16" y="26"/>
                    <a:pt x="16" y="23"/>
                    <a:pt x="16" y="20"/>
                  </a:cubicBezTo>
                  <a:cubicBezTo>
                    <a:pt x="25" y="20"/>
                    <a:pt x="25" y="20"/>
                    <a:pt x="25" y="20"/>
                  </a:cubicBezTo>
                  <a:cubicBezTo>
                    <a:pt x="25" y="24"/>
                    <a:pt x="23" y="26"/>
                    <a:pt x="21" y="28"/>
                  </a:cubicBezTo>
                  <a:cubicBezTo>
                    <a:pt x="19" y="30"/>
                    <a:pt x="17" y="31"/>
                    <a:pt x="13" y="31"/>
                  </a:cubicBezTo>
                  <a:cubicBezTo>
                    <a:pt x="2" y="31"/>
                    <a:pt x="0" y="24"/>
                    <a:pt x="0" y="15"/>
                  </a:cubicBezTo>
                  <a:cubicBezTo>
                    <a:pt x="0" y="7"/>
                    <a:pt x="2" y="0"/>
                    <a:pt x="13" y="0"/>
                  </a:cubicBezTo>
                  <a:cubicBezTo>
                    <a:pt x="24" y="0"/>
                    <a:pt x="25" y="7"/>
                    <a:pt x="25" y="17"/>
                  </a:cubicBezTo>
                  <a:lnTo>
                    <a:pt x="9" y="17"/>
                  </a:lnTo>
                  <a:close/>
                  <a:moveTo>
                    <a:pt x="16" y="12"/>
                  </a:moveTo>
                  <a:cubicBezTo>
                    <a:pt x="16" y="9"/>
                    <a:pt x="17" y="5"/>
                    <a:pt x="13" y="5"/>
                  </a:cubicBezTo>
                  <a:cubicBezTo>
                    <a:pt x="9" y="5"/>
                    <a:pt x="9" y="10"/>
                    <a:pt x="9" y="12"/>
                  </a:cubicBezTo>
                  <a:lnTo>
                    <a:pt x="16"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6" name="Freeform 33"/>
            <p:cNvSpPr>
              <a:spLocks noEditPoints="1"/>
            </p:cNvSpPr>
            <p:nvPr/>
          </p:nvSpPr>
          <p:spPr bwMode="gray">
            <a:xfrm>
              <a:off x="4597401" y="1957388"/>
              <a:ext cx="204788" cy="258763"/>
            </a:xfrm>
            <a:custGeom>
              <a:avLst/>
              <a:gdLst>
                <a:gd name="T0" fmla="*/ 9 w 25"/>
                <a:gd name="T1" fmla="*/ 17 h 31"/>
                <a:gd name="T2" fmla="*/ 13 w 25"/>
                <a:gd name="T3" fmla="*/ 26 h 31"/>
                <a:gd name="T4" fmla="*/ 16 w 25"/>
                <a:gd name="T5" fmla="*/ 20 h 31"/>
                <a:gd name="T6" fmla="*/ 25 w 25"/>
                <a:gd name="T7" fmla="*/ 20 h 31"/>
                <a:gd name="T8" fmla="*/ 21 w 25"/>
                <a:gd name="T9" fmla="*/ 28 h 31"/>
                <a:gd name="T10" fmla="*/ 13 w 25"/>
                <a:gd name="T11" fmla="*/ 31 h 31"/>
                <a:gd name="T12" fmla="*/ 0 w 25"/>
                <a:gd name="T13" fmla="*/ 15 h 31"/>
                <a:gd name="T14" fmla="*/ 13 w 25"/>
                <a:gd name="T15" fmla="*/ 0 h 31"/>
                <a:gd name="T16" fmla="*/ 25 w 25"/>
                <a:gd name="T17" fmla="*/ 17 h 31"/>
                <a:gd name="T18" fmla="*/ 9 w 25"/>
                <a:gd name="T19" fmla="*/ 17 h 31"/>
                <a:gd name="T20" fmla="*/ 16 w 25"/>
                <a:gd name="T21" fmla="*/ 12 h 31"/>
                <a:gd name="T22" fmla="*/ 13 w 25"/>
                <a:gd name="T23" fmla="*/ 5 h 31"/>
                <a:gd name="T24" fmla="*/ 9 w 25"/>
                <a:gd name="T25" fmla="*/ 12 h 31"/>
                <a:gd name="T26" fmla="*/ 16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3" y="26"/>
                  </a:cubicBezTo>
                  <a:cubicBezTo>
                    <a:pt x="15" y="26"/>
                    <a:pt x="16" y="23"/>
                    <a:pt x="16" y="20"/>
                  </a:cubicBezTo>
                  <a:cubicBezTo>
                    <a:pt x="25" y="20"/>
                    <a:pt x="25" y="20"/>
                    <a:pt x="25" y="20"/>
                  </a:cubicBezTo>
                  <a:cubicBezTo>
                    <a:pt x="24" y="24"/>
                    <a:pt x="23" y="26"/>
                    <a:pt x="21" y="28"/>
                  </a:cubicBezTo>
                  <a:cubicBezTo>
                    <a:pt x="19" y="30"/>
                    <a:pt x="16" y="31"/>
                    <a:pt x="13" y="31"/>
                  </a:cubicBezTo>
                  <a:cubicBezTo>
                    <a:pt x="2" y="31"/>
                    <a:pt x="0" y="24"/>
                    <a:pt x="0" y="15"/>
                  </a:cubicBezTo>
                  <a:cubicBezTo>
                    <a:pt x="0" y="7"/>
                    <a:pt x="2" y="0"/>
                    <a:pt x="13" y="0"/>
                  </a:cubicBezTo>
                  <a:cubicBezTo>
                    <a:pt x="24" y="0"/>
                    <a:pt x="25" y="7"/>
                    <a:pt x="25" y="17"/>
                  </a:cubicBezTo>
                  <a:lnTo>
                    <a:pt x="9" y="17"/>
                  </a:lnTo>
                  <a:close/>
                  <a:moveTo>
                    <a:pt x="16" y="12"/>
                  </a:moveTo>
                  <a:cubicBezTo>
                    <a:pt x="16" y="9"/>
                    <a:pt x="17" y="5"/>
                    <a:pt x="13" y="5"/>
                  </a:cubicBezTo>
                  <a:cubicBezTo>
                    <a:pt x="9" y="5"/>
                    <a:pt x="9" y="10"/>
                    <a:pt x="9" y="12"/>
                  </a:cubicBezTo>
                  <a:lnTo>
                    <a:pt x="16"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8" name="Freeform 34"/>
            <p:cNvSpPr>
              <a:spLocks/>
            </p:cNvSpPr>
            <p:nvPr/>
          </p:nvSpPr>
          <p:spPr bwMode="gray">
            <a:xfrm>
              <a:off x="4843463" y="1957388"/>
              <a:ext cx="131763" cy="250825"/>
            </a:xfrm>
            <a:custGeom>
              <a:avLst/>
              <a:gdLst>
                <a:gd name="T0" fmla="*/ 8 w 16"/>
                <a:gd name="T1" fmla="*/ 1 h 30"/>
                <a:gd name="T2" fmla="*/ 8 w 16"/>
                <a:gd name="T3" fmla="*/ 4 h 30"/>
                <a:gd name="T4" fmla="*/ 8 w 16"/>
                <a:gd name="T5" fmla="*/ 4 h 30"/>
                <a:gd name="T6" fmla="*/ 16 w 16"/>
                <a:gd name="T7" fmla="*/ 0 h 30"/>
                <a:gd name="T8" fmla="*/ 16 w 16"/>
                <a:gd name="T9" fmla="*/ 7 h 30"/>
                <a:gd name="T10" fmla="*/ 8 w 16"/>
                <a:gd name="T11" fmla="*/ 14 h 30"/>
                <a:gd name="T12" fmla="*/ 8 w 16"/>
                <a:gd name="T13" fmla="*/ 30 h 30"/>
                <a:gd name="T14" fmla="*/ 0 w 16"/>
                <a:gd name="T15" fmla="*/ 30 h 30"/>
                <a:gd name="T16" fmla="*/ 0 w 16"/>
                <a:gd name="T17" fmla="*/ 1 h 30"/>
                <a:gd name="T18" fmla="*/ 8 w 16"/>
                <a:gd name="T19"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30">
                  <a:moveTo>
                    <a:pt x="8" y="1"/>
                  </a:moveTo>
                  <a:cubicBezTo>
                    <a:pt x="8" y="4"/>
                    <a:pt x="8" y="4"/>
                    <a:pt x="8" y="4"/>
                  </a:cubicBezTo>
                  <a:cubicBezTo>
                    <a:pt x="8" y="4"/>
                    <a:pt x="8" y="4"/>
                    <a:pt x="8" y="4"/>
                  </a:cubicBezTo>
                  <a:cubicBezTo>
                    <a:pt x="10" y="1"/>
                    <a:pt x="12" y="0"/>
                    <a:pt x="16" y="0"/>
                  </a:cubicBezTo>
                  <a:cubicBezTo>
                    <a:pt x="16" y="7"/>
                    <a:pt x="16" y="7"/>
                    <a:pt x="16" y="7"/>
                  </a:cubicBezTo>
                  <a:cubicBezTo>
                    <a:pt x="8" y="7"/>
                    <a:pt x="8" y="11"/>
                    <a:pt x="8" y="14"/>
                  </a:cubicBezTo>
                  <a:cubicBezTo>
                    <a:pt x="8" y="30"/>
                    <a:pt x="8" y="30"/>
                    <a:pt x="8" y="30"/>
                  </a:cubicBezTo>
                  <a:cubicBezTo>
                    <a:pt x="0" y="30"/>
                    <a:pt x="0" y="30"/>
                    <a:pt x="0" y="30"/>
                  </a:cubicBezTo>
                  <a:cubicBezTo>
                    <a:pt x="0" y="1"/>
                    <a:pt x="0" y="1"/>
                    <a:pt x="0" y="1"/>
                  </a:cubicBezTo>
                  <a:lnTo>
                    <a:pt x="8" y="1"/>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9" name="Freeform 35"/>
            <p:cNvSpPr>
              <a:spLocks noEditPoints="1"/>
            </p:cNvSpPr>
            <p:nvPr/>
          </p:nvSpPr>
          <p:spPr bwMode="gray">
            <a:xfrm>
              <a:off x="4992688" y="1957388"/>
              <a:ext cx="204788" cy="258763"/>
            </a:xfrm>
            <a:custGeom>
              <a:avLst/>
              <a:gdLst>
                <a:gd name="T0" fmla="*/ 9 w 25"/>
                <a:gd name="T1" fmla="*/ 17 h 31"/>
                <a:gd name="T2" fmla="*/ 13 w 25"/>
                <a:gd name="T3" fmla="*/ 26 h 31"/>
                <a:gd name="T4" fmla="*/ 16 w 25"/>
                <a:gd name="T5" fmla="*/ 20 h 31"/>
                <a:gd name="T6" fmla="*/ 25 w 25"/>
                <a:gd name="T7" fmla="*/ 20 h 31"/>
                <a:gd name="T8" fmla="*/ 21 w 25"/>
                <a:gd name="T9" fmla="*/ 28 h 31"/>
                <a:gd name="T10" fmla="*/ 13 w 25"/>
                <a:gd name="T11" fmla="*/ 31 h 31"/>
                <a:gd name="T12" fmla="*/ 0 w 25"/>
                <a:gd name="T13" fmla="*/ 15 h 31"/>
                <a:gd name="T14" fmla="*/ 13 w 25"/>
                <a:gd name="T15" fmla="*/ 0 h 31"/>
                <a:gd name="T16" fmla="*/ 25 w 25"/>
                <a:gd name="T17" fmla="*/ 17 h 31"/>
                <a:gd name="T18" fmla="*/ 9 w 25"/>
                <a:gd name="T19" fmla="*/ 17 h 31"/>
                <a:gd name="T20" fmla="*/ 16 w 25"/>
                <a:gd name="T21" fmla="*/ 12 h 31"/>
                <a:gd name="T22" fmla="*/ 13 w 25"/>
                <a:gd name="T23" fmla="*/ 5 h 31"/>
                <a:gd name="T24" fmla="*/ 9 w 25"/>
                <a:gd name="T25" fmla="*/ 12 h 31"/>
                <a:gd name="T26" fmla="*/ 16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3" y="26"/>
                  </a:cubicBezTo>
                  <a:cubicBezTo>
                    <a:pt x="15" y="26"/>
                    <a:pt x="16" y="23"/>
                    <a:pt x="16" y="20"/>
                  </a:cubicBezTo>
                  <a:cubicBezTo>
                    <a:pt x="25" y="20"/>
                    <a:pt x="25" y="20"/>
                    <a:pt x="25" y="20"/>
                  </a:cubicBezTo>
                  <a:cubicBezTo>
                    <a:pt x="24" y="24"/>
                    <a:pt x="23" y="26"/>
                    <a:pt x="21" y="28"/>
                  </a:cubicBezTo>
                  <a:cubicBezTo>
                    <a:pt x="19" y="30"/>
                    <a:pt x="16" y="31"/>
                    <a:pt x="13" y="31"/>
                  </a:cubicBezTo>
                  <a:cubicBezTo>
                    <a:pt x="2" y="31"/>
                    <a:pt x="0" y="24"/>
                    <a:pt x="0" y="15"/>
                  </a:cubicBezTo>
                  <a:cubicBezTo>
                    <a:pt x="0" y="7"/>
                    <a:pt x="1" y="0"/>
                    <a:pt x="13" y="0"/>
                  </a:cubicBezTo>
                  <a:cubicBezTo>
                    <a:pt x="24" y="0"/>
                    <a:pt x="25" y="7"/>
                    <a:pt x="25" y="17"/>
                  </a:cubicBezTo>
                  <a:lnTo>
                    <a:pt x="9" y="17"/>
                  </a:lnTo>
                  <a:close/>
                  <a:moveTo>
                    <a:pt x="16" y="12"/>
                  </a:moveTo>
                  <a:cubicBezTo>
                    <a:pt x="16" y="9"/>
                    <a:pt x="16" y="5"/>
                    <a:pt x="13" y="5"/>
                  </a:cubicBezTo>
                  <a:cubicBezTo>
                    <a:pt x="9" y="5"/>
                    <a:pt x="9" y="10"/>
                    <a:pt x="9" y="12"/>
                  </a:cubicBezTo>
                  <a:lnTo>
                    <a:pt x="16"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0" name="Freeform 36"/>
            <p:cNvSpPr>
              <a:spLocks noEditPoints="1"/>
            </p:cNvSpPr>
            <p:nvPr/>
          </p:nvSpPr>
          <p:spPr bwMode="gray">
            <a:xfrm>
              <a:off x="5230813" y="1855788"/>
              <a:ext cx="196850" cy="360363"/>
            </a:xfrm>
            <a:custGeom>
              <a:avLst/>
              <a:gdLst>
                <a:gd name="T0" fmla="*/ 16 w 24"/>
                <a:gd name="T1" fmla="*/ 42 h 43"/>
                <a:gd name="T2" fmla="*/ 16 w 24"/>
                <a:gd name="T3" fmla="*/ 39 h 43"/>
                <a:gd name="T4" fmla="*/ 16 w 24"/>
                <a:gd name="T5" fmla="*/ 39 h 43"/>
                <a:gd name="T6" fmla="*/ 9 w 24"/>
                <a:gd name="T7" fmla="*/ 43 h 43"/>
                <a:gd name="T8" fmla="*/ 0 w 24"/>
                <a:gd name="T9" fmla="*/ 27 h 43"/>
                <a:gd name="T10" fmla="*/ 9 w 24"/>
                <a:gd name="T11" fmla="*/ 12 h 43"/>
                <a:gd name="T12" fmla="*/ 15 w 24"/>
                <a:gd name="T13" fmla="*/ 15 h 43"/>
                <a:gd name="T14" fmla="*/ 15 w 24"/>
                <a:gd name="T15" fmla="*/ 15 h 43"/>
                <a:gd name="T16" fmla="*/ 15 w 24"/>
                <a:gd name="T17" fmla="*/ 0 h 43"/>
                <a:gd name="T18" fmla="*/ 24 w 24"/>
                <a:gd name="T19" fmla="*/ 0 h 43"/>
                <a:gd name="T20" fmla="*/ 24 w 24"/>
                <a:gd name="T21" fmla="*/ 42 h 43"/>
                <a:gd name="T22" fmla="*/ 16 w 24"/>
                <a:gd name="T23" fmla="*/ 42 h 43"/>
                <a:gd name="T24" fmla="*/ 15 w 24"/>
                <a:gd name="T25" fmla="*/ 27 h 43"/>
                <a:gd name="T26" fmla="*/ 12 w 24"/>
                <a:gd name="T27" fmla="*/ 17 h 43"/>
                <a:gd name="T28" fmla="*/ 9 w 24"/>
                <a:gd name="T29" fmla="*/ 27 h 43"/>
                <a:gd name="T30" fmla="*/ 12 w 24"/>
                <a:gd name="T31" fmla="*/ 38 h 43"/>
                <a:gd name="T32" fmla="*/ 15 w 24"/>
                <a:gd name="T33" fmla="*/ 2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43">
                  <a:moveTo>
                    <a:pt x="16" y="42"/>
                  </a:moveTo>
                  <a:cubicBezTo>
                    <a:pt x="16" y="39"/>
                    <a:pt x="16" y="39"/>
                    <a:pt x="16" y="39"/>
                  </a:cubicBezTo>
                  <a:cubicBezTo>
                    <a:pt x="16" y="39"/>
                    <a:pt x="16" y="39"/>
                    <a:pt x="16" y="39"/>
                  </a:cubicBezTo>
                  <a:cubicBezTo>
                    <a:pt x="14" y="42"/>
                    <a:pt x="12" y="43"/>
                    <a:pt x="9" y="43"/>
                  </a:cubicBezTo>
                  <a:cubicBezTo>
                    <a:pt x="0" y="43"/>
                    <a:pt x="0" y="33"/>
                    <a:pt x="0" y="27"/>
                  </a:cubicBezTo>
                  <a:cubicBezTo>
                    <a:pt x="0" y="21"/>
                    <a:pt x="0" y="12"/>
                    <a:pt x="9" y="12"/>
                  </a:cubicBezTo>
                  <a:cubicBezTo>
                    <a:pt x="12" y="12"/>
                    <a:pt x="14" y="13"/>
                    <a:pt x="15" y="15"/>
                  </a:cubicBezTo>
                  <a:cubicBezTo>
                    <a:pt x="15" y="15"/>
                    <a:pt x="15" y="15"/>
                    <a:pt x="15" y="15"/>
                  </a:cubicBezTo>
                  <a:cubicBezTo>
                    <a:pt x="15" y="0"/>
                    <a:pt x="15" y="0"/>
                    <a:pt x="15" y="0"/>
                  </a:cubicBezTo>
                  <a:cubicBezTo>
                    <a:pt x="24" y="0"/>
                    <a:pt x="24" y="0"/>
                    <a:pt x="24" y="0"/>
                  </a:cubicBezTo>
                  <a:cubicBezTo>
                    <a:pt x="24" y="42"/>
                    <a:pt x="24" y="42"/>
                    <a:pt x="24" y="42"/>
                  </a:cubicBezTo>
                  <a:lnTo>
                    <a:pt x="16" y="42"/>
                  </a:lnTo>
                  <a:close/>
                  <a:moveTo>
                    <a:pt x="15" y="27"/>
                  </a:moveTo>
                  <a:cubicBezTo>
                    <a:pt x="15" y="21"/>
                    <a:pt x="16" y="17"/>
                    <a:pt x="12" y="17"/>
                  </a:cubicBezTo>
                  <a:cubicBezTo>
                    <a:pt x="8" y="17"/>
                    <a:pt x="9" y="21"/>
                    <a:pt x="9" y="27"/>
                  </a:cubicBezTo>
                  <a:cubicBezTo>
                    <a:pt x="9" y="35"/>
                    <a:pt x="9" y="38"/>
                    <a:pt x="12" y="38"/>
                  </a:cubicBezTo>
                  <a:cubicBezTo>
                    <a:pt x="15" y="38"/>
                    <a:pt x="15" y="35"/>
                    <a:pt x="15" y="27"/>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1" name="Freeform 37"/>
            <p:cNvSpPr>
              <a:spLocks/>
            </p:cNvSpPr>
            <p:nvPr/>
          </p:nvSpPr>
          <p:spPr bwMode="gray">
            <a:xfrm>
              <a:off x="5584826" y="1889125"/>
              <a:ext cx="131763" cy="327025"/>
            </a:xfrm>
            <a:custGeom>
              <a:avLst/>
              <a:gdLst>
                <a:gd name="T0" fmla="*/ 0 w 16"/>
                <a:gd name="T1" fmla="*/ 9 h 39"/>
                <a:gd name="T2" fmla="*/ 4 w 16"/>
                <a:gd name="T3" fmla="*/ 9 h 39"/>
                <a:gd name="T4" fmla="*/ 4 w 16"/>
                <a:gd name="T5" fmla="*/ 4 h 39"/>
                <a:gd name="T6" fmla="*/ 12 w 16"/>
                <a:gd name="T7" fmla="*/ 0 h 39"/>
                <a:gd name="T8" fmla="*/ 12 w 16"/>
                <a:gd name="T9" fmla="*/ 9 h 39"/>
                <a:gd name="T10" fmla="*/ 16 w 16"/>
                <a:gd name="T11" fmla="*/ 9 h 39"/>
                <a:gd name="T12" fmla="*/ 16 w 16"/>
                <a:gd name="T13" fmla="*/ 14 h 39"/>
                <a:gd name="T14" fmla="*/ 12 w 16"/>
                <a:gd name="T15" fmla="*/ 14 h 39"/>
                <a:gd name="T16" fmla="*/ 12 w 16"/>
                <a:gd name="T17" fmla="*/ 30 h 39"/>
                <a:gd name="T18" fmla="*/ 15 w 16"/>
                <a:gd name="T19" fmla="*/ 33 h 39"/>
                <a:gd name="T20" fmla="*/ 16 w 16"/>
                <a:gd name="T21" fmla="*/ 33 h 39"/>
                <a:gd name="T22" fmla="*/ 16 w 16"/>
                <a:gd name="T23" fmla="*/ 38 h 39"/>
                <a:gd name="T24" fmla="*/ 12 w 16"/>
                <a:gd name="T25" fmla="*/ 39 h 39"/>
                <a:gd name="T26" fmla="*/ 4 w 16"/>
                <a:gd name="T27" fmla="*/ 32 h 39"/>
                <a:gd name="T28" fmla="*/ 4 w 16"/>
                <a:gd name="T29" fmla="*/ 14 h 39"/>
                <a:gd name="T30" fmla="*/ 0 w 16"/>
                <a:gd name="T31" fmla="*/ 14 h 39"/>
                <a:gd name="T32" fmla="*/ 0 w 16"/>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 h="39">
                  <a:moveTo>
                    <a:pt x="0" y="9"/>
                  </a:moveTo>
                  <a:cubicBezTo>
                    <a:pt x="4" y="9"/>
                    <a:pt x="4" y="9"/>
                    <a:pt x="4" y="9"/>
                  </a:cubicBezTo>
                  <a:cubicBezTo>
                    <a:pt x="4" y="4"/>
                    <a:pt x="4" y="4"/>
                    <a:pt x="4" y="4"/>
                  </a:cubicBezTo>
                  <a:cubicBezTo>
                    <a:pt x="12" y="0"/>
                    <a:pt x="12" y="0"/>
                    <a:pt x="12" y="0"/>
                  </a:cubicBezTo>
                  <a:cubicBezTo>
                    <a:pt x="12" y="9"/>
                    <a:pt x="12" y="9"/>
                    <a:pt x="12" y="9"/>
                  </a:cubicBezTo>
                  <a:cubicBezTo>
                    <a:pt x="16" y="9"/>
                    <a:pt x="16" y="9"/>
                    <a:pt x="16" y="9"/>
                  </a:cubicBezTo>
                  <a:cubicBezTo>
                    <a:pt x="16" y="14"/>
                    <a:pt x="16" y="14"/>
                    <a:pt x="16" y="14"/>
                  </a:cubicBezTo>
                  <a:cubicBezTo>
                    <a:pt x="12" y="14"/>
                    <a:pt x="12" y="14"/>
                    <a:pt x="12" y="14"/>
                  </a:cubicBezTo>
                  <a:cubicBezTo>
                    <a:pt x="12" y="30"/>
                    <a:pt x="12" y="30"/>
                    <a:pt x="12" y="30"/>
                  </a:cubicBezTo>
                  <a:cubicBezTo>
                    <a:pt x="12" y="32"/>
                    <a:pt x="12" y="33"/>
                    <a:pt x="15" y="33"/>
                  </a:cubicBezTo>
                  <a:cubicBezTo>
                    <a:pt x="15" y="33"/>
                    <a:pt x="16" y="33"/>
                    <a:pt x="16" y="33"/>
                  </a:cubicBezTo>
                  <a:cubicBezTo>
                    <a:pt x="16" y="38"/>
                    <a:pt x="16" y="38"/>
                    <a:pt x="16" y="38"/>
                  </a:cubicBezTo>
                  <a:cubicBezTo>
                    <a:pt x="15" y="39"/>
                    <a:pt x="14" y="39"/>
                    <a:pt x="12" y="39"/>
                  </a:cubicBezTo>
                  <a:cubicBezTo>
                    <a:pt x="4" y="39"/>
                    <a:pt x="4" y="34"/>
                    <a:pt x="4" y="32"/>
                  </a:cubicBezTo>
                  <a:cubicBezTo>
                    <a:pt x="4" y="14"/>
                    <a:pt x="4" y="14"/>
                    <a:pt x="4" y="14"/>
                  </a:cubicBezTo>
                  <a:cubicBezTo>
                    <a:pt x="0" y="14"/>
                    <a:pt x="0" y="14"/>
                    <a:pt x="0" y="14"/>
                  </a:cubicBezTo>
                  <a:lnTo>
                    <a:pt x="0" y="9"/>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2" name="Freeform 38"/>
            <p:cNvSpPr>
              <a:spLocks noEditPoints="1"/>
            </p:cNvSpPr>
            <p:nvPr/>
          </p:nvSpPr>
          <p:spPr bwMode="gray">
            <a:xfrm>
              <a:off x="5740401" y="1957388"/>
              <a:ext cx="206375" cy="258763"/>
            </a:xfrm>
            <a:custGeom>
              <a:avLst/>
              <a:gdLst>
                <a:gd name="T0" fmla="*/ 0 w 25"/>
                <a:gd name="T1" fmla="*/ 15 h 31"/>
                <a:gd name="T2" fmla="*/ 13 w 25"/>
                <a:gd name="T3" fmla="*/ 0 h 31"/>
                <a:gd name="T4" fmla="*/ 25 w 25"/>
                <a:gd name="T5" fmla="*/ 15 h 31"/>
                <a:gd name="T6" fmla="*/ 13 w 25"/>
                <a:gd name="T7" fmla="*/ 31 h 31"/>
                <a:gd name="T8" fmla="*/ 0 w 25"/>
                <a:gd name="T9" fmla="*/ 15 h 31"/>
                <a:gd name="T10" fmla="*/ 16 w 25"/>
                <a:gd name="T11" fmla="*/ 15 h 31"/>
                <a:gd name="T12" fmla="*/ 13 w 25"/>
                <a:gd name="T13" fmla="*/ 5 h 31"/>
                <a:gd name="T14" fmla="*/ 9 w 25"/>
                <a:gd name="T15" fmla="*/ 15 h 31"/>
                <a:gd name="T16" fmla="*/ 13 w 25"/>
                <a:gd name="T17" fmla="*/ 26 h 31"/>
                <a:gd name="T18" fmla="*/ 16 w 25"/>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31">
                  <a:moveTo>
                    <a:pt x="0" y="15"/>
                  </a:moveTo>
                  <a:cubicBezTo>
                    <a:pt x="0" y="7"/>
                    <a:pt x="1" y="0"/>
                    <a:pt x="13" y="0"/>
                  </a:cubicBezTo>
                  <a:cubicBezTo>
                    <a:pt x="24" y="0"/>
                    <a:pt x="25" y="7"/>
                    <a:pt x="25" y="15"/>
                  </a:cubicBezTo>
                  <a:cubicBezTo>
                    <a:pt x="25" y="24"/>
                    <a:pt x="23" y="31"/>
                    <a:pt x="13" y="31"/>
                  </a:cubicBezTo>
                  <a:cubicBezTo>
                    <a:pt x="2" y="31"/>
                    <a:pt x="0" y="24"/>
                    <a:pt x="0" y="15"/>
                  </a:cubicBezTo>
                  <a:close/>
                  <a:moveTo>
                    <a:pt x="16" y="15"/>
                  </a:moveTo>
                  <a:cubicBezTo>
                    <a:pt x="16" y="8"/>
                    <a:pt x="16" y="5"/>
                    <a:pt x="13" y="5"/>
                  </a:cubicBezTo>
                  <a:cubicBezTo>
                    <a:pt x="9" y="5"/>
                    <a:pt x="9" y="8"/>
                    <a:pt x="9" y="15"/>
                  </a:cubicBezTo>
                  <a:cubicBezTo>
                    <a:pt x="9" y="24"/>
                    <a:pt x="9" y="26"/>
                    <a:pt x="13" y="26"/>
                  </a:cubicBezTo>
                  <a:cubicBezTo>
                    <a:pt x="16" y="26"/>
                    <a:pt x="16" y="24"/>
                    <a:pt x="16" y="1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3" name="Freeform 39"/>
            <p:cNvSpPr>
              <a:spLocks/>
            </p:cNvSpPr>
            <p:nvPr/>
          </p:nvSpPr>
          <p:spPr bwMode="gray">
            <a:xfrm>
              <a:off x="6069013" y="1855788"/>
              <a:ext cx="436563" cy="352425"/>
            </a:xfrm>
            <a:custGeom>
              <a:avLst/>
              <a:gdLst>
                <a:gd name="T0" fmla="*/ 0 w 275"/>
                <a:gd name="T1" fmla="*/ 0 h 222"/>
                <a:gd name="T2" fmla="*/ 52 w 275"/>
                <a:gd name="T3" fmla="*/ 0 h 222"/>
                <a:gd name="T4" fmla="*/ 78 w 275"/>
                <a:gd name="T5" fmla="*/ 159 h 222"/>
                <a:gd name="T6" fmla="*/ 78 w 275"/>
                <a:gd name="T7" fmla="*/ 159 h 222"/>
                <a:gd name="T8" fmla="*/ 114 w 275"/>
                <a:gd name="T9" fmla="*/ 0 h 222"/>
                <a:gd name="T10" fmla="*/ 171 w 275"/>
                <a:gd name="T11" fmla="*/ 0 h 222"/>
                <a:gd name="T12" fmla="*/ 203 w 275"/>
                <a:gd name="T13" fmla="*/ 159 h 222"/>
                <a:gd name="T14" fmla="*/ 203 w 275"/>
                <a:gd name="T15" fmla="*/ 159 h 222"/>
                <a:gd name="T16" fmla="*/ 234 w 275"/>
                <a:gd name="T17" fmla="*/ 0 h 222"/>
                <a:gd name="T18" fmla="*/ 275 w 275"/>
                <a:gd name="T19" fmla="*/ 0 h 222"/>
                <a:gd name="T20" fmla="*/ 228 w 275"/>
                <a:gd name="T21" fmla="*/ 222 h 222"/>
                <a:gd name="T22" fmla="*/ 177 w 275"/>
                <a:gd name="T23" fmla="*/ 222 h 222"/>
                <a:gd name="T24" fmla="*/ 140 w 275"/>
                <a:gd name="T25" fmla="*/ 58 h 222"/>
                <a:gd name="T26" fmla="*/ 140 w 275"/>
                <a:gd name="T27" fmla="*/ 58 h 222"/>
                <a:gd name="T28" fmla="*/ 104 w 275"/>
                <a:gd name="T29" fmla="*/ 222 h 222"/>
                <a:gd name="T30" fmla="*/ 52 w 275"/>
                <a:gd name="T31" fmla="*/ 222 h 222"/>
                <a:gd name="T32" fmla="*/ 0 w 275"/>
                <a:gd name="T33"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5" h="222">
                  <a:moveTo>
                    <a:pt x="0" y="0"/>
                  </a:moveTo>
                  <a:lnTo>
                    <a:pt x="52" y="0"/>
                  </a:lnTo>
                  <a:lnTo>
                    <a:pt x="78" y="159"/>
                  </a:lnTo>
                  <a:lnTo>
                    <a:pt x="78" y="159"/>
                  </a:lnTo>
                  <a:lnTo>
                    <a:pt x="114" y="0"/>
                  </a:lnTo>
                  <a:lnTo>
                    <a:pt x="171" y="0"/>
                  </a:lnTo>
                  <a:lnTo>
                    <a:pt x="203" y="159"/>
                  </a:lnTo>
                  <a:lnTo>
                    <a:pt x="203" y="159"/>
                  </a:lnTo>
                  <a:lnTo>
                    <a:pt x="234" y="0"/>
                  </a:lnTo>
                  <a:lnTo>
                    <a:pt x="275" y="0"/>
                  </a:lnTo>
                  <a:lnTo>
                    <a:pt x="228" y="222"/>
                  </a:lnTo>
                  <a:lnTo>
                    <a:pt x="177" y="222"/>
                  </a:lnTo>
                  <a:lnTo>
                    <a:pt x="140" y="58"/>
                  </a:lnTo>
                  <a:lnTo>
                    <a:pt x="140" y="58"/>
                  </a:lnTo>
                  <a:lnTo>
                    <a:pt x="104" y="222"/>
                  </a:lnTo>
                  <a:lnTo>
                    <a:pt x="52" y="222"/>
                  </a:lnTo>
                  <a:lnTo>
                    <a:pt x="0" y="0"/>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4" name="Freeform 40"/>
            <p:cNvSpPr>
              <a:spLocks noEditPoints="1"/>
            </p:cNvSpPr>
            <p:nvPr/>
          </p:nvSpPr>
          <p:spPr bwMode="gray">
            <a:xfrm>
              <a:off x="6513513" y="1957388"/>
              <a:ext cx="198438" cy="258763"/>
            </a:xfrm>
            <a:custGeom>
              <a:avLst/>
              <a:gdLst>
                <a:gd name="T0" fmla="*/ 0 w 24"/>
                <a:gd name="T1" fmla="*/ 15 h 31"/>
                <a:gd name="T2" fmla="*/ 12 w 24"/>
                <a:gd name="T3" fmla="*/ 0 h 31"/>
                <a:gd name="T4" fmla="*/ 24 w 24"/>
                <a:gd name="T5" fmla="*/ 15 h 31"/>
                <a:gd name="T6" fmla="*/ 12 w 24"/>
                <a:gd name="T7" fmla="*/ 31 h 31"/>
                <a:gd name="T8" fmla="*/ 0 w 24"/>
                <a:gd name="T9" fmla="*/ 15 h 31"/>
                <a:gd name="T10" fmla="*/ 16 w 24"/>
                <a:gd name="T11" fmla="*/ 15 h 31"/>
                <a:gd name="T12" fmla="*/ 12 w 24"/>
                <a:gd name="T13" fmla="*/ 5 h 31"/>
                <a:gd name="T14" fmla="*/ 8 w 24"/>
                <a:gd name="T15" fmla="*/ 15 h 31"/>
                <a:gd name="T16" fmla="*/ 12 w 24"/>
                <a:gd name="T17" fmla="*/ 26 h 31"/>
                <a:gd name="T18" fmla="*/ 16 w 24"/>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1">
                  <a:moveTo>
                    <a:pt x="0" y="15"/>
                  </a:moveTo>
                  <a:cubicBezTo>
                    <a:pt x="0" y="7"/>
                    <a:pt x="1" y="0"/>
                    <a:pt x="12" y="0"/>
                  </a:cubicBezTo>
                  <a:cubicBezTo>
                    <a:pt x="23" y="0"/>
                    <a:pt x="24" y="7"/>
                    <a:pt x="24" y="15"/>
                  </a:cubicBezTo>
                  <a:cubicBezTo>
                    <a:pt x="24" y="24"/>
                    <a:pt x="23" y="31"/>
                    <a:pt x="12" y="31"/>
                  </a:cubicBezTo>
                  <a:cubicBezTo>
                    <a:pt x="1" y="31"/>
                    <a:pt x="0" y="24"/>
                    <a:pt x="0" y="15"/>
                  </a:cubicBezTo>
                  <a:close/>
                  <a:moveTo>
                    <a:pt x="16" y="15"/>
                  </a:moveTo>
                  <a:cubicBezTo>
                    <a:pt x="16" y="8"/>
                    <a:pt x="15" y="5"/>
                    <a:pt x="12" y="5"/>
                  </a:cubicBezTo>
                  <a:cubicBezTo>
                    <a:pt x="8" y="5"/>
                    <a:pt x="8" y="8"/>
                    <a:pt x="8" y="15"/>
                  </a:cubicBezTo>
                  <a:cubicBezTo>
                    <a:pt x="8" y="24"/>
                    <a:pt x="9" y="26"/>
                    <a:pt x="12" y="26"/>
                  </a:cubicBezTo>
                  <a:cubicBezTo>
                    <a:pt x="15" y="26"/>
                    <a:pt x="16" y="24"/>
                    <a:pt x="16" y="1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5" name="Freeform 41"/>
            <p:cNvSpPr>
              <a:spLocks/>
            </p:cNvSpPr>
            <p:nvPr/>
          </p:nvSpPr>
          <p:spPr bwMode="gray">
            <a:xfrm>
              <a:off x="6761163" y="1957388"/>
              <a:ext cx="131763" cy="250825"/>
            </a:xfrm>
            <a:custGeom>
              <a:avLst/>
              <a:gdLst>
                <a:gd name="T0" fmla="*/ 8 w 16"/>
                <a:gd name="T1" fmla="*/ 1 h 30"/>
                <a:gd name="T2" fmla="*/ 8 w 16"/>
                <a:gd name="T3" fmla="*/ 4 h 30"/>
                <a:gd name="T4" fmla="*/ 8 w 16"/>
                <a:gd name="T5" fmla="*/ 4 h 30"/>
                <a:gd name="T6" fmla="*/ 16 w 16"/>
                <a:gd name="T7" fmla="*/ 0 h 30"/>
                <a:gd name="T8" fmla="*/ 16 w 16"/>
                <a:gd name="T9" fmla="*/ 7 h 30"/>
                <a:gd name="T10" fmla="*/ 8 w 16"/>
                <a:gd name="T11" fmla="*/ 14 h 30"/>
                <a:gd name="T12" fmla="*/ 8 w 16"/>
                <a:gd name="T13" fmla="*/ 30 h 30"/>
                <a:gd name="T14" fmla="*/ 0 w 16"/>
                <a:gd name="T15" fmla="*/ 30 h 30"/>
                <a:gd name="T16" fmla="*/ 0 w 16"/>
                <a:gd name="T17" fmla="*/ 1 h 30"/>
                <a:gd name="T18" fmla="*/ 8 w 16"/>
                <a:gd name="T19"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30">
                  <a:moveTo>
                    <a:pt x="8" y="1"/>
                  </a:moveTo>
                  <a:cubicBezTo>
                    <a:pt x="8" y="4"/>
                    <a:pt x="8" y="4"/>
                    <a:pt x="8" y="4"/>
                  </a:cubicBezTo>
                  <a:cubicBezTo>
                    <a:pt x="8" y="4"/>
                    <a:pt x="8" y="4"/>
                    <a:pt x="8" y="4"/>
                  </a:cubicBezTo>
                  <a:cubicBezTo>
                    <a:pt x="10" y="1"/>
                    <a:pt x="12" y="0"/>
                    <a:pt x="16" y="0"/>
                  </a:cubicBezTo>
                  <a:cubicBezTo>
                    <a:pt x="16" y="7"/>
                    <a:pt x="16" y="7"/>
                    <a:pt x="16" y="7"/>
                  </a:cubicBezTo>
                  <a:cubicBezTo>
                    <a:pt x="8" y="7"/>
                    <a:pt x="8" y="11"/>
                    <a:pt x="8" y="14"/>
                  </a:cubicBezTo>
                  <a:cubicBezTo>
                    <a:pt x="8" y="30"/>
                    <a:pt x="8" y="30"/>
                    <a:pt x="8" y="30"/>
                  </a:cubicBezTo>
                  <a:cubicBezTo>
                    <a:pt x="0" y="30"/>
                    <a:pt x="0" y="30"/>
                    <a:pt x="0" y="30"/>
                  </a:cubicBezTo>
                  <a:cubicBezTo>
                    <a:pt x="0" y="1"/>
                    <a:pt x="0" y="1"/>
                    <a:pt x="0" y="1"/>
                  </a:cubicBezTo>
                  <a:lnTo>
                    <a:pt x="8" y="1"/>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6" name="Freeform 42"/>
            <p:cNvSpPr>
              <a:spLocks/>
            </p:cNvSpPr>
            <p:nvPr/>
          </p:nvSpPr>
          <p:spPr bwMode="gray">
            <a:xfrm>
              <a:off x="6924676" y="1855788"/>
              <a:ext cx="206375" cy="352425"/>
            </a:xfrm>
            <a:custGeom>
              <a:avLst/>
              <a:gdLst>
                <a:gd name="T0" fmla="*/ 0 w 130"/>
                <a:gd name="T1" fmla="*/ 222 h 222"/>
                <a:gd name="T2" fmla="*/ 0 w 130"/>
                <a:gd name="T3" fmla="*/ 0 h 222"/>
                <a:gd name="T4" fmla="*/ 42 w 130"/>
                <a:gd name="T5" fmla="*/ 0 h 222"/>
                <a:gd name="T6" fmla="*/ 42 w 130"/>
                <a:gd name="T7" fmla="*/ 132 h 222"/>
                <a:gd name="T8" fmla="*/ 42 w 130"/>
                <a:gd name="T9" fmla="*/ 132 h 222"/>
                <a:gd name="T10" fmla="*/ 83 w 130"/>
                <a:gd name="T11" fmla="*/ 69 h 222"/>
                <a:gd name="T12" fmla="*/ 125 w 130"/>
                <a:gd name="T13" fmla="*/ 69 h 222"/>
                <a:gd name="T14" fmla="*/ 83 w 130"/>
                <a:gd name="T15" fmla="*/ 137 h 222"/>
                <a:gd name="T16" fmla="*/ 130 w 130"/>
                <a:gd name="T17" fmla="*/ 222 h 222"/>
                <a:gd name="T18" fmla="*/ 83 w 130"/>
                <a:gd name="T19" fmla="*/ 222 h 222"/>
                <a:gd name="T20" fmla="*/ 42 w 130"/>
                <a:gd name="T21" fmla="*/ 137 h 222"/>
                <a:gd name="T22" fmla="*/ 42 w 130"/>
                <a:gd name="T23" fmla="*/ 137 h 222"/>
                <a:gd name="T24" fmla="*/ 42 w 130"/>
                <a:gd name="T25" fmla="*/ 222 h 222"/>
                <a:gd name="T26" fmla="*/ 0 w 130"/>
                <a:gd name="T27" fmla="*/ 22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0" h="222">
                  <a:moveTo>
                    <a:pt x="0" y="222"/>
                  </a:moveTo>
                  <a:lnTo>
                    <a:pt x="0" y="0"/>
                  </a:lnTo>
                  <a:lnTo>
                    <a:pt x="42" y="0"/>
                  </a:lnTo>
                  <a:lnTo>
                    <a:pt x="42" y="132"/>
                  </a:lnTo>
                  <a:lnTo>
                    <a:pt x="42" y="132"/>
                  </a:lnTo>
                  <a:lnTo>
                    <a:pt x="83" y="69"/>
                  </a:lnTo>
                  <a:lnTo>
                    <a:pt x="125" y="69"/>
                  </a:lnTo>
                  <a:lnTo>
                    <a:pt x="83" y="137"/>
                  </a:lnTo>
                  <a:lnTo>
                    <a:pt x="130" y="222"/>
                  </a:lnTo>
                  <a:lnTo>
                    <a:pt x="83" y="222"/>
                  </a:lnTo>
                  <a:lnTo>
                    <a:pt x="42" y="137"/>
                  </a:lnTo>
                  <a:lnTo>
                    <a:pt x="42" y="137"/>
                  </a:lnTo>
                  <a:lnTo>
                    <a:pt x="42" y="222"/>
                  </a:lnTo>
                  <a:lnTo>
                    <a:pt x="0" y="22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7" name="Freeform 43"/>
            <p:cNvSpPr>
              <a:spLocks/>
            </p:cNvSpPr>
            <p:nvPr/>
          </p:nvSpPr>
          <p:spPr bwMode="gray">
            <a:xfrm>
              <a:off x="7229476" y="1855788"/>
              <a:ext cx="238125" cy="352425"/>
            </a:xfrm>
            <a:custGeom>
              <a:avLst/>
              <a:gdLst>
                <a:gd name="T0" fmla="*/ 150 w 150"/>
                <a:gd name="T1" fmla="*/ 0 h 222"/>
                <a:gd name="T2" fmla="*/ 150 w 150"/>
                <a:gd name="T3" fmla="*/ 37 h 222"/>
                <a:gd name="T4" fmla="*/ 99 w 150"/>
                <a:gd name="T5" fmla="*/ 37 h 222"/>
                <a:gd name="T6" fmla="*/ 99 w 150"/>
                <a:gd name="T7" fmla="*/ 222 h 222"/>
                <a:gd name="T8" fmla="*/ 52 w 150"/>
                <a:gd name="T9" fmla="*/ 222 h 222"/>
                <a:gd name="T10" fmla="*/ 52 w 150"/>
                <a:gd name="T11" fmla="*/ 37 h 222"/>
                <a:gd name="T12" fmla="*/ 0 w 150"/>
                <a:gd name="T13" fmla="*/ 37 h 222"/>
                <a:gd name="T14" fmla="*/ 0 w 150"/>
                <a:gd name="T15" fmla="*/ 0 h 222"/>
                <a:gd name="T16" fmla="*/ 150 w 150"/>
                <a:gd name="T17"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 h="222">
                  <a:moveTo>
                    <a:pt x="150" y="0"/>
                  </a:moveTo>
                  <a:lnTo>
                    <a:pt x="150" y="37"/>
                  </a:lnTo>
                  <a:lnTo>
                    <a:pt x="99" y="37"/>
                  </a:lnTo>
                  <a:lnTo>
                    <a:pt x="99" y="222"/>
                  </a:lnTo>
                  <a:lnTo>
                    <a:pt x="52" y="222"/>
                  </a:lnTo>
                  <a:lnTo>
                    <a:pt x="52" y="37"/>
                  </a:lnTo>
                  <a:lnTo>
                    <a:pt x="0" y="37"/>
                  </a:lnTo>
                  <a:lnTo>
                    <a:pt x="0" y="0"/>
                  </a:lnTo>
                  <a:lnTo>
                    <a:pt x="150" y="0"/>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8" name="Freeform 44"/>
            <p:cNvSpPr>
              <a:spLocks noEditPoints="1"/>
            </p:cNvSpPr>
            <p:nvPr/>
          </p:nvSpPr>
          <p:spPr bwMode="gray">
            <a:xfrm>
              <a:off x="7443788" y="1957388"/>
              <a:ext cx="196850" cy="258763"/>
            </a:xfrm>
            <a:custGeom>
              <a:avLst/>
              <a:gdLst>
                <a:gd name="T0" fmla="*/ 0 w 24"/>
                <a:gd name="T1" fmla="*/ 15 h 31"/>
                <a:gd name="T2" fmla="*/ 12 w 24"/>
                <a:gd name="T3" fmla="*/ 0 h 31"/>
                <a:gd name="T4" fmla="*/ 24 w 24"/>
                <a:gd name="T5" fmla="*/ 15 h 31"/>
                <a:gd name="T6" fmla="*/ 12 w 24"/>
                <a:gd name="T7" fmla="*/ 31 h 31"/>
                <a:gd name="T8" fmla="*/ 0 w 24"/>
                <a:gd name="T9" fmla="*/ 15 h 31"/>
                <a:gd name="T10" fmla="*/ 16 w 24"/>
                <a:gd name="T11" fmla="*/ 15 h 31"/>
                <a:gd name="T12" fmla="*/ 12 w 24"/>
                <a:gd name="T13" fmla="*/ 5 h 31"/>
                <a:gd name="T14" fmla="*/ 8 w 24"/>
                <a:gd name="T15" fmla="*/ 15 h 31"/>
                <a:gd name="T16" fmla="*/ 12 w 24"/>
                <a:gd name="T17" fmla="*/ 26 h 31"/>
                <a:gd name="T18" fmla="*/ 16 w 24"/>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1">
                  <a:moveTo>
                    <a:pt x="0" y="15"/>
                  </a:moveTo>
                  <a:cubicBezTo>
                    <a:pt x="0" y="7"/>
                    <a:pt x="1" y="0"/>
                    <a:pt x="12" y="0"/>
                  </a:cubicBezTo>
                  <a:cubicBezTo>
                    <a:pt x="23" y="0"/>
                    <a:pt x="24" y="7"/>
                    <a:pt x="24" y="15"/>
                  </a:cubicBezTo>
                  <a:cubicBezTo>
                    <a:pt x="24" y="24"/>
                    <a:pt x="23" y="31"/>
                    <a:pt x="12" y="31"/>
                  </a:cubicBezTo>
                  <a:cubicBezTo>
                    <a:pt x="1" y="31"/>
                    <a:pt x="0" y="24"/>
                    <a:pt x="0" y="15"/>
                  </a:cubicBezTo>
                  <a:close/>
                  <a:moveTo>
                    <a:pt x="16" y="15"/>
                  </a:moveTo>
                  <a:cubicBezTo>
                    <a:pt x="16" y="8"/>
                    <a:pt x="16" y="5"/>
                    <a:pt x="12" y="5"/>
                  </a:cubicBezTo>
                  <a:cubicBezTo>
                    <a:pt x="9" y="5"/>
                    <a:pt x="8" y="8"/>
                    <a:pt x="8" y="15"/>
                  </a:cubicBezTo>
                  <a:cubicBezTo>
                    <a:pt x="8" y="24"/>
                    <a:pt x="9" y="26"/>
                    <a:pt x="12" y="26"/>
                  </a:cubicBezTo>
                  <a:cubicBezTo>
                    <a:pt x="15" y="26"/>
                    <a:pt x="16" y="24"/>
                    <a:pt x="16" y="1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9" name="Freeform 45"/>
            <p:cNvSpPr>
              <a:spLocks noEditPoints="1"/>
            </p:cNvSpPr>
            <p:nvPr/>
          </p:nvSpPr>
          <p:spPr bwMode="gray">
            <a:xfrm>
              <a:off x="7681913" y="1957388"/>
              <a:ext cx="198438" cy="350838"/>
            </a:xfrm>
            <a:custGeom>
              <a:avLst/>
              <a:gdLst>
                <a:gd name="T0" fmla="*/ 24 w 24"/>
                <a:gd name="T1" fmla="*/ 1 h 42"/>
                <a:gd name="T2" fmla="*/ 24 w 24"/>
                <a:gd name="T3" fmla="*/ 32 h 42"/>
                <a:gd name="T4" fmla="*/ 13 w 24"/>
                <a:gd name="T5" fmla="*/ 42 h 42"/>
                <a:gd name="T6" fmla="*/ 1 w 24"/>
                <a:gd name="T7" fmla="*/ 33 h 42"/>
                <a:gd name="T8" fmla="*/ 9 w 24"/>
                <a:gd name="T9" fmla="*/ 33 h 42"/>
                <a:gd name="T10" fmla="*/ 10 w 24"/>
                <a:gd name="T11" fmla="*/ 36 h 42"/>
                <a:gd name="T12" fmla="*/ 13 w 24"/>
                <a:gd name="T13" fmla="*/ 37 h 42"/>
                <a:gd name="T14" fmla="*/ 16 w 24"/>
                <a:gd name="T15" fmla="*/ 32 h 42"/>
                <a:gd name="T16" fmla="*/ 16 w 24"/>
                <a:gd name="T17" fmla="*/ 27 h 42"/>
                <a:gd name="T18" fmla="*/ 16 w 24"/>
                <a:gd name="T19" fmla="*/ 27 h 42"/>
                <a:gd name="T20" fmla="*/ 9 w 24"/>
                <a:gd name="T21" fmla="*/ 30 h 42"/>
                <a:gd name="T22" fmla="*/ 1 w 24"/>
                <a:gd name="T23" fmla="*/ 15 h 42"/>
                <a:gd name="T24" fmla="*/ 9 w 24"/>
                <a:gd name="T25" fmla="*/ 0 h 42"/>
                <a:gd name="T26" fmla="*/ 16 w 24"/>
                <a:gd name="T27" fmla="*/ 4 h 42"/>
                <a:gd name="T28" fmla="*/ 16 w 24"/>
                <a:gd name="T29" fmla="*/ 4 h 42"/>
                <a:gd name="T30" fmla="*/ 16 w 24"/>
                <a:gd name="T31" fmla="*/ 1 h 42"/>
                <a:gd name="T32" fmla="*/ 24 w 24"/>
                <a:gd name="T33" fmla="*/ 1 h 42"/>
                <a:gd name="T34" fmla="*/ 12 w 24"/>
                <a:gd name="T35" fmla="*/ 25 h 42"/>
                <a:gd name="T36" fmla="*/ 16 w 24"/>
                <a:gd name="T37" fmla="*/ 15 h 42"/>
                <a:gd name="T38" fmla="*/ 12 w 24"/>
                <a:gd name="T39" fmla="*/ 5 h 42"/>
                <a:gd name="T40" fmla="*/ 9 w 24"/>
                <a:gd name="T41" fmla="*/ 16 h 42"/>
                <a:gd name="T42" fmla="*/ 12 w 24"/>
                <a:gd name="T43" fmla="*/ 2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 h="42">
                  <a:moveTo>
                    <a:pt x="24" y="1"/>
                  </a:moveTo>
                  <a:cubicBezTo>
                    <a:pt x="24" y="32"/>
                    <a:pt x="24" y="32"/>
                    <a:pt x="24" y="32"/>
                  </a:cubicBezTo>
                  <a:cubicBezTo>
                    <a:pt x="24" y="34"/>
                    <a:pt x="24" y="42"/>
                    <a:pt x="13" y="42"/>
                  </a:cubicBezTo>
                  <a:cubicBezTo>
                    <a:pt x="7" y="42"/>
                    <a:pt x="1" y="40"/>
                    <a:pt x="1" y="33"/>
                  </a:cubicBezTo>
                  <a:cubicBezTo>
                    <a:pt x="9" y="33"/>
                    <a:pt x="9" y="33"/>
                    <a:pt x="9" y="33"/>
                  </a:cubicBezTo>
                  <a:cubicBezTo>
                    <a:pt x="9" y="34"/>
                    <a:pt x="9" y="35"/>
                    <a:pt x="10" y="36"/>
                  </a:cubicBezTo>
                  <a:cubicBezTo>
                    <a:pt x="10" y="37"/>
                    <a:pt x="11" y="37"/>
                    <a:pt x="13" y="37"/>
                  </a:cubicBezTo>
                  <a:cubicBezTo>
                    <a:pt x="15" y="37"/>
                    <a:pt x="16" y="35"/>
                    <a:pt x="16" y="32"/>
                  </a:cubicBezTo>
                  <a:cubicBezTo>
                    <a:pt x="16" y="27"/>
                    <a:pt x="16" y="27"/>
                    <a:pt x="16" y="27"/>
                  </a:cubicBezTo>
                  <a:cubicBezTo>
                    <a:pt x="16" y="27"/>
                    <a:pt x="16" y="27"/>
                    <a:pt x="16" y="27"/>
                  </a:cubicBezTo>
                  <a:cubicBezTo>
                    <a:pt x="14" y="29"/>
                    <a:pt x="12" y="30"/>
                    <a:pt x="9" y="30"/>
                  </a:cubicBezTo>
                  <a:cubicBezTo>
                    <a:pt x="0" y="30"/>
                    <a:pt x="1" y="22"/>
                    <a:pt x="1" y="15"/>
                  </a:cubicBezTo>
                  <a:cubicBezTo>
                    <a:pt x="1" y="8"/>
                    <a:pt x="1" y="0"/>
                    <a:pt x="9" y="0"/>
                  </a:cubicBezTo>
                  <a:cubicBezTo>
                    <a:pt x="12" y="0"/>
                    <a:pt x="15" y="1"/>
                    <a:pt x="16" y="4"/>
                  </a:cubicBezTo>
                  <a:cubicBezTo>
                    <a:pt x="16" y="4"/>
                    <a:pt x="16" y="4"/>
                    <a:pt x="16" y="4"/>
                  </a:cubicBezTo>
                  <a:cubicBezTo>
                    <a:pt x="16" y="1"/>
                    <a:pt x="16" y="1"/>
                    <a:pt x="16" y="1"/>
                  </a:cubicBezTo>
                  <a:lnTo>
                    <a:pt x="24" y="1"/>
                  </a:lnTo>
                  <a:close/>
                  <a:moveTo>
                    <a:pt x="12" y="25"/>
                  </a:moveTo>
                  <a:cubicBezTo>
                    <a:pt x="15" y="25"/>
                    <a:pt x="16" y="22"/>
                    <a:pt x="16" y="15"/>
                  </a:cubicBezTo>
                  <a:cubicBezTo>
                    <a:pt x="16" y="9"/>
                    <a:pt x="15" y="5"/>
                    <a:pt x="12" y="5"/>
                  </a:cubicBezTo>
                  <a:cubicBezTo>
                    <a:pt x="9" y="5"/>
                    <a:pt x="9" y="7"/>
                    <a:pt x="9" y="16"/>
                  </a:cubicBezTo>
                  <a:cubicBezTo>
                    <a:pt x="9" y="19"/>
                    <a:pt x="8" y="25"/>
                    <a:pt x="12" y="2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90" name="Freeform 46"/>
            <p:cNvSpPr>
              <a:spLocks/>
            </p:cNvSpPr>
            <p:nvPr/>
          </p:nvSpPr>
          <p:spPr bwMode="gray">
            <a:xfrm>
              <a:off x="8142288" y="1889125"/>
              <a:ext cx="139700" cy="327025"/>
            </a:xfrm>
            <a:custGeom>
              <a:avLst/>
              <a:gdLst>
                <a:gd name="T0" fmla="*/ 0 w 17"/>
                <a:gd name="T1" fmla="*/ 9 h 39"/>
                <a:gd name="T2" fmla="*/ 4 w 17"/>
                <a:gd name="T3" fmla="*/ 9 h 39"/>
                <a:gd name="T4" fmla="*/ 4 w 17"/>
                <a:gd name="T5" fmla="*/ 4 h 39"/>
                <a:gd name="T6" fmla="*/ 12 w 17"/>
                <a:gd name="T7" fmla="*/ 0 h 39"/>
                <a:gd name="T8" fmla="*/ 12 w 17"/>
                <a:gd name="T9" fmla="*/ 9 h 39"/>
                <a:gd name="T10" fmla="*/ 17 w 17"/>
                <a:gd name="T11" fmla="*/ 9 h 39"/>
                <a:gd name="T12" fmla="*/ 17 w 17"/>
                <a:gd name="T13" fmla="*/ 14 h 39"/>
                <a:gd name="T14" fmla="*/ 12 w 17"/>
                <a:gd name="T15" fmla="*/ 14 h 39"/>
                <a:gd name="T16" fmla="*/ 12 w 17"/>
                <a:gd name="T17" fmla="*/ 30 h 39"/>
                <a:gd name="T18" fmla="*/ 15 w 17"/>
                <a:gd name="T19" fmla="*/ 33 h 39"/>
                <a:gd name="T20" fmla="*/ 16 w 17"/>
                <a:gd name="T21" fmla="*/ 33 h 39"/>
                <a:gd name="T22" fmla="*/ 16 w 17"/>
                <a:gd name="T23" fmla="*/ 38 h 39"/>
                <a:gd name="T24" fmla="*/ 12 w 17"/>
                <a:gd name="T25" fmla="*/ 39 h 39"/>
                <a:gd name="T26" fmla="*/ 4 w 17"/>
                <a:gd name="T27" fmla="*/ 32 h 39"/>
                <a:gd name="T28" fmla="*/ 4 w 17"/>
                <a:gd name="T29" fmla="*/ 14 h 39"/>
                <a:gd name="T30" fmla="*/ 0 w 17"/>
                <a:gd name="T31" fmla="*/ 14 h 39"/>
                <a:gd name="T32" fmla="*/ 0 w 17"/>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 h="39">
                  <a:moveTo>
                    <a:pt x="0" y="9"/>
                  </a:moveTo>
                  <a:cubicBezTo>
                    <a:pt x="4" y="9"/>
                    <a:pt x="4" y="9"/>
                    <a:pt x="4" y="9"/>
                  </a:cubicBezTo>
                  <a:cubicBezTo>
                    <a:pt x="4" y="4"/>
                    <a:pt x="4" y="4"/>
                    <a:pt x="4" y="4"/>
                  </a:cubicBezTo>
                  <a:cubicBezTo>
                    <a:pt x="12" y="0"/>
                    <a:pt x="12" y="0"/>
                    <a:pt x="12" y="0"/>
                  </a:cubicBezTo>
                  <a:cubicBezTo>
                    <a:pt x="12" y="9"/>
                    <a:pt x="12" y="9"/>
                    <a:pt x="12" y="9"/>
                  </a:cubicBezTo>
                  <a:cubicBezTo>
                    <a:pt x="17" y="9"/>
                    <a:pt x="17" y="9"/>
                    <a:pt x="17" y="9"/>
                  </a:cubicBezTo>
                  <a:cubicBezTo>
                    <a:pt x="17" y="14"/>
                    <a:pt x="17" y="14"/>
                    <a:pt x="17" y="14"/>
                  </a:cubicBezTo>
                  <a:cubicBezTo>
                    <a:pt x="12" y="14"/>
                    <a:pt x="12" y="14"/>
                    <a:pt x="12" y="14"/>
                  </a:cubicBezTo>
                  <a:cubicBezTo>
                    <a:pt x="12" y="30"/>
                    <a:pt x="12" y="30"/>
                    <a:pt x="12" y="30"/>
                  </a:cubicBezTo>
                  <a:cubicBezTo>
                    <a:pt x="12" y="32"/>
                    <a:pt x="12" y="33"/>
                    <a:pt x="15" y="33"/>
                  </a:cubicBezTo>
                  <a:cubicBezTo>
                    <a:pt x="15" y="33"/>
                    <a:pt x="16" y="33"/>
                    <a:pt x="16" y="33"/>
                  </a:cubicBezTo>
                  <a:cubicBezTo>
                    <a:pt x="16" y="38"/>
                    <a:pt x="16" y="38"/>
                    <a:pt x="16" y="38"/>
                  </a:cubicBezTo>
                  <a:cubicBezTo>
                    <a:pt x="15" y="39"/>
                    <a:pt x="14" y="39"/>
                    <a:pt x="12" y="39"/>
                  </a:cubicBezTo>
                  <a:cubicBezTo>
                    <a:pt x="5" y="39"/>
                    <a:pt x="4" y="34"/>
                    <a:pt x="4" y="32"/>
                  </a:cubicBezTo>
                  <a:cubicBezTo>
                    <a:pt x="4" y="14"/>
                    <a:pt x="4" y="14"/>
                    <a:pt x="4" y="14"/>
                  </a:cubicBezTo>
                  <a:cubicBezTo>
                    <a:pt x="0" y="14"/>
                    <a:pt x="0" y="14"/>
                    <a:pt x="0" y="14"/>
                  </a:cubicBezTo>
                  <a:lnTo>
                    <a:pt x="0" y="9"/>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91" name="Freeform 47"/>
            <p:cNvSpPr>
              <a:spLocks/>
            </p:cNvSpPr>
            <p:nvPr/>
          </p:nvSpPr>
          <p:spPr bwMode="gray">
            <a:xfrm>
              <a:off x="8323263" y="1855788"/>
              <a:ext cx="190500" cy="352425"/>
            </a:xfrm>
            <a:custGeom>
              <a:avLst/>
              <a:gdLst>
                <a:gd name="T0" fmla="*/ 14 w 23"/>
                <a:gd name="T1" fmla="*/ 42 h 42"/>
                <a:gd name="T2" fmla="*/ 14 w 23"/>
                <a:gd name="T3" fmla="*/ 22 h 42"/>
                <a:gd name="T4" fmla="*/ 11 w 23"/>
                <a:gd name="T5" fmla="*/ 17 h 42"/>
                <a:gd name="T6" fmla="*/ 8 w 23"/>
                <a:gd name="T7" fmla="*/ 22 h 42"/>
                <a:gd name="T8" fmla="*/ 8 w 23"/>
                <a:gd name="T9" fmla="*/ 42 h 42"/>
                <a:gd name="T10" fmla="*/ 0 w 23"/>
                <a:gd name="T11" fmla="*/ 42 h 42"/>
                <a:gd name="T12" fmla="*/ 0 w 23"/>
                <a:gd name="T13" fmla="*/ 0 h 42"/>
                <a:gd name="T14" fmla="*/ 8 w 23"/>
                <a:gd name="T15" fmla="*/ 0 h 42"/>
                <a:gd name="T16" fmla="*/ 8 w 23"/>
                <a:gd name="T17" fmla="*/ 16 h 42"/>
                <a:gd name="T18" fmla="*/ 8 w 23"/>
                <a:gd name="T19" fmla="*/ 16 h 42"/>
                <a:gd name="T20" fmla="*/ 11 w 23"/>
                <a:gd name="T21" fmla="*/ 13 h 42"/>
                <a:gd name="T22" fmla="*/ 15 w 23"/>
                <a:gd name="T23" fmla="*/ 12 h 42"/>
                <a:gd name="T24" fmla="*/ 23 w 23"/>
                <a:gd name="T25" fmla="*/ 18 h 42"/>
                <a:gd name="T26" fmla="*/ 23 w 23"/>
                <a:gd name="T27" fmla="*/ 42 h 42"/>
                <a:gd name="T28" fmla="*/ 14 w 23"/>
                <a:gd name="T29"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42">
                  <a:moveTo>
                    <a:pt x="14" y="42"/>
                  </a:moveTo>
                  <a:cubicBezTo>
                    <a:pt x="14" y="22"/>
                    <a:pt x="14" y="22"/>
                    <a:pt x="14" y="22"/>
                  </a:cubicBezTo>
                  <a:cubicBezTo>
                    <a:pt x="14" y="19"/>
                    <a:pt x="14" y="17"/>
                    <a:pt x="11" y="17"/>
                  </a:cubicBezTo>
                  <a:cubicBezTo>
                    <a:pt x="9" y="17"/>
                    <a:pt x="8" y="19"/>
                    <a:pt x="8" y="22"/>
                  </a:cubicBezTo>
                  <a:cubicBezTo>
                    <a:pt x="8" y="42"/>
                    <a:pt x="8" y="42"/>
                    <a:pt x="8" y="42"/>
                  </a:cubicBezTo>
                  <a:cubicBezTo>
                    <a:pt x="0" y="42"/>
                    <a:pt x="0" y="42"/>
                    <a:pt x="0" y="42"/>
                  </a:cubicBezTo>
                  <a:cubicBezTo>
                    <a:pt x="0" y="0"/>
                    <a:pt x="0" y="0"/>
                    <a:pt x="0" y="0"/>
                  </a:cubicBezTo>
                  <a:cubicBezTo>
                    <a:pt x="8" y="0"/>
                    <a:pt x="8" y="0"/>
                    <a:pt x="8" y="0"/>
                  </a:cubicBezTo>
                  <a:cubicBezTo>
                    <a:pt x="8" y="16"/>
                    <a:pt x="8" y="16"/>
                    <a:pt x="8" y="16"/>
                  </a:cubicBezTo>
                  <a:cubicBezTo>
                    <a:pt x="8" y="16"/>
                    <a:pt x="8" y="16"/>
                    <a:pt x="8" y="16"/>
                  </a:cubicBezTo>
                  <a:cubicBezTo>
                    <a:pt x="9" y="14"/>
                    <a:pt x="10" y="13"/>
                    <a:pt x="11" y="13"/>
                  </a:cubicBezTo>
                  <a:cubicBezTo>
                    <a:pt x="12" y="12"/>
                    <a:pt x="14" y="12"/>
                    <a:pt x="15" y="12"/>
                  </a:cubicBezTo>
                  <a:cubicBezTo>
                    <a:pt x="19" y="12"/>
                    <a:pt x="23" y="14"/>
                    <a:pt x="23" y="18"/>
                  </a:cubicBezTo>
                  <a:cubicBezTo>
                    <a:pt x="23" y="42"/>
                    <a:pt x="23" y="42"/>
                    <a:pt x="23" y="42"/>
                  </a:cubicBezTo>
                  <a:lnTo>
                    <a:pt x="14" y="4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92" name="Freeform 48"/>
            <p:cNvSpPr>
              <a:spLocks/>
            </p:cNvSpPr>
            <p:nvPr/>
          </p:nvSpPr>
          <p:spPr bwMode="gray">
            <a:xfrm>
              <a:off x="8801101" y="1957388"/>
              <a:ext cx="123825" cy="250825"/>
            </a:xfrm>
            <a:custGeom>
              <a:avLst/>
              <a:gdLst>
                <a:gd name="T0" fmla="*/ 8 w 15"/>
                <a:gd name="T1" fmla="*/ 1 h 30"/>
                <a:gd name="T2" fmla="*/ 8 w 15"/>
                <a:gd name="T3" fmla="*/ 4 h 30"/>
                <a:gd name="T4" fmla="*/ 8 w 15"/>
                <a:gd name="T5" fmla="*/ 4 h 30"/>
                <a:gd name="T6" fmla="*/ 15 w 15"/>
                <a:gd name="T7" fmla="*/ 0 h 30"/>
                <a:gd name="T8" fmla="*/ 15 w 15"/>
                <a:gd name="T9" fmla="*/ 7 h 30"/>
                <a:gd name="T10" fmla="*/ 8 w 15"/>
                <a:gd name="T11" fmla="*/ 14 h 30"/>
                <a:gd name="T12" fmla="*/ 8 w 15"/>
                <a:gd name="T13" fmla="*/ 30 h 30"/>
                <a:gd name="T14" fmla="*/ 0 w 15"/>
                <a:gd name="T15" fmla="*/ 30 h 30"/>
                <a:gd name="T16" fmla="*/ 0 w 15"/>
                <a:gd name="T17" fmla="*/ 1 h 30"/>
                <a:gd name="T18" fmla="*/ 8 w 15"/>
                <a:gd name="T19"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30">
                  <a:moveTo>
                    <a:pt x="8" y="1"/>
                  </a:moveTo>
                  <a:cubicBezTo>
                    <a:pt x="8" y="4"/>
                    <a:pt x="8" y="4"/>
                    <a:pt x="8" y="4"/>
                  </a:cubicBezTo>
                  <a:cubicBezTo>
                    <a:pt x="8" y="4"/>
                    <a:pt x="8" y="4"/>
                    <a:pt x="8" y="4"/>
                  </a:cubicBezTo>
                  <a:cubicBezTo>
                    <a:pt x="9" y="1"/>
                    <a:pt x="12" y="0"/>
                    <a:pt x="15" y="0"/>
                  </a:cubicBezTo>
                  <a:cubicBezTo>
                    <a:pt x="15" y="7"/>
                    <a:pt x="15" y="7"/>
                    <a:pt x="15" y="7"/>
                  </a:cubicBezTo>
                  <a:cubicBezTo>
                    <a:pt x="8" y="7"/>
                    <a:pt x="8" y="11"/>
                    <a:pt x="8" y="14"/>
                  </a:cubicBezTo>
                  <a:cubicBezTo>
                    <a:pt x="8" y="30"/>
                    <a:pt x="8" y="30"/>
                    <a:pt x="8" y="30"/>
                  </a:cubicBezTo>
                  <a:cubicBezTo>
                    <a:pt x="0" y="30"/>
                    <a:pt x="0" y="30"/>
                    <a:pt x="0" y="30"/>
                  </a:cubicBezTo>
                  <a:cubicBezTo>
                    <a:pt x="0" y="1"/>
                    <a:pt x="0" y="1"/>
                    <a:pt x="0" y="1"/>
                  </a:cubicBezTo>
                  <a:lnTo>
                    <a:pt x="8" y="1"/>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grpSp>
    </p:spTree>
    <p:extLst>
      <p:ext uri="{BB962C8B-B14F-4D97-AF65-F5344CB8AC3E}">
        <p14:creationId xmlns:p14="http://schemas.microsoft.com/office/powerpoint/2010/main" xmlns="" val="370913749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hidden">
          <a:xfrm>
            <a:off x="138023" y="129398"/>
            <a:ext cx="11912778" cy="6547450"/>
          </a:xfrm>
          <a:prstGeom prst="rect">
            <a:avLst/>
          </a:prstGeom>
          <a:noFill/>
          <a:ln>
            <a:noFill/>
          </a:ln>
        </p:spPr>
      </p:pic>
      <p:pic>
        <p:nvPicPr>
          <p:cNvPr id="12" name="Picture 11"/>
          <p:cNvPicPr>
            <a:picLocks noChangeAspect="1"/>
          </p:cNvPicPr>
          <p:nvPr userDrawn="1"/>
        </p:nvPicPr>
        <p:blipFill>
          <a:blip r:embed="rId3" cstate="screen">
            <a:extLst>
              <a:ext uri="{28A0092B-C50C-407E-A947-70E740481C1C}">
                <a14:useLocalDpi xmlns:a14="http://schemas.microsoft.com/office/drawing/2010/main" xmlns="" val="0"/>
              </a:ext>
            </a:extLst>
          </a:blip>
          <a:stretch>
            <a:fillRect/>
          </a:stretch>
        </p:blipFill>
        <p:spPr bwMode="black">
          <a:xfrm>
            <a:off x="3822128" y="2843826"/>
            <a:ext cx="4544568" cy="569547"/>
          </a:xfrm>
          <a:prstGeom prst="rect">
            <a:avLst/>
          </a:prstGeom>
        </p:spPr>
      </p:pic>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Tree>
    <p:extLst>
      <p:ext uri="{BB962C8B-B14F-4D97-AF65-F5344CB8AC3E}">
        <p14:creationId xmlns:p14="http://schemas.microsoft.com/office/powerpoint/2010/main" xmlns="" val="106575552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9AD8BE6-AA7C-4328-9B9F-94628525022E}" type="datetime1">
              <a:rPr lang="en-US" smtClean="0"/>
              <a:pPr/>
              <a:t>10/3/2014</a:t>
            </a:fld>
            <a:endParaRPr lang="en-US"/>
          </a:p>
        </p:txBody>
      </p:sp>
      <p:sp>
        <p:nvSpPr>
          <p:cNvPr id="5" name="Footer Placeholder 4"/>
          <p:cNvSpPr>
            <a:spLocks noGrp="1"/>
          </p:cNvSpPr>
          <p:nvPr>
            <p:ph type="ftr" sz="quarter" idx="11"/>
          </p:nvPr>
        </p:nvSpPr>
        <p:spPr/>
        <p:txBody>
          <a:bodyPr/>
          <a:lstStyle/>
          <a:p>
            <a:r>
              <a:rPr lang="en-US" smtClean="0"/>
              <a:t>Oracle Confidential – Internal/Restricted/Highly Restricted</a:t>
            </a:r>
            <a:endParaRPr lang="en-US"/>
          </a:p>
        </p:txBody>
      </p:sp>
      <p:sp>
        <p:nvSpPr>
          <p:cNvPr id="6" name="Slide Number Placeholder 5"/>
          <p:cNvSpPr>
            <a:spLocks noGrp="1"/>
          </p:cNvSpPr>
          <p:nvPr>
            <p:ph type="sldNum" sz="quarter" idx="12"/>
          </p:nvPr>
        </p:nvSpPr>
        <p:spPr/>
        <p:txBody>
          <a:bodyPr/>
          <a:lstStyle/>
          <a:p>
            <a:fld id="{D4EAF17A-378C-49D5-A479-C71FF9D7F1E7}" type="slidenum">
              <a:rPr lang="en-US" smtClean="0"/>
              <a:pPr/>
              <a:t>‹#›</a:t>
            </a:fld>
            <a:endParaRPr lang="en-US"/>
          </a:p>
        </p:txBody>
      </p:sp>
    </p:spTree>
    <p:extLst>
      <p:ext uri="{BB962C8B-B14F-4D97-AF65-F5344CB8AC3E}">
        <p14:creationId xmlns:p14="http://schemas.microsoft.com/office/powerpoint/2010/main" xmlns="" val="386218712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CB8E2682-7303-4393-9F25-7F1900A10367}" type="datetime1">
              <a:rPr lang="en-US" smtClean="0"/>
              <a:pPr/>
              <a:t>10/3/2014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1734545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9398" cy="6858000"/>
            <a:chOff x="0" y="0"/>
            <a:chExt cx="12189398" cy="6858000"/>
          </a:xfrm>
        </p:grpSpPr>
        <p:sp>
          <p:nvSpPr>
            <p:cNvPr id="8" name="Rectangle 7"/>
            <p:cNvSpPr/>
            <p:nvPr/>
          </p:nvSpPr>
          <p:spPr bwMode="gray">
            <a:xfrm>
              <a:off x="0" y="0"/>
              <a:ext cx="193962"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0"/>
              <a:ext cx="193960"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0"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0"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182130" y="6556248"/>
            <a:ext cx="1226398" cy="182880"/>
          </a:xfrm>
          <a:prstGeom prst="rect">
            <a:avLst/>
          </a:prstGeom>
        </p:spPr>
        <p:txBody>
          <a:bodyPr vert="horz" wrap="none" lIns="0" tIns="0" rIns="0" bIns="0" rtlCol="0" anchor="ctr" anchorCtr="0">
            <a:noAutofit/>
          </a:bodyPr>
          <a:lstStyle>
            <a:lvl1pPr algn="r">
              <a:defRPr sz="850">
                <a:solidFill>
                  <a:schemeClr val="tx1"/>
                </a:solidFill>
              </a:defRPr>
            </a:lvl1pPr>
          </a:lstStyle>
          <a:p>
            <a:fld id="{F58637A1-2757-41E8-AD98-43E9D0558D9A}" type="datetime1">
              <a:rPr lang="en-US" smtClean="0"/>
              <a:pPr/>
              <a:t>10/3/2014</a:t>
            </a:fld>
            <a:endParaRPr lang="en-US" dirty="0"/>
          </a:p>
        </p:txBody>
      </p:sp>
      <p:sp>
        <p:nvSpPr>
          <p:cNvPr id="5" name="Footer Placeholder 4"/>
          <p:cNvSpPr>
            <a:spLocks noGrp="1"/>
          </p:cNvSpPr>
          <p:nvPr>
            <p:ph type="ftr" sz="quarter" idx="3"/>
          </p:nvPr>
        </p:nvSpPr>
        <p:spPr>
          <a:xfrm>
            <a:off x="8621423" y="6556248"/>
            <a:ext cx="2743200" cy="182880"/>
          </a:xfrm>
          <a:prstGeom prst="rect">
            <a:avLst/>
          </a:prstGeom>
        </p:spPr>
        <p:txBody>
          <a:bodyPr vert="horz" wrap="none" lIns="0" tIns="0" rIns="0" bIns="0" rtlCol="0" anchor="ctr" anchorCtr="0">
            <a:noAutofit/>
          </a:bodyPr>
          <a:lstStyle>
            <a:lvl1pPr algn="l">
              <a:defRPr sz="850">
                <a:solidFill>
                  <a:schemeClr val="tx1"/>
                </a:solidFill>
              </a:defRPr>
            </a:lvl1pPr>
          </a:lstStyle>
          <a:p>
            <a:r>
              <a:rPr lang="en-US" smtClean="0"/>
              <a:t>Oracle Confidential – Internal/Restricted/Highly Restricted</a:t>
            </a:r>
            <a:endParaRPr lang="en-US" dirty="0"/>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nchorCtr="0">
            <a:noAutofit/>
          </a:bodyPr>
          <a:lstStyle>
            <a:lvl1pPr algn="r">
              <a:defRPr sz="850">
                <a:solidFill>
                  <a:schemeClr val="tx1"/>
                </a:solidFill>
              </a:defRPr>
            </a:lvl1pPr>
          </a:lstStyle>
          <a:p>
            <a:fld id="{C51EAA63-D034-42AE-91FA-B13B9518C7BE}" type="slidenum">
              <a:rPr lang="en-US" smtClean="0"/>
              <a:pPr/>
              <a:t>‹#›</a:t>
            </a:fld>
            <a:endParaRPr lang="en-US" dirty="0"/>
          </a:p>
        </p:txBody>
      </p:sp>
      <p:sp>
        <p:nvSpPr>
          <p:cNvPr id="15" name="TextBox 14"/>
          <p:cNvSpPr txBox="1"/>
          <p:nvPr/>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a:t>
            </a:r>
            <a:r>
              <a:rPr sz="850" dirty="0" smtClean="0">
                <a:solidFill>
                  <a:schemeClr val="tx1"/>
                </a:solidFill>
              </a:rPr>
              <a:t>2014</a:t>
            </a:r>
            <a:r>
              <a:rPr lang="en-US" sz="850" dirty="0" smtClean="0">
                <a:solidFill>
                  <a:schemeClr val="tx1"/>
                </a:solidFill>
              </a:rPr>
              <a:t>,</a:t>
            </a:r>
            <a:r>
              <a:rPr sz="850" dirty="0" smtClean="0">
                <a:solidFill>
                  <a:schemeClr val="tx1"/>
                </a:solidFill>
              </a:rPr>
              <a:t> </a:t>
            </a:r>
            <a:r>
              <a:rPr sz="850" dirty="0">
                <a:solidFill>
                  <a:schemeClr val="tx1"/>
                </a:solidFill>
              </a:rPr>
              <a:t>Oracle and/or its affiliates. All rights reserved.  </a:t>
            </a:r>
            <a:r>
              <a:rPr sz="850" dirty="0" smtClean="0">
                <a:solidFill>
                  <a:schemeClr val="tx1"/>
                </a:solidFill>
              </a:rPr>
              <a:t>|</a:t>
            </a:r>
            <a:endParaRPr sz="850" dirty="0">
              <a:solidFill>
                <a:schemeClr val="tx1"/>
              </a:solidFill>
            </a:endParaRPr>
          </a:p>
        </p:txBody>
      </p:sp>
      <p:pic>
        <p:nvPicPr>
          <p:cNvPr id="19" name="Picture 18" descr="Oracle logo in white on red staging background"/>
          <p:cNvPicPr>
            <a:picLocks noChangeAspect="1"/>
          </p:cNvPicPr>
          <p:nvPr/>
        </p:nvPicPr>
        <p:blipFill>
          <a:blip r:embed="rId40"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64" r:id="rId4"/>
    <p:sldLayoutId id="2147483689"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hd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160" userDrawn="1">
          <p15:clr>
            <a:srgbClr val="F26B43"/>
          </p15:clr>
        </p15:guide>
        <p15:guide id="3"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nvGraphicFramePr>
        <p:xfrm>
          <a:off x="3323112" y="826325"/>
          <a:ext cx="6172200" cy="3959263"/>
        </p:xfrm>
        <a:graphic>
          <a:graphicData uri="http://schemas.openxmlformats.org/drawingml/2006/table">
            <a:tbl>
              <a:tblPr firstRow="1" bandRow="1">
                <a:tableStyleId>{5C22544A-7EE6-4342-B048-85BDC9FD1C3A}</a:tableStyleId>
              </a:tblPr>
              <a:tblGrid>
                <a:gridCol w="771525"/>
                <a:gridCol w="771525"/>
                <a:gridCol w="771525"/>
                <a:gridCol w="771525"/>
                <a:gridCol w="771525"/>
                <a:gridCol w="771525"/>
                <a:gridCol w="771525"/>
                <a:gridCol w="771525"/>
              </a:tblGrid>
              <a:tr h="152399">
                <a:tc>
                  <a:txBody>
                    <a:bodyPr/>
                    <a:lstStyle/>
                    <a:p>
                      <a:r>
                        <a:rPr lang="en-US" dirty="0" smtClean="0"/>
                        <a:t>30</a:t>
                      </a:r>
                      <a:endParaRPr lang="en-US" dirty="0"/>
                    </a:p>
                  </a:txBody>
                  <a:tcPr>
                    <a:solidFill>
                      <a:schemeClr val="accent1"/>
                    </a:solidFill>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r>
              <a:tr h="393103">
                <a:tc>
                  <a:txBody>
                    <a:bodyPr/>
                    <a:lstStyle/>
                    <a:p>
                      <a:r>
                        <a:rPr lang="en-US" dirty="0" smtClean="0"/>
                        <a:t>25</a:t>
                      </a:r>
                      <a:endParaRPr lang="en-US" dirty="0"/>
                    </a:p>
                  </a:txBody>
                  <a:tcPr>
                    <a:solidFill>
                      <a:schemeClr val="accent1"/>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smtClean="0"/>
                    </a:p>
                    <a:p>
                      <a:endParaRPr lang="en-US" dirty="0"/>
                    </a:p>
                  </a:txBody>
                  <a:tcPr/>
                </a:tc>
                <a:tc>
                  <a:txBody>
                    <a:bodyPr/>
                    <a:lstStyle/>
                    <a:p>
                      <a:endParaRPr lang="en-US"/>
                    </a:p>
                  </a:txBody>
                  <a:tcPr/>
                </a:tc>
              </a:tr>
              <a:tr h="387718">
                <a:tc>
                  <a:txBody>
                    <a:bodyPr/>
                    <a:lstStyle/>
                    <a:p>
                      <a:r>
                        <a:rPr lang="en-US" dirty="0" smtClean="0"/>
                        <a:t>20</a:t>
                      </a:r>
                      <a:endParaRPr lang="en-US" dirty="0"/>
                    </a:p>
                  </a:txBody>
                  <a:tcPr>
                    <a:solidFill>
                      <a:schemeClr val="accent1"/>
                    </a:solidFill>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smtClean="0"/>
                    </a:p>
                    <a:p>
                      <a:endParaRPr lang="en-US" dirty="0"/>
                    </a:p>
                  </a:txBody>
                  <a:tcPr/>
                </a:tc>
                <a:tc>
                  <a:txBody>
                    <a:bodyPr/>
                    <a:lstStyle/>
                    <a:p>
                      <a:endParaRPr lang="en-US"/>
                    </a:p>
                  </a:txBody>
                  <a:tcPr/>
                </a:tc>
              </a:tr>
              <a:tr h="393103">
                <a:tc>
                  <a:txBody>
                    <a:bodyPr/>
                    <a:lstStyle/>
                    <a:p>
                      <a:r>
                        <a:rPr lang="en-US" dirty="0" smtClean="0"/>
                        <a:t>15</a:t>
                      </a:r>
                      <a:endParaRPr lang="en-US" dirty="0"/>
                    </a:p>
                  </a:txBody>
                  <a:tcPr>
                    <a:solidFill>
                      <a:schemeClr val="accent1"/>
                    </a:solidFill>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smtClean="0"/>
                    </a:p>
                    <a:p>
                      <a:endParaRPr lang="en-US" dirty="0"/>
                    </a:p>
                  </a:txBody>
                  <a:tcPr/>
                </a:tc>
                <a:tc>
                  <a:txBody>
                    <a:bodyPr/>
                    <a:lstStyle/>
                    <a:p>
                      <a:endParaRPr lang="en-US"/>
                    </a:p>
                  </a:txBody>
                  <a:tcPr/>
                </a:tc>
              </a:tr>
              <a:tr h="393103">
                <a:tc>
                  <a:txBody>
                    <a:bodyPr/>
                    <a:lstStyle/>
                    <a:p>
                      <a:r>
                        <a:rPr lang="en-US" dirty="0" smtClean="0"/>
                        <a:t>10</a:t>
                      </a:r>
                      <a:endParaRPr lang="en-US" dirty="0"/>
                    </a:p>
                  </a:txBody>
                  <a:tcPr>
                    <a:solidFill>
                      <a:schemeClr val="accent1"/>
                    </a:solidFill>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smtClean="0"/>
                    </a:p>
                    <a:p>
                      <a:endParaRPr lang="en-US" dirty="0"/>
                    </a:p>
                  </a:txBody>
                  <a:tcPr/>
                </a:tc>
                <a:tc>
                  <a:txBody>
                    <a:bodyPr/>
                    <a:lstStyle/>
                    <a:p>
                      <a:endParaRPr lang="en-US" dirty="0"/>
                    </a:p>
                  </a:txBody>
                  <a:tcPr/>
                </a:tc>
              </a:tr>
              <a:tr h="393103">
                <a:tc>
                  <a:txBody>
                    <a:bodyPr/>
                    <a:lstStyle/>
                    <a:p>
                      <a:r>
                        <a:rPr lang="en-US" dirty="0" smtClean="0"/>
                        <a:t>5</a:t>
                      </a:r>
                      <a:endParaRPr lang="en-US" dirty="0"/>
                    </a:p>
                  </a:txBody>
                  <a:tcPr>
                    <a:solidFill>
                      <a:schemeClr val="accent1"/>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smtClean="0"/>
                    </a:p>
                    <a:p>
                      <a:endParaRPr lang="en-US" dirty="0"/>
                    </a:p>
                  </a:txBody>
                  <a:tcPr/>
                </a:tc>
                <a:tc>
                  <a:txBody>
                    <a:bodyPr/>
                    <a:lstStyle/>
                    <a:p>
                      <a:endParaRPr lang="en-US"/>
                    </a:p>
                  </a:txBody>
                  <a:tcPr/>
                </a:tc>
              </a:tr>
              <a:tr h="393103">
                <a:tc>
                  <a:txBody>
                    <a:bodyPr/>
                    <a:lstStyle/>
                    <a:p>
                      <a:r>
                        <a:rPr lang="en-US" dirty="0" smtClean="0"/>
                        <a:t>0</a:t>
                      </a:r>
                      <a:endParaRPr lang="en-US" dirty="0"/>
                    </a:p>
                  </a:txBody>
                  <a:tcPr>
                    <a:solidFill>
                      <a:schemeClr val="accent1"/>
                    </a:solidFill>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3</a:t>
                      </a:r>
                      <a:endParaRPr lang="en-US" dirty="0"/>
                    </a:p>
                  </a:txBody>
                  <a:tcPr/>
                </a:tc>
                <a:tc>
                  <a:txBody>
                    <a:bodyPr/>
                    <a:lstStyle/>
                    <a:p>
                      <a:r>
                        <a:rPr lang="en-US" dirty="0" smtClean="0"/>
                        <a:t>4</a:t>
                      </a:r>
                      <a:endParaRPr lang="en-US" dirty="0"/>
                    </a:p>
                  </a:txBody>
                  <a:tcPr/>
                </a:tc>
                <a:tc>
                  <a:txBody>
                    <a:bodyPr/>
                    <a:lstStyle/>
                    <a:p>
                      <a:r>
                        <a:rPr lang="en-US" dirty="0" smtClean="0"/>
                        <a:t>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6</a:t>
                      </a:r>
                      <a:endParaRPr lang="en-US" dirty="0"/>
                    </a:p>
                  </a:txBody>
                  <a:tcPr/>
                </a:tc>
                <a:tc>
                  <a:txBody>
                    <a:bodyPr/>
                    <a:lstStyle/>
                    <a:p>
                      <a:r>
                        <a:rPr lang="en-US" dirty="0" smtClean="0"/>
                        <a:t>7</a:t>
                      </a:r>
                      <a:endParaRPr lang="en-US" dirty="0"/>
                    </a:p>
                  </a:txBody>
                  <a:tcPr/>
                </a:tc>
              </a:tr>
            </a:tbl>
          </a:graphicData>
        </a:graphic>
      </p:graphicFrame>
      <p:sp>
        <p:nvSpPr>
          <p:cNvPr id="9" name="TextBox 4"/>
          <p:cNvSpPr txBox="1">
            <a:spLocks noChangeArrowheads="1"/>
          </p:cNvSpPr>
          <p:nvPr/>
        </p:nvSpPr>
        <p:spPr bwMode="auto">
          <a:xfrm>
            <a:off x="1799112" y="2426525"/>
            <a:ext cx="1295400" cy="923330"/>
          </a:xfrm>
          <a:prstGeom prst="rect">
            <a:avLst/>
          </a:prstGeom>
          <a:noFill/>
          <a:ln w="9525">
            <a:noFill/>
            <a:miter lim="800000"/>
            <a:headEnd/>
            <a:tailEnd/>
          </a:ln>
        </p:spPr>
        <p:txBody>
          <a:bodyPr>
            <a:spAutoFit/>
          </a:bodyPr>
          <a:lstStyle/>
          <a:p>
            <a:pPr algn="ctr">
              <a:lnSpc>
                <a:spcPct val="90000"/>
              </a:lnSpc>
              <a:spcBef>
                <a:spcPct val="50000"/>
              </a:spcBef>
              <a:buClr>
                <a:schemeClr val="accent1"/>
              </a:buClr>
            </a:pPr>
            <a:r>
              <a:rPr lang="en-US" sz="2000" b="1" dirty="0"/>
              <a:t>Total Task Estimate (days)</a:t>
            </a:r>
          </a:p>
        </p:txBody>
      </p:sp>
      <p:cxnSp>
        <p:nvCxnSpPr>
          <p:cNvPr id="10" name="Straight Arrow Connector 6"/>
          <p:cNvCxnSpPr>
            <a:cxnSpLocks noChangeShapeType="1"/>
          </p:cNvCxnSpPr>
          <p:nvPr/>
        </p:nvCxnSpPr>
        <p:spPr bwMode="auto">
          <a:xfrm>
            <a:off x="8352312" y="978725"/>
            <a:ext cx="6172200" cy="2819400"/>
          </a:xfrm>
          <a:prstGeom prst="straightConnector1">
            <a:avLst/>
          </a:prstGeom>
          <a:noFill/>
          <a:ln w="9525" algn="ctr">
            <a:noFill/>
            <a:round/>
            <a:headEnd type="none" w="sm" len="sm"/>
            <a:tailEnd type="arrow" w="med" len="med"/>
          </a:ln>
        </p:spPr>
      </p:cxnSp>
      <p:sp>
        <p:nvSpPr>
          <p:cNvPr id="11" name="TextBox 12"/>
          <p:cNvSpPr txBox="1">
            <a:spLocks noChangeArrowheads="1"/>
          </p:cNvSpPr>
          <p:nvPr/>
        </p:nvSpPr>
        <p:spPr bwMode="auto">
          <a:xfrm>
            <a:off x="5666262" y="4864925"/>
            <a:ext cx="1162050" cy="369888"/>
          </a:xfrm>
          <a:prstGeom prst="rect">
            <a:avLst/>
          </a:prstGeom>
          <a:noFill/>
          <a:ln w="9525">
            <a:noFill/>
            <a:miter lim="800000"/>
            <a:headEnd/>
            <a:tailEnd/>
          </a:ln>
        </p:spPr>
        <p:txBody>
          <a:bodyPr>
            <a:spAutoFit/>
          </a:bodyPr>
          <a:lstStyle/>
          <a:p>
            <a:pPr algn="ctr">
              <a:lnSpc>
                <a:spcPct val="90000"/>
              </a:lnSpc>
              <a:spcBef>
                <a:spcPct val="50000"/>
              </a:spcBef>
              <a:buClr>
                <a:schemeClr val="accent1"/>
              </a:buClr>
            </a:pPr>
            <a:r>
              <a:rPr lang="en-US" sz="2000" b="1" dirty="0"/>
              <a:t>Sprint #</a:t>
            </a:r>
          </a:p>
        </p:txBody>
      </p:sp>
      <p:cxnSp>
        <p:nvCxnSpPr>
          <p:cNvPr id="12" name="Straight Arrow Connector 14"/>
          <p:cNvCxnSpPr>
            <a:cxnSpLocks noChangeShapeType="1"/>
          </p:cNvCxnSpPr>
          <p:nvPr/>
        </p:nvCxnSpPr>
        <p:spPr bwMode="auto">
          <a:xfrm>
            <a:off x="4085112" y="1207325"/>
            <a:ext cx="838200" cy="609600"/>
          </a:xfrm>
          <a:prstGeom prst="straightConnector1">
            <a:avLst/>
          </a:prstGeom>
          <a:noFill/>
          <a:ln w="28575" algn="ctr">
            <a:solidFill>
              <a:schemeClr val="tx2"/>
            </a:solidFill>
            <a:round/>
            <a:headEnd type="oval" w="med" len="med"/>
            <a:tailEnd type="oval" w="med" len="med"/>
          </a:ln>
        </p:spPr>
      </p:cxnSp>
      <p:sp>
        <p:nvSpPr>
          <p:cNvPr id="13" name="TextBox 20"/>
          <p:cNvSpPr txBox="1">
            <a:spLocks noChangeArrowheads="1"/>
          </p:cNvSpPr>
          <p:nvPr/>
        </p:nvSpPr>
        <p:spPr bwMode="auto">
          <a:xfrm>
            <a:off x="4368733" y="292925"/>
            <a:ext cx="2817310" cy="369332"/>
          </a:xfrm>
          <a:prstGeom prst="rect">
            <a:avLst/>
          </a:prstGeom>
          <a:noFill/>
          <a:ln w="9525">
            <a:noFill/>
            <a:miter lim="800000"/>
            <a:headEnd/>
            <a:tailEnd/>
          </a:ln>
        </p:spPr>
        <p:txBody>
          <a:bodyPr wrap="none">
            <a:spAutoFit/>
          </a:bodyPr>
          <a:lstStyle/>
          <a:p>
            <a:pPr algn="ctr">
              <a:lnSpc>
                <a:spcPct val="90000"/>
              </a:lnSpc>
              <a:spcBef>
                <a:spcPct val="50000"/>
              </a:spcBef>
              <a:buClr>
                <a:schemeClr val="accent1"/>
              </a:buClr>
            </a:pPr>
            <a:r>
              <a:rPr lang="en-US" sz="2000" b="1" dirty="0"/>
              <a:t>Release </a:t>
            </a:r>
            <a:r>
              <a:rPr lang="en-US" sz="2000" b="1" dirty="0" err="1"/>
              <a:t>Burndown</a:t>
            </a:r>
            <a:r>
              <a:rPr lang="en-US" sz="2000" b="1" dirty="0"/>
              <a:t> Chart</a:t>
            </a:r>
          </a:p>
        </p:txBody>
      </p:sp>
      <p:cxnSp>
        <p:nvCxnSpPr>
          <p:cNvPr id="14" name="Straight Arrow Connector 23"/>
          <p:cNvCxnSpPr>
            <a:cxnSpLocks noChangeShapeType="1"/>
          </p:cNvCxnSpPr>
          <p:nvPr/>
        </p:nvCxnSpPr>
        <p:spPr bwMode="auto">
          <a:xfrm>
            <a:off x="4923312" y="1816925"/>
            <a:ext cx="685800" cy="228600"/>
          </a:xfrm>
          <a:prstGeom prst="straightConnector1">
            <a:avLst/>
          </a:prstGeom>
          <a:noFill/>
          <a:ln w="28575" algn="ctr">
            <a:solidFill>
              <a:schemeClr val="tx2"/>
            </a:solidFill>
            <a:round/>
            <a:headEnd type="oval" w="med" len="med"/>
            <a:tailEnd type="oval" w="med" len="med"/>
          </a:ln>
        </p:spPr>
      </p:cxnSp>
      <p:cxnSp>
        <p:nvCxnSpPr>
          <p:cNvPr id="15" name="Straight Connector 27"/>
          <p:cNvCxnSpPr>
            <a:cxnSpLocks noChangeShapeType="1"/>
          </p:cNvCxnSpPr>
          <p:nvPr/>
        </p:nvCxnSpPr>
        <p:spPr bwMode="auto">
          <a:xfrm>
            <a:off x="5609112" y="2045525"/>
            <a:ext cx="838200" cy="76200"/>
          </a:xfrm>
          <a:prstGeom prst="line">
            <a:avLst/>
          </a:prstGeom>
          <a:noFill/>
          <a:ln w="28575" algn="ctr">
            <a:solidFill>
              <a:schemeClr val="tx1"/>
            </a:solidFill>
            <a:round/>
            <a:headEnd type="oval" w="med" len="med"/>
            <a:tailEnd type="oval" w="med" len="med"/>
          </a:ln>
        </p:spPr>
      </p:cxnSp>
      <p:cxnSp>
        <p:nvCxnSpPr>
          <p:cNvPr id="16" name="Straight Connector 30"/>
          <p:cNvCxnSpPr>
            <a:cxnSpLocks noChangeShapeType="1"/>
          </p:cNvCxnSpPr>
          <p:nvPr/>
        </p:nvCxnSpPr>
        <p:spPr bwMode="auto">
          <a:xfrm>
            <a:off x="6447312" y="2121725"/>
            <a:ext cx="762000" cy="381000"/>
          </a:xfrm>
          <a:prstGeom prst="line">
            <a:avLst/>
          </a:prstGeom>
          <a:noFill/>
          <a:ln w="28575" algn="ctr">
            <a:solidFill>
              <a:schemeClr val="tx1"/>
            </a:solidFill>
            <a:round/>
            <a:headEnd type="oval" w="med" len="med"/>
            <a:tailEnd type="oval" w="med" len="med"/>
          </a:ln>
        </p:spPr>
      </p:cxnSp>
      <p:cxnSp>
        <p:nvCxnSpPr>
          <p:cNvPr id="17" name="Straight Connector 33"/>
          <p:cNvCxnSpPr>
            <a:cxnSpLocks noChangeShapeType="1"/>
          </p:cNvCxnSpPr>
          <p:nvPr/>
        </p:nvCxnSpPr>
        <p:spPr bwMode="auto">
          <a:xfrm>
            <a:off x="7209312" y="2502725"/>
            <a:ext cx="762000" cy="609600"/>
          </a:xfrm>
          <a:prstGeom prst="line">
            <a:avLst/>
          </a:prstGeom>
          <a:noFill/>
          <a:ln w="28575" algn="ctr">
            <a:solidFill>
              <a:schemeClr val="tx1"/>
            </a:solidFill>
            <a:round/>
            <a:headEnd type="oval" w="med" len="med"/>
            <a:tailEnd type="oval" w="med" len="med"/>
          </a:ln>
        </p:spPr>
      </p:cxnSp>
      <p:cxnSp>
        <p:nvCxnSpPr>
          <p:cNvPr id="18" name="Straight Arrow Connector 37"/>
          <p:cNvCxnSpPr>
            <a:cxnSpLocks noChangeShapeType="1"/>
          </p:cNvCxnSpPr>
          <p:nvPr/>
        </p:nvCxnSpPr>
        <p:spPr bwMode="auto">
          <a:xfrm>
            <a:off x="4085112" y="1207325"/>
            <a:ext cx="5410200" cy="3200400"/>
          </a:xfrm>
          <a:prstGeom prst="straightConnector1">
            <a:avLst/>
          </a:prstGeom>
          <a:noFill/>
          <a:ln w="19050" algn="ctr">
            <a:solidFill>
              <a:srgbClr val="FF0000"/>
            </a:solidFill>
            <a:round/>
            <a:headEnd type="none" w="sm" len="sm"/>
            <a:tailEnd type="arrow" w="med" len="med"/>
          </a:ln>
        </p:spPr>
      </p:cxnSp>
      <p:sp>
        <p:nvSpPr>
          <p:cNvPr id="19" name="TextBox 13"/>
          <p:cNvSpPr txBox="1">
            <a:spLocks noChangeArrowheads="1"/>
          </p:cNvSpPr>
          <p:nvPr/>
        </p:nvSpPr>
        <p:spPr bwMode="auto">
          <a:xfrm>
            <a:off x="2853212" y="5474525"/>
            <a:ext cx="7069138" cy="867930"/>
          </a:xfrm>
          <a:prstGeom prst="rect">
            <a:avLst/>
          </a:prstGeom>
          <a:noFill/>
          <a:ln w="9525">
            <a:noFill/>
            <a:miter lim="800000"/>
            <a:headEnd/>
            <a:tailEnd/>
          </a:ln>
        </p:spPr>
        <p:txBody>
          <a:bodyPr>
            <a:spAutoFit/>
          </a:bodyPr>
          <a:lstStyle/>
          <a:p>
            <a:pPr algn="ctr">
              <a:lnSpc>
                <a:spcPct val="90000"/>
              </a:lnSpc>
              <a:spcBef>
                <a:spcPct val="50000"/>
              </a:spcBef>
              <a:buClr>
                <a:schemeClr val="accent1"/>
              </a:buClr>
            </a:pPr>
            <a:r>
              <a:rPr lang="en-US" sz="1400" dirty="0"/>
              <a:t>The black line indicates the total of Work Remaining for all Product Backlog </a:t>
            </a:r>
            <a:r>
              <a:rPr lang="en-US" sz="1400" dirty="0" smtClean="0"/>
              <a:t>Items for </a:t>
            </a:r>
            <a:r>
              <a:rPr lang="en-US" sz="1400" dirty="0"/>
              <a:t>the Project (Release) over time at the end of each Sprint.</a:t>
            </a:r>
          </a:p>
          <a:p>
            <a:pPr algn="ctr">
              <a:lnSpc>
                <a:spcPct val="90000"/>
              </a:lnSpc>
              <a:spcBef>
                <a:spcPct val="50000"/>
              </a:spcBef>
              <a:buClr>
                <a:schemeClr val="accent1"/>
              </a:buClr>
            </a:pP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41555E"/>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smtClean="0"/>
        </a:defPPr>
      </a:lstStyle>
    </a:txDef>
  </a:objectDefaults>
  <a:extraClrSchemeLst/>
  <a:extLst>
    <a:ext uri="{05A4C25C-085E-4340-85A3-A5531E510DB2}">
      <thm15:themeFamily xmlns:thm15="http://schemas.microsoft.com/office/thememl/2012/main" xmlns="" name="Oracle_16x9-2014-0714" id="{032D2387-665B-4DFB-BDAE-D66619AD7C3A}" vid="{BB0AD61B-F388-487D-A806-2F7277FE970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5</TotalTime>
  <Words>54</Words>
  <Application>Microsoft Office PowerPoint</Application>
  <PresentationFormat>Custom</PresentationFormat>
  <Paragraphs>18</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blank</vt:lpstr>
      <vt:lpstr>Slide 1</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Release Burndown Chart</dc:title>
  <dc:creator>Global Methods</dc:creator>
  <cp:keywords>OUM</cp:keywords>
  <dc:description>© 2006, 2014 Oracle and/or its affiliates.  All rights reserved.</dc:description>
  <cp:lastModifiedBy>masander</cp:lastModifiedBy>
  <cp:revision>1</cp:revision>
  <cp:lastPrinted>2014-07-15T21:24:45Z</cp:lastPrinted>
  <dcterms:created xsi:type="dcterms:W3CDTF">2014-10-03T22:37:53Z</dcterms:created>
  <dcterms:modified xsi:type="dcterms:W3CDTF">2014-10-03T22:43:44Z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