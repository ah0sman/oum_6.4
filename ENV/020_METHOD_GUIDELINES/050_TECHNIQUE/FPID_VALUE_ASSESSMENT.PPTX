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71" r:id="rId2"/>
    <p:sldId id="372" r:id="rId3"/>
  </p:sldIdLst>
  <p:sldSz cx="12188825"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521" autoAdjust="0"/>
  </p:normalViewPr>
  <p:slideViewPr>
    <p:cSldViewPr>
      <p:cViewPr varScale="1">
        <p:scale>
          <a:sx n="88" d="100"/>
          <a:sy n="88" d="100"/>
        </p:scale>
        <p:origin x="-654"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6/27/2014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BA907E-627C-4596-8596-6871644FFE00}" type="slidenum">
              <a:rPr lang="en-GB"/>
              <a:pPr/>
              <a:t>1</a:t>
            </a:fld>
            <a:endParaRPr lang="en-GB"/>
          </a:p>
        </p:txBody>
      </p:sp>
      <p:sp>
        <p:nvSpPr>
          <p:cNvPr id="5122" name="Rectangle 2"/>
          <p:cNvSpPr>
            <a:spLocks noRot="1" noChangeArrowheads="1" noTextEdit="1"/>
          </p:cNvSpPr>
          <p:nvPr>
            <p:ph type="sldImg"/>
          </p:nvPr>
        </p:nvSpPr>
        <p:spPr>
          <a:xfrm>
            <a:off x="-182563" y="227013"/>
            <a:ext cx="7226301" cy="4067175"/>
          </a:xfrm>
          <a:ln/>
        </p:spPr>
      </p:sp>
      <p:sp>
        <p:nvSpPr>
          <p:cNvPr id="5123" name="Rectangle 3"/>
          <p:cNvSpPr>
            <a:spLocks noGrp="1" noChangeArrowheads="1"/>
          </p:cNvSpPr>
          <p:nvPr>
            <p:ph type="body" idx="1"/>
          </p:nvPr>
        </p:nvSpPr>
        <p:spPr>
          <a:xfrm>
            <a:off x="685800" y="4525963"/>
            <a:ext cx="5486400" cy="4367212"/>
          </a:xfr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147B3A-AAA9-46C7-9114-8B8A79437981}" type="slidenum">
              <a:rPr lang="en-GB"/>
              <a:pPr/>
              <a:t>2</a:t>
            </a:fld>
            <a:endParaRPr lang="en-GB"/>
          </a:p>
        </p:txBody>
      </p:sp>
      <p:sp>
        <p:nvSpPr>
          <p:cNvPr id="7170" name="Rectangle 2"/>
          <p:cNvSpPr>
            <a:spLocks noRot="1" noChangeArrowheads="1" noTextEdit="1"/>
          </p:cNvSpPr>
          <p:nvPr>
            <p:ph type="sldImg"/>
          </p:nvPr>
        </p:nvSpPr>
        <p:spPr>
          <a:xfrm>
            <a:off x="-182563" y="227013"/>
            <a:ext cx="7226301" cy="4067175"/>
          </a:xfrm>
          <a:ln/>
        </p:spPr>
      </p:sp>
      <p:sp>
        <p:nvSpPr>
          <p:cNvPr id="7171" name="Rectangle 3"/>
          <p:cNvSpPr>
            <a:spLocks noGrp="1" noChangeArrowheads="1"/>
          </p:cNvSpPr>
          <p:nvPr>
            <p:ph type="body" idx="1"/>
          </p:nvPr>
        </p:nvSpPr>
        <p:spPr>
          <a:xfrm>
            <a:off x="685800" y="4525963"/>
            <a:ext cx="5486400" cy="4367212"/>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0970774-AE6A-48D8-BD84-3DC88B2F526B}" type="datetime1">
              <a:rPr lang="en-US" smtClean="0"/>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5468FD2-1967-4D24-9ECB-793583EED7DF}" type="datetime1">
              <a:rPr lang="en-US" smtClean="0"/>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CF1ADDA7-97C7-4211-866A-24676DF31518}" type="datetime1">
              <a:rPr lang="en-US" smtClean="0"/>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E63662-240D-46B6-B985-C639384D6CD2}" type="datetime1">
              <a:rPr lang="en-US" smtClean="0"/>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2A95738-860F-47C3-8A69-BE86637B4344}" type="datetime1">
              <a:rPr lang="en-US" smtClean="0"/>
              <a:pPr/>
              <a:t>6/27/2014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1217213-7067-45F6-AA3F-F48B20162144}" type="datetime1">
              <a:rPr lang="en-US" smtClean="0"/>
              <a:pPr/>
              <a:t>6/27/2014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A56411-17AE-4FB2-8DB8-51CF8311ADAE}" type="datetime1">
              <a:rPr lang="en-US" smtClean="0"/>
              <a:pPr/>
              <a:t>6/27/2014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CF5CD4E-7F9F-42C5-8A01-B2F247A8FCCC}" type="datetime1">
              <a:rPr lang="en-US" smtClean="0"/>
              <a:pPr/>
              <a:t>6/27/2014</a:t>
            </a:fld>
            <a:endParaRPr dirty="0"/>
          </a:p>
        </p:txBody>
      </p:sp>
      <p:sp>
        <p:nvSpPr>
          <p:cNvPr id="5" name="Footer Placeholder 4"/>
          <p:cNvSpPr>
            <a:spLocks noGrp="1"/>
          </p:cNvSpPr>
          <p:nvPr>
            <p:ph type="ftr" sz="quarter" idx="11"/>
          </p:nvPr>
        </p:nvSpPr>
        <p:spPr/>
        <p:txBody>
          <a:bodyPr>
            <a:noAutofit/>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C227C0-8839-47DD-8D09-0CBDE4866CF2}" type="datetime1">
              <a:rPr lang="en-US" smtClean="0"/>
              <a:pPr/>
              <a:t>6/27/2014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7AA93BF7-2521-42A3-8683-42033A66216D}" type="datetime1">
              <a:rPr lang="en-US" smtClean="0"/>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34A9ABF4-DDD0-4CF8-9C11-293B7D40120E}"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4F5A1D-C811-4E15-B455-425F1FFBDEA3}" type="datetime1">
              <a:rPr lang="en-US" smtClean="0"/>
              <a:pPr/>
              <a:t>6/27/2014</a:t>
            </a:fld>
            <a:endParaRPr lang="en-US" dirty="0"/>
          </a:p>
        </p:txBody>
      </p:sp>
      <p:sp>
        <p:nvSpPr>
          <p:cNvPr id="4" name="Footer Placeholder 3"/>
          <p:cNvSpPr>
            <a:spLocks noGrp="1"/>
          </p:cNvSpPr>
          <p:nvPr>
            <p:ph type="ftr" sz="quarter" idx="11"/>
          </p:nvPr>
        </p:nvSpPr>
        <p:spPr/>
        <p:txBody>
          <a:bodyPr/>
          <a:lstStyle/>
          <a:p>
            <a:r>
              <a:rPr lang="en-US"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D353445-D0F5-48B8-96B4-5EB01AE08471}"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4E50BFB2-EC01-4FB2-8610-A03E458FA09B}"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974DF18-87F5-4DDC-BC34-42E302FF4834}"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49E0205-C379-4178-AFA2-7977FC3851FA}"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29AA801-5549-48D7-B7FA-58FA04F2342E}"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BB2B38-BA7C-4FC2-B1E8-B9B7BDA06FBB}"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8186B2-078A-4E8E-A15F-069F2FBF3A1F}"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845BAFBF-5C06-46BD-9E2D-796B6D890440}" type="datetime1">
              <a:rPr lang="en-US" smtClean="0"/>
              <a:pPr/>
              <a:t>6/27/2014</a:t>
            </a:fld>
            <a:endParaRPr dirty="0"/>
          </a:p>
        </p:txBody>
      </p:sp>
      <p:sp>
        <p:nvSpPr>
          <p:cNvPr id="8" name="Footer Placeholder 7"/>
          <p:cNvSpPr>
            <a:spLocks noGrp="1"/>
          </p:cNvSpPr>
          <p:nvPr>
            <p:ph type="ftr" sz="quarter" idx="11"/>
          </p:nvPr>
        </p:nvSpPr>
        <p:spPr/>
        <p:txBody>
          <a:bodyPr>
            <a:noAutofit/>
          </a:bodyPr>
          <a:lstStyle/>
          <a:p>
            <a:r>
              <a:rPr lang="en-US"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4F37B68-E812-4911-A7B1-027D5221C358}" type="datetime1">
              <a:rPr lang="en-US" smtClean="0"/>
              <a:pPr/>
              <a:t>6/27/2014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F2EDDDE1-09D9-4708-9A45-5F4C0C36FB2E}" type="datetime1">
              <a:rPr lang="en-US" smtClean="0"/>
              <a:pPr/>
              <a:t>6/27/2014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1AB3C0-9FBB-4254-8DD9-2EA799EE0983}" type="datetime1">
              <a:rPr lang="en-US" smtClean="0"/>
              <a:pPr/>
              <a:t>6/27/2014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E22F28-5B76-4B7F-8D13-858A8B7E2FF5}"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BFA67F-57FE-44FF-B611-4DE98DABEF9E}"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5A6E9D-1FA8-469A-B383-CCAEB8E327A7}"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F4026C-4C51-4904-B8DA-9E5143CCE540}"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F9782F33-CFE0-43CE-B5B3-2F7978690BC3}"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4DA61A40-B1E3-4275-A809-F8A3A1C1ECFF}"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DB8EF0F-D37A-4ACA-961B-FD648CD1D561}"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E17ACF5-C56E-4134-A65C-83E9EA3F45EF}" type="datetime1">
              <a:rPr lang="en-US" smtClean="0"/>
              <a:pPr/>
              <a:t>6/27/2014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5B6B4DE-AF26-4070-A212-CBD38247A374}" type="datetime1">
              <a:rPr lang="en-US" smtClean="0"/>
              <a:pPr/>
              <a:t>6/27/2014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433C6311-DA19-49D9-9C51-E3229778F6B5}" type="datetime1">
              <a:rPr lang="en-US" smtClean="0"/>
              <a:pPr/>
              <a:t>6/27/2014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5E413D62-0112-40FB-9637-2D5605CC0260}" type="datetime1">
              <a:rPr lang="en-US" smtClean="0"/>
              <a:pPr/>
              <a:t>6/27/2014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2E7506-F134-443D-9C1E-30B34FFFC222}" type="datetime1">
              <a:rPr lang="en-US" smtClean="0"/>
              <a:pPr/>
              <a:t>6/27/2014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832B646-3C92-453B-B2EA-88631AD9A8A8}" type="datetime1">
              <a:rPr lang="en-US" smtClean="0"/>
              <a:pPr/>
              <a:t>6/27/2014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8FF4CD1-EE8B-48BD-B401-7FA40BD7ABA8}" type="datetime1">
              <a:rPr lang="en-US" smtClean="0"/>
              <a:pPr/>
              <a:t>6/27/2014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3DF617A-E759-4BFC-AEBE-EF78442EAD81}" type="datetime1">
              <a:rPr lang="en-US" smtClean="0"/>
              <a:pPr/>
              <a:t>6/27/2014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Line 2"/>
          <p:cNvSpPr>
            <a:spLocks noChangeShapeType="1"/>
          </p:cNvSpPr>
          <p:nvPr/>
        </p:nvSpPr>
        <p:spPr bwMode="auto">
          <a:xfrm>
            <a:off x="0" y="1727200"/>
            <a:ext cx="12188825" cy="0"/>
          </a:xfrm>
          <a:prstGeom prst="line">
            <a:avLst/>
          </a:prstGeom>
          <a:noFill/>
          <a:ln w="9525">
            <a:solidFill>
              <a:schemeClr val="tx1"/>
            </a:solidFill>
            <a:round/>
            <a:headEnd/>
            <a:tailEnd/>
          </a:ln>
          <a:effectLst/>
        </p:spPr>
        <p:txBody>
          <a:bodyPr/>
          <a:lstStyle/>
          <a:p>
            <a:endParaRPr lang="en-US"/>
          </a:p>
        </p:txBody>
      </p:sp>
      <p:sp>
        <p:nvSpPr>
          <p:cNvPr id="3075" name="Line 3"/>
          <p:cNvSpPr>
            <a:spLocks noChangeShapeType="1"/>
          </p:cNvSpPr>
          <p:nvPr/>
        </p:nvSpPr>
        <p:spPr bwMode="auto">
          <a:xfrm>
            <a:off x="0" y="5627688"/>
            <a:ext cx="12188825" cy="0"/>
          </a:xfrm>
          <a:prstGeom prst="line">
            <a:avLst/>
          </a:prstGeom>
          <a:noFill/>
          <a:ln w="9525">
            <a:solidFill>
              <a:schemeClr val="tx1"/>
            </a:solidFill>
            <a:round/>
            <a:headEnd/>
            <a:tailEnd/>
          </a:ln>
          <a:effectLst/>
        </p:spPr>
        <p:txBody>
          <a:bodyPr/>
          <a:lstStyle/>
          <a:p>
            <a:endParaRPr lang="en-US"/>
          </a:p>
        </p:txBody>
      </p:sp>
      <p:sp>
        <p:nvSpPr>
          <p:cNvPr id="3076" name="Line 4"/>
          <p:cNvSpPr>
            <a:spLocks noChangeShapeType="1"/>
          </p:cNvSpPr>
          <p:nvPr/>
        </p:nvSpPr>
        <p:spPr bwMode="auto">
          <a:xfrm>
            <a:off x="0" y="1131888"/>
            <a:ext cx="12188825" cy="0"/>
          </a:xfrm>
          <a:prstGeom prst="line">
            <a:avLst/>
          </a:prstGeom>
          <a:noFill/>
          <a:ln w="9525">
            <a:solidFill>
              <a:schemeClr val="tx1"/>
            </a:solidFill>
            <a:round/>
            <a:headEnd/>
            <a:tailEnd/>
          </a:ln>
          <a:effectLst/>
        </p:spPr>
        <p:txBody>
          <a:bodyPr/>
          <a:lstStyle/>
          <a:p>
            <a:endParaRPr lang="en-US"/>
          </a:p>
        </p:txBody>
      </p:sp>
      <p:sp>
        <p:nvSpPr>
          <p:cNvPr id="3077" name="Line 5"/>
          <p:cNvSpPr>
            <a:spLocks noChangeShapeType="1"/>
          </p:cNvSpPr>
          <p:nvPr/>
        </p:nvSpPr>
        <p:spPr bwMode="auto">
          <a:xfrm>
            <a:off x="0" y="1406525"/>
            <a:ext cx="12188825" cy="0"/>
          </a:xfrm>
          <a:prstGeom prst="line">
            <a:avLst/>
          </a:prstGeom>
          <a:noFill/>
          <a:ln w="9525">
            <a:solidFill>
              <a:schemeClr val="tx1"/>
            </a:solidFill>
            <a:round/>
            <a:headEnd/>
            <a:tailEnd/>
          </a:ln>
          <a:effectLst/>
        </p:spPr>
        <p:txBody>
          <a:bodyPr/>
          <a:lstStyle/>
          <a:p>
            <a:endParaRPr lang="en-US"/>
          </a:p>
        </p:txBody>
      </p:sp>
      <p:sp>
        <p:nvSpPr>
          <p:cNvPr id="3078" name="Line 6"/>
          <p:cNvSpPr>
            <a:spLocks noChangeShapeType="1"/>
          </p:cNvSpPr>
          <p:nvPr/>
        </p:nvSpPr>
        <p:spPr bwMode="auto">
          <a:xfrm>
            <a:off x="6088065" y="1400176"/>
            <a:ext cx="6348" cy="4570413"/>
          </a:xfrm>
          <a:prstGeom prst="line">
            <a:avLst/>
          </a:prstGeom>
          <a:noFill/>
          <a:ln w="9525">
            <a:solidFill>
              <a:schemeClr val="tx1"/>
            </a:solidFill>
            <a:round/>
            <a:headEnd/>
            <a:tailEnd/>
          </a:ln>
          <a:effectLst/>
        </p:spPr>
        <p:txBody>
          <a:bodyPr/>
          <a:lstStyle/>
          <a:p>
            <a:endParaRPr lang="en-US"/>
          </a:p>
        </p:txBody>
      </p:sp>
      <p:sp>
        <p:nvSpPr>
          <p:cNvPr id="3079" name="Line 7"/>
          <p:cNvSpPr>
            <a:spLocks noChangeShapeType="1"/>
          </p:cNvSpPr>
          <p:nvPr/>
        </p:nvSpPr>
        <p:spPr bwMode="auto">
          <a:xfrm>
            <a:off x="0" y="5295900"/>
            <a:ext cx="12188825" cy="0"/>
          </a:xfrm>
          <a:prstGeom prst="line">
            <a:avLst/>
          </a:prstGeom>
          <a:noFill/>
          <a:ln w="9525">
            <a:solidFill>
              <a:schemeClr val="tx1"/>
            </a:solidFill>
            <a:round/>
            <a:headEnd/>
            <a:tailEnd/>
          </a:ln>
          <a:effectLst/>
        </p:spPr>
        <p:txBody>
          <a:bodyPr/>
          <a:lstStyle/>
          <a:p>
            <a:endParaRPr lang="en-US"/>
          </a:p>
        </p:txBody>
      </p:sp>
      <p:sp>
        <p:nvSpPr>
          <p:cNvPr id="3080" name="Line 8"/>
          <p:cNvSpPr>
            <a:spLocks noChangeShapeType="1"/>
          </p:cNvSpPr>
          <p:nvPr/>
        </p:nvSpPr>
        <p:spPr bwMode="auto">
          <a:xfrm>
            <a:off x="0" y="4964113"/>
            <a:ext cx="12188825" cy="0"/>
          </a:xfrm>
          <a:prstGeom prst="line">
            <a:avLst/>
          </a:prstGeom>
          <a:noFill/>
          <a:ln w="9525">
            <a:solidFill>
              <a:schemeClr val="tx1"/>
            </a:solidFill>
            <a:round/>
            <a:headEnd/>
            <a:tailEnd/>
          </a:ln>
          <a:effectLst/>
        </p:spPr>
        <p:txBody>
          <a:bodyPr/>
          <a:lstStyle/>
          <a:p>
            <a:endParaRPr lang="en-US"/>
          </a:p>
        </p:txBody>
      </p:sp>
      <p:sp>
        <p:nvSpPr>
          <p:cNvPr id="3081" name="Line 9"/>
          <p:cNvSpPr>
            <a:spLocks noChangeShapeType="1"/>
          </p:cNvSpPr>
          <p:nvPr/>
        </p:nvSpPr>
        <p:spPr bwMode="auto">
          <a:xfrm>
            <a:off x="0" y="4632325"/>
            <a:ext cx="12188825" cy="0"/>
          </a:xfrm>
          <a:prstGeom prst="line">
            <a:avLst/>
          </a:prstGeom>
          <a:noFill/>
          <a:ln w="9525">
            <a:solidFill>
              <a:schemeClr val="tx1"/>
            </a:solidFill>
            <a:round/>
            <a:headEnd/>
            <a:tailEnd/>
          </a:ln>
          <a:effectLst/>
        </p:spPr>
        <p:txBody>
          <a:bodyPr/>
          <a:lstStyle/>
          <a:p>
            <a:endParaRPr lang="en-US"/>
          </a:p>
        </p:txBody>
      </p:sp>
      <p:sp>
        <p:nvSpPr>
          <p:cNvPr id="3082" name="Line 10"/>
          <p:cNvSpPr>
            <a:spLocks noChangeShapeType="1"/>
          </p:cNvSpPr>
          <p:nvPr/>
        </p:nvSpPr>
        <p:spPr bwMode="auto">
          <a:xfrm>
            <a:off x="0" y="5959475"/>
            <a:ext cx="12188825" cy="0"/>
          </a:xfrm>
          <a:prstGeom prst="line">
            <a:avLst/>
          </a:prstGeom>
          <a:noFill/>
          <a:ln w="9525">
            <a:solidFill>
              <a:schemeClr val="tx1"/>
            </a:solidFill>
            <a:round/>
            <a:headEnd/>
            <a:tailEnd/>
          </a:ln>
          <a:effectLst/>
        </p:spPr>
        <p:txBody>
          <a:bodyPr/>
          <a:lstStyle/>
          <a:p>
            <a:endParaRPr lang="en-US"/>
          </a:p>
        </p:txBody>
      </p:sp>
      <p:sp>
        <p:nvSpPr>
          <p:cNvPr id="3083" name="Line 11"/>
          <p:cNvSpPr>
            <a:spLocks noChangeShapeType="1"/>
          </p:cNvSpPr>
          <p:nvPr/>
        </p:nvSpPr>
        <p:spPr bwMode="auto">
          <a:xfrm>
            <a:off x="0" y="3968750"/>
            <a:ext cx="12188825" cy="0"/>
          </a:xfrm>
          <a:prstGeom prst="line">
            <a:avLst/>
          </a:prstGeom>
          <a:noFill/>
          <a:ln w="9525">
            <a:solidFill>
              <a:schemeClr val="tx1"/>
            </a:solidFill>
            <a:round/>
            <a:headEnd/>
            <a:tailEnd/>
          </a:ln>
          <a:effectLst/>
        </p:spPr>
        <p:txBody>
          <a:bodyPr/>
          <a:lstStyle/>
          <a:p>
            <a:endParaRPr lang="en-US"/>
          </a:p>
        </p:txBody>
      </p:sp>
      <p:sp>
        <p:nvSpPr>
          <p:cNvPr id="3084" name="Line 12"/>
          <p:cNvSpPr>
            <a:spLocks noChangeShapeType="1"/>
          </p:cNvSpPr>
          <p:nvPr/>
        </p:nvSpPr>
        <p:spPr bwMode="auto">
          <a:xfrm>
            <a:off x="0" y="4300538"/>
            <a:ext cx="12188825" cy="0"/>
          </a:xfrm>
          <a:prstGeom prst="line">
            <a:avLst/>
          </a:prstGeom>
          <a:noFill/>
          <a:ln w="9525">
            <a:solidFill>
              <a:schemeClr val="tx1"/>
            </a:solidFill>
            <a:round/>
            <a:headEnd/>
            <a:tailEnd/>
          </a:ln>
          <a:effectLst/>
        </p:spPr>
        <p:txBody>
          <a:bodyPr/>
          <a:lstStyle/>
          <a:p>
            <a:endParaRPr lang="en-US"/>
          </a:p>
        </p:txBody>
      </p:sp>
      <p:sp>
        <p:nvSpPr>
          <p:cNvPr id="3085" name="Line 13"/>
          <p:cNvSpPr>
            <a:spLocks noChangeShapeType="1"/>
          </p:cNvSpPr>
          <p:nvPr/>
        </p:nvSpPr>
        <p:spPr bwMode="auto">
          <a:xfrm>
            <a:off x="0" y="2006600"/>
            <a:ext cx="5614055" cy="0"/>
          </a:xfrm>
          <a:prstGeom prst="line">
            <a:avLst/>
          </a:prstGeom>
          <a:noFill/>
          <a:ln w="9525">
            <a:solidFill>
              <a:schemeClr val="tx1"/>
            </a:solidFill>
            <a:round/>
            <a:headEnd/>
            <a:tailEnd/>
          </a:ln>
          <a:effectLst/>
        </p:spPr>
        <p:txBody>
          <a:bodyPr/>
          <a:lstStyle/>
          <a:p>
            <a:endParaRPr lang="en-US"/>
          </a:p>
        </p:txBody>
      </p:sp>
      <p:sp>
        <p:nvSpPr>
          <p:cNvPr id="3086" name="Line 14"/>
          <p:cNvSpPr>
            <a:spLocks noChangeShapeType="1"/>
          </p:cNvSpPr>
          <p:nvPr/>
        </p:nvSpPr>
        <p:spPr bwMode="auto">
          <a:xfrm>
            <a:off x="5614055" y="2008188"/>
            <a:ext cx="0" cy="3949700"/>
          </a:xfrm>
          <a:prstGeom prst="line">
            <a:avLst/>
          </a:prstGeom>
          <a:noFill/>
          <a:ln w="9525">
            <a:solidFill>
              <a:schemeClr val="tx1"/>
            </a:solidFill>
            <a:round/>
            <a:headEnd/>
            <a:tailEnd/>
          </a:ln>
          <a:effectLst/>
        </p:spPr>
        <p:txBody>
          <a:bodyPr/>
          <a:lstStyle/>
          <a:p>
            <a:endParaRPr lang="en-US"/>
          </a:p>
        </p:txBody>
      </p:sp>
      <p:sp>
        <p:nvSpPr>
          <p:cNvPr id="3087" name="Line 15"/>
          <p:cNvSpPr>
            <a:spLocks noChangeShapeType="1"/>
          </p:cNvSpPr>
          <p:nvPr/>
        </p:nvSpPr>
        <p:spPr bwMode="auto">
          <a:xfrm>
            <a:off x="0" y="2346325"/>
            <a:ext cx="5131581" cy="0"/>
          </a:xfrm>
          <a:prstGeom prst="line">
            <a:avLst/>
          </a:prstGeom>
          <a:noFill/>
          <a:ln w="9525">
            <a:solidFill>
              <a:schemeClr val="tx1"/>
            </a:solidFill>
            <a:round/>
            <a:headEnd/>
            <a:tailEnd/>
          </a:ln>
          <a:effectLst/>
        </p:spPr>
        <p:txBody>
          <a:bodyPr/>
          <a:lstStyle/>
          <a:p>
            <a:endParaRPr lang="en-US"/>
          </a:p>
        </p:txBody>
      </p:sp>
      <p:sp>
        <p:nvSpPr>
          <p:cNvPr id="3088" name="Line 16"/>
          <p:cNvSpPr>
            <a:spLocks noChangeShapeType="1"/>
          </p:cNvSpPr>
          <p:nvPr/>
        </p:nvSpPr>
        <p:spPr bwMode="auto">
          <a:xfrm>
            <a:off x="5131581" y="2347913"/>
            <a:ext cx="0" cy="3619500"/>
          </a:xfrm>
          <a:prstGeom prst="line">
            <a:avLst/>
          </a:prstGeom>
          <a:noFill/>
          <a:ln w="9525">
            <a:solidFill>
              <a:schemeClr val="tx1"/>
            </a:solidFill>
            <a:round/>
            <a:headEnd/>
            <a:tailEnd/>
          </a:ln>
          <a:effectLst/>
        </p:spPr>
        <p:txBody>
          <a:bodyPr/>
          <a:lstStyle/>
          <a:p>
            <a:endParaRPr lang="en-US"/>
          </a:p>
        </p:txBody>
      </p:sp>
      <p:sp>
        <p:nvSpPr>
          <p:cNvPr id="3089" name="Line 17"/>
          <p:cNvSpPr>
            <a:spLocks noChangeShapeType="1"/>
          </p:cNvSpPr>
          <p:nvPr/>
        </p:nvSpPr>
        <p:spPr bwMode="auto">
          <a:xfrm>
            <a:off x="0" y="2684463"/>
            <a:ext cx="4646990" cy="0"/>
          </a:xfrm>
          <a:prstGeom prst="line">
            <a:avLst/>
          </a:prstGeom>
          <a:noFill/>
          <a:ln w="9525">
            <a:solidFill>
              <a:schemeClr val="tx1"/>
            </a:solidFill>
            <a:round/>
            <a:headEnd/>
            <a:tailEnd/>
          </a:ln>
          <a:effectLst/>
        </p:spPr>
        <p:txBody>
          <a:bodyPr/>
          <a:lstStyle/>
          <a:p>
            <a:endParaRPr lang="en-US"/>
          </a:p>
        </p:txBody>
      </p:sp>
      <p:sp>
        <p:nvSpPr>
          <p:cNvPr id="3090" name="Line 18"/>
          <p:cNvSpPr>
            <a:spLocks noChangeShapeType="1"/>
          </p:cNvSpPr>
          <p:nvPr/>
        </p:nvSpPr>
        <p:spPr bwMode="auto">
          <a:xfrm>
            <a:off x="4646990" y="2686051"/>
            <a:ext cx="0" cy="3260725"/>
          </a:xfrm>
          <a:prstGeom prst="line">
            <a:avLst/>
          </a:prstGeom>
          <a:noFill/>
          <a:ln w="9525">
            <a:solidFill>
              <a:schemeClr val="tx1"/>
            </a:solidFill>
            <a:round/>
            <a:headEnd/>
            <a:tailEnd/>
          </a:ln>
          <a:effectLst/>
        </p:spPr>
        <p:txBody>
          <a:bodyPr/>
          <a:lstStyle/>
          <a:p>
            <a:endParaRPr lang="en-US"/>
          </a:p>
        </p:txBody>
      </p:sp>
      <p:sp>
        <p:nvSpPr>
          <p:cNvPr id="3091" name="Line 19"/>
          <p:cNvSpPr>
            <a:spLocks noChangeShapeType="1"/>
          </p:cNvSpPr>
          <p:nvPr/>
        </p:nvSpPr>
        <p:spPr bwMode="auto">
          <a:xfrm>
            <a:off x="1" y="3024188"/>
            <a:ext cx="4162400" cy="0"/>
          </a:xfrm>
          <a:prstGeom prst="line">
            <a:avLst/>
          </a:prstGeom>
          <a:noFill/>
          <a:ln w="9525">
            <a:solidFill>
              <a:schemeClr val="tx1"/>
            </a:solidFill>
            <a:round/>
            <a:headEnd/>
            <a:tailEnd/>
          </a:ln>
          <a:effectLst/>
        </p:spPr>
        <p:txBody>
          <a:bodyPr/>
          <a:lstStyle/>
          <a:p>
            <a:endParaRPr lang="en-US"/>
          </a:p>
        </p:txBody>
      </p:sp>
      <p:sp>
        <p:nvSpPr>
          <p:cNvPr id="3092" name="Line 20"/>
          <p:cNvSpPr>
            <a:spLocks noChangeShapeType="1"/>
          </p:cNvSpPr>
          <p:nvPr/>
        </p:nvSpPr>
        <p:spPr bwMode="auto">
          <a:xfrm>
            <a:off x="4162400" y="3025775"/>
            <a:ext cx="0" cy="2922588"/>
          </a:xfrm>
          <a:prstGeom prst="line">
            <a:avLst/>
          </a:prstGeom>
          <a:noFill/>
          <a:ln w="9525">
            <a:solidFill>
              <a:schemeClr val="tx1"/>
            </a:solidFill>
            <a:round/>
            <a:headEnd/>
            <a:tailEnd/>
          </a:ln>
          <a:effectLst/>
        </p:spPr>
        <p:txBody>
          <a:bodyPr/>
          <a:lstStyle/>
          <a:p>
            <a:endParaRPr lang="en-US"/>
          </a:p>
        </p:txBody>
      </p:sp>
      <p:sp>
        <p:nvSpPr>
          <p:cNvPr id="3093" name="Line 21"/>
          <p:cNvSpPr>
            <a:spLocks noChangeShapeType="1"/>
          </p:cNvSpPr>
          <p:nvPr/>
        </p:nvSpPr>
        <p:spPr bwMode="auto">
          <a:xfrm>
            <a:off x="0" y="3362325"/>
            <a:ext cx="3677809" cy="0"/>
          </a:xfrm>
          <a:prstGeom prst="line">
            <a:avLst/>
          </a:prstGeom>
          <a:noFill/>
          <a:ln w="9525">
            <a:solidFill>
              <a:schemeClr val="tx1"/>
            </a:solidFill>
            <a:round/>
            <a:headEnd/>
            <a:tailEnd/>
          </a:ln>
          <a:effectLst/>
        </p:spPr>
        <p:txBody>
          <a:bodyPr/>
          <a:lstStyle/>
          <a:p>
            <a:endParaRPr lang="en-US"/>
          </a:p>
        </p:txBody>
      </p:sp>
      <p:sp>
        <p:nvSpPr>
          <p:cNvPr id="3094" name="Line 22"/>
          <p:cNvSpPr>
            <a:spLocks noChangeShapeType="1"/>
          </p:cNvSpPr>
          <p:nvPr/>
        </p:nvSpPr>
        <p:spPr bwMode="auto">
          <a:xfrm>
            <a:off x="3677809" y="3363913"/>
            <a:ext cx="0" cy="2597150"/>
          </a:xfrm>
          <a:prstGeom prst="line">
            <a:avLst/>
          </a:prstGeom>
          <a:noFill/>
          <a:ln w="9525">
            <a:solidFill>
              <a:schemeClr val="tx1"/>
            </a:solidFill>
            <a:round/>
            <a:headEnd/>
            <a:tailEnd/>
          </a:ln>
          <a:effectLst/>
        </p:spPr>
        <p:txBody>
          <a:bodyPr/>
          <a:lstStyle/>
          <a:p>
            <a:endParaRPr lang="en-US"/>
          </a:p>
        </p:txBody>
      </p:sp>
      <p:sp>
        <p:nvSpPr>
          <p:cNvPr id="3095" name="Line 23"/>
          <p:cNvSpPr>
            <a:spLocks noChangeShapeType="1"/>
          </p:cNvSpPr>
          <p:nvPr/>
        </p:nvSpPr>
        <p:spPr bwMode="auto">
          <a:xfrm>
            <a:off x="0" y="3700463"/>
            <a:ext cx="3193219" cy="0"/>
          </a:xfrm>
          <a:prstGeom prst="line">
            <a:avLst/>
          </a:prstGeom>
          <a:noFill/>
          <a:ln w="9525">
            <a:solidFill>
              <a:schemeClr val="tx1"/>
            </a:solidFill>
            <a:round/>
            <a:headEnd/>
            <a:tailEnd/>
          </a:ln>
          <a:effectLst/>
        </p:spPr>
        <p:txBody>
          <a:bodyPr/>
          <a:lstStyle/>
          <a:p>
            <a:endParaRPr lang="en-US"/>
          </a:p>
        </p:txBody>
      </p:sp>
      <p:sp>
        <p:nvSpPr>
          <p:cNvPr id="3096" name="Line 24"/>
          <p:cNvSpPr>
            <a:spLocks noChangeShapeType="1"/>
          </p:cNvSpPr>
          <p:nvPr/>
        </p:nvSpPr>
        <p:spPr bwMode="auto">
          <a:xfrm>
            <a:off x="3193219" y="3702051"/>
            <a:ext cx="0" cy="2265363"/>
          </a:xfrm>
          <a:prstGeom prst="line">
            <a:avLst/>
          </a:prstGeom>
          <a:noFill/>
          <a:ln w="9525">
            <a:solidFill>
              <a:schemeClr val="tx1"/>
            </a:solidFill>
            <a:round/>
            <a:headEnd/>
            <a:tailEnd/>
          </a:ln>
          <a:effectLst/>
        </p:spPr>
        <p:txBody>
          <a:bodyPr/>
          <a:lstStyle/>
          <a:p>
            <a:endParaRPr lang="en-US"/>
          </a:p>
        </p:txBody>
      </p:sp>
      <p:sp>
        <p:nvSpPr>
          <p:cNvPr id="3097" name="Line 25"/>
          <p:cNvSpPr>
            <a:spLocks noChangeShapeType="1"/>
          </p:cNvSpPr>
          <p:nvPr/>
        </p:nvSpPr>
        <p:spPr bwMode="auto">
          <a:xfrm flipH="1">
            <a:off x="6602280" y="2006600"/>
            <a:ext cx="5614055" cy="0"/>
          </a:xfrm>
          <a:prstGeom prst="line">
            <a:avLst/>
          </a:prstGeom>
          <a:noFill/>
          <a:ln w="9525">
            <a:solidFill>
              <a:schemeClr val="tx1"/>
            </a:solidFill>
            <a:round/>
            <a:headEnd/>
            <a:tailEnd/>
          </a:ln>
          <a:effectLst/>
        </p:spPr>
        <p:txBody>
          <a:bodyPr/>
          <a:lstStyle/>
          <a:p>
            <a:endParaRPr lang="en-US"/>
          </a:p>
        </p:txBody>
      </p:sp>
      <p:sp>
        <p:nvSpPr>
          <p:cNvPr id="3098" name="Line 26"/>
          <p:cNvSpPr>
            <a:spLocks noChangeShapeType="1"/>
          </p:cNvSpPr>
          <p:nvPr/>
        </p:nvSpPr>
        <p:spPr bwMode="auto">
          <a:xfrm flipH="1">
            <a:off x="6602280" y="2008188"/>
            <a:ext cx="0" cy="3949700"/>
          </a:xfrm>
          <a:prstGeom prst="line">
            <a:avLst/>
          </a:prstGeom>
          <a:noFill/>
          <a:ln w="9525">
            <a:solidFill>
              <a:schemeClr val="tx1"/>
            </a:solidFill>
            <a:round/>
            <a:headEnd/>
            <a:tailEnd/>
          </a:ln>
          <a:effectLst/>
        </p:spPr>
        <p:txBody>
          <a:bodyPr/>
          <a:lstStyle/>
          <a:p>
            <a:endParaRPr lang="en-US"/>
          </a:p>
        </p:txBody>
      </p:sp>
      <p:sp>
        <p:nvSpPr>
          <p:cNvPr id="3099" name="Line 27"/>
          <p:cNvSpPr>
            <a:spLocks noChangeShapeType="1"/>
          </p:cNvSpPr>
          <p:nvPr/>
        </p:nvSpPr>
        <p:spPr bwMode="auto">
          <a:xfrm flipH="1">
            <a:off x="7084754" y="2346325"/>
            <a:ext cx="5131581" cy="0"/>
          </a:xfrm>
          <a:prstGeom prst="line">
            <a:avLst/>
          </a:prstGeom>
          <a:noFill/>
          <a:ln w="9525">
            <a:solidFill>
              <a:schemeClr val="tx1"/>
            </a:solidFill>
            <a:round/>
            <a:headEnd/>
            <a:tailEnd/>
          </a:ln>
          <a:effectLst/>
        </p:spPr>
        <p:txBody>
          <a:bodyPr/>
          <a:lstStyle/>
          <a:p>
            <a:endParaRPr lang="en-US"/>
          </a:p>
        </p:txBody>
      </p:sp>
      <p:sp>
        <p:nvSpPr>
          <p:cNvPr id="3100" name="Line 28"/>
          <p:cNvSpPr>
            <a:spLocks noChangeShapeType="1"/>
          </p:cNvSpPr>
          <p:nvPr/>
        </p:nvSpPr>
        <p:spPr bwMode="auto">
          <a:xfrm flipH="1">
            <a:off x="7084755" y="2347913"/>
            <a:ext cx="0" cy="3619500"/>
          </a:xfrm>
          <a:prstGeom prst="line">
            <a:avLst/>
          </a:prstGeom>
          <a:noFill/>
          <a:ln w="9525">
            <a:solidFill>
              <a:schemeClr val="tx1"/>
            </a:solidFill>
            <a:round/>
            <a:headEnd/>
            <a:tailEnd/>
          </a:ln>
          <a:effectLst/>
        </p:spPr>
        <p:txBody>
          <a:bodyPr/>
          <a:lstStyle/>
          <a:p>
            <a:endParaRPr lang="en-US"/>
          </a:p>
        </p:txBody>
      </p:sp>
      <p:sp>
        <p:nvSpPr>
          <p:cNvPr id="3101" name="Line 29"/>
          <p:cNvSpPr>
            <a:spLocks noChangeShapeType="1"/>
          </p:cNvSpPr>
          <p:nvPr/>
        </p:nvSpPr>
        <p:spPr bwMode="auto">
          <a:xfrm flipH="1">
            <a:off x="7569345" y="2684463"/>
            <a:ext cx="4646990" cy="0"/>
          </a:xfrm>
          <a:prstGeom prst="line">
            <a:avLst/>
          </a:prstGeom>
          <a:noFill/>
          <a:ln w="9525">
            <a:solidFill>
              <a:schemeClr val="tx1"/>
            </a:solidFill>
            <a:round/>
            <a:headEnd/>
            <a:tailEnd/>
          </a:ln>
          <a:effectLst/>
        </p:spPr>
        <p:txBody>
          <a:bodyPr/>
          <a:lstStyle/>
          <a:p>
            <a:endParaRPr lang="en-US"/>
          </a:p>
        </p:txBody>
      </p:sp>
      <p:sp>
        <p:nvSpPr>
          <p:cNvPr id="3102" name="Line 30"/>
          <p:cNvSpPr>
            <a:spLocks noChangeShapeType="1"/>
          </p:cNvSpPr>
          <p:nvPr/>
        </p:nvSpPr>
        <p:spPr bwMode="auto">
          <a:xfrm flipH="1">
            <a:off x="7569346" y="2686051"/>
            <a:ext cx="0" cy="3260725"/>
          </a:xfrm>
          <a:prstGeom prst="line">
            <a:avLst/>
          </a:prstGeom>
          <a:noFill/>
          <a:ln w="9525">
            <a:solidFill>
              <a:schemeClr val="tx1"/>
            </a:solidFill>
            <a:round/>
            <a:headEnd/>
            <a:tailEnd/>
          </a:ln>
          <a:effectLst/>
        </p:spPr>
        <p:txBody>
          <a:bodyPr/>
          <a:lstStyle/>
          <a:p>
            <a:endParaRPr lang="en-US"/>
          </a:p>
        </p:txBody>
      </p:sp>
      <p:sp>
        <p:nvSpPr>
          <p:cNvPr id="3103" name="Line 31"/>
          <p:cNvSpPr>
            <a:spLocks noChangeShapeType="1"/>
          </p:cNvSpPr>
          <p:nvPr/>
        </p:nvSpPr>
        <p:spPr bwMode="auto">
          <a:xfrm flipH="1">
            <a:off x="8053936" y="3024188"/>
            <a:ext cx="4162400" cy="0"/>
          </a:xfrm>
          <a:prstGeom prst="line">
            <a:avLst/>
          </a:prstGeom>
          <a:noFill/>
          <a:ln w="9525">
            <a:solidFill>
              <a:schemeClr val="tx1"/>
            </a:solidFill>
            <a:round/>
            <a:headEnd/>
            <a:tailEnd/>
          </a:ln>
          <a:effectLst/>
        </p:spPr>
        <p:txBody>
          <a:bodyPr/>
          <a:lstStyle/>
          <a:p>
            <a:endParaRPr lang="en-US"/>
          </a:p>
        </p:txBody>
      </p:sp>
      <p:sp>
        <p:nvSpPr>
          <p:cNvPr id="3104" name="Line 32"/>
          <p:cNvSpPr>
            <a:spLocks noChangeShapeType="1"/>
          </p:cNvSpPr>
          <p:nvPr/>
        </p:nvSpPr>
        <p:spPr bwMode="auto">
          <a:xfrm flipH="1">
            <a:off x="8053935" y="3025775"/>
            <a:ext cx="0" cy="2922588"/>
          </a:xfrm>
          <a:prstGeom prst="line">
            <a:avLst/>
          </a:prstGeom>
          <a:noFill/>
          <a:ln w="9525">
            <a:solidFill>
              <a:schemeClr val="tx1"/>
            </a:solidFill>
            <a:round/>
            <a:headEnd/>
            <a:tailEnd/>
          </a:ln>
          <a:effectLst/>
        </p:spPr>
        <p:txBody>
          <a:bodyPr/>
          <a:lstStyle/>
          <a:p>
            <a:endParaRPr lang="en-US"/>
          </a:p>
        </p:txBody>
      </p:sp>
      <p:sp>
        <p:nvSpPr>
          <p:cNvPr id="3105" name="Line 33"/>
          <p:cNvSpPr>
            <a:spLocks noChangeShapeType="1"/>
          </p:cNvSpPr>
          <p:nvPr/>
        </p:nvSpPr>
        <p:spPr bwMode="auto">
          <a:xfrm flipH="1">
            <a:off x="8538527" y="3362325"/>
            <a:ext cx="3677809" cy="0"/>
          </a:xfrm>
          <a:prstGeom prst="line">
            <a:avLst/>
          </a:prstGeom>
          <a:noFill/>
          <a:ln w="9525">
            <a:solidFill>
              <a:schemeClr val="tx1"/>
            </a:solidFill>
            <a:round/>
            <a:headEnd/>
            <a:tailEnd/>
          </a:ln>
          <a:effectLst/>
        </p:spPr>
        <p:txBody>
          <a:bodyPr/>
          <a:lstStyle/>
          <a:p>
            <a:endParaRPr lang="en-US"/>
          </a:p>
        </p:txBody>
      </p:sp>
      <p:sp>
        <p:nvSpPr>
          <p:cNvPr id="3106" name="Line 34"/>
          <p:cNvSpPr>
            <a:spLocks noChangeShapeType="1"/>
          </p:cNvSpPr>
          <p:nvPr/>
        </p:nvSpPr>
        <p:spPr bwMode="auto">
          <a:xfrm flipH="1">
            <a:off x="8538527" y="3363913"/>
            <a:ext cx="0" cy="2597150"/>
          </a:xfrm>
          <a:prstGeom prst="line">
            <a:avLst/>
          </a:prstGeom>
          <a:noFill/>
          <a:ln w="9525">
            <a:solidFill>
              <a:schemeClr val="tx1"/>
            </a:solidFill>
            <a:round/>
            <a:headEnd/>
            <a:tailEnd/>
          </a:ln>
          <a:effectLst/>
        </p:spPr>
        <p:txBody>
          <a:bodyPr/>
          <a:lstStyle/>
          <a:p>
            <a:endParaRPr lang="en-US"/>
          </a:p>
        </p:txBody>
      </p:sp>
      <p:sp>
        <p:nvSpPr>
          <p:cNvPr id="3107" name="Line 35"/>
          <p:cNvSpPr>
            <a:spLocks noChangeShapeType="1"/>
          </p:cNvSpPr>
          <p:nvPr/>
        </p:nvSpPr>
        <p:spPr bwMode="auto">
          <a:xfrm flipH="1">
            <a:off x="9023116" y="3700463"/>
            <a:ext cx="3193219" cy="0"/>
          </a:xfrm>
          <a:prstGeom prst="line">
            <a:avLst/>
          </a:prstGeom>
          <a:noFill/>
          <a:ln w="9525">
            <a:solidFill>
              <a:schemeClr val="tx1"/>
            </a:solidFill>
            <a:round/>
            <a:headEnd/>
            <a:tailEnd/>
          </a:ln>
          <a:effectLst/>
        </p:spPr>
        <p:txBody>
          <a:bodyPr/>
          <a:lstStyle/>
          <a:p>
            <a:endParaRPr lang="en-US"/>
          </a:p>
        </p:txBody>
      </p:sp>
      <p:sp>
        <p:nvSpPr>
          <p:cNvPr id="3109" name="Text Box 37"/>
          <p:cNvSpPr txBox="1">
            <a:spLocks noChangeArrowheads="1"/>
          </p:cNvSpPr>
          <p:nvPr/>
        </p:nvSpPr>
        <p:spPr bwMode="auto">
          <a:xfrm>
            <a:off x="16929" y="3733800"/>
            <a:ext cx="2911775"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Business Function/Process</a:t>
            </a:r>
          </a:p>
        </p:txBody>
      </p:sp>
      <p:sp>
        <p:nvSpPr>
          <p:cNvPr id="3110" name="Text Box 38"/>
          <p:cNvSpPr txBox="1">
            <a:spLocks noChangeArrowheads="1"/>
          </p:cNvSpPr>
          <p:nvPr/>
        </p:nvSpPr>
        <p:spPr bwMode="auto">
          <a:xfrm>
            <a:off x="6128270" y="1470025"/>
            <a:ext cx="6060555"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Program Goals / Objectives / Principles</a:t>
            </a:r>
          </a:p>
        </p:txBody>
      </p:sp>
      <p:sp>
        <p:nvSpPr>
          <p:cNvPr id="3111" name="Text Box 39"/>
          <p:cNvSpPr txBox="1">
            <a:spLocks noChangeArrowheads="1"/>
          </p:cNvSpPr>
          <p:nvPr/>
        </p:nvSpPr>
        <p:spPr bwMode="auto">
          <a:xfrm>
            <a:off x="0" y="1470025"/>
            <a:ext cx="4994032"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Goals / Objectives / Key Initiatives</a:t>
            </a:r>
          </a:p>
        </p:txBody>
      </p:sp>
      <p:sp>
        <p:nvSpPr>
          <p:cNvPr id="3112" name="Text Box 40"/>
          <p:cNvSpPr txBox="1">
            <a:spLocks noChangeArrowheads="1"/>
          </p:cNvSpPr>
          <p:nvPr/>
        </p:nvSpPr>
        <p:spPr bwMode="auto">
          <a:xfrm>
            <a:off x="42322" y="1701801"/>
            <a:ext cx="524797" cy="244475"/>
          </a:xfrm>
          <a:prstGeom prst="rect">
            <a:avLst/>
          </a:prstGeom>
          <a:noFill/>
          <a:ln w="9525">
            <a:noFill/>
            <a:miter lim="800000"/>
            <a:headEnd/>
            <a:tailEnd/>
          </a:ln>
          <a:effectLst/>
        </p:spPr>
        <p:txBody>
          <a:bodyPr>
            <a:spAutoFit/>
          </a:bodyPr>
          <a:lstStyle/>
          <a:p>
            <a:pPr>
              <a:spcBef>
                <a:spcPct val="50000"/>
              </a:spcBef>
            </a:pPr>
            <a:r>
              <a:rPr lang="en-US" sz="1000" b="1"/>
              <a:t>1)</a:t>
            </a:r>
          </a:p>
        </p:txBody>
      </p:sp>
      <p:sp>
        <p:nvSpPr>
          <p:cNvPr id="3113" name="Text Box 41"/>
          <p:cNvSpPr txBox="1">
            <a:spLocks noChangeArrowheads="1"/>
          </p:cNvSpPr>
          <p:nvPr/>
        </p:nvSpPr>
        <p:spPr bwMode="auto">
          <a:xfrm>
            <a:off x="42322" y="2070101"/>
            <a:ext cx="524797" cy="244475"/>
          </a:xfrm>
          <a:prstGeom prst="rect">
            <a:avLst/>
          </a:prstGeom>
          <a:noFill/>
          <a:ln w="9525">
            <a:noFill/>
            <a:miter lim="800000"/>
            <a:headEnd/>
            <a:tailEnd/>
          </a:ln>
          <a:effectLst/>
        </p:spPr>
        <p:txBody>
          <a:bodyPr>
            <a:spAutoFit/>
          </a:bodyPr>
          <a:lstStyle/>
          <a:p>
            <a:pPr>
              <a:spcBef>
                <a:spcPct val="50000"/>
              </a:spcBef>
            </a:pPr>
            <a:r>
              <a:rPr lang="en-US" sz="1000" b="1"/>
              <a:t>2)</a:t>
            </a:r>
          </a:p>
        </p:txBody>
      </p:sp>
      <p:sp>
        <p:nvSpPr>
          <p:cNvPr id="3114" name="Text Box 42"/>
          <p:cNvSpPr txBox="1">
            <a:spLocks noChangeArrowheads="1"/>
          </p:cNvSpPr>
          <p:nvPr/>
        </p:nvSpPr>
        <p:spPr bwMode="auto">
          <a:xfrm>
            <a:off x="42322" y="2387601"/>
            <a:ext cx="524797" cy="244475"/>
          </a:xfrm>
          <a:prstGeom prst="rect">
            <a:avLst/>
          </a:prstGeom>
          <a:noFill/>
          <a:ln w="9525">
            <a:noFill/>
            <a:miter lim="800000"/>
            <a:headEnd/>
            <a:tailEnd/>
          </a:ln>
          <a:effectLst/>
        </p:spPr>
        <p:txBody>
          <a:bodyPr>
            <a:spAutoFit/>
          </a:bodyPr>
          <a:lstStyle/>
          <a:p>
            <a:pPr>
              <a:spcBef>
                <a:spcPct val="50000"/>
              </a:spcBef>
            </a:pPr>
            <a:r>
              <a:rPr lang="en-US" sz="1000" b="1"/>
              <a:t>3)</a:t>
            </a:r>
          </a:p>
        </p:txBody>
      </p:sp>
      <p:sp>
        <p:nvSpPr>
          <p:cNvPr id="3115" name="Text Box 43"/>
          <p:cNvSpPr txBox="1">
            <a:spLocks noChangeArrowheads="1"/>
          </p:cNvSpPr>
          <p:nvPr/>
        </p:nvSpPr>
        <p:spPr bwMode="auto">
          <a:xfrm>
            <a:off x="42322" y="2730501"/>
            <a:ext cx="524797" cy="244475"/>
          </a:xfrm>
          <a:prstGeom prst="rect">
            <a:avLst/>
          </a:prstGeom>
          <a:noFill/>
          <a:ln w="9525">
            <a:noFill/>
            <a:miter lim="800000"/>
            <a:headEnd/>
            <a:tailEnd/>
          </a:ln>
          <a:effectLst/>
        </p:spPr>
        <p:txBody>
          <a:bodyPr>
            <a:spAutoFit/>
          </a:bodyPr>
          <a:lstStyle/>
          <a:p>
            <a:pPr>
              <a:spcBef>
                <a:spcPct val="50000"/>
              </a:spcBef>
            </a:pPr>
            <a:r>
              <a:rPr lang="en-US" sz="1000" b="1"/>
              <a:t>4)</a:t>
            </a:r>
          </a:p>
        </p:txBody>
      </p:sp>
      <p:sp>
        <p:nvSpPr>
          <p:cNvPr id="3116" name="Text Box 44"/>
          <p:cNvSpPr txBox="1">
            <a:spLocks noChangeArrowheads="1"/>
          </p:cNvSpPr>
          <p:nvPr/>
        </p:nvSpPr>
        <p:spPr bwMode="auto">
          <a:xfrm>
            <a:off x="42322" y="3073401"/>
            <a:ext cx="524797" cy="244475"/>
          </a:xfrm>
          <a:prstGeom prst="rect">
            <a:avLst/>
          </a:prstGeom>
          <a:noFill/>
          <a:ln w="9525">
            <a:noFill/>
            <a:miter lim="800000"/>
            <a:headEnd/>
            <a:tailEnd/>
          </a:ln>
          <a:effectLst/>
        </p:spPr>
        <p:txBody>
          <a:bodyPr>
            <a:spAutoFit/>
          </a:bodyPr>
          <a:lstStyle/>
          <a:p>
            <a:pPr>
              <a:spcBef>
                <a:spcPct val="50000"/>
              </a:spcBef>
            </a:pPr>
            <a:r>
              <a:rPr lang="en-US" sz="1000" b="1"/>
              <a:t>5)</a:t>
            </a:r>
          </a:p>
        </p:txBody>
      </p:sp>
      <p:sp>
        <p:nvSpPr>
          <p:cNvPr id="3117" name="Text Box 45"/>
          <p:cNvSpPr txBox="1">
            <a:spLocks noChangeArrowheads="1"/>
          </p:cNvSpPr>
          <p:nvPr/>
        </p:nvSpPr>
        <p:spPr bwMode="auto">
          <a:xfrm>
            <a:off x="42322" y="3416301"/>
            <a:ext cx="524797" cy="244475"/>
          </a:xfrm>
          <a:prstGeom prst="rect">
            <a:avLst/>
          </a:prstGeom>
          <a:noFill/>
          <a:ln w="9525">
            <a:noFill/>
            <a:miter lim="800000"/>
            <a:headEnd/>
            <a:tailEnd/>
          </a:ln>
          <a:effectLst/>
        </p:spPr>
        <p:txBody>
          <a:bodyPr>
            <a:spAutoFit/>
          </a:bodyPr>
          <a:lstStyle/>
          <a:p>
            <a:pPr>
              <a:spcBef>
                <a:spcPct val="50000"/>
              </a:spcBef>
            </a:pPr>
            <a:r>
              <a:rPr lang="en-US" sz="1000" b="1"/>
              <a:t>6)</a:t>
            </a:r>
          </a:p>
        </p:txBody>
      </p:sp>
      <p:sp>
        <p:nvSpPr>
          <p:cNvPr id="3118" name="Text Box 46"/>
          <p:cNvSpPr txBox="1">
            <a:spLocks noChangeArrowheads="1"/>
          </p:cNvSpPr>
          <p:nvPr/>
        </p:nvSpPr>
        <p:spPr bwMode="auto">
          <a:xfrm>
            <a:off x="6119806" y="1752601"/>
            <a:ext cx="524797" cy="244475"/>
          </a:xfrm>
          <a:prstGeom prst="rect">
            <a:avLst/>
          </a:prstGeom>
          <a:noFill/>
          <a:ln w="9525">
            <a:noFill/>
            <a:miter lim="800000"/>
            <a:headEnd/>
            <a:tailEnd/>
          </a:ln>
          <a:effectLst/>
        </p:spPr>
        <p:txBody>
          <a:bodyPr>
            <a:spAutoFit/>
          </a:bodyPr>
          <a:lstStyle/>
          <a:p>
            <a:pPr algn="ctr">
              <a:spcBef>
                <a:spcPct val="50000"/>
              </a:spcBef>
            </a:pPr>
            <a:r>
              <a:rPr lang="en-US" sz="1000" b="1"/>
              <a:t>1)</a:t>
            </a:r>
          </a:p>
        </p:txBody>
      </p:sp>
      <p:sp>
        <p:nvSpPr>
          <p:cNvPr id="3119" name="Text Box 47"/>
          <p:cNvSpPr txBox="1">
            <a:spLocks noChangeArrowheads="1"/>
          </p:cNvSpPr>
          <p:nvPr/>
        </p:nvSpPr>
        <p:spPr bwMode="auto">
          <a:xfrm>
            <a:off x="6627673" y="2057401"/>
            <a:ext cx="524797" cy="244475"/>
          </a:xfrm>
          <a:prstGeom prst="rect">
            <a:avLst/>
          </a:prstGeom>
          <a:noFill/>
          <a:ln w="9525">
            <a:noFill/>
            <a:miter lim="800000"/>
            <a:headEnd/>
            <a:tailEnd/>
          </a:ln>
          <a:effectLst/>
        </p:spPr>
        <p:txBody>
          <a:bodyPr>
            <a:spAutoFit/>
          </a:bodyPr>
          <a:lstStyle/>
          <a:p>
            <a:pPr algn="ctr">
              <a:spcBef>
                <a:spcPct val="50000"/>
              </a:spcBef>
            </a:pPr>
            <a:r>
              <a:rPr lang="en-US" sz="1000" b="1"/>
              <a:t>2)</a:t>
            </a:r>
          </a:p>
        </p:txBody>
      </p:sp>
      <p:sp>
        <p:nvSpPr>
          <p:cNvPr id="3120" name="Text Box 48"/>
          <p:cNvSpPr txBox="1">
            <a:spLocks noChangeArrowheads="1"/>
          </p:cNvSpPr>
          <p:nvPr/>
        </p:nvSpPr>
        <p:spPr bwMode="auto">
          <a:xfrm>
            <a:off x="7118612" y="2387601"/>
            <a:ext cx="524797" cy="244475"/>
          </a:xfrm>
          <a:prstGeom prst="rect">
            <a:avLst/>
          </a:prstGeom>
          <a:noFill/>
          <a:ln w="9525">
            <a:noFill/>
            <a:miter lim="800000"/>
            <a:headEnd/>
            <a:tailEnd/>
          </a:ln>
          <a:effectLst/>
        </p:spPr>
        <p:txBody>
          <a:bodyPr>
            <a:spAutoFit/>
          </a:bodyPr>
          <a:lstStyle/>
          <a:p>
            <a:pPr algn="ctr">
              <a:spcBef>
                <a:spcPct val="50000"/>
              </a:spcBef>
            </a:pPr>
            <a:r>
              <a:rPr lang="en-US" sz="1000" b="1"/>
              <a:t>3)</a:t>
            </a:r>
          </a:p>
        </p:txBody>
      </p:sp>
      <p:sp>
        <p:nvSpPr>
          <p:cNvPr id="3121" name="Text Box 49"/>
          <p:cNvSpPr txBox="1">
            <a:spLocks noChangeArrowheads="1"/>
          </p:cNvSpPr>
          <p:nvPr/>
        </p:nvSpPr>
        <p:spPr bwMode="auto">
          <a:xfrm>
            <a:off x="7592622" y="2730501"/>
            <a:ext cx="524797" cy="244475"/>
          </a:xfrm>
          <a:prstGeom prst="rect">
            <a:avLst/>
          </a:prstGeom>
          <a:noFill/>
          <a:ln w="9525">
            <a:noFill/>
            <a:miter lim="800000"/>
            <a:headEnd/>
            <a:tailEnd/>
          </a:ln>
          <a:effectLst/>
        </p:spPr>
        <p:txBody>
          <a:bodyPr>
            <a:spAutoFit/>
          </a:bodyPr>
          <a:lstStyle/>
          <a:p>
            <a:pPr algn="ctr">
              <a:spcBef>
                <a:spcPct val="50000"/>
              </a:spcBef>
            </a:pPr>
            <a:r>
              <a:rPr lang="en-US" sz="1000" b="1"/>
              <a:t>4)</a:t>
            </a:r>
          </a:p>
        </p:txBody>
      </p:sp>
      <p:sp>
        <p:nvSpPr>
          <p:cNvPr id="3122" name="Text Box 50"/>
          <p:cNvSpPr txBox="1">
            <a:spLocks noChangeArrowheads="1"/>
          </p:cNvSpPr>
          <p:nvPr/>
        </p:nvSpPr>
        <p:spPr bwMode="auto">
          <a:xfrm>
            <a:off x="8066632" y="3035301"/>
            <a:ext cx="524797" cy="244475"/>
          </a:xfrm>
          <a:prstGeom prst="rect">
            <a:avLst/>
          </a:prstGeom>
          <a:noFill/>
          <a:ln w="9525">
            <a:noFill/>
            <a:miter lim="800000"/>
            <a:headEnd/>
            <a:tailEnd/>
          </a:ln>
          <a:effectLst/>
        </p:spPr>
        <p:txBody>
          <a:bodyPr>
            <a:spAutoFit/>
          </a:bodyPr>
          <a:lstStyle/>
          <a:p>
            <a:pPr algn="ctr">
              <a:spcBef>
                <a:spcPct val="50000"/>
              </a:spcBef>
            </a:pPr>
            <a:r>
              <a:rPr lang="en-US" sz="1000" b="1"/>
              <a:t>5)</a:t>
            </a:r>
          </a:p>
        </p:txBody>
      </p:sp>
      <p:sp>
        <p:nvSpPr>
          <p:cNvPr id="3123" name="Text Box 51"/>
          <p:cNvSpPr txBox="1">
            <a:spLocks noChangeArrowheads="1"/>
          </p:cNvSpPr>
          <p:nvPr/>
        </p:nvSpPr>
        <p:spPr bwMode="auto">
          <a:xfrm>
            <a:off x="8574500" y="3340101"/>
            <a:ext cx="524797" cy="244475"/>
          </a:xfrm>
          <a:prstGeom prst="rect">
            <a:avLst/>
          </a:prstGeom>
          <a:noFill/>
          <a:ln w="9525">
            <a:noFill/>
            <a:miter lim="800000"/>
            <a:headEnd/>
            <a:tailEnd/>
          </a:ln>
          <a:effectLst/>
        </p:spPr>
        <p:txBody>
          <a:bodyPr>
            <a:spAutoFit/>
          </a:bodyPr>
          <a:lstStyle/>
          <a:p>
            <a:pPr algn="ctr">
              <a:spcBef>
                <a:spcPct val="50000"/>
              </a:spcBef>
            </a:pPr>
            <a:r>
              <a:rPr lang="en-US" sz="1000" b="1"/>
              <a:t>6)</a:t>
            </a:r>
          </a:p>
        </p:txBody>
      </p:sp>
      <p:sp>
        <p:nvSpPr>
          <p:cNvPr id="3124" name="Text Box 52"/>
          <p:cNvSpPr txBox="1">
            <a:spLocks noChangeArrowheads="1"/>
          </p:cNvSpPr>
          <p:nvPr/>
        </p:nvSpPr>
        <p:spPr bwMode="auto">
          <a:xfrm>
            <a:off x="12697" y="1163638"/>
            <a:ext cx="1574390"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Customer</a:t>
            </a:r>
          </a:p>
        </p:txBody>
      </p:sp>
      <p:sp>
        <p:nvSpPr>
          <p:cNvPr id="3125" name="Text Box 53"/>
          <p:cNvSpPr txBox="1">
            <a:spLocks noChangeArrowheads="1"/>
          </p:cNvSpPr>
          <p:nvPr/>
        </p:nvSpPr>
        <p:spPr bwMode="auto">
          <a:xfrm>
            <a:off x="0" y="4025900"/>
            <a:ext cx="524797" cy="244475"/>
          </a:xfrm>
          <a:prstGeom prst="rect">
            <a:avLst/>
          </a:prstGeom>
          <a:noFill/>
          <a:ln w="9525">
            <a:noFill/>
            <a:miter lim="800000"/>
            <a:headEnd/>
            <a:tailEnd/>
          </a:ln>
          <a:effectLst/>
        </p:spPr>
        <p:txBody>
          <a:bodyPr>
            <a:spAutoFit/>
          </a:bodyPr>
          <a:lstStyle/>
          <a:p>
            <a:pPr algn="ctr">
              <a:spcBef>
                <a:spcPct val="50000"/>
              </a:spcBef>
            </a:pPr>
            <a:r>
              <a:rPr lang="en-US" sz="1000" b="1"/>
              <a:t>1)</a:t>
            </a:r>
          </a:p>
        </p:txBody>
      </p:sp>
      <p:sp>
        <p:nvSpPr>
          <p:cNvPr id="3126" name="Text Box 54"/>
          <p:cNvSpPr txBox="1">
            <a:spLocks noChangeArrowheads="1"/>
          </p:cNvSpPr>
          <p:nvPr/>
        </p:nvSpPr>
        <p:spPr bwMode="auto">
          <a:xfrm>
            <a:off x="0" y="4348164"/>
            <a:ext cx="524797" cy="244475"/>
          </a:xfrm>
          <a:prstGeom prst="rect">
            <a:avLst/>
          </a:prstGeom>
          <a:noFill/>
          <a:ln w="9525">
            <a:noFill/>
            <a:miter lim="800000"/>
            <a:headEnd/>
            <a:tailEnd/>
          </a:ln>
          <a:effectLst/>
        </p:spPr>
        <p:txBody>
          <a:bodyPr>
            <a:spAutoFit/>
          </a:bodyPr>
          <a:lstStyle/>
          <a:p>
            <a:pPr algn="ctr">
              <a:spcBef>
                <a:spcPct val="50000"/>
              </a:spcBef>
            </a:pPr>
            <a:r>
              <a:rPr lang="en-US" sz="1000" b="1"/>
              <a:t>2)</a:t>
            </a:r>
          </a:p>
        </p:txBody>
      </p:sp>
      <p:sp>
        <p:nvSpPr>
          <p:cNvPr id="3127" name="Text Box 55"/>
          <p:cNvSpPr txBox="1">
            <a:spLocks noChangeArrowheads="1"/>
          </p:cNvSpPr>
          <p:nvPr/>
        </p:nvSpPr>
        <p:spPr bwMode="auto">
          <a:xfrm>
            <a:off x="0" y="4670426"/>
            <a:ext cx="524797" cy="244475"/>
          </a:xfrm>
          <a:prstGeom prst="rect">
            <a:avLst/>
          </a:prstGeom>
          <a:noFill/>
          <a:ln w="9525">
            <a:noFill/>
            <a:miter lim="800000"/>
            <a:headEnd/>
            <a:tailEnd/>
          </a:ln>
          <a:effectLst/>
        </p:spPr>
        <p:txBody>
          <a:bodyPr>
            <a:spAutoFit/>
          </a:bodyPr>
          <a:lstStyle/>
          <a:p>
            <a:pPr algn="ctr">
              <a:spcBef>
                <a:spcPct val="50000"/>
              </a:spcBef>
            </a:pPr>
            <a:r>
              <a:rPr lang="en-US" sz="1000" b="1"/>
              <a:t>3)</a:t>
            </a:r>
          </a:p>
        </p:txBody>
      </p:sp>
      <p:sp>
        <p:nvSpPr>
          <p:cNvPr id="3128" name="Text Box 56"/>
          <p:cNvSpPr txBox="1">
            <a:spLocks noChangeArrowheads="1"/>
          </p:cNvSpPr>
          <p:nvPr/>
        </p:nvSpPr>
        <p:spPr bwMode="auto">
          <a:xfrm>
            <a:off x="0" y="4992689"/>
            <a:ext cx="524797" cy="244475"/>
          </a:xfrm>
          <a:prstGeom prst="rect">
            <a:avLst/>
          </a:prstGeom>
          <a:noFill/>
          <a:ln w="9525">
            <a:noFill/>
            <a:miter lim="800000"/>
            <a:headEnd/>
            <a:tailEnd/>
          </a:ln>
          <a:effectLst/>
        </p:spPr>
        <p:txBody>
          <a:bodyPr>
            <a:spAutoFit/>
          </a:bodyPr>
          <a:lstStyle/>
          <a:p>
            <a:pPr algn="ctr">
              <a:spcBef>
                <a:spcPct val="50000"/>
              </a:spcBef>
            </a:pPr>
            <a:r>
              <a:rPr lang="en-US" sz="1000" b="1"/>
              <a:t>4)</a:t>
            </a:r>
          </a:p>
        </p:txBody>
      </p:sp>
      <p:sp>
        <p:nvSpPr>
          <p:cNvPr id="3129" name="Text Box 57"/>
          <p:cNvSpPr txBox="1">
            <a:spLocks noChangeArrowheads="1"/>
          </p:cNvSpPr>
          <p:nvPr/>
        </p:nvSpPr>
        <p:spPr bwMode="auto">
          <a:xfrm>
            <a:off x="0" y="5314951"/>
            <a:ext cx="524797" cy="244475"/>
          </a:xfrm>
          <a:prstGeom prst="rect">
            <a:avLst/>
          </a:prstGeom>
          <a:noFill/>
          <a:ln w="9525">
            <a:noFill/>
            <a:miter lim="800000"/>
            <a:headEnd/>
            <a:tailEnd/>
          </a:ln>
          <a:effectLst/>
        </p:spPr>
        <p:txBody>
          <a:bodyPr>
            <a:spAutoFit/>
          </a:bodyPr>
          <a:lstStyle/>
          <a:p>
            <a:pPr algn="ctr">
              <a:spcBef>
                <a:spcPct val="50000"/>
              </a:spcBef>
            </a:pPr>
            <a:r>
              <a:rPr lang="en-US" sz="1000" b="1"/>
              <a:t>5)</a:t>
            </a:r>
          </a:p>
        </p:txBody>
      </p:sp>
      <p:sp>
        <p:nvSpPr>
          <p:cNvPr id="3130" name="Text Box 58"/>
          <p:cNvSpPr txBox="1">
            <a:spLocks noChangeArrowheads="1"/>
          </p:cNvSpPr>
          <p:nvPr/>
        </p:nvSpPr>
        <p:spPr bwMode="auto">
          <a:xfrm>
            <a:off x="0" y="5638801"/>
            <a:ext cx="524797" cy="244475"/>
          </a:xfrm>
          <a:prstGeom prst="rect">
            <a:avLst/>
          </a:prstGeom>
          <a:noFill/>
          <a:ln w="9525">
            <a:noFill/>
            <a:miter lim="800000"/>
            <a:headEnd/>
            <a:tailEnd/>
          </a:ln>
          <a:effectLst/>
        </p:spPr>
        <p:txBody>
          <a:bodyPr>
            <a:spAutoFit/>
          </a:bodyPr>
          <a:lstStyle/>
          <a:p>
            <a:pPr algn="ctr">
              <a:spcBef>
                <a:spcPct val="50000"/>
              </a:spcBef>
            </a:pPr>
            <a:r>
              <a:rPr lang="en-US" sz="1000" b="1"/>
              <a:t>6)</a:t>
            </a:r>
          </a:p>
        </p:txBody>
      </p:sp>
      <p:sp>
        <p:nvSpPr>
          <p:cNvPr id="3131" name="Line 59"/>
          <p:cNvSpPr>
            <a:spLocks noChangeShapeType="1"/>
          </p:cNvSpPr>
          <p:nvPr/>
        </p:nvSpPr>
        <p:spPr bwMode="auto">
          <a:xfrm flipH="1">
            <a:off x="1944711" y="1131888"/>
            <a:ext cx="0" cy="273050"/>
          </a:xfrm>
          <a:prstGeom prst="line">
            <a:avLst/>
          </a:prstGeom>
          <a:noFill/>
          <a:ln w="9525">
            <a:solidFill>
              <a:schemeClr val="tx1"/>
            </a:solidFill>
            <a:round/>
            <a:headEnd/>
            <a:tailEnd/>
          </a:ln>
          <a:effectLst/>
        </p:spPr>
        <p:txBody>
          <a:bodyPr anchor="ctr">
            <a:spAutoFit/>
          </a:bodyPr>
          <a:lstStyle/>
          <a:p>
            <a:endParaRPr lang="en-US"/>
          </a:p>
        </p:txBody>
      </p:sp>
      <p:grpSp>
        <p:nvGrpSpPr>
          <p:cNvPr id="2" name="Group 61"/>
          <p:cNvGrpSpPr>
            <a:grpSpLocks/>
          </p:cNvGrpSpPr>
          <p:nvPr/>
        </p:nvGrpSpPr>
        <p:grpSpPr bwMode="auto">
          <a:xfrm>
            <a:off x="448616" y="1774826"/>
            <a:ext cx="4689312" cy="887413"/>
            <a:chOff x="212" y="1118"/>
            <a:chExt cx="2216" cy="559"/>
          </a:xfrm>
        </p:grpSpPr>
        <p:sp>
          <p:nvSpPr>
            <p:cNvPr id="3134" name="Text Box 62"/>
            <p:cNvSpPr txBox="1">
              <a:spLocks noChangeArrowheads="1"/>
            </p:cNvSpPr>
            <p:nvPr/>
          </p:nvSpPr>
          <p:spPr bwMode="auto">
            <a:xfrm>
              <a:off x="220" y="1118"/>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Industry Standard Operational Costs</a:t>
              </a:r>
              <a:endParaRPr lang="en-US" sz="1200" b="1">
                <a:solidFill>
                  <a:srgbClr val="FF0000"/>
                </a:solidFill>
              </a:endParaRPr>
            </a:p>
          </p:txBody>
        </p:sp>
        <p:sp>
          <p:nvSpPr>
            <p:cNvPr id="3135" name="Text Box 63"/>
            <p:cNvSpPr txBox="1">
              <a:spLocks noChangeArrowheads="1"/>
            </p:cNvSpPr>
            <p:nvPr/>
          </p:nvSpPr>
          <p:spPr bwMode="auto">
            <a:xfrm>
              <a:off x="220" y="1310"/>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dirty="0">
                  <a:solidFill>
                    <a:srgbClr val="FF0000"/>
                  </a:solidFill>
                </a:rPr>
                <a:t>Hire and Retain Best and Brightest People</a:t>
              </a:r>
              <a:endParaRPr lang="en-US" sz="1200" b="1" dirty="0">
                <a:solidFill>
                  <a:srgbClr val="FF0000"/>
                </a:solidFill>
              </a:endParaRPr>
            </a:p>
          </p:txBody>
        </p:sp>
        <p:sp>
          <p:nvSpPr>
            <p:cNvPr id="3136" name="Text Box 64"/>
            <p:cNvSpPr txBox="1">
              <a:spLocks noChangeArrowheads="1"/>
            </p:cNvSpPr>
            <p:nvPr/>
          </p:nvSpPr>
          <p:spPr bwMode="auto">
            <a:xfrm>
              <a:off x="212" y="1521"/>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Consulting Leadership</a:t>
              </a:r>
              <a:endParaRPr lang="en-US" sz="1200" b="1">
                <a:solidFill>
                  <a:srgbClr val="FF0000"/>
                </a:solidFill>
              </a:endParaRPr>
            </a:p>
          </p:txBody>
        </p:sp>
      </p:grpSp>
      <p:grpSp>
        <p:nvGrpSpPr>
          <p:cNvPr id="3" name="Group 65"/>
          <p:cNvGrpSpPr>
            <a:grpSpLocks/>
          </p:cNvGrpSpPr>
          <p:nvPr/>
        </p:nvGrpSpPr>
        <p:grpSpPr bwMode="auto">
          <a:xfrm>
            <a:off x="330114" y="4040188"/>
            <a:ext cx="4697776" cy="1574800"/>
            <a:chOff x="156" y="2545"/>
            <a:chExt cx="2220" cy="992"/>
          </a:xfrm>
        </p:grpSpPr>
        <p:sp>
          <p:nvSpPr>
            <p:cNvPr id="3138" name="Text Box 66"/>
            <p:cNvSpPr txBox="1">
              <a:spLocks noChangeArrowheads="1"/>
            </p:cNvSpPr>
            <p:nvPr/>
          </p:nvSpPr>
          <p:spPr bwMode="auto">
            <a:xfrm>
              <a:off x="168" y="3185"/>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HR Management</a:t>
              </a:r>
            </a:p>
          </p:txBody>
        </p:sp>
        <p:sp>
          <p:nvSpPr>
            <p:cNvPr id="3139" name="Text Box 67"/>
            <p:cNvSpPr txBox="1">
              <a:spLocks noChangeArrowheads="1"/>
            </p:cNvSpPr>
            <p:nvPr/>
          </p:nvSpPr>
          <p:spPr bwMode="auto">
            <a:xfrm>
              <a:off x="168" y="2965"/>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Customer Service</a:t>
              </a:r>
            </a:p>
          </p:txBody>
        </p:sp>
        <p:sp>
          <p:nvSpPr>
            <p:cNvPr id="3140" name="Text Box 68"/>
            <p:cNvSpPr txBox="1">
              <a:spLocks noChangeArrowheads="1"/>
            </p:cNvSpPr>
            <p:nvPr/>
          </p:nvSpPr>
          <p:spPr bwMode="auto">
            <a:xfrm>
              <a:off x="168" y="2749"/>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Customer Orders</a:t>
              </a:r>
            </a:p>
          </p:txBody>
        </p:sp>
        <p:sp>
          <p:nvSpPr>
            <p:cNvPr id="3141" name="Text Box 69"/>
            <p:cNvSpPr txBox="1">
              <a:spLocks noChangeArrowheads="1"/>
            </p:cNvSpPr>
            <p:nvPr/>
          </p:nvSpPr>
          <p:spPr bwMode="auto">
            <a:xfrm>
              <a:off x="168" y="2545"/>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Thought Leadership</a:t>
              </a:r>
              <a:endParaRPr lang="en-US" sz="1200" b="1">
                <a:solidFill>
                  <a:srgbClr val="FF0000"/>
                </a:solidFill>
              </a:endParaRPr>
            </a:p>
          </p:txBody>
        </p:sp>
        <p:sp>
          <p:nvSpPr>
            <p:cNvPr id="3142" name="Text Box 70"/>
            <p:cNvSpPr txBox="1">
              <a:spLocks noChangeArrowheads="1"/>
            </p:cNvSpPr>
            <p:nvPr/>
          </p:nvSpPr>
          <p:spPr bwMode="auto">
            <a:xfrm>
              <a:off x="156" y="3381"/>
              <a:ext cx="1290"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Expense Management</a:t>
              </a:r>
            </a:p>
          </p:txBody>
        </p:sp>
      </p:grpSp>
      <p:sp>
        <p:nvSpPr>
          <p:cNvPr id="3144" name="Text Box 72"/>
          <p:cNvSpPr txBox="1">
            <a:spLocks noChangeArrowheads="1"/>
          </p:cNvSpPr>
          <p:nvPr/>
        </p:nvSpPr>
        <p:spPr bwMode="auto">
          <a:xfrm>
            <a:off x="9128923" y="3689350"/>
            <a:ext cx="3059903"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Value Alignment</a:t>
            </a:r>
          </a:p>
        </p:txBody>
      </p:sp>
      <p:grpSp>
        <p:nvGrpSpPr>
          <p:cNvPr id="4" name="Group 73"/>
          <p:cNvGrpSpPr>
            <a:grpSpLocks/>
          </p:cNvGrpSpPr>
          <p:nvPr/>
        </p:nvGrpSpPr>
        <p:grpSpPr bwMode="auto">
          <a:xfrm>
            <a:off x="4685080" y="3702051"/>
            <a:ext cx="4338037" cy="2265363"/>
            <a:chOff x="2214" y="2332"/>
            <a:chExt cx="2050" cy="1427"/>
          </a:xfrm>
        </p:grpSpPr>
        <p:sp>
          <p:nvSpPr>
            <p:cNvPr id="3146" name="Line 74"/>
            <p:cNvSpPr>
              <a:spLocks noChangeShapeType="1"/>
            </p:cNvSpPr>
            <p:nvPr/>
          </p:nvSpPr>
          <p:spPr bwMode="auto">
            <a:xfrm flipH="1">
              <a:off x="4264" y="2332"/>
              <a:ext cx="0" cy="1427"/>
            </a:xfrm>
            <a:prstGeom prst="line">
              <a:avLst/>
            </a:prstGeom>
            <a:noFill/>
            <a:ln w="9525">
              <a:solidFill>
                <a:schemeClr val="tx1"/>
              </a:solidFill>
              <a:round/>
              <a:headEnd/>
              <a:tailEnd/>
            </a:ln>
            <a:effectLst/>
          </p:spPr>
          <p:txBody>
            <a:bodyPr/>
            <a:lstStyle/>
            <a:p>
              <a:endParaRPr lang="en-US"/>
            </a:p>
          </p:txBody>
        </p:sp>
        <p:sp>
          <p:nvSpPr>
            <p:cNvPr id="3147" name="Text Box 75"/>
            <p:cNvSpPr txBox="1">
              <a:spLocks noChangeArrowheads="1"/>
            </p:cNvSpPr>
            <p:nvPr/>
          </p:nvSpPr>
          <p:spPr bwMode="auto">
            <a:xfrm>
              <a:off x="3377" y="2512"/>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4</a:t>
              </a:r>
            </a:p>
          </p:txBody>
        </p:sp>
        <p:sp>
          <p:nvSpPr>
            <p:cNvPr id="3148" name="Text Box 76"/>
            <p:cNvSpPr txBox="1">
              <a:spLocks noChangeArrowheads="1"/>
            </p:cNvSpPr>
            <p:nvPr/>
          </p:nvSpPr>
          <p:spPr bwMode="auto">
            <a:xfrm>
              <a:off x="3606" y="2510"/>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49" name="Text Box 77"/>
            <p:cNvSpPr txBox="1">
              <a:spLocks noChangeArrowheads="1"/>
            </p:cNvSpPr>
            <p:nvPr/>
          </p:nvSpPr>
          <p:spPr bwMode="auto">
            <a:xfrm>
              <a:off x="2687" y="2725"/>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50" name="Text Box 78"/>
            <p:cNvSpPr txBox="1">
              <a:spLocks noChangeArrowheads="1"/>
            </p:cNvSpPr>
            <p:nvPr/>
          </p:nvSpPr>
          <p:spPr bwMode="auto">
            <a:xfrm>
              <a:off x="2446" y="3150"/>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51" name="Text Box 79"/>
            <p:cNvSpPr txBox="1">
              <a:spLocks noChangeArrowheads="1"/>
            </p:cNvSpPr>
            <p:nvPr/>
          </p:nvSpPr>
          <p:spPr bwMode="auto">
            <a:xfrm>
              <a:off x="2214" y="2939"/>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52" name="Text Box 80"/>
            <p:cNvSpPr txBox="1">
              <a:spLocks noChangeArrowheads="1"/>
            </p:cNvSpPr>
            <p:nvPr/>
          </p:nvSpPr>
          <p:spPr bwMode="auto">
            <a:xfrm>
              <a:off x="2908" y="3350"/>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5</a:t>
              </a:r>
            </a:p>
          </p:txBody>
        </p:sp>
        <p:sp>
          <p:nvSpPr>
            <p:cNvPr id="3153" name="Text Box 81"/>
            <p:cNvSpPr txBox="1">
              <a:spLocks noChangeArrowheads="1"/>
            </p:cNvSpPr>
            <p:nvPr/>
          </p:nvSpPr>
          <p:spPr bwMode="auto">
            <a:xfrm>
              <a:off x="3819" y="3355"/>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grpSp>
      <p:grpSp>
        <p:nvGrpSpPr>
          <p:cNvPr id="5" name="Group 82"/>
          <p:cNvGrpSpPr>
            <a:grpSpLocks/>
          </p:cNvGrpSpPr>
          <p:nvPr/>
        </p:nvGrpSpPr>
        <p:grpSpPr bwMode="auto">
          <a:xfrm>
            <a:off x="6513404" y="1773239"/>
            <a:ext cx="5497668" cy="1870075"/>
            <a:chOff x="3078" y="1117"/>
            <a:chExt cx="2598" cy="1178"/>
          </a:xfrm>
        </p:grpSpPr>
        <p:sp>
          <p:nvSpPr>
            <p:cNvPr id="3155" name="Text Box 83"/>
            <p:cNvSpPr txBox="1">
              <a:spLocks noChangeArrowheads="1"/>
            </p:cNvSpPr>
            <p:nvPr/>
          </p:nvSpPr>
          <p:spPr bwMode="auto">
            <a:xfrm>
              <a:off x="3780" y="1725"/>
              <a:ext cx="1896"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Improve Competitive Analysis</a:t>
              </a:r>
            </a:p>
          </p:txBody>
        </p:sp>
        <p:sp>
          <p:nvSpPr>
            <p:cNvPr id="3156" name="Text Box 84"/>
            <p:cNvSpPr txBox="1">
              <a:spLocks noChangeArrowheads="1"/>
            </p:cNvSpPr>
            <p:nvPr/>
          </p:nvSpPr>
          <p:spPr bwMode="auto">
            <a:xfrm>
              <a:off x="3552" y="1521"/>
              <a:ext cx="1710"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Improve Service Offering Mix</a:t>
              </a:r>
              <a:endParaRPr lang="en-US" sz="1200" b="1">
                <a:solidFill>
                  <a:srgbClr val="FF0000"/>
                </a:solidFill>
              </a:endParaRPr>
            </a:p>
          </p:txBody>
        </p:sp>
        <p:sp>
          <p:nvSpPr>
            <p:cNvPr id="3157" name="Text Box 85"/>
            <p:cNvSpPr txBox="1">
              <a:spLocks noChangeArrowheads="1"/>
            </p:cNvSpPr>
            <p:nvPr/>
          </p:nvSpPr>
          <p:spPr bwMode="auto">
            <a:xfrm>
              <a:off x="3306" y="1307"/>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Reduce Cost of Sales</a:t>
              </a:r>
            </a:p>
          </p:txBody>
        </p:sp>
        <p:sp>
          <p:nvSpPr>
            <p:cNvPr id="3158" name="Text Box 86"/>
            <p:cNvSpPr txBox="1">
              <a:spLocks noChangeArrowheads="1"/>
            </p:cNvSpPr>
            <p:nvPr/>
          </p:nvSpPr>
          <p:spPr bwMode="auto">
            <a:xfrm>
              <a:off x="3078" y="1117"/>
              <a:ext cx="2208"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Streamline Consulting Expenses</a:t>
              </a:r>
              <a:endParaRPr lang="en-US" sz="1200" b="1">
                <a:solidFill>
                  <a:srgbClr val="FF0000"/>
                </a:solidFill>
              </a:endParaRPr>
            </a:p>
          </p:txBody>
        </p:sp>
        <p:sp>
          <p:nvSpPr>
            <p:cNvPr id="3159" name="Text Box 87"/>
            <p:cNvSpPr txBox="1">
              <a:spLocks noChangeArrowheads="1"/>
            </p:cNvSpPr>
            <p:nvPr/>
          </p:nvSpPr>
          <p:spPr bwMode="auto">
            <a:xfrm>
              <a:off x="3991" y="1931"/>
              <a:ext cx="1446"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Improve SOX Compliance</a:t>
              </a:r>
            </a:p>
          </p:txBody>
        </p:sp>
        <p:sp>
          <p:nvSpPr>
            <p:cNvPr id="3160" name="Text Box 88"/>
            <p:cNvSpPr txBox="1">
              <a:spLocks noChangeArrowheads="1"/>
            </p:cNvSpPr>
            <p:nvPr/>
          </p:nvSpPr>
          <p:spPr bwMode="auto">
            <a:xfrm>
              <a:off x="4214" y="2139"/>
              <a:ext cx="1446" cy="156"/>
            </a:xfrm>
            <a:prstGeom prst="rect">
              <a:avLst/>
            </a:prstGeom>
            <a:noFill/>
            <a:ln w="9525">
              <a:noFill/>
              <a:miter lim="800000"/>
              <a:headEnd/>
              <a:tailEnd/>
            </a:ln>
            <a:effectLst/>
          </p:spPr>
          <p:txBody>
            <a:bodyPr>
              <a:spAutoFit/>
            </a:bodyPr>
            <a:lstStyle/>
            <a:p>
              <a:pPr>
                <a:lnSpc>
                  <a:spcPct val="85000"/>
                </a:lnSpc>
                <a:spcBef>
                  <a:spcPct val="20000"/>
                </a:spcBef>
              </a:pPr>
              <a:r>
                <a:rPr lang="en-US" sz="1200" b="1" i="1">
                  <a:solidFill>
                    <a:srgbClr val="FF0000"/>
                  </a:solidFill>
                </a:rPr>
                <a:t>Rationalization</a:t>
              </a:r>
            </a:p>
          </p:txBody>
        </p:sp>
      </p:grpSp>
      <p:grpSp>
        <p:nvGrpSpPr>
          <p:cNvPr id="6" name="Group 89"/>
          <p:cNvGrpSpPr>
            <a:grpSpLocks/>
          </p:cNvGrpSpPr>
          <p:nvPr/>
        </p:nvGrpSpPr>
        <p:grpSpPr bwMode="auto">
          <a:xfrm>
            <a:off x="9617745" y="3973514"/>
            <a:ext cx="336462" cy="1684337"/>
            <a:chOff x="4545" y="2503"/>
            <a:chExt cx="159" cy="1061"/>
          </a:xfrm>
        </p:grpSpPr>
        <p:sp>
          <p:nvSpPr>
            <p:cNvPr id="3162" name="Text Box 90"/>
            <p:cNvSpPr txBox="1">
              <a:spLocks noChangeArrowheads="1"/>
            </p:cNvSpPr>
            <p:nvPr/>
          </p:nvSpPr>
          <p:spPr bwMode="auto">
            <a:xfrm>
              <a:off x="4545" y="2735"/>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63" name="Text Box 91"/>
            <p:cNvSpPr txBox="1">
              <a:spLocks noChangeArrowheads="1"/>
            </p:cNvSpPr>
            <p:nvPr/>
          </p:nvSpPr>
          <p:spPr bwMode="auto">
            <a:xfrm>
              <a:off x="4545" y="2503"/>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6</a:t>
              </a:r>
            </a:p>
          </p:txBody>
        </p:sp>
        <p:sp>
          <p:nvSpPr>
            <p:cNvPr id="3164" name="Text Box 92"/>
            <p:cNvSpPr txBox="1">
              <a:spLocks noChangeArrowheads="1"/>
            </p:cNvSpPr>
            <p:nvPr/>
          </p:nvSpPr>
          <p:spPr bwMode="auto">
            <a:xfrm>
              <a:off x="4545" y="3147"/>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65" name="Text Box 93"/>
            <p:cNvSpPr txBox="1">
              <a:spLocks noChangeArrowheads="1"/>
            </p:cNvSpPr>
            <p:nvPr/>
          </p:nvSpPr>
          <p:spPr bwMode="auto">
            <a:xfrm>
              <a:off x="4545" y="2929"/>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2</a:t>
              </a:r>
            </a:p>
          </p:txBody>
        </p:sp>
        <p:sp>
          <p:nvSpPr>
            <p:cNvPr id="3166" name="Text Box 94"/>
            <p:cNvSpPr txBox="1">
              <a:spLocks noChangeArrowheads="1"/>
            </p:cNvSpPr>
            <p:nvPr/>
          </p:nvSpPr>
          <p:spPr bwMode="auto">
            <a:xfrm>
              <a:off x="4545" y="3391"/>
              <a:ext cx="159" cy="173"/>
            </a:xfrm>
            <a:prstGeom prst="rect">
              <a:avLst/>
            </a:prstGeom>
            <a:noFill/>
            <a:ln w="9525" algn="ctr">
              <a:noFill/>
              <a:miter lim="800000"/>
              <a:headEnd/>
              <a:tailEnd/>
            </a:ln>
            <a:effectLst/>
          </p:spPr>
          <p:txBody>
            <a:bodyPr>
              <a:spAutoFit/>
            </a:bodyPr>
            <a:lstStyle/>
            <a:p>
              <a:pPr algn="ctr">
                <a:spcBef>
                  <a:spcPct val="50000"/>
                </a:spcBef>
              </a:pPr>
              <a:r>
                <a:rPr lang="en-US" sz="1200" b="1">
                  <a:solidFill>
                    <a:srgbClr val="FF0000"/>
                  </a:solidFill>
                </a:rPr>
                <a:t>7</a:t>
              </a:r>
            </a:p>
          </p:txBody>
        </p:sp>
      </p:grpSp>
      <p:sp>
        <p:nvSpPr>
          <p:cNvPr id="3167" name="Text Box 95"/>
          <p:cNvSpPr txBox="1">
            <a:spLocks noChangeArrowheads="1"/>
          </p:cNvSpPr>
          <p:nvPr/>
        </p:nvSpPr>
        <p:spPr bwMode="auto">
          <a:xfrm>
            <a:off x="2056865" y="1163638"/>
            <a:ext cx="9890724"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solidFill>
                  <a:srgbClr val="FF0000"/>
                </a:solidFill>
              </a:rPr>
              <a:t>THFC Corporation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7"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Line 2"/>
          <p:cNvSpPr>
            <a:spLocks noChangeShapeType="1"/>
          </p:cNvSpPr>
          <p:nvPr/>
        </p:nvSpPr>
        <p:spPr bwMode="auto">
          <a:xfrm>
            <a:off x="0" y="1727200"/>
            <a:ext cx="12188825" cy="0"/>
          </a:xfrm>
          <a:prstGeom prst="line">
            <a:avLst/>
          </a:prstGeom>
          <a:noFill/>
          <a:ln w="9525">
            <a:solidFill>
              <a:schemeClr val="tx1"/>
            </a:solidFill>
            <a:round/>
            <a:headEnd/>
            <a:tailEnd/>
          </a:ln>
          <a:effectLst/>
        </p:spPr>
        <p:txBody>
          <a:bodyPr/>
          <a:lstStyle/>
          <a:p>
            <a:endParaRPr lang="en-US"/>
          </a:p>
        </p:txBody>
      </p:sp>
      <p:sp>
        <p:nvSpPr>
          <p:cNvPr id="6147" name="Line 3"/>
          <p:cNvSpPr>
            <a:spLocks noChangeShapeType="1"/>
          </p:cNvSpPr>
          <p:nvPr/>
        </p:nvSpPr>
        <p:spPr bwMode="auto">
          <a:xfrm>
            <a:off x="0" y="5627688"/>
            <a:ext cx="12188825" cy="0"/>
          </a:xfrm>
          <a:prstGeom prst="line">
            <a:avLst/>
          </a:prstGeom>
          <a:noFill/>
          <a:ln w="9525">
            <a:solidFill>
              <a:schemeClr val="tx1"/>
            </a:solidFill>
            <a:round/>
            <a:headEnd/>
            <a:tailEnd/>
          </a:ln>
          <a:effectLst/>
        </p:spPr>
        <p:txBody>
          <a:bodyPr/>
          <a:lstStyle/>
          <a:p>
            <a:endParaRPr lang="en-US"/>
          </a:p>
        </p:txBody>
      </p:sp>
      <p:sp>
        <p:nvSpPr>
          <p:cNvPr id="6148" name="Line 4"/>
          <p:cNvSpPr>
            <a:spLocks noChangeShapeType="1"/>
          </p:cNvSpPr>
          <p:nvPr/>
        </p:nvSpPr>
        <p:spPr bwMode="auto">
          <a:xfrm>
            <a:off x="0" y="1131888"/>
            <a:ext cx="12188825" cy="0"/>
          </a:xfrm>
          <a:prstGeom prst="line">
            <a:avLst/>
          </a:prstGeom>
          <a:noFill/>
          <a:ln w="9525">
            <a:solidFill>
              <a:schemeClr val="tx1"/>
            </a:solidFill>
            <a:round/>
            <a:headEnd/>
            <a:tailEnd/>
          </a:ln>
          <a:effectLst/>
        </p:spPr>
        <p:txBody>
          <a:bodyPr/>
          <a:lstStyle/>
          <a:p>
            <a:endParaRPr lang="en-US"/>
          </a:p>
        </p:txBody>
      </p:sp>
      <p:sp>
        <p:nvSpPr>
          <p:cNvPr id="6149" name="Line 5"/>
          <p:cNvSpPr>
            <a:spLocks noChangeShapeType="1"/>
          </p:cNvSpPr>
          <p:nvPr/>
        </p:nvSpPr>
        <p:spPr bwMode="auto">
          <a:xfrm>
            <a:off x="0" y="1406525"/>
            <a:ext cx="12188825" cy="0"/>
          </a:xfrm>
          <a:prstGeom prst="line">
            <a:avLst/>
          </a:prstGeom>
          <a:noFill/>
          <a:ln w="9525">
            <a:solidFill>
              <a:schemeClr val="tx1"/>
            </a:solidFill>
            <a:round/>
            <a:headEnd/>
            <a:tailEnd/>
          </a:ln>
          <a:effectLst/>
        </p:spPr>
        <p:txBody>
          <a:bodyPr/>
          <a:lstStyle/>
          <a:p>
            <a:endParaRPr lang="en-US"/>
          </a:p>
        </p:txBody>
      </p:sp>
      <p:sp>
        <p:nvSpPr>
          <p:cNvPr id="6150" name="Line 6"/>
          <p:cNvSpPr>
            <a:spLocks noChangeShapeType="1"/>
          </p:cNvSpPr>
          <p:nvPr/>
        </p:nvSpPr>
        <p:spPr bwMode="auto">
          <a:xfrm>
            <a:off x="6088065" y="1400176"/>
            <a:ext cx="6348" cy="4570413"/>
          </a:xfrm>
          <a:prstGeom prst="line">
            <a:avLst/>
          </a:prstGeom>
          <a:noFill/>
          <a:ln w="9525">
            <a:solidFill>
              <a:schemeClr val="tx1"/>
            </a:solidFill>
            <a:round/>
            <a:headEnd/>
            <a:tailEnd/>
          </a:ln>
          <a:effectLst/>
        </p:spPr>
        <p:txBody>
          <a:bodyPr/>
          <a:lstStyle/>
          <a:p>
            <a:endParaRPr lang="en-US"/>
          </a:p>
        </p:txBody>
      </p:sp>
      <p:sp>
        <p:nvSpPr>
          <p:cNvPr id="6151" name="Line 7"/>
          <p:cNvSpPr>
            <a:spLocks noChangeShapeType="1"/>
          </p:cNvSpPr>
          <p:nvPr/>
        </p:nvSpPr>
        <p:spPr bwMode="auto">
          <a:xfrm>
            <a:off x="0" y="5295900"/>
            <a:ext cx="12188825" cy="0"/>
          </a:xfrm>
          <a:prstGeom prst="line">
            <a:avLst/>
          </a:prstGeom>
          <a:noFill/>
          <a:ln w="9525">
            <a:solidFill>
              <a:schemeClr val="tx1"/>
            </a:solidFill>
            <a:round/>
            <a:headEnd/>
            <a:tailEnd/>
          </a:ln>
          <a:effectLst/>
        </p:spPr>
        <p:txBody>
          <a:bodyPr/>
          <a:lstStyle/>
          <a:p>
            <a:endParaRPr lang="en-US"/>
          </a:p>
        </p:txBody>
      </p:sp>
      <p:sp>
        <p:nvSpPr>
          <p:cNvPr id="6152" name="Line 8"/>
          <p:cNvSpPr>
            <a:spLocks noChangeShapeType="1"/>
          </p:cNvSpPr>
          <p:nvPr/>
        </p:nvSpPr>
        <p:spPr bwMode="auto">
          <a:xfrm>
            <a:off x="0" y="4964113"/>
            <a:ext cx="12188825" cy="0"/>
          </a:xfrm>
          <a:prstGeom prst="line">
            <a:avLst/>
          </a:prstGeom>
          <a:noFill/>
          <a:ln w="9525">
            <a:solidFill>
              <a:schemeClr val="tx1"/>
            </a:solidFill>
            <a:round/>
            <a:headEnd/>
            <a:tailEnd/>
          </a:ln>
          <a:effectLst/>
        </p:spPr>
        <p:txBody>
          <a:bodyPr/>
          <a:lstStyle/>
          <a:p>
            <a:endParaRPr lang="en-US"/>
          </a:p>
        </p:txBody>
      </p:sp>
      <p:sp>
        <p:nvSpPr>
          <p:cNvPr id="6153" name="Line 9"/>
          <p:cNvSpPr>
            <a:spLocks noChangeShapeType="1"/>
          </p:cNvSpPr>
          <p:nvPr/>
        </p:nvSpPr>
        <p:spPr bwMode="auto">
          <a:xfrm>
            <a:off x="0" y="4632325"/>
            <a:ext cx="12188825" cy="0"/>
          </a:xfrm>
          <a:prstGeom prst="line">
            <a:avLst/>
          </a:prstGeom>
          <a:noFill/>
          <a:ln w="9525">
            <a:solidFill>
              <a:schemeClr val="tx1"/>
            </a:solidFill>
            <a:round/>
            <a:headEnd/>
            <a:tailEnd/>
          </a:ln>
          <a:effectLst/>
        </p:spPr>
        <p:txBody>
          <a:bodyPr/>
          <a:lstStyle/>
          <a:p>
            <a:endParaRPr lang="en-US"/>
          </a:p>
        </p:txBody>
      </p:sp>
      <p:sp>
        <p:nvSpPr>
          <p:cNvPr id="6154" name="Line 10"/>
          <p:cNvSpPr>
            <a:spLocks noChangeShapeType="1"/>
          </p:cNvSpPr>
          <p:nvPr/>
        </p:nvSpPr>
        <p:spPr bwMode="auto">
          <a:xfrm>
            <a:off x="0" y="5959475"/>
            <a:ext cx="12188825" cy="0"/>
          </a:xfrm>
          <a:prstGeom prst="line">
            <a:avLst/>
          </a:prstGeom>
          <a:noFill/>
          <a:ln w="9525">
            <a:solidFill>
              <a:schemeClr val="tx1"/>
            </a:solidFill>
            <a:round/>
            <a:headEnd/>
            <a:tailEnd/>
          </a:ln>
          <a:effectLst/>
        </p:spPr>
        <p:txBody>
          <a:bodyPr/>
          <a:lstStyle/>
          <a:p>
            <a:endParaRPr lang="en-US"/>
          </a:p>
        </p:txBody>
      </p:sp>
      <p:sp>
        <p:nvSpPr>
          <p:cNvPr id="6155" name="Line 11"/>
          <p:cNvSpPr>
            <a:spLocks noChangeShapeType="1"/>
          </p:cNvSpPr>
          <p:nvPr/>
        </p:nvSpPr>
        <p:spPr bwMode="auto">
          <a:xfrm>
            <a:off x="0" y="3968750"/>
            <a:ext cx="12188825" cy="0"/>
          </a:xfrm>
          <a:prstGeom prst="line">
            <a:avLst/>
          </a:prstGeom>
          <a:noFill/>
          <a:ln w="9525">
            <a:solidFill>
              <a:schemeClr val="tx1"/>
            </a:solidFill>
            <a:round/>
            <a:headEnd/>
            <a:tailEnd/>
          </a:ln>
          <a:effectLst/>
        </p:spPr>
        <p:txBody>
          <a:bodyPr/>
          <a:lstStyle/>
          <a:p>
            <a:endParaRPr lang="en-US"/>
          </a:p>
        </p:txBody>
      </p:sp>
      <p:sp>
        <p:nvSpPr>
          <p:cNvPr id="6156" name="Line 12"/>
          <p:cNvSpPr>
            <a:spLocks noChangeShapeType="1"/>
          </p:cNvSpPr>
          <p:nvPr/>
        </p:nvSpPr>
        <p:spPr bwMode="auto">
          <a:xfrm>
            <a:off x="0" y="4300538"/>
            <a:ext cx="12188825" cy="0"/>
          </a:xfrm>
          <a:prstGeom prst="line">
            <a:avLst/>
          </a:prstGeom>
          <a:noFill/>
          <a:ln w="9525">
            <a:solidFill>
              <a:schemeClr val="tx1"/>
            </a:solidFill>
            <a:round/>
            <a:headEnd/>
            <a:tailEnd/>
          </a:ln>
          <a:effectLst/>
        </p:spPr>
        <p:txBody>
          <a:bodyPr/>
          <a:lstStyle/>
          <a:p>
            <a:endParaRPr lang="en-US"/>
          </a:p>
        </p:txBody>
      </p:sp>
      <p:sp>
        <p:nvSpPr>
          <p:cNvPr id="6157" name="Line 13"/>
          <p:cNvSpPr>
            <a:spLocks noChangeShapeType="1"/>
          </p:cNvSpPr>
          <p:nvPr/>
        </p:nvSpPr>
        <p:spPr bwMode="auto">
          <a:xfrm>
            <a:off x="0" y="2006600"/>
            <a:ext cx="5614055" cy="0"/>
          </a:xfrm>
          <a:prstGeom prst="line">
            <a:avLst/>
          </a:prstGeom>
          <a:noFill/>
          <a:ln w="9525">
            <a:solidFill>
              <a:schemeClr val="tx1"/>
            </a:solidFill>
            <a:round/>
            <a:headEnd/>
            <a:tailEnd/>
          </a:ln>
          <a:effectLst/>
        </p:spPr>
        <p:txBody>
          <a:bodyPr/>
          <a:lstStyle/>
          <a:p>
            <a:endParaRPr lang="en-US"/>
          </a:p>
        </p:txBody>
      </p:sp>
      <p:sp>
        <p:nvSpPr>
          <p:cNvPr id="6158" name="Line 14"/>
          <p:cNvSpPr>
            <a:spLocks noChangeShapeType="1"/>
          </p:cNvSpPr>
          <p:nvPr/>
        </p:nvSpPr>
        <p:spPr bwMode="auto">
          <a:xfrm>
            <a:off x="5614055" y="2008188"/>
            <a:ext cx="0" cy="3949700"/>
          </a:xfrm>
          <a:prstGeom prst="line">
            <a:avLst/>
          </a:prstGeom>
          <a:noFill/>
          <a:ln w="9525">
            <a:solidFill>
              <a:schemeClr val="tx1"/>
            </a:solidFill>
            <a:round/>
            <a:headEnd/>
            <a:tailEnd/>
          </a:ln>
          <a:effectLst/>
        </p:spPr>
        <p:txBody>
          <a:bodyPr/>
          <a:lstStyle/>
          <a:p>
            <a:endParaRPr lang="en-US"/>
          </a:p>
        </p:txBody>
      </p:sp>
      <p:sp>
        <p:nvSpPr>
          <p:cNvPr id="6159" name="Line 15"/>
          <p:cNvSpPr>
            <a:spLocks noChangeShapeType="1"/>
          </p:cNvSpPr>
          <p:nvPr/>
        </p:nvSpPr>
        <p:spPr bwMode="auto">
          <a:xfrm>
            <a:off x="0" y="2346325"/>
            <a:ext cx="5131581" cy="0"/>
          </a:xfrm>
          <a:prstGeom prst="line">
            <a:avLst/>
          </a:prstGeom>
          <a:noFill/>
          <a:ln w="9525">
            <a:solidFill>
              <a:schemeClr val="tx1"/>
            </a:solidFill>
            <a:round/>
            <a:headEnd/>
            <a:tailEnd/>
          </a:ln>
          <a:effectLst/>
        </p:spPr>
        <p:txBody>
          <a:bodyPr/>
          <a:lstStyle/>
          <a:p>
            <a:endParaRPr lang="en-US"/>
          </a:p>
        </p:txBody>
      </p:sp>
      <p:sp>
        <p:nvSpPr>
          <p:cNvPr id="6160" name="Line 16"/>
          <p:cNvSpPr>
            <a:spLocks noChangeShapeType="1"/>
          </p:cNvSpPr>
          <p:nvPr/>
        </p:nvSpPr>
        <p:spPr bwMode="auto">
          <a:xfrm>
            <a:off x="5131581" y="2347913"/>
            <a:ext cx="0" cy="3619500"/>
          </a:xfrm>
          <a:prstGeom prst="line">
            <a:avLst/>
          </a:prstGeom>
          <a:noFill/>
          <a:ln w="9525">
            <a:solidFill>
              <a:schemeClr val="tx1"/>
            </a:solidFill>
            <a:round/>
            <a:headEnd/>
            <a:tailEnd/>
          </a:ln>
          <a:effectLst/>
        </p:spPr>
        <p:txBody>
          <a:bodyPr/>
          <a:lstStyle/>
          <a:p>
            <a:endParaRPr lang="en-US"/>
          </a:p>
        </p:txBody>
      </p:sp>
      <p:sp>
        <p:nvSpPr>
          <p:cNvPr id="6161" name="Line 17"/>
          <p:cNvSpPr>
            <a:spLocks noChangeShapeType="1"/>
          </p:cNvSpPr>
          <p:nvPr/>
        </p:nvSpPr>
        <p:spPr bwMode="auto">
          <a:xfrm>
            <a:off x="0" y="2684463"/>
            <a:ext cx="4646990" cy="0"/>
          </a:xfrm>
          <a:prstGeom prst="line">
            <a:avLst/>
          </a:prstGeom>
          <a:noFill/>
          <a:ln w="9525">
            <a:solidFill>
              <a:schemeClr val="tx1"/>
            </a:solidFill>
            <a:round/>
            <a:headEnd/>
            <a:tailEnd/>
          </a:ln>
          <a:effectLst/>
        </p:spPr>
        <p:txBody>
          <a:bodyPr/>
          <a:lstStyle/>
          <a:p>
            <a:endParaRPr lang="en-US"/>
          </a:p>
        </p:txBody>
      </p:sp>
      <p:sp>
        <p:nvSpPr>
          <p:cNvPr id="6162" name="Line 18"/>
          <p:cNvSpPr>
            <a:spLocks noChangeShapeType="1"/>
          </p:cNvSpPr>
          <p:nvPr/>
        </p:nvSpPr>
        <p:spPr bwMode="auto">
          <a:xfrm>
            <a:off x="4646990" y="2686051"/>
            <a:ext cx="0" cy="3260725"/>
          </a:xfrm>
          <a:prstGeom prst="line">
            <a:avLst/>
          </a:prstGeom>
          <a:noFill/>
          <a:ln w="9525">
            <a:solidFill>
              <a:schemeClr val="tx1"/>
            </a:solidFill>
            <a:round/>
            <a:headEnd/>
            <a:tailEnd/>
          </a:ln>
          <a:effectLst/>
        </p:spPr>
        <p:txBody>
          <a:bodyPr/>
          <a:lstStyle/>
          <a:p>
            <a:endParaRPr lang="en-US"/>
          </a:p>
        </p:txBody>
      </p:sp>
      <p:sp>
        <p:nvSpPr>
          <p:cNvPr id="6163" name="Line 19"/>
          <p:cNvSpPr>
            <a:spLocks noChangeShapeType="1"/>
          </p:cNvSpPr>
          <p:nvPr/>
        </p:nvSpPr>
        <p:spPr bwMode="auto">
          <a:xfrm>
            <a:off x="1" y="3024188"/>
            <a:ext cx="4162400" cy="0"/>
          </a:xfrm>
          <a:prstGeom prst="line">
            <a:avLst/>
          </a:prstGeom>
          <a:noFill/>
          <a:ln w="9525">
            <a:solidFill>
              <a:schemeClr val="tx1"/>
            </a:solidFill>
            <a:round/>
            <a:headEnd/>
            <a:tailEnd/>
          </a:ln>
          <a:effectLst/>
        </p:spPr>
        <p:txBody>
          <a:bodyPr/>
          <a:lstStyle/>
          <a:p>
            <a:endParaRPr lang="en-US"/>
          </a:p>
        </p:txBody>
      </p:sp>
      <p:sp>
        <p:nvSpPr>
          <p:cNvPr id="6164" name="Line 20"/>
          <p:cNvSpPr>
            <a:spLocks noChangeShapeType="1"/>
          </p:cNvSpPr>
          <p:nvPr/>
        </p:nvSpPr>
        <p:spPr bwMode="auto">
          <a:xfrm>
            <a:off x="4162400" y="3025775"/>
            <a:ext cx="0" cy="2922588"/>
          </a:xfrm>
          <a:prstGeom prst="line">
            <a:avLst/>
          </a:prstGeom>
          <a:noFill/>
          <a:ln w="9525">
            <a:solidFill>
              <a:schemeClr val="tx1"/>
            </a:solidFill>
            <a:round/>
            <a:headEnd/>
            <a:tailEnd/>
          </a:ln>
          <a:effectLst/>
        </p:spPr>
        <p:txBody>
          <a:bodyPr/>
          <a:lstStyle/>
          <a:p>
            <a:endParaRPr lang="en-US"/>
          </a:p>
        </p:txBody>
      </p:sp>
      <p:sp>
        <p:nvSpPr>
          <p:cNvPr id="6165" name="Line 21"/>
          <p:cNvSpPr>
            <a:spLocks noChangeShapeType="1"/>
          </p:cNvSpPr>
          <p:nvPr/>
        </p:nvSpPr>
        <p:spPr bwMode="auto">
          <a:xfrm>
            <a:off x="0" y="3362325"/>
            <a:ext cx="3677809" cy="0"/>
          </a:xfrm>
          <a:prstGeom prst="line">
            <a:avLst/>
          </a:prstGeom>
          <a:noFill/>
          <a:ln w="9525">
            <a:solidFill>
              <a:schemeClr val="tx1"/>
            </a:solidFill>
            <a:round/>
            <a:headEnd/>
            <a:tailEnd/>
          </a:ln>
          <a:effectLst/>
        </p:spPr>
        <p:txBody>
          <a:bodyPr/>
          <a:lstStyle/>
          <a:p>
            <a:endParaRPr lang="en-US"/>
          </a:p>
        </p:txBody>
      </p:sp>
      <p:sp>
        <p:nvSpPr>
          <p:cNvPr id="6166" name="Line 22"/>
          <p:cNvSpPr>
            <a:spLocks noChangeShapeType="1"/>
          </p:cNvSpPr>
          <p:nvPr/>
        </p:nvSpPr>
        <p:spPr bwMode="auto">
          <a:xfrm>
            <a:off x="3677809" y="3363913"/>
            <a:ext cx="0" cy="2597150"/>
          </a:xfrm>
          <a:prstGeom prst="line">
            <a:avLst/>
          </a:prstGeom>
          <a:noFill/>
          <a:ln w="9525">
            <a:solidFill>
              <a:schemeClr val="tx1"/>
            </a:solidFill>
            <a:round/>
            <a:headEnd/>
            <a:tailEnd/>
          </a:ln>
          <a:effectLst/>
        </p:spPr>
        <p:txBody>
          <a:bodyPr/>
          <a:lstStyle/>
          <a:p>
            <a:endParaRPr lang="en-US"/>
          </a:p>
        </p:txBody>
      </p:sp>
      <p:sp>
        <p:nvSpPr>
          <p:cNvPr id="6167" name="Line 23"/>
          <p:cNvSpPr>
            <a:spLocks noChangeShapeType="1"/>
          </p:cNvSpPr>
          <p:nvPr/>
        </p:nvSpPr>
        <p:spPr bwMode="auto">
          <a:xfrm>
            <a:off x="0" y="3700463"/>
            <a:ext cx="3193219" cy="0"/>
          </a:xfrm>
          <a:prstGeom prst="line">
            <a:avLst/>
          </a:prstGeom>
          <a:noFill/>
          <a:ln w="9525">
            <a:solidFill>
              <a:schemeClr val="tx1"/>
            </a:solidFill>
            <a:round/>
            <a:headEnd/>
            <a:tailEnd/>
          </a:ln>
          <a:effectLst/>
        </p:spPr>
        <p:txBody>
          <a:bodyPr/>
          <a:lstStyle/>
          <a:p>
            <a:endParaRPr lang="en-US"/>
          </a:p>
        </p:txBody>
      </p:sp>
      <p:sp>
        <p:nvSpPr>
          <p:cNvPr id="6168" name="Line 24"/>
          <p:cNvSpPr>
            <a:spLocks noChangeShapeType="1"/>
          </p:cNvSpPr>
          <p:nvPr/>
        </p:nvSpPr>
        <p:spPr bwMode="auto">
          <a:xfrm>
            <a:off x="3193219" y="3702051"/>
            <a:ext cx="0" cy="2265363"/>
          </a:xfrm>
          <a:prstGeom prst="line">
            <a:avLst/>
          </a:prstGeom>
          <a:noFill/>
          <a:ln w="9525">
            <a:solidFill>
              <a:schemeClr val="tx1"/>
            </a:solidFill>
            <a:round/>
            <a:headEnd/>
            <a:tailEnd/>
          </a:ln>
          <a:effectLst/>
        </p:spPr>
        <p:txBody>
          <a:bodyPr/>
          <a:lstStyle/>
          <a:p>
            <a:endParaRPr lang="en-US"/>
          </a:p>
        </p:txBody>
      </p:sp>
      <p:sp>
        <p:nvSpPr>
          <p:cNvPr id="6169" name="Line 25"/>
          <p:cNvSpPr>
            <a:spLocks noChangeShapeType="1"/>
          </p:cNvSpPr>
          <p:nvPr/>
        </p:nvSpPr>
        <p:spPr bwMode="auto">
          <a:xfrm flipH="1">
            <a:off x="6602280" y="2006600"/>
            <a:ext cx="5614055" cy="0"/>
          </a:xfrm>
          <a:prstGeom prst="line">
            <a:avLst/>
          </a:prstGeom>
          <a:noFill/>
          <a:ln w="9525">
            <a:solidFill>
              <a:schemeClr val="tx1"/>
            </a:solidFill>
            <a:round/>
            <a:headEnd/>
            <a:tailEnd/>
          </a:ln>
          <a:effectLst/>
        </p:spPr>
        <p:txBody>
          <a:bodyPr/>
          <a:lstStyle/>
          <a:p>
            <a:endParaRPr lang="en-US"/>
          </a:p>
        </p:txBody>
      </p:sp>
      <p:sp>
        <p:nvSpPr>
          <p:cNvPr id="6170" name="Line 26"/>
          <p:cNvSpPr>
            <a:spLocks noChangeShapeType="1"/>
          </p:cNvSpPr>
          <p:nvPr/>
        </p:nvSpPr>
        <p:spPr bwMode="auto">
          <a:xfrm flipH="1">
            <a:off x="6602280" y="2008188"/>
            <a:ext cx="0" cy="3949700"/>
          </a:xfrm>
          <a:prstGeom prst="line">
            <a:avLst/>
          </a:prstGeom>
          <a:noFill/>
          <a:ln w="9525">
            <a:solidFill>
              <a:schemeClr val="tx1"/>
            </a:solidFill>
            <a:round/>
            <a:headEnd/>
            <a:tailEnd/>
          </a:ln>
          <a:effectLst/>
        </p:spPr>
        <p:txBody>
          <a:bodyPr/>
          <a:lstStyle/>
          <a:p>
            <a:endParaRPr lang="en-US"/>
          </a:p>
        </p:txBody>
      </p:sp>
      <p:sp>
        <p:nvSpPr>
          <p:cNvPr id="6171" name="Line 27"/>
          <p:cNvSpPr>
            <a:spLocks noChangeShapeType="1"/>
          </p:cNvSpPr>
          <p:nvPr/>
        </p:nvSpPr>
        <p:spPr bwMode="auto">
          <a:xfrm flipH="1">
            <a:off x="7084754" y="2346325"/>
            <a:ext cx="5131581" cy="0"/>
          </a:xfrm>
          <a:prstGeom prst="line">
            <a:avLst/>
          </a:prstGeom>
          <a:noFill/>
          <a:ln w="9525">
            <a:solidFill>
              <a:schemeClr val="tx1"/>
            </a:solidFill>
            <a:round/>
            <a:headEnd/>
            <a:tailEnd/>
          </a:ln>
          <a:effectLst/>
        </p:spPr>
        <p:txBody>
          <a:bodyPr/>
          <a:lstStyle/>
          <a:p>
            <a:endParaRPr lang="en-US"/>
          </a:p>
        </p:txBody>
      </p:sp>
      <p:sp>
        <p:nvSpPr>
          <p:cNvPr id="6172" name="Line 28"/>
          <p:cNvSpPr>
            <a:spLocks noChangeShapeType="1"/>
          </p:cNvSpPr>
          <p:nvPr/>
        </p:nvSpPr>
        <p:spPr bwMode="auto">
          <a:xfrm flipH="1">
            <a:off x="7084755" y="2347913"/>
            <a:ext cx="0" cy="3619500"/>
          </a:xfrm>
          <a:prstGeom prst="line">
            <a:avLst/>
          </a:prstGeom>
          <a:noFill/>
          <a:ln w="9525">
            <a:solidFill>
              <a:schemeClr val="tx1"/>
            </a:solidFill>
            <a:round/>
            <a:headEnd/>
            <a:tailEnd/>
          </a:ln>
          <a:effectLst/>
        </p:spPr>
        <p:txBody>
          <a:bodyPr/>
          <a:lstStyle/>
          <a:p>
            <a:endParaRPr lang="en-US"/>
          </a:p>
        </p:txBody>
      </p:sp>
      <p:sp>
        <p:nvSpPr>
          <p:cNvPr id="6173" name="Line 29"/>
          <p:cNvSpPr>
            <a:spLocks noChangeShapeType="1"/>
          </p:cNvSpPr>
          <p:nvPr/>
        </p:nvSpPr>
        <p:spPr bwMode="auto">
          <a:xfrm flipH="1">
            <a:off x="7569345" y="2684463"/>
            <a:ext cx="4646990" cy="0"/>
          </a:xfrm>
          <a:prstGeom prst="line">
            <a:avLst/>
          </a:prstGeom>
          <a:noFill/>
          <a:ln w="9525">
            <a:solidFill>
              <a:schemeClr val="tx1"/>
            </a:solidFill>
            <a:round/>
            <a:headEnd/>
            <a:tailEnd/>
          </a:ln>
          <a:effectLst/>
        </p:spPr>
        <p:txBody>
          <a:bodyPr/>
          <a:lstStyle/>
          <a:p>
            <a:endParaRPr lang="en-US"/>
          </a:p>
        </p:txBody>
      </p:sp>
      <p:sp>
        <p:nvSpPr>
          <p:cNvPr id="6174" name="Line 30"/>
          <p:cNvSpPr>
            <a:spLocks noChangeShapeType="1"/>
          </p:cNvSpPr>
          <p:nvPr/>
        </p:nvSpPr>
        <p:spPr bwMode="auto">
          <a:xfrm flipH="1">
            <a:off x="7569346" y="2686051"/>
            <a:ext cx="0" cy="3260725"/>
          </a:xfrm>
          <a:prstGeom prst="line">
            <a:avLst/>
          </a:prstGeom>
          <a:noFill/>
          <a:ln w="9525">
            <a:solidFill>
              <a:schemeClr val="tx1"/>
            </a:solidFill>
            <a:round/>
            <a:headEnd/>
            <a:tailEnd/>
          </a:ln>
          <a:effectLst/>
        </p:spPr>
        <p:txBody>
          <a:bodyPr/>
          <a:lstStyle/>
          <a:p>
            <a:endParaRPr lang="en-US"/>
          </a:p>
        </p:txBody>
      </p:sp>
      <p:sp>
        <p:nvSpPr>
          <p:cNvPr id="6175" name="Line 31"/>
          <p:cNvSpPr>
            <a:spLocks noChangeShapeType="1"/>
          </p:cNvSpPr>
          <p:nvPr/>
        </p:nvSpPr>
        <p:spPr bwMode="auto">
          <a:xfrm flipH="1">
            <a:off x="8053936" y="3024188"/>
            <a:ext cx="4162400" cy="0"/>
          </a:xfrm>
          <a:prstGeom prst="line">
            <a:avLst/>
          </a:prstGeom>
          <a:noFill/>
          <a:ln w="9525">
            <a:solidFill>
              <a:schemeClr val="tx1"/>
            </a:solidFill>
            <a:round/>
            <a:headEnd/>
            <a:tailEnd/>
          </a:ln>
          <a:effectLst/>
        </p:spPr>
        <p:txBody>
          <a:bodyPr/>
          <a:lstStyle/>
          <a:p>
            <a:endParaRPr lang="en-US"/>
          </a:p>
        </p:txBody>
      </p:sp>
      <p:sp>
        <p:nvSpPr>
          <p:cNvPr id="6176" name="Line 32"/>
          <p:cNvSpPr>
            <a:spLocks noChangeShapeType="1"/>
          </p:cNvSpPr>
          <p:nvPr/>
        </p:nvSpPr>
        <p:spPr bwMode="auto">
          <a:xfrm flipH="1">
            <a:off x="8053935" y="3025775"/>
            <a:ext cx="0" cy="2922588"/>
          </a:xfrm>
          <a:prstGeom prst="line">
            <a:avLst/>
          </a:prstGeom>
          <a:noFill/>
          <a:ln w="9525">
            <a:solidFill>
              <a:schemeClr val="tx1"/>
            </a:solidFill>
            <a:round/>
            <a:headEnd/>
            <a:tailEnd/>
          </a:ln>
          <a:effectLst/>
        </p:spPr>
        <p:txBody>
          <a:bodyPr/>
          <a:lstStyle/>
          <a:p>
            <a:endParaRPr lang="en-US"/>
          </a:p>
        </p:txBody>
      </p:sp>
      <p:sp>
        <p:nvSpPr>
          <p:cNvPr id="6177" name="Line 33"/>
          <p:cNvSpPr>
            <a:spLocks noChangeShapeType="1"/>
          </p:cNvSpPr>
          <p:nvPr/>
        </p:nvSpPr>
        <p:spPr bwMode="auto">
          <a:xfrm flipH="1">
            <a:off x="8538527" y="3362325"/>
            <a:ext cx="3677809" cy="0"/>
          </a:xfrm>
          <a:prstGeom prst="line">
            <a:avLst/>
          </a:prstGeom>
          <a:noFill/>
          <a:ln w="9525">
            <a:solidFill>
              <a:schemeClr val="tx1"/>
            </a:solidFill>
            <a:round/>
            <a:headEnd/>
            <a:tailEnd/>
          </a:ln>
          <a:effectLst/>
        </p:spPr>
        <p:txBody>
          <a:bodyPr/>
          <a:lstStyle/>
          <a:p>
            <a:endParaRPr lang="en-US"/>
          </a:p>
        </p:txBody>
      </p:sp>
      <p:sp>
        <p:nvSpPr>
          <p:cNvPr id="6178" name="Line 34"/>
          <p:cNvSpPr>
            <a:spLocks noChangeShapeType="1"/>
          </p:cNvSpPr>
          <p:nvPr/>
        </p:nvSpPr>
        <p:spPr bwMode="auto">
          <a:xfrm flipH="1">
            <a:off x="8538527" y="3363913"/>
            <a:ext cx="0" cy="2597150"/>
          </a:xfrm>
          <a:prstGeom prst="line">
            <a:avLst/>
          </a:prstGeom>
          <a:noFill/>
          <a:ln w="9525">
            <a:solidFill>
              <a:schemeClr val="tx1"/>
            </a:solidFill>
            <a:round/>
            <a:headEnd/>
            <a:tailEnd/>
          </a:ln>
          <a:effectLst/>
        </p:spPr>
        <p:txBody>
          <a:bodyPr/>
          <a:lstStyle/>
          <a:p>
            <a:endParaRPr lang="en-US"/>
          </a:p>
        </p:txBody>
      </p:sp>
      <p:sp>
        <p:nvSpPr>
          <p:cNvPr id="6179" name="Line 35"/>
          <p:cNvSpPr>
            <a:spLocks noChangeShapeType="1"/>
          </p:cNvSpPr>
          <p:nvPr/>
        </p:nvSpPr>
        <p:spPr bwMode="auto">
          <a:xfrm flipH="1">
            <a:off x="9023116" y="3700463"/>
            <a:ext cx="3193219" cy="0"/>
          </a:xfrm>
          <a:prstGeom prst="line">
            <a:avLst/>
          </a:prstGeom>
          <a:noFill/>
          <a:ln w="9525">
            <a:solidFill>
              <a:schemeClr val="tx1"/>
            </a:solidFill>
            <a:round/>
            <a:headEnd/>
            <a:tailEnd/>
          </a:ln>
          <a:effectLst/>
        </p:spPr>
        <p:txBody>
          <a:bodyPr/>
          <a:lstStyle/>
          <a:p>
            <a:endParaRPr lang="en-US"/>
          </a:p>
        </p:txBody>
      </p:sp>
      <p:sp>
        <p:nvSpPr>
          <p:cNvPr id="6180" name="Text Box 36"/>
          <p:cNvSpPr txBox="1">
            <a:spLocks noChangeArrowheads="1"/>
          </p:cNvSpPr>
          <p:nvPr/>
        </p:nvSpPr>
        <p:spPr bwMode="auto">
          <a:xfrm>
            <a:off x="16929" y="3733800"/>
            <a:ext cx="2911775"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Business Function/Process</a:t>
            </a:r>
          </a:p>
        </p:txBody>
      </p:sp>
      <p:sp>
        <p:nvSpPr>
          <p:cNvPr id="6181" name="Text Box 37"/>
          <p:cNvSpPr txBox="1">
            <a:spLocks noChangeArrowheads="1"/>
          </p:cNvSpPr>
          <p:nvPr/>
        </p:nvSpPr>
        <p:spPr bwMode="auto">
          <a:xfrm>
            <a:off x="6128270" y="1470025"/>
            <a:ext cx="6060555"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Program Goals / Objectives / Principles</a:t>
            </a:r>
          </a:p>
        </p:txBody>
      </p:sp>
      <p:sp>
        <p:nvSpPr>
          <p:cNvPr id="6182" name="Text Box 38"/>
          <p:cNvSpPr txBox="1">
            <a:spLocks noChangeArrowheads="1"/>
          </p:cNvSpPr>
          <p:nvPr/>
        </p:nvSpPr>
        <p:spPr bwMode="auto">
          <a:xfrm>
            <a:off x="0" y="1470025"/>
            <a:ext cx="4994032"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Goals / Objectives / Key Initiatives</a:t>
            </a:r>
          </a:p>
        </p:txBody>
      </p:sp>
      <p:sp>
        <p:nvSpPr>
          <p:cNvPr id="6183" name="Text Box 39"/>
          <p:cNvSpPr txBox="1">
            <a:spLocks noChangeArrowheads="1"/>
          </p:cNvSpPr>
          <p:nvPr/>
        </p:nvSpPr>
        <p:spPr bwMode="auto">
          <a:xfrm>
            <a:off x="42322" y="1701801"/>
            <a:ext cx="524797" cy="244475"/>
          </a:xfrm>
          <a:prstGeom prst="rect">
            <a:avLst/>
          </a:prstGeom>
          <a:noFill/>
          <a:ln w="9525">
            <a:noFill/>
            <a:miter lim="800000"/>
            <a:headEnd/>
            <a:tailEnd/>
          </a:ln>
          <a:effectLst/>
        </p:spPr>
        <p:txBody>
          <a:bodyPr>
            <a:spAutoFit/>
          </a:bodyPr>
          <a:lstStyle/>
          <a:p>
            <a:pPr>
              <a:spcBef>
                <a:spcPct val="50000"/>
              </a:spcBef>
            </a:pPr>
            <a:r>
              <a:rPr lang="en-US" sz="1000" b="1"/>
              <a:t>1)</a:t>
            </a:r>
          </a:p>
        </p:txBody>
      </p:sp>
      <p:sp>
        <p:nvSpPr>
          <p:cNvPr id="6184" name="Text Box 40"/>
          <p:cNvSpPr txBox="1">
            <a:spLocks noChangeArrowheads="1"/>
          </p:cNvSpPr>
          <p:nvPr/>
        </p:nvSpPr>
        <p:spPr bwMode="auto">
          <a:xfrm>
            <a:off x="42322" y="2070101"/>
            <a:ext cx="524797" cy="244475"/>
          </a:xfrm>
          <a:prstGeom prst="rect">
            <a:avLst/>
          </a:prstGeom>
          <a:noFill/>
          <a:ln w="9525">
            <a:noFill/>
            <a:miter lim="800000"/>
            <a:headEnd/>
            <a:tailEnd/>
          </a:ln>
          <a:effectLst/>
        </p:spPr>
        <p:txBody>
          <a:bodyPr>
            <a:spAutoFit/>
          </a:bodyPr>
          <a:lstStyle/>
          <a:p>
            <a:pPr>
              <a:spcBef>
                <a:spcPct val="50000"/>
              </a:spcBef>
            </a:pPr>
            <a:r>
              <a:rPr lang="en-US" sz="1000" b="1"/>
              <a:t>2)</a:t>
            </a:r>
          </a:p>
        </p:txBody>
      </p:sp>
      <p:sp>
        <p:nvSpPr>
          <p:cNvPr id="6185" name="Text Box 41"/>
          <p:cNvSpPr txBox="1">
            <a:spLocks noChangeArrowheads="1"/>
          </p:cNvSpPr>
          <p:nvPr/>
        </p:nvSpPr>
        <p:spPr bwMode="auto">
          <a:xfrm>
            <a:off x="42322" y="2387601"/>
            <a:ext cx="524797" cy="244475"/>
          </a:xfrm>
          <a:prstGeom prst="rect">
            <a:avLst/>
          </a:prstGeom>
          <a:noFill/>
          <a:ln w="9525">
            <a:noFill/>
            <a:miter lim="800000"/>
            <a:headEnd/>
            <a:tailEnd/>
          </a:ln>
          <a:effectLst/>
        </p:spPr>
        <p:txBody>
          <a:bodyPr>
            <a:spAutoFit/>
          </a:bodyPr>
          <a:lstStyle/>
          <a:p>
            <a:pPr>
              <a:spcBef>
                <a:spcPct val="50000"/>
              </a:spcBef>
            </a:pPr>
            <a:r>
              <a:rPr lang="en-US" sz="1000" b="1"/>
              <a:t>3)</a:t>
            </a:r>
          </a:p>
        </p:txBody>
      </p:sp>
      <p:sp>
        <p:nvSpPr>
          <p:cNvPr id="6186" name="Text Box 42"/>
          <p:cNvSpPr txBox="1">
            <a:spLocks noChangeArrowheads="1"/>
          </p:cNvSpPr>
          <p:nvPr/>
        </p:nvSpPr>
        <p:spPr bwMode="auto">
          <a:xfrm>
            <a:off x="42322" y="2730501"/>
            <a:ext cx="524797" cy="244475"/>
          </a:xfrm>
          <a:prstGeom prst="rect">
            <a:avLst/>
          </a:prstGeom>
          <a:noFill/>
          <a:ln w="9525">
            <a:noFill/>
            <a:miter lim="800000"/>
            <a:headEnd/>
            <a:tailEnd/>
          </a:ln>
          <a:effectLst/>
        </p:spPr>
        <p:txBody>
          <a:bodyPr>
            <a:spAutoFit/>
          </a:bodyPr>
          <a:lstStyle/>
          <a:p>
            <a:pPr>
              <a:spcBef>
                <a:spcPct val="50000"/>
              </a:spcBef>
            </a:pPr>
            <a:r>
              <a:rPr lang="en-US" sz="1000" b="1"/>
              <a:t>4)</a:t>
            </a:r>
          </a:p>
        </p:txBody>
      </p:sp>
      <p:sp>
        <p:nvSpPr>
          <p:cNvPr id="6187" name="Text Box 43"/>
          <p:cNvSpPr txBox="1">
            <a:spLocks noChangeArrowheads="1"/>
          </p:cNvSpPr>
          <p:nvPr/>
        </p:nvSpPr>
        <p:spPr bwMode="auto">
          <a:xfrm>
            <a:off x="42322" y="3073401"/>
            <a:ext cx="524797" cy="244475"/>
          </a:xfrm>
          <a:prstGeom prst="rect">
            <a:avLst/>
          </a:prstGeom>
          <a:noFill/>
          <a:ln w="9525">
            <a:noFill/>
            <a:miter lim="800000"/>
            <a:headEnd/>
            <a:tailEnd/>
          </a:ln>
          <a:effectLst/>
        </p:spPr>
        <p:txBody>
          <a:bodyPr>
            <a:spAutoFit/>
          </a:bodyPr>
          <a:lstStyle/>
          <a:p>
            <a:pPr>
              <a:spcBef>
                <a:spcPct val="50000"/>
              </a:spcBef>
            </a:pPr>
            <a:r>
              <a:rPr lang="en-US" sz="1000" b="1"/>
              <a:t>5)</a:t>
            </a:r>
          </a:p>
        </p:txBody>
      </p:sp>
      <p:sp>
        <p:nvSpPr>
          <p:cNvPr id="6188" name="Text Box 44"/>
          <p:cNvSpPr txBox="1">
            <a:spLocks noChangeArrowheads="1"/>
          </p:cNvSpPr>
          <p:nvPr/>
        </p:nvSpPr>
        <p:spPr bwMode="auto">
          <a:xfrm>
            <a:off x="42322" y="3416301"/>
            <a:ext cx="524797" cy="244475"/>
          </a:xfrm>
          <a:prstGeom prst="rect">
            <a:avLst/>
          </a:prstGeom>
          <a:noFill/>
          <a:ln w="9525">
            <a:noFill/>
            <a:miter lim="800000"/>
            <a:headEnd/>
            <a:tailEnd/>
          </a:ln>
          <a:effectLst/>
        </p:spPr>
        <p:txBody>
          <a:bodyPr>
            <a:spAutoFit/>
          </a:bodyPr>
          <a:lstStyle/>
          <a:p>
            <a:pPr>
              <a:spcBef>
                <a:spcPct val="50000"/>
              </a:spcBef>
            </a:pPr>
            <a:r>
              <a:rPr lang="en-US" sz="1000" b="1"/>
              <a:t>6)</a:t>
            </a:r>
          </a:p>
        </p:txBody>
      </p:sp>
      <p:sp>
        <p:nvSpPr>
          <p:cNvPr id="6189" name="Text Box 45"/>
          <p:cNvSpPr txBox="1">
            <a:spLocks noChangeArrowheads="1"/>
          </p:cNvSpPr>
          <p:nvPr/>
        </p:nvSpPr>
        <p:spPr bwMode="auto">
          <a:xfrm>
            <a:off x="6119806" y="1752601"/>
            <a:ext cx="524797" cy="244475"/>
          </a:xfrm>
          <a:prstGeom prst="rect">
            <a:avLst/>
          </a:prstGeom>
          <a:noFill/>
          <a:ln w="9525">
            <a:noFill/>
            <a:miter lim="800000"/>
            <a:headEnd/>
            <a:tailEnd/>
          </a:ln>
          <a:effectLst/>
        </p:spPr>
        <p:txBody>
          <a:bodyPr>
            <a:spAutoFit/>
          </a:bodyPr>
          <a:lstStyle/>
          <a:p>
            <a:pPr algn="ctr">
              <a:spcBef>
                <a:spcPct val="50000"/>
              </a:spcBef>
            </a:pPr>
            <a:r>
              <a:rPr lang="en-US" sz="1000" b="1"/>
              <a:t>1)</a:t>
            </a:r>
          </a:p>
        </p:txBody>
      </p:sp>
      <p:sp>
        <p:nvSpPr>
          <p:cNvPr id="6190" name="Text Box 46"/>
          <p:cNvSpPr txBox="1">
            <a:spLocks noChangeArrowheads="1"/>
          </p:cNvSpPr>
          <p:nvPr/>
        </p:nvSpPr>
        <p:spPr bwMode="auto">
          <a:xfrm>
            <a:off x="6627673" y="2057401"/>
            <a:ext cx="524797" cy="244475"/>
          </a:xfrm>
          <a:prstGeom prst="rect">
            <a:avLst/>
          </a:prstGeom>
          <a:noFill/>
          <a:ln w="9525">
            <a:noFill/>
            <a:miter lim="800000"/>
            <a:headEnd/>
            <a:tailEnd/>
          </a:ln>
          <a:effectLst/>
        </p:spPr>
        <p:txBody>
          <a:bodyPr>
            <a:spAutoFit/>
          </a:bodyPr>
          <a:lstStyle/>
          <a:p>
            <a:pPr algn="ctr">
              <a:spcBef>
                <a:spcPct val="50000"/>
              </a:spcBef>
            </a:pPr>
            <a:r>
              <a:rPr lang="en-US" sz="1000" b="1"/>
              <a:t>2)</a:t>
            </a:r>
          </a:p>
        </p:txBody>
      </p:sp>
      <p:sp>
        <p:nvSpPr>
          <p:cNvPr id="6191" name="Text Box 47"/>
          <p:cNvSpPr txBox="1">
            <a:spLocks noChangeArrowheads="1"/>
          </p:cNvSpPr>
          <p:nvPr/>
        </p:nvSpPr>
        <p:spPr bwMode="auto">
          <a:xfrm>
            <a:off x="7118612" y="2387601"/>
            <a:ext cx="524797" cy="244475"/>
          </a:xfrm>
          <a:prstGeom prst="rect">
            <a:avLst/>
          </a:prstGeom>
          <a:noFill/>
          <a:ln w="9525">
            <a:noFill/>
            <a:miter lim="800000"/>
            <a:headEnd/>
            <a:tailEnd/>
          </a:ln>
          <a:effectLst/>
        </p:spPr>
        <p:txBody>
          <a:bodyPr>
            <a:spAutoFit/>
          </a:bodyPr>
          <a:lstStyle/>
          <a:p>
            <a:pPr algn="ctr">
              <a:spcBef>
                <a:spcPct val="50000"/>
              </a:spcBef>
            </a:pPr>
            <a:r>
              <a:rPr lang="en-US" sz="1000" b="1"/>
              <a:t>3)</a:t>
            </a:r>
          </a:p>
        </p:txBody>
      </p:sp>
      <p:sp>
        <p:nvSpPr>
          <p:cNvPr id="6192" name="Text Box 48"/>
          <p:cNvSpPr txBox="1">
            <a:spLocks noChangeArrowheads="1"/>
          </p:cNvSpPr>
          <p:nvPr/>
        </p:nvSpPr>
        <p:spPr bwMode="auto">
          <a:xfrm>
            <a:off x="7592622" y="2730501"/>
            <a:ext cx="524797" cy="244475"/>
          </a:xfrm>
          <a:prstGeom prst="rect">
            <a:avLst/>
          </a:prstGeom>
          <a:noFill/>
          <a:ln w="9525">
            <a:noFill/>
            <a:miter lim="800000"/>
            <a:headEnd/>
            <a:tailEnd/>
          </a:ln>
          <a:effectLst/>
        </p:spPr>
        <p:txBody>
          <a:bodyPr>
            <a:spAutoFit/>
          </a:bodyPr>
          <a:lstStyle/>
          <a:p>
            <a:pPr algn="ctr">
              <a:spcBef>
                <a:spcPct val="50000"/>
              </a:spcBef>
            </a:pPr>
            <a:r>
              <a:rPr lang="en-US" sz="1000" b="1"/>
              <a:t>4)</a:t>
            </a:r>
          </a:p>
        </p:txBody>
      </p:sp>
      <p:sp>
        <p:nvSpPr>
          <p:cNvPr id="6193" name="Text Box 49"/>
          <p:cNvSpPr txBox="1">
            <a:spLocks noChangeArrowheads="1"/>
          </p:cNvSpPr>
          <p:nvPr/>
        </p:nvSpPr>
        <p:spPr bwMode="auto">
          <a:xfrm>
            <a:off x="8066632" y="3035301"/>
            <a:ext cx="524797" cy="244475"/>
          </a:xfrm>
          <a:prstGeom prst="rect">
            <a:avLst/>
          </a:prstGeom>
          <a:noFill/>
          <a:ln w="9525">
            <a:noFill/>
            <a:miter lim="800000"/>
            <a:headEnd/>
            <a:tailEnd/>
          </a:ln>
          <a:effectLst/>
        </p:spPr>
        <p:txBody>
          <a:bodyPr>
            <a:spAutoFit/>
          </a:bodyPr>
          <a:lstStyle/>
          <a:p>
            <a:pPr algn="ctr">
              <a:spcBef>
                <a:spcPct val="50000"/>
              </a:spcBef>
            </a:pPr>
            <a:r>
              <a:rPr lang="en-US" sz="1000" b="1"/>
              <a:t>5)</a:t>
            </a:r>
          </a:p>
        </p:txBody>
      </p:sp>
      <p:sp>
        <p:nvSpPr>
          <p:cNvPr id="6194" name="Text Box 50"/>
          <p:cNvSpPr txBox="1">
            <a:spLocks noChangeArrowheads="1"/>
          </p:cNvSpPr>
          <p:nvPr/>
        </p:nvSpPr>
        <p:spPr bwMode="auto">
          <a:xfrm>
            <a:off x="8574500" y="3340101"/>
            <a:ext cx="524797" cy="244475"/>
          </a:xfrm>
          <a:prstGeom prst="rect">
            <a:avLst/>
          </a:prstGeom>
          <a:noFill/>
          <a:ln w="9525">
            <a:noFill/>
            <a:miter lim="800000"/>
            <a:headEnd/>
            <a:tailEnd/>
          </a:ln>
          <a:effectLst/>
        </p:spPr>
        <p:txBody>
          <a:bodyPr>
            <a:spAutoFit/>
          </a:bodyPr>
          <a:lstStyle/>
          <a:p>
            <a:pPr algn="ctr">
              <a:spcBef>
                <a:spcPct val="50000"/>
              </a:spcBef>
            </a:pPr>
            <a:r>
              <a:rPr lang="en-US" sz="1000" b="1"/>
              <a:t>6)</a:t>
            </a:r>
          </a:p>
        </p:txBody>
      </p:sp>
      <p:sp>
        <p:nvSpPr>
          <p:cNvPr id="6195" name="Text Box 51"/>
          <p:cNvSpPr txBox="1">
            <a:spLocks noChangeArrowheads="1"/>
          </p:cNvSpPr>
          <p:nvPr/>
        </p:nvSpPr>
        <p:spPr bwMode="auto">
          <a:xfrm>
            <a:off x="12697" y="1163638"/>
            <a:ext cx="1574390"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Customer</a:t>
            </a:r>
          </a:p>
        </p:txBody>
      </p:sp>
      <p:sp>
        <p:nvSpPr>
          <p:cNvPr id="6196" name="Text Box 52"/>
          <p:cNvSpPr txBox="1">
            <a:spLocks noChangeArrowheads="1"/>
          </p:cNvSpPr>
          <p:nvPr/>
        </p:nvSpPr>
        <p:spPr bwMode="auto">
          <a:xfrm>
            <a:off x="0" y="4025900"/>
            <a:ext cx="524797" cy="244475"/>
          </a:xfrm>
          <a:prstGeom prst="rect">
            <a:avLst/>
          </a:prstGeom>
          <a:noFill/>
          <a:ln w="9525">
            <a:noFill/>
            <a:miter lim="800000"/>
            <a:headEnd/>
            <a:tailEnd/>
          </a:ln>
          <a:effectLst/>
        </p:spPr>
        <p:txBody>
          <a:bodyPr>
            <a:spAutoFit/>
          </a:bodyPr>
          <a:lstStyle/>
          <a:p>
            <a:pPr algn="ctr">
              <a:spcBef>
                <a:spcPct val="50000"/>
              </a:spcBef>
            </a:pPr>
            <a:r>
              <a:rPr lang="en-US" sz="1000" b="1"/>
              <a:t>1)</a:t>
            </a:r>
          </a:p>
        </p:txBody>
      </p:sp>
      <p:sp>
        <p:nvSpPr>
          <p:cNvPr id="6197" name="Text Box 53"/>
          <p:cNvSpPr txBox="1">
            <a:spLocks noChangeArrowheads="1"/>
          </p:cNvSpPr>
          <p:nvPr/>
        </p:nvSpPr>
        <p:spPr bwMode="auto">
          <a:xfrm>
            <a:off x="0" y="4348164"/>
            <a:ext cx="524797" cy="244475"/>
          </a:xfrm>
          <a:prstGeom prst="rect">
            <a:avLst/>
          </a:prstGeom>
          <a:noFill/>
          <a:ln w="9525">
            <a:noFill/>
            <a:miter lim="800000"/>
            <a:headEnd/>
            <a:tailEnd/>
          </a:ln>
          <a:effectLst/>
        </p:spPr>
        <p:txBody>
          <a:bodyPr>
            <a:spAutoFit/>
          </a:bodyPr>
          <a:lstStyle/>
          <a:p>
            <a:pPr algn="ctr">
              <a:spcBef>
                <a:spcPct val="50000"/>
              </a:spcBef>
            </a:pPr>
            <a:r>
              <a:rPr lang="en-US" sz="1000" b="1"/>
              <a:t>2)</a:t>
            </a:r>
          </a:p>
        </p:txBody>
      </p:sp>
      <p:sp>
        <p:nvSpPr>
          <p:cNvPr id="6198" name="Text Box 54"/>
          <p:cNvSpPr txBox="1">
            <a:spLocks noChangeArrowheads="1"/>
          </p:cNvSpPr>
          <p:nvPr/>
        </p:nvSpPr>
        <p:spPr bwMode="auto">
          <a:xfrm>
            <a:off x="0" y="4670426"/>
            <a:ext cx="524797" cy="244475"/>
          </a:xfrm>
          <a:prstGeom prst="rect">
            <a:avLst/>
          </a:prstGeom>
          <a:noFill/>
          <a:ln w="9525">
            <a:noFill/>
            <a:miter lim="800000"/>
            <a:headEnd/>
            <a:tailEnd/>
          </a:ln>
          <a:effectLst/>
        </p:spPr>
        <p:txBody>
          <a:bodyPr>
            <a:spAutoFit/>
          </a:bodyPr>
          <a:lstStyle/>
          <a:p>
            <a:pPr algn="ctr">
              <a:spcBef>
                <a:spcPct val="50000"/>
              </a:spcBef>
            </a:pPr>
            <a:r>
              <a:rPr lang="en-US" sz="1000" b="1"/>
              <a:t>3)</a:t>
            </a:r>
          </a:p>
        </p:txBody>
      </p:sp>
      <p:sp>
        <p:nvSpPr>
          <p:cNvPr id="6199" name="Text Box 55"/>
          <p:cNvSpPr txBox="1">
            <a:spLocks noChangeArrowheads="1"/>
          </p:cNvSpPr>
          <p:nvPr/>
        </p:nvSpPr>
        <p:spPr bwMode="auto">
          <a:xfrm>
            <a:off x="0" y="4992689"/>
            <a:ext cx="524797" cy="244475"/>
          </a:xfrm>
          <a:prstGeom prst="rect">
            <a:avLst/>
          </a:prstGeom>
          <a:noFill/>
          <a:ln w="9525">
            <a:noFill/>
            <a:miter lim="800000"/>
            <a:headEnd/>
            <a:tailEnd/>
          </a:ln>
          <a:effectLst/>
        </p:spPr>
        <p:txBody>
          <a:bodyPr>
            <a:spAutoFit/>
          </a:bodyPr>
          <a:lstStyle/>
          <a:p>
            <a:pPr algn="ctr">
              <a:spcBef>
                <a:spcPct val="50000"/>
              </a:spcBef>
            </a:pPr>
            <a:r>
              <a:rPr lang="en-US" sz="1000" b="1"/>
              <a:t>4)</a:t>
            </a:r>
          </a:p>
        </p:txBody>
      </p:sp>
      <p:sp>
        <p:nvSpPr>
          <p:cNvPr id="6200" name="Text Box 56"/>
          <p:cNvSpPr txBox="1">
            <a:spLocks noChangeArrowheads="1"/>
          </p:cNvSpPr>
          <p:nvPr/>
        </p:nvSpPr>
        <p:spPr bwMode="auto">
          <a:xfrm>
            <a:off x="0" y="5314951"/>
            <a:ext cx="524797" cy="244475"/>
          </a:xfrm>
          <a:prstGeom prst="rect">
            <a:avLst/>
          </a:prstGeom>
          <a:noFill/>
          <a:ln w="9525">
            <a:noFill/>
            <a:miter lim="800000"/>
            <a:headEnd/>
            <a:tailEnd/>
          </a:ln>
          <a:effectLst/>
        </p:spPr>
        <p:txBody>
          <a:bodyPr>
            <a:spAutoFit/>
          </a:bodyPr>
          <a:lstStyle/>
          <a:p>
            <a:pPr algn="ctr">
              <a:spcBef>
                <a:spcPct val="50000"/>
              </a:spcBef>
            </a:pPr>
            <a:r>
              <a:rPr lang="en-US" sz="1000" b="1"/>
              <a:t>5)</a:t>
            </a:r>
          </a:p>
        </p:txBody>
      </p:sp>
      <p:sp>
        <p:nvSpPr>
          <p:cNvPr id="6201" name="Text Box 57"/>
          <p:cNvSpPr txBox="1">
            <a:spLocks noChangeArrowheads="1"/>
          </p:cNvSpPr>
          <p:nvPr/>
        </p:nvSpPr>
        <p:spPr bwMode="auto">
          <a:xfrm>
            <a:off x="0" y="5638801"/>
            <a:ext cx="524797" cy="244475"/>
          </a:xfrm>
          <a:prstGeom prst="rect">
            <a:avLst/>
          </a:prstGeom>
          <a:noFill/>
          <a:ln w="9525">
            <a:noFill/>
            <a:miter lim="800000"/>
            <a:headEnd/>
            <a:tailEnd/>
          </a:ln>
          <a:effectLst/>
        </p:spPr>
        <p:txBody>
          <a:bodyPr>
            <a:spAutoFit/>
          </a:bodyPr>
          <a:lstStyle/>
          <a:p>
            <a:pPr algn="ctr">
              <a:spcBef>
                <a:spcPct val="50000"/>
              </a:spcBef>
            </a:pPr>
            <a:r>
              <a:rPr lang="en-US" sz="1000" b="1"/>
              <a:t>6)</a:t>
            </a:r>
          </a:p>
        </p:txBody>
      </p:sp>
      <p:sp>
        <p:nvSpPr>
          <p:cNvPr id="6202" name="Line 58"/>
          <p:cNvSpPr>
            <a:spLocks noChangeShapeType="1"/>
          </p:cNvSpPr>
          <p:nvPr/>
        </p:nvSpPr>
        <p:spPr bwMode="auto">
          <a:xfrm flipH="1">
            <a:off x="1944711" y="1131888"/>
            <a:ext cx="0" cy="273050"/>
          </a:xfrm>
          <a:prstGeom prst="line">
            <a:avLst/>
          </a:prstGeom>
          <a:noFill/>
          <a:ln w="9525">
            <a:solidFill>
              <a:schemeClr val="tx1"/>
            </a:solidFill>
            <a:round/>
            <a:headEnd/>
            <a:tailEnd/>
          </a:ln>
          <a:effectLst/>
        </p:spPr>
        <p:txBody>
          <a:bodyPr anchor="ctr">
            <a:spAutoFit/>
          </a:bodyPr>
          <a:lstStyle/>
          <a:p>
            <a:endParaRPr lang="en-US"/>
          </a:p>
        </p:txBody>
      </p:sp>
      <p:sp>
        <p:nvSpPr>
          <p:cNvPr id="6213" name="Text Box 69"/>
          <p:cNvSpPr txBox="1">
            <a:spLocks noChangeArrowheads="1"/>
          </p:cNvSpPr>
          <p:nvPr/>
        </p:nvSpPr>
        <p:spPr bwMode="auto">
          <a:xfrm>
            <a:off x="9128923" y="3689350"/>
            <a:ext cx="3059903" cy="247650"/>
          </a:xfrm>
          <a:prstGeom prst="rect">
            <a:avLst/>
          </a:prstGeom>
          <a:noFill/>
          <a:ln w="9525">
            <a:noFill/>
            <a:miter lim="800000"/>
            <a:headEnd/>
            <a:tailEnd/>
          </a:ln>
          <a:effectLst/>
        </p:spPr>
        <p:txBody>
          <a:bodyPr>
            <a:spAutoFit/>
          </a:bodyPr>
          <a:lstStyle/>
          <a:p>
            <a:pPr>
              <a:lnSpc>
                <a:spcPct val="85000"/>
              </a:lnSpc>
              <a:spcBef>
                <a:spcPct val="20000"/>
              </a:spcBef>
            </a:pPr>
            <a:r>
              <a:rPr lang="en-US" sz="1200" b="1"/>
              <a:t>Value Alignment</a:t>
            </a:r>
          </a:p>
        </p:txBody>
      </p:sp>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15</TotalTime>
  <Words>163</Words>
  <Application>Microsoft Office PowerPoint</Application>
  <PresentationFormat>Custom</PresentationFormat>
  <Paragraphs>75</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blank</vt:lpstr>
      <vt:lpstr>Slide 1</vt:lpstr>
      <vt:lpstr>Slide 2</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FPID Value Assessment</dc:title>
  <dc:creator>Oracle Global Methods</dc:creator>
  <cp:keywords>OUM</cp:keywords>
  <dc:description>Copyright © 2014 Oracle and/or its affiliates.  All rights reserved.</dc:description>
  <cp:lastModifiedBy>masander</cp:lastModifiedBy>
  <cp:revision>5</cp:revision>
  <dcterms:created xsi:type="dcterms:W3CDTF">2014-06-16T21:02:19Z</dcterms:created>
  <dcterms:modified xsi:type="dcterms:W3CDTF">2014-06-27T15:23:59Z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