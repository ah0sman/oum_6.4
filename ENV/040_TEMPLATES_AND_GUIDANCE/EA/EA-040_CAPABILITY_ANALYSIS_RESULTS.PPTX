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14.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354" r:id="rId2"/>
    <p:sldId id="258" r:id="rId3"/>
    <p:sldId id="372" r:id="rId4"/>
    <p:sldId id="373" r:id="rId5"/>
    <p:sldId id="376" r:id="rId6"/>
    <p:sldId id="381" r:id="rId7"/>
    <p:sldId id="382" r:id="rId8"/>
    <p:sldId id="383" r:id="rId9"/>
    <p:sldId id="385" r:id="rId10"/>
    <p:sldId id="386" r:id="rId11"/>
    <p:sldId id="387" r:id="rId12"/>
    <p:sldId id="388" r:id="rId13"/>
    <p:sldId id="389" r:id="rId14"/>
    <p:sldId id="390" r:id="rId15"/>
    <p:sldId id="289" r:id="rId16"/>
  </p:sldIdLst>
  <p:sldSz cx="12188825"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7" pos="33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FFFCC"/>
    <a:srgbClr val="000000"/>
    <a:srgbClr val="7F7F7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760" autoAdjust="0"/>
  </p:normalViewPr>
  <p:slideViewPr>
    <p:cSldViewPr>
      <p:cViewPr varScale="1">
        <p:scale>
          <a:sx n="56" d="100"/>
          <a:sy n="56" d="100"/>
        </p:scale>
        <p:origin x="-1854" y="-84"/>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1/12/2016</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 xmlns:p14="http://schemas.microsoft.com/office/powerpoint/2010/main"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 xmlns:p14="http://schemas.microsoft.com/office/powerpoint/2010/main"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template provides guidance for the execution of task, Analyze</a:t>
            </a:r>
            <a:r>
              <a:rPr lang="en-US" baseline="0" dirty="0" smtClean="0"/>
              <a:t> Capabilities (EA.040).  It is in a presentation format that may be used to present the results to the relevant stakeholders.  Be sure to remove all instructions from the notes prior to providing a copy of the presentation to relevant customer stakeholders.</a:t>
            </a:r>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pPr>
              <a:buClr>
                <a:srgbClr val="FF0000"/>
              </a:buClr>
            </a:pPr>
            <a:r>
              <a:rPr lang="nb-NO" sz="1100" b="0" baseline="0" dirty="0" smtClean="0">
                <a:solidFill>
                  <a:srgbClr val="000000"/>
                </a:solidFill>
                <a:latin typeface="Calibri" pitchFamily="34" charset="0"/>
              </a:rPr>
              <a:t>Update the &lt;AREA&gt; of the title appropriately. This could be anything relevant for the capability analysis you are about to perform, such as:</a:t>
            </a:r>
          </a:p>
          <a:p>
            <a:pPr>
              <a:buClr>
                <a:srgbClr val="FF0000"/>
              </a:buClr>
            </a:pPr>
            <a:endParaRPr lang="nb-NO" sz="1100" b="0" baseline="0" dirty="0" smtClean="0">
              <a:solidFill>
                <a:srgbClr val="000000"/>
              </a:solidFill>
              <a:latin typeface="Calibri" pitchFamily="34" charset="0"/>
            </a:endParaRPr>
          </a:p>
          <a:p>
            <a:pPr>
              <a:buClr>
                <a:srgbClr val="FF0000"/>
              </a:buClr>
              <a:buFontTx/>
              <a:buChar char="-"/>
            </a:pPr>
            <a:r>
              <a:rPr lang="nb-NO" sz="1100" b="0" baseline="0" dirty="0" smtClean="0">
                <a:solidFill>
                  <a:srgbClr val="000000"/>
                </a:solidFill>
                <a:latin typeface="Calibri" pitchFamily="34" charset="0"/>
              </a:rPr>
              <a:t> Business Capabilities Analysis</a:t>
            </a:r>
          </a:p>
          <a:p>
            <a:pPr>
              <a:buClr>
                <a:srgbClr val="FF0000"/>
              </a:buClr>
              <a:buFontTx/>
              <a:buChar char="-"/>
            </a:pPr>
            <a:r>
              <a:rPr lang="nb-NO" sz="1100" b="0" baseline="0" dirty="0" smtClean="0">
                <a:solidFill>
                  <a:srgbClr val="000000"/>
                </a:solidFill>
                <a:latin typeface="Calibri" pitchFamily="34" charset="0"/>
              </a:rPr>
              <a:t> &lt;Business Domain&gt; Capabilities Analysis</a:t>
            </a:r>
          </a:p>
          <a:p>
            <a:pPr>
              <a:buClr>
                <a:srgbClr val="FF0000"/>
              </a:buClr>
              <a:buFontTx/>
              <a:buChar char="-"/>
            </a:pPr>
            <a:r>
              <a:rPr lang="nb-NO" sz="1100" b="0" baseline="0" dirty="0" smtClean="0">
                <a:solidFill>
                  <a:srgbClr val="000000"/>
                </a:solidFill>
                <a:latin typeface="Calibri" pitchFamily="34" charset="0"/>
              </a:rPr>
              <a:t> Architecture Capabilities Analysis</a:t>
            </a:r>
          </a:p>
          <a:p>
            <a:pPr>
              <a:buClr>
                <a:srgbClr val="FF0000"/>
              </a:buClr>
              <a:buFontTx/>
              <a:buChar char="-"/>
            </a:pPr>
            <a:r>
              <a:rPr lang="nb-NO" sz="1100" b="0" baseline="0" dirty="0" smtClean="0">
                <a:solidFill>
                  <a:srgbClr val="000000"/>
                </a:solidFill>
                <a:latin typeface="Calibri" pitchFamily="34" charset="0"/>
              </a:rPr>
              <a:t> &lt;Subject&gt; Capabilties analysis, like</a:t>
            </a:r>
          </a:p>
          <a:p>
            <a:pPr>
              <a:buClr>
                <a:srgbClr val="FF0000"/>
              </a:buClr>
              <a:buFontTx/>
              <a:buChar char="-"/>
            </a:pPr>
            <a:r>
              <a:rPr lang="nb-NO" sz="1100" b="0" baseline="0" dirty="0" smtClean="0">
                <a:solidFill>
                  <a:srgbClr val="000000"/>
                </a:solidFill>
                <a:latin typeface="Calibri" pitchFamily="34" charset="0"/>
              </a:rPr>
              <a:t> SOA Capabilties Analysis</a:t>
            </a:r>
          </a:p>
          <a:p>
            <a:pPr>
              <a:buClr>
                <a:srgbClr val="FF0000"/>
              </a:buClr>
              <a:buFontTx/>
              <a:buChar char="-"/>
            </a:pPr>
            <a:r>
              <a:rPr lang="nb-NO" sz="1100" b="0" baseline="0" dirty="0" smtClean="0">
                <a:solidFill>
                  <a:srgbClr val="000000"/>
                </a:solidFill>
                <a:latin typeface="Calibri" pitchFamily="34" charset="0"/>
              </a:rPr>
              <a:t> Cloud Capabilities Analysis</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a:p>
            <a:pPr marL="0" indent="0">
              <a:buNone/>
            </a:pPr>
            <a:endParaRPr lang="en-US" baseline="0" dirty="0" smtClean="0"/>
          </a:p>
          <a:p>
            <a:pPr marL="0" indent="0">
              <a:buNone/>
            </a:pPr>
            <a:endParaRPr lang="en-US" baseline="0"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 xmlns:p14="http://schemas.microsoft.com/office/powerpoint/2010/main"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nb-NO" b="0" dirty="0" smtClean="0"/>
              <a:t>Analyzing the capabilities may be a time consuming task, and therefore you need to keep the scope in mind while doing this work.</a:t>
            </a:r>
          </a:p>
          <a:p>
            <a:endParaRPr lang="nb-NO" b="0" dirty="0" smtClean="0"/>
          </a:p>
          <a:p>
            <a:r>
              <a:rPr lang="nb-NO" b="0" dirty="0" smtClean="0"/>
              <a:t>Typically, you analyze based on level 1 or level 2 capabilities, dependent on your scope and timeframe. </a:t>
            </a:r>
          </a:p>
          <a:p>
            <a:endParaRPr lang="nb-NO" b="0" dirty="0" smtClean="0"/>
          </a:p>
          <a:p>
            <a:r>
              <a:rPr lang="nb-NO" b="0" dirty="0" smtClean="0"/>
              <a:t>Preferably, you analyze to level 2, as this provides more detail and will better assist further work.</a:t>
            </a:r>
          </a:p>
          <a:p>
            <a:endParaRPr lang="nb-NO" b="0" dirty="0" smtClean="0"/>
          </a:p>
          <a:p>
            <a:r>
              <a:rPr lang="nb-NO" b="0" dirty="0" smtClean="0"/>
              <a:t>With very short timeframes, it is recommended that you focus on the changing capabilities, or capabilties that you have been specifically asked to look into.</a:t>
            </a:r>
          </a:p>
        </p:txBody>
      </p:sp>
      <p:sp>
        <p:nvSpPr>
          <p:cNvPr id="4" name="Slide Number Placeholder 3"/>
          <p:cNvSpPr>
            <a:spLocks noGrp="1"/>
          </p:cNvSpPr>
          <p:nvPr>
            <p:ph type="sldNum" sz="quarter" idx="10"/>
          </p:nvPr>
        </p:nvSpPr>
        <p:spPr/>
        <p:txBody>
          <a:bodyPr/>
          <a:lstStyle/>
          <a:p>
            <a:fld id="{8C72D9AE-7182-4680-8F79-479C4181FF08}" type="slidenum">
              <a:rPr lang="en-US" smtClean="0"/>
              <a:pPr/>
              <a:t>4</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nb-NO" dirty="0" smtClean="0"/>
              <a:t>This is an example Top</a:t>
            </a:r>
            <a:r>
              <a:rPr lang="nb-NO" baseline="0" dirty="0" smtClean="0"/>
              <a:t>-Level Business Capabilities view.  Replace it with a project-specific view.</a:t>
            </a:r>
          </a:p>
          <a:p>
            <a:endParaRPr lang="nb-NO" baseline="0" dirty="0" smtClean="0"/>
          </a:p>
          <a:p>
            <a:r>
              <a:rPr lang="nb-NO" baseline="0" dirty="0" smtClean="0"/>
              <a:t>This example is also available as a Visio template in the Oracle Unified Method, EA-040_TOP_LEVEL_BUSINESS_CAPABILITES.VSD so that you can use it as a guide for creating your project-specific Top-Level Business Capabilities.</a:t>
            </a:r>
          </a:p>
          <a:p>
            <a:endParaRPr lang="nb-NO" baseline="0" dirty="0" smtClean="0"/>
          </a:p>
          <a:p>
            <a:r>
              <a:rPr lang="nb-NO" baseline="0" dirty="0" smtClean="0"/>
              <a:t>Keep in mind that this picture should reflect the actual situation at the customer, and not some standard picture.</a:t>
            </a:r>
          </a:p>
          <a:p>
            <a:endParaRPr lang="nb-NO" baseline="0" dirty="0" smtClean="0"/>
          </a:p>
          <a:p>
            <a:r>
              <a:rPr lang="nb-NO" baseline="0" dirty="0" smtClean="0"/>
              <a:t>The naming should reflect the naming conventions used in the organization, and the capabities should be named using their terminology. </a:t>
            </a:r>
          </a:p>
          <a:p>
            <a:endParaRPr lang="nb-NO" baseline="0" dirty="0" smtClean="0"/>
          </a:p>
          <a:p>
            <a:r>
              <a:rPr lang="nb-NO" baseline="0" dirty="0" smtClean="0"/>
              <a:t>Again, keep in mind the scope of the analysis. An overview that pictures the overall business view provides value, but unless there already exists a similar view, or unless you have in scope to model the whole enterprise, only focus on the business areas related to the scope of the engagement.</a:t>
            </a:r>
          </a:p>
        </p:txBody>
      </p:sp>
      <p:sp>
        <p:nvSpPr>
          <p:cNvPr id="4" name="Slide Number Placeholder 3"/>
          <p:cNvSpPr>
            <a:spLocks noGrp="1"/>
          </p:cNvSpPr>
          <p:nvPr>
            <p:ph type="sldNum" sz="quarter" idx="10"/>
          </p:nvPr>
        </p:nvSpPr>
        <p:spPr/>
        <p:txBody>
          <a:bodyPr/>
          <a:lstStyle/>
          <a:p>
            <a:fld id="{8C72D9AE-7182-4680-8F79-479C4181FF08}" type="slidenum">
              <a:rPr lang="en-US" smtClean="0"/>
              <a:pPr/>
              <a:t>5</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nb-NO" baseline="0" dirty="0" smtClean="0"/>
              <a:t>If you have an overview Top-Level Business Capabilities, but your analysis is focusing on only a subset, consider depicting the scope as depicted on this slide.</a:t>
            </a:r>
          </a:p>
        </p:txBody>
      </p:sp>
      <p:sp>
        <p:nvSpPr>
          <p:cNvPr id="4" name="Slide Number Placeholder 3"/>
          <p:cNvSpPr>
            <a:spLocks noGrp="1"/>
          </p:cNvSpPr>
          <p:nvPr>
            <p:ph type="sldNum" sz="quarter" idx="10"/>
          </p:nvPr>
        </p:nvSpPr>
        <p:spPr/>
        <p:txBody>
          <a:bodyPr/>
          <a:lstStyle/>
          <a:p>
            <a:fld id="{8C72D9AE-7182-4680-8F79-479C4181FF08}" type="slidenum">
              <a:rPr lang="en-US" smtClean="0"/>
              <a:pPr/>
              <a:t>6</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nb-NO" b="0" dirty="0" smtClean="0"/>
              <a:t>On</a:t>
            </a:r>
            <a:r>
              <a:rPr lang="nb-NO" b="0" baseline="0" dirty="0" smtClean="0"/>
              <a:t> this slide, </a:t>
            </a:r>
            <a:r>
              <a:rPr lang="nb-NO" b="0" dirty="0" smtClean="0"/>
              <a:t>we see how the capabilities can be detailed one</a:t>
            </a:r>
            <a:r>
              <a:rPr lang="nb-NO" b="0" baseline="0" dirty="0" smtClean="0"/>
              <a:t> level down. </a:t>
            </a:r>
          </a:p>
          <a:p>
            <a:endParaRPr lang="nb-NO" b="0" baseline="0" dirty="0" smtClean="0"/>
          </a:p>
          <a:p>
            <a:r>
              <a:rPr lang="nb-NO" b="0" baseline="0" dirty="0" smtClean="0"/>
              <a:t>This is an example of </a:t>
            </a:r>
            <a:r>
              <a:rPr lang="nb-NO" b="0" dirty="0" smtClean="0"/>
              <a:t>level 2 capabilities for the Customer Relations Capability. </a:t>
            </a:r>
          </a:p>
          <a:p>
            <a:endParaRPr lang="nb-NO" b="0" dirty="0" smtClean="0"/>
          </a:p>
          <a:p>
            <a:r>
              <a:rPr lang="nb-NO" b="0" dirty="0" smtClean="0"/>
              <a:t>Powerpoint has been used to draw the capabilities.</a:t>
            </a:r>
            <a:r>
              <a:rPr lang="nb-NO" b="0" baseline="0" dirty="0" smtClean="0"/>
              <a:t> </a:t>
            </a:r>
          </a:p>
          <a:p>
            <a:endParaRPr lang="nb-NO" b="0" baseline="0" dirty="0" smtClean="0"/>
          </a:p>
          <a:p>
            <a:r>
              <a:rPr lang="nb-NO" b="0" baseline="0" dirty="0" smtClean="0"/>
              <a:t>Typically, this is the moment you start the actual analysis, and to secure that you focus on the correct parts, it is recommended that you do the analysis according to the customer’s priorities. </a:t>
            </a:r>
          </a:p>
          <a:p>
            <a:endParaRPr lang="nb-NO" b="0" baseline="0" dirty="0" smtClean="0"/>
          </a:p>
          <a:p>
            <a:r>
              <a:rPr lang="nb-NO" b="0" baseline="0" dirty="0" smtClean="0"/>
              <a:t>In this example, we see an example on how the priorities can be visualized. C</a:t>
            </a:r>
            <a:r>
              <a:rPr lang="nb-NO" b="0" dirty="0" smtClean="0"/>
              <a:t>ustomer Service, Customer Management and Customer Communications Management should be looked more into, and</a:t>
            </a:r>
            <a:r>
              <a:rPr lang="nb-NO" b="0" baseline="0" dirty="0" smtClean="0"/>
              <a:t> if time is left, </a:t>
            </a:r>
            <a:r>
              <a:rPr lang="nb-NO" b="0" dirty="0" smtClean="0"/>
              <a:t>Marketing.</a:t>
            </a:r>
          </a:p>
        </p:txBody>
      </p:sp>
      <p:sp>
        <p:nvSpPr>
          <p:cNvPr id="4" name="Slide Number Placeholder 3"/>
          <p:cNvSpPr>
            <a:spLocks noGrp="1"/>
          </p:cNvSpPr>
          <p:nvPr>
            <p:ph type="sldNum" sz="quarter" idx="10"/>
          </p:nvPr>
        </p:nvSpPr>
        <p:spPr/>
        <p:txBody>
          <a:bodyPr/>
          <a:lstStyle/>
          <a:p>
            <a:fld id="{8C72D9AE-7182-4680-8F79-479C4181FF08}" type="slidenum">
              <a:rPr lang="en-US" smtClean="0"/>
              <a:pPr/>
              <a:t>7</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nb-NO" b="0" dirty="0" smtClean="0"/>
              <a:t>Capability analysis will be different depending on the type of engagement you are executing and the objectives the Enterprise has for the engagement. </a:t>
            </a:r>
          </a:p>
          <a:p>
            <a:endParaRPr lang="nb-NO" b="0" dirty="0" smtClean="0"/>
          </a:p>
          <a:p>
            <a:r>
              <a:rPr lang="nb-NO" b="0" dirty="0" smtClean="0"/>
              <a:t>One</a:t>
            </a:r>
            <a:r>
              <a:rPr lang="nb-NO" b="0" baseline="0" dirty="0" smtClean="0"/>
              <a:t> approach is to view the  business capabilties that support the business objectives. </a:t>
            </a:r>
          </a:p>
          <a:p>
            <a:r>
              <a:rPr lang="nb-NO" b="0" baseline="0" dirty="0" smtClean="0"/>
              <a:t>The following slides show how such an analysis can be performed, and presented. </a:t>
            </a:r>
          </a:p>
        </p:txBody>
      </p:sp>
      <p:sp>
        <p:nvSpPr>
          <p:cNvPr id="4" name="Slide Number Placeholder 3"/>
          <p:cNvSpPr>
            <a:spLocks noGrp="1"/>
          </p:cNvSpPr>
          <p:nvPr>
            <p:ph type="sldNum" sz="quarter" idx="10"/>
          </p:nvPr>
        </p:nvSpPr>
        <p:spPr/>
        <p:txBody>
          <a:bodyPr/>
          <a:lstStyle/>
          <a:p>
            <a:fld id="{8C72D9AE-7182-4680-8F79-479C4181FF08}" type="slidenum">
              <a:rPr lang="en-US" smtClean="0"/>
              <a:pPr/>
              <a:t>8</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nb-NO" b="0" dirty="0" smtClean="0"/>
              <a:t>Here we can see</a:t>
            </a:r>
            <a:r>
              <a:rPr lang="nb-NO" b="0" baseline="0" dirty="0" smtClean="0"/>
              <a:t>, through the use of colors </a:t>
            </a:r>
            <a:r>
              <a:rPr lang="nb-NO" b="0" dirty="0" smtClean="0"/>
              <a:t>which capabilities may contribute</a:t>
            </a:r>
            <a:r>
              <a:rPr lang="nb-NO" b="0" baseline="0" dirty="0" smtClean="0"/>
              <a:t> to the business objective. </a:t>
            </a:r>
          </a:p>
        </p:txBody>
      </p:sp>
      <p:sp>
        <p:nvSpPr>
          <p:cNvPr id="4" name="Slide Number Placeholder 3"/>
          <p:cNvSpPr>
            <a:spLocks noGrp="1"/>
          </p:cNvSpPr>
          <p:nvPr>
            <p:ph type="sldNum" sz="quarter" idx="10"/>
          </p:nvPr>
        </p:nvSpPr>
        <p:spPr/>
        <p:txBody>
          <a:bodyPr/>
          <a:lstStyle/>
          <a:p>
            <a:fld id="{8C72D9AE-7182-4680-8F79-479C4181FF08}" type="slidenum">
              <a:rPr lang="en-US" smtClean="0"/>
              <a:pPr/>
              <a:t>9</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nb-NO" b="0" dirty="0" smtClean="0"/>
              <a:t>A further analysis</a:t>
            </a:r>
            <a:r>
              <a:rPr lang="nb-NO" b="0" baseline="0" dirty="0" smtClean="0"/>
              <a:t> on the capabilities would be to determine the capabilities that will be differentiated compared to other businesses. </a:t>
            </a:r>
            <a:endParaRPr lang="nb-NO" b="0" baseline="0" smtClean="0"/>
          </a:p>
          <a:p>
            <a:endParaRPr lang="nb-NO" b="0" baseline="0" dirty="0" smtClean="0"/>
          </a:p>
          <a:p>
            <a:r>
              <a:rPr lang="nb-NO" b="0" baseline="0" dirty="0" smtClean="0"/>
              <a:t>For this, use another color code. </a:t>
            </a:r>
            <a:endParaRPr lang="en-US"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10</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nb-NO" b="0" dirty="0" smtClean="0"/>
              <a:t>Another element to include in the analysis</a:t>
            </a:r>
            <a:r>
              <a:rPr lang="nb-NO" b="0" baseline="0" dirty="0" smtClean="0"/>
              <a:t> may be to include </a:t>
            </a:r>
            <a:r>
              <a:rPr lang="nb-NO" b="0" dirty="0" smtClean="0"/>
              <a:t>the </a:t>
            </a:r>
            <a:r>
              <a:rPr lang="en-US" b="0" dirty="0" smtClean="0"/>
              <a:t>reliance or impact on key business processes.</a:t>
            </a:r>
          </a:p>
          <a:p>
            <a:endParaRPr lang="en-US" b="0" dirty="0" smtClean="0"/>
          </a:p>
          <a:p>
            <a:r>
              <a:rPr lang="en-US" b="0" dirty="0" smtClean="0"/>
              <a:t>For this, use</a:t>
            </a:r>
            <a:r>
              <a:rPr lang="en-US" b="0" baseline="0" dirty="0" smtClean="0"/>
              <a:t> another color code.</a:t>
            </a:r>
            <a:endParaRPr lang="en-US" b="0"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11</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nb-NO" b="0" dirty="0" smtClean="0"/>
              <a:t>And, of course, you would also typically have a look at </a:t>
            </a:r>
            <a:r>
              <a:rPr lang="en-US" b="0" dirty="0" smtClean="0"/>
              <a:t>the reliance and impact of IT for the chosen</a:t>
            </a:r>
            <a:r>
              <a:rPr lang="en-US" b="0" baseline="0" dirty="0" smtClean="0"/>
              <a:t> </a:t>
            </a:r>
            <a:r>
              <a:rPr lang="en-US" b="0" dirty="0" smtClean="0"/>
              <a:t>capabilities. </a:t>
            </a:r>
          </a:p>
          <a:p>
            <a:endParaRPr lang="nb-NO" b="0" dirty="0" smtClean="0"/>
          </a:p>
          <a:p>
            <a:r>
              <a:rPr lang="nb-NO" b="0" dirty="0" smtClean="0"/>
              <a:t>In this case, you should not look for all the capabilties that use IT in general, but those that where the supporting </a:t>
            </a:r>
            <a:r>
              <a:rPr lang="en-US" b="0" dirty="0" smtClean="0"/>
              <a:t>IT capabilities </a:t>
            </a:r>
            <a:r>
              <a:rPr lang="en-US" b="0" u="sng" dirty="0" smtClean="0"/>
              <a:t>drive</a:t>
            </a:r>
            <a:r>
              <a:rPr lang="en-US" b="0" dirty="0" smtClean="0"/>
              <a:t> the performance or delivery of the capabilities </a:t>
            </a:r>
            <a:r>
              <a:rPr lang="en-US" b="0" u="sng" dirty="0" smtClean="0"/>
              <a:t>value</a:t>
            </a:r>
            <a:r>
              <a:rPr lang="en-US" b="0" dirty="0" smtClean="0"/>
              <a:t> to the organization.</a:t>
            </a:r>
          </a:p>
          <a:p>
            <a:endParaRPr lang="en-US" b="0" dirty="0" smtClean="0"/>
          </a:p>
          <a:p>
            <a:r>
              <a:rPr lang="nb-NO" b="0" dirty="0" smtClean="0"/>
              <a:t>Identify those capabilities where if the IT capabilities supporting the capability were not there, the business capability would be either missing, or insufficient. </a:t>
            </a:r>
          </a:p>
        </p:txBody>
      </p:sp>
      <p:sp>
        <p:nvSpPr>
          <p:cNvPr id="4" name="Slide Number Placeholder 3"/>
          <p:cNvSpPr>
            <a:spLocks noGrp="1"/>
          </p:cNvSpPr>
          <p:nvPr>
            <p:ph type="sldNum" sz="quarter" idx="10"/>
          </p:nvPr>
        </p:nvSpPr>
        <p:spPr/>
        <p:txBody>
          <a:bodyPr/>
          <a:lstStyle/>
          <a:p>
            <a:fld id="{8C72D9AE-7182-4680-8F79-479C4181FF08}" type="slidenum">
              <a:rPr lang="en-US" smtClean="0"/>
              <a:pPr/>
              <a:t>12</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nb-NO" b="0" dirty="0" smtClean="0"/>
              <a:t>Another way of analyzing the capabilities further, which may be useful</a:t>
            </a:r>
            <a:r>
              <a:rPr lang="nb-NO" b="0" baseline="0" dirty="0" smtClean="0"/>
              <a:t> as additional analysis, or instead – all dependent on the actual purpose of the analysis - </a:t>
            </a:r>
            <a:r>
              <a:rPr lang="nb-NO" b="0" dirty="0" smtClean="0"/>
              <a:t> is to look at different attributes for each capability in a prioritized order,</a:t>
            </a:r>
            <a:r>
              <a:rPr lang="nb-NO" b="0" baseline="0" dirty="0" smtClean="0"/>
              <a:t> as shown on this slide.</a:t>
            </a:r>
            <a:endParaRPr lang="nb-NO" b="0"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13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a:t>
            </a:r>
            <a:r>
              <a:rPr lang="en-US" baseline="0" dirty="0" smtClean="0"/>
              <a:t> slide shows a completed example.</a:t>
            </a:r>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14</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15</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8D970F2A-3147-4C61-9879-9E6D2838E0DE}" type="datetime1">
              <a:rPr lang="en-US" smtClean="0"/>
              <a:pPr/>
              <a:t>1/12/2016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9932002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5EF6BDC5-B075-48F7-80F4-BC414FAB9626}" type="datetime1">
              <a:rPr lang="en-US" smtClean="0"/>
              <a:pPr/>
              <a:t>1/12/2016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40415743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2F86770A-2E8C-4CFC-9BBB-3DFC9B3E2F8C}" type="datetime1">
              <a:rPr lang="en-US" smtClean="0"/>
              <a:pPr/>
              <a:t>1/12/2016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97BD332E-B79B-45A1-A27B-56EAA326588B}" type="datetime1">
              <a:rPr lang="en-US" smtClean="0"/>
              <a:pPr/>
              <a:t>1/12/2016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07F61288-DAFF-4F26-90B1-87133FB2F173}" type="datetime1">
              <a:rPr lang="en-US" smtClean="0"/>
              <a:pPr/>
              <a:t>1/12/2016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Tree>
    <p:extLst>
      <p:ext uri="{BB962C8B-B14F-4D97-AF65-F5344CB8AC3E}">
        <p14:creationId xmlns="" xmlns:p14="http://schemas.microsoft.com/office/powerpoint/2010/main"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1608DAF9-6384-495D-AC8A-BF5A5CBBA320}" type="datetime1">
              <a:rPr lang="en-US" smtClean="0"/>
              <a:pPr/>
              <a:t>1/12/2016</a:t>
            </a:fld>
            <a:endParaRPr dirty="0"/>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075238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1B881F4A-2D78-4FFA-9680-236022582ABC}" type="datetime1">
              <a:rPr lang="en-US" smtClean="0"/>
              <a:pPr/>
              <a:t>1/12/2016</a:t>
            </a:fld>
            <a:endParaRPr dirty="0"/>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717683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D0E10E74-6839-41BE-9225-9F5008CB6117}" type="datetime1">
              <a:rPr lang="en-US" smtClean="0"/>
              <a:pPr/>
              <a:t>1/12/2016</a:t>
            </a:fld>
            <a:endParaRPr dirty="0"/>
          </a:p>
        </p:txBody>
      </p:sp>
      <p:sp>
        <p:nvSpPr>
          <p:cNvPr id="5" name="Footer Placeholder 4"/>
          <p:cNvSpPr>
            <a:spLocks noGrp="1"/>
          </p:cNvSpPr>
          <p:nvPr>
            <p:ph type="ftr" sz="quarter" idx="11"/>
          </p:nvPr>
        </p:nvSpPr>
        <p:spPr/>
        <p:txBody>
          <a:bodyPr>
            <a:noAutofit/>
          </a:bodyPr>
          <a:lstStyle/>
          <a:p>
            <a:r>
              <a:rPr lang="en-US" dirty="0" smtClean="0"/>
              <a:t>Oracle Confidential – Restricted</a:t>
            </a:r>
            <a:endParaRPr dirty="0"/>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6812296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E48225C-8443-4F00-8E8A-7485D10C2FE4}" type="datetime1">
              <a:rPr lang="en-US" smtClean="0"/>
              <a:pPr/>
              <a:t>1/12/2016</a:t>
            </a:fld>
            <a:endParaRPr dirty="0"/>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5138533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0FFA0E16-3E98-44E2-AFF4-56F4A6C4D256}" type="datetime1">
              <a:rPr lang="en-US" smtClean="0"/>
              <a:pPr/>
              <a:t>1/12/2016</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lang="en-US" dirty="0" smtClean="0"/>
              <a:t>Oracle Confidential – Restricted</a:t>
            </a:r>
            <a:endParaRPr dirty="0"/>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5" name="Date Placeholder 4"/>
          <p:cNvSpPr>
            <a:spLocks noGrp="1"/>
          </p:cNvSpPr>
          <p:nvPr>
            <p:ph type="dt" sz="half" idx="10"/>
          </p:nvPr>
        </p:nvSpPr>
        <p:spPr/>
        <p:txBody>
          <a:bodyPr/>
          <a:lstStyle/>
          <a:p>
            <a:fld id="{0EBA37CA-BA7C-4C80-9545-E127C1D31836}"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67037058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F63CCC0-C02D-4AD2-9C2B-49DDDB603678}" type="datetime1">
              <a:rPr lang="en-US" smtClean="0"/>
              <a:pPr/>
              <a:t>1/12/2016</a:t>
            </a:fld>
            <a:endParaRPr lang="en-US" dirty="0"/>
          </a:p>
        </p:txBody>
      </p:sp>
      <p:sp>
        <p:nvSpPr>
          <p:cNvPr id="4" name="Footer Placeholder 3"/>
          <p:cNvSpPr>
            <a:spLocks noGrp="1"/>
          </p:cNvSpPr>
          <p:nvPr>
            <p:ph type="ftr" sz="quarter" idx="11"/>
          </p:nvPr>
        </p:nvSpPr>
        <p:spPr/>
        <p:txBody>
          <a:bodyPr/>
          <a:lstStyle/>
          <a:p>
            <a:r>
              <a:rPr lang="en-US" dirty="0" smtClean="0"/>
              <a:t>Oracle Confidential –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159625631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06655D30-2768-4ADE-A695-A9EEABD8D4E9}"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450984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9E6EA4C9-F742-4C2F-9526-D18C9901EDEF}"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0277668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A9F1F066-C49E-4672-8661-ACA558265904}"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2016615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3FD1F071-8A8D-4D5B-BFC1-BBFC78E309C1}"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33714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7635783-3379-4D63-9011-200500171B7C}"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12263345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F2A800-B366-4BA2-8AEB-7B8E2F8014C8}"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42812501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CFF424-8E46-41FC-B649-5B8657CB54A6}"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7393865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36329985-D499-441E-8CB2-35D1A7859D0A}" type="datetime1">
              <a:rPr lang="en-US" smtClean="0"/>
              <a:pPr/>
              <a:t>1/12/2016</a:t>
            </a:fld>
            <a:endParaRPr dirty="0"/>
          </a:p>
        </p:txBody>
      </p:sp>
      <p:sp>
        <p:nvSpPr>
          <p:cNvPr id="8" name="Footer Placeholder 7"/>
          <p:cNvSpPr>
            <a:spLocks noGrp="1"/>
          </p:cNvSpPr>
          <p:nvPr>
            <p:ph type="ftr" sz="quarter" idx="11"/>
          </p:nvPr>
        </p:nvSpPr>
        <p:spPr/>
        <p:txBody>
          <a:bodyPr>
            <a:noAutofit/>
          </a:bodyPr>
          <a:lstStyle/>
          <a:p>
            <a:r>
              <a:rPr lang="en-US" dirty="0" smtClean="0"/>
              <a:t>Oracle Confidential – Restricted</a:t>
            </a:r>
            <a:endParaRPr dirty="0"/>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37870018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C61D695-6A33-47F5-849D-C72C597AFC68}" type="datetime1">
              <a:rPr lang="en-US" smtClean="0"/>
              <a:pPr/>
              <a:t>1/12/2016</a:t>
            </a:fld>
            <a:endParaRPr dirty="0"/>
          </a:p>
        </p:txBody>
      </p:sp>
      <p:sp>
        <p:nvSpPr>
          <p:cNvPr id="4" name="Footer Placeholder 3"/>
          <p:cNvSpPr>
            <a:spLocks noGrp="1"/>
          </p:cNvSpPr>
          <p:nvPr>
            <p:ph type="ftr" sz="quarter" idx="11"/>
          </p:nvPr>
        </p:nvSpPr>
        <p:spPr/>
        <p:txBody>
          <a:bodyPr/>
          <a:lstStyle/>
          <a:p>
            <a:r>
              <a:rPr lang="en-US" dirty="0" smtClean="0"/>
              <a:t>Oracle Confidential – Restricted</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376993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2CD6E76A-F2CA-4A2D-B3B8-92936F4DD11C}" type="datetime1">
              <a:rPr lang="en-US" smtClean="0"/>
              <a:pPr/>
              <a:t>1/12/2016</a:t>
            </a:fld>
            <a:endParaRPr dirty="0"/>
          </a:p>
        </p:txBody>
      </p:sp>
      <p:sp>
        <p:nvSpPr>
          <p:cNvPr id="4" name="Footer Placeholder 3"/>
          <p:cNvSpPr>
            <a:spLocks noGrp="1"/>
          </p:cNvSpPr>
          <p:nvPr>
            <p:ph type="ftr" sz="quarter" idx="11"/>
          </p:nvPr>
        </p:nvSpPr>
        <p:spPr/>
        <p:txBody>
          <a:bodyPr/>
          <a:lstStyle/>
          <a:p>
            <a:r>
              <a:rPr lang="en-US" dirty="0" smtClean="0"/>
              <a:t>Oracle Confidential – Restricted</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4163620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BA7D49-6771-4D4A-AA31-63289927F118}" type="datetime1">
              <a:rPr lang="en-US" smtClean="0"/>
              <a:pPr/>
              <a:t>1/12/2016</a:t>
            </a:fld>
            <a:endParaRPr dirty="0"/>
          </a:p>
        </p:txBody>
      </p:sp>
      <p:sp>
        <p:nvSpPr>
          <p:cNvPr id="3" name="Footer Placeholder 2"/>
          <p:cNvSpPr>
            <a:spLocks noGrp="1"/>
          </p:cNvSpPr>
          <p:nvPr>
            <p:ph type="ftr" sz="quarter" idx="11"/>
          </p:nvPr>
        </p:nvSpPr>
        <p:spPr/>
        <p:txBody>
          <a:bodyPr/>
          <a:lstStyle/>
          <a:p>
            <a:r>
              <a:rPr lang="en-US" dirty="0" smtClean="0"/>
              <a:t>Oracle Confidential –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60822934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BC2207-753B-40DD-91D5-228A7162D067}"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4578507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47D4FC-6BB4-4393-ACFF-2E6E71E2A78D}"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0582747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DF971EF-0651-4949-A9FF-E3F50CD09F86}"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0898225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A8C6D8-3003-4F01-921F-E5CC5EFD6EDF}"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908547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5" name="Date Placeholder 4"/>
          <p:cNvSpPr>
            <a:spLocks noGrp="1"/>
          </p:cNvSpPr>
          <p:nvPr>
            <p:ph type="dt" sz="half" idx="10"/>
          </p:nvPr>
        </p:nvSpPr>
        <p:spPr/>
        <p:txBody>
          <a:bodyPr/>
          <a:lstStyle/>
          <a:p>
            <a:fld id="{6072C9BE-26D8-4772-A045-FED6D7AC8561}"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Tree>
    <p:extLst>
      <p:ext uri="{BB962C8B-B14F-4D97-AF65-F5344CB8AC3E}">
        <p14:creationId xmlns="" xmlns:p14="http://schemas.microsoft.com/office/powerpoint/2010/main" val="74544451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 xmlns:a14="http://schemas.microsoft.com/office/drawing/2010/main"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 xmlns:a14="http://schemas.microsoft.com/office/drawing/2010/main"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5" name="Date Placeholder 4"/>
          <p:cNvSpPr>
            <a:spLocks noGrp="1"/>
          </p:cNvSpPr>
          <p:nvPr>
            <p:ph type="dt" sz="half" idx="10"/>
          </p:nvPr>
        </p:nvSpPr>
        <p:spPr/>
        <p:txBody>
          <a:bodyPr/>
          <a:lstStyle/>
          <a:p>
            <a:fld id="{99D84376-D245-4DE0-9774-AB03E39E5435}"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206340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2E509ADC-284F-4081-B671-0316EA1AC289}"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 xmlns:a14="http://schemas.microsoft.com/office/drawing/2010/main"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Tree>
    <p:extLst>
      <p:ext uri="{BB962C8B-B14F-4D97-AF65-F5344CB8AC3E}">
        <p14:creationId xmlns="" xmlns:p14="http://schemas.microsoft.com/office/powerpoint/2010/main" val="86081927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9846DC0B-12E4-4F45-9D4D-2AE1936DAFDE}" type="datetime1">
              <a:rPr lang="en-US" smtClean="0"/>
              <a:pPr/>
              <a:t>1/12/2016</a:t>
            </a:fld>
            <a:endParaRPr dirty="0"/>
          </a:p>
        </p:txBody>
      </p:sp>
      <p:sp>
        <p:nvSpPr>
          <p:cNvPr id="6" name="Footer Placeholder 5"/>
          <p:cNvSpPr>
            <a:spLocks noGrp="1"/>
          </p:cNvSpPr>
          <p:nvPr>
            <p:ph type="ftr" sz="quarter" idx="11"/>
          </p:nvPr>
        </p:nvSpPr>
        <p:spPr/>
        <p:txBody>
          <a:body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 xmlns:a14="http://schemas.microsoft.com/office/drawing/2010/main"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Tree>
    <p:extLst>
      <p:ext uri="{BB962C8B-B14F-4D97-AF65-F5344CB8AC3E}">
        <p14:creationId xmlns="" xmlns:p14="http://schemas.microsoft.com/office/powerpoint/2010/main" val="18766017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4FE8D0F3-2CEA-45A5-B4E8-6C817D174F6F}" type="datetime1">
              <a:rPr lang="en-US" smtClean="0"/>
              <a:pPr/>
              <a:t>1/12/2016</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lang="en-US" dirty="0" smtClean="0"/>
              <a:t>Oracle Confidential – Restricted</a:t>
            </a:r>
            <a:endParaRPr dirty="0"/>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A4FCE27D-D849-414C-B144-DFC5257FE44B}" type="datetime1">
              <a:rPr lang="en-US" smtClean="0"/>
              <a:pPr/>
              <a:t>1/12/2016</a:t>
            </a:fld>
            <a:endParaRPr dirty="0"/>
          </a:p>
        </p:txBody>
      </p:sp>
      <p:sp>
        <p:nvSpPr>
          <p:cNvPr id="3" name="Footer Placeholder 2"/>
          <p:cNvSpPr>
            <a:spLocks noGrp="1"/>
          </p:cNvSpPr>
          <p:nvPr>
            <p:ph type="ftr" sz="quarter" idx="11"/>
          </p:nvPr>
        </p:nvSpPr>
        <p:spPr/>
        <p:txBody>
          <a:bodyPr>
            <a:noAutofit/>
          </a:bodyPr>
          <a:lstStyle/>
          <a:p>
            <a:r>
              <a:rPr lang="en-US" dirty="0" smtClean="0"/>
              <a:t>Oracle Confidential – Restricted</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5978894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DAEC00B0-3BF6-4826-A484-0E1473D2DDD3}" type="datetime1">
              <a:rPr lang="en-US" smtClean="0"/>
              <a:pPr/>
              <a:t>1/12/2016</a:t>
            </a:fld>
            <a:endParaRPr dirty="0"/>
          </a:p>
        </p:txBody>
      </p:sp>
      <p:sp>
        <p:nvSpPr>
          <p:cNvPr id="3" name="Footer Placeholder 2"/>
          <p:cNvSpPr>
            <a:spLocks noGrp="1"/>
          </p:cNvSpPr>
          <p:nvPr>
            <p:ph type="ftr" sz="quarter" idx="11"/>
          </p:nvPr>
        </p:nvSpPr>
        <p:spPr/>
        <p:txBody>
          <a:bodyPr>
            <a:noAutofit/>
          </a:bodyPr>
          <a:lstStyle/>
          <a:p>
            <a:r>
              <a:rPr lang="en-US" dirty="0" smtClean="0"/>
              <a:t>Oracle Confidential – Restricted</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35887190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927676-77B8-4168-B627-864211E9F79C}" type="datetime1">
              <a:rPr lang="en-US" smtClean="0"/>
              <a:pPr/>
              <a:t>1/12/2016</a:t>
            </a:fld>
            <a:endParaRPr dirty="0"/>
          </a:p>
        </p:txBody>
      </p:sp>
      <p:sp>
        <p:nvSpPr>
          <p:cNvPr id="3" name="Footer Placeholder 2"/>
          <p:cNvSpPr>
            <a:spLocks noGrp="1"/>
          </p:cNvSpPr>
          <p:nvPr>
            <p:ph type="ftr" sz="quarter" idx="11"/>
          </p:nvPr>
        </p:nvSpPr>
        <p:spPr/>
        <p:txBody>
          <a:bodyPr/>
          <a:lstStyle/>
          <a:p>
            <a:r>
              <a:rPr lang="en-US" dirty="0" smtClean="0"/>
              <a:t>Oracle Confidential –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2820860" y="2313432"/>
            <a:ext cx="6547104" cy="1832339"/>
          </a:xfrm>
          <a:prstGeom prst="rect">
            <a:avLst/>
          </a:prstGeom>
        </p:spPr>
      </p:pic>
    </p:spTree>
    <p:extLst>
      <p:ext uri="{BB962C8B-B14F-4D97-AF65-F5344CB8AC3E}">
        <p14:creationId xmlns="" xmlns:p14="http://schemas.microsoft.com/office/powerpoint/2010/main" val="37091374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 xmlns:a14="http://schemas.microsoft.com/office/drawing/2010/main" val="0"/>
              </a:ext>
            </a:extLst>
          </a:blip>
          <a:stretch>
            <a:fillRect/>
          </a:stretch>
        </p:blipFill>
        <p:spPr bwMode="black">
          <a:xfrm>
            <a:off x="3822128" y="2843826"/>
            <a:ext cx="4544568" cy="569547"/>
          </a:xfrm>
          <a:prstGeom prst="rect">
            <a:avLst/>
          </a:prstGeom>
        </p:spPr>
      </p:pic>
    </p:spTree>
    <p:extLst>
      <p:ext uri="{BB962C8B-B14F-4D97-AF65-F5344CB8AC3E}">
        <p14:creationId xmlns="" xmlns:p14="http://schemas.microsoft.com/office/powerpoint/2010/main" val="10657555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8A9A655F-BC6E-4362-B146-7E39435F3F3F}" type="datetime1">
              <a:rPr lang="en-US" smtClean="0"/>
              <a:pPr/>
              <a:t>1/12/2016</a:t>
            </a:fld>
            <a:endParaRPr lang="en-US" dirty="0"/>
          </a:p>
        </p:txBody>
      </p:sp>
      <p:sp>
        <p:nvSpPr>
          <p:cNvPr id="5" name="Footer Placeholder 4"/>
          <p:cNvSpPr>
            <a:spLocks noGrp="1"/>
          </p:cNvSpPr>
          <p:nvPr>
            <p:ph type="ftr" sz="quarter" idx="11"/>
          </p:nvPr>
        </p:nvSpPr>
        <p:spPr/>
        <p:txBody>
          <a:bodyPr>
            <a:noAutofit/>
          </a:bodyPr>
          <a:lstStyle/>
          <a:p>
            <a:r>
              <a:rPr lang="en-US" dirty="0" smtClean="0"/>
              <a:t>Oracle Confidential – Restricted</a:t>
            </a:r>
            <a:endParaRPr lang="en-US" dirty="0"/>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dirty="0"/>
          </a:p>
        </p:txBody>
      </p:sp>
    </p:spTree>
    <p:extLst>
      <p:ext uri="{BB962C8B-B14F-4D97-AF65-F5344CB8AC3E}">
        <p14:creationId xmlns="" xmlns:p14="http://schemas.microsoft.com/office/powerpoint/2010/main" val="38621871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DF834698-55C4-43A6-AB41-21B76F01A408}" type="datetime1">
              <a:rPr lang="en-US" smtClean="0"/>
              <a:pPr/>
              <a:t>1/12/2016</a:t>
            </a:fld>
            <a:endParaRPr dirty="0"/>
          </a:p>
        </p:txBody>
      </p:sp>
      <p:sp>
        <p:nvSpPr>
          <p:cNvPr id="5" name="Footer Placeholder 4"/>
          <p:cNvSpPr>
            <a:spLocks noGrp="1"/>
          </p:cNvSpPr>
          <p:nvPr>
            <p:ph type="ftr" sz="quarter" idx="11"/>
          </p:nvPr>
        </p:nvSpPr>
        <p:spPr/>
        <p:txBody>
          <a:bodyPr/>
          <a:lstStyle/>
          <a:p>
            <a:r>
              <a:rPr lang="en-US" dirty="0"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1734545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D85CF178-13B4-4699-87A5-4E1CB4AA78A4}" type="datetime1">
              <a:rPr lang="en-US" smtClean="0"/>
              <a:pPr/>
              <a:t>1/12/2016</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lang="en-US" dirty="0" smtClean="0"/>
              <a:t>Oracle Confidential – Restricted</a:t>
            </a:r>
            <a:endParaRPr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 xmlns:p14="http://schemas.microsoft.com/office/powerpoint/2010/main"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sldNum="0" hdr="0" ft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5505626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&lt;AREA&gt; Capability Model</a:t>
            </a:r>
            <a:endParaRPr lang="en-US" dirty="0"/>
          </a:p>
        </p:txBody>
      </p:sp>
      <p:sp>
        <p:nvSpPr>
          <p:cNvPr id="3" name="Subtitle 2"/>
          <p:cNvSpPr>
            <a:spLocks noGrp="1"/>
          </p:cNvSpPr>
          <p:nvPr>
            <p:ph type="subTitle" idx="1"/>
          </p:nvPr>
        </p:nvSpPr>
        <p:spPr/>
        <p:txBody>
          <a:bodyPr/>
          <a:lstStyle/>
          <a:p>
            <a:r>
              <a:rPr lang="en-US" dirty="0" smtClean="0"/>
              <a:t>&lt;Company Name&gt;</a:t>
            </a:r>
          </a:p>
          <a:p>
            <a:r>
              <a:rPr lang="en-US" dirty="0" smtClean="0"/>
              <a:t>&lt;Project Name&gt;</a:t>
            </a:r>
            <a:endParaRPr lang="en-US" dirty="0"/>
          </a:p>
        </p:txBody>
      </p:sp>
      <p:sp>
        <p:nvSpPr>
          <p:cNvPr id="6" name="Text Placeholder 5"/>
          <p:cNvSpPr>
            <a:spLocks noGrp="1"/>
          </p:cNvSpPr>
          <p:nvPr>
            <p:ph type="body" sz="quarter" idx="13"/>
          </p:nvPr>
        </p:nvSpPr>
        <p:spPr/>
        <p:txBody>
          <a:bodyPr/>
          <a:lstStyle/>
          <a:p>
            <a:r>
              <a:rPr lang="en-US" dirty="0" smtClean="0"/>
              <a:t>Presenter’s Name</a:t>
            </a:r>
          </a:p>
          <a:p>
            <a:r>
              <a:rPr lang="en-US" dirty="0" smtClean="0"/>
              <a:t>Presenter’s Title</a:t>
            </a:r>
          </a:p>
          <a:p>
            <a:r>
              <a:rPr lang="en-US" dirty="0" smtClean="0"/>
              <a:t>Organization, Division or Business Unit</a:t>
            </a:r>
          </a:p>
          <a:p>
            <a:r>
              <a:rPr lang="en-US" dirty="0" smtClean="0"/>
              <a:t>Month 00, 2014</a:t>
            </a:r>
            <a:endParaRPr lang="en-US" dirty="0"/>
          </a:p>
        </p:txBody>
      </p:sp>
      <p:sp>
        <p:nvSpPr>
          <p:cNvPr id="7" name="TextBox 6"/>
          <p:cNvSpPr txBox="1"/>
          <p:nvPr/>
        </p:nvSpPr>
        <p:spPr>
          <a:xfrm>
            <a:off x="5713412"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pic>
        <p:nvPicPr>
          <p:cNvPr id="8" name="Picture 8" descr="Oracle_Unified_Method_485C.gif"/>
          <p:cNvPicPr>
            <a:picLocks noChangeAspect="1"/>
          </p:cNvPicPr>
          <p:nvPr/>
        </p:nvPicPr>
        <p:blipFill>
          <a:blip r:embed="rId4" cstate="print"/>
          <a:srcRect/>
          <a:stretch>
            <a:fillRect/>
          </a:stretch>
        </p:blipFill>
        <p:spPr bwMode="auto">
          <a:xfrm>
            <a:off x="9752013" y="5562600"/>
            <a:ext cx="1619250" cy="638175"/>
          </a:xfrm>
          <a:prstGeom prst="rect">
            <a:avLst/>
          </a:prstGeom>
          <a:noFill/>
          <a:ln w="9525">
            <a:noFill/>
            <a:miter lim="800000"/>
            <a:headEnd/>
            <a:tailEnd/>
          </a:ln>
        </p:spPr>
      </p:pic>
    </p:spTree>
    <p:extLst>
      <p:ext uri="{BB962C8B-B14F-4D97-AF65-F5344CB8AC3E}">
        <p14:creationId xmlns="" xmlns:p14="http://schemas.microsoft.com/office/powerpoint/2010/main" val="336776055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&lt;Background&gt;</a:t>
            </a:r>
          </a:p>
          <a:p>
            <a:r>
              <a:rPr lang="en-US" dirty="0" smtClean="0"/>
              <a:t>&lt;Purpose&gt;</a:t>
            </a:r>
          </a:p>
          <a:p>
            <a:r>
              <a:rPr lang="en-US" dirty="0" smtClean="0"/>
              <a:t>Capability Analysis for:</a:t>
            </a:r>
          </a:p>
          <a:p>
            <a:pPr lvl="1"/>
            <a:r>
              <a:rPr lang="en-US" dirty="0" smtClean="0"/>
              <a:t>&lt;Business Objective&gt;</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of Analysis</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Top-Level Business Capabilities</a:t>
            </a:r>
            <a:endParaRPr lang="en-US" dirty="0"/>
          </a:p>
        </p:txBody>
      </p:sp>
      <p:graphicFrame>
        <p:nvGraphicFramePr>
          <p:cNvPr id="1026" name="Object 2"/>
          <p:cNvGraphicFramePr>
            <a:graphicFrameLocks noChangeAspect="1"/>
          </p:cNvGraphicFramePr>
          <p:nvPr/>
        </p:nvGraphicFramePr>
        <p:xfrm>
          <a:off x="3800686" y="1380642"/>
          <a:ext cx="4732126" cy="4639158"/>
        </p:xfrm>
        <a:graphic>
          <a:graphicData uri="http://schemas.openxmlformats.org/presentationml/2006/ole">
            <p:oleObj spid="_x0000_s1026" name="Visio" r:id="rId4" imgW="4040550" imgH="3960064" progId="Visio.Drawing.11">
              <p:embed/>
            </p:oleObj>
          </a:graphicData>
        </a:graphic>
      </p:graphicFrame>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Top-Level Business Capabilities – Scope</a:t>
            </a:r>
            <a:endParaRPr lang="en-US" dirty="0"/>
          </a:p>
        </p:txBody>
      </p:sp>
      <p:graphicFrame>
        <p:nvGraphicFramePr>
          <p:cNvPr id="1026" name="Object 2"/>
          <p:cNvGraphicFramePr>
            <a:graphicFrameLocks noChangeAspect="1"/>
          </p:cNvGraphicFramePr>
          <p:nvPr/>
        </p:nvGraphicFramePr>
        <p:xfrm>
          <a:off x="3800686" y="1380642"/>
          <a:ext cx="4732126" cy="4639158"/>
        </p:xfrm>
        <a:graphic>
          <a:graphicData uri="http://schemas.openxmlformats.org/presentationml/2006/ole">
            <p:oleObj spid="_x0000_s2050" name="Visio" r:id="rId4" imgW="4040550" imgH="3960064" progId="Visio.Drawing.11">
              <p:embed/>
            </p:oleObj>
          </a:graphicData>
        </a:graphic>
      </p:graphicFrame>
      <p:sp>
        <p:nvSpPr>
          <p:cNvPr id="5" name="Rounded Rectangle 4"/>
          <p:cNvSpPr/>
          <p:nvPr/>
        </p:nvSpPr>
        <p:spPr>
          <a:xfrm>
            <a:off x="2970212" y="1600200"/>
            <a:ext cx="6400800" cy="1066800"/>
          </a:xfrm>
          <a:prstGeom prst="roundRect">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&lt;Capability Group&gt; Capability</a:t>
            </a:r>
            <a:endParaRPr lang="en-US" dirty="0"/>
          </a:p>
        </p:txBody>
      </p:sp>
      <p:sp>
        <p:nvSpPr>
          <p:cNvPr id="7" name="TextBox 3"/>
          <p:cNvSpPr txBox="1">
            <a:spLocks noChangeArrowheads="1"/>
          </p:cNvSpPr>
          <p:nvPr/>
        </p:nvSpPr>
        <p:spPr bwMode="auto">
          <a:xfrm>
            <a:off x="4952999" y="1857375"/>
            <a:ext cx="2272673" cy="369332"/>
          </a:xfrm>
          <a:prstGeom prst="rect">
            <a:avLst/>
          </a:prstGeom>
          <a:noFill/>
          <a:ln w="9525">
            <a:noFill/>
            <a:miter lim="800000"/>
            <a:headEnd/>
            <a:tailEnd/>
          </a:ln>
        </p:spPr>
        <p:txBody>
          <a:bodyPr wrap="none">
            <a:spAutoFit/>
          </a:bodyPr>
          <a:lstStyle/>
          <a:p>
            <a:r>
              <a:rPr lang="nb-NO" sz="1800" b="1" dirty="0">
                <a:solidFill>
                  <a:srgbClr val="000000"/>
                </a:solidFill>
              </a:rPr>
              <a:t>1. Customer Relations</a:t>
            </a:r>
            <a:endParaRPr lang="en-US" sz="1800" b="1" dirty="0">
              <a:solidFill>
                <a:srgbClr val="000000"/>
              </a:solidFill>
            </a:endParaRPr>
          </a:p>
        </p:txBody>
      </p:sp>
      <p:sp>
        <p:nvSpPr>
          <p:cNvPr id="8" name="Rectangle 13"/>
          <p:cNvSpPr>
            <a:spLocks noChangeArrowheads="1"/>
          </p:cNvSpPr>
          <p:nvPr/>
        </p:nvSpPr>
        <p:spPr bwMode="auto">
          <a:xfrm>
            <a:off x="5653087" y="391795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Self Service</a:t>
            </a:r>
            <a:endParaRPr lang="en-US" sz="900" b="1" dirty="0">
              <a:solidFill>
                <a:srgbClr val="000000"/>
              </a:solidFill>
            </a:endParaRPr>
          </a:p>
        </p:txBody>
      </p:sp>
      <p:sp>
        <p:nvSpPr>
          <p:cNvPr id="10" name="TextBox 9"/>
          <p:cNvSpPr txBox="1">
            <a:spLocks noChangeArrowheads="1"/>
          </p:cNvSpPr>
          <p:nvPr/>
        </p:nvSpPr>
        <p:spPr bwMode="auto">
          <a:xfrm>
            <a:off x="5479379" y="3505200"/>
            <a:ext cx="1418979" cy="261610"/>
          </a:xfrm>
          <a:prstGeom prst="rect">
            <a:avLst/>
          </a:prstGeom>
          <a:noFill/>
          <a:ln w="9525">
            <a:noFill/>
            <a:miter lim="800000"/>
            <a:headEnd/>
            <a:tailEnd/>
          </a:ln>
        </p:spPr>
        <p:txBody>
          <a:bodyPr wrap="none">
            <a:spAutoFit/>
          </a:bodyPr>
          <a:lstStyle/>
          <a:p>
            <a:pPr algn="ctr"/>
            <a:r>
              <a:rPr lang="nb-NO" sz="1100" b="1" dirty="0">
                <a:solidFill>
                  <a:srgbClr val="000000"/>
                </a:solidFill>
              </a:rPr>
              <a:t>1.3 Customer Service</a:t>
            </a:r>
            <a:endParaRPr lang="en-US" sz="1100" b="1" dirty="0">
              <a:solidFill>
                <a:srgbClr val="000000"/>
              </a:solidFill>
            </a:endParaRPr>
          </a:p>
        </p:txBody>
      </p:sp>
      <p:sp>
        <p:nvSpPr>
          <p:cNvPr id="11" name="Rectangle 13"/>
          <p:cNvSpPr>
            <a:spLocks noChangeArrowheads="1"/>
          </p:cNvSpPr>
          <p:nvPr/>
        </p:nvSpPr>
        <p:spPr bwMode="auto">
          <a:xfrm>
            <a:off x="5653087" y="42672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Call Center</a:t>
            </a:r>
            <a:endParaRPr lang="en-US" sz="900" b="1" dirty="0">
              <a:solidFill>
                <a:srgbClr val="000000"/>
              </a:solidFill>
            </a:endParaRPr>
          </a:p>
        </p:txBody>
      </p:sp>
      <p:sp>
        <p:nvSpPr>
          <p:cNvPr id="12" name="Rectangle 13"/>
          <p:cNvSpPr>
            <a:spLocks noChangeArrowheads="1"/>
          </p:cNvSpPr>
          <p:nvPr/>
        </p:nvSpPr>
        <p:spPr bwMode="auto">
          <a:xfrm>
            <a:off x="5653087" y="45691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Chat</a:t>
            </a:r>
            <a:endParaRPr lang="en-US" sz="900" b="1" dirty="0">
              <a:solidFill>
                <a:srgbClr val="000000"/>
              </a:solidFill>
            </a:endParaRPr>
          </a:p>
        </p:txBody>
      </p:sp>
      <p:sp>
        <p:nvSpPr>
          <p:cNvPr id="13" name="Rectangle 13"/>
          <p:cNvSpPr>
            <a:spLocks noChangeArrowheads="1"/>
          </p:cNvSpPr>
          <p:nvPr/>
        </p:nvSpPr>
        <p:spPr bwMode="auto">
          <a:xfrm>
            <a:off x="5653087" y="48739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Issue Resolution</a:t>
            </a:r>
            <a:endParaRPr lang="en-US" sz="900" b="1" dirty="0">
              <a:solidFill>
                <a:srgbClr val="000000"/>
              </a:solidFill>
            </a:endParaRPr>
          </a:p>
        </p:txBody>
      </p:sp>
      <p:sp>
        <p:nvSpPr>
          <p:cNvPr id="14" name="Rectangle 13"/>
          <p:cNvSpPr>
            <a:spLocks noChangeArrowheads="1"/>
          </p:cNvSpPr>
          <p:nvPr/>
        </p:nvSpPr>
        <p:spPr bwMode="auto">
          <a:xfrm>
            <a:off x="5653087" y="51787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Products Training</a:t>
            </a:r>
            <a:endParaRPr lang="en-US" sz="900" b="1" dirty="0">
              <a:solidFill>
                <a:srgbClr val="000000"/>
              </a:solidFill>
            </a:endParaRPr>
          </a:p>
        </p:txBody>
      </p:sp>
      <p:sp>
        <p:nvSpPr>
          <p:cNvPr id="15" name="Rectangle 13"/>
          <p:cNvSpPr>
            <a:spLocks noChangeArrowheads="1"/>
          </p:cNvSpPr>
          <p:nvPr/>
        </p:nvSpPr>
        <p:spPr bwMode="auto">
          <a:xfrm>
            <a:off x="5634037" y="25146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Lead Mgmt</a:t>
            </a:r>
            <a:endParaRPr lang="en-US" sz="900" b="1" dirty="0">
              <a:solidFill>
                <a:srgbClr val="000000"/>
              </a:solidFill>
            </a:endParaRPr>
          </a:p>
        </p:txBody>
      </p:sp>
      <p:sp>
        <p:nvSpPr>
          <p:cNvPr id="17" name="TextBox 16"/>
          <p:cNvSpPr txBox="1">
            <a:spLocks noChangeArrowheads="1"/>
          </p:cNvSpPr>
          <p:nvPr/>
        </p:nvSpPr>
        <p:spPr bwMode="auto">
          <a:xfrm>
            <a:off x="5676633" y="2263775"/>
            <a:ext cx="1007007" cy="261610"/>
          </a:xfrm>
          <a:prstGeom prst="rect">
            <a:avLst/>
          </a:prstGeom>
          <a:noFill/>
          <a:ln w="9525">
            <a:noFill/>
            <a:miter lim="800000"/>
            <a:headEnd/>
            <a:tailEnd/>
          </a:ln>
        </p:spPr>
        <p:txBody>
          <a:bodyPr wrap="none">
            <a:spAutoFit/>
          </a:bodyPr>
          <a:lstStyle/>
          <a:p>
            <a:pPr algn="ctr"/>
            <a:r>
              <a:rPr lang="nb-NO" sz="1100" b="1" dirty="0">
                <a:solidFill>
                  <a:srgbClr val="000000"/>
                </a:solidFill>
              </a:rPr>
              <a:t>1.2 Marketing</a:t>
            </a:r>
            <a:endParaRPr lang="en-US" sz="1100" b="1" dirty="0">
              <a:solidFill>
                <a:srgbClr val="000000"/>
              </a:solidFill>
            </a:endParaRPr>
          </a:p>
        </p:txBody>
      </p:sp>
      <p:sp>
        <p:nvSpPr>
          <p:cNvPr id="18" name="Rectangle 13"/>
          <p:cNvSpPr>
            <a:spLocks noChangeArrowheads="1"/>
          </p:cNvSpPr>
          <p:nvPr/>
        </p:nvSpPr>
        <p:spPr bwMode="auto">
          <a:xfrm>
            <a:off x="5634037" y="28165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Campaign Mgmt</a:t>
            </a:r>
            <a:endParaRPr lang="en-US" sz="900" b="1" dirty="0">
              <a:solidFill>
                <a:srgbClr val="000000"/>
              </a:solidFill>
            </a:endParaRPr>
          </a:p>
        </p:txBody>
      </p:sp>
      <p:sp>
        <p:nvSpPr>
          <p:cNvPr id="19" name="Rectangle 13"/>
          <p:cNvSpPr>
            <a:spLocks noChangeArrowheads="1"/>
          </p:cNvSpPr>
          <p:nvPr/>
        </p:nvSpPr>
        <p:spPr bwMode="auto">
          <a:xfrm>
            <a:off x="5634037" y="31213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Proactive Marketing</a:t>
            </a:r>
            <a:endParaRPr lang="en-US" sz="900" b="1" dirty="0">
              <a:solidFill>
                <a:srgbClr val="000000"/>
              </a:solidFill>
            </a:endParaRPr>
          </a:p>
        </p:txBody>
      </p:sp>
      <p:sp>
        <p:nvSpPr>
          <p:cNvPr id="20" name="Rectangle 13"/>
          <p:cNvSpPr>
            <a:spLocks noChangeArrowheads="1"/>
          </p:cNvSpPr>
          <p:nvPr/>
        </p:nvSpPr>
        <p:spPr bwMode="auto">
          <a:xfrm>
            <a:off x="3942555" y="25146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Opportunity Mgmt</a:t>
            </a:r>
            <a:endParaRPr lang="en-US" sz="900" b="1" dirty="0">
              <a:solidFill>
                <a:srgbClr val="000000"/>
              </a:solidFill>
            </a:endParaRPr>
          </a:p>
        </p:txBody>
      </p:sp>
      <p:sp>
        <p:nvSpPr>
          <p:cNvPr id="22" name="TextBox 23"/>
          <p:cNvSpPr txBox="1">
            <a:spLocks noChangeArrowheads="1"/>
          </p:cNvSpPr>
          <p:nvPr/>
        </p:nvSpPr>
        <p:spPr bwMode="auto">
          <a:xfrm>
            <a:off x="4134285" y="2263775"/>
            <a:ext cx="697627" cy="261610"/>
          </a:xfrm>
          <a:prstGeom prst="rect">
            <a:avLst/>
          </a:prstGeom>
          <a:noFill/>
          <a:ln w="9525">
            <a:noFill/>
            <a:miter lim="800000"/>
            <a:headEnd/>
            <a:tailEnd/>
          </a:ln>
        </p:spPr>
        <p:txBody>
          <a:bodyPr wrap="none">
            <a:spAutoFit/>
          </a:bodyPr>
          <a:lstStyle/>
          <a:p>
            <a:pPr algn="ctr"/>
            <a:r>
              <a:rPr lang="nb-NO" sz="1100" b="1" dirty="0">
                <a:solidFill>
                  <a:srgbClr val="000000"/>
                </a:solidFill>
              </a:rPr>
              <a:t>1.1 Sales</a:t>
            </a:r>
            <a:endParaRPr lang="en-US" sz="1100" b="1" dirty="0">
              <a:solidFill>
                <a:srgbClr val="000000"/>
              </a:solidFill>
            </a:endParaRPr>
          </a:p>
        </p:txBody>
      </p:sp>
      <p:sp>
        <p:nvSpPr>
          <p:cNvPr id="23" name="Rectangle 13"/>
          <p:cNvSpPr>
            <a:spLocks noChangeArrowheads="1"/>
          </p:cNvSpPr>
          <p:nvPr/>
        </p:nvSpPr>
        <p:spPr bwMode="auto">
          <a:xfrm>
            <a:off x="7313612" y="2678026"/>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Lifecycle Mgmt</a:t>
            </a:r>
            <a:endParaRPr lang="en-US" sz="900" b="1" dirty="0">
              <a:solidFill>
                <a:srgbClr val="000000"/>
              </a:solidFill>
            </a:endParaRPr>
          </a:p>
        </p:txBody>
      </p:sp>
      <p:sp>
        <p:nvSpPr>
          <p:cNvPr id="25" name="TextBox 28"/>
          <p:cNvSpPr txBox="1">
            <a:spLocks noChangeArrowheads="1"/>
          </p:cNvSpPr>
          <p:nvPr/>
        </p:nvSpPr>
        <p:spPr bwMode="auto">
          <a:xfrm>
            <a:off x="7361010" y="2236113"/>
            <a:ext cx="998991" cy="430887"/>
          </a:xfrm>
          <a:prstGeom prst="rect">
            <a:avLst/>
          </a:prstGeom>
          <a:noFill/>
          <a:ln w="9525">
            <a:noFill/>
            <a:miter lim="800000"/>
            <a:headEnd/>
            <a:tailEnd/>
          </a:ln>
        </p:spPr>
        <p:txBody>
          <a:bodyPr wrap="none">
            <a:spAutoFit/>
          </a:bodyPr>
          <a:lstStyle/>
          <a:p>
            <a:pPr algn="ctr"/>
            <a:r>
              <a:rPr lang="nb-NO" sz="1100" b="1" dirty="0">
                <a:solidFill>
                  <a:srgbClr val="000000"/>
                </a:solidFill>
              </a:rPr>
              <a:t>1.4 Customer </a:t>
            </a:r>
            <a:br>
              <a:rPr lang="nb-NO" sz="1100" b="1" dirty="0">
                <a:solidFill>
                  <a:srgbClr val="000000"/>
                </a:solidFill>
              </a:rPr>
            </a:br>
            <a:r>
              <a:rPr lang="nb-NO" sz="1100" b="1" dirty="0">
                <a:solidFill>
                  <a:srgbClr val="000000"/>
                </a:solidFill>
              </a:rPr>
              <a:t>Management</a:t>
            </a:r>
            <a:endParaRPr lang="en-US" sz="1100" b="1" dirty="0">
              <a:solidFill>
                <a:srgbClr val="000000"/>
              </a:solidFill>
            </a:endParaRPr>
          </a:p>
        </p:txBody>
      </p:sp>
      <p:sp>
        <p:nvSpPr>
          <p:cNvPr id="26" name="Rectangle 13"/>
          <p:cNvSpPr>
            <a:spLocks noChangeArrowheads="1"/>
          </p:cNvSpPr>
          <p:nvPr/>
        </p:nvSpPr>
        <p:spPr bwMode="auto">
          <a:xfrm>
            <a:off x="7313612" y="3135226"/>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Profile Mgmt</a:t>
            </a:r>
            <a:endParaRPr lang="en-US" sz="900" b="1" dirty="0">
              <a:solidFill>
                <a:srgbClr val="000000"/>
              </a:solidFill>
            </a:endParaRPr>
          </a:p>
        </p:txBody>
      </p:sp>
      <p:sp>
        <p:nvSpPr>
          <p:cNvPr id="27" name="Rectangle 13"/>
          <p:cNvSpPr>
            <a:spLocks noChangeArrowheads="1"/>
          </p:cNvSpPr>
          <p:nvPr/>
        </p:nvSpPr>
        <p:spPr bwMode="auto">
          <a:xfrm>
            <a:off x="7313612" y="3581400"/>
            <a:ext cx="1187450" cy="5084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Relationship Hierarchy Mgmt</a:t>
            </a:r>
            <a:endParaRPr lang="en-US" sz="900" b="1" dirty="0">
              <a:solidFill>
                <a:srgbClr val="000000"/>
              </a:solidFill>
            </a:endParaRPr>
          </a:p>
        </p:txBody>
      </p:sp>
      <p:sp>
        <p:nvSpPr>
          <p:cNvPr id="28" name="Rectangle 13"/>
          <p:cNvSpPr>
            <a:spLocks noChangeArrowheads="1"/>
          </p:cNvSpPr>
          <p:nvPr/>
        </p:nvSpPr>
        <p:spPr bwMode="auto">
          <a:xfrm>
            <a:off x="3941761" y="3121325"/>
            <a:ext cx="1189038"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smtClean="0">
                <a:solidFill>
                  <a:srgbClr val="000000"/>
                </a:solidFill>
              </a:rPr>
              <a:t>Commission Mgmt                </a:t>
            </a:r>
            <a:endParaRPr lang="en-US" sz="900" b="1" dirty="0">
              <a:solidFill>
                <a:srgbClr val="000000"/>
              </a:solidFill>
            </a:endParaRPr>
          </a:p>
        </p:txBody>
      </p:sp>
      <p:sp>
        <p:nvSpPr>
          <p:cNvPr id="29" name="Rectangle 13"/>
          <p:cNvSpPr>
            <a:spLocks noChangeArrowheads="1"/>
          </p:cNvSpPr>
          <p:nvPr/>
        </p:nvSpPr>
        <p:spPr bwMode="auto">
          <a:xfrm>
            <a:off x="3938587" y="3917950"/>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en-US" sz="900" b="1" dirty="0" smtClean="0">
                <a:solidFill>
                  <a:srgbClr val="000000"/>
                </a:solidFill>
              </a:rPr>
              <a:t>Communications Management</a:t>
            </a:r>
            <a:endParaRPr lang="en-US" sz="900" b="1" dirty="0">
              <a:solidFill>
                <a:srgbClr val="000000"/>
              </a:solidFill>
            </a:endParaRPr>
          </a:p>
        </p:txBody>
      </p:sp>
      <p:sp>
        <p:nvSpPr>
          <p:cNvPr id="31" name="TextBox 34"/>
          <p:cNvSpPr txBox="1">
            <a:spLocks noChangeArrowheads="1"/>
          </p:cNvSpPr>
          <p:nvPr/>
        </p:nvSpPr>
        <p:spPr bwMode="auto">
          <a:xfrm>
            <a:off x="3985191" y="3505200"/>
            <a:ext cx="998991" cy="430887"/>
          </a:xfrm>
          <a:prstGeom prst="rect">
            <a:avLst/>
          </a:prstGeom>
          <a:noFill/>
          <a:ln w="9525">
            <a:noFill/>
            <a:miter lim="800000"/>
            <a:headEnd/>
            <a:tailEnd/>
          </a:ln>
        </p:spPr>
        <p:txBody>
          <a:bodyPr wrap="none">
            <a:spAutoFit/>
          </a:bodyPr>
          <a:lstStyle/>
          <a:p>
            <a:pPr algn="ctr"/>
            <a:r>
              <a:rPr lang="nb-NO" sz="1100" b="1" dirty="0">
                <a:solidFill>
                  <a:srgbClr val="000000"/>
                </a:solidFill>
              </a:rPr>
              <a:t>1.5 Customer </a:t>
            </a:r>
            <a:br>
              <a:rPr lang="nb-NO" sz="1100" b="1" dirty="0">
                <a:solidFill>
                  <a:srgbClr val="000000"/>
                </a:solidFill>
              </a:rPr>
            </a:br>
            <a:r>
              <a:rPr lang="nb-NO" sz="1100" b="1" dirty="0">
                <a:solidFill>
                  <a:srgbClr val="000000"/>
                </a:solidFill>
              </a:rPr>
              <a:t>Comm Mgmt</a:t>
            </a:r>
            <a:endParaRPr lang="en-US" sz="1100" b="1" dirty="0">
              <a:solidFill>
                <a:srgbClr val="000000"/>
              </a:solidFill>
            </a:endParaRPr>
          </a:p>
        </p:txBody>
      </p:sp>
      <p:sp>
        <p:nvSpPr>
          <p:cNvPr id="32" name="Rectangle 13"/>
          <p:cNvSpPr>
            <a:spLocks noChangeArrowheads="1"/>
          </p:cNvSpPr>
          <p:nvPr/>
        </p:nvSpPr>
        <p:spPr bwMode="auto">
          <a:xfrm>
            <a:off x="3938587" y="4354426"/>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smtClean="0">
                <a:solidFill>
                  <a:srgbClr val="000000"/>
                </a:solidFill>
              </a:rPr>
              <a:t>Communications Analysis</a:t>
            </a:r>
            <a:endParaRPr lang="en-US" sz="900" b="1" dirty="0">
              <a:solidFill>
                <a:srgbClr val="000000"/>
              </a:solidFill>
            </a:endParaRPr>
          </a:p>
        </p:txBody>
      </p:sp>
      <p:sp>
        <p:nvSpPr>
          <p:cNvPr id="33" name="Rectangle 13"/>
          <p:cNvSpPr>
            <a:spLocks noChangeArrowheads="1"/>
          </p:cNvSpPr>
          <p:nvPr/>
        </p:nvSpPr>
        <p:spPr bwMode="auto">
          <a:xfrm>
            <a:off x="7313612" y="4202026"/>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Contracts Mgmt</a:t>
            </a:r>
            <a:endParaRPr lang="en-US" sz="900" b="1" dirty="0">
              <a:solidFill>
                <a:srgbClr val="000000"/>
              </a:solidFill>
            </a:endParaRPr>
          </a:p>
        </p:txBody>
      </p:sp>
      <p:sp>
        <p:nvSpPr>
          <p:cNvPr id="34" name="Rectangle 13"/>
          <p:cNvSpPr>
            <a:spLocks noChangeArrowheads="1"/>
          </p:cNvSpPr>
          <p:nvPr/>
        </p:nvSpPr>
        <p:spPr bwMode="auto">
          <a:xfrm>
            <a:off x="3942555" y="28165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Sales Forcasting</a:t>
            </a:r>
            <a:endParaRPr lang="en-US" sz="900" b="1" dirty="0">
              <a:solidFill>
                <a:srgbClr val="000000"/>
              </a:solidFill>
            </a:endParaRPr>
          </a:p>
        </p:txBody>
      </p:sp>
      <p:sp>
        <p:nvSpPr>
          <p:cNvPr id="39" name="Rectangle 38"/>
          <p:cNvSpPr/>
          <p:nvPr/>
        </p:nvSpPr>
        <p:spPr>
          <a:xfrm>
            <a:off x="3656012" y="3505200"/>
            <a:ext cx="1676400" cy="14478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0" name="Rectangle 39"/>
          <p:cNvSpPr/>
          <p:nvPr/>
        </p:nvSpPr>
        <p:spPr>
          <a:xfrm>
            <a:off x="3656012" y="2209800"/>
            <a:ext cx="1676400" cy="1219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1" name="Rectangle 40"/>
          <p:cNvSpPr/>
          <p:nvPr/>
        </p:nvSpPr>
        <p:spPr>
          <a:xfrm>
            <a:off x="7161212" y="2209800"/>
            <a:ext cx="1676400" cy="25146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2" name="Rectangle 41"/>
          <p:cNvSpPr/>
          <p:nvPr/>
        </p:nvSpPr>
        <p:spPr>
          <a:xfrm>
            <a:off x="5408612" y="2209800"/>
            <a:ext cx="1676400" cy="1219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3" name="Rectangle 42"/>
          <p:cNvSpPr/>
          <p:nvPr/>
        </p:nvSpPr>
        <p:spPr>
          <a:xfrm>
            <a:off x="5408612" y="3505200"/>
            <a:ext cx="1676400" cy="1981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4" name="Rounded Rectangle 43"/>
          <p:cNvSpPr/>
          <p:nvPr/>
        </p:nvSpPr>
        <p:spPr>
          <a:xfrm>
            <a:off x="2589212" y="1600200"/>
            <a:ext cx="7086600" cy="4343400"/>
          </a:xfrm>
          <a:prstGeom prst="roundRect">
            <a:avLst/>
          </a:prstGeom>
          <a:noFill/>
          <a:ln w="254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
        <p:nvSpPr>
          <p:cNvPr id="45" name="Rectangle 44"/>
          <p:cNvSpPr/>
          <p:nvPr/>
        </p:nvSpPr>
        <p:spPr>
          <a:xfrm>
            <a:off x="3656012" y="3505200"/>
            <a:ext cx="1676400" cy="1447800"/>
          </a:xfrm>
          <a:prstGeom prst="rect">
            <a:avLst/>
          </a:prstGeom>
          <a:noFill/>
          <a:ln w="381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6" name="Rectangle 45"/>
          <p:cNvSpPr/>
          <p:nvPr/>
        </p:nvSpPr>
        <p:spPr>
          <a:xfrm>
            <a:off x="5408612" y="2209800"/>
            <a:ext cx="1676400" cy="1219200"/>
          </a:xfrm>
          <a:prstGeom prst="rect">
            <a:avLst/>
          </a:prstGeom>
          <a:noFill/>
          <a:ln w="38100">
            <a:solidFill>
              <a:schemeClr val="accent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7" name="Rectangle 46"/>
          <p:cNvSpPr/>
          <p:nvPr/>
        </p:nvSpPr>
        <p:spPr>
          <a:xfrm>
            <a:off x="5408612" y="3505200"/>
            <a:ext cx="1676400" cy="1981200"/>
          </a:xfrm>
          <a:prstGeom prst="rect">
            <a:avLst/>
          </a:prstGeom>
          <a:noFill/>
          <a:ln w="381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8" name="Rectangle 47"/>
          <p:cNvSpPr/>
          <p:nvPr/>
        </p:nvSpPr>
        <p:spPr>
          <a:xfrm>
            <a:off x="7161212" y="2209800"/>
            <a:ext cx="1676400" cy="2514600"/>
          </a:xfrm>
          <a:prstGeom prst="rect">
            <a:avLst/>
          </a:prstGeom>
          <a:noFill/>
          <a:ln w="381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Relative Impact on Business Objectives</a:t>
            </a:r>
            <a:endParaRPr lang="en-US" dirty="0"/>
          </a:p>
        </p:txBody>
      </p:sp>
      <p:sp>
        <p:nvSpPr>
          <p:cNvPr id="7" name="TextBox 3"/>
          <p:cNvSpPr txBox="1">
            <a:spLocks noChangeArrowheads="1"/>
          </p:cNvSpPr>
          <p:nvPr/>
        </p:nvSpPr>
        <p:spPr bwMode="auto">
          <a:xfrm>
            <a:off x="4952999" y="1857375"/>
            <a:ext cx="2272673" cy="369332"/>
          </a:xfrm>
          <a:prstGeom prst="rect">
            <a:avLst/>
          </a:prstGeom>
          <a:noFill/>
          <a:ln w="9525">
            <a:noFill/>
            <a:miter lim="800000"/>
            <a:headEnd/>
            <a:tailEnd/>
          </a:ln>
        </p:spPr>
        <p:txBody>
          <a:bodyPr wrap="none">
            <a:spAutoFit/>
          </a:bodyPr>
          <a:lstStyle/>
          <a:p>
            <a:r>
              <a:rPr lang="nb-NO" sz="1800" b="1" dirty="0">
                <a:solidFill>
                  <a:srgbClr val="000000"/>
                </a:solidFill>
              </a:rPr>
              <a:t>1. Customer Relations</a:t>
            </a:r>
            <a:endParaRPr lang="en-US" sz="1800" b="1" dirty="0">
              <a:solidFill>
                <a:srgbClr val="000000"/>
              </a:solidFill>
            </a:endParaRPr>
          </a:p>
        </p:txBody>
      </p:sp>
      <p:sp>
        <p:nvSpPr>
          <p:cNvPr id="8" name="Rectangle 13"/>
          <p:cNvSpPr>
            <a:spLocks noChangeArrowheads="1"/>
          </p:cNvSpPr>
          <p:nvPr/>
        </p:nvSpPr>
        <p:spPr bwMode="auto">
          <a:xfrm>
            <a:off x="5653087" y="391795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Self Service</a:t>
            </a:r>
            <a:endParaRPr lang="en-US" sz="900" b="1" dirty="0">
              <a:solidFill>
                <a:srgbClr val="000000"/>
              </a:solidFill>
            </a:endParaRPr>
          </a:p>
        </p:txBody>
      </p:sp>
      <p:sp>
        <p:nvSpPr>
          <p:cNvPr id="10" name="TextBox 9"/>
          <p:cNvSpPr txBox="1">
            <a:spLocks noChangeArrowheads="1"/>
          </p:cNvSpPr>
          <p:nvPr/>
        </p:nvSpPr>
        <p:spPr bwMode="auto">
          <a:xfrm>
            <a:off x="5479379" y="3505200"/>
            <a:ext cx="1418979" cy="261610"/>
          </a:xfrm>
          <a:prstGeom prst="rect">
            <a:avLst/>
          </a:prstGeom>
          <a:noFill/>
          <a:ln w="9525">
            <a:noFill/>
            <a:miter lim="800000"/>
            <a:headEnd/>
            <a:tailEnd/>
          </a:ln>
        </p:spPr>
        <p:txBody>
          <a:bodyPr wrap="none">
            <a:spAutoFit/>
          </a:bodyPr>
          <a:lstStyle/>
          <a:p>
            <a:pPr algn="ctr"/>
            <a:r>
              <a:rPr lang="nb-NO" sz="1100" b="1" dirty="0">
                <a:solidFill>
                  <a:srgbClr val="000000"/>
                </a:solidFill>
              </a:rPr>
              <a:t>1.3 Customer Service</a:t>
            </a:r>
            <a:endParaRPr lang="en-US" sz="1100" b="1" dirty="0">
              <a:solidFill>
                <a:srgbClr val="000000"/>
              </a:solidFill>
            </a:endParaRPr>
          </a:p>
        </p:txBody>
      </p:sp>
      <p:sp>
        <p:nvSpPr>
          <p:cNvPr id="11" name="Rectangle 13"/>
          <p:cNvSpPr>
            <a:spLocks noChangeArrowheads="1"/>
          </p:cNvSpPr>
          <p:nvPr/>
        </p:nvSpPr>
        <p:spPr bwMode="auto">
          <a:xfrm>
            <a:off x="5653087" y="42672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Call Center</a:t>
            </a:r>
            <a:endParaRPr lang="en-US" sz="900" b="1" dirty="0">
              <a:solidFill>
                <a:srgbClr val="000000"/>
              </a:solidFill>
            </a:endParaRPr>
          </a:p>
        </p:txBody>
      </p:sp>
      <p:sp>
        <p:nvSpPr>
          <p:cNvPr id="12" name="Rectangle 13"/>
          <p:cNvSpPr>
            <a:spLocks noChangeArrowheads="1"/>
          </p:cNvSpPr>
          <p:nvPr/>
        </p:nvSpPr>
        <p:spPr bwMode="auto">
          <a:xfrm>
            <a:off x="5653087" y="45691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Chat</a:t>
            </a:r>
            <a:endParaRPr lang="en-US" sz="900" b="1" dirty="0">
              <a:solidFill>
                <a:srgbClr val="000000"/>
              </a:solidFill>
            </a:endParaRPr>
          </a:p>
        </p:txBody>
      </p:sp>
      <p:sp>
        <p:nvSpPr>
          <p:cNvPr id="13" name="Rectangle 13"/>
          <p:cNvSpPr>
            <a:spLocks noChangeArrowheads="1"/>
          </p:cNvSpPr>
          <p:nvPr/>
        </p:nvSpPr>
        <p:spPr bwMode="auto">
          <a:xfrm>
            <a:off x="5653087" y="48739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Issue Resolution</a:t>
            </a:r>
            <a:endParaRPr lang="en-US" sz="900" b="1" dirty="0">
              <a:solidFill>
                <a:srgbClr val="000000"/>
              </a:solidFill>
            </a:endParaRPr>
          </a:p>
        </p:txBody>
      </p:sp>
      <p:sp>
        <p:nvSpPr>
          <p:cNvPr id="14" name="Rectangle 13"/>
          <p:cNvSpPr>
            <a:spLocks noChangeArrowheads="1"/>
          </p:cNvSpPr>
          <p:nvPr/>
        </p:nvSpPr>
        <p:spPr bwMode="auto">
          <a:xfrm>
            <a:off x="5653087" y="51787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Products Training</a:t>
            </a:r>
            <a:endParaRPr lang="en-US" sz="900" b="1" dirty="0">
              <a:solidFill>
                <a:srgbClr val="000000"/>
              </a:solidFill>
            </a:endParaRPr>
          </a:p>
        </p:txBody>
      </p:sp>
      <p:sp>
        <p:nvSpPr>
          <p:cNvPr id="15" name="Rectangle 13"/>
          <p:cNvSpPr>
            <a:spLocks noChangeArrowheads="1"/>
          </p:cNvSpPr>
          <p:nvPr/>
        </p:nvSpPr>
        <p:spPr bwMode="auto">
          <a:xfrm>
            <a:off x="5634037" y="25146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Lead Mgmt</a:t>
            </a:r>
            <a:endParaRPr lang="en-US" sz="900" b="1" dirty="0">
              <a:solidFill>
                <a:srgbClr val="000000"/>
              </a:solidFill>
            </a:endParaRPr>
          </a:p>
        </p:txBody>
      </p:sp>
      <p:sp>
        <p:nvSpPr>
          <p:cNvPr id="17" name="TextBox 16"/>
          <p:cNvSpPr txBox="1">
            <a:spLocks noChangeArrowheads="1"/>
          </p:cNvSpPr>
          <p:nvPr/>
        </p:nvSpPr>
        <p:spPr bwMode="auto">
          <a:xfrm>
            <a:off x="5676633" y="2263775"/>
            <a:ext cx="1007007" cy="261610"/>
          </a:xfrm>
          <a:prstGeom prst="rect">
            <a:avLst/>
          </a:prstGeom>
          <a:noFill/>
          <a:ln w="9525">
            <a:noFill/>
            <a:miter lim="800000"/>
            <a:headEnd/>
            <a:tailEnd/>
          </a:ln>
        </p:spPr>
        <p:txBody>
          <a:bodyPr wrap="none">
            <a:spAutoFit/>
          </a:bodyPr>
          <a:lstStyle/>
          <a:p>
            <a:pPr algn="ctr"/>
            <a:r>
              <a:rPr lang="nb-NO" sz="1100" b="1" dirty="0">
                <a:solidFill>
                  <a:srgbClr val="000000"/>
                </a:solidFill>
              </a:rPr>
              <a:t>1.2 Marketing</a:t>
            </a:r>
            <a:endParaRPr lang="en-US" sz="1100" b="1" dirty="0">
              <a:solidFill>
                <a:srgbClr val="000000"/>
              </a:solidFill>
            </a:endParaRPr>
          </a:p>
        </p:txBody>
      </p:sp>
      <p:sp>
        <p:nvSpPr>
          <p:cNvPr id="18" name="Rectangle 13"/>
          <p:cNvSpPr>
            <a:spLocks noChangeArrowheads="1"/>
          </p:cNvSpPr>
          <p:nvPr/>
        </p:nvSpPr>
        <p:spPr bwMode="auto">
          <a:xfrm>
            <a:off x="5634037" y="28165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Campaign Mgmt</a:t>
            </a:r>
            <a:endParaRPr lang="en-US" sz="900" b="1" dirty="0">
              <a:solidFill>
                <a:srgbClr val="000000"/>
              </a:solidFill>
            </a:endParaRPr>
          </a:p>
        </p:txBody>
      </p:sp>
      <p:sp>
        <p:nvSpPr>
          <p:cNvPr id="19" name="Rectangle 13"/>
          <p:cNvSpPr>
            <a:spLocks noChangeArrowheads="1"/>
          </p:cNvSpPr>
          <p:nvPr/>
        </p:nvSpPr>
        <p:spPr bwMode="auto">
          <a:xfrm>
            <a:off x="5634037" y="31213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Proactive Marketing</a:t>
            </a:r>
            <a:endParaRPr lang="en-US" sz="900" b="1" dirty="0">
              <a:solidFill>
                <a:srgbClr val="000000"/>
              </a:solidFill>
            </a:endParaRPr>
          </a:p>
        </p:txBody>
      </p:sp>
      <p:sp>
        <p:nvSpPr>
          <p:cNvPr id="20" name="Rectangle 13"/>
          <p:cNvSpPr>
            <a:spLocks noChangeArrowheads="1"/>
          </p:cNvSpPr>
          <p:nvPr/>
        </p:nvSpPr>
        <p:spPr bwMode="auto">
          <a:xfrm>
            <a:off x="3942555" y="25146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Opportunity Mgmt</a:t>
            </a:r>
            <a:endParaRPr lang="en-US" sz="900" b="1" dirty="0">
              <a:solidFill>
                <a:srgbClr val="000000"/>
              </a:solidFill>
            </a:endParaRPr>
          </a:p>
        </p:txBody>
      </p:sp>
      <p:sp>
        <p:nvSpPr>
          <p:cNvPr id="22" name="TextBox 23"/>
          <p:cNvSpPr txBox="1">
            <a:spLocks noChangeArrowheads="1"/>
          </p:cNvSpPr>
          <p:nvPr/>
        </p:nvSpPr>
        <p:spPr bwMode="auto">
          <a:xfrm>
            <a:off x="4134285" y="2263775"/>
            <a:ext cx="697627" cy="261610"/>
          </a:xfrm>
          <a:prstGeom prst="rect">
            <a:avLst/>
          </a:prstGeom>
          <a:noFill/>
          <a:ln w="9525">
            <a:noFill/>
            <a:miter lim="800000"/>
            <a:headEnd/>
            <a:tailEnd/>
          </a:ln>
        </p:spPr>
        <p:txBody>
          <a:bodyPr wrap="none">
            <a:spAutoFit/>
          </a:bodyPr>
          <a:lstStyle/>
          <a:p>
            <a:pPr algn="ctr"/>
            <a:r>
              <a:rPr lang="nb-NO" sz="1100" b="1" dirty="0">
                <a:solidFill>
                  <a:srgbClr val="000000"/>
                </a:solidFill>
              </a:rPr>
              <a:t>1.1 Sales</a:t>
            </a:r>
            <a:endParaRPr lang="en-US" sz="1100" b="1" dirty="0">
              <a:solidFill>
                <a:srgbClr val="000000"/>
              </a:solidFill>
            </a:endParaRPr>
          </a:p>
        </p:txBody>
      </p:sp>
      <p:sp>
        <p:nvSpPr>
          <p:cNvPr id="23" name="Rectangle 13"/>
          <p:cNvSpPr>
            <a:spLocks noChangeArrowheads="1"/>
          </p:cNvSpPr>
          <p:nvPr/>
        </p:nvSpPr>
        <p:spPr bwMode="auto">
          <a:xfrm>
            <a:off x="7313612" y="2678026"/>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Lifecycle Mgmt</a:t>
            </a:r>
            <a:endParaRPr lang="en-US" sz="900" b="1" dirty="0">
              <a:solidFill>
                <a:srgbClr val="000000"/>
              </a:solidFill>
            </a:endParaRPr>
          </a:p>
        </p:txBody>
      </p:sp>
      <p:sp>
        <p:nvSpPr>
          <p:cNvPr id="25" name="TextBox 28"/>
          <p:cNvSpPr txBox="1">
            <a:spLocks noChangeArrowheads="1"/>
          </p:cNvSpPr>
          <p:nvPr/>
        </p:nvSpPr>
        <p:spPr bwMode="auto">
          <a:xfrm>
            <a:off x="7361010" y="2236113"/>
            <a:ext cx="998991" cy="430887"/>
          </a:xfrm>
          <a:prstGeom prst="rect">
            <a:avLst/>
          </a:prstGeom>
          <a:noFill/>
          <a:ln w="9525">
            <a:noFill/>
            <a:miter lim="800000"/>
            <a:headEnd/>
            <a:tailEnd/>
          </a:ln>
        </p:spPr>
        <p:txBody>
          <a:bodyPr wrap="none">
            <a:spAutoFit/>
          </a:bodyPr>
          <a:lstStyle/>
          <a:p>
            <a:pPr algn="ctr"/>
            <a:r>
              <a:rPr lang="nb-NO" sz="1100" b="1" dirty="0">
                <a:solidFill>
                  <a:srgbClr val="000000"/>
                </a:solidFill>
              </a:rPr>
              <a:t>1.4 Customer </a:t>
            </a:r>
            <a:br>
              <a:rPr lang="nb-NO" sz="1100" b="1" dirty="0">
                <a:solidFill>
                  <a:srgbClr val="000000"/>
                </a:solidFill>
              </a:rPr>
            </a:br>
            <a:r>
              <a:rPr lang="nb-NO" sz="1100" b="1" dirty="0">
                <a:solidFill>
                  <a:srgbClr val="000000"/>
                </a:solidFill>
              </a:rPr>
              <a:t>Management</a:t>
            </a:r>
            <a:endParaRPr lang="en-US" sz="1100" b="1" dirty="0">
              <a:solidFill>
                <a:srgbClr val="000000"/>
              </a:solidFill>
            </a:endParaRPr>
          </a:p>
        </p:txBody>
      </p:sp>
      <p:sp>
        <p:nvSpPr>
          <p:cNvPr id="26" name="Rectangle 13"/>
          <p:cNvSpPr>
            <a:spLocks noChangeArrowheads="1"/>
          </p:cNvSpPr>
          <p:nvPr/>
        </p:nvSpPr>
        <p:spPr bwMode="auto">
          <a:xfrm>
            <a:off x="7313612" y="3135226"/>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Profile Mgmt</a:t>
            </a:r>
            <a:endParaRPr lang="en-US" sz="900" b="1" dirty="0">
              <a:solidFill>
                <a:srgbClr val="000000"/>
              </a:solidFill>
            </a:endParaRPr>
          </a:p>
        </p:txBody>
      </p:sp>
      <p:sp>
        <p:nvSpPr>
          <p:cNvPr id="27" name="Rectangle 13"/>
          <p:cNvSpPr>
            <a:spLocks noChangeArrowheads="1"/>
          </p:cNvSpPr>
          <p:nvPr/>
        </p:nvSpPr>
        <p:spPr bwMode="auto">
          <a:xfrm>
            <a:off x="7313612" y="3581400"/>
            <a:ext cx="1187450" cy="5084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Relationship Hierarchy Mgmt</a:t>
            </a:r>
            <a:endParaRPr lang="en-US" sz="900" b="1" dirty="0">
              <a:solidFill>
                <a:srgbClr val="000000"/>
              </a:solidFill>
            </a:endParaRPr>
          </a:p>
        </p:txBody>
      </p:sp>
      <p:sp>
        <p:nvSpPr>
          <p:cNvPr id="28" name="Rectangle 13"/>
          <p:cNvSpPr>
            <a:spLocks noChangeArrowheads="1"/>
          </p:cNvSpPr>
          <p:nvPr/>
        </p:nvSpPr>
        <p:spPr bwMode="auto">
          <a:xfrm>
            <a:off x="3941761" y="3121325"/>
            <a:ext cx="1189038"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smtClean="0">
                <a:solidFill>
                  <a:srgbClr val="000000"/>
                </a:solidFill>
              </a:rPr>
              <a:t>Commission Mgmt                </a:t>
            </a:r>
            <a:endParaRPr lang="en-US" sz="900" b="1" dirty="0">
              <a:solidFill>
                <a:srgbClr val="000000"/>
              </a:solidFill>
            </a:endParaRPr>
          </a:p>
        </p:txBody>
      </p:sp>
      <p:sp>
        <p:nvSpPr>
          <p:cNvPr id="29" name="Rectangle 13"/>
          <p:cNvSpPr>
            <a:spLocks noChangeArrowheads="1"/>
          </p:cNvSpPr>
          <p:nvPr/>
        </p:nvSpPr>
        <p:spPr bwMode="auto">
          <a:xfrm>
            <a:off x="3938587" y="3917950"/>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en-US" sz="900" b="1" dirty="0" smtClean="0">
                <a:solidFill>
                  <a:srgbClr val="000000"/>
                </a:solidFill>
              </a:rPr>
              <a:t>Communications Management</a:t>
            </a:r>
            <a:endParaRPr lang="en-US" sz="900" b="1" dirty="0">
              <a:solidFill>
                <a:srgbClr val="000000"/>
              </a:solidFill>
            </a:endParaRPr>
          </a:p>
        </p:txBody>
      </p:sp>
      <p:sp>
        <p:nvSpPr>
          <p:cNvPr id="31" name="TextBox 34"/>
          <p:cNvSpPr txBox="1">
            <a:spLocks noChangeArrowheads="1"/>
          </p:cNvSpPr>
          <p:nvPr/>
        </p:nvSpPr>
        <p:spPr bwMode="auto">
          <a:xfrm>
            <a:off x="3985191" y="3505200"/>
            <a:ext cx="998991" cy="430887"/>
          </a:xfrm>
          <a:prstGeom prst="rect">
            <a:avLst/>
          </a:prstGeom>
          <a:noFill/>
          <a:ln w="9525">
            <a:noFill/>
            <a:miter lim="800000"/>
            <a:headEnd/>
            <a:tailEnd/>
          </a:ln>
        </p:spPr>
        <p:txBody>
          <a:bodyPr wrap="none">
            <a:spAutoFit/>
          </a:bodyPr>
          <a:lstStyle/>
          <a:p>
            <a:pPr algn="ctr"/>
            <a:r>
              <a:rPr lang="nb-NO" sz="1100" b="1" dirty="0">
                <a:solidFill>
                  <a:srgbClr val="000000"/>
                </a:solidFill>
              </a:rPr>
              <a:t>1.5 Customer </a:t>
            </a:r>
            <a:br>
              <a:rPr lang="nb-NO" sz="1100" b="1" dirty="0">
                <a:solidFill>
                  <a:srgbClr val="000000"/>
                </a:solidFill>
              </a:rPr>
            </a:br>
            <a:r>
              <a:rPr lang="nb-NO" sz="1100" b="1" dirty="0">
                <a:solidFill>
                  <a:srgbClr val="000000"/>
                </a:solidFill>
              </a:rPr>
              <a:t>Comm Mgmt</a:t>
            </a:r>
            <a:endParaRPr lang="en-US" sz="1100" b="1" dirty="0">
              <a:solidFill>
                <a:srgbClr val="000000"/>
              </a:solidFill>
            </a:endParaRPr>
          </a:p>
        </p:txBody>
      </p:sp>
      <p:sp>
        <p:nvSpPr>
          <p:cNvPr id="32" name="Rectangle 13"/>
          <p:cNvSpPr>
            <a:spLocks noChangeArrowheads="1"/>
          </p:cNvSpPr>
          <p:nvPr/>
        </p:nvSpPr>
        <p:spPr bwMode="auto">
          <a:xfrm>
            <a:off x="3938587" y="4354426"/>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smtClean="0">
                <a:solidFill>
                  <a:srgbClr val="000000"/>
                </a:solidFill>
              </a:rPr>
              <a:t>Communications Analysis</a:t>
            </a:r>
            <a:endParaRPr lang="en-US" sz="900" b="1" dirty="0">
              <a:solidFill>
                <a:srgbClr val="000000"/>
              </a:solidFill>
            </a:endParaRPr>
          </a:p>
        </p:txBody>
      </p:sp>
      <p:sp>
        <p:nvSpPr>
          <p:cNvPr id="33" name="Rectangle 13"/>
          <p:cNvSpPr>
            <a:spLocks noChangeArrowheads="1"/>
          </p:cNvSpPr>
          <p:nvPr/>
        </p:nvSpPr>
        <p:spPr bwMode="auto">
          <a:xfrm>
            <a:off x="7313612" y="4202026"/>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Contracts Mgmt</a:t>
            </a:r>
            <a:endParaRPr lang="en-US" sz="900" b="1" dirty="0">
              <a:solidFill>
                <a:srgbClr val="000000"/>
              </a:solidFill>
            </a:endParaRPr>
          </a:p>
        </p:txBody>
      </p:sp>
      <p:sp>
        <p:nvSpPr>
          <p:cNvPr id="34" name="Rectangle 13"/>
          <p:cNvSpPr>
            <a:spLocks noChangeArrowheads="1"/>
          </p:cNvSpPr>
          <p:nvPr/>
        </p:nvSpPr>
        <p:spPr bwMode="auto">
          <a:xfrm>
            <a:off x="3942555" y="28165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Sales Forcasting</a:t>
            </a:r>
            <a:endParaRPr lang="en-US" sz="900" b="1" dirty="0">
              <a:solidFill>
                <a:srgbClr val="000000"/>
              </a:solidFill>
            </a:endParaRPr>
          </a:p>
        </p:txBody>
      </p:sp>
      <p:sp>
        <p:nvSpPr>
          <p:cNvPr id="39" name="Rectangle 38"/>
          <p:cNvSpPr/>
          <p:nvPr/>
        </p:nvSpPr>
        <p:spPr>
          <a:xfrm>
            <a:off x="3656012" y="3505200"/>
            <a:ext cx="1676400" cy="14478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0" name="Rectangle 39"/>
          <p:cNvSpPr/>
          <p:nvPr/>
        </p:nvSpPr>
        <p:spPr>
          <a:xfrm>
            <a:off x="3656012" y="2209800"/>
            <a:ext cx="1676400" cy="1219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1" name="Rectangle 40"/>
          <p:cNvSpPr/>
          <p:nvPr/>
        </p:nvSpPr>
        <p:spPr>
          <a:xfrm>
            <a:off x="7161212" y="2209800"/>
            <a:ext cx="1676400" cy="25146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2" name="Rectangle 41"/>
          <p:cNvSpPr/>
          <p:nvPr/>
        </p:nvSpPr>
        <p:spPr>
          <a:xfrm>
            <a:off x="5408612" y="2209800"/>
            <a:ext cx="1676400" cy="1219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3" name="Rectangle 42"/>
          <p:cNvSpPr/>
          <p:nvPr/>
        </p:nvSpPr>
        <p:spPr>
          <a:xfrm>
            <a:off x="5408612" y="3505200"/>
            <a:ext cx="1676400" cy="1981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4" name="Rounded Rectangle 43"/>
          <p:cNvSpPr/>
          <p:nvPr/>
        </p:nvSpPr>
        <p:spPr>
          <a:xfrm>
            <a:off x="2589212" y="1600200"/>
            <a:ext cx="7086600" cy="4343400"/>
          </a:xfrm>
          <a:prstGeom prst="roundRect">
            <a:avLst/>
          </a:prstGeom>
          <a:noFill/>
          <a:ln w="254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
        <p:nvSpPr>
          <p:cNvPr id="36" name="TextBox 31"/>
          <p:cNvSpPr txBox="1">
            <a:spLocks noChangeArrowheads="1"/>
          </p:cNvSpPr>
          <p:nvPr/>
        </p:nvSpPr>
        <p:spPr bwMode="auto">
          <a:xfrm>
            <a:off x="8435322" y="4941094"/>
            <a:ext cx="3297890" cy="1231106"/>
          </a:xfrm>
          <a:prstGeom prst="rect">
            <a:avLst/>
          </a:prstGeom>
          <a:solidFill>
            <a:schemeClr val="accent5">
              <a:lumMod val="40000"/>
              <a:lumOff val="60000"/>
            </a:schemeClr>
          </a:solidFill>
          <a:ln w="9525">
            <a:noFill/>
            <a:miter lim="800000"/>
            <a:headEnd/>
            <a:tailEnd/>
          </a:ln>
          <a:scene3d>
            <a:camera prst="orthographicFront"/>
            <a:lightRig rig="threePt" dir="t"/>
          </a:scene3d>
          <a:sp3d>
            <a:bevelT/>
          </a:sp3d>
        </p:spPr>
        <p:txBody>
          <a:bodyPr wrap="none">
            <a:spAutoFit/>
          </a:bodyPr>
          <a:lstStyle/>
          <a:p>
            <a:pPr>
              <a:defRPr/>
            </a:pPr>
            <a:r>
              <a:rPr lang="nb-NO" i="1" dirty="0" smtClean="0">
                <a:latin typeface="Arial" pitchFamily="34" charset="0"/>
              </a:rPr>
              <a:t>Business objectives:</a:t>
            </a:r>
          </a:p>
          <a:p>
            <a:pPr>
              <a:defRPr/>
            </a:pPr>
            <a:r>
              <a:rPr lang="nb-NO" i="1" dirty="0" smtClean="0">
                <a:latin typeface="Arial" pitchFamily="34" charset="0"/>
              </a:rPr>
              <a:t>a) Reduce </a:t>
            </a:r>
            <a:r>
              <a:rPr lang="nb-NO" i="1" dirty="0">
                <a:latin typeface="Arial" pitchFamily="34" charset="0"/>
              </a:rPr>
              <a:t>Cost</a:t>
            </a:r>
          </a:p>
          <a:p>
            <a:pPr>
              <a:defRPr/>
            </a:pPr>
            <a:r>
              <a:rPr lang="nb-NO" i="1" dirty="0" smtClean="0">
                <a:latin typeface="Arial" pitchFamily="34" charset="0"/>
              </a:rPr>
              <a:t>b) Reduce </a:t>
            </a:r>
            <a:r>
              <a:rPr lang="nb-NO" i="1" dirty="0">
                <a:latin typeface="Arial" pitchFamily="34" charset="0"/>
              </a:rPr>
              <a:t>Time to Market</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Relative Impact on Business Objectives</a:t>
            </a:r>
            <a:endParaRPr lang="en-US" dirty="0"/>
          </a:p>
        </p:txBody>
      </p:sp>
      <p:sp>
        <p:nvSpPr>
          <p:cNvPr id="7" name="TextBox 3"/>
          <p:cNvSpPr txBox="1">
            <a:spLocks noChangeArrowheads="1"/>
          </p:cNvSpPr>
          <p:nvPr/>
        </p:nvSpPr>
        <p:spPr bwMode="auto">
          <a:xfrm>
            <a:off x="4952999" y="1857375"/>
            <a:ext cx="2272673" cy="369332"/>
          </a:xfrm>
          <a:prstGeom prst="rect">
            <a:avLst/>
          </a:prstGeom>
          <a:noFill/>
          <a:ln w="9525">
            <a:noFill/>
            <a:miter lim="800000"/>
            <a:headEnd/>
            <a:tailEnd/>
          </a:ln>
        </p:spPr>
        <p:txBody>
          <a:bodyPr wrap="none">
            <a:spAutoFit/>
          </a:bodyPr>
          <a:lstStyle/>
          <a:p>
            <a:r>
              <a:rPr lang="nb-NO" sz="1800" b="1" dirty="0">
                <a:solidFill>
                  <a:srgbClr val="000000"/>
                </a:solidFill>
              </a:rPr>
              <a:t>1. Customer Relations</a:t>
            </a:r>
            <a:endParaRPr lang="en-US" sz="1800" b="1" dirty="0">
              <a:solidFill>
                <a:srgbClr val="000000"/>
              </a:solidFill>
            </a:endParaRPr>
          </a:p>
        </p:txBody>
      </p:sp>
      <p:sp>
        <p:nvSpPr>
          <p:cNvPr id="8" name="Rectangle 13"/>
          <p:cNvSpPr>
            <a:spLocks noChangeArrowheads="1"/>
          </p:cNvSpPr>
          <p:nvPr/>
        </p:nvSpPr>
        <p:spPr bwMode="auto">
          <a:xfrm>
            <a:off x="5653087" y="3917950"/>
            <a:ext cx="1187450" cy="231475"/>
          </a:xfrm>
          <a:prstGeom prst="rect">
            <a:avLst/>
          </a:prstGeom>
          <a:solidFill>
            <a:srgbClr val="FFC00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Self Service</a:t>
            </a:r>
            <a:endParaRPr lang="en-US" sz="900" b="1" dirty="0">
              <a:solidFill>
                <a:srgbClr val="000000"/>
              </a:solidFill>
            </a:endParaRPr>
          </a:p>
        </p:txBody>
      </p:sp>
      <p:sp>
        <p:nvSpPr>
          <p:cNvPr id="10" name="TextBox 9"/>
          <p:cNvSpPr txBox="1">
            <a:spLocks noChangeArrowheads="1"/>
          </p:cNvSpPr>
          <p:nvPr/>
        </p:nvSpPr>
        <p:spPr bwMode="auto">
          <a:xfrm>
            <a:off x="5479379" y="3505200"/>
            <a:ext cx="1418979" cy="261610"/>
          </a:xfrm>
          <a:prstGeom prst="rect">
            <a:avLst/>
          </a:prstGeom>
          <a:noFill/>
          <a:ln w="9525">
            <a:noFill/>
            <a:miter lim="800000"/>
            <a:headEnd/>
            <a:tailEnd/>
          </a:ln>
        </p:spPr>
        <p:txBody>
          <a:bodyPr wrap="none">
            <a:spAutoFit/>
          </a:bodyPr>
          <a:lstStyle/>
          <a:p>
            <a:pPr algn="ctr"/>
            <a:r>
              <a:rPr lang="nb-NO" sz="1100" b="1" dirty="0">
                <a:solidFill>
                  <a:srgbClr val="000000"/>
                </a:solidFill>
              </a:rPr>
              <a:t>1.3 Customer Service</a:t>
            </a:r>
            <a:endParaRPr lang="en-US" sz="1100" b="1" dirty="0">
              <a:solidFill>
                <a:srgbClr val="000000"/>
              </a:solidFill>
            </a:endParaRPr>
          </a:p>
        </p:txBody>
      </p:sp>
      <p:sp>
        <p:nvSpPr>
          <p:cNvPr id="11" name="Rectangle 13"/>
          <p:cNvSpPr>
            <a:spLocks noChangeArrowheads="1"/>
          </p:cNvSpPr>
          <p:nvPr/>
        </p:nvSpPr>
        <p:spPr bwMode="auto">
          <a:xfrm>
            <a:off x="5653087" y="42672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Call Center</a:t>
            </a:r>
            <a:endParaRPr lang="en-US" sz="900" b="1" dirty="0">
              <a:solidFill>
                <a:srgbClr val="000000"/>
              </a:solidFill>
            </a:endParaRPr>
          </a:p>
        </p:txBody>
      </p:sp>
      <p:sp>
        <p:nvSpPr>
          <p:cNvPr id="12" name="Rectangle 13"/>
          <p:cNvSpPr>
            <a:spLocks noChangeArrowheads="1"/>
          </p:cNvSpPr>
          <p:nvPr/>
        </p:nvSpPr>
        <p:spPr bwMode="auto">
          <a:xfrm>
            <a:off x="5653087" y="45691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Chat</a:t>
            </a:r>
            <a:endParaRPr lang="en-US" sz="900" b="1" dirty="0">
              <a:solidFill>
                <a:srgbClr val="000000"/>
              </a:solidFill>
            </a:endParaRPr>
          </a:p>
        </p:txBody>
      </p:sp>
      <p:sp>
        <p:nvSpPr>
          <p:cNvPr id="13" name="Rectangle 13"/>
          <p:cNvSpPr>
            <a:spLocks noChangeArrowheads="1"/>
          </p:cNvSpPr>
          <p:nvPr/>
        </p:nvSpPr>
        <p:spPr bwMode="auto">
          <a:xfrm>
            <a:off x="5653087" y="48739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Issue Resolution</a:t>
            </a:r>
            <a:endParaRPr lang="en-US" sz="900" b="1" dirty="0">
              <a:solidFill>
                <a:srgbClr val="000000"/>
              </a:solidFill>
            </a:endParaRPr>
          </a:p>
        </p:txBody>
      </p:sp>
      <p:sp>
        <p:nvSpPr>
          <p:cNvPr id="14" name="Rectangle 13"/>
          <p:cNvSpPr>
            <a:spLocks noChangeArrowheads="1"/>
          </p:cNvSpPr>
          <p:nvPr/>
        </p:nvSpPr>
        <p:spPr bwMode="auto">
          <a:xfrm>
            <a:off x="5653087" y="51787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Products Training</a:t>
            </a:r>
            <a:endParaRPr lang="en-US" sz="900" b="1" dirty="0">
              <a:solidFill>
                <a:srgbClr val="000000"/>
              </a:solidFill>
            </a:endParaRPr>
          </a:p>
        </p:txBody>
      </p:sp>
      <p:sp>
        <p:nvSpPr>
          <p:cNvPr id="15" name="Rectangle 13"/>
          <p:cNvSpPr>
            <a:spLocks noChangeArrowheads="1"/>
          </p:cNvSpPr>
          <p:nvPr/>
        </p:nvSpPr>
        <p:spPr bwMode="auto">
          <a:xfrm>
            <a:off x="5634037" y="25146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Lead Mgmt</a:t>
            </a:r>
            <a:endParaRPr lang="en-US" sz="900" b="1" dirty="0">
              <a:solidFill>
                <a:srgbClr val="000000"/>
              </a:solidFill>
            </a:endParaRPr>
          </a:p>
        </p:txBody>
      </p:sp>
      <p:sp>
        <p:nvSpPr>
          <p:cNvPr id="17" name="TextBox 16"/>
          <p:cNvSpPr txBox="1">
            <a:spLocks noChangeArrowheads="1"/>
          </p:cNvSpPr>
          <p:nvPr/>
        </p:nvSpPr>
        <p:spPr bwMode="auto">
          <a:xfrm>
            <a:off x="5676633" y="2263775"/>
            <a:ext cx="1007007" cy="261610"/>
          </a:xfrm>
          <a:prstGeom prst="rect">
            <a:avLst/>
          </a:prstGeom>
          <a:noFill/>
          <a:ln w="9525">
            <a:noFill/>
            <a:miter lim="800000"/>
            <a:headEnd/>
            <a:tailEnd/>
          </a:ln>
        </p:spPr>
        <p:txBody>
          <a:bodyPr wrap="none">
            <a:spAutoFit/>
          </a:bodyPr>
          <a:lstStyle/>
          <a:p>
            <a:pPr algn="ctr"/>
            <a:r>
              <a:rPr lang="nb-NO" sz="1100" b="1" dirty="0">
                <a:solidFill>
                  <a:srgbClr val="000000"/>
                </a:solidFill>
              </a:rPr>
              <a:t>1.2 Marketing</a:t>
            </a:r>
            <a:endParaRPr lang="en-US" sz="1100" b="1" dirty="0">
              <a:solidFill>
                <a:srgbClr val="000000"/>
              </a:solidFill>
            </a:endParaRPr>
          </a:p>
        </p:txBody>
      </p:sp>
      <p:sp>
        <p:nvSpPr>
          <p:cNvPr id="18" name="Rectangle 13"/>
          <p:cNvSpPr>
            <a:spLocks noChangeArrowheads="1"/>
          </p:cNvSpPr>
          <p:nvPr/>
        </p:nvSpPr>
        <p:spPr bwMode="auto">
          <a:xfrm>
            <a:off x="5634037" y="28165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Campaign Mgmt</a:t>
            </a:r>
            <a:endParaRPr lang="en-US" sz="900" b="1" dirty="0">
              <a:solidFill>
                <a:srgbClr val="000000"/>
              </a:solidFill>
            </a:endParaRPr>
          </a:p>
        </p:txBody>
      </p:sp>
      <p:sp>
        <p:nvSpPr>
          <p:cNvPr id="19" name="Rectangle 13"/>
          <p:cNvSpPr>
            <a:spLocks noChangeArrowheads="1"/>
          </p:cNvSpPr>
          <p:nvPr/>
        </p:nvSpPr>
        <p:spPr bwMode="auto">
          <a:xfrm>
            <a:off x="5634037" y="31213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Proactive Marketing</a:t>
            </a:r>
            <a:endParaRPr lang="en-US" sz="900" b="1" dirty="0">
              <a:solidFill>
                <a:srgbClr val="000000"/>
              </a:solidFill>
            </a:endParaRPr>
          </a:p>
        </p:txBody>
      </p:sp>
      <p:sp>
        <p:nvSpPr>
          <p:cNvPr id="20" name="Rectangle 13"/>
          <p:cNvSpPr>
            <a:spLocks noChangeArrowheads="1"/>
          </p:cNvSpPr>
          <p:nvPr/>
        </p:nvSpPr>
        <p:spPr bwMode="auto">
          <a:xfrm>
            <a:off x="3942555" y="25146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Opportunity Mgmt</a:t>
            </a:r>
            <a:endParaRPr lang="en-US" sz="900" b="1" dirty="0">
              <a:solidFill>
                <a:srgbClr val="000000"/>
              </a:solidFill>
            </a:endParaRPr>
          </a:p>
        </p:txBody>
      </p:sp>
      <p:sp>
        <p:nvSpPr>
          <p:cNvPr id="22" name="TextBox 23"/>
          <p:cNvSpPr txBox="1">
            <a:spLocks noChangeArrowheads="1"/>
          </p:cNvSpPr>
          <p:nvPr/>
        </p:nvSpPr>
        <p:spPr bwMode="auto">
          <a:xfrm>
            <a:off x="4134285" y="2263775"/>
            <a:ext cx="697627" cy="261610"/>
          </a:xfrm>
          <a:prstGeom prst="rect">
            <a:avLst/>
          </a:prstGeom>
          <a:noFill/>
          <a:ln w="9525">
            <a:noFill/>
            <a:miter lim="800000"/>
            <a:headEnd/>
            <a:tailEnd/>
          </a:ln>
        </p:spPr>
        <p:txBody>
          <a:bodyPr wrap="none">
            <a:spAutoFit/>
          </a:bodyPr>
          <a:lstStyle/>
          <a:p>
            <a:pPr algn="ctr"/>
            <a:r>
              <a:rPr lang="nb-NO" sz="1100" b="1" dirty="0">
                <a:solidFill>
                  <a:srgbClr val="000000"/>
                </a:solidFill>
              </a:rPr>
              <a:t>1.1 Sales</a:t>
            </a:r>
            <a:endParaRPr lang="en-US" sz="1100" b="1" dirty="0">
              <a:solidFill>
                <a:srgbClr val="000000"/>
              </a:solidFill>
            </a:endParaRPr>
          </a:p>
        </p:txBody>
      </p:sp>
      <p:sp>
        <p:nvSpPr>
          <p:cNvPr id="23" name="Rectangle 13"/>
          <p:cNvSpPr>
            <a:spLocks noChangeArrowheads="1"/>
          </p:cNvSpPr>
          <p:nvPr/>
        </p:nvSpPr>
        <p:spPr bwMode="auto">
          <a:xfrm>
            <a:off x="7313612" y="2678026"/>
            <a:ext cx="1187450" cy="369974"/>
          </a:xfrm>
          <a:prstGeom prst="rect">
            <a:avLst/>
          </a:prstGeom>
          <a:solidFill>
            <a:srgbClr val="FFC00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Lifecycle Mgmt</a:t>
            </a:r>
            <a:endParaRPr lang="en-US" sz="900" b="1" dirty="0">
              <a:solidFill>
                <a:srgbClr val="000000"/>
              </a:solidFill>
            </a:endParaRPr>
          </a:p>
        </p:txBody>
      </p:sp>
      <p:sp>
        <p:nvSpPr>
          <p:cNvPr id="25" name="TextBox 28"/>
          <p:cNvSpPr txBox="1">
            <a:spLocks noChangeArrowheads="1"/>
          </p:cNvSpPr>
          <p:nvPr/>
        </p:nvSpPr>
        <p:spPr bwMode="auto">
          <a:xfrm>
            <a:off x="7361010" y="2236113"/>
            <a:ext cx="998991" cy="430887"/>
          </a:xfrm>
          <a:prstGeom prst="rect">
            <a:avLst/>
          </a:prstGeom>
          <a:noFill/>
          <a:ln w="9525">
            <a:noFill/>
            <a:miter lim="800000"/>
            <a:headEnd/>
            <a:tailEnd/>
          </a:ln>
        </p:spPr>
        <p:txBody>
          <a:bodyPr wrap="none">
            <a:spAutoFit/>
          </a:bodyPr>
          <a:lstStyle/>
          <a:p>
            <a:pPr algn="ctr"/>
            <a:r>
              <a:rPr lang="nb-NO" sz="1100" b="1" dirty="0">
                <a:solidFill>
                  <a:srgbClr val="000000"/>
                </a:solidFill>
              </a:rPr>
              <a:t>1.4 Customer </a:t>
            </a:r>
            <a:br>
              <a:rPr lang="nb-NO" sz="1100" b="1" dirty="0">
                <a:solidFill>
                  <a:srgbClr val="000000"/>
                </a:solidFill>
              </a:rPr>
            </a:br>
            <a:r>
              <a:rPr lang="nb-NO" sz="1100" b="1" dirty="0">
                <a:solidFill>
                  <a:srgbClr val="000000"/>
                </a:solidFill>
              </a:rPr>
              <a:t>Management</a:t>
            </a:r>
            <a:endParaRPr lang="en-US" sz="1100" b="1" dirty="0">
              <a:solidFill>
                <a:srgbClr val="000000"/>
              </a:solidFill>
            </a:endParaRPr>
          </a:p>
        </p:txBody>
      </p:sp>
      <p:sp>
        <p:nvSpPr>
          <p:cNvPr id="26" name="Rectangle 13"/>
          <p:cNvSpPr>
            <a:spLocks noChangeArrowheads="1"/>
          </p:cNvSpPr>
          <p:nvPr/>
        </p:nvSpPr>
        <p:spPr bwMode="auto">
          <a:xfrm>
            <a:off x="7313612" y="3135226"/>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Profile Mgmt</a:t>
            </a:r>
            <a:endParaRPr lang="en-US" sz="900" b="1" dirty="0">
              <a:solidFill>
                <a:srgbClr val="000000"/>
              </a:solidFill>
            </a:endParaRPr>
          </a:p>
        </p:txBody>
      </p:sp>
      <p:sp>
        <p:nvSpPr>
          <p:cNvPr id="27" name="Rectangle 13"/>
          <p:cNvSpPr>
            <a:spLocks noChangeArrowheads="1"/>
          </p:cNvSpPr>
          <p:nvPr/>
        </p:nvSpPr>
        <p:spPr bwMode="auto">
          <a:xfrm>
            <a:off x="7313612" y="3581400"/>
            <a:ext cx="1187450" cy="5084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Relationship Hierarchy Mgmt</a:t>
            </a:r>
            <a:endParaRPr lang="en-US" sz="900" b="1" dirty="0">
              <a:solidFill>
                <a:srgbClr val="000000"/>
              </a:solidFill>
            </a:endParaRPr>
          </a:p>
        </p:txBody>
      </p:sp>
      <p:sp>
        <p:nvSpPr>
          <p:cNvPr id="28" name="Rectangle 13"/>
          <p:cNvSpPr>
            <a:spLocks noChangeArrowheads="1"/>
          </p:cNvSpPr>
          <p:nvPr/>
        </p:nvSpPr>
        <p:spPr bwMode="auto">
          <a:xfrm>
            <a:off x="3941761" y="3121325"/>
            <a:ext cx="1189038"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smtClean="0">
                <a:solidFill>
                  <a:srgbClr val="000000"/>
                </a:solidFill>
              </a:rPr>
              <a:t>Commission Mgmt                </a:t>
            </a:r>
            <a:endParaRPr lang="en-US" sz="900" b="1" dirty="0">
              <a:solidFill>
                <a:srgbClr val="000000"/>
              </a:solidFill>
            </a:endParaRPr>
          </a:p>
        </p:txBody>
      </p:sp>
      <p:sp>
        <p:nvSpPr>
          <p:cNvPr id="29" name="Rectangle 13"/>
          <p:cNvSpPr>
            <a:spLocks noChangeArrowheads="1"/>
          </p:cNvSpPr>
          <p:nvPr/>
        </p:nvSpPr>
        <p:spPr bwMode="auto">
          <a:xfrm>
            <a:off x="3938587" y="3917950"/>
            <a:ext cx="1187450" cy="369974"/>
          </a:xfrm>
          <a:prstGeom prst="rect">
            <a:avLst/>
          </a:prstGeom>
          <a:solidFill>
            <a:srgbClr val="FFC000"/>
          </a:solidFill>
          <a:ln w="9525" algn="ctr">
            <a:noFill/>
            <a:round/>
            <a:headEnd/>
            <a:tailEnd/>
          </a:ln>
        </p:spPr>
        <p:txBody>
          <a:bodyPr lIns="92075" tIns="46038" rIns="92075" bIns="46038">
            <a:spAutoFit/>
          </a:bodyPr>
          <a:lstStyle/>
          <a:p>
            <a:pPr marL="119063" indent="-119063" algn="ctr"/>
            <a:r>
              <a:rPr lang="en-US" sz="900" b="1" dirty="0" smtClean="0">
                <a:solidFill>
                  <a:srgbClr val="000000"/>
                </a:solidFill>
              </a:rPr>
              <a:t>Communications Management</a:t>
            </a:r>
            <a:endParaRPr lang="en-US" sz="900" b="1" dirty="0">
              <a:solidFill>
                <a:srgbClr val="000000"/>
              </a:solidFill>
            </a:endParaRPr>
          </a:p>
        </p:txBody>
      </p:sp>
      <p:sp>
        <p:nvSpPr>
          <p:cNvPr id="31" name="TextBox 34"/>
          <p:cNvSpPr txBox="1">
            <a:spLocks noChangeArrowheads="1"/>
          </p:cNvSpPr>
          <p:nvPr/>
        </p:nvSpPr>
        <p:spPr bwMode="auto">
          <a:xfrm>
            <a:off x="3985191" y="3505200"/>
            <a:ext cx="998991" cy="430887"/>
          </a:xfrm>
          <a:prstGeom prst="rect">
            <a:avLst/>
          </a:prstGeom>
          <a:noFill/>
          <a:ln w="9525">
            <a:noFill/>
            <a:miter lim="800000"/>
            <a:headEnd/>
            <a:tailEnd/>
          </a:ln>
        </p:spPr>
        <p:txBody>
          <a:bodyPr wrap="none">
            <a:spAutoFit/>
          </a:bodyPr>
          <a:lstStyle/>
          <a:p>
            <a:pPr algn="ctr"/>
            <a:r>
              <a:rPr lang="nb-NO" sz="1100" b="1" dirty="0">
                <a:solidFill>
                  <a:srgbClr val="000000"/>
                </a:solidFill>
              </a:rPr>
              <a:t>1.5 Customer </a:t>
            </a:r>
            <a:br>
              <a:rPr lang="nb-NO" sz="1100" b="1" dirty="0">
                <a:solidFill>
                  <a:srgbClr val="000000"/>
                </a:solidFill>
              </a:rPr>
            </a:br>
            <a:r>
              <a:rPr lang="nb-NO" sz="1100" b="1" dirty="0">
                <a:solidFill>
                  <a:srgbClr val="000000"/>
                </a:solidFill>
              </a:rPr>
              <a:t>Comm Mgmt</a:t>
            </a:r>
            <a:endParaRPr lang="en-US" sz="1100" b="1" dirty="0">
              <a:solidFill>
                <a:srgbClr val="000000"/>
              </a:solidFill>
            </a:endParaRPr>
          </a:p>
        </p:txBody>
      </p:sp>
      <p:sp>
        <p:nvSpPr>
          <p:cNvPr id="32" name="Rectangle 13"/>
          <p:cNvSpPr>
            <a:spLocks noChangeArrowheads="1"/>
          </p:cNvSpPr>
          <p:nvPr/>
        </p:nvSpPr>
        <p:spPr bwMode="auto">
          <a:xfrm>
            <a:off x="3938587" y="4354426"/>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smtClean="0">
                <a:solidFill>
                  <a:srgbClr val="000000"/>
                </a:solidFill>
              </a:rPr>
              <a:t>Communications Analysis</a:t>
            </a:r>
            <a:endParaRPr lang="en-US" sz="900" b="1" dirty="0">
              <a:solidFill>
                <a:srgbClr val="000000"/>
              </a:solidFill>
            </a:endParaRPr>
          </a:p>
        </p:txBody>
      </p:sp>
      <p:sp>
        <p:nvSpPr>
          <p:cNvPr id="33" name="Rectangle 13"/>
          <p:cNvSpPr>
            <a:spLocks noChangeArrowheads="1"/>
          </p:cNvSpPr>
          <p:nvPr/>
        </p:nvSpPr>
        <p:spPr bwMode="auto">
          <a:xfrm>
            <a:off x="7313612" y="4202026"/>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Contracts Mgmt</a:t>
            </a:r>
            <a:endParaRPr lang="en-US" sz="900" b="1" dirty="0">
              <a:solidFill>
                <a:srgbClr val="000000"/>
              </a:solidFill>
            </a:endParaRPr>
          </a:p>
        </p:txBody>
      </p:sp>
      <p:sp>
        <p:nvSpPr>
          <p:cNvPr id="34" name="Rectangle 13"/>
          <p:cNvSpPr>
            <a:spLocks noChangeArrowheads="1"/>
          </p:cNvSpPr>
          <p:nvPr/>
        </p:nvSpPr>
        <p:spPr bwMode="auto">
          <a:xfrm>
            <a:off x="3942555" y="28165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Sales Forcasting</a:t>
            </a:r>
            <a:endParaRPr lang="en-US" sz="900" b="1" dirty="0">
              <a:solidFill>
                <a:srgbClr val="000000"/>
              </a:solidFill>
            </a:endParaRPr>
          </a:p>
        </p:txBody>
      </p:sp>
      <p:sp>
        <p:nvSpPr>
          <p:cNvPr id="39" name="Rectangle 38"/>
          <p:cNvSpPr/>
          <p:nvPr/>
        </p:nvSpPr>
        <p:spPr>
          <a:xfrm>
            <a:off x="3656012" y="3505200"/>
            <a:ext cx="1676400" cy="14478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0" name="Rectangle 39"/>
          <p:cNvSpPr/>
          <p:nvPr/>
        </p:nvSpPr>
        <p:spPr>
          <a:xfrm>
            <a:off x="3656012" y="2209800"/>
            <a:ext cx="1676400" cy="1219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1" name="Rectangle 40"/>
          <p:cNvSpPr/>
          <p:nvPr/>
        </p:nvSpPr>
        <p:spPr>
          <a:xfrm>
            <a:off x="7161212" y="2209800"/>
            <a:ext cx="1676400" cy="25146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2" name="Rectangle 41"/>
          <p:cNvSpPr/>
          <p:nvPr/>
        </p:nvSpPr>
        <p:spPr>
          <a:xfrm>
            <a:off x="5408612" y="2209800"/>
            <a:ext cx="1676400" cy="1219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3" name="Rectangle 42"/>
          <p:cNvSpPr/>
          <p:nvPr/>
        </p:nvSpPr>
        <p:spPr>
          <a:xfrm>
            <a:off x="5408612" y="3505200"/>
            <a:ext cx="1676400" cy="1981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4" name="Rounded Rectangle 43"/>
          <p:cNvSpPr/>
          <p:nvPr/>
        </p:nvSpPr>
        <p:spPr>
          <a:xfrm>
            <a:off x="2589212" y="1600200"/>
            <a:ext cx="7086600" cy="4343400"/>
          </a:xfrm>
          <a:prstGeom prst="roundRect">
            <a:avLst/>
          </a:prstGeom>
          <a:noFill/>
          <a:ln w="254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
        <p:nvSpPr>
          <p:cNvPr id="36" name="TextBox 31"/>
          <p:cNvSpPr txBox="1">
            <a:spLocks noChangeArrowheads="1"/>
          </p:cNvSpPr>
          <p:nvPr/>
        </p:nvSpPr>
        <p:spPr bwMode="auto">
          <a:xfrm>
            <a:off x="8619106" y="5449669"/>
            <a:ext cx="2580706" cy="646331"/>
          </a:xfrm>
          <a:prstGeom prst="rect">
            <a:avLst/>
          </a:prstGeom>
          <a:solidFill>
            <a:schemeClr val="accent5">
              <a:lumMod val="40000"/>
              <a:lumOff val="60000"/>
            </a:schemeClr>
          </a:solidFill>
          <a:ln w="9525">
            <a:noFill/>
            <a:miter lim="800000"/>
            <a:headEnd/>
            <a:tailEnd/>
          </a:ln>
          <a:scene3d>
            <a:camera prst="orthographicFront"/>
            <a:lightRig rig="threePt" dir="t"/>
          </a:scene3d>
          <a:sp3d>
            <a:bevelT/>
          </a:sp3d>
        </p:spPr>
        <p:txBody>
          <a:bodyPr wrap="none">
            <a:spAutoFit/>
          </a:bodyPr>
          <a:lstStyle/>
          <a:p>
            <a:pPr>
              <a:defRPr/>
            </a:pPr>
            <a:r>
              <a:rPr lang="nb-NO" i="1" dirty="0" smtClean="0">
                <a:latin typeface="Arial" pitchFamily="34" charset="0"/>
              </a:rPr>
              <a:t>Reduce Cost </a:t>
            </a:r>
          </a:p>
          <a:p>
            <a:pPr>
              <a:defRPr/>
            </a:pPr>
            <a:r>
              <a:rPr lang="nb-NO" i="1" dirty="0" smtClean="0">
                <a:latin typeface="Arial" pitchFamily="34" charset="0"/>
              </a:rPr>
              <a:t>Reduce Time to Market</a:t>
            </a:r>
            <a:endParaRPr lang="nb-NO" i="1" dirty="0">
              <a:latin typeface="Arial" pitchFamily="34" charset="0"/>
            </a:endParaRPr>
          </a:p>
        </p:txBody>
      </p:sp>
      <p:sp>
        <p:nvSpPr>
          <p:cNvPr id="35" name="Rectangle 34"/>
          <p:cNvSpPr/>
          <p:nvPr/>
        </p:nvSpPr>
        <p:spPr>
          <a:xfrm>
            <a:off x="10209212" y="5562600"/>
            <a:ext cx="533400" cy="152400"/>
          </a:xfrm>
          <a:prstGeom prst="rect">
            <a:avLst/>
          </a:prstGeom>
          <a:solidFill>
            <a:srgbClr val="FFC000"/>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Strategic Significance (Differentiating Capability)</a:t>
            </a:r>
            <a:endParaRPr lang="en-US" dirty="0"/>
          </a:p>
        </p:txBody>
      </p:sp>
      <p:sp>
        <p:nvSpPr>
          <p:cNvPr id="7" name="TextBox 3"/>
          <p:cNvSpPr txBox="1">
            <a:spLocks noChangeArrowheads="1"/>
          </p:cNvSpPr>
          <p:nvPr/>
        </p:nvSpPr>
        <p:spPr bwMode="auto">
          <a:xfrm>
            <a:off x="4038599" y="1857375"/>
            <a:ext cx="2272673" cy="369332"/>
          </a:xfrm>
          <a:prstGeom prst="rect">
            <a:avLst/>
          </a:prstGeom>
          <a:noFill/>
          <a:ln w="9525">
            <a:noFill/>
            <a:miter lim="800000"/>
            <a:headEnd/>
            <a:tailEnd/>
          </a:ln>
        </p:spPr>
        <p:txBody>
          <a:bodyPr wrap="none">
            <a:spAutoFit/>
          </a:bodyPr>
          <a:lstStyle/>
          <a:p>
            <a:r>
              <a:rPr lang="nb-NO" sz="1800" b="1" dirty="0">
                <a:solidFill>
                  <a:srgbClr val="000000"/>
                </a:solidFill>
              </a:rPr>
              <a:t>1. Customer Relations</a:t>
            </a:r>
            <a:endParaRPr lang="en-US" sz="1800" b="1" dirty="0">
              <a:solidFill>
                <a:srgbClr val="000000"/>
              </a:solidFill>
            </a:endParaRPr>
          </a:p>
        </p:txBody>
      </p:sp>
      <p:sp>
        <p:nvSpPr>
          <p:cNvPr id="8" name="Rectangle 13"/>
          <p:cNvSpPr>
            <a:spLocks noChangeArrowheads="1"/>
          </p:cNvSpPr>
          <p:nvPr/>
        </p:nvSpPr>
        <p:spPr bwMode="auto">
          <a:xfrm>
            <a:off x="4738687" y="3917950"/>
            <a:ext cx="1187450" cy="231475"/>
          </a:xfrm>
          <a:prstGeom prst="rect">
            <a:avLst/>
          </a:prstGeom>
          <a:solidFill>
            <a:srgbClr val="FFC00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Self Service</a:t>
            </a:r>
            <a:endParaRPr lang="en-US" sz="900" b="1" dirty="0">
              <a:solidFill>
                <a:srgbClr val="000000"/>
              </a:solidFill>
            </a:endParaRPr>
          </a:p>
        </p:txBody>
      </p:sp>
      <p:sp>
        <p:nvSpPr>
          <p:cNvPr id="10" name="TextBox 9"/>
          <p:cNvSpPr txBox="1">
            <a:spLocks noChangeArrowheads="1"/>
          </p:cNvSpPr>
          <p:nvPr/>
        </p:nvSpPr>
        <p:spPr bwMode="auto">
          <a:xfrm>
            <a:off x="4564979" y="3505200"/>
            <a:ext cx="1418979" cy="261610"/>
          </a:xfrm>
          <a:prstGeom prst="rect">
            <a:avLst/>
          </a:prstGeom>
          <a:noFill/>
          <a:ln w="9525">
            <a:noFill/>
            <a:miter lim="800000"/>
            <a:headEnd/>
            <a:tailEnd/>
          </a:ln>
        </p:spPr>
        <p:txBody>
          <a:bodyPr wrap="none">
            <a:spAutoFit/>
          </a:bodyPr>
          <a:lstStyle/>
          <a:p>
            <a:pPr algn="ctr"/>
            <a:r>
              <a:rPr lang="nb-NO" sz="1100" b="1" dirty="0">
                <a:solidFill>
                  <a:srgbClr val="000000"/>
                </a:solidFill>
              </a:rPr>
              <a:t>1.3 Customer Service</a:t>
            </a:r>
            <a:endParaRPr lang="en-US" sz="1100" b="1" dirty="0">
              <a:solidFill>
                <a:srgbClr val="000000"/>
              </a:solidFill>
            </a:endParaRPr>
          </a:p>
        </p:txBody>
      </p:sp>
      <p:sp>
        <p:nvSpPr>
          <p:cNvPr id="11" name="Rectangle 13"/>
          <p:cNvSpPr>
            <a:spLocks noChangeArrowheads="1"/>
          </p:cNvSpPr>
          <p:nvPr/>
        </p:nvSpPr>
        <p:spPr bwMode="auto">
          <a:xfrm>
            <a:off x="4738687" y="42672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Call Center</a:t>
            </a:r>
            <a:endParaRPr lang="en-US" sz="900" b="1" dirty="0">
              <a:solidFill>
                <a:srgbClr val="000000"/>
              </a:solidFill>
            </a:endParaRPr>
          </a:p>
        </p:txBody>
      </p:sp>
      <p:sp>
        <p:nvSpPr>
          <p:cNvPr id="12" name="Rectangle 13"/>
          <p:cNvSpPr>
            <a:spLocks noChangeArrowheads="1"/>
          </p:cNvSpPr>
          <p:nvPr/>
        </p:nvSpPr>
        <p:spPr bwMode="auto">
          <a:xfrm>
            <a:off x="4738687" y="45691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Chat</a:t>
            </a:r>
            <a:endParaRPr lang="en-US" sz="900" b="1" dirty="0">
              <a:solidFill>
                <a:srgbClr val="000000"/>
              </a:solidFill>
            </a:endParaRPr>
          </a:p>
        </p:txBody>
      </p:sp>
      <p:sp>
        <p:nvSpPr>
          <p:cNvPr id="13" name="Rectangle 13"/>
          <p:cNvSpPr>
            <a:spLocks noChangeArrowheads="1"/>
          </p:cNvSpPr>
          <p:nvPr/>
        </p:nvSpPr>
        <p:spPr bwMode="auto">
          <a:xfrm>
            <a:off x="4738687" y="48739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Issue Resolution</a:t>
            </a:r>
            <a:endParaRPr lang="en-US" sz="900" b="1" dirty="0">
              <a:solidFill>
                <a:srgbClr val="000000"/>
              </a:solidFill>
            </a:endParaRPr>
          </a:p>
        </p:txBody>
      </p:sp>
      <p:sp>
        <p:nvSpPr>
          <p:cNvPr id="14" name="Rectangle 13"/>
          <p:cNvSpPr>
            <a:spLocks noChangeArrowheads="1"/>
          </p:cNvSpPr>
          <p:nvPr/>
        </p:nvSpPr>
        <p:spPr bwMode="auto">
          <a:xfrm>
            <a:off x="4738687" y="51787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Products Training</a:t>
            </a:r>
            <a:endParaRPr lang="en-US" sz="900" b="1" dirty="0">
              <a:solidFill>
                <a:srgbClr val="000000"/>
              </a:solidFill>
            </a:endParaRPr>
          </a:p>
        </p:txBody>
      </p:sp>
      <p:sp>
        <p:nvSpPr>
          <p:cNvPr id="15" name="Rectangle 13"/>
          <p:cNvSpPr>
            <a:spLocks noChangeArrowheads="1"/>
          </p:cNvSpPr>
          <p:nvPr/>
        </p:nvSpPr>
        <p:spPr bwMode="auto">
          <a:xfrm>
            <a:off x="4719637" y="25146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Lead Mgmt</a:t>
            </a:r>
            <a:endParaRPr lang="en-US" sz="900" b="1" dirty="0">
              <a:solidFill>
                <a:srgbClr val="000000"/>
              </a:solidFill>
            </a:endParaRPr>
          </a:p>
        </p:txBody>
      </p:sp>
      <p:sp>
        <p:nvSpPr>
          <p:cNvPr id="17" name="TextBox 16"/>
          <p:cNvSpPr txBox="1">
            <a:spLocks noChangeArrowheads="1"/>
          </p:cNvSpPr>
          <p:nvPr/>
        </p:nvSpPr>
        <p:spPr bwMode="auto">
          <a:xfrm>
            <a:off x="4762233" y="2263775"/>
            <a:ext cx="1007007" cy="261610"/>
          </a:xfrm>
          <a:prstGeom prst="rect">
            <a:avLst/>
          </a:prstGeom>
          <a:noFill/>
          <a:ln w="9525">
            <a:noFill/>
            <a:miter lim="800000"/>
            <a:headEnd/>
            <a:tailEnd/>
          </a:ln>
        </p:spPr>
        <p:txBody>
          <a:bodyPr wrap="none">
            <a:spAutoFit/>
          </a:bodyPr>
          <a:lstStyle/>
          <a:p>
            <a:pPr algn="ctr"/>
            <a:r>
              <a:rPr lang="nb-NO" sz="1100" b="1" dirty="0">
                <a:solidFill>
                  <a:srgbClr val="000000"/>
                </a:solidFill>
              </a:rPr>
              <a:t>1.2 Marketing</a:t>
            </a:r>
            <a:endParaRPr lang="en-US" sz="1100" b="1" dirty="0">
              <a:solidFill>
                <a:srgbClr val="000000"/>
              </a:solidFill>
            </a:endParaRPr>
          </a:p>
        </p:txBody>
      </p:sp>
      <p:sp>
        <p:nvSpPr>
          <p:cNvPr id="18" name="Rectangle 13"/>
          <p:cNvSpPr>
            <a:spLocks noChangeArrowheads="1"/>
          </p:cNvSpPr>
          <p:nvPr/>
        </p:nvSpPr>
        <p:spPr bwMode="auto">
          <a:xfrm>
            <a:off x="4719637" y="28165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Campaign Mgmt</a:t>
            </a:r>
            <a:endParaRPr lang="en-US" sz="900" b="1" dirty="0">
              <a:solidFill>
                <a:srgbClr val="000000"/>
              </a:solidFill>
            </a:endParaRPr>
          </a:p>
        </p:txBody>
      </p:sp>
      <p:sp>
        <p:nvSpPr>
          <p:cNvPr id="19" name="Rectangle 13"/>
          <p:cNvSpPr>
            <a:spLocks noChangeArrowheads="1"/>
          </p:cNvSpPr>
          <p:nvPr/>
        </p:nvSpPr>
        <p:spPr bwMode="auto">
          <a:xfrm>
            <a:off x="4719637" y="3121325"/>
            <a:ext cx="1187450" cy="231475"/>
          </a:xfrm>
          <a:prstGeom prst="rect">
            <a:avLst/>
          </a:prstGeom>
          <a:solidFill>
            <a:srgbClr val="00B0F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Proactive Marketing</a:t>
            </a:r>
            <a:endParaRPr lang="en-US" sz="900" b="1" dirty="0">
              <a:solidFill>
                <a:srgbClr val="000000"/>
              </a:solidFill>
            </a:endParaRPr>
          </a:p>
        </p:txBody>
      </p:sp>
      <p:sp>
        <p:nvSpPr>
          <p:cNvPr id="20" name="Rectangle 13"/>
          <p:cNvSpPr>
            <a:spLocks noChangeArrowheads="1"/>
          </p:cNvSpPr>
          <p:nvPr/>
        </p:nvSpPr>
        <p:spPr bwMode="auto">
          <a:xfrm>
            <a:off x="3028155" y="25146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Opportunity Mgmt</a:t>
            </a:r>
            <a:endParaRPr lang="en-US" sz="900" b="1" dirty="0">
              <a:solidFill>
                <a:srgbClr val="000000"/>
              </a:solidFill>
            </a:endParaRPr>
          </a:p>
        </p:txBody>
      </p:sp>
      <p:sp>
        <p:nvSpPr>
          <p:cNvPr id="22" name="TextBox 23"/>
          <p:cNvSpPr txBox="1">
            <a:spLocks noChangeArrowheads="1"/>
          </p:cNvSpPr>
          <p:nvPr/>
        </p:nvSpPr>
        <p:spPr bwMode="auto">
          <a:xfrm>
            <a:off x="3219885" y="2263775"/>
            <a:ext cx="697627" cy="261610"/>
          </a:xfrm>
          <a:prstGeom prst="rect">
            <a:avLst/>
          </a:prstGeom>
          <a:noFill/>
          <a:ln w="9525">
            <a:noFill/>
            <a:miter lim="800000"/>
            <a:headEnd/>
            <a:tailEnd/>
          </a:ln>
        </p:spPr>
        <p:txBody>
          <a:bodyPr wrap="none">
            <a:spAutoFit/>
          </a:bodyPr>
          <a:lstStyle/>
          <a:p>
            <a:pPr algn="ctr"/>
            <a:r>
              <a:rPr lang="nb-NO" sz="1100" b="1" dirty="0">
                <a:solidFill>
                  <a:srgbClr val="000000"/>
                </a:solidFill>
              </a:rPr>
              <a:t>1.1 Sales</a:t>
            </a:r>
            <a:endParaRPr lang="en-US" sz="1100" b="1" dirty="0">
              <a:solidFill>
                <a:srgbClr val="000000"/>
              </a:solidFill>
            </a:endParaRPr>
          </a:p>
        </p:txBody>
      </p:sp>
      <p:sp>
        <p:nvSpPr>
          <p:cNvPr id="23" name="Rectangle 13"/>
          <p:cNvSpPr>
            <a:spLocks noChangeArrowheads="1"/>
          </p:cNvSpPr>
          <p:nvPr/>
        </p:nvSpPr>
        <p:spPr bwMode="auto">
          <a:xfrm>
            <a:off x="6399212" y="2678026"/>
            <a:ext cx="1187450" cy="369974"/>
          </a:xfrm>
          <a:prstGeom prst="rect">
            <a:avLst/>
          </a:prstGeom>
          <a:solidFill>
            <a:srgbClr val="FFC00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Lifecycle Mgmt</a:t>
            </a:r>
            <a:endParaRPr lang="en-US" sz="900" b="1" dirty="0">
              <a:solidFill>
                <a:srgbClr val="000000"/>
              </a:solidFill>
            </a:endParaRPr>
          </a:p>
        </p:txBody>
      </p:sp>
      <p:sp>
        <p:nvSpPr>
          <p:cNvPr id="25" name="TextBox 28"/>
          <p:cNvSpPr txBox="1">
            <a:spLocks noChangeArrowheads="1"/>
          </p:cNvSpPr>
          <p:nvPr/>
        </p:nvSpPr>
        <p:spPr bwMode="auto">
          <a:xfrm>
            <a:off x="6446610" y="2236113"/>
            <a:ext cx="998991" cy="430887"/>
          </a:xfrm>
          <a:prstGeom prst="rect">
            <a:avLst/>
          </a:prstGeom>
          <a:noFill/>
          <a:ln w="9525">
            <a:noFill/>
            <a:miter lim="800000"/>
            <a:headEnd/>
            <a:tailEnd/>
          </a:ln>
        </p:spPr>
        <p:txBody>
          <a:bodyPr wrap="none">
            <a:spAutoFit/>
          </a:bodyPr>
          <a:lstStyle/>
          <a:p>
            <a:pPr algn="ctr"/>
            <a:r>
              <a:rPr lang="nb-NO" sz="1100" b="1" dirty="0">
                <a:solidFill>
                  <a:srgbClr val="000000"/>
                </a:solidFill>
              </a:rPr>
              <a:t>1.4 Customer </a:t>
            </a:r>
            <a:br>
              <a:rPr lang="nb-NO" sz="1100" b="1" dirty="0">
                <a:solidFill>
                  <a:srgbClr val="000000"/>
                </a:solidFill>
              </a:rPr>
            </a:br>
            <a:r>
              <a:rPr lang="nb-NO" sz="1100" b="1" dirty="0">
                <a:solidFill>
                  <a:srgbClr val="000000"/>
                </a:solidFill>
              </a:rPr>
              <a:t>Management</a:t>
            </a:r>
            <a:endParaRPr lang="en-US" sz="1100" b="1" dirty="0">
              <a:solidFill>
                <a:srgbClr val="000000"/>
              </a:solidFill>
            </a:endParaRPr>
          </a:p>
        </p:txBody>
      </p:sp>
      <p:sp>
        <p:nvSpPr>
          <p:cNvPr id="26" name="Rectangle 13"/>
          <p:cNvSpPr>
            <a:spLocks noChangeArrowheads="1"/>
          </p:cNvSpPr>
          <p:nvPr/>
        </p:nvSpPr>
        <p:spPr bwMode="auto">
          <a:xfrm>
            <a:off x="6399212" y="3135226"/>
            <a:ext cx="1187450" cy="369974"/>
          </a:xfrm>
          <a:prstGeom prst="rect">
            <a:avLst/>
          </a:prstGeom>
          <a:solidFill>
            <a:srgbClr val="00B0F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Profile Mgmt</a:t>
            </a:r>
            <a:endParaRPr lang="en-US" sz="900" b="1" dirty="0">
              <a:solidFill>
                <a:srgbClr val="000000"/>
              </a:solidFill>
            </a:endParaRPr>
          </a:p>
        </p:txBody>
      </p:sp>
      <p:sp>
        <p:nvSpPr>
          <p:cNvPr id="27" name="Rectangle 13"/>
          <p:cNvSpPr>
            <a:spLocks noChangeArrowheads="1"/>
          </p:cNvSpPr>
          <p:nvPr/>
        </p:nvSpPr>
        <p:spPr bwMode="auto">
          <a:xfrm>
            <a:off x="6399212" y="3581400"/>
            <a:ext cx="1187450" cy="508474"/>
          </a:xfrm>
          <a:prstGeom prst="rect">
            <a:avLst/>
          </a:prstGeom>
          <a:solidFill>
            <a:srgbClr val="00B0F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Relationship Hierarchy Mgmt</a:t>
            </a:r>
            <a:endParaRPr lang="en-US" sz="900" b="1" dirty="0">
              <a:solidFill>
                <a:srgbClr val="000000"/>
              </a:solidFill>
            </a:endParaRPr>
          </a:p>
        </p:txBody>
      </p:sp>
      <p:sp>
        <p:nvSpPr>
          <p:cNvPr id="28" name="Rectangle 13"/>
          <p:cNvSpPr>
            <a:spLocks noChangeArrowheads="1"/>
          </p:cNvSpPr>
          <p:nvPr/>
        </p:nvSpPr>
        <p:spPr bwMode="auto">
          <a:xfrm>
            <a:off x="3027361" y="3121325"/>
            <a:ext cx="1189038"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smtClean="0">
                <a:solidFill>
                  <a:srgbClr val="000000"/>
                </a:solidFill>
              </a:rPr>
              <a:t>Commission Mgmt                </a:t>
            </a:r>
            <a:endParaRPr lang="en-US" sz="900" b="1" dirty="0">
              <a:solidFill>
                <a:srgbClr val="000000"/>
              </a:solidFill>
            </a:endParaRPr>
          </a:p>
        </p:txBody>
      </p:sp>
      <p:sp>
        <p:nvSpPr>
          <p:cNvPr id="29" name="Rectangle 13"/>
          <p:cNvSpPr>
            <a:spLocks noChangeArrowheads="1"/>
          </p:cNvSpPr>
          <p:nvPr/>
        </p:nvSpPr>
        <p:spPr bwMode="auto">
          <a:xfrm>
            <a:off x="3024187" y="3917950"/>
            <a:ext cx="1187450" cy="369974"/>
          </a:xfrm>
          <a:prstGeom prst="rect">
            <a:avLst/>
          </a:prstGeom>
          <a:solidFill>
            <a:srgbClr val="FFC000"/>
          </a:solidFill>
          <a:ln w="9525" algn="ctr">
            <a:noFill/>
            <a:round/>
            <a:headEnd/>
            <a:tailEnd/>
          </a:ln>
        </p:spPr>
        <p:txBody>
          <a:bodyPr lIns="92075" tIns="46038" rIns="92075" bIns="46038">
            <a:spAutoFit/>
          </a:bodyPr>
          <a:lstStyle/>
          <a:p>
            <a:pPr marL="119063" indent="-119063" algn="ctr"/>
            <a:r>
              <a:rPr lang="en-US" sz="900" b="1" dirty="0" smtClean="0">
                <a:solidFill>
                  <a:srgbClr val="000000"/>
                </a:solidFill>
              </a:rPr>
              <a:t>Communications Management</a:t>
            </a:r>
            <a:endParaRPr lang="en-US" sz="900" b="1" dirty="0">
              <a:solidFill>
                <a:srgbClr val="000000"/>
              </a:solidFill>
            </a:endParaRPr>
          </a:p>
        </p:txBody>
      </p:sp>
      <p:sp>
        <p:nvSpPr>
          <p:cNvPr id="31" name="TextBox 34"/>
          <p:cNvSpPr txBox="1">
            <a:spLocks noChangeArrowheads="1"/>
          </p:cNvSpPr>
          <p:nvPr/>
        </p:nvSpPr>
        <p:spPr bwMode="auto">
          <a:xfrm>
            <a:off x="3070791" y="3505200"/>
            <a:ext cx="998991" cy="430887"/>
          </a:xfrm>
          <a:prstGeom prst="rect">
            <a:avLst/>
          </a:prstGeom>
          <a:noFill/>
          <a:ln w="9525">
            <a:noFill/>
            <a:miter lim="800000"/>
            <a:headEnd/>
            <a:tailEnd/>
          </a:ln>
        </p:spPr>
        <p:txBody>
          <a:bodyPr wrap="none">
            <a:spAutoFit/>
          </a:bodyPr>
          <a:lstStyle/>
          <a:p>
            <a:pPr algn="ctr"/>
            <a:r>
              <a:rPr lang="nb-NO" sz="1100" b="1" dirty="0">
                <a:solidFill>
                  <a:srgbClr val="000000"/>
                </a:solidFill>
              </a:rPr>
              <a:t>1.5 Customer </a:t>
            </a:r>
            <a:br>
              <a:rPr lang="nb-NO" sz="1100" b="1" dirty="0">
                <a:solidFill>
                  <a:srgbClr val="000000"/>
                </a:solidFill>
              </a:rPr>
            </a:br>
            <a:r>
              <a:rPr lang="nb-NO" sz="1100" b="1" dirty="0">
                <a:solidFill>
                  <a:srgbClr val="000000"/>
                </a:solidFill>
              </a:rPr>
              <a:t>Comm Mgmt</a:t>
            </a:r>
            <a:endParaRPr lang="en-US" sz="1100" b="1" dirty="0">
              <a:solidFill>
                <a:srgbClr val="000000"/>
              </a:solidFill>
            </a:endParaRPr>
          </a:p>
        </p:txBody>
      </p:sp>
      <p:sp>
        <p:nvSpPr>
          <p:cNvPr id="32" name="Rectangle 13"/>
          <p:cNvSpPr>
            <a:spLocks noChangeArrowheads="1"/>
          </p:cNvSpPr>
          <p:nvPr/>
        </p:nvSpPr>
        <p:spPr bwMode="auto">
          <a:xfrm>
            <a:off x="3024187" y="4354426"/>
            <a:ext cx="1187450" cy="369974"/>
          </a:xfrm>
          <a:prstGeom prst="rect">
            <a:avLst/>
          </a:prstGeom>
          <a:solidFill>
            <a:srgbClr val="00B0F0"/>
          </a:solidFill>
          <a:ln w="9525" algn="ctr">
            <a:noFill/>
            <a:round/>
            <a:headEnd/>
            <a:tailEnd/>
          </a:ln>
        </p:spPr>
        <p:txBody>
          <a:bodyPr lIns="92075" tIns="46038" rIns="92075" bIns="46038">
            <a:spAutoFit/>
          </a:bodyPr>
          <a:lstStyle/>
          <a:p>
            <a:pPr marL="119063" indent="-119063" algn="ctr"/>
            <a:r>
              <a:rPr lang="nb-NO" sz="900" b="1" dirty="0" smtClean="0">
                <a:solidFill>
                  <a:srgbClr val="000000"/>
                </a:solidFill>
              </a:rPr>
              <a:t>Communications Analysis</a:t>
            </a:r>
            <a:endParaRPr lang="en-US" sz="900" b="1" dirty="0">
              <a:solidFill>
                <a:srgbClr val="000000"/>
              </a:solidFill>
            </a:endParaRPr>
          </a:p>
        </p:txBody>
      </p:sp>
      <p:sp>
        <p:nvSpPr>
          <p:cNvPr id="33" name="Rectangle 13"/>
          <p:cNvSpPr>
            <a:spLocks noChangeArrowheads="1"/>
          </p:cNvSpPr>
          <p:nvPr/>
        </p:nvSpPr>
        <p:spPr bwMode="auto">
          <a:xfrm>
            <a:off x="6399212" y="4202026"/>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Contracts Mgmt</a:t>
            </a:r>
            <a:endParaRPr lang="en-US" sz="900" b="1" dirty="0">
              <a:solidFill>
                <a:srgbClr val="000000"/>
              </a:solidFill>
            </a:endParaRPr>
          </a:p>
        </p:txBody>
      </p:sp>
      <p:sp>
        <p:nvSpPr>
          <p:cNvPr id="34" name="Rectangle 13"/>
          <p:cNvSpPr>
            <a:spLocks noChangeArrowheads="1"/>
          </p:cNvSpPr>
          <p:nvPr/>
        </p:nvSpPr>
        <p:spPr bwMode="auto">
          <a:xfrm>
            <a:off x="3028155" y="28165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Sales Forcasting</a:t>
            </a:r>
            <a:endParaRPr lang="en-US" sz="900" b="1" dirty="0">
              <a:solidFill>
                <a:srgbClr val="000000"/>
              </a:solidFill>
            </a:endParaRPr>
          </a:p>
        </p:txBody>
      </p:sp>
      <p:sp>
        <p:nvSpPr>
          <p:cNvPr id="39" name="Rectangle 38"/>
          <p:cNvSpPr/>
          <p:nvPr/>
        </p:nvSpPr>
        <p:spPr>
          <a:xfrm>
            <a:off x="2741612" y="3505200"/>
            <a:ext cx="1676400" cy="14478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0" name="Rectangle 39"/>
          <p:cNvSpPr/>
          <p:nvPr/>
        </p:nvSpPr>
        <p:spPr>
          <a:xfrm>
            <a:off x="2741612" y="2209800"/>
            <a:ext cx="1676400" cy="1219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1" name="Rectangle 40"/>
          <p:cNvSpPr/>
          <p:nvPr/>
        </p:nvSpPr>
        <p:spPr>
          <a:xfrm>
            <a:off x="6246812" y="2209800"/>
            <a:ext cx="1676400" cy="25146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2" name="Rectangle 41"/>
          <p:cNvSpPr/>
          <p:nvPr/>
        </p:nvSpPr>
        <p:spPr>
          <a:xfrm>
            <a:off x="4494212" y="2209800"/>
            <a:ext cx="1676400" cy="1219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3" name="Rectangle 42"/>
          <p:cNvSpPr/>
          <p:nvPr/>
        </p:nvSpPr>
        <p:spPr>
          <a:xfrm>
            <a:off x="4494212" y="3505200"/>
            <a:ext cx="1676400" cy="1981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4" name="Rounded Rectangle 43"/>
          <p:cNvSpPr/>
          <p:nvPr/>
        </p:nvSpPr>
        <p:spPr>
          <a:xfrm>
            <a:off x="1674812" y="1600200"/>
            <a:ext cx="7086600" cy="4343400"/>
          </a:xfrm>
          <a:prstGeom prst="roundRect">
            <a:avLst/>
          </a:prstGeom>
          <a:noFill/>
          <a:ln w="254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
        <p:nvSpPr>
          <p:cNvPr id="36" name="TextBox 31"/>
          <p:cNvSpPr txBox="1">
            <a:spLocks noChangeArrowheads="1"/>
          </p:cNvSpPr>
          <p:nvPr/>
        </p:nvSpPr>
        <p:spPr bwMode="auto">
          <a:xfrm>
            <a:off x="8990012" y="2362200"/>
            <a:ext cx="1608133" cy="646331"/>
          </a:xfrm>
          <a:prstGeom prst="rect">
            <a:avLst/>
          </a:prstGeom>
          <a:noFill/>
          <a:ln w="9525">
            <a:noFill/>
            <a:miter lim="800000"/>
            <a:headEnd/>
            <a:tailEnd/>
          </a:ln>
          <a:scene3d>
            <a:camera prst="orthographicFront"/>
            <a:lightRig rig="threePt" dir="t"/>
          </a:scene3d>
          <a:sp3d>
            <a:bevelT/>
          </a:sp3d>
        </p:spPr>
        <p:txBody>
          <a:bodyPr wrap="none">
            <a:spAutoFit/>
          </a:bodyPr>
          <a:lstStyle/>
          <a:p>
            <a:pPr>
              <a:defRPr/>
            </a:pPr>
            <a:r>
              <a:rPr lang="nb-NO" dirty="0" smtClean="0">
                <a:latin typeface="Arial" pitchFamily="34" charset="0"/>
              </a:rPr>
              <a:t>Reduce Cost </a:t>
            </a:r>
          </a:p>
          <a:p>
            <a:pPr>
              <a:defRPr/>
            </a:pPr>
            <a:r>
              <a:rPr lang="nb-NO" dirty="0" smtClean="0">
                <a:latin typeface="Arial" pitchFamily="34" charset="0"/>
              </a:rPr>
              <a:t>Differentiating</a:t>
            </a:r>
            <a:endParaRPr lang="nb-NO" dirty="0">
              <a:latin typeface="Arial" pitchFamily="34" charset="0"/>
            </a:endParaRPr>
          </a:p>
        </p:txBody>
      </p:sp>
      <p:sp>
        <p:nvSpPr>
          <p:cNvPr id="35" name="Rectangle 34"/>
          <p:cNvSpPr/>
          <p:nvPr/>
        </p:nvSpPr>
        <p:spPr>
          <a:xfrm>
            <a:off x="10666412" y="2514600"/>
            <a:ext cx="533400" cy="152400"/>
          </a:xfrm>
          <a:prstGeom prst="rect">
            <a:avLst/>
          </a:prstGeom>
          <a:solidFill>
            <a:srgbClr val="FFC000"/>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
        <p:nvSpPr>
          <p:cNvPr id="37" name="Rectangle 36"/>
          <p:cNvSpPr/>
          <p:nvPr/>
        </p:nvSpPr>
        <p:spPr>
          <a:xfrm>
            <a:off x="10666412" y="2743200"/>
            <a:ext cx="533400" cy="152400"/>
          </a:xfrm>
          <a:prstGeom prst="rect">
            <a:avLst/>
          </a:prstGeom>
          <a:solidFill>
            <a:srgbClr val="00B0F0"/>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Reliance or Impact on Key Processes</a:t>
            </a:r>
            <a:endParaRPr lang="en-US" dirty="0"/>
          </a:p>
        </p:txBody>
      </p:sp>
      <p:sp>
        <p:nvSpPr>
          <p:cNvPr id="7" name="TextBox 3"/>
          <p:cNvSpPr txBox="1">
            <a:spLocks noChangeArrowheads="1"/>
          </p:cNvSpPr>
          <p:nvPr/>
        </p:nvSpPr>
        <p:spPr bwMode="auto">
          <a:xfrm>
            <a:off x="2895599" y="1857375"/>
            <a:ext cx="2272673" cy="369332"/>
          </a:xfrm>
          <a:prstGeom prst="rect">
            <a:avLst/>
          </a:prstGeom>
          <a:noFill/>
          <a:ln w="9525">
            <a:noFill/>
            <a:miter lim="800000"/>
            <a:headEnd/>
            <a:tailEnd/>
          </a:ln>
        </p:spPr>
        <p:txBody>
          <a:bodyPr wrap="none">
            <a:spAutoFit/>
          </a:bodyPr>
          <a:lstStyle/>
          <a:p>
            <a:r>
              <a:rPr lang="nb-NO" sz="1800" b="1" dirty="0">
                <a:solidFill>
                  <a:srgbClr val="000000"/>
                </a:solidFill>
              </a:rPr>
              <a:t>1. Customer Relations</a:t>
            </a:r>
            <a:endParaRPr lang="en-US" sz="1800" b="1" dirty="0">
              <a:solidFill>
                <a:srgbClr val="000000"/>
              </a:solidFill>
            </a:endParaRPr>
          </a:p>
        </p:txBody>
      </p:sp>
      <p:sp>
        <p:nvSpPr>
          <p:cNvPr id="8" name="Rectangle 13"/>
          <p:cNvSpPr>
            <a:spLocks noChangeArrowheads="1"/>
          </p:cNvSpPr>
          <p:nvPr/>
        </p:nvSpPr>
        <p:spPr bwMode="auto">
          <a:xfrm>
            <a:off x="3595687" y="3917950"/>
            <a:ext cx="1187450" cy="231475"/>
          </a:xfrm>
          <a:prstGeom prst="rect">
            <a:avLst/>
          </a:prstGeom>
          <a:solidFill>
            <a:srgbClr val="FFC00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Self Service</a:t>
            </a:r>
            <a:endParaRPr lang="en-US" sz="900" b="1" dirty="0">
              <a:solidFill>
                <a:srgbClr val="000000"/>
              </a:solidFill>
            </a:endParaRPr>
          </a:p>
        </p:txBody>
      </p:sp>
      <p:sp>
        <p:nvSpPr>
          <p:cNvPr id="10" name="TextBox 9"/>
          <p:cNvSpPr txBox="1">
            <a:spLocks noChangeArrowheads="1"/>
          </p:cNvSpPr>
          <p:nvPr/>
        </p:nvSpPr>
        <p:spPr bwMode="auto">
          <a:xfrm>
            <a:off x="3421979" y="3505200"/>
            <a:ext cx="1418979" cy="261610"/>
          </a:xfrm>
          <a:prstGeom prst="rect">
            <a:avLst/>
          </a:prstGeom>
          <a:noFill/>
          <a:ln w="9525">
            <a:noFill/>
            <a:miter lim="800000"/>
            <a:headEnd/>
            <a:tailEnd/>
          </a:ln>
        </p:spPr>
        <p:txBody>
          <a:bodyPr wrap="none">
            <a:spAutoFit/>
          </a:bodyPr>
          <a:lstStyle/>
          <a:p>
            <a:pPr algn="ctr"/>
            <a:r>
              <a:rPr lang="nb-NO" sz="1100" b="1" dirty="0">
                <a:solidFill>
                  <a:srgbClr val="000000"/>
                </a:solidFill>
              </a:rPr>
              <a:t>1.3 Customer Service</a:t>
            </a:r>
            <a:endParaRPr lang="en-US" sz="1100" b="1" dirty="0">
              <a:solidFill>
                <a:srgbClr val="000000"/>
              </a:solidFill>
            </a:endParaRPr>
          </a:p>
        </p:txBody>
      </p:sp>
      <p:sp>
        <p:nvSpPr>
          <p:cNvPr id="11" name="Rectangle 13"/>
          <p:cNvSpPr>
            <a:spLocks noChangeArrowheads="1"/>
          </p:cNvSpPr>
          <p:nvPr/>
        </p:nvSpPr>
        <p:spPr bwMode="auto">
          <a:xfrm>
            <a:off x="3595687" y="42672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Call Center</a:t>
            </a:r>
            <a:endParaRPr lang="en-US" sz="900" b="1" dirty="0">
              <a:solidFill>
                <a:srgbClr val="000000"/>
              </a:solidFill>
            </a:endParaRPr>
          </a:p>
        </p:txBody>
      </p:sp>
      <p:sp>
        <p:nvSpPr>
          <p:cNvPr id="12" name="Rectangle 13"/>
          <p:cNvSpPr>
            <a:spLocks noChangeArrowheads="1"/>
          </p:cNvSpPr>
          <p:nvPr/>
        </p:nvSpPr>
        <p:spPr bwMode="auto">
          <a:xfrm>
            <a:off x="3595687" y="45691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Chat</a:t>
            </a:r>
            <a:endParaRPr lang="en-US" sz="900" b="1" dirty="0">
              <a:solidFill>
                <a:srgbClr val="000000"/>
              </a:solidFill>
            </a:endParaRPr>
          </a:p>
        </p:txBody>
      </p:sp>
      <p:sp>
        <p:nvSpPr>
          <p:cNvPr id="13" name="Rectangle 13"/>
          <p:cNvSpPr>
            <a:spLocks noChangeArrowheads="1"/>
          </p:cNvSpPr>
          <p:nvPr/>
        </p:nvSpPr>
        <p:spPr bwMode="auto">
          <a:xfrm>
            <a:off x="3595687" y="48739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Issue Resolution</a:t>
            </a:r>
            <a:endParaRPr lang="en-US" sz="900" b="1" dirty="0">
              <a:solidFill>
                <a:srgbClr val="000000"/>
              </a:solidFill>
            </a:endParaRPr>
          </a:p>
        </p:txBody>
      </p:sp>
      <p:sp>
        <p:nvSpPr>
          <p:cNvPr id="14" name="Rectangle 13"/>
          <p:cNvSpPr>
            <a:spLocks noChangeArrowheads="1"/>
          </p:cNvSpPr>
          <p:nvPr/>
        </p:nvSpPr>
        <p:spPr bwMode="auto">
          <a:xfrm>
            <a:off x="3595687" y="51787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Products Training</a:t>
            </a:r>
            <a:endParaRPr lang="en-US" sz="900" b="1" dirty="0">
              <a:solidFill>
                <a:srgbClr val="000000"/>
              </a:solidFill>
            </a:endParaRPr>
          </a:p>
        </p:txBody>
      </p:sp>
      <p:sp>
        <p:nvSpPr>
          <p:cNvPr id="15" name="Rectangle 13"/>
          <p:cNvSpPr>
            <a:spLocks noChangeArrowheads="1"/>
          </p:cNvSpPr>
          <p:nvPr/>
        </p:nvSpPr>
        <p:spPr bwMode="auto">
          <a:xfrm>
            <a:off x="3576637" y="25146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Lead Mgmt</a:t>
            </a:r>
            <a:endParaRPr lang="en-US" sz="900" b="1" dirty="0">
              <a:solidFill>
                <a:srgbClr val="000000"/>
              </a:solidFill>
            </a:endParaRPr>
          </a:p>
        </p:txBody>
      </p:sp>
      <p:sp>
        <p:nvSpPr>
          <p:cNvPr id="17" name="TextBox 16"/>
          <p:cNvSpPr txBox="1">
            <a:spLocks noChangeArrowheads="1"/>
          </p:cNvSpPr>
          <p:nvPr/>
        </p:nvSpPr>
        <p:spPr bwMode="auto">
          <a:xfrm>
            <a:off x="3619233" y="2263775"/>
            <a:ext cx="1007007" cy="261610"/>
          </a:xfrm>
          <a:prstGeom prst="rect">
            <a:avLst/>
          </a:prstGeom>
          <a:noFill/>
          <a:ln w="9525">
            <a:noFill/>
            <a:miter lim="800000"/>
            <a:headEnd/>
            <a:tailEnd/>
          </a:ln>
        </p:spPr>
        <p:txBody>
          <a:bodyPr wrap="none">
            <a:spAutoFit/>
          </a:bodyPr>
          <a:lstStyle/>
          <a:p>
            <a:pPr algn="ctr"/>
            <a:r>
              <a:rPr lang="nb-NO" sz="1100" b="1" dirty="0">
                <a:solidFill>
                  <a:srgbClr val="000000"/>
                </a:solidFill>
              </a:rPr>
              <a:t>1.2 Marketing</a:t>
            </a:r>
            <a:endParaRPr lang="en-US" sz="1100" b="1" dirty="0">
              <a:solidFill>
                <a:srgbClr val="000000"/>
              </a:solidFill>
            </a:endParaRPr>
          </a:p>
        </p:txBody>
      </p:sp>
      <p:sp>
        <p:nvSpPr>
          <p:cNvPr id="18" name="Rectangle 13"/>
          <p:cNvSpPr>
            <a:spLocks noChangeArrowheads="1"/>
          </p:cNvSpPr>
          <p:nvPr/>
        </p:nvSpPr>
        <p:spPr bwMode="auto">
          <a:xfrm>
            <a:off x="3576637" y="28165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Campaign Mgmt</a:t>
            </a:r>
            <a:endParaRPr lang="en-US" sz="900" b="1" dirty="0">
              <a:solidFill>
                <a:srgbClr val="000000"/>
              </a:solidFill>
            </a:endParaRPr>
          </a:p>
        </p:txBody>
      </p:sp>
      <p:sp>
        <p:nvSpPr>
          <p:cNvPr id="19" name="Rectangle 13"/>
          <p:cNvSpPr>
            <a:spLocks noChangeArrowheads="1"/>
          </p:cNvSpPr>
          <p:nvPr/>
        </p:nvSpPr>
        <p:spPr bwMode="auto">
          <a:xfrm>
            <a:off x="3576637" y="3121325"/>
            <a:ext cx="1187450" cy="231475"/>
          </a:xfrm>
          <a:prstGeom prst="rect">
            <a:avLst/>
          </a:prstGeom>
          <a:solidFill>
            <a:srgbClr val="00B0F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Proactive Marketing</a:t>
            </a:r>
            <a:endParaRPr lang="en-US" sz="900" b="1" dirty="0">
              <a:solidFill>
                <a:srgbClr val="000000"/>
              </a:solidFill>
            </a:endParaRPr>
          </a:p>
        </p:txBody>
      </p:sp>
      <p:sp>
        <p:nvSpPr>
          <p:cNvPr id="20" name="Rectangle 13"/>
          <p:cNvSpPr>
            <a:spLocks noChangeArrowheads="1"/>
          </p:cNvSpPr>
          <p:nvPr/>
        </p:nvSpPr>
        <p:spPr bwMode="auto">
          <a:xfrm>
            <a:off x="1885155" y="25146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Opportunity Mgmt</a:t>
            </a:r>
            <a:endParaRPr lang="en-US" sz="900" b="1" dirty="0">
              <a:solidFill>
                <a:srgbClr val="000000"/>
              </a:solidFill>
            </a:endParaRPr>
          </a:p>
        </p:txBody>
      </p:sp>
      <p:sp>
        <p:nvSpPr>
          <p:cNvPr id="22" name="TextBox 23"/>
          <p:cNvSpPr txBox="1">
            <a:spLocks noChangeArrowheads="1"/>
          </p:cNvSpPr>
          <p:nvPr/>
        </p:nvSpPr>
        <p:spPr bwMode="auto">
          <a:xfrm>
            <a:off x="2076885" y="2263775"/>
            <a:ext cx="697627" cy="261610"/>
          </a:xfrm>
          <a:prstGeom prst="rect">
            <a:avLst/>
          </a:prstGeom>
          <a:noFill/>
          <a:ln w="9525">
            <a:noFill/>
            <a:miter lim="800000"/>
            <a:headEnd/>
            <a:tailEnd/>
          </a:ln>
        </p:spPr>
        <p:txBody>
          <a:bodyPr wrap="none">
            <a:spAutoFit/>
          </a:bodyPr>
          <a:lstStyle/>
          <a:p>
            <a:pPr algn="ctr"/>
            <a:r>
              <a:rPr lang="nb-NO" sz="1100" b="1" dirty="0">
                <a:solidFill>
                  <a:srgbClr val="000000"/>
                </a:solidFill>
              </a:rPr>
              <a:t>1.1 Sales</a:t>
            </a:r>
            <a:endParaRPr lang="en-US" sz="1100" b="1" dirty="0">
              <a:solidFill>
                <a:srgbClr val="000000"/>
              </a:solidFill>
            </a:endParaRPr>
          </a:p>
        </p:txBody>
      </p:sp>
      <p:sp>
        <p:nvSpPr>
          <p:cNvPr id="23" name="Rectangle 13"/>
          <p:cNvSpPr>
            <a:spLocks noChangeArrowheads="1"/>
          </p:cNvSpPr>
          <p:nvPr/>
        </p:nvSpPr>
        <p:spPr bwMode="auto">
          <a:xfrm>
            <a:off x="5256212" y="2678026"/>
            <a:ext cx="1187450" cy="369974"/>
          </a:xfrm>
          <a:prstGeom prst="rect">
            <a:avLst/>
          </a:prstGeom>
          <a:gradFill flip="none" rotWithShape="1">
            <a:gsLst>
              <a:gs pos="49000">
                <a:srgbClr val="FFC000"/>
              </a:gs>
              <a:gs pos="50000">
                <a:schemeClr val="accent1">
                  <a:lumMod val="40000"/>
                  <a:lumOff val="60000"/>
                </a:schemeClr>
              </a:gs>
              <a:gs pos="100000">
                <a:schemeClr val="accent1">
                  <a:lumMod val="40000"/>
                  <a:lumOff val="60000"/>
                </a:schemeClr>
              </a:gs>
            </a:gsLst>
            <a:lin ang="0" scaled="1"/>
            <a:tileRect/>
          </a:gra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Lifecycle Mgmt</a:t>
            </a:r>
            <a:endParaRPr lang="en-US" sz="900" b="1" dirty="0">
              <a:solidFill>
                <a:srgbClr val="000000"/>
              </a:solidFill>
            </a:endParaRPr>
          </a:p>
        </p:txBody>
      </p:sp>
      <p:sp>
        <p:nvSpPr>
          <p:cNvPr id="25" name="TextBox 28"/>
          <p:cNvSpPr txBox="1">
            <a:spLocks noChangeArrowheads="1"/>
          </p:cNvSpPr>
          <p:nvPr/>
        </p:nvSpPr>
        <p:spPr bwMode="auto">
          <a:xfrm>
            <a:off x="5303610" y="2236113"/>
            <a:ext cx="998991" cy="430887"/>
          </a:xfrm>
          <a:prstGeom prst="rect">
            <a:avLst/>
          </a:prstGeom>
          <a:noFill/>
          <a:ln w="9525">
            <a:noFill/>
            <a:miter lim="800000"/>
            <a:headEnd/>
            <a:tailEnd/>
          </a:ln>
        </p:spPr>
        <p:txBody>
          <a:bodyPr wrap="none">
            <a:spAutoFit/>
          </a:bodyPr>
          <a:lstStyle/>
          <a:p>
            <a:pPr algn="ctr"/>
            <a:r>
              <a:rPr lang="nb-NO" sz="1100" b="1" dirty="0">
                <a:solidFill>
                  <a:srgbClr val="000000"/>
                </a:solidFill>
              </a:rPr>
              <a:t>1.4 Customer </a:t>
            </a:r>
            <a:br>
              <a:rPr lang="nb-NO" sz="1100" b="1" dirty="0">
                <a:solidFill>
                  <a:srgbClr val="000000"/>
                </a:solidFill>
              </a:rPr>
            </a:br>
            <a:r>
              <a:rPr lang="nb-NO" sz="1100" b="1" dirty="0">
                <a:solidFill>
                  <a:srgbClr val="000000"/>
                </a:solidFill>
              </a:rPr>
              <a:t>Management</a:t>
            </a:r>
            <a:endParaRPr lang="en-US" sz="1100" b="1" dirty="0">
              <a:solidFill>
                <a:srgbClr val="000000"/>
              </a:solidFill>
            </a:endParaRPr>
          </a:p>
        </p:txBody>
      </p:sp>
      <p:sp>
        <p:nvSpPr>
          <p:cNvPr id="26" name="Rectangle 13"/>
          <p:cNvSpPr>
            <a:spLocks noChangeArrowheads="1"/>
          </p:cNvSpPr>
          <p:nvPr/>
        </p:nvSpPr>
        <p:spPr bwMode="auto">
          <a:xfrm>
            <a:off x="5256212" y="3135226"/>
            <a:ext cx="1187450" cy="369974"/>
          </a:xfrm>
          <a:prstGeom prst="rect">
            <a:avLst/>
          </a:prstGeom>
          <a:gradFill flip="none" rotWithShape="1">
            <a:gsLst>
              <a:gs pos="49000">
                <a:srgbClr val="00B0F0"/>
              </a:gs>
              <a:gs pos="50000">
                <a:schemeClr val="accent1">
                  <a:lumMod val="40000"/>
                  <a:lumOff val="60000"/>
                </a:schemeClr>
              </a:gs>
              <a:gs pos="100000">
                <a:schemeClr val="accent1">
                  <a:lumMod val="40000"/>
                  <a:lumOff val="60000"/>
                </a:schemeClr>
              </a:gs>
            </a:gsLst>
            <a:lin ang="0" scaled="1"/>
            <a:tileRect/>
          </a:gra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Profile Mgmt</a:t>
            </a:r>
            <a:endParaRPr lang="en-US" sz="900" b="1" dirty="0">
              <a:solidFill>
                <a:srgbClr val="000000"/>
              </a:solidFill>
            </a:endParaRPr>
          </a:p>
        </p:txBody>
      </p:sp>
      <p:sp>
        <p:nvSpPr>
          <p:cNvPr id="27" name="Rectangle 13"/>
          <p:cNvSpPr>
            <a:spLocks noChangeArrowheads="1"/>
          </p:cNvSpPr>
          <p:nvPr/>
        </p:nvSpPr>
        <p:spPr bwMode="auto">
          <a:xfrm>
            <a:off x="5256212" y="3581400"/>
            <a:ext cx="1187450" cy="508474"/>
          </a:xfrm>
          <a:prstGeom prst="rect">
            <a:avLst/>
          </a:prstGeom>
          <a:solidFill>
            <a:srgbClr val="00B0F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Relationship Hierarchy Mgmt</a:t>
            </a:r>
            <a:endParaRPr lang="en-US" sz="900" b="1" dirty="0">
              <a:solidFill>
                <a:srgbClr val="000000"/>
              </a:solidFill>
            </a:endParaRPr>
          </a:p>
        </p:txBody>
      </p:sp>
      <p:sp>
        <p:nvSpPr>
          <p:cNvPr id="28" name="Rectangle 13"/>
          <p:cNvSpPr>
            <a:spLocks noChangeArrowheads="1"/>
          </p:cNvSpPr>
          <p:nvPr/>
        </p:nvSpPr>
        <p:spPr bwMode="auto">
          <a:xfrm>
            <a:off x="1884361" y="3121325"/>
            <a:ext cx="1189038"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smtClean="0">
                <a:solidFill>
                  <a:srgbClr val="000000"/>
                </a:solidFill>
              </a:rPr>
              <a:t>Commission Mgmt                </a:t>
            </a:r>
            <a:endParaRPr lang="en-US" sz="900" b="1" dirty="0">
              <a:solidFill>
                <a:srgbClr val="000000"/>
              </a:solidFill>
            </a:endParaRPr>
          </a:p>
        </p:txBody>
      </p:sp>
      <p:sp>
        <p:nvSpPr>
          <p:cNvPr id="29" name="Rectangle 13"/>
          <p:cNvSpPr>
            <a:spLocks noChangeArrowheads="1"/>
          </p:cNvSpPr>
          <p:nvPr/>
        </p:nvSpPr>
        <p:spPr bwMode="auto">
          <a:xfrm>
            <a:off x="1881187" y="3917950"/>
            <a:ext cx="1187450" cy="369974"/>
          </a:xfrm>
          <a:prstGeom prst="rect">
            <a:avLst/>
          </a:prstGeom>
          <a:gradFill>
            <a:gsLst>
              <a:gs pos="49000">
                <a:srgbClr val="FFC000"/>
              </a:gs>
              <a:gs pos="50000">
                <a:schemeClr val="accent1">
                  <a:lumMod val="40000"/>
                  <a:lumOff val="60000"/>
                </a:schemeClr>
              </a:gs>
              <a:gs pos="100000">
                <a:schemeClr val="accent1">
                  <a:lumMod val="40000"/>
                  <a:lumOff val="60000"/>
                </a:schemeClr>
              </a:gs>
            </a:gsLst>
            <a:lin ang="0" scaled="1"/>
          </a:gradFill>
          <a:ln w="9525" algn="ctr">
            <a:noFill/>
            <a:round/>
            <a:headEnd/>
            <a:tailEnd/>
          </a:ln>
        </p:spPr>
        <p:txBody>
          <a:bodyPr lIns="92075" tIns="46038" rIns="92075" bIns="46038">
            <a:spAutoFit/>
          </a:bodyPr>
          <a:lstStyle/>
          <a:p>
            <a:pPr marL="119063" indent="-119063" algn="ctr"/>
            <a:r>
              <a:rPr lang="en-US" sz="900" b="1" dirty="0" smtClean="0">
                <a:solidFill>
                  <a:srgbClr val="000000"/>
                </a:solidFill>
              </a:rPr>
              <a:t>Communications Management</a:t>
            </a:r>
            <a:endParaRPr lang="en-US" sz="900" b="1" dirty="0">
              <a:solidFill>
                <a:srgbClr val="000000"/>
              </a:solidFill>
            </a:endParaRPr>
          </a:p>
        </p:txBody>
      </p:sp>
      <p:sp>
        <p:nvSpPr>
          <p:cNvPr id="31" name="TextBox 34"/>
          <p:cNvSpPr txBox="1">
            <a:spLocks noChangeArrowheads="1"/>
          </p:cNvSpPr>
          <p:nvPr/>
        </p:nvSpPr>
        <p:spPr bwMode="auto">
          <a:xfrm>
            <a:off x="1927791" y="3505200"/>
            <a:ext cx="998991" cy="430887"/>
          </a:xfrm>
          <a:prstGeom prst="rect">
            <a:avLst/>
          </a:prstGeom>
          <a:noFill/>
          <a:ln w="9525">
            <a:noFill/>
            <a:miter lim="800000"/>
            <a:headEnd/>
            <a:tailEnd/>
          </a:ln>
        </p:spPr>
        <p:txBody>
          <a:bodyPr wrap="none">
            <a:spAutoFit/>
          </a:bodyPr>
          <a:lstStyle/>
          <a:p>
            <a:pPr algn="ctr"/>
            <a:r>
              <a:rPr lang="nb-NO" sz="1100" b="1" dirty="0">
                <a:solidFill>
                  <a:srgbClr val="000000"/>
                </a:solidFill>
              </a:rPr>
              <a:t>1.5 Customer </a:t>
            </a:r>
            <a:br>
              <a:rPr lang="nb-NO" sz="1100" b="1" dirty="0">
                <a:solidFill>
                  <a:srgbClr val="000000"/>
                </a:solidFill>
              </a:rPr>
            </a:br>
            <a:r>
              <a:rPr lang="nb-NO" sz="1100" b="1" dirty="0">
                <a:solidFill>
                  <a:srgbClr val="000000"/>
                </a:solidFill>
              </a:rPr>
              <a:t>Comm Mgmt</a:t>
            </a:r>
            <a:endParaRPr lang="en-US" sz="1100" b="1" dirty="0">
              <a:solidFill>
                <a:srgbClr val="000000"/>
              </a:solidFill>
            </a:endParaRPr>
          </a:p>
        </p:txBody>
      </p:sp>
      <p:sp>
        <p:nvSpPr>
          <p:cNvPr id="32" name="Rectangle 13"/>
          <p:cNvSpPr>
            <a:spLocks noChangeArrowheads="1"/>
          </p:cNvSpPr>
          <p:nvPr/>
        </p:nvSpPr>
        <p:spPr bwMode="auto">
          <a:xfrm>
            <a:off x="1881187" y="4354426"/>
            <a:ext cx="1187450" cy="369974"/>
          </a:xfrm>
          <a:prstGeom prst="rect">
            <a:avLst/>
          </a:prstGeom>
          <a:gradFill>
            <a:gsLst>
              <a:gs pos="49000">
                <a:srgbClr val="00B0F0"/>
              </a:gs>
              <a:gs pos="50000">
                <a:schemeClr val="accent1">
                  <a:lumMod val="40000"/>
                  <a:lumOff val="60000"/>
                </a:schemeClr>
              </a:gs>
              <a:gs pos="100000">
                <a:schemeClr val="accent1">
                  <a:lumMod val="40000"/>
                  <a:lumOff val="60000"/>
                </a:schemeClr>
              </a:gs>
            </a:gsLst>
            <a:lin ang="0" scaled="1"/>
          </a:gradFill>
          <a:ln w="9525" algn="ctr">
            <a:noFill/>
            <a:round/>
            <a:headEnd/>
            <a:tailEnd/>
          </a:ln>
        </p:spPr>
        <p:txBody>
          <a:bodyPr lIns="92075" tIns="46038" rIns="92075" bIns="46038">
            <a:spAutoFit/>
          </a:bodyPr>
          <a:lstStyle/>
          <a:p>
            <a:pPr marL="119063" indent="-119063" algn="ctr"/>
            <a:r>
              <a:rPr lang="nb-NO" sz="900" b="1" dirty="0" smtClean="0">
                <a:solidFill>
                  <a:srgbClr val="000000"/>
                </a:solidFill>
              </a:rPr>
              <a:t>Communications Analysis</a:t>
            </a:r>
            <a:endParaRPr lang="en-US" sz="900" b="1" dirty="0">
              <a:solidFill>
                <a:srgbClr val="000000"/>
              </a:solidFill>
            </a:endParaRPr>
          </a:p>
        </p:txBody>
      </p:sp>
      <p:sp>
        <p:nvSpPr>
          <p:cNvPr id="33" name="Rectangle 13"/>
          <p:cNvSpPr>
            <a:spLocks noChangeArrowheads="1"/>
          </p:cNvSpPr>
          <p:nvPr/>
        </p:nvSpPr>
        <p:spPr bwMode="auto">
          <a:xfrm>
            <a:off x="5256212" y="4202026"/>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Contracts Mgmt</a:t>
            </a:r>
            <a:endParaRPr lang="en-US" sz="900" b="1" dirty="0">
              <a:solidFill>
                <a:srgbClr val="000000"/>
              </a:solidFill>
            </a:endParaRPr>
          </a:p>
        </p:txBody>
      </p:sp>
      <p:sp>
        <p:nvSpPr>
          <p:cNvPr id="34" name="Rectangle 13"/>
          <p:cNvSpPr>
            <a:spLocks noChangeArrowheads="1"/>
          </p:cNvSpPr>
          <p:nvPr/>
        </p:nvSpPr>
        <p:spPr bwMode="auto">
          <a:xfrm>
            <a:off x="1885155" y="28165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Sales Forcasting</a:t>
            </a:r>
            <a:endParaRPr lang="en-US" sz="900" b="1" dirty="0">
              <a:solidFill>
                <a:srgbClr val="000000"/>
              </a:solidFill>
            </a:endParaRPr>
          </a:p>
        </p:txBody>
      </p:sp>
      <p:sp>
        <p:nvSpPr>
          <p:cNvPr id="39" name="Rectangle 38"/>
          <p:cNvSpPr/>
          <p:nvPr/>
        </p:nvSpPr>
        <p:spPr>
          <a:xfrm>
            <a:off x="1598612" y="3505200"/>
            <a:ext cx="1676400" cy="14478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0" name="Rectangle 39"/>
          <p:cNvSpPr/>
          <p:nvPr/>
        </p:nvSpPr>
        <p:spPr>
          <a:xfrm>
            <a:off x="1598612" y="2209800"/>
            <a:ext cx="1676400" cy="1219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1" name="Rectangle 40"/>
          <p:cNvSpPr/>
          <p:nvPr/>
        </p:nvSpPr>
        <p:spPr>
          <a:xfrm>
            <a:off x="5103812" y="2209800"/>
            <a:ext cx="1676400" cy="25146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2" name="Rectangle 41"/>
          <p:cNvSpPr/>
          <p:nvPr/>
        </p:nvSpPr>
        <p:spPr>
          <a:xfrm>
            <a:off x="3351212" y="2209800"/>
            <a:ext cx="1676400" cy="1219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3" name="Rectangle 42"/>
          <p:cNvSpPr/>
          <p:nvPr/>
        </p:nvSpPr>
        <p:spPr>
          <a:xfrm>
            <a:off x="3351212" y="3505200"/>
            <a:ext cx="1676400" cy="1981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4" name="Rounded Rectangle 43"/>
          <p:cNvSpPr/>
          <p:nvPr/>
        </p:nvSpPr>
        <p:spPr>
          <a:xfrm>
            <a:off x="531812" y="1600200"/>
            <a:ext cx="7086600" cy="4343400"/>
          </a:xfrm>
          <a:prstGeom prst="roundRect">
            <a:avLst/>
          </a:prstGeom>
          <a:noFill/>
          <a:ln w="254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
        <p:nvSpPr>
          <p:cNvPr id="36" name="TextBox 31"/>
          <p:cNvSpPr txBox="1">
            <a:spLocks noChangeArrowheads="1"/>
          </p:cNvSpPr>
          <p:nvPr/>
        </p:nvSpPr>
        <p:spPr bwMode="auto">
          <a:xfrm>
            <a:off x="8304212" y="2362200"/>
            <a:ext cx="1980029" cy="923330"/>
          </a:xfrm>
          <a:prstGeom prst="rect">
            <a:avLst/>
          </a:prstGeom>
          <a:noFill/>
          <a:ln w="9525">
            <a:noFill/>
            <a:miter lim="800000"/>
            <a:headEnd/>
            <a:tailEnd/>
          </a:ln>
          <a:scene3d>
            <a:camera prst="orthographicFront"/>
            <a:lightRig rig="threePt" dir="t"/>
          </a:scene3d>
          <a:sp3d>
            <a:bevelT/>
          </a:sp3d>
        </p:spPr>
        <p:txBody>
          <a:bodyPr wrap="none">
            <a:spAutoFit/>
          </a:bodyPr>
          <a:lstStyle/>
          <a:p>
            <a:pPr>
              <a:defRPr/>
            </a:pPr>
            <a:r>
              <a:rPr lang="nb-NO" dirty="0" smtClean="0">
                <a:latin typeface="Arial" pitchFamily="34" charset="0"/>
              </a:rPr>
              <a:t>Reduce Cost </a:t>
            </a:r>
          </a:p>
          <a:p>
            <a:pPr>
              <a:defRPr/>
            </a:pPr>
            <a:r>
              <a:rPr lang="nb-NO" dirty="0" smtClean="0">
                <a:latin typeface="Arial" pitchFamily="34" charset="0"/>
              </a:rPr>
              <a:t>Differentiating</a:t>
            </a:r>
          </a:p>
          <a:p>
            <a:pPr>
              <a:defRPr/>
            </a:pPr>
            <a:r>
              <a:rPr lang="nb-NO" dirty="0" smtClean="0">
                <a:latin typeface="Arial" pitchFamily="34" charset="0"/>
              </a:rPr>
              <a:t>Process Reliance</a:t>
            </a:r>
            <a:endParaRPr lang="nb-NO" dirty="0">
              <a:latin typeface="Arial" pitchFamily="34" charset="0"/>
            </a:endParaRPr>
          </a:p>
        </p:txBody>
      </p:sp>
      <p:sp>
        <p:nvSpPr>
          <p:cNvPr id="35" name="Rectangle 34"/>
          <p:cNvSpPr/>
          <p:nvPr/>
        </p:nvSpPr>
        <p:spPr>
          <a:xfrm>
            <a:off x="10666412" y="2514600"/>
            <a:ext cx="533400" cy="152400"/>
          </a:xfrm>
          <a:prstGeom prst="rect">
            <a:avLst/>
          </a:prstGeom>
          <a:solidFill>
            <a:srgbClr val="FFC000"/>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
        <p:nvSpPr>
          <p:cNvPr id="37" name="Rectangle 36"/>
          <p:cNvSpPr/>
          <p:nvPr/>
        </p:nvSpPr>
        <p:spPr>
          <a:xfrm>
            <a:off x="10666412" y="2743200"/>
            <a:ext cx="533400" cy="152400"/>
          </a:xfrm>
          <a:prstGeom prst="rect">
            <a:avLst/>
          </a:prstGeom>
          <a:solidFill>
            <a:srgbClr val="00B0F0"/>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
        <p:nvSpPr>
          <p:cNvPr id="38" name="Rectangle 37"/>
          <p:cNvSpPr/>
          <p:nvPr/>
        </p:nvSpPr>
        <p:spPr>
          <a:xfrm>
            <a:off x="10666412" y="2971800"/>
            <a:ext cx="533400" cy="152400"/>
          </a:xfrm>
          <a:prstGeom prst="rect">
            <a:avLst/>
          </a:prstGeom>
          <a:solidFill>
            <a:schemeClr val="accent1">
              <a:lumMod val="40000"/>
              <a:lumOff val="60000"/>
            </a:schemeClr>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Reliance or Impact on IT</a:t>
            </a:r>
            <a:endParaRPr lang="en-US" dirty="0"/>
          </a:p>
        </p:txBody>
      </p:sp>
      <p:sp>
        <p:nvSpPr>
          <p:cNvPr id="7" name="TextBox 3"/>
          <p:cNvSpPr txBox="1">
            <a:spLocks noChangeArrowheads="1"/>
          </p:cNvSpPr>
          <p:nvPr/>
        </p:nvSpPr>
        <p:spPr bwMode="auto">
          <a:xfrm>
            <a:off x="2895599" y="1857375"/>
            <a:ext cx="2272673" cy="369332"/>
          </a:xfrm>
          <a:prstGeom prst="rect">
            <a:avLst/>
          </a:prstGeom>
          <a:noFill/>
          <a:ln w="9525">
            <a:noFill/>
            <a:miter lim="800000"/>
            <a:headEnd/>
            <a:tailEnd/>
          </a:ln>
        </p:spPr>
        <p:txBody>
          <a:bodyPr wrap="none">
            <a:spAutoFit/>
          </a:bodyPr>
          <a:lstStyle/>
          <a:p>
            <a:r>
              <a:rPr lang="nb-NO" sz="1800" b="1" dirty="0">
                <a:solidFill>
                  <a:srgbClr val="000000"/>
                </a:solidFill>
              </a:rPr>
              <a:t>1. Customer Relations</a:t>
            </a:r>
            <a:endParaRPr lang="en-US" sz="1800" b="1" dirty="0">
              <a:solidFill>
                <a:srgbClr val="000000"/>
              </a:solidFill>
            </a:endParaRPr>
          </a:p>
        </p:txBody>
      </p:sp>
      <p:sp>
        <p:nvSpPr>
          <p:cNvPr id="8" name="Rectangle 13"/>
          <p:cNvSpPr>
            <a:spLocks noChangeArrowheads="1"/>
          </p:cNvSpPr>
          <p:nvPr/>
        </p:nvSpPr>
        <p:spPr bwMode="auto">
          <a:xfrm>
            <a:off x="3595687" y="3917950"/>
            <a:ext cx="1187450" cy="231475"/>
          </a:xfrm>
          <a:prstGeom prst="rect">
            <a:avLst/>
          </a:prstGeom>
          <a:gradFill>
            <a:gsLst>
              <a:gs pos="49000">
                <a:srgbClr val="FFC000"/>
              </a:gs>
              <a:gs pos="50000">
                <a:srgbClr val="FFFF00"/>
              </a:gs>
              <a:gs pos="100000">
                <a:srgbClr val="FFFF00"/>
              </a:gs>
            </a:gsLst>
            <a:lin ang="0" scaled="1"/>
          </a:gradFill>
          <a:ln w="9525" algn="ctr">
            <a:noFill/>
            <a:round/>
            <a:headEnd/>
            <a:tailEnd/>
          </a:ln>
        </p:spPr>
        <p:txBody>
          <a:bodyPr lIns="92075" tIns="46038" rIns="92075" bIns="46038">
            <a:spAutoFit/>
          </a:bodyPr>
          <a:lstStyle/>
          <a:p>
            <a:pPr marL="119063" indent="-119063" algn="ctr"/>
            <a:r>
              <a:rPr lang="nb-NO" sz="900" b="1" dirty="0">
                <a:solidFill>
                  <a:srgbClr val="000000"/>
                </a:solidFill>
              </a:rPr>
              <a:t>Self Service</a:t>
            </a:r>
            <a:endParaRPr lang="en-US" sz="900" b="1" dirty="0">
              <a:solidFill>
                <a:srgbClr val="000000"/>
              </a:solidFill>
            </a:endParaRPr>
          </a:p>
        </p:txBody>
      </p:sp>
      <p:sp>
        <p:nvSpPr>
          <p:cNvPr id="10" name="TextBox 9"/>
          <p:cNvSpPr txBox="1">
            <a:spLocks noChangeArrowheads="1"/>
          </p:cNvSpPr>
          <p:nvPr/>
        </p:nvSpPr>
        <p:spPr bwMode="auto">
          <a:xfrm>
            <a:off x="3421979" y="3505200"/>
            <a:ext cx="1418979" cy="261610"/>
          </a:xfrm>
          <a:prstGeom prst="rect">
            <a:avLst/>
          </a:prstGeom>
          <a:noFill/>
          <a:ln w="9525">
            <a:noFill/>
            <a:miter lim="800000"/>
            <a:headEnd/>
            <a:tailEnd/>
          </a:ln>
        </p:spPr>
        <p:txBody>
          <a:bodyPr wrap="none">
            <a:spAutoFit/>
          </a:bodyPr>
          <a:lstStyle/>
          <a:p>
            <a:pPr algn="ctr"/>
            <a:r>
              <a:rPr lang="nb-NO" sz="1100" b="1" dirty="0">
                <a:solidFill>
                  <a:srgbClr val="000000"/>
                </a:solidFill>
              </a:rPr>
              <a:t>1.3 Customer Service</a:t>
            </a:r>
            <a:endParaRPr lang="en-US" sz="1100" b="1" dirty="0">
              <a:solidFill>
                <a:srgbClr val="000000"/>
              </a:solidFill>
            </a:endParaRPr>
          </a:p>
        </p:txBody>
      </p:sp>
      <p:sp>
        <p:nvSpPr>
          <p:cNvPr id="11" name="Rectangle 13"/>
          <p:cNvSpPr>
            <a:spLocks noChangeArrowheads="1"/>
          </p:cNvSpPr>
          <p:nvPr/>
        </p:nvSpPr>
        <p:spPr bwMode="auto">
          <a:xfrm>
            <a:off x="3595687" y="42672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Call Center</a:t>
            </a:r>
            <a:endParaRPr lang="en-US" sz="900" b="1" dirty="0">
              <a:solidFill>
                <a:srgbClr val="000000"/>
              </a:solidFill>
            </a:endParaRPr>
          </a:p>
        </p:txBody>
      </p:sp>
      <p:sp>
        <p:nvSpPr>
          <p:cNvPr id="12" name="Rectangle 13"/>
          <p:cNvSpPr>
            <a:spLocks noChangeArrowheads="1"/>
          </p:cNvSpPr>
          <p:nvPr/>
        </p:nvSpPr>
        <p:spPr bwMode="auto">
          <a:xfrm>
            <a:off x="3595687" y="4569125"/>
            <a:ext cx="1187450" cy="231475"/>
          </a:xfrm>
          <a:prstGeom prst="rect">
            <a:avLst/>
          </a:prstGeom>
          <a:solidFill>
            <a:srgbClr val="FFFF0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Chat</a:t>
            </a:r>
            <a:endParaRPr lang="en-US" sz="900" b="1" dirty="0">
              <a:solidFill>
                <a:srgbClr val="000000"/>
              </a:solidFill>
            </a:endParaRPr>
          </a:p>
        </p:txBody>
      </p:sp>
      <p:sp>
        <p:nvSpPr>
          <p:cNvPr id="13" name="Rectangle 13"/>
          <p:cNvSpPr>
            <a:spLocks noChangeArrowheads="1"/>
          </p:cNvSpPr>
          <p:nvPr/>
        </p:nvSpPr>
        <p:spPr bwMode="auto">
          <a:xfrm>
            <a:off x="3595687" y="48739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Issue Resolution</a:t>
            </a:r>
            <a:endParaRPr lang="en-US" sz="900" b="1" dirty="0">
              <a:solidFill>
                <a:srgbClr val="000000"/>
              </a:solidFill>
            </a:endParaRPr>
          </a:p>
        </p:txBody>
      </p:sp>
      <p:sp>
        <p:nvSpPr>
          <p:cNvPr id="14" name="Rectangle 13"/>
          <p:cNvSpPr>
            <a:spLocks noChangeArrowheads="1"/>
          </p:cNvSpPr>
          <p:nvPr/>
        </p:nvSpPr>
        <p:spPr bwMode="auto">
          <a:xfrm>
            <a:off x="3595687" y="51787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Products Training</a:t>
            </a:r>
            <a:endParaRPr lang="en-US" sz="900" b="1" dirty="0">
              <a:solidFill>
                <a:srgbClr val="000000"/>
              </a:solidFill>
            </a:endParaRPr>
          </a:p>
        </p:txBody>
      </p:sp>
      <p:sp>
        <p:nvSpPr>
          <p:cNvPr id="15" name="Rectangle 13"/>
          <p:cNvSpPr>
            <a:spLocks noChangeArrowheads="1"/>
          </p:cNvSpPr>
          <p:nvPr/>
        </p:nvSpPr>
        <p:spPr bwMode="auto">
          <a:xfrm>
            <a:off x="3576637" y="25146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Lead Mgmt</a:t>
            </a:r>
            <a:endParaRPr lang="en-US" sz="900" b="1" dirty="0">
              <a:solidFill>
                <a:srgbClr val="000000"/>
              </a:solidFill>
            </a:endParaRPr>
          </a:p>
        </p:txBody>
      </p:sp>
      <p:sp>
        <p:nvSpPr>
          <p:cNvPr id="17" name="TextBox 16"/>
          <p:cNvSpPr txBox="1">
            <a:spLocks noChangeArrowheads="1"/>
          </p:cNvSpPr>
          <p:nvPr/>
        </p:nvSpPr>
        <p:spPr bwMode="auto">
          <a:xfrm>
            <a:off x="3619233" y="2263775"/>
            <a:ext cx="1007007" cy="261610"/>
          </a:xfrm>
          <a:prstGeom prst="rect">
            <a:avLst/>
          </a:prstGeom>
          <a:noFill/>
          <a:ln w="9525">
            <a:noFill/>
            <a:miter lim="800000"/>
            <a:headEnd/>
            <a:tailEnd/>
          </a:ln>
        </p:spPr>
        <p:txBody>
          <a:bodyPr wrap="none">
            <a:spAutoFit/>
          </a:bodyPr>
          <a:lstStyle/>
          <a:p>
            <a:pPr algn="ctr"/>
            <a:r>
              <a:rPr lang="nb-NO" sz="1100" b="1" dirty="0">
                <a:solidFill>
                  <a:srgbClr val="000000"/>
                </a:solidFill>
              </a:rPr>
              <a:t>1.2 Marketing</a:t>
            </a:r>
            <a:endParaRPr lang="en-US" sz="1100" b="1" dirty="0">
              <a:solidFill>
                <a:srgbClr val="000000"/>
              </a:solidFill>
            </a:endParaRPr>
          </a:p>
        </p:txBody>
      </p:sp>
      <p:sp>
        <p:nvSpPr>
          <p:cNvPr id="18" name="Rectangle 13"/>
          <p:cNvSpPr>
            <a:spLocks noChangeArrowheads="1"/>
          </p:cNvSpPr>
          <p:nvPr/>
        </p:nvSpPr>
        <p:spPr bwMode="auto">
          <a:xfrm>
            <a:off x="3576637" y="28165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Campaign Mgmt</a:t>
            </a:r>
            <a:endParaRPr lang="en-US" sz="900" b="1" dirty="0">
              <a:solidFill>
                <a:srgbClr val="000000"/>
              </a:solidFill>
            </a:endParaRPr>
          </a:p>
        </p:txBody>
      </p:sp>
      <p:sp>
        <p:nvSpPr>
          <p:cNvPr id="19" name="Rectangle 13"/>
          <p:cNvSpPr>
            <a:spLocks noChangeArrowheads="1"/>
          </p:cNvSpPr>
          <p:nvPr/>
        </p:nvSpPr>
        <p:spPr bwMode="auto">
          <a:xfrm>
            <a:off x="3576637" y="3121325"/>
            <a:ext cx="1187450" cy="231475"/>
          </a:xfrm>
          <a:prstGeom prst="rect">
            <a:avLst/>
          </a:prstGeom>
          <a:gradFill>
            <a:gsLst>
              <a:gs pos="49000">
                <a:srgbClr val="00B0F0"/>
              </a:gs>
              <a:gs pos="50000">
                <a:srgbClr val="FFFF00"/>
              </a:gs>
              <a:gs pos="50000">
                <a:srgbClr val="FFFF00"/>
              </a:gs>
            </a:gsLst>
            <a:lin ang="0" scaled="1"/>
          </a:gradFill>
          <a:ln w="9525" algn="ctr">
            <a:noFill/>
            <a:round/>
            <a:headEnd/>
            <a:tailEnd/>
          </a:ln>
        </p:spPr>
        <p:txBody>
          <a:bodyPr lIns="92075" tIns="46038" rIns="92075" bIns="46038">
            <a:spAutoFit/>
          </a:bodyPr>
          <a:lstStyle/>
          <a:p>
            <a:pPr marL="119063" indent="-119063" algn="ctr"/>
            <a:r>
              <a:rPr lang="nb-NO" sz="900" b="1" dirty="0">
                <a:solidFill>
                  <a:srgbClr val="000000"/>
                </a:solidFill>
              </a:rPr>
              <a:t>Proactive Marketing</a:t>
            </a:r>
            <a:endParaRPr lang="en-US" sz="900" b="1" dirty="0">
              <a:solidFill>
                <a:srgbClr val="000000"/>
              </a:solidFill>
            </a:endParaRPr>
          </a:p>
        </p:txBody>
      </p:sp>
      <p:sp>
        <p:nvSpPr>
          <p:cNvPr id="20" name="Rectangle 13"/>
          <p:cNvSpPr>
            <a:spLocks noChangeArrowheads="1"/>
          </p:cNvSpPr>
          <p:nvPr/>
        </p:nvSpPr>
        <p:spPr bwMode="auto">
          <a:xfrm>
            <a:off x="1885155" y="2514600"/>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Opportunity Mgmt</a:t>
            </a:r>
            <a:endParaRPr lang="en-US" sz="900" b="1" dirty="0">
              <a:solidFill>
                <a:srgbClr val="000000"/>
              </a:solidFill>
            </a:endParaRPr>
          </a:p>
        </p:txBody>
      </p:sp>
      <p:sp>
        <p:nvSpPr>
          <p:cNvPr id="22" name="TextBox 23"/>
          <p:cNvSpPr txBox="1">
            <a:spLocks noChangeArrowheads="1"/>
          </p:cNvSpPr>
          <p:nvPr/>
        </p:nvSpPr>
        <p:spPr bwMode="auto">
          <a:xfrm>
            <a:off x="2076885" y="2263775"/>
            <a:ext cx="697627" cy="261610"/>
          </a:xfrm>
          <a:prstGeom prst="rect">
            <a:avLst/>
          </a:prstGeom>
          <a:noFill/>
          <a:ln w="9525">
            <a:noFill/>
            <a:miter lim="800000"/>
            <a:headEnd/>
            <a:tailEnd/>
          </a:ln>
        </p:spPr>
        <p:txBody>
          <a:bodyPr wrap="none">
            <a:spAutoFit/>
          </a:bodyPr>
          <a:lstStyle/>
          <a:p>
            <a:pPr algn="ctr"/>
            <a:r>
              <a:rPr lang="nb-NO" sz="1100" b="1" dirty="0">
                <a:solidFill>
                  <a:srgbClr val="000000"/>
                </a:solidFill>
              </a:rPr>
              <a:t>1.1 Sales</a:t>
            </a:r>
            <a:endParaRPr lang="en-US" sz="1100" b="1" dirty="0">
              <a:solidFill>
                <a:srgbClr val="000000"/>
              </a:solidFill>
            </a:endParaRPr>
          </a:p>
        </p:txBody>
      </p:sp>
      <p:sp>
        <p:nvSpPr>
          <p:cNvPr id="23" name="Rectangle 13"/>
          <p:cNvSpPr>
            <a:spLocks noChangeArrowheads="1"/>
          </p:cNvSpPr>
          <p:nvPr/>
        </p:nvSpPr>
        <p:spPr bwMode="auto">
          <a:xfrm>
            <a:off x="5256212" y="2678026"/>
            <a:ext cx="1187450" cy="369974"/>
          </a:xfrm>
          <a:prstGeom prst="rect">
            <a:avLst/>
          </a:prstGeom>
          <a:gradFill flip="none" rotWithShape="1">
            <a:gsLst>
              <a:gs pos="15000">
                <a:srgbClr val="FFFF00"/>
              </a:gs>
              <a:gs pos="50000">
                <a:schemeClr val="accent1">
                  <a:lumMod val="40000"/>
                  <a:lumOff val="60000"/>
                </a:schemeClr>
              </a:gs>
              <a:gs pos="50000">
                <a:srgbClr val="FFC000"/>
              </a:gs>
            </a:gsLst>
            <a:lin ang="0" scaled="1"/>
            <a:tileRect/>
          </a:gra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Lifecycle Mgmt</a:t>
            </a:r>
            <a:endParaRPr lang="en-US" sz="900" b="1" dirty="0">
              <a:solidFill>
                <a:srgbClr val="000000"/>
              </a:solidFill>
            </a:endParaRPr>
          </a:p>
        </p:txBody>
      </p:sp>
      <p:sp>
        <p:nvSpPr>
          <p:cNvPr id="25" name="TextBox 28"/>
          <p:cNvSpPr txBox="1">
            <a:spLocks noChangeArrowheads="1"/>
          </p:cNvSpPr>
          <p:nvPr/>
        </p:nvSpPr>
        <p:spPr bwMode="auto">
          <a:xfrm>
            <a:off x="5303610" y="2236113"/>
            <a:ext cx="998991" cy="430887"/>
          </a:xfrm>
          <a:prstGeom prst="rect">
            <a:avLst/>
          </a:prstGeom>
          <a:noFill/>
          <a:ln w="9525">
            <a:noFill/>
            <a:miter lim="800000"/>
            <a:headEnd/>
            <a:tailEnd/>
          </a:ln>
        </p:spPr>
        <p:txBody>
          <a:bodyPr wrap="none">
            <a:spAutoFit/>
          </a:bodyPr>
          <a:lstStyle/>
          <a:p>
            <a:pPr algn="ctr"/>
            <a:r>
              <a:rPr lang="nb-NO" sz="1100" b="1" dirty="0">
                <a:solidFill>
                  <a:srgbClr val="000000"/>
                </a:solidFill>
              </a:rPr>
              <a:t>1.4 Customer </a:t>
            </a:r>
            <a:br>
              <a:rPr lang="nb-NO" sz="1100" b="1" dirty="0">
                <a:solidFill>
                  <a:srgbClr val="000000"/>
                </a:solidFill>
              </a:rPr>
            </a:br>
            <a:r>
              <a:rPr lang="nb-NO" sz="1100" b="1" dirty="0">
                <a:solidFill>
                  <a:srgbClr val="000000"/>
                </a:solidFill>
              </a:rPr>
              <a:t>Management</a:t>
            </a:r>
            <a:endParaRPr lang="en-US" sz="1100" b="1" dirty="0">
              <a:solidFill>
                <a:srgbClr val="000000"/>
              </a:solidFill>
            </a:endParaRPr>
          </a:p>
        </p:txBody>
      </p:sp>
      <p:sp>
        <p:nvSpPr>
          <p:cNvPr id="26" name="Rectangle 13"/>
          <p:cNvSpPr>
            <a:spLocks noChangeArrowheads="1"/>
          </p:cNvSpPr>
          <p:nvPr/>
        </p:nvSpPr>
        <p:spPr bwMode="auto">
          <a:xfrm>
            <a:off x="5256212" y="3135226"/>
            <a:ext cx="1187450" cy="369974"/>
          </a:xfrm>
          <a:prstGeom prst="rect">
            <a:avLst/>
          </a:prstGeom>
          <a:gradFill>
            <a:gsLst>
              <a:gs pos="15000">
                <a:srgbClr val="FFFF00"/>
              </a:gs>
              <a:gs pos="50000">
                <a:schemeClr val="accent1">
                  <a:lumMod val="40000"/>
                  <a:lumOff val="60000"/>
                </a:schemeClr>
              </a:gs>
              <a:gs pos="50000">
                <a:srgbClr val="00B0F0"/>
              </a:gs>
            </a:gsLst>
            <a:lin ang="0" scaled="1"/>
          </a:gra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Profile Mgmt</a:t>
            </a:r>
            <a:endParaRPr lang="en-US" sz="900" b="1" dirty="0">
              <a:solidFill>
                <a:srgbClr val="000000"/>
              </a:solidFill>
            </a:endParaRPr>
          </a:p>
        </p:txBody>
      </p:sp>
      <p:sp>
        <p:nvSpPr>
          <p:cNvPr id="27" name="Rectangle 13"/>
          <p:cNvSpPr>
            <a:spLocks noChangeArrowheads="1"/>
          </p:cNvSpPr>
          <p:nvPr/>
        </p:nvSpPr>
        <p:spPr bwMode="auto">
          <a:xfrm>
            <a:off x="5256212" y="3581400"/>
            <a:ext cx="1187450" cy="508474"/>
          </a:xfrm>
          <a:prstGeom prst="rect">
            <a:avLst/>
          </a:prstGeom>
          <a:gradFill>
            <a:gsLst>
              <a:gs pos="49000">
                <a:srgbClr val="00B0F0"/>
              </a:gs>
              <a:gs pos="50000">
                <a:srgbClr val="FFFF00"/>
              </a:gs>
              <a:gs pos="50000">
                <a:srgbClr val="FFFF00"/>
              </a:gs>
            </a:gsLst>
            <a:lin ang="0" scaled="1"/>
          </a:gra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Relationship Hierarchy Mgmt</a:t>
            </a:r>
            <a:endParaRPr lang="en-US" sz="900" b="1" dirty="0">
              <a:solidFill>
                <a:srgbClr val="000000"/>
              </a:solidFill>
            </a:endParaRPr>
          </a:p>
        </p:txBody>
      </p:sp>
      <p:sp>
        <p:nvSpPr>
          <p:cNvPr id="28" name="Rectangle 13"/>
          <p:cNvSpPr>
            <a:spLocks noChangeArrowheads="1"/>
          </p:cNvSpPr>
          <p:nvPr/>
        </p:nvSpPr>
        <p:spPr bwMode="auto">
          <a:xfrm>
            <a:off x="1884361" y="3121325"/>
            <a:ext cx="1189038"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smtClean="0">
                <a:solidFill>
                  <a:srgbClr val="000000"/>
                </a:solidFill>
              </a:rPr>
              <a:t>Commission Mgmt                </a:t>
            </a:r>
            <a:endParaRPr lang="en-US" sz="900" b="1" dirty="0">
              <a:solidFill>
                <a:srgbClr val="000000"/>
              </a:solidFill>
            </a:endParaRPr>
          </a:p>
        </p:txBody>
      </p:sp>
      <p:sp>
        <p:nvSpPr>
          <p:cNvPr id="29" name="Rectangle 13"/>
          <p:cNvSpPr>
            <a:spLocks noChangeArrowheads="1"/>
          </p:cNvSpPr>
          <p:nvPr/>
        </p:nvSpPr>
        <p:spPr bwMode="auto">
          <a:xfrm>
            <a:off x="1881187" y="3917950"/>
            <a:ext cx="1187450" cy="369974"/>
          </a:xfrm>
          <a:prstGeom prst="rect">
            <a:avLst/>
          </a:prstGeom>
          <a:gradFill>
            <a:gsLst>
              <a:gs pos="15000">
                <a:srgbClr val="FFFF00"/>
              </a:gs>
              <a:gs pos="50000">
                <a:schemeClr val="accent1">
                  <a:lumMod val="40000"/>
                  <a:lumOff val="60000"/>
                </a:schemeClr>
              </a:gs>
              <a:gs pos="50000">
                <a:srgbClr val="FFC000"/>
              </a:gs>
            </a:gsLst>
            <a:lin ang="0" scaled="1"/>
          </a:gradFill>
          <a:ln w="9525" algn="ctr">
            <a:noFill/>
            <a:round/>
            <a:headEnd/>
            <a:tailEnd/>
          </a:ln>
        </p:spPr>
        <p:txBody>
          <a:bodyPr lIns="92075" tIns="46038" rIns="92075" bIns="46038">
            <a:spAutoFit/>
          </a:bodyPr>
          <a:lstStyle/>
          <a:p>
            <a:pPr marL="119063" indent="-119063" algn="ctr"/>
            <a:r>
              <a:rPr lang="en-US" sz="900" b="1" dirty="0" smtClean="0">
                <a:solidFill>
                  <a:srgbClr val="000000"/>
                </a:solidFill>
              </a:rPr>
              <a:t>Communications Management</a:t>
            </a:r>
            <a:endParaRPr lang="en-US" sz="900" b="1" dirty="0">
              <a:solidFill>
                <a:srgbClr val="000000"/>
              </a:solidFill>
            </a:endParaRPr>
          </a:p>
        </p:txBody>
      </p:sp>
      <p:sp>
        <p:nvSpPr>
          <p:cNvPr id="31" name="TextBox 34"/>
          <p:cNvSpPr txBox="1">
            <a:spLocks noChangeArrowheads="1"/>
          </p:cNvSpPr>
          <p:nvPr/>
        </p:nvSpPr>
        <p:spPr bwMode="auto">
          <a:xfrm>
            <a:off x="1927791" y="3505200"/>
            <a:ext cx="998991" cy="430887"/>
          </a:xfrm>
          <a:prstGeom prst="rect">
            <a:avLst/>
          </a:prstGeom>
          <a:noFill/>
          <a:ln w="9525">
            <a:noFill/>
            <a:miter lim="800000"/>
            <a:headEnd/>
            <a:tailEnd/>
          </a:ln>
        </p:spPr>
        <p:txBody>
          <a:bodyPr wrap="none">
            <a:spAutoFit/>
          </a:bodyPr>
          <a:lstStyle/>
          <a:p>
            <a:pPr algn="ctr"/>
            <a:r>
              <a:rPr lang="nb-NO" sz="1100" b="1" dirty="0">
                <a:solidFill>
                  <a:srgbClr val="000000"/>
                </a:solidFill>
              </a:rPr>
              <a:t>1.5 Customer </a:t>
            </a:r>
            <a:br>
              <a:rPr lang="nb-NO" sz="1100" b="1" dirty="0">
                <a:solidFill>
                  <a:srgbClr val="000000"/>
                </a:solidFill>
              </a:rPr>
            </a:br>
            <a:r>
              <a:rPr lang="nb-NO" sz="1100" b="1" dirty="0">
                <a:solidFill>
                  <a:srgbClr val="000000"/>
                </a:solidFill>
              </a:rPr>
              <a:t>Comm Mgmt</a:t>
            </a:r>
            <a:endParaRPr lang="en-US" sz="1100" b="1" dirty="0">
              <a:solidFill>
                <a:srgbClr val="000000"/>
              </a:solidFill>
            </a:endParaRPr>
          </a:p>
        </p:txBody>
      </p:sp>
      <p:sp>
        <p:nvSpPr>
          <p:cNvPr id="32" name="Rectangle 13"/>
          <p:cNvSpPr>
            <a:spLocks noChangeArrowheads="1"/>
          </p:cNvSpPr>
          <p:nvPr/>
        </p:nvSpPr>
        <p:spPr bwMode="auto">
          <a:xfrm>
            <a:off x="1881187" y="4354426"/>
            <a:ext cx="1187450" cy="369974"/>
          </a:xfrm>
          <a:prstGeom prst="rect">
            <a:avLst/>
          </a:prstGeom>
          <a:gradFill>
            <a:gsLst>
              <a:gs pos="15000">
                <a:srgbClr val="FFFF00"/>
              </a:gs>
              <a:gs pos="50000">
                <a:schemeClr val="accent1">
                  <a:lumMod val="40000"/>
                  <a:lumOff val="60000"/>
                </a:schemeClr>
              </a:gs>
              <a:gs pos="100000">
                <a:srgbClr val="00B0F0"/>
              </a:gs>
            </a:gsLst>
            <a:lin ang="0" scaled="1"/>
          </a:gradFill>
          <a:ln w="9525" algn="ctr">
            <a:noFill/>
            <a:round/>
            <a:headEnd/>
            <a:tailEnd/>
          </a:ln>
        </p:spPr>
        <p:txBody>
          <a:bodyPr lIns="92075" tIns="46038" rIns="92075" bIns="46038">
            <a:spAutoFit/>
          </a:bodyPr>
          <a:lstStyle/>
          <a:p>
            <a:pPr marL="119063" indent="-119063" algn="ctr"/>
            <a:r>
              <a:rPr lang="nb-NO" sz="900" b="1" dirty="0" smtClean="0">
                <a:solidFill>
                  <a:srgbClr val="000000"/>
                </a:solidFill>
              </a:rPr>
              <a:t>Communications Analysis</a:t>
            </a:r>
            <a:endParaRPr lang="en-US" sz="900" b="1" dirty="0">
              <a:solidFill>
                <a:srgbClr val="000000"/>
              </a:solidFill>
            </a:endParaRPr>
          </a:p>
        </p:txBody>
      </p:sp>
      <p:sp>
        <p:nvSpPr>
          <p:cNvPr id="33" name="Rectangle 13"/>
          <p:cNvSpPr>
            <a:spLocks noChangeArrowheads="1"/>
          </p:cNvSpPr>
          <p:nvPr/>
        </p:nvSpPr>
        <p:spPr bwMode="auto">
          <a:xfrm>
            <a:off x="5256212" y="4202026"/>
            <a:ext cx="1187450" cy="369974"/>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Customer Contracts Mgmt</a:t>
            </a:r>
            <a:endParaRPr lang="en-US" sz="900" b="1" dirty="0">
              <a:solidFill>
                <a:srgbClr val="000000"/>
              </a:solidFill>
            </a:endParaRPr>
          </a:p>
        </p:txBody>
      </p:sp>
      <p:sp>
        <p:nvSpPr>
          <p:cNvPr id="34" name="Rectangle 13"/>
          <p:cNvSpPr>
            <a:spLocks noChangeArrowheads="1"/>
          </p:cNvSpPr>
          <p:nvPr/>
        </p:nvSpPr>
        <p:spPr bwMode="auto">
          <a:xfrm>
            <a:off x="1885155" y="2816525"/>
            <a:ext cx="1187450" cy="231475"/>
          </a:xfrm>
          <a:prstGeom prst="rect">
            <a:avLst/>
          </a:prstGeom>
          <a:solidFill>
            <a:srgbClr val="92D050"/>
          </a:solidFill>
          <a:ln w="9525" algn="ctr">
            <a:noFill/>
            <a:round/>
            <a:headEnd/>
            <a:tailEnd/>
          </a:ln>
        </p:spPr>
        <p:txBody>
          <a:bodyPr lIns="92075" tIns="46038" rIns="92075" bIns="46038">
            <a:spAutoFit/>
          </a:bodyPr>
          <a:lstStyle/>
          <a:p>
            <a:pPr marL="119063" indent="-119063" algn="ctr"/>
            <a:r>
              <a:rPr lang="nb-NO" sz="900" b="1" dirty="0">
                <a:solidFill>
                  <a:srgbClr val="000000"/>
                </a:solidFill>
              </a:rPr>
              <a:t>Sales Forcasting</a:t>
            </a:r>
            <a:endParaRPr lang="en-US" sz="900" b="1" dirty="0">
              <a:solidFill>
                <a:srgbClr val="000000"/>
              </a:solidFill>
            </a:endParaRPr>
          </a:p>
        </p:txBody>
      </p:sp>
      <p:sp>
        <p:nvSpPr>
          <p:cNvPr id="39" name="Rectangle 38"/>
          <p:cNvSpPr/>
          <p:nvPr/>
        </p:nvSpPr>
        <p:spPr>
          <a:xfrm>
            <a:off x="1598612" y="3505200"/>
            <a:ext cx="1676400" cy="14478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0" name="Rectangle 39"/>
          <p:cNvSpPr/>
          <p:nvPr/>
        </p:nvSpPr>
        <p:spPr>
          <a:xfrm>
            <a:off x="1598612" y="2209800"/>
            <a:ext cx="1676400" cy="1219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1" name="Rectangle 40"/>
          <p:cNvSpPr/>
          <p:nvPr/>
        </p:nvSpPr>
        <p:spPr>
          <a:xfrm>
            <a:off x="5103812" y="2209800"/>
            <a:ext cx="1676400" cy="25146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2" name="Rectangle 41"/>
          <p:cNvSpPr/>
          <p:nvPr/>
        </p:nvSpPr>
        <p:spPr>
          <a:xfrm>
            <a:off x="3351212" y="2209800"/>
            <a:ext cx="1676400" cy="1219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3" name="Rectangle 42"/>
          <p:cNvSpPr/>
          <p:nvPr/>
        </p:nvSpPr>
        <p:spPr>
          <a:xfrm>
            <a:off x="3351212" y="3505200"/>
            <a:ext cx="1676400" cy="1981200"/>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b="1" dirty="0">
              <a:solidFill>
                <a:srgbClr val="000000"/>
              </a:solidFill>
            </a:endParaRPr>
          </a:p>
        </p:txBody>
      </p:sp>
      <p:sp>
        <p:nvSpPr>
          <p:cNvPr id="44" name="Rounded Rectangle 43"/>
          <p:cNvSpPr/>
          <p:nvPr/>
        </p:nvSpPr>
        <p:spPr>
          <a:xfrm>
            <a:off x="531812" y="1600200"/>
            <a:ext cx="7086600" cy="4343400"/>
          </a:xfrm>
          <a:prstGeom prst="roundRect">
            <a:avLst/>
          </a:prstGeom>
          <a:noFill/>
          <a:ln w="254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
        <p:nvSpPr>
          <p:cNvPr id="36" name="TextBox 31"/>
          <p:cNvSpPr txBox="1">
            <a:spLocks noChangeArrowheads="1"/>
          </p:cNvSpPr>
          <p:nvPr/>
        </p:nvSpPr>
        <p:spPr bwMode="auto">
          <a:xfrm>
            <a:off x="8304212" y="2362200"/>
            <a:ext cx="1980029" cy="1200329"/>
          </a:xfrm>
          <a:prstGeom prst="rect">
            <a:avLst/>
          </a:prstGeom>
          <a:noFill/>
          <a:ln w="9525">
            <a:noFill/>
            <a:miter lim="800000"/>
            <a:headEnd/>
            <a:tailEnd/>
          </a:ln>
          <a:scene3d>
            <a:camera prst="orthographicFront"/>
            <a:lightRig rig="threePt" dir="t"/>
          </a:scene3d>
          <a:sp3d>
            <a:bevelT/>
          </a:sp3d>
        </p:spPr>
        <p:txBody>
          <a:bodyPr wrap="none">
            <a:spAutoFit/>
          </a:bodyPr>
          <a:lstStyle/>
          <a:p>
            <a:pPr>
              <a:defRPr/>
            </a:pPr>
            <a:r>
              <a:rPr lang="nb-NO" dirty="0" smtClean="0">
                <a:latin typeface="Arial" pitchFamily="34" charset="0"/>
              </a:rPr>
              <a:t>Reduce Cost </a:t>
            </a:r>
          </a:p>
          <a:p>
            <a:pPr>
              <a:defRPr/>
            </a:pPr>
            <a:r>
              <a:rPr lang="nb-NO" dirty="0" smtClean="0">
                <a:latin typeface="Arial" pitchFamily="34" charset="0"/>
              </a:rPr>
              <a:t>Differentiating</a:t>
            </a:r>
          </a:p>
          <a:p>
            <a:pPr>
              <a:defRPr/>
            </a:pPr>
            <a:r>
              <a:rPr lang="nb-NO" dirty="0" smtClean="0">
                <a:latin typeface="Arial" pitchFamily="34" charset="0"/>
              </a:rPr>
              <a:t>Process Reliance</a:t>
            </a:r>
          </a:p>
          <a:p>
            <a:pPr>
              <a:defRPr/>
            </a:pPr>
            <a:r>
              <a:rPr lang="nb-NO" dirty="0" smtClean="0">
                <a:latin typeface="Arial" pitchFamily="34" charset="0"/>
              </a:rPr>
              <a:t>IT Reliance</a:t>
            </a:r>
            <a:endParaRPr lang="nb-NO" dirty="0">
              <a:latin typeface="Arial" pitchFamily="34" charset="0"/>
            </a:endParaRPr>
          </a:p>
        </p:txBody>
      </p:sp>
      <p:sp>
        <p:nvSpPr>
          <p:cNvPr id="35" name="Rectangle 34"/>
          <p:cNvSpPr/>
          <p:nvPr/>
        </p:nvSpPr>
        <p:spPr>
          <a:xfrm>
            <a:off x="10666412" y="2514600"/>
            <a:ext cx="533400" cy="152400"/>
          </a:xfrm>
          <a:prstGeom prst="rect">
            <a:avLst/>
          </a:prstGeom>
          <a:solidFill>
            <a:srgbClr val="FFC000"/>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
        <p:nvSpPr>
          <p:cNvPr id="37" name="Rectangle 36"/>
          <p:cNvSpPr/>
          <p:nvPr/>
        </p:nvSpPr>
        <p:spPr>
          <a:xfrm>
            <a:off x="10666412" y="2743200"/>
            <a:ext cx="533400" cy="152400"/>
          </a:xfrm>
          <a:prstGeom prst="rect">
            <a:avLst/>
          </a:prstGeom>
          <a:solidFill>
            <a:srgbClr val="00B0F0"/>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
        <p:nvSpPr>
          <p:cNvPr id="38" name="Rectangle 37"/>
          <p:cNvSpPr/>
          <p:nvPr/>
        </p:nvSpPr>
        <p:spPr>
          <a:xfrm>
            <a:off x="10666412" y="2971800"/>
            <a:ext cx="533400" cy="152400"/>
          </a:xfrm>
          <a:prstGeom prst="rect">
            <a:avLst/>
          </a:prstGeom>
          <a:solidFill>
            <a:schemeClr val="accent1">
              <a:lumMod val="40000"/>
              <a:lumOff val="60000"/>
            </a:schemeClr>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
        <p:nvSpPr>
          <p:cNvPr id="45" name="Rectangle 44"/>
          <p:cNvSpPr/>
          <p:nvPr/>
        </p:nvSpPr>
        <p:spPr>
          <a:xfrm>
            <a:off x="10666412" y="3276600"/>
            <a:ext cx="533400" cy="152400"/>
          </a:xfrm>
          <a:prstGeom prst="rect">
            <a:avLst/>
          </a:prstGeom>
          <a:solidFill>
            <a:srgbClr val="FFFF00"/>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Detailing &lt;Capability Name&gt; Capability</a:t>
            </a:r>
            <a:endParaRPr lang="en-US" dirty="0"/>
          </a:p>
        </p:txBody>
      </p:sp>
      <p:sp>
        <p:nvSpPr>
          <p:cNvPr id="5" name="Rectangle 33"/>
          <p:cNvSpPr>
            <a:spLocks noChangeArrowheads="1"/>
          </p:cNvSpPr>
          <p:nvPr/>
        </p:nvSpPr>
        <p:spPr bwMode="auto">
          <a:xfrm>
            <a:off x="2919405" y="1777874"/>
            <a:ext cx="1690688" cy="259175"/>
          </a:xfrm>
          <a:prstGeom prst="rect">
            <a:avLst/>
          </a:prstGeom>
          <a:solidFill>
            <a:srgbClr val="92D050"/>
          </a:solidFill>
          <a:ln w="9525" algn="ctr">
            <a:noFill/>
            <a:round/>
            <a:headEnd/>
            <a:tailEnd/>
          </a:ln>
          <a:scene3d>
            <a:camera prst="orthographicFront"/>
            <a:lightRig rig="threePt" dir="t"/>
          </a:scene3d>
          <a:sp3d>
            <a:bevelT/>
          </a:sp3d>
        </p:spPr>
        <p:txBody>
          <a:bodyPr lIns="92075" tIns="46038" rIns="92075" bIns="46038">
            <a:spAutoFit/>
          </a:bodyPr>
          <a:lstStyle/>
          <a:p>
            <a:pPr marL="119063" indent="-119063">
              <a:defRPr/>
            </a:pPr>
            <a:r>
              <a:rPr lang="nb-NO" sz="1200" dirty="0" smtClean="0"/>
              <a:t>Capability Name</a:t>
            </a:r>
            <a:endParaRPr lang="en-US" sz="1200" dirty="0"/>
          </a:p>
        </p:txBody>
      </p:sp>
      <p:sp>
        <p:nvSpPr>
          <p:cNvPr id="6" name="Rectangle 41"/>
          <p:cNvSpPr>
            <a:spLocks noChangeArrowheads="1"/>
          </p:cNvSpPr>
          <p:nvPr/>
        </p:nvSpPr>
        <p:spPr bwMode="auto">
          <a:xfrm>
            <a:off x="4675243" y="1789774"/>
            <a:ext cx="5478536" cy="871008"/>
          </a:xfrm>
          <a:prstGeom prst="rect">
            <a:avLst/>
          </a:prstGeom>
          <a:solidFill>
            <a:srgbClr val="92D050"/>
          </a:solidFill>
          <a:ln w="9525">
            <a:noFill/>
            <a:miter lim="800000"/>
            <a:headEnd/>
            <a:tailEnd/>
          </a:ln>
          <a:scene3d>
            <a:camera prst="orthographicFront"/>
            <a:lightRig rig="threePt" dir="t"/>
          </a:scene3d>
          <a:sp3d>
            <a:bevelT/>
          </a:sp3d>
        </p:spPr>
        <p:txBody>
          <a:bodyPr>
            <a:spAutoFit/>
          </a:bodyPr>
          <a:lstStyle/>
          <a:p>
            <a:pPr>
              <a:defRPr/>
            </a:pPr>
            <a:r>
              <a:rPr lang="nb-NO" sz="1100" dirty="0" smtClean="0"/>
              <a:t>Capability Description, explaining as well as possible the scope of the capability</a:t>
            </a:r>
          </a:p>
          <a:p>
            <a:pPr>
              <a:defRPr/>
            </a:pPr>
            <a:endParaRPr lang="nb-NO" sz="1100" dirty="0" smtClean="0"/>
          </a:p>
          <a:p>
            <a:pPr>
              <a:defRPr/>
            </a:pPr>
            <a:endParaRPr lang="en-US" sz="1100" dirty="0"/>
          </a:p>
        </p:txBody>
      </p:sp>
      <p:sp>
        <p:nvSpPr>
          <p:cNvPr id="7" name="TextBox 14"/>
          <p:cNvSpPr txBox="1">
            <a:spLocks noChangeArrowheads="1"/>
          </p:cNvSpPr>
          <p:nvPr/>
        </p:nvSpPr>
        <p:spPr bwMode="auto">
          <a:xfrm>
            <a:off x="1835966" y="2527762"/>
            <a:ext cx="1665288" cy="258763"/>
          </a:xfrm>
          <a:prstGeom prst="rect">
            <a:avLst/>
          </a:prstGeom>
          <a:solidFill>
            <a:srgbClr val="FFFF99"/>
          </a:solidFill>
          <a:ln w="9525">
            <a:solidFill>
              <a:schemeClr val="accent1"/>
            </a:solidFill>
            <a:miter lim="800000"/>
            <a:headEnd/>
            <a:tailEnd/>
          </a:ln>
          <a:scene3d>
            <a:camera prst="orthographicFront"/>
            <a:lightRig rig="threePt" dir="t"/>
          </a:scene3d>
          <a:sp3d>
            <a:bevelT/>
          </a:sp3d>
        </p:spPr>
        <p:txBody>
          <a:bodyPr wrap="none">
            <a:spAutoFit/>
          </a:bodyPr>
          <a:lstStyle/>
          <a:p>
            <a:pPr>
              <a:defRPr/>
            </a:pPr>
            <a:r>
              <a:rPr lang="nb-NO" sz="1200" dirty="0"/>
              <a:t>Capability attributes</a:t>
            </a:r>
            <a:endParaRPr lang="en-US" sz="1200" dirty="0"/>
          </a:p>
        </p:txBody>
      </p:sp>
      <p:graphicFrame>
        <p:nvGraphicFramePr>
          <p:cNvPr id="8" name="Table 7"/>
          <p:cNvGraphicFramePr>
            <a:graphicFrameLocks noGrp="1"/>
          </p:cNvGraphicFramePr>
          <p:nvPr/>
        </p:nvGraphicFramePr>
        <p:xfrm>
          <a:off x="1316421" y="2849436"/>
          <a:ext cx="8892791" cy="2713164"/>
        </p:xfrm>
        <a:graphic>
          <a:graphicData uri="http://schemas.openxmlformats.org/drawingml/2006/table">
            <a:tbl>
              <a:tblPr firstRow="1" bandRow="1">
                <a:tableStyleId>{5C22544A-7EE6-4342-B048-85BDC9FD1C3A}</a:tableStyleId>
              </a:tblPr>
              <a:tblGrid>
                <a:gridCol w="1623317"/>
                <a:gridCol w="2044557"/>
                <a:gridCol w="1726059"/>
                <a:gridCol w="1736332"/>
                <a:gridCol w="1762526"/>
              </a:tblGrid>
              <a:tr h="266448">
                <a:tc>
                  <a:txBody>
                    <a:bodyPr/>
                    <a:lstStyle/>
                    <a:p>
                      <a:r>
                        <a:rPr lang="nb-NO" sz="1100" dirty="0" smtClean="0">
                          <a:solidFill>
                            <a:schemeClr val="tx1"/>
                          </a:solidFill>
                        </a:rPr>
                        <a:t>Processes</a:t>
                      </a:r>
                      <a:endParaRPr lang="en-US" sz="1100" dirty="0">
                        <a:solidFill>
                          <a:schemeClr val="tx1"/>
                        </a:solidFill>
                      </a:endParaRPr>
                    </a:p>
                  </a:txBody>
                  <a:tcPr>
                    <a:solidFill>
                      <a:srgbClr val="92D050"/>
                    </a:solidFill>
                  </a:tcPr>
                </a:tc>
                <a:tc>
                  <a:txBody>
                    <a:bodyPr/>
                    <a:lstStyle/>
                    <a:p>
                      <a:r>
                        <a:rPr lang="nb-NO" sz="1100" dirty="0" smtClean="0">
                          <a:solidFill>
                            <a:schemeClr val="tx1"/>
                          </a:solidFill>
                        </a:rPr>
                        <a:t>Function</a:t>
                      </a:r>
                      <a:endParaRPr lang="en-US" sz="1100" dirty="0">
                        <a:solidFill>
                          <a:schemeClr val="tx1"/>
                        </a:solidFill>
                      </a:endParaRPr>
                    </a:p>
                  </a:txBody>
                  <a:tcPr>
                    <a:solidFill>
                      <a:srgbClr val="92D050"/>
                    </a:solidFill>
                  </a:tcPr>
                </a:tc>
                <a:tc>
                  <a:txBody>
                    <a:bodyPr/>
                    <a:lstStyle/>
                    <a:p>
                      <a:r>
                        <a:rPr lang="nb-NO" sz="1100" dirty="0" smtClean="0">
                          <a:solidFill>
                            <a:schemeClr val="tx1"/>
                          </a:solidFill>
                        </a:rPr>
                        <a:t>Information</a:t>
                      </a:r>
                      <a:endParaRPr lang="en-US" sz="1100" dirty="0">
                        <a:solidFill>
                          <a:schemeClr val="tx1"/>
                        </a:solidFill>
                      </a:endParaRPr>
                    </a:p>
                  </a:txBody>
                  <a:tcPr>
                    <a:solidFill>
                      <a:srgbClr val="92D050"/>
                    </a:solidFill>
                  </a:tcPr>
                </a:tc>
                <a:tc>
                  <a:txBody>
                    <a:bodyPr/>
                    <a:lstStyle/>
                    <a:p>
                      <a:r>
                        <a:rPr lang="nb-NO" sz="1100" dirty="0" smtClean="0">
                          <a:solidFill>
                            <a:schemeClr val="tx1"/>
                          </a:solidFill>
                        </a:rPr>
                        <a:t>Service Level/</a:t>
                      </a:r>
                      <a:br>
                        <a:rPr lang="nb-NO" sz="1100" dirty="0" smtClean="0">
                          <a:solidFill>
                            <a:schemeClr val="tx1"/>
                          </a:solidFill>
                        </a:rPr>
                      </a:br>
                      <a:r>
                        <a:rPr lang="nb-NO" sz="1100" dirty="0" smtClean="0">
                          <a:solidFill>
                            <a:schemeClr val="tx1"/>
                          </a:solidFill>
                        </a:rPr>
                        <a:t>Availability</a:t>
                      </a:r>
                      <a:endParaRPr lang="en-US" sz="1100" dirty="0">
                        <a:solidFill>
                          <a:schemeClr val="tx1"/>
                        </a:solidFill>
                      </a:endParaRPr>
                    </a:p>
                  </a:txBody>
                  <a:tcPr>
                    <a:solidFill>
                      <a:srgbClr val="92D050"/>
                    </a:solidFill>
                  </a:tcPr>
                </a:tc>
                <a:tc>
                  <a:txBody>
                    <a:bodyPr/>
                    <a:lstStyle/>
                    <a:p>
                      <a:r>
                        <a:rPr lang="nb-NO" sz="1100" dirty="0" smtClean="0">
                          <a:solidFill>
                            <a:schemeClr val="tx1"/>
                          </a:solidFill>
                        </a:rPr>
                        <a:t>Security</a:t>
                      </a:r>
                      <a:endParaRPr lang="en-US" sz="1100" dirty="0">
                        <a:solidFill>
                          <a:schemeClr val="tx1"/>
                        </a:solidFill>
                      </a:endParaRPr>
                    </a:p>
                  </a:txBody>
                  <a:tcPr>
                    <a:solidFill>
                      <a:srgbClr val="92D050"/>
                    </a:solidFill>
                  </a:tcPr>
                </a:tc>
              </a:tr>
              <a:tr h="606108">
                <a:tc>
                  <a:txBody>
                    <a:bodyPr/>
                    <a:lstStyle/>
                    <a:p>
                      <a:pPr>
                        <a:buFont typeface="Arial" pitchFamily="34" charset="0"/>
                        <a:buNone/>
                      </a:pPr>
                      <a:endParaRPr lang="en-US" sz="1100" dirty="0"/>
                    </a:p>
                  </a:txBody>
                  <a:tcPr>
                    <a:solidFill>
                      <a:srgbClr val="D4ECBA"/>
                    </a:solidFill>
                  </a:tcPr>
                </a:tc>
                <a:tc>
                  <a:txBody>
                    <a:bodyPr/>
                    <a:lstStyle/>
                    <a:p>
                      <a:pPr>
                        <a:buFont typeface="Arial" pitchFamily="34" charset="0"/>
                        <a:buNone/>
                      </a:pPr>
                      <a:endParaRPr lang="nb-NO" sz="1100" dirty="0" smtClean="0"/>
                    </a:p>
                    <a:p>
                      <a:pPr>
                        <a:buFont typeface="Arial" pitchFamily="34" charset="0"/>
                        <a:buNone/>
                      </a:pPr>
                      <a:endParaRPr lang="nb-NO" sz="1100" dirty="0" smtClean="0"/>
                    </a:p>
                    <a:p>
                      <a:pPr>
                        <a:buFont typeface="Arial" pitchFamily="34" charset="0"/>
                        <a:buNone/>
                      </a:pPr>
                      <a:endParaRPr lang="nb-NO" sz="1100" dirty="0" smtClean="0"/>
                    </a:p>
                    <a:p>
                      <a:pPr>
                        <a:buFont typeface="Arial" pitchFamily="34" charset="0"/>
                        <a:buNone/>
                      </a:pPr>
                      <a:endParaRPr lang="nb-NO" sz="1100" dirty="0" smtClean="0"/>
                    </a:p>
                    <a:p>
                      <a:pPr>
                        <a:buFont typeface="Arial" pitchFamily="34" charset="0"/>
                        <a:buNone/>
                      </a:pPr>
                      <a:endParaRPr lang="nb-NO" sz="1100" dirty="0" smtClean="0"/>
                    </a:p>
                    <a:p>
                      <a:pPr>
                        <a:buFont typeface="Arial" pitchFamily="34" charset="0"/>
                        <a:buNone/>
                      </a:pPr>
                      <a:endParaRPr lang="nb-NO" sz="1100" dirty="0" smtClean="0"/>
                    </a:p>
                    <a:p>
                      <a:pPr>
                        <a:buFont typeface="Arial" pitchFamily="34" charset="0"/>
                        <a:buNone/>
                      </a:pPr>
                      <a:endParaRPr lang="en-US" sz="1100" dirty="0" smtClean="0"/>
                    </a:p>
                  </a:txBody>
                  <a:tcPr>
                    <a:solidFill>
                      <a:srgbClr val="D4ECBA"/>
                    </a:solidFill>
                  </a:tcPr>
                </a:tc>
                <a:tc>
                  <a:txBody>
                    <a:bodyPr/>
                    <a:lstStyle/>
                    <a:p>
                      <a:pPr>
                        <a:buFont typeface="Arial" pitchFamily="34" charset="0"/>
                        <a:buNone/>
                      </a:pPr>
                      <a:endParaRPr lang="nb-NO" sz="1100" dirty="0" smtClean="0"/>
                    </a:p>
                  </a:txBody>
                  <a:tcPr>
                    <a:solidFill>
                      <a:srgbClr val="D4ECBA"/>
                    </a:solidFill>
                  </a:tcPr>
                </a:tc>
                <a:tc>
                  <a:txBody>
                    <a:bodyPr/>
                    <a:lstStyle/>
                    <a:p>
                      <a:pPr>
                        <a:buFont typeface="Arial" pitchFamily="34" charset="0"/>
                        <a:buNone/>
                      </a:pPr>
                      <a:endParaRPr lang="nb-NO" sz="1100" dirty="0" smtClean="0"/>
                    </a:p>
                  </a:txBody>
                  <a:tcPr>
                    <a:solidFill>
                      <a:srgbClr val="D4ECBA"/>
                    </a:solidFill>
                  </a:tcPr>
                </a:tc>
                <a:tc>
                  <a:txBody>
                    <a:bodyPr/>
                    <a:lstStyle/>
                    <a:p>
                      <a:pPr>
                        <a:buFont typeface="Arial" pitchFamily="34" charset="0"/>
                        <a:buNone/>
                      </a:pPr>
                      <a:endParaRPr lang="nb-NO" sz="1100" dirty="0" smtClean="0"/>
                    </a:p>
                  </a:txBody>
                  <a:tcPr>
                    <a:solidFill>
                      <a:srgbClr val="D4ECBA"/>
                    </a:solidFill>
                  </a:tcPr>
                </a:tc>
              </a:tr>
              <a:tr h="25952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b-NO" sz="1100" b="1" kern="1200" dirty="0" smtClean="0">
                          <a:solidFill>
                            <a:schemeClr val="tx1"/>
                          </a:solidFill>
                          <a:latin typeface="+mn-lt"/>
                          <a:ea typeface="+mn-ea"/>
                          <a:cs typeface="+mn-cs"/>
                        </a:rPr>
                        <a:t>Business Goals</a:t>
                      </a:r>
                      <a:endParaRPr lang="en-US" sz="1100" b="1" kern="1200" dirty="0" smtClean="0">
                        <a:solidFill>
                          <a:schemeClr val="tx1"/>
                        </a:solidFill>
                        <a:latin typeface="+mn-lt"/>
                        <a:ea typeface="+mn-ea"/>
                        <a:cs typeface="+mn-cs"/>
                      </a:endParaRPr>
                    </a:p>
                  </a:txBody>
                  <a:tcPr>
                    <a:solidFill>
                      <a:srgbClr val="92D050"/>
                    </a:solidFill>
                  </a:tcPr>
                </a:tc>
                <a:tc>
                  <a:txBody>
                    <a:bodyPr/>
                    <a:lstStyle/>
                    <a:p>
                      <a:r>
                        <a:rPr lang="nb-NO" sz="1100" b="1" kern="1200" dirty="0" smtClean="0">
                          <a:solidFill>
                            <a:schemeClr val="tx1"/>
                          </a:solidFill>
                          <a:latin typeface="+mn-lt"/>
                          <a:ea typeface="+mn-ea"/>
                          <a:cs typeface="+mn-cs"/>
                        </a:rPr>
                        <a:t>Metrics</a:t>
                      </a:r>
                      <a:endParaRPr lang="en-US" sz="1100" b="1" kern="1200" dirty="0" smtClean="0">
                        <a:solidFill>
                          <a:schemeClr val="tx1"/>
                        </a:solidFill>
                        <a:latin typeface="+mn-lt"/>
                        <a:ea typeface="+mn-ea"/>
                        <a:cs typeface="+mn-cs"/>
                      </a:endParaRPr>
                    </a:p>
                  </a:txBody>
                  <a:tcPr>
                    <a:solidFill>
                      <a:srgbClr val="92D050"/>
                    </a:solidFill>
                  </a:tcPr>
                </a:tc>
                <a:tc>
                  <a:txBody>
                    <a:bodyPr/>
                    <a:lstStyle/>
                    <a:p>
                      <a:r>
                        <a:rPr lang="nb-NO" sz="1100" b="1" kern="1200" dirty="0" smtClean="0">
                          <a:solidFill>
                            <a:schemeClr val="tx1"/>
                          </a:solidFill>
                          <a:latin typeface="+mn-lt"/>
                          <a:ea typeface="+mn-ea"/>
                          <a:cs typeface="+mn-cs"/>
                        </a:rPr>
                        <a:t>Current Issues</a:t>
                      </a:r>
                      <a:endParaRPr lang="en-US" sz="1100" b="1" kern="1200" dirty="0" smtClean="0">
                        <a:solidFill>
                          <a:schemeClr val="tx1"/>
                        </a:solidFill>
                        <a:latin typeface="+mn-lt"/>
                        <a:ea typeface="+mn-ea"/>
                        <a:cs typeface="+mn-cs"/>
                      </a:endParaRPr>
                    </a:p>
                  </a:txBody>
                  <a:tcPr>
                    <a:solidFill>
                      <a:srgbClr val="92D050"/>
                    </a:solidFill>
                  </a:tcPr>
                </a:tc>
                <a:tc>
                  <a:txBody>
                    <a:bodyPr/>
                    <a:lstStyle/>
                    <a:p>
                      <a:r>
                        <a:rPr lang="nb-NO" sz="1100" b="1" kern="1200" dirty="0" smtClean="0">
                          <a:solidFill>
                            <a:schemeClr val="tx1"/>
                          </a:solidFill>
                          <a:latin typeface="+mn-lt"/>
                          <a:ea typeface="+mn-ea"/>
                          <a:cs typeface="+mn-cs"/>
                        </a:rPr>
                        <a:t>Performance </a:t>
                      </a:r>
                      <a:endParaRPr lang="en-US" sz="1100" b="1" kern="1200" dirty="0" smtClean="0">
                        <a:solidFill>
                          <a:schemeClr val="tx1"/>
                        </a:solidFill>
                        <a:latin typeface="+mn-lt"/>
                        <a:ea typeface="+mn-ea"/>
                        <a:cs typeface="+mn-cs"/>
                      </a:endParaRPr>
                    </a:p>
                  </a:txBody>
                  <a:tcPr>
                    <a:solidFill>
                      <a:srgbClr val="92D050"/>
                    </a:solidFill>
                  </a:tcPr>
                </a:tc>
                <a:tc>
                  <a:txBody>
                    <a:bodyPr/>
                    <a:lstStyle/>
                    <a:p>
                      <a:r>
                        <a:rPr lang="nb-NO" sz="1100" b="1" kern="1200" dirty="0" smtClean="0">
                          <a:solidFill>
                            <a:schemeClr val="tx1"/>
                          </a:solidFill>
                          <a:latin typeface="+mn-lt"/>
                          <a:ea typeface="+mn-ea"/>
                          <a:cs typeface="+mn-cs"/>
                        </a:rPr>
                        <a:t>Owned By (business)</a:t>
                      </a:r>
                      <a:endParaRPr lang="en-US" sz="1100" b="1" kern="1200" dirty="0" smtClean="0">
                        <a:solidFill>
                          <a:schemeClr val="tx1"/>
                        </a:solidFill>
                        <a:latin typeface="+mn-lt"/>
                        <a:ea typeface="+mn-ea"/>
                        <a:cs typeface="+mn-cs"/>
                      </a:endParaRPr>
                    </a:p>
                  </a:txBody>
                  <a:tcPr>
                    <a:solidFill>
                      <a:srgbClr val="92D050"/>
                    </a:solidFill>
                  </a:tcPr>
                </a:tc>
              </a:tr>
              <a:tr h="606108">
                <a:tc>
                  <a:txBody>
                    <a:bodyPr/>
                    <a:lstStyle/>
                    <a:p>
                      <a:pPr marL="0" algn="l" defTabSz="914400" rtl="0" eaLnBrk="1" latinLnBrk="0" hangingPunct="1">
                        <a:buFont typeface="Arial" pitchFamily="34" charset="0"/>
                        <a:buNone/>
                      </a:pPr>
                      <a:endParaRPr lang="en-US" sz="1100" kern="1200" dirty="0">
                        <a:solidFill>
                          <a:schemeClr val="dk1"/>
                        </a:solidFill>
                        <a:latin typeface="+mn-lt"/>
                        <a:ea typeface="+mn-ea"/>
                        <a:cs typeface="+mn-cs"/>
                      </a:endParaRPr>
                    </a:p>
                  </a:txBody>
                  <a:tcPr>
                    <a:solidFill>
                      <a:srgbClr val="D4ECBA"/>
                    </a:solidFill>
                  </a:tcPr>
                </a:tc>
                <a:tc>
                  <a:txBody>
                    <a:bodyPr/>
                    <a:lstStyle/>
                    <a:p>
                      <a:pPr marL="0" algn="l" defTabSz="914400" rtl="0" eaLnBrk="1" latinLnBrk="0" hangingPunct="1">
                        <a:buFont typeface="Arial" pitchFamily="34" charset="0"/>
                        <a:buNone/>
                      </a:pPr>
                      <a:endParaRPr lang="nb-NO" sz="1100" kern="1200" baseline="0" dirty="0" smtClean="0">
                        <a:solidFill>
                          <a:schemeClr val="dk1"/>
                        </a:solidFill>
                        <a:latin typeface="+mn-lt"/>
                        <a:ea typeface="+mn-ea"/>
                        <a:cs typeface="+mn-cs"/>
                      </a:endParaRPr>
                    </a:p>
                    <a:p>
                      <a:pPr marL="0" algn="l" defTabSz="914400" rtl="0" eaLnBrk="1" latinLnBrk="0" hangingPunct="1">
                        <a:buFont typeface="Arial" pitchFamily="34" charset="0"/>
                        <a:buNone/>
                      </a:pPr>
                      <a:endParaRPr lang="en-US" sz="1100" kern="1200" dirty="0">
                        <a:solidFill>
                          <a:schemeClr val="dk1"/>
                        </a:solidFill>
                        <a:latin typeface="+mn-lt"/>
                        <a:ea typeface="+mn-ea"/>
                        <a:cs typeface="+mn-cs"/>
                      </a:endParaRPr>
                    </a:p>
                  </a:txBody>
                  <a:tcPr>
                    <a:solidFill>
                      <a:srgbClr val="D4ECBA"/>
                    </a:solidFill>
                  </a:tcPr>
                </a:tc>
                <a:tc>
                  <a:txBody>
                    <a:bodyPr/>
                    <a:lstStyle/>
                    <a:p>
                      <a:pPr marL="0" algn="l" defTabSz="914400" rtl="0" eaLnBrk="1" latinLnBrk="0" hangingPunct="1">
                        <a:buFont typeface="Arial" pitchFamily="34" charset="0"/>
                        <a:buChar char="•"/>
                      </a:pPr>
                      <a:endParaRPr lang="nb-NO" sz="1100" kern="1200" baseline="0" dirty="0" smtClean="0">
                        <a:solidFill>
                          <a:schemeClr val="dk1"/>
                        </a:solidFill>
                        <a:latin typeface="+mn-lt"/>
                        <a:ea typeface="+mn-ea"/>
                        <a:cs typeface="+mn-cs"/>
                      </a:endParaRPr>
                    </a:p>
                    <a:p>
                      <a:pPr marL="0" algn="l" defTabSz="914400" rtl="0" eaLnBrk="1" latinLnBrk="0" hangingPunct="1">
                        <a:buFont typeface="Arial" pitchFamily="34" charset="0"/>
                        <a:buChar char="•"/>
                      </a:pPr>
                      <a:endParaRPr lang="nb-NO" sz="1100" kern="1200" baseline="0" dirty="0" smtClean="0">
                        <a:solidFill>
                          <a:schemeClr val="dk1"/>
                        </a:solidFill>
                        <a:latin typeface="+mn-lt"/>
                        <a:ea typeface="+mn-ea"/>
                        <a:cs typeface="+mn-cs"/>
                      </a:endParaRPr>
                    </a:p>
                    <a:p>
                      <a:pPr marL="0" algn="l" defTabSz="914400" rtl="0" eaLnBrk="1" latinLnBrk="0" hangingPunct="1">
                        <a:buFont typeface="Arial" pitchFamily="34" charset="0"/>
                        <a:buChar char="•"/>
                      </a:pPr>
                      <a:endParaRPr lang="nb-NO" sz="1100" kern="1200" baseline="0" dirty="0" smtClean="0">
                        <a:solidFill>
                          <a:schemeClr val="dk1"/>
                        </a:solidFill>
                        <a:latin typeface="+mn-lt"/>
                        <a:ea typeface="+mn-ea"/>
                        <a:cs typeface="+mn-cs"/>
                      </a:endParaRPr>
                    </a:p>
                    <a:p>
                      <a:pPr marL="0" algn="l" defTabSz="914400" rtl="0" eaLnBrk="1" latinLnBrk="0" hangingPunct="1">
                        <a:buFont typeface="Arial" pitchFamily="34" charset="0"/>
                        <a:buChar char="•"/>
                      </a:pPr>
                      <a:endParaRPr lang="nb-NO" sz="1100" kern="1200" baseline="0" dirty="0" smtClean="0">
                        <a:solidFill>
                          <a:schemeClr val="dk1"/>
                        </a:solidFill>
                        <a:latin typeface="+mn-lt"/>
                        <a:ea typeface="+mn-ea"/>
                        <a:cs typeface="+mn-cs"/>
                      </a:endParaRPr>
                    </a:p>
                  </a:txBody>
                  <a:tcPr>
                    <a:solidFill>
                      <a:srgbClr val="D4ECBA"/>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nb-NO" sz="1100" kern="1200" baseline="0" dirty="0" smtClean="0">
                        <a:solidFill>
                          <a:schemeClr val="dk1"/>
                        </a:solidFill>
                        <a:latin typeface="+mn-lt"/>
                        <a:ea typeface="+mn-ea"/>
                        <a:cs typeface="+mn-cs"/>
                      </a:endParaRPr>
                    </a:p>
                  </a:txBody>
                  <a:tcPr>
                    <a:solidFill>
                      <a:srgbClr val="D4ECBA"/>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nb-NO" sz="1100" kern="1200" baseline="0" dirty="0" smtClean="0">
                        <a:solidFill>
                          <a:schemeClr val="dk1"/>
                        </a:solidFill>
                        <a:latin typeface="+mn-lt"/>
                        <a:ea typeface="+mn-ea"/>
                        <a:cs typeface="+mn-cs"/>
                      </a:endParaRPr>
                    </a:p>
                  </a:txBody>
                  <a:tcPr>
                    <a:solidFill>
                      <a:srgbClr val="D4ECBA"/>
                    </a:solidFill>
                  </a:tcPr>
                </a:tc>
              </a:tr>
            </a:tbl>
          </a:graphicData>
        </a:graphic>
      </p:graphicFrame>
      <p:sp>
        <p:nvSpPr>
          <p:cNvPr id="9" name="Rectangle 8"/>
          <p:cNvSpPr>
            <a:spLocks noChangeArrowheads="1"/>
          </p:cNvSpPr>
          <p:nvPr/>
        </p:nvSpPr>
        <p:spPr bwMode="auto">
          <a:xfrm>
            <a:off x="1325946" y="3289174"/>
            <a:ext cx="1617663" cy="262252"/>
          </a:xfrm>
          <a:prstGeom prst="rect">
            <a:avLst/>
          </a:prstGeom>
          <a:solidFill>
            <a:srgbClr val="D4ECBA"/>
          </a:solidFill>
          <a:ln w="9525" algn="ctr">
            <a:noFill/>
            <a:round/>
            <a:headEnd/>
            <a:tailEnd/>
          </a:ln>
        </p:spPr>
        <p:txBody>
          <a:bodyPr lIns="92075" tIns="46038" rIns="92075" bIns="46038">
            <a:spAutoFit/>
          </a:bodyPr>
          <a:lstStyle/>
          <a:p>
            <a:pPr algn="l">
              <a:lnSpc>
                <a:spcPct val="100000"/>
              </a:lnSpc>
              <a:spcBef>
                <a:spcPct val="0"/>
              </a:spcBef>
              <a:buClrTx/>
              <a:buFont typeface="Arial" charset="0"/>
              <a:buChar char="•"/>
            </a:pPr>
            <a:r>
              <a:rPr lang="nb-NO" sz="1100" b="0" dirty="0" smtClean="0">
                <a:solidFill>
                  <a:srgbClr val="000000"/>
                </a:solidFill>
              </a:rPr>
              <a:t> xyx</a:t>
            </a:r>
            <a:endParaRPr lang="en-US" sz="1100" b="0" dirty="0">
              <a:solidFill>
                <a:srgbClr val="000000"/>
              </a:solidFill>
            </a:endParaRPr>
          </a:p>
        </p:txBody>
      </p:sp>
      <p:sp>
        <p:nvSpPr>
          <p:cNvPr id="10" name="Rectangle 9"/>
          <p:cNvSpPr>
            <a:spLocks noChangeArrowheads="1"/>
          </p:cNvSpPr>
          <p:nvPr/>
        </p:nvSpPr>
        <p:spPr bwMode="auto">
          <a:xfrm>
            <a:off x="3003934" y="3270124"/>
            <a:ext cx="1909762" cy="262252"/>
          </a:xfrm>
          <a:prstGeom prst="rect">
            <a:avLst/>
          </a:prstGeom>
          <a:noFill/>
          <a:ln w="9525" algn="ctr">
            <a:noFill/>
            <a:round/>
            <a:headEnd/>
            <a:tailEnd/>
          </a:ln>
        </p:spPr>
        <p:txBody>
          <a:bodyPr lIns="92075" tIns="46038" rIns="92075" bIns="46038">
            <a:spAutoFit/>
          </a:bodyPr>
          <a:lstStyle/>
          <a:p>
            <a:pPr algn="l">
              <a:lnSpc>
                <a:spcPct val="100000"/>
              </a:lnSpc>
              <a:spcBef>
                <a:spcPct val="0"/>
              </a:spcBef>
              <a:buClrTx/>
              <a:buFont typeface="Arial" charset="0"/>
              <a:buChar char="•"/>
            </a:pPr>
            <a:r>
              <a:rPr lang="nb-NO" sz="1100" b="0" dirty="0" smtClean="0">
                <a:solidFill>
                  <a:srgbClr val="000000"/>
                </a:solidFill>
              </a:rPr>
              <a:t>xyx</a:t>
            </a:r>
            <a:endParaRPr lang="en-US" sz="1100" b="0" dirty="0">
              <a:solidFill>
                <a:srgbClr val="000000"/>
              </a:solidFill>
            </a:endParaRPr>
          </a:p>
        </p:txBody>
      </p:sp>
      <p:sp>
        <p:nvSpPr>
          <p:cNvPr id="11" name="Rectangle 9"/>
          <p:cNvSpPr>
            <a:spLocks noChangeArrowheads="1"/>
          </p:cNvSpPr>
          <p:nvPr/>
        </p:nvSpPr>
        <p:spPr bwMode="auto">
          <a:xfrm>
            <a:off x="5013709" y="3319336"/>
            <a:ext cx="1668462" cy="1025525"/>
          </a:xfrm>
          <a:prstGeom prst="rect">
            <a:avLst/>
          </a:prstGeom>
          <a:noFill/>
          <a:ln w="9525" algn="ctr">
            <a:noFill/>
            <a:round/>
            <a:headEnd/>
            <a:tailEnd/>
          </a:ln>
        </p:spPr>
        <p:txBody>
          <a:bodyPr lIns="92075" tIns="46038" rIns="92075" bIns="46038">
            <a:spAutoFit/>
          </a:bodyPr>
          <a:lstStyle/>
          <a:p>
            <a:pPr marL="119063" indent="-119063"/>
            <a:endParaRPr lang="en-US" dirty="0"/>
          </a:p>
        </p:txBody>
      </p:sp>
      <p:sp>
        <p:nvSpPr>
          <p:cNvPr id="12" name="Rectangle 10"/>
          <p:cNvSpPr>
            <a:spLocks noChangeArrowheads="1"/>
          </p:cNvSpPr>
          <p:nvPr/>
        </p:nvSpPr>
        <p:spPr bwMode="auto">
          <a:xfrm>
            <a:off x="5034346" y="3330449"/>
            <a:ext cx="1457325" cy="803275"/>
          </a:xfrm>
          <a:prstGeom prst="rect">
            <a:avLst/>
          </a:prstGeom>
          <a:noFill/>
          <a:ln w="9525" algn="ctr">
            <a:noFill/>
            <a:round/>
            <a:headEnd/>
            <a:tailEnd/>
          </a:ln>
        </p:spPr>
        <p:txBody>
          <a:bodyPr lIns="92075" tIns="46038" rIns="92075" bIns="46038">
            <a:spAutoFit/>
          </a:bodyPr>
          <a:lstStyle/>
          <a:p>
            <a:pPr marL="119063" indent="-119063"/>
            <a:endParaRPr lang="en-US" dirty="0"/>
          </a:p>
        </p:txBody>
      </p:sp>
      <p:sp>
        <p:nvSpPr>
          <p:cNvPr id="13" name="Rectangle 12"/>
          <p:cNvSpPr>
            <a:spLocks noChangeArrowheads="1"/>
          </p:cNvSpPr>
          <p:nvPr/>
        </p:nvSpPr>
        <p:spPr bwMode="auto">
          <a:xfrm>
            <a:off x="4969259" y="3265361"/>
            <a:ext cx="1420812" cy="261610"/>
          </a:xfrm>
          <a:prstGeom prst="rect">
            <a:avLst/>
          </a:prstGeom>
          <a:noFill/>
          <a:ln w="9525">
            <a:noFill/>
            <a:miter lim="800000"/>
            <a:headEnd/>
            <a:tailEnd/>
          </a:ln>
        </p:spPr>
        <p:txBody>
          <a:bodyPr>
            <a:spAutoFit/>
          </a:bodyPr>
          <a:lstStyle/>
          <a:p>
            <a:pPr algn="l">
              <a:lnSpc>
                <a:spcPct val="100000"/>
              </a:lnSpc>
              <a:spcBef>
                <a:spcPct val="0"/>
              </a:spcBef>
              <a:buClrTx/>
              <a:buFont typeface="Arial" charset="0"/>
              <a:buChar char="•"/>
            </a:pPr>
            <a:r>
              <a:rPr lang="nb-NO" sz="1100" b="0" dirty="0">
                <a:solidFill>
                  <a:srgbClr val="000000"/>
                </a:solidFill>
              </a:rPr>
              <a:t> </a:t>
            </a:r>
            <a:r>
              <a:rPr lang="nb-NO" sz="1100" b="0" dirty="0" smtClean="0">
                <a:solidFill>
                  <a:srgbClr val="000000"/>
                </a:solidFill>
              </a:rPr>
              <a:t>xyx</a:t>
            </a:r>
            <a:endParaRPr lang="nb-NO" sz="1100" b="0" dirty="0">
              <a:solidFill>
                <a:srgbClr val="000000"/>
              </a:solidFill>
            </a:endParaRPr>
          </a:p>
        </p:txBody>
      </p:sp>
      <p:sp>
        <p:nvSpPr>
          <p:cNvPr id="14" name="Rectangle 13"/>
          <p:cNvSpPr>
            <a:spLocks noChangeArrowheads="1"/>
          </p:cNvSpPr>
          <p:nvPr/>
        </p:nvSpPr>
        <p:spPr bwMode="auto">
          <a:xfrm>
            <a:off x="6707571" y="3254249"/>
            <a:ext cx="1441450" cy="261610"/>
          </a:xfrm>
          <a:prstGeom prst="rect">
            <a:avLst/>
          </a:prstGeom>
          <a:noFill/>
          <a:ln w="9525">
            <a:noFill/>
            <a:miter lim="800000"/>
            <a:headEnd/>
            <a:tailEnd/>
          </a:ln>
        </p:spPr>
        <p:txBody>
          <a:bodyPr>
            <a:spAutoFit/>
          </a:bodyPr>
          <a:lstStyle/>
          <a:p>
            <a:pPr algn="l">
              <a:lnSpc>
                <a:spcPct val="100000"/>
              </a:lnSpc>
              <a:spcBef>
                <a:spcPct val="0"/>
              </a:spcBef>
              <a:buClrTx/>
              <a:buFont typeface="Arial" charset="0"/>
              <a:buChar char="•"/>
            </a:pPr>
            <a:r>
              <a:rPr lang="nb-NO" sz="1100" b="0" dirty="0">
                <a:solidFill>
                  <a:srgbClr val="000000"/>
                </a:solidFill>
              </a:rPr>
              <a:t> </a:t>
            </a:r>
            <a:r>
              <a:rPr lang="nb-NO" sz="1100" b="0" dirty="0" smtClean="0">
                <a:solidFill>
                  <a:srgbClr val="000000"/>
                </a:solidFill>
              </a:rPr>
              <a:t>xyx</a:t>
            </a:r>
            <a:endParaRPr lang="nb-NO" sz="1100" b="0" dirty="0">
              <a:solidFill>
                <a:srgbClr val="000000"/>
              </a:solidFill>
            </a:endParaRPr>
          </a:p>
        </p:txBody>
      </p:sp>
      <p:sp>
        <p:nvSpPr>
          <p:cNvPr id="15" name="Rectangle 14"/>
          <p:cNvSpPr>
            <a:spLocks noChangeArrowheads="1"/>
          </p:cNvSpPr>
          <p:nvPr/>
        </p:nvSpPr>
        <p:spPr bwMode="auto">
          <a:xfrm>
            <a:off x="8479221" y="3284411"/>
            <a:ext cx="445956" cy="261610"/>
          </a:xfrm>
          <a:prstGeom prst="rect">
            <a:avLst/>
          </a:prstGeom>
          <a:noFill/>
          <a:ln w="9525">
            <a:noFill/>
            <a:miter lim="800000"/>
            <a:headEnd/>
            <a:tailEnd/>
          </a:ln>
        </p:spPr>
        <p:txBody>
          <a:bodyPr wrap="none">
            <a:spAutoFit/>
          </a:bodyPr>
          <a:lstStyle/>
          <a:p>
            <a:pPr algn="l">
              <a:lnSpc>
                <a:spcPct val="100000"/>
              </a:lnSpc>
              <a:spcBef>
                <a:spcPct val="0"/>
              </a:spcBef>
              <a:buClrTx/>
              <a:buFont typeface="Arial" charset="0"/>
              <a:buChar char="•"/>
            </a:pPr>
            <a:r>
              <a:rPr lang="nb-NO" sz="1100" b="0" dirty="0" smtClean="0">
                <a:solidFill>
                  <a:srgbClr val="000000"/>
                </a:solidFill>
              </a:rPr>
              <a:t>xyx</a:t>
            </a:r>
            <a:endParaRPr lang="nb-NO" sz="1100" b="0" dirty="0">
              <a:solidFill>
                <a:srgbClr val="000000"/>
              </a:solidFill>
            </a:endParaRPr>
          </a:p>
        </p:txBody>
      </p:sp>
      <p:sp>
        <p:nvSpPr>
          <p:cNvPr id="16" name="Rectangle 15"/>
          <p:cNvSpPr>
            <a:spLocks noChangeArrowheads="1"/>
          </p:cNvSpPr>
          <p:nvPr/>
        </p:nvSpPr>
        <p:spPr bwMode="auto">
          <a:xfrm>
            <a:off x="1316421" y="4787774"/>
            <a:ext cx="1603375" cy="261610"/>
          </a:xfrm>
          <a:prstGeom prst="rect">
            <a:avLst/>
          </a:prstGeom>
          <a:noFill/>
          <a:ln w="9525">
            <a:noFill/>
            <a:miter lim="800000"/>
            <a:headEnd/>
            <a:tailEnd/>
          </a:ln>
        </p:spPr>
        <p:txBody>
          <a:bodyPr>
            <a:spAutoFit/>
          </a:bodyPr>
          <a:lstStyle/>
          <a:p>
            <a:pPr algn="l">
              <a:lnSpc>
                <a:spcPct val="100000"/>
              </a:lnSpc>
              <a:spcBef>
                <a:spcPct val="0"/>
              </a:spcBef>
              <a:buClrTx/>
              <a:buFont typeface="Arial" charset="0"/>
              <a:buChar char="•"/>
            </a:pPr>
            <a:r>
              <a:rPr lang="nb-NO" sz="1100" b="0" dirty="0" smtClean="0">
                <a:solidFill>
                  <a:srgbClr val="000000"/>
                </a:solidFill>
              </a:rPr>
              <a:t>xyx</a:t>
            </a:r>
            <a:endParaRPr lang="nb-NO" sz="1100" b="0" dirty="0">
              <a:solidFill>
                <a:srgbClr val="000000"/>
              </a:solidFill>
            </a:endParaRPr>
          </a:p>
        </p:txBody>
      </p:sp>
      <p:sp>
        <p:nvSpPr>
          <p:cNvPr id="17" name="Rectangle 16"/>
          <p:cNvSpPr>
            <a:spLocks noChangeArrowheads="1"/>
          </p:cNvSpPr>
          <p:nvPr/>
        </p:nvSpPr>
        <p:spPr bwMode="auto">
          <a:xfrm>
            <a:off x="2969009" y="4787774"/>
            <a:ext cx="1984375" cy="261610"/>
          </a:xfrm>
          <a:prstGeom prst="rect">
            <a:avLst/>
          </a:prstGeom>
          <a:noFill/>
          <a:ln w="9525">
            <a:noFill/>
            <a:miter lim="800000"/>
            <a:headEnd/>
            <a:tailEnd/>
          </a:ln>
        </p:spPr>
        <p:txBody>
          <a:bodyPr>
            <a:spAutoFit/>
          </a:bodyPr>
          <a:lstStyle/>
          <a:p>
            <a:pPr algn="l">
              <a:lnSpc>
                <a:spcPct val="100000"/>
              </a:lnSpc>
              <a:spcBef>
                <a:spcPct val="0"/>
              </a:spcBef>
              <a:buClrTx/>
              <a:buFont typeface="Arial" charset="0"/>
              <a:buChar char="•"/>
            </a:pPr>
            <a:r>
              <a:rPr lang="nb-NO" sz="1100" b="0" dirty="0" smtClean="0">
                <a:solidFill>
                  <a:srgbClr val="000000"/>
                </a:solidFill>
              </a:rPr>
              <a:t>xyx</a:t>
            </a:r>
            <a:endParaRPr lang="en-US" sz="1100" b="0" dirty="0">
              <a:solidFill>
                <a:srgbClr val="000000"/>
              </a:solidFill>
            </a:endParaRPr>
          </a:p>
        </p:txBody>
      </p:sp>
      <p:sp>
        <p:nvSpPr>
          <p:cNvPr id="18" name="Rectangle 17"/>
          <p:cNvSpPr>
            <a:spLocks noChangeArrowheads="1"/>
          </p:cNvSpPr>
          <p:nvPr/>
        </p:nvSpPr>
        <p:spPr bwMode="auto">
          <a:xfrm>
            <a:off x="4942271" y="4822699"/>
            <a:ext cx="445956" cy="261610"/>
          </a:xfrm>
          <a:prstGeom prst="rect">
            <a:avLst/>
          </a:prstGeom>
          <a:noFill/>
          <a:ln w="9525">
            <a:noFill/>
            <a:miter lim="800000"/>
            <a:headEnd/>
            <a:tailEnd/>
          </a:ln>
        </p:spPr>
        <p:txBody>
          <a:bodyPr wrap="none">
            <a:spAutoFit/>
          </a:bodyPr>
          <a:lstStyle/>
          <a:p>
            <a:pPr algn="l">
              <a:lnSpc>
                <a:spcPct val="100000"/>
              </a:lnSpc>
              <a:spcBef>
                <a:spcPct val="0"/>
              </a:spcBef>
              <a:buClrTx/>
              <a:buFont typeface="Arial" charset="0"/>
              <a:buChar char="•"/>
            </a:pPr>
            <a:r>
              <a:rPr lang="nb-NO" sz="1100" b="0" dirty="0" smtClean="0">
                <a:solidFill>
                  <a:srgbClr val="000000"/>
                </a:solidFill>
              </a:rPr>
              <a:t>xyx</a:t>
            </a:r>
            <a:endParaRPr lang="nb-NO" sz="1100" b="0" dirty="0">
              <a:solidFill>
                <a:srgbClr val="000000"/>
              </a:solidFill>
            </a:endParaRPr>
          </a:p>
        </p:txBody>
      </p:sp>
      <p:sp>
        <p:nvSpPr>
          <p:cNvPr id="19" name="Rectangle 18"/>
          <p:cNvSpPr>
            <a:spLocks noChangeArrowheads="1"/>
          </p:cNvSpPr>
          <p:nvPr/>
        </p:nvSpPr>
        <p:spPr bwMode="auto">
          <a:xfrm>
            <a:off x="6698046" y="4803649"/>
            <a:ext cx="1712913" cy="261610"/>
          </a:xfrm>
          <a:prstGeom prst="rect">
            <a:avLst/>
          </a:prstGeom>
          <a:noFill/>
          <a:ln w="9525">
            <a:noFill/>
            <a:miter lim="800000"/>
            <a:headEnd/>
            <a:tailEnd/>
          </a:ln>
        </p:spPr>
        <p:txBody>
          <a:bodyPr>
            <a:spAutoFit/>
          </a:bodyPr>
          <a:lstStyle/>
          <a:p>
            <a:pPr algn="l">
              <a:lnSpc>
                <a:spcPct val="100000"/>
              </a:lnSpc>
              <a:spcBef>
                <a:spcPct val="0"/>
              </a:spcBef>
              <a:buClrTx/>
              <a:buFont typeface="Arial" charset="0"/>
              <a:buChar char="•"/>
            </a:pPr>
            <a:r>
              <a:rPr lang="nb-NO" sz="1100" b="0" dirty="0" smtClean="0">
                <a:solidFill>
                  <a:srgbClr val="000000"/>
                </a:solidFill>
              </a:rPr>
              <a:t>xyx</a:t>
            </a:r>
            <a:endParaRPr lang="nb-NO" sz="1100" b="0" dirty="0">
              <a:solidFill>
                <a:srgbClr val="000000"/>
              </a:solidFill>
            </a:endParaRPr>
          </a:p>
        </p:txBody>
      </p:sp>
      <p:sp>
        <p:nvSpPr>
          <p:cNvPr id="20" name="Rectangle 19"/>
          <p:cNvSpPr>
            <a:spLocks noChangeArrowheads="1"/>
          </p:cNvSpPr>
          <p:nvPr/>
        </p:nvSpPr>
        <p:spPr bwMode="auto">
          <a:xfrm>
            <a:off x="8489658" y="4822699"/>
            <a:ext cx="484427" cy="244682"/>
          </a:xfrm>
          <a:prstGeom prst="rect">
            <a:avLst/>
          </a:prstGeom>
          <a:noFill/>
          <a:ln w="9525">
            <a:noFill/>
            <a:miter lim="800000"/>
            <a:headEnd/>
            <a:tailEnd/>
          </a:ln>
        </p:spPr>
        <p:txBody>
          <a:bodyPr wrap="none">
            <a:spAutoFit/>
          </a:bodyPr>
          <a:lstStyle/>
          <a:p>
            <a:pPr algn="l">
              <a:buFont typeface="Arial" charset="0"/>
              <a:buChar char="•"/>
            </a:pPr>
            <a:r>
              <a:rPr lang="nb-NO" sz="1100" b="0" dirty="0">
                <a:solidFill>
                  <a:srgbClr val="000000"/>
                </a:solidFill>
              </a:rPr>
              <a:t> </a:t>
            </a:r>
            <a:r>
              <a:rPr lang="nb-NO" sz="1100" b="0" dirty="0" smtClean="0">
                <a:solidFill>
                  <a:srgbClr val="000000"/>
                </a:solidFill>
              </a:rPr>
              <a:t>xyx</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500"/>
                                        <p:tgtEl>
                                          <p:spTgt spid="10"/>
                                        </p:tgtEl>
                                      </p:cBhvr>
                                    </p:animEffect>
                                  </p:childTnLst>
                                </p:cTn>
                              </p:par>
                            </p:childTnLst>
                          </p:cTn>
                        </p:par>
                        <p:par>
                          <p:cTn id="23" fill="hold">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up)">
                                      <p:cBhvr>
                                        <p:cTn id="26" dur="500"/>
                                        <p:tgtEl>
                                          <p:spTgt spid="13"/>
                                        </p:tgtEl>
                                      </p:cBhvr>
                                    </p:animEffect>
                                  </p:childTnLst>
                                </p:cTn>
                              </p:par>
                            </p:childTnLst>
                          </p:cTn>
                        </p:par>
                        <p:par>
                          <p:cTn id="27" fill="hold">
                            <p:stCondLst>
                              <p:cond delay="1000"/>
                            </p:stCondLst>
                            <p:childTnLst>
                              <p:par>
                                <p:cTn id="28" presetID="22" presetClass="entr" presetSubtype="1"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up)">
                                      <p:cBhvr>
                                        <p:cTn id="30" dur="500"/>
                                        <p:tgtEl>
                                          <p:spTgt spid="14"/>
                                        </p:tgtEl>
                                      </p:cBhvr>
                                    </p:animEffect>
                                  </p:childTnLst>
                                </p:cTn>
                              </p:par>
                            </p:childTnLst>
                          </p:cTn>
                        </p:par>
                        <p:par>
                          <p:cTn id="31" fill="hold">
                            <p:stCondLst>
                              <p:cond delay="1500"/>
                            </p:stCondLst>
                            <p:childTnLst>
                              <p:par>
                                <p:cTn id="32" presetID="22" presetClass="entr" presetSubtype="1" fill="hold" grpId="0" nodeType="after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up)">
                                      <p:cBhvr>
                                        <p:cTn id="34" dur="500"/>
                                        <p:tgtEl>
                                          <p:spTgt spid="15"/>
                                        </p:tgtEl>
                                      </p:cBhvr>
                                    </p:animEffect>
                                  </p:childTnLst>
                                </p:cTn>
                              </p:par>
                            </p:childTnLst>
                          </p:cTn>
                        </p:par>
                        <p:par>
                          <p:cTn id="35" fill="hold">
                            <p:stCondLst>
                              <p:cond delay="2000"/>
                            </p:stCondLst>
                            <p:childTnLst>
                              <p:par>
                                <p:cTn id="36" presetID="22" presetClass="entr" presetSubtype="1"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up)">
                                      <p:cBhvr>
                                        <p:cTn id="38" dur="500"/>
                                        <p:tgtEl>
                                          <p:spTgt spid="16"/>
                                        </p:tgtEl>
                                      </p:cBhvr>
                                    </p:animEffect>
                                  </p:childTnLst>
                                </p:cTn>
                              </p:par>
                            </p:childTnLst>
                          </p:cTn>
                        </p:par>
                        <p:par>
                          <p:cTn id="39" fill="hold">
                            <p:stCondLst>
                              <p:cond delay="2500"/>
                            </p:stCondLst>
                            <p:childTnLst>
                              <p:par>
                                <p:cTn id="40" presetID="22" presetClass="entr" presetSubtype="1" fill="hold" grpId="0" nodeType="after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up)">
                                      <p:cBhvr>
                                        <p:cTn id="42" dur="500"/>
                                        <p:tgtEl>
                                          <p:spTgt spid="17"/>
                                        </p:tgtEl>
                                      </p:cBhvr>
                                    </p:animEffect>
                                  </p:childTnLst>
                                </p:cTn>
                              </p:par>
                            </p:childTnLst>
                          </p:cTn>
                        </p:par>
                        <p:par>
                          <p:cTn id="43" fill="hold">
                            <p:stCondLst>
                              <p:cond delay="3000"/>
                            </p:stCondLst>
                            <p:childTnLst>
                              <p:par>
                                <p:cTn id="44" presetID="22" presetClass="entr" presetSubtype="1"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up)">
                                      <p:cBhvr>
                                        <p:cTn id="46" dur="500"/>
                                        <p:tgtEl>
                                          <p:spTgt spid="18"/>
                                        </p:tgtEl>
                                      </p:cBhvr>
                                    </p:animEffect>
                                  </p:childTnLst>
                                </p:cTn>
                              </p:par>
                            </p:childTnLst>
                          </p:cTn>
                        </p:par>
                        <p:par>
                          <p:cTn id="47" fill="hold">
                            <p:stCondLst>
                              <p:cond delay="3500"/>
                            </p:stCondLst>
                            <p:childTnLst>
                              <p:par>
                                <p:cTn id="48" presetID="22" presetClass="entr" presetSubtype="1"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up)">
                                      <p:cBhvr>
                                        <p:cTn id="50" dur="500"/>
                                        <p:tgtEl>
                                          <p:spTgt spid="19"/>
                                        </p:tgtEl>
                                      </p:cBhvr>
                                    </p:animEffect>
                                  </p:childTnLst>
                                </p:cTn>
                              </p:par>
                            </p:childTnLst>
                          </p:cTn>
                        </p:par>
                        <p:par>
                          <p:cTn id="51" fill="hold">
                            <p:stCondLst>
                              <p:cond delay="4000"/>
                            </p:stCondLst>
                            <p:childTnLst>
                              <p:par>
                                <p:cTn id="52" presetID="22" presetClass="entr" presetSubtype="1" fill="hold" grpId="0"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up)">
                                      <p:cBhvr>
                                        <p:cTn id="5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3" grpId="0"/>
      <p:bldP spid="14" grpId="0"/>
      <p:bldP spid="15" grpId="0"/>
      <p:bldP spid="16" grpId="0"/>
      <p:bldP spid="17" grpId="0"/>
      <p:bldP spid="18" grpId="0"/>
      <p:bldP spid="19"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Detailing Customer Service Capabilities</a:t>
            </a:r>
            <a:endParaRPr lang="en-US" dirty="0"/>
          </a:p>
        </p:txBody>
      </p:sp>
      <p:sp>
        <p:nvSpPr>
          <p:cNvPr id="3" name="Rectangle 33"/>
          <p:cNvSpPr>
            <a:spLocks noChangeArrowheads="1"/>
          </p:cNvSpPr>
          <p:nvPr/>
        </p:nvSpPr>
        <p:spPr bwMode="auto">
          <a:xfrm>
            <a:off x="3300405" y="1752600"/>
            <a:ext cx="1690688" cy="591573"/>
          </a:xfrm>
          <a:prstGeom prst="rect">
            <a:avLst/>
          </a:prstGeom>
          <a:solidFill>
            <a:srgbClr val="92D050"/>
          </a:solidFill>
          <a:ln w="9525" algn="ctr">
            <a:noFill/>
            <a:round/>
            <a:headEnd/>
            <a:tailEnd/>
          </a:ln>
          <a:scene3d>
            <a:camera prst="orthographicFront"/>
            <a:lightRig rig="threePt" dir="t"/>
          </a:scene3d>
          <a:sp3d>
            <a:bevelT/>
          </a:sp3d>
        </p:spPr>
        <p:txBody>
          <a:bodyPr lIns="92075" tIns="46038" rIns="92075" bIns="46038">
            <a:spAutoFit/>
          </a:bodyPr>
          <a:lstStyle/>
          <a:p>
            <a:pPr marL="119063" indent="-119063">
              <a:defRPr/>
            </a:pPr>
            <a:r>
              <a:rPr lang="nb-NO" sz="1200" dirty="0"/>
              <a:t>Customer Relationship Hierarchy Mgmt</a:t>
            </a:r>
            <a:endParaRPr lang="en-US" sz="1200" dirty="0"/>
          </a:p>
        </p:txBody>
      </p:sp>
      <p:sp>
        <p:nvSpPr>
          <p:cNvPr id="4" name="Rectangle 41"/>
          <p:cNvSpPr>
            <a:spLocks noChangeArrowheads="1"/>
          </p:cNvSpPr>
          <p:nvPr/>
        </p:nvSpPr>
        <p:spPr bwMode="auto">
          <a:xfrm>
            <a:off x="5056243" y="1752625"/>
            <a:ext cx="5478536" cy="1006429"/>
          </a:xfrm>
          <a:prstGeom prst="rect">
            <a:avLst/>
          </a:prstGeom>
          <a:solidFill>
            <a:srgbClr val="92D050"/>
          </a:solidFill>
          <a:ln w="9525">
            <a:noFill/>
            <a:miter lim="800000"/>
            <a:headEnd/>
            <a:tailEnd/>
          </a:ln>
          <a:scene3d>
            <a:camera prst="orthographicFront"/>
            <a:lightRig rig="threePt" dir="t"/>
          </a:scene3d>
          <a:sp3d>
            <a:bevelT/>
          </a:sp3d>
        </p:spPr>
        <p:txBody>
          <a:bodyPr>
            <a:spAutoFit/>
          </a:bodyPr>
          <a:lstStyle/>
          <a:p>
            <a:pPr>
              <a:defRPr/>
            </a:pPr>
            <a:r>
              <a:rPr lang="nb-NO" sz="1100" dirty="0"/>
              <a:t>Covers the complete set of services and belonging database required for Customer Relationship Hierarchy management, including the storing, updating and use of the data. It covers all kind of Customer Relationships, such as mother, daugher companies relationships, (sport) chain relationships, family relationships. Each entity does not have to be a customer themselves, such as children in a family relationship. </a:t>
            </a:r>
            <a:endParaRPr lang="en-US" sz="1100" dirty="0"/>
          </a:p>
        </p:txBody>
      </p:sp>
      <p:sp>
        <p:nvSpPr>
          <p:cNvPr id="5" name="TextBox 14"/>
          <p:cNvSpPr txBox="1">
            <a:spLocks noChangeArrowheads="1"/>
          </p:cNvSpPr>
          <p:nvPr/>
        </p:nvSpPr>
        <p:spPr bwMode="auto">
          <a:xfrm>
            <a:off x="2216966" y="2490613"/>
            <a:ext cx="1665288" cy="258763"/>
          </a:xfrm>
          <a:prstGeom prst="rect">
            <a:avLst/>
          </a:prstGeom>
          <a:solidFill>
            <a:srgbClr val="FFFF99"/>
          </a:solidFill>
          <a:ln w="9525">
            <a:solidFill>
              <a:schemeClr val="accent1"/>
            </a:solidFill>
            <a:miter lim="800000"/>
            <a:headEnd/>
            <a:tailEnd/>
          </a:ln>
          <a:scene3d>
            <a:camera prst="orthographicFront"/>
            <a:lightRig rig="threePt" dir="t"/>
          </a:scene3d>
          <a:sp3d>
            <a:bevelT/>
          </a:sp3d>
        </p:spPr>
        <p:txBody>
          <a:bodyPr wrap="none">
            <a:spAutoFit/>
          </a:bodyPr>
          <a:lstStyle/>
          <a:p>
            <a:pPr>
              <a:defRPr/>
            </a:pPr>
            <a:r>
              <a:rPr lang="nb-NO" sz="1200" dirty="0"/>
              <a:t>Capability attributes</a:t>
            </a:r>
            <a:endParaRPr lang="en-US" sz="1200" dirty="0"/>
          </a:p>
        </p:txBody>
      </p:sp>
      <p:graphicFrame>
        <p:nvGraphicFramePr>
          <p:cNvPr id="6" name="Table 5"/>
          <p:cNvGraphicFramePr>
            <a:graphicFrameLocks noGrp="1"/>
          </p:cNvGraphicFramePr>
          <p:nvPr/>
        </p:nvGraphicFramePr>
        <p:xfrm>
          <a:off x="1697421" y="2812287"/>
          <a:ext cx="8892791" cy="2713164"/>
        </p:xfrm>
        <a:graphic>
          <a:graphicData uri="http://schemas.openxmlformats.org/drawingml/2006/table">
            <a:tbl>
              <a:tblPr firstRow="1" bandRow="1">
                <a:tableStyleId>{5C22544A-7EE6-4342-B048-85BDC9FD1C3A}</a:tableStyleId>
              </a:tblPr>
              <a:tblGrid>
                <a:gridCol w="1623317"/>
                <a:gridCol w="2044557"/>
                <a:gridCol w="1726059"/>
                <a:gridCol w="1736332"/>
                <a:gridCol w="1762526"/>
              </a:tblGrid>
              <a:tr h="266448">
                <a:tc>
                  <a:txBody>
                    <a:bodyPr/>
                    <a:lstStyle/>
                    <a:p>
                      <a:r>
                        <a:rPr lang="nb-NO" sz="1100" dirty="0" smtClean="0">
                          <a:solidFill>
                            <a:schemeClr val="tx1"/>
                          </a:solidFill>
                        </a:rPr>
                        <a:t>Processes</a:t>
                      </a:r>
                      <a:endParaRPr lang="en-US" sz="1100" dirty="0">
                        <a:solidFill>
                          <a:schemeClr val="tx1"/>
                        </a:solidFill>
                      </a:endParaRPr>
                    </a:p>
                  </a:txBody>
                  <a:tcPr>
                    <a:solidFill>
                      <a:srgbClr val="92D050"/>
                    </a:solidFill>
                  </a:tcPr>
                </a:tc>
                <a:tc>
                  <a:txBody>
                    <a:bodyPr/>
                    <a:lstStyle/>
                    <a:p>
                      <a:r>
                        <a:rPr lang="nb-NO" sz="1100" dirty="0" smtClean="0">
                          <a:solidFill>
                            <a:schemeClr val="tx1"/>
                          </a:solidFill>
                        </a:rPr>
                        <a:t>Function</a:t>
                      </a:r>
                      <a:endParaRPr lang="en-US" sz="1100" dirty="0">
                        <a:solidFill>
                          <a:schemeClr val="tx1"/>
                        </a:solidFill>
                      </a:endParaRPr>
                    </a:p>
                  </a:txBody>
                  <a:tcPr>
                    <a:solidFill>
                      <a:srgbClr val="92D050"/>
                    </a:solidFill>
                  </a:tcPr>
                </a:tc>
                <a:tc>
                  <a:txBody>
                    <a:bodyPr/>
                    <a:lstStyle/>
                    <a:p>
                      <a:r>
                        <a:rPr lang="nb-NO" sz="1100" dirty="0" smtClean="0">
                          <a:solidFill>
                            <a:schemeClr val="tx1"/>
                          </a:solidFill>
                        </a:rPr>
                        <a:t>Information</a:t>
                      </a:r>
                      <a:endParaRPr lang="en-US" sz="1100" dirty="0">
                        <a:solidFill>
                          <a:schemeClr val="tx1"/>
                        </a:solidFill>
                      </a:endParaRPr>
                    </a:p>
                  </a:txBody>
                  <a:tcPr>
                    <a:solidFill>
                      <a:srgbClr val="92D050"/>
                    </a:solidFill>
                  </a:tcPr>
                </a:tc>
                <a:tc>
                  <a:txBody>
                    <a:bodyPr/>
                    <a:lstStyle/>
                    <a:p>
                      <a:r>
                        <a:rPr lang="nb-NO" sz="1100" dirty="0" smtClean="0">
                          <a:solidFill>
                            <a:schemeClr val="tx1"/>
                          </a:solidFill>
                        </a:rPr>
                        <a:t>Service Level/</a:t>
                      </a:r>
                      <a:br>
                        <a:rPr lang="nb-NO" sz="1100" dirty="0" smtClean="0">
                          <a:solidFill>
                            <a:schemeClr val="tx1"/>
                          </a:solidFill>
                        </a:rPr>
                      </a:br>
                      <a:r>
                        <a:rPr lang="nb-NO" sz="1100" dirty="0" smtClean="0">
                          <a:solidFill>
                            <a:schemeClr val="tx1"/>
                          </a:solidFill>
                        </a:rPr>
                        <a:t>Availability</a:t>
                      </a:r>
                      <a:endParaRPr lang="en-US" sz="1100" dirty="0">
                        <a:solidFill>
                          <a:schemeClr val="tx1"/>
                        </a:solidFill>
                      </a:endParaRPr>
                    </a:p>
                  </a:txBody>
                  <a:tcPr>
                    <a:solidFill>
                      <a:srgbClr val="92D050"/>
                    </a:solidFill>
                  </a:tcPr>
                </a:tc>
                <a:tc>
                  <a:txBody>
                    <a:bodyPr/>
                    <a:lstStyle/>
                    <a:p>
                      <a:r>
                        <a:rPr lang="nb-NO" sz="1100" dirty="0" smtClean="0">
                          <a:solidFill>
                            <a:schemeClr val="tx1"/>
                          </a:solidFill>
                        </a:rPr>
                        <a:t>Security</a:t>
                      </a:r>
                      <a:endParaRPr lang="en-US" sz="1100" dirty="0">
                        <a:solidFill>
                          <a:schemeClr val="tx1"/>
                        </a:solidFill>
                      </a:endParaRPr>
                    </a:p>
                  </a:txBody>
                  <a:tcPr>
                    <a:solidFill>
                      <a:srgbClr val="92D050"/>
                    </a:solidFill>
                  </a:tcPr>
                </a:tc>
              </a:tr>
              <a:tr h="606108">
                <a:tc>
                  <a:txBody>
                    <a:bodyPr/>
                    <a:lstStyle/>
                    <a:p>
                      <a:pPr>
                        <a:buFont typeface="Arial" pitchFamily="34" charset="0"/>
                        <a:buNone/>
                      </a:pPr>
                      <a:endParaRPr lang="en-US" sz="1100" dirty="0"/>
                    </a:p>
                  </a:txBody>
                  <a:tcPr>
                    <a:solidFill>
                      <a:srgbClr val="D4ECBA"/>
                    </a:solidFill>
                  </a:tcPr>
                </a:tc>
                <a:tc>
                  <a:txBody>
                    <a:bodyPr/>
                    <a:lstStyle/>
                    <a:p>
                      <a:pPr>
                        <a:buFont typeface="Arial" pitchFamily="34" charset="0"/>
                        <a:buNone/>
                      </a:pPr>
                      <a:endParaRPr lang="nb-NO" sz="1100" dirty="0" smtClean="0"/>
                    </a:p>
                    <a:p>
                      <a:pPr>
                        <a:buFont typeface="Arial" pitchFamily="34" charset="0"/>
                        <a:buNone/>
                      </a:pPr>
                      <a:endParaRPr lang="nb-NO" sz="1100" dirty="0" smtClean="0"/>
                    </a:p>
                    <a:p>
                      <a:pPr>
                        <a:buFont typeface="Arial" pitchFamily="34" charset="0"/>
                        <a:buNone/>
                      </a:pPr>
                      <a:endParaRPr lang="nb-NO" sz="1100" dirty="0" smtClean="0"/>
                    </a:p>
                    <a:p>
                      <a:pPr>
                        <a:buFont typeface="Arial" pitchFamily="34" charset="0"/>
                        <a:buNone/>
                      </a:pPr>
                      <a:endParaRPr lang="nb-NO" sz="1100" dirty="0" smtClean="0"/>
                    </a:p>
                    <a:p>
                      <a:pPr>
                        <a:buFont typeface="Arial" pitchFamily="34" charset="0"/>
                        <a:buNone/>
                      </a:pPr>
                      <a:endParaRPr lang="nb-NO" sz="1100" dirty="0" smtClean="0"/>
                    </a:p>
                    <a:p>
                      <a:pPr>
                        <a:buFont typeface="Arial" pitchFamily="34" charset="0"/>
                        <a:buNone/>
                      </a:pPr>
                      <a:endParaRPr lang="nb-NO" sz="1100" dirty="0" smtClean="0"/>
                    </a:p>
                    <a:p>
                      <a:pPr>
                        <a:buFont typeface="Arial" pitchFamily="34" charset="0"/>
                        <a:buNone/>
                      </a:pPr>
                      <a:endParaRPr lang="en-US" sz="1100" dirty="0" smtClean="0"/>
                    </a:p>
                  </a:txBody>
                  <a:tcPr>
                    <a:solidFill>
                      <a:srgbClr val="D4ECBA"/>
                    </a:solidFill>
                  </a:tcPr>
                </a:tc>
                <a:tc>
                  <a:txBody>
                    <a:bodyPr/>
                    <a:lstStyle/>
                    <a:p>
                      <a:pPr>
                        <a:buFont typeface="Arial" pitchFamily="34" charset="0"/>
                        <a:buNone/>
                      </a:pPr>
                      <a:endParaRPr lang="nb-NO" sz="1100" dirty="0" smtClean="0"/>
                    </a:p>
                  </a:txBody>
                  <a:tcPr>
                    <a:solidFill>
                      <a:srgbClr val="D4ECBA"/>
                    </a:solidFill>
                  </a:tcPr>
                </a:tc>
                <a:tc>
                  <a:txBody>
                    <a:bodyPr/>
                    <a:lstStyle/>
                    <a:p>
                      <a:pPr>
                        <a:buFont typeface="Arial" pitchFamily="34" charset="0"/>
                        <a:buNone/>
                      </a:pPr>
                      <a:endParaRPr lang="nb-NO" sz="1100" dirty="0" smtClean="0"/>
                    </a:p>
                  </a:txBody>
                  <a:tcPr>
                    <a:solidFill>
                      <a:srgbClr val="D4ECBA"/>
                    </a:solidFill>
                  </a:tcPr>
                </a:tc>
                <a:tc>
                  <a:txBody>
                    <a:bodyPr/>
                    <a:lstStyle/>
                    <a:p>
                      <a:pPr>
                        <a:buFont typeface="Arial" pitchFamily="34" charset="0"/>
                        <a:buNone/>
                      </a:pPr>
                      <a:endParaRPr lang="nb-NO" sz="1100" dirty="0" smtClean="0"/>
                    </a:p>
                  </a:txBody>
                  <a:tcPr>
                    <a:solidFill>
                      <a:srgbClr val="D4ECBA"/>
                    </a:solidFill>
                  </a:tcPr>
                </a:tc>
              </a:tr>
              <a:tr h="25952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b-NO" sz="1100" b="1" kern="1200" dirty="0" smtClean="0">
                          <a:solidFill>
                            <a:schemeClr val="tx1"/>
                          </a:solidFill>
                          <a:latin typeface="+mn-lt"/>
                          <a:ea typeface="+mn-ea"/>
                          <a:cs typeface="+mn-cs"/>
                        </a:rPr>
                        <a:t>Business Goals</a:t>
                      </a:r>
                      <a:endParaRPr lang="en-US" sz="1100" b="1" kern="1200" dirty="0" smtClean="0">
                        <a:solidFill>
                          <a:schemeClr val="tx1"/>
                        </a:solidFill>
                        <a:latin typeface="+mn-lt"/>
                        <a:ea typeface="+mn-ea"/>
                        <a:cs typeface="+mn-cs"/>
                      </a:endParaRPr>
                    </a:p>
                  </a:txBody>
                  <a:tcPr>
                    <a:solidFill>
                      <a:srgbClr val="92D050"/>
                    </a:solidFill>
                  </a:tcPr>
                </a:tc>
                <a:tc>
                  <a:txBody>
                    <a:bodyPr/>
                    <a:lstStyle/>
                    <a:p>
                      <a:r>
                        <a:rPr lang="nb-NO" sz="1100" b="1" kern="1200" dirty="0" smtClean="0">
                          <a:solidFill>
                            <a:schemeClr val="tx1"/>
                          </a:solidFill>
                          <a:latin typeface="+mn-lt"/>
                          <a:ea typeface="+mn-ea"/>
                          <a:cs typeface="+mn-cs"/>
                        </a:rPr>
                        <a:t>Metrics</a:t>
                      </a:r>
                      <a:endParaRPr lang="en-US" sz="1100" b="1" kern="1200" dirty="0" smtClean="0">
                        <a:solidFill>
                          <a:schemeClr val="tx1"/>
                        </a:solidFill>
                        <a:latin typeface="+mn-lt"/>
                        <a:ea typeface="+mn-ea"/>
                        <a:cs typeface="+mn-cs"/>
                      </a:endParaRPr>
                    </a:p>
                  </a:txBody>
                  <a:tcPr>
                    <a:solidFill>
                      <a:srgbClr val="92D050"/>
                    </a:solidFill>
                  </a:tcPr>
                </a:tc>
                <a:tc>
                  <a:txBody>
                    <a:bodyPr/>
                    <a:lstStyle/>
                    <a:p>
                      <a:r>
                        <a:rPr lang="nb-NO" sz="1100" b="1" kern="1200" dirty="0" smtClean="0">
                          <a:solidFill>
                            <a:schemeClr val="tx1"/>
                          </a:solidFill>
                          <a:latin typeface="+mn-lt"/>
                          <a:ea typeface="+mn-ea"/>
                          <a:cs typeface="+mn-cs"/>
                        </a:rPr>
                        <a:t>Current Issues</a:t>
                      </a:r>
                      <a:endParaRPr lang="en-US" sz="1100" b="1" kern="1200" dirty="0" smtClean="0">
                        <a:solidFill>
                          <a:schemeClr val="tx1"/>
                        </a:solidFill>
                        <a:latin typeface="+mn-lt"/>
                        <a:ea typeface="+mn-ea"/>
                        <a:cs typeface="+mn-cs"/>
                      </a:endParaRPr>
                    </a:p>
                  </a:txBody>
                  <a:tcPr>
                    <a:solidFill>
                      <a:srgbClr val="92D050"/>
                    </a:solidFill>
                  </a:tcPr>
                </a:tc>
                <a:tc>
                  <a:txBody>
                    <a:bodyPr/>
                    <a:lstStyle/>
                    <a:p>
                      <a:r>
                        <a:rPr lang="nb-NO" sz="1100" b="1" kern="1200" dirty="0" smtClean="0">
                          <a:solidFill>
                            <a:schemeClr val="tx1"/>
                          </a:solidFill>
                          <a:latin typeface="+mn-lt"/>
                          <a:ea typeface="+mn-ea"/>
                          <a:cs typeface="+mn-cs"/>
                        </a:rPr>
                        <a:t>Performance </a:t>
                      </a:r>
                      <a:endParaRPr lang="en-US" sz="1100" b="1" kern="1200" dirty="0" smtClean="0">
                        <a:solidFill>
                          <a:schemeClr val="tx1"/>
                        </a:solidFill>
                        <a:latin typeface="+mn-lt"/>
                        <a:ea typeface="+mn-ea"/>
                        <a:cs typeface="+mn-cs"/>
                      </a:endParaRPr>
                    </a:p>
                  </a:txBody>
                  <a:tcPr>
                    <a:solidFill>
                      <a:srgbClr val="92D050"/>
                    </a:solidFill>
                  </a:tcPr>
                </a:tc>
                <a:tc>
                  <a:txBody>
                    <a:bodyPr/>
                    <a:lstStyle/>
                    <a:p>
                      <a:r>
                        <a:rPr lang="nb-NO" sz="1100" b="1" kern="1200" dirty="0" smtClean="0">
                          <a:solidFill>
                            <a:schemeClr val="tx1"/>
                          </a:solidFill>
                          <a:latin typeface="+mn-lt"/>
                          <a:ea typeface="+mn-ea"/>
                          <a:cs typeface="+mn-cs"/>
                        </a:rPr>
                        <a:t>Owned By (business)</a:t>
                      </a:r>
                      <a:endParaRPr lang="en-US" sz="1100" b="1" kern="1200" dirty="0" smtClean="0">
                        <a:solidFill>
                          <a:schemeClr val="tx1"/>
                        </a:solidFill>
                        <a:latin typeface="+mn-lt"/>
                        <a:ea typeface="+mn-ea"/>
                        <a:cs typeface="+mn-cs"/>
                      </a:endParaRPr>
                    </a:p>
                  </a:txBody>
                  <a:tcPr>
                    <a:solidFill>
                      <a:srgbClr val="92D050"/>
                    </a:solidFill>
                  </a:tcPr>
                </a:tc>
              </a:tr>
              <a:tr h="606108">
                <a:tc>
                  <a:txBody>
                    <a:bodyPr/>
                    <a:lstStyle/>
                    <a:p>
                      <a:pPr marL="0" algn="l" defTabSz="914400" rtl="0" eaLnBrk="1" latinLnBrk="0" hangingPunct="1">
                        <a:buFont typeface="Arial" pitchFamily="34" charset="0"/>
                        <a:buNone/>
                      </a:pPr>
                      <a:endParaRPr lang="en-US" sz="1100" kern="1200" dirty="0">
                        <a:solidFill>
                          <a:schemeClr val="dk1"/>
                        </a:solidFill>
                        <a:latin typeface="+mn-lt"/>
                        <a:ea typeface="+mn-ea"/>
                        <a:cs typeface="+mn-cs"/>
                      </a:endParaRPr>
                    </a:p>
                  </a:txBody>
                  <a:tcPr>
                    <a:solidFill>
                      <a:srgbClr val="D4ECBA"/>
                    </a:solidFill>
                  </a:tcPr>
                </a:tc>
                <a:tc>
                  <a:txBody>
                    <a:bodyPr/>
                    <a:lstStyle/>
                    <a:p>
                      <a:pPr marL="0" algn="l" defTabSz="914400" rtl="0" eaLnBrk="1" latinLnBrk="0" hangingPunct="1">
                        <a:buFont typeface="Arial" pitchFamily="34" charset="0"/>
                        <a:buNone/>
                      </a:pPr>
                      <a:endParaRPr lang="nb-NO" sz="1100" kern="1200" baseline="0" dirty="0" smtClean="0">
                        <a:solidFill>
                          <a:schemeClr val="dk1"/>
                        </a:solidFill>
                        <a:latin typeface="+mn-lt"/>
                        <a:ea typeface="+mn-ea"/>
                        <a:cs typeface="+mn-cs"/>
                      </a:endParaRPr>
                    </a:p>
                    <a:p>
                      <a:pPr marL="0" algn="l" defTabSz="914400" rtl="0" eaLnBrk="1" latinLnBrk="0" hangingPunct="1">
                        <a:buFont typeface="Arial" pitchFamily="34" charset="0"/>
                        <a:buNone/>
                      </a:pPr>
                      <a:endParaRPr lang="en-US" sz="1100" kern="1200" dirty="0">
                        <a:solidFill>
                          <a:schemeClr val="dk1"/>
                        </a:solidFill>
                        <a:latin typeface="+mn-lt"/>
                        <a:ea typeface="+mn-ea"/>
                        <a:cs typeface="+mn-cs"/>
                      </a:endParaRPr>
                    </a:p>
                  </a:txBody>
                  <a:tcPr>
                    <a:solidFill>
                      <a:srgbClr val="D4ECBA"/>
                    </a:solidFill>
                  </a:tcPr>
                </a:tc>
                <a:tc>
                  <a:txBody>
                    <a:bodyPr/>
                    <a:lstStyle/>
                    <a:p>
                      <a:pPr marL="0" algn="l" defTabSz="914400" rtl="0" eaLnBrk="1" latinLnBrk="0" hangingPunct="1">
                        <a:buFont typeface="Arial" pitchFamily="34" charset="0"/>
                        <a:buChar char="•"/>
                      </a:pPr>
                      <a:endParaRPr lang="nb-NO" sz="1100" kern="1200" baseline="0" dirty="0" smtClean="0">
                        <a:solidFill>
                          <a:schemeClr val="dk1"/>
                        </a:solidFill>
                        <a:latin typeface="+mn-lt"/>
                        <a:ea typeface="+mn-ea"/>
                        <a:cs typeface="+mn-cs"/>
                      </a:endParaRPr>
                    </a:p>
                    <a:p>
                      <a:pPr marL="0" algn="l" defTabSz="914400" rtl="0" eaLnBrk="1" latinLnBrk="0" hangingPunct="1">
                        <a:buFont typeface="Arial" pitchFamily="34" charset="0"/>
                        <a:buChar char="•"/>
                      </a:pPr>
                      <a:endParaRPr lang="nb-NO" sz="1100" kern="1200" baseline="0" dirty="0" smtClean="0">
                        <a:solidFill>
                          <a:schemeClr val="dk1"/>
                        </a:solidFill>
                        <a:latin typeface="+mn-lt"/>
                        <a:ea typeface="+mn-ea"/>
                        <a:cs typeface="+mn-cs"/>
                      </a:endParaRPr>
                    </a:p>
                    <a:p>
                      <a:pPr marL="0" algn="l" defTabSz="914400" rtl="0" eaLnBrk="1" latinLnBrk="0" hangingPunct="1">
                        <a:buFont typeface="Arial" pitchFamily="34" charset="0"/>
                        <a:buChar char="•"/>
                      </a:pPr>
                      <a:endParaRPr lang="nb-NO" sz="1100" kern="1200" baseline="0" dirty="0" smtClean="0">
                        <a:solidFill>
                          <a:schemeClr val="dk1"/>
                        </a:solidFill>
                        <a:latin typeface="+mn-lt"/>
                        <a:ea typeface="+mn-ea"/>
                        <a:cs typeface="+mn-cs"/>
                      </a:endParaRPr>
                    </a:p>
                    <a:p>
                      <a:pPr marL="0" algn="l" defTabSz="914400" rtl="0" eaLnBrk="1" latinLnBrk="0" hangingPunct="1">
                        <a:buFont typeface="Arial" pitchFamily="34" charset="0"/>
                        <a:buChar char="•"/>
                      </a:pPr>
                      <a:endParaRPr lang="nb-NO" sz="1100" kern="1200" baseline="0" dirty="0" smtClean="0">
                        <a:solidFill>
                          <a:schemeClr val="dk1"/>
                        </a:solidFill>
                        <a:latin typeface="+mn-lt"/>
                        <a:ea typeface="+mn-ea"/>
                        <a:cs typeface="+mn-cs"/>
                      </a:endParaRPr>
                    </a:p>
                  </a:txBody>
                  <a:tcPr>
                    <a:solidFill>
                      <a:srgbClr val="D4ECBA"/>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nb-NO" sz="1100" kern="1200" baseline="0" dirty="0" smtClean="0">
                        <a:solidFill>
                          <a:schemeClr val="dk1"/>
                        </a:solidFill>
                        <a:latin typeface="+mn-lt"/>
                        <a:ea typeface="+mn-ea"/>
                        <a:cs typeface="+mn-cs"/>
                      </a:endParaRPr>
                    </a:p>
                  </a:txBody>
                  <a:tcPr>
                    <a:solidFill>
                      <a:srgbClr val="D4ECBA"/>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nb-NO" sz="1100" kern="1200" baseline="0" dirty="0" smtClean="0">
                        <a:solidFill>
                          <a:schemeClr val="dk1"/>
                        </a:solidFill>
                        <a:latin typeface="+mn-lt"/>
                        <a:ea typeface="+mn-ea"/>
                        <a:cs typeface="+mn-cs"/>
                      </a:endParaRPr>
                    </a:p>
                  </a:txBody>
                  <a:tcPr>
                    <a:solidFill>
                      <a:srgbClr val="D4ECBA"/>
                    </a:solidFill>
                  </a:tcPr>
                </a:tc>
              </a:tr>
            </a:tbl>
          </a:graphicData>
        </a:graphic>
      </p:graphicFrame>
      <p:sp>
        <p:nvSpPr>
          <p:cNvPr id="7" name="Rectangle 6"/>
          <p:cNvSpPr>
            <a:spLocks noChangeArrowheads="1"/>
          </p:cNvSpPr>
          <p:nvPr/>
        </p:nvSpPr>
        <p:spPr bwMode="auto">
          <a:xfrm>
            <a:off x="1706946" y="3252025"/>
            <a:ext cx="1617663" cy="1109662"/>
          </a:xfrm>
          <a:prstGeom prst="rect">
            <a:avLst/>
          </a:prstGeom>
          <a:solidFill>
            <a:srgbClr val="D4ECBA"/>
          </a:solidFill>
          <a:ln w="9525" algn="ctr">
            <a:noFill/>
            <a:round/>
            <a:headEnd/>
            <a:tailEnd/>
          </a:ln>
        </p:spPr>
        <p:txBody>
          <a:bodyPr lIns="92075" tIns="46038" rIns="92075" bIns="46038">
            <a:spAutoFit/>
          </a:bodyPr>
          <a:lstStyle/>
          <a:p>
            <a:pPr algn="l">
              <a:lnSpc>
                <a:spcPct val="100000"/>
              </a:lnSpc>
              <a:spcBef>
                <a:spcPct val="0"/>
              </a:spcBef>
              <a:buClrTx/>
              <a:buFont typeface="Arial" charset="0"/>
              <a:buChar char="•"/>
            </a:pPr>
            <a:r>
              <a:rPr lang="nb-NO" sz="1100" b="0">
                <a:solidFill>
                  <a:srgbClr val="000000"/>
                </a:solidFill>
              </a:rPr>
              <a:t>Marketing </a:t>
            </a:r>
          </a:p>
          <a:p>
            <a:pPr algn="l">
              <a:lnSpc>
                <a:spcPct val="100000"/>
              </a:lnSpc>
              <a:spcBef>
                <a:spcPct val="0"/>
              </a:spcBef>
              <a:buClrTx/>
              <a:buFont typeface="Arial" charset="0"/>
              <a:buChar char="•"/>
            </a:pPr>
            <a:r>
              <a:rPr lang="nb-NO" sz="1100" b="0">
                <a:solidFill>
                  <a:srgbClr val="000000"/>
                </a:solidFill>
              </a:rPr>
              <a:t> Self Service (access control)</a:t>
            </a:r>
          </a:p>
          <a:p>
            <a:pPr algn="l">
              <a:lnSpc>
                <a:spcPct val="100000"/>
              </a:lnSpc>
              <a:spcBef>
                <a:spcPct val="0"/>
              </a:spcBef>
              <a:buClrTx/>
              <a:buFont typeface="Arial" charset="0"/>
              <a:buChar char="•"/>
            </a:pPr>
            <a:r>
              <a:rPr lang="nb-NO" sz="1100" b="0">
                <a:solidFill>
                  <a:srgbClr val="000000"/>
                </a:solidFill>
              </a:rPr>
              <a:t> Self Service</a:t>
            </a:r>
            <a:br>
              <a:rPr lang="nb-NO" sz="1100" b="0">
                <a:solidFill>
                  <a:srgbClr val="000000"/>
                </a:solidFill>
              </a:rPr>
            </a:br>
            <a:r>
              <a:rPr lang="nb-NO" sz="1100" b="0">
                <a:solidFill>
                  <a:srgbClr val="000000"/>
                </a:solidFill>
              </a:rPr>
              <a:t>(shop)</a:t>
            </a:r>
          </a:p>
          <a:p>
            <a:pPr algn="l">
              <a:lnSpc>
                <a:spcPct val="100000"/>
              </a:lnSpc>
              <a:spcBef>
                <a:spcPct val="0"/>
              </a:spcBef>
              <a:buClrTx/>
              <a:buFont typeface="Arial" charset="0"/>
              <a:buChar char="•"/>
            </a:pPr>
            <a:r>
              <a:rPr lang="nb-NO" sz="1100" b="0">
                <a:solidFill>
                  <a:srgbClr val="000000"/>
                </a:solidFill>
              </a:rPr>
              <a:t> Call Center</a:t>
            </a:r>
            <a:endParaRPr lang="en-US" sz="1100" b="0" dirty="0">
              <a:solidFill>
                <a:srgbClr val="000000"/>
              </a:solidFill>
            </a:endParaRPr>
          </a:p>
        </p:txBody>
      </p:sp>
      <p:sp>
        <p:nvSpPr>
          <p:cNvPr id="8" name="Rectangle 7"/>
          <p:cNvSpPr>
            <a:spLocks noChangeArrowheads="1"/>
          </p:cNvSpPr>
          <p:nvPr/>
        </p:nvSpPr>
        <p:spPr bwMode="auto">
          <a:xfrm>
            <a:off x="3384934" y="3232975"/>
            <a:ext cx="1909762" cy="1277937"/>
          </a:xfrm>
          <a:prstGeom prst="rect">
            <a:avLst/>
          </a:prstGeom>
          <a:noFill/>
          <a:ln w="9525" algn="ctr">
            <a:noFill/>
            <a:round/>
            <a:headEnd/>
            <a:tailEnd/>
          </a:ln>
        </p:spPr>
        <p:txBody>
          <a:bodyPr lIns="92075" tIns="46038" rIns="92075" bIns="46038">
            <a:spAutoFit/>
          </a:bodyPr>
          <a:lstStyle/>
          <a:p>
            <a:pPr algn="l">
              <a:lnSpc>
                <a:spcPct val="100000"/>
              </a:lnSpc>
              <a:spcBef>
                <a:spcPct val="0"/>
              </a:spcBef>
              <a:buClrTx/>
              <a:buFont typeface="Arial" charset="0"/>
              <a:buChar char="•"/>
            </a:pPr>
            <a:r>
              <a:rPr lang="nb-NO" sz="1100" b="0">
                <a:solidFill>
                  <a:srgbClr val="000000"/>
                </a:solidFill>
              </a:rPr>
              <a:t>Collect, store, update, or delete Hierarchy and related Access Data</a:t>
            </a:r>
          </a:p>
          <a:p>
            <a:pPr algn="l">
              <a:lnSpc>
                <a:spcPct val="100000"/>
              </a:lnSpc>
              <a:spcBef>
                <a:spcPct val="0"/>
              </a:spcBef>
              <a:buClrTx/>
              <a:buFont typeface="Arial" charset="0"/>
              <a:buChar char="•"/>
            </a:pPr>
            <a:r>
              <a:rPr lang="nb-NO" sz="1100" b="0">
                <a:solidFill>
                  <a:srgbClr val="000000"/>
                </a:solidFill>
              </a:rPr>
              <a:t> Collect, store, update or delete Access Data</a:t>
            </a:r>
          </a:p>
          <a:p>
            <a:pPr algn="l">
              <a:lnSpc>
                <a:spcPct val="100000"/>
              </a:lnSpc>
              <a:spcBef>
                <a:spcPct val="0"/>
              </a:spcBef>
              <a:buClrTx/>
              <a:buFont typeface="Arial" charset="0"/>
              <a:buChar char="•"/>
            </a:pPr>
            <a:r>
              <a:rPr lang="nb-NO" sz="1100" b="0">
                <a:solidFill>
                  <a:srgbClr val="000000"/>
                </a:solidFill>
              </a:rPr>
              <a:t> Retrieve hierarchy data</a:t>
            </a:r>
          </a:p>
          <a:p>
            <a:pPr algn="l">
              <a:lnSpc>
                <a:spcPct val="100000"/>
              </a:lnSpc>
              <a:spcBef>
                <a:spcPct val="0"/>
              </a:spcBef>
              <a:buClrTx/>
              <a:buFont typeface="Arial" charset="0"/>
              <a:buChar char="•"/>
            </a:pPr>
            <a:r>
              <a:rPr lang="nb-NO" sz="1100" b="0">
                <a:solidFill>
                  <a:srgbClr val="000000"/>
                </a:solidFill>
              </a:rPr>
              <a:t> Retrieve access data</a:t>
            </a:r>
            <a:endParaRPr lang="en-US" sz="1100" b="0" dirty="0">
              <a:solidFill>
                <a:srgbClr val="000000"/>
              </a:solidFill>
            </a:endParaRPr>
          </a:p>
        </p:txBody>
      </p:sp>
      <p:sp>
        <p:nvSpPr>
          <p:cNvPr id="9" name="Rectangle 9"/>
          <p:cNvSpPr>
            <a:spLocks noChangeArrowheads="1"/>
          </p:cNvSpPr>
          <p:nvPr/>
        </p:nvSpPr>
        <p:spPr bwMode="auto">
          <a:xfrm>
            <a:off x="5394709" y="3282187"/>
            <a:ext cx="1668462" cy="1025525"/>
          </a:xfrm>
          <a:prstGeom prst="rect">
            <a:avLst/>
          </a:prstGeom>
          <a:noFill/>
          <a:ln w="9525" algn="ctr">
            <a:noFill/>
            <a:round/>
            <a:headEnd/>
            <a:tailEnd/>
          </a:ln>
        </p:spPr>
        <p:txBody>
          <a:bodyPr lIns="92075" tIns="46038" rIns="92075" bIns="46038">
            <a:spAutoFit/>
          </a:bodyPr>
          <a:lstStyle/>
          <a:p>
            <a:pPr marL="119063" indent="-119063"/>
            <a:endParaRPr lang="en-US" dirty="0"/>
          </a:p>
        </p:txBody>
      </p:sp>
      <p:sp>
        <p:nvSpPr>
          <p:cNvPr id="10" name="Rectangle 10"/>
          <p:cNvSpPr>
            <a:spLocks noChangeArrowheads="1"/>
          </p:cNvSpPr>
          <p:nvPr/>
        </p:nvSpPr>
        <p:spPr bwMode="auto">
          <a:xfrm>
            <a:off x="5415346" y="3293300"/>
            <a:ext cx="1457325" cy="803275"/>
          </a:xfrm>
          <a:prstGeom prst="rect">
            <a:avLst/>
          </a:prstGeom>
          <a:noFill/>
          <a:ln w="9525" algn="ctr">
            <a:noFill/>
            <a:round/>
            <a:headEnd/>
            <a:tailEnd/>
          </a:ln>
        </p:spPr>
        <p:txBody>
          <a:bodyPr lIns="92075" tIns="46038" rIns="92075" bIns="46038">
            <a:spAutoFit/>
          </a:bodyPr>
          <a:lstStyle/>
          <a:p>
            <a:pPr marL="119063" indent="-119063"/>
            <a:endParaRPr lang="en-US" dirty="0"/>
          </a:p>
        </p:txBody>
      </p:sp>
      <p:sp>
        <p:nvSpPr>
          <p:cNvPr id="11" name="Rectangle 10"/>
          <p:cNvSpPr>
            <a:spLocks noChangeArrowheads="1"/>
          </p:cNvSpPr>
          <p:nvPr/>
        </p:nvSpPr>
        <p:spPr bwMode="auto">
          <a:xfrm>
            <a:off x="5350259" y="3228212"/>
            <a:ext cx="1420812" cy="601663"/>
          </a:xfrm>
          <a:prstGeom prst="rect">
            <a:avLst/>
          </a:prstGeom>
          <a:noFill/>
          <a:ln w="9525">
            <a:noFill/>
            <a:miter lim="800000"/>
            <a:headEnd/>
            <a:tailEnd/>
          </a:ln>
        </p:spPr>
        <p:txBody>
          <a:bodyPr>
            <a:spAutoFit/>
          </a:bodyPr>
          <a:lstStyle/>
          <a:p>
            <a:pPr algn="l">
              <a:lnSpc>
                <a:spcPct val="100000"/>
              </a:lnSpc>
              <a:spcBef>
                <a:spcPct val="0"/>
              </a:spcBef>
              <a:buClrTx/>
              <a:buFont typeface="Arial" charset="0"/>
              <a:buChar char="•"/>
            </a:pPr>
            <a:r>
              <a:rPr lang="nb-NO" sz="1100" b="0">
                <a:solidFill>
                  <a:srgbClr val="000000"/>
                </a:solidFill>
              </a:rPr>
              <a:t> Customer/relation</a:t>
            </a:r>
          </a:p>
          <a:p>
            <a:pPr algn="l">
              <a:lnSpc>
                <a:spcPct val="100000"/>
              </a:lnSpc>
              <a:spcBef>
                <a:spcPct val="0"/>
              </a:spcBef>
              <a:buClrTx/>
              <a:buFont typeface="Arial" charset="0"/>
              <a:buChar char="•"/>
            </a:pPr>
            <a:r>
              <a:rPr lang="nb-NO" sz="1100" b="0">
                <a:solidFill>
                  <a:srgbClr val="000000"/>
                </a:solidFill>
              </a:rPr>
              <a:t> Hierarcy</a:t>
            </a:r>
          </a:p>
          <a:p>
            <a:pPr algn="l">
              <a:lnSpc>
                <a:spcPct val="100000"/>
              </a:lnSpc>
              <a:spcBef>
                <a:spcPct val="0"/>
              </a:spcBef>
              <a:buClrTx/>
              <a:buFont typeface="Arial" charset="0"/>
              <a:buChar char="•"/>
            </a:pPr>
            <a:r>
              <a:rPr lang="nb-NO" sz="1100" b="0">
                <a:solidFill>
                  <a:srgbClr val="000000"/>
                </a:solidFill>
              </a:rPr>
              <a:t> Access Rules</a:t>
            </a:r>
          </a:p>
        </p:txBody>
      </p:sp>
      <p:sp>
        <p:nvSpPr>
          <p:cNvPr id="12" name="Rectangle 11"/>
          <p:cNvSpPr>
            <a:spLocks noChangeArrowheads="1"/>
          </p:cNvSpPr>
          <p:nvPr/>
        </p:nvSpPr>
        <p:spPr bwMode="auto">
          <a:xfrm>
            <a:off x="7088571" y="3217100"/>
            <a:ext cx="1441450" cy="1108075"/>
          </a:xfrm>
          <a:prstGeom prst="rect">
            <a:avLst/>
          </a:prstGeom>
          <a:noFill/>
          <a:ln w="9525">
            <a:noFill/>
            <a:miter lim="800000"/>
            <a:headEnd/>
            <a:tailEnd/>
          </a:ln>
        </p:spPr>
        <p:txBody>
          <a:bodyPr>
            <a:spAutoFit/>
          </a:bodyPr>
          <a:lstStyle/>
          <a:p>
            <a:pPr algn="l">
              <a:lnSpc>
                <a:spcPct val="100000"/>
              </a:lnSpc>
              <a:spcBef>
                <a:spcPct val="0"/>
              </a:spcBef>
              <a:buClrTx/>
              <a:buFont typeface="Arial" charset="0"/>
              <a:buChar char="•"/>
            </a:pPr>
            <a:r>
              <a:rPr lang="nb-NO" sz="1100" b="0">
                <a:solidFill>
                  <a:srgbClr val="000000"/>
                </a:solidFill>
              </a:rPr>
              <a:t> Preferably same as for Self Service (24/7)</a:t>
            </a:r>
          </a:p>
          <a:p>
            <a:pPr algn="l">
              <a:lnSpc>
                <a:spcPct val="100000"/>
              </a:lnSpc>
              <a:spcBef>
                <a:spcPct val="0"/>
              </a:spcBef>
              <a:buClrTx/>
              <a:buFont typeface="Arial" charset="0"/>
              <a:buChar char="•"/>
            </a:pPr>
            <a:r>
              <a:rPr lang="nb-NO" sz="1100" b="0">
                <a:solidFill>
                  <a:srgbClr val="000000"/>
                </a:solidFill>
              </a:rPr>
              <a:t> Disruptions lead to reduced self service function</a:t>
            </a:r>
          </a:p>
        </p:txBody>
      </p:sp>
      <p:sp>
        <p:nvSpPr>
          <p:cNvPr id="13" name="Rectangle 12"/>
          <p:cNvSpPr>
            <a:spLocks noChangeArrowheads="1"/>
          </p:cNvSpPr>
          <p:nvPr/>
        </p:nvSpPr>
        <p:spPr bwMode="auto">
          <a:xfrm>
            <a:off x="8860221" y="3247262"/>
            <a:ext cx="1630363" cy="261938"/>
          </a:xfrm>
          <a:prstGeom prst="rect">
            <a:avLst/>
          </a:prstGeom>
          <a:noFill/>
          <a:ln w="9525">
            <a:noFill/>
            <a:miter lim="800000"/>
            <a:headEnd/>
            <a:tailEnd/>
          </a:ln>
        </p:spPr>
        <p:txBody>
          <a:bodyPr wrap="none">
            <a:spAutoFit/>
          </a:bodyPr>
          <a:lstStyle/>
          <a:p>
            <a:pPr algn="l">
              <a:lnSpc>
                <a:spcPct val="100000"/>
              </a:lnSpc>
              <a:spcBef>
                <a:spcPct val="0"/>
              </a:spcBef>
              <a:buClrTx/>
              <a:buFont typeface="Arial" charset="0"/>
              <a:buChar char="•"/>
            </a:pPr>
            <a:r>
              <a:rPr lang="nb-NO" sz="1100" b="0">
                <a:solidFill>
                  <a:srgbClr val="000000"/>
                </a:solidFill>
              </a:rPr>
              <a:t>Customer confidencial</a:t>
            </a:r>
          </a:p>
        </p:txBody>
      </p:sp>
      <p:sp>
        <p:nvSpPr>
          <p:cNvPr id="14" name="Rectangle 13"/>
          <p:cNvSpPr>
            <a:spLocks noChangeArrowheads="1"/>
          </p:cNvSpPr>
          <p:nvPr/>
        </p:nvSpPr>
        <p:spPr bwMode="auto">
          <a:xfrm>
            <a:off x="1697421" y="4750625"/>
            <a:ext cx="1603375" cy="769937"/>
          </a:xfrm>
          <a:prstGeom prst="rect">
            <a:avLst/>
          </a:prstGeom>
          <a:noFill/>
          <a:ln w="9525">
            <a:noFill/>
            <a:miter lim="800000"/>
            <a:headEnd/>
            <a:tailEnd/>
          </a:ln>
        </p:spPr>
        <p:txBody>
          <a:bodyPr>
            <a:spAutoFit/>
          </a:bodyPr>
          <a:lstStyle/>
          <a:p>
            <a:pPr algn="l">
              <a:lnSpc>
                <a:spcPct val="100000"/>
              </a:lnSpc>
              <a:spcBef>
                <a:spcPct val="0"/>
              </a:spcBef>
              <a:buClrTx/>
              <a:buFont typeface="Arial" charset="0"/>
              <a:buChar char="•"/>
            </a:pPr>
            <a:r>
              <a:rPr lang="nb-NO" sz="1100" b="0">
                <a:solidFill>
                  <a:srgbClr val="000000"/>
                </a:solidFill>
              </a:rPr>
              <a:t> Increase Revenue</a:t>
            </a:r>
          </a:p>
          <a:p>
            <a:pPr algn="l">
              <a:lnSpc>
                <a:spcPct val="100000"/>
              </a:lnSpc>
              <a:spcBef>
                <a:spcPct val="0"/>
              </a:spcBef>
              <a:buClrTx/>
              <a:buFont typeface="Arial" charset="0"/>
              <a:buChar char="•"/>
            </a:pPr>
            <a:r>
              <a:rPr lang="nb-NO" sz="1100" b="0">
                <a:solidFill>
                  <a:srgbClr val="000000"/>
                </a:solidFill>
              </a:rPr>
              <a:t> Highly Satisfied Customers</a:t>
            </a:r>
          </a:p>
          <a:p>
            <a:pPr algn="l">
              <a:lnSpc>
                <a:spcPct val="100000"/>
              </a:lnSpc>
              <a:spcBef>
                <a:spcPct val="0"/>
              </a:spcBef>
              <a:buClrTx/>
            </a:pPr>
            <a:endParaRPr lang="nb-NO" sz="1100" b="0">
              <a:solidFill>
                <a:srgbClr val="000000"/>
              </a:solidFill>
            </a:endParaRPr>
          </a:p>
        </p:txBody>
      </p:sp>
      <p:sp>
        <p:nvSpPr>
          <p:cNvPr id="15" name="Rectangle 14"/>
          <p:cNvSpPr>
            <a:spLocks noChangeArrowheads="1"/>
          </p:cNvSpPr>
          <p:nvPr/>
        </p:nvSpPr>
        <p:spPr bwMode="auto">
          <a:xfrm>
            <a:off x="3350009" y="4750625"/>
            <a:ext cx="1984375" cy="769937"/>
          </a:xfrm>
          <a:prstGeom prst="rect">
            <a:avLst/>
          </a:prstGeom>
          <a:noFill/>
          <a:ln w="9525">
            <a:noFill/>
            <a:miter lim="800000"/>
            <a:headEnd/>
            <a:tailEnd/>
          </a:ln>
        </p:spPr>
        <p:txBody>
          <a:bodyPr>
            <a:spAutoFit/>
          </a:bodyPr>
          <a:lstStyle/>
          <a:p>
            <a:pPr algn="l">
              <a:lnSpc>
                <a:spcPct val="100000"/>
              </a:lnSpc>
              <a:spcBef>
                <a:spcPct val="0"/>
              </a:spcBef>
              <a:buClrTx/>
              <a:buFont typeface="Arial" charset="0"/>
              <a:buChar char="•"/>
            </a:pPr>
            <a:r>
              <a:rPr lang="nb-NO" sz="1100" b="0">
                <a:solidFill>
                  <a:srgbClr val="000000"/>
                </a:solidFill>
              </a:rPr>
              <a:t>Customer satisfaction survey</a:t>
            </a:r>
          </a:p>
          <a:p>
            <a:pPr algn="l">
              <a:lnSpc>
                <a:spcPct val="100000"/>
              </a:lnSpc>
              <a:spcBef>
                <a:spcPct val="0"/>
              </a:spcBef>
              <a:buClrTx/>
              <a:buFont typeface="Arial" charset="0"/>
              <a:buChar char="•"/>
            </a:pPr>
            <a:r>
              <a:rPr lang="nb-NO" sz="1100" b="0">
                <a:solidFill>
                  <a:srgbClr val="000000"/>
                </a:solidFill>
              </a:rPr>
              <a:t> Relationship based Sales number</a:t>
            </a:r>
            <a:endParaRPr lang="en-US" sz="1100" b="0" dirty="0">
              <a:solidFill>
                <a:srgbClr val="000000"/>
              </a:solidFill>
            </a:endParaRPr>
          </a:p>
        </p:txBody>
      </p:sp>
      <p:sp>
        <p:nvSpPr>
          <p:cNvPr id="16" name="Rectangle 15"/>
          <p:cNvSpPr>
            <a:spLocks noChangeArrowheads="1"/>
          </p:cNvSpPr>
          <p:nvPr/>
        </p:nvSpPr>
        <p:spPr bwMode="auto">
          <a:xfrm>
            <a:off x="5323271" y="4785550"/>
            <a:ext cx="1738313" cy="430212"/>
          </a:xfrm>
          <a:prstGeom prst="rect">
            <a:avLst/>
          </a:prstGeom>
          <a:noFill/>
          <a:ln w="9525">
            <a:noFill/>
            <a:miter lim="800000"/>
            <a:headEnd/>
            <a:tailEnd/>
          </a:ln>
        </p:spPr>
        <p:txBody>
          <a:bodyPr wrap="none">
            <a:spAutoFit/>
          </a:bodyPr>
          <a:lstStyle/>
          <a:p>
            <a:pPr algn="l">
              <a:lnSpc>
                <a:spcPct val="100000"/>
              </a:lnSpc>
              <a:spcBef>
                <a:spcPct val="0"/>
              </a:spcBef>
              <a:buClrTx/>
              <a:buFont typeface="Arial" charset="0"/>
              <a:buChar char="•"/>
            </a:pPr>
            <a:r>
              <a:rPr lang="nb-NO" sz="1100" b="0" dirty="0">
                <a:solidFill>
                  <a:srgbClr val="000000"/>
                </a:solidFill>
              </a:rPr>
              <a:t> Capability does not yet </a:t>
            </a:r>
            <a:br>
              <a:rPr lang="nb-NO" sz="1100" b="0" dirty="0">
                <a:solidFill>
                  <a:srgbClr val="000000"/>
                </a:solidFill>
              </a:rPr>
            </a:br>
            <a:r>
              <a:rPr lang="nb-NO" sz="1100" b="0" dirty="0">
                <a:solidFill>
                  <a:srgbClr val="000000"/>
                </a:solidFill>
              </a:rPr>
              <a:t>exist</a:t>
            </a:r>
          </a:p>
        </p:txBody>
      </p:sp>
      <p:sp>
        <p:nvSpPr>
          <p:cNvPr id="17" name="Rectangle 16"/>
          <p:cNvSpPr>
            <a:spLocks noChangeArrowheads="1"/>
          </p:cNvSpPr>
          <p:nvPr/>
        </p:nvSpPr>
        <p:spPr bwMode="auto">
          <a:xfrm>
            <a:off x="7079046" y="4766500"/>
            <a:ext cx="1712913" cy="431800"/>
          </a:xfrm>
          <a:prstGeom prst="rect">
            <a:avLst/>
          </a:prstGeom>
          <a:noFill/>
          <a:ln w="9525">
            <a:noFill/>
            <a:miter lim="800000"/>
            <a:headEnd/>
            <a:tailEnd/>
          </a:ln>
        </p:spPr>
        <p:txBody>
          <a:bodyPr>
            <a:spAutoFit/>
          </a:bodyPr>
          <a:lstStyle/>
          <a:p>
            <a:pPr algn="l">
              <a:lnSpc>
                <a:spcPct val="100000"/>
              </a:lnSpc>
              <a:spcBef>
                <a:spcPct val="0"/>
              </a:spcBef>
              <a:buClrTx/>
              <a:buFont typeface="Arial" charset="0"/>
              <a:buChar char="•"/>
            </a:pPr>
            <a:r>
              <a:rPr lang="nb-NO" sz="1100" b="0">
                <a:solidFill>
                  <a:srgbClr val="000000"/>
                </a:solidFill>
              </a:rPr>
              <a:t> Customer facing quality level (immediate)</a:t>
            </a:r>
          </a:p>
        </p:txBody>
      </p:sp>
      <p:sp>
        <p:nvSpPr>
          <p:cNvPr id="18" name="Rectangle 17"/>
          <p:cNvSpPr>
            <a:spLocks noChangeArrowheads="1"/>
          </p:cNvSpPr>
          <p:nvPr/>
        </p:nvSpPr>
        <p:spPr bwMode="auto">
          <a:xfrm>
            <a:off x="8807834" y="4785550"/>
            <a:ext cx="1393825" cy="244475"/>
          </a:xfrm>
          <a:prstGeom prst="rect">
            <a:avLst/>
          </a:prstGeom>
          <a:noFill/>
          <a:ln w="9525">
            <a:noFill/>
            <a:miter lim="800000"/>
            <a:headEnd/>
            <a:tailEnd/>
          </a:ln>
        </p:spPr>
        <p:txBody>
          <a:bodyPr wrap="none">
            <a:spAutoFit/>
          </a:bodyPr>
          <a:lstStyle/>
          <a:p>
            <a:pPr>
              <a:buFont typeface="Arial" charset="0"/>
              <a:buChar char="•"/>
            </a:pPr>
            <a:r>
              <a:rPr lang="nb-NO" sz="1100" b="0">
                <a:solidFill>
                  <a:srgbClr val="000000"/>
                </a:solidFill>
              </a:rPr>
              <a:t> Customer Service</a:t>
            </a:r>
            <a:endParaRPr lang="en-US" dirty="0"/>
          </a:p>
        </p:txBody>
      </p:sp>
      <p:sp>
        <p:nvSpPr>
          <p:cNvPr id="20" name="Oval 19"/>
          <p:cNvSpPr/>
          <p:nvPr/>
        </p:nvSpPr>
        <p:spPr>
          <a:xfrm>
            <a:off x="5180012" y="4495800"/>
            <a:ext cx="1752600" cy="914400"/>
          </a:xfrm>
          <a:prstGeom prst="ellipse">
            <a:avLst/>
          </a:prstGeom>
          <a:no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500"/>
                                        <p:tgtEl>
                                          <p:spTgt spid="8"/>
                                        </p:tgtEl>
                                      </p:cBhvr>
                                    </p:animEffect>
                                  </p:childTnLst>
                                </p:cTn>
                              </p:par>
                            </p:childTnLst>
                          </p:cTn>
                        </p:par>
                        <p:par>
                          <p:cTn id="23" fill="hold">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up)">
                                      <p:cBhvr>
                                        <p:cTn id="26" dur="500"/>
                                        <p:tgtEl>
                                          <p:spTgt spid="11"/>
                                        </p:tgtEl>
                                      </p:cBhvr>
                                    </p:animEffect>
                                  </p:childTnLst>
                                </p:cTn>
                              </p:par>
                            </p:childTnLst>
                          </p:cTn>
                        </p:par>
                        <p:par>
                          <p:cTn id="27" fill="hold">
                            <p:stCondLst>
                              <p:cond delay="1000"/>
                            </p:stCondLst>
                            <p:childTnLst>
                              <p:par>
                                <p:cTn id="28" presetID="22" presetClass="entr" presetSubtype="1"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up)">
                                      <p:cBhvr>
                                        <p:cTn id="30" dur="500"/>
                                        <p:tgtEl>
                                          <p:spTgt spid="12"/>
                                        </p:tgtEl>
                                      </p:cBhvr>
                                    </p:animEffect>
                                  </p:childTnLst>
                                </p:cTn>
                              </p:par>
                            </p:childTnLst>
                          </p:cTn>
                        </p:par>
                        <p:par>
                          <p:cTn id="31" fill="hold">
                            <p:stCondLst>
                              <p:cond delay="1500"/>
                            </p:stCondLst>
                            <p:childTnLst>
                              <p:par>
                                <p:cTn id="32" presetID="22" presetClass="entr" presetSubtype="1"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up)">
                                      <p:cBhvr>
                                        <p:cTn id="34" dur="500"/>
                                        <p:tgtEl>
                                          <p:spTgt spid="13"/>
                                        </p:tgtEl>
                                      </p:cBhvr>
                                    </p:animEffect>
                                  </p:childTnLst>
                                </p:cTn>
                              </p:par>
                            </p:childTnLst>
                          </p:cTn>
                        </p:par>
                        <p:par>
                          <p:cTn id="35" fill="hold">
                            <p:stCondLst>
                              <p:cond delay="2000"/>
                            </p:stCondLst>
                            <p:childTnLst>
                              <p:par>
                                <p:cTn id="36" presetID="22" presetClass="entr" presetSubtype="1"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up)">
                                      <p:cBhvr>
                                        <p:cTn id="38" dur="500"/>
                                        <p:tgtEl>
                                          <p:spTgt spid="14"/>
                                        </p:tgtEl>
                                      </p:cBhvr>
                                    </p:animEffect>
                                  </p:childTnLst>
                                </p:cTn>
                              </p:par>
                            </p:childTnLst>
                          </p:cTn>
                        </p:par>
                        <p:par>
                          <p:cTn id="39" fill="hold">
                            <p:stCondLst>
                              <p:cond delay="2500"/>
                            </p:stCondLst>
                            <p:childTnLst>
                              <p:par>
                                <p:cTn id="40" presetID="22" presetClass="entr" presetSubtype="1"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up)">
                                      <p:cBhvr>
                                        <p:cTn id="42" dur="500"/>
                                        <p:tgtEl>
                                          <p:spTgt spid="15"/>
                                        </p:tgtEl>
                                      </p:cBhvr>
                                    </p:animEffect>
                                  </p:childTnLst>
                                </p:cTn>
                              </p:par>
                            </p:childTnLst>
                          </p:cTn>
                        </p:par>
                        <p:par>
                          <p:cTn id="43" fill="hold">
                            <p:stCondLst>
                              <p:cond delay="3000"/>
                            </p:stCondLst>
                            <p:childTnLst>
                              <p:par>
                                <p:cTn id="44" presetID="22" presetClass="entr" presetSubtype="1"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up)">
                                      <p:cBhvr>
                                        <p:cTn id="46" dur="500"/>
                                        <p:tgtEl>
                                          <p:spTgt spid="16"/>
                                        </p:tgtEl>
                                      </p:cBhvr>
                                    </p:animEffect>
                                  </p:childTnLst>
                                </p:cTn>
                              </p:par>
                            </p:childTnLst>
                          </p:cTn>
                        </p:par>
                        <p:par>
                          <p:cTn id="47" fill="hold">
                            <p:stCondLst>
                              <p:cond delay="3500"/>
                            </p:stCondLst>
                            <p:childTnLst>
                              <p:par>
                                <p:cTn id="48" presetID="22" presetClass="entr" presetSubtype="1"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up)">
                                      <p:cBhvr>
                                        <p:cTn id="50" dur="500"/>
                                        <p:tgtEl>
                                          <p:spTgt spid="17"/>
                                        </p:tgtEl>
                                      </p:cBhvr>
                                    </p:animEffect>
                                  </p:childTnLst>
                                </p:cTn>
                              </p:par>
                            </p:childTnLst>
                          </p:cTn>
                        </p:par>
                        <p:par>
                          <p:cTn id="51" fill="hold">
                            <p:stCondLst>
                              <p:cond delay="4000"/>
                            </p:stCondLst>
                            <p:childTnLst>
                              <p:par>
                                <p:cTn id="52" presetID="22" presetClass="entr" presetSubtype="1" fill="hold" grpId="0" nodeType="after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wipe(up)">
                                      <p:cBhvr>
                                        <p:cTn id="5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1" grpId="0"/>
      <p:bldP spid="12" grpId="0"/>
      <p:bldP spid="13" grpId="0"/>
      <p:bldP spid="14" grpId="0"/>
      <p:bldP spid="15" grpId="0"/>
      <p:bldP spid="16" grpId="0"/>
      <p:bldP spid="17"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15373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 xmlns:thm15="http://schemas.microsoft.com/office/thememl/2012/main"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149</TotalTime>
  <Words>1583</Words>
  <Application>Microsoft Office PowerPoint</Application>
  <PresentationFormat>Custom</PresentationFormat>
  <Paragraphs>321</Paragraphs>
  <Slides>15</Slides>
  <Notes>14</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17" baseType="lpstr">
      <vt:lpstr>blank</vt:lpstr>
      <vt:lpstr>Visio</vt:lpstr>
      <vt:lpstr>Slide 1</vt:lpstr>
      <vt:lpstr>&lt;AREA&gt; Capability Model</vt:lpstr>
      <vt:lpstr>Introduction</vt:lpstr>
      <vt:lpstr>Scope of Analysis</vt:lpstr>
      <vt:lpstr>Top-Level Business Capabilities</vt:lpstr>
      <vt:lpstr>Top-Level Business Capabilities – Scope</vt:lpstr>
      <vt:lpstr>&lt;Capability Group&gt; Capability</vt:lpstr>
      <vt:lpstr>Relative Impact on Business Objectives</vt:lpstr>
      <vt:lpstr>Relative Impact on Business Objectives</vt:lpstr>
      <vt:lpstr>Strategic Significance (Differentiating Capability)</vt:lpstr>
      <vt:lpstr>Reliance or Impact on Key Processes</vt:lpstr>
      <vt:lpstr>Reliance or Impact on IT</vt:lpstr>
      <vt:lpstr>Detailing &lt;Capability Name&gt; Capability</vt:lpstr>
      <vt:lpstr>Detailing Customer Service Capabilities</vt:lpstr>
      <vt:lpstr>Slide 15</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EA.040 Capability Analysis Results</dc:title>
  <dc:creator>Oracle Global Methods</dc:creator>
  <cp:keywords>OUM</cp:keywords>
  <dc:description>Copyright © 2016, Oracle and/or its affiliates.  All rights reserved.</dc:description>
  <cp:lastModifiedBy>masander</cp:lastModifiedBy>
  <cp:revision>15</cp:revision>
  <dcterms:created xsi:type="dcterms:W3CDTF">2014-06-16T21:16:48Z</dcterms:created>
  <dcterms:modified xsi:type="dcterms:W3CDTF">2016-01-12T18:33:45Z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