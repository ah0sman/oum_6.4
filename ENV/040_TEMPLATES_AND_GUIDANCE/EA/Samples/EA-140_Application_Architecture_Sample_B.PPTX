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354" r:id="rId2"/>
    <p:sldId id="258" r:id="rId3"/>
    <p:sldId id="355" r:id="rId4"/>
    <p:sldId id="356" r:id="rId5"/>
    <p:sldId id="357" r:id="rId6"/>
    <p:sldId id="358" r:id="rId7"/>
    <p:sldId id="359" r:id="rId8"/>
    <p:sldId id="360" r:id="rId9"/>
    <p:sldId id="289" r:id="rId10"/>
  </p:sldIdLst>
  <p:sldSz cx="12188825"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orient="horz" pos="3744">
          <p15:clr>
            <a:srgbClr val="A4A3A4"/>
          </p15:clr>
        </p15:guide>
        <p15:guide id="3" orient="horz" pos="960">
          <p15:clr>
            <a:srgbClr val="A4A3A4"/>
          </p15:clr>
        </p15:guide>
        <p15:guide id="4" orient="horz" pos="1248">
          <p15:clr>
            <a:srgbClr val="A4A3A4"/>
          </p15:clr>
        </p15:guide>
        <p15:guide id="5" pos="3839">
          <p15:clr>
            <a:srgbClr val="A4A3A4"/>
          </p15:clr>
        </p15:guide>
        <p15:guide id="6" pos="7343">
          <p15:clr>
            <a:srgbClr val="A4A3A4"/>
          </p15:clr>
        </p15:guide>
        <p15:guide id="7" pos="335">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5F5F5F"/>
    <a:srgbClr val="46575E"/>
    <a:srgbClr val="B0C3C8"/>
    <a:srgbClr val="8DA6B1"/>
    <a:srgbClr val="41555E"/>
    <a:srgbClr val="61808E"/>
    <a:srgbClr val="BBCAD0"/>
    <a:srgbClr val="D1DBE0"/>
    <a:srgbClr val="E8EDEF"/>
    <a:srgbClr val="232C2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82" autoAdjust="0"/>
    <p:restoredTop sz="90834" autoAdjust="0"/>
  </p:normalViewPr>
  <p:slideViewPr>
    <p:cSldViewPr snapToGrid="0">
      <p:cViewPr varScale="1">
        <p:scale>
          <a:sx n="80" d="100"/>
          <a:sy n="80" d="100"/>
        </p:scale>
        <p:origin x="-1002" y="-84"/>
      </p:cViewPr>
      <p:guideLst>
        <p:guide orient="horz" pos="2160"/>
        <p:guide orient="horz" pos="3744"/>
        <p:guide orient="horz" pos="960"/>
        <p:guide orient="horz" pos="1248"/>
        <p:guide pos="3839"/>
        <p:guide pos="7343"/>
        <p:guide pos="335"/>
      </p:guideLst>
    </p:cSldViewPr>
  </p:slideViewPr>
  <p:outlineViewPr>
    <p:cViewPr>
      <p:scale>
        <a:sx n="33" d="100"/>
        <a:sy n="33" d="100"/>
      </p:scale>
      <p:origin x="0" y="19746"/>
    </p:cViewPr>
  </p:outlineViewPr>
  <p:notesTextViewPr>
    <p:cViewPr>
      <p:scale>
        <a:sx n="1" d="1"/>
        <a:sy n="1" d="1"/>
      </p:scale>
      <p:origin x="0" y="0"/>
    </p:cViewPr>
  </p:notesTextViewPr>
  <p:sorterViewPr>
    <p:cViewPr>
      <p:scale>
        <a:sx n="75" d="100"/>
        <a:sy n="75" d="100"/>
      </p:scale>
      <p:origin x="0" y="0"/>
    </p:cViewPr>
  </p:sorterViewPr>
  <p:notesViewPr>
    <p:cSldViewPr snapToGrid="0">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10/3/2014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p14="http://schemas.microsoft.com/office/powerpoint/2010/main" xmlns=""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p14="http://schemas.microsoft.com/office/powerpoint/2010/main" xmlns=""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fontScale="92500" lnSpcReduction="10000"/>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a:p>
            <a:pPr marL="0" indent="0">
              <a:buNone/>
            </a:pPr>
            <a:endParaRPr lang="en-US" baseline="0" dirty="0" smtClean="0"/>
          </a:p>
          <a:p>
            <a:pPr marL="0" indent="0">
              <a:buNone/>
            </a:pPr>
            <a:r>
              <a:rPr lang="en-US" sz="1100" b="0" kern="1200" dirty="0" smtClean="0">
                <a:solidFill>
                  <a:schemeClr val="tx1"/>
                </a:solidFill>
                <a:latin typeface="+mn-lt"/>
                <a:ea typeface="+mn-ea"/>
                <a:cs typeface="+mn-cs"/>
              </a:rPr>
              <a:t>To </a:t>
            </a:r>
            <a:r>
              <a:rPr lang="en-US" sz="1100" b="1" kern="1200" dirty="0" smtClean="0">
                <a:solidFill>
                  <a:schemeClr val="tx1"/>
                </a:solidFill>
                <a:latin typeface="+mn-lt"/>
                <a:ea typeface="+mn-ea"/>
                <a:cs typeface="+mn-cs"/>
              </a:rPr>
              <a:t>copy the Customized Background </a:t>
            </a:r>
            <a:r>
              <a:rPr lang="en-US" sz="1100" b="0" kern="1200" dirty="0" smtClean="0">
                <a:solidFill>
                  <a:schemeClr val="tx1"/>
                </a:solidFill>
                <a:latin typeface="+mn-lt"/>
                <a:ea typeface="+mn-ea"/>
                <a:cs typeface="+mn-cs"/>
              </a:rPr>
              <a:t>from Another Presentation on </a:t>
            </a:r>
            <a:r>
              <a:rPr lang="en-US" sz="1100" b="1" kern="1200" dirty="0" smtClean="0">
                <a:solidFill>
                  <a:schemeClr val="tx1"/>
                </a:solidFill>
                <a:latin typeface="+mn-lt"/>
                <a:ea typeface="+mn-ea"/>
                <a:cs typeface="+mn-cs"/>
              </a:rPr>
              <a:t>PC</a:t>
            </a:r>
            <a:endParaRPr lang="en-US" sz="1100" b="0" kern="1200" dirty="0" smtClean="0">
              <a:solidFill>
                <a:schemeClr val="tx1"/>
              </a:solidFill>
              <a:latin typeface="+mn-lt"/>
              <a:ea typeface="+mn-ea"/>
              <a:cs typeface="+mn-cs"/>
            </a:endParaRPr>
          </a:p>
          <a:p>
            <a:pPr marL="228600" indent="-228600">
              <a:buFont typeface="+mj-lt"/>
              <a:buAutoNum type="arabicPeriod"/>
            </a:pPr>
            <a:r>
              <a:rPr lang="en-US" sz="1100" b="0" kern="1200" dirty="0" smtClean="0">
                <a:solidFill>
                  <a:schemeClr val="tx1"/>
                </a:solidFill>
                <a:latin typeface="+mn-lt"/>
                <a:ea typeface="+mn-ea"/>
                <a:cs typeface="+mn-cs"/>
              </a:rPr>
              <a:t>Click </a:t>
            </a:r>
            <a:r>
              <a:rPr lang="en-US" sz="1100" b="1" kern="1200" dirty="0" smtClean="0">
                <a:solidFill>
                  <a:schemeClr val="tx1"/>
                </a:solidFill>
                <a:latin typeface="+mn-lt"/>
                <a:ea typeface="+mn-ea"/>
                <a:cs typeface="+mn-cs"/>
              </a:rPr>
              <a:t>New Slide</a:t>
            </a:r>
            <a:r>
              <a:rPr lang="en-US" sz="1100" b="0" kern="1200" dirty="0" smtClean="0">
                <a:solidFill>
                  <a:schemeClr val="tx1"/>
                </a:solidFill>
                <a:latin typeface="+mn-lt"/>
                <a:ea typeface="+mn-ea"/>
                <a:cs typeface="+mn-cs"/>
              </a:rPr>
              <a:t> from the </a:t>
            </a:r>
            <a:r>
              <a:rPr lang="en-US" sz="1100" b="1" kern="1200" dirty="0" smtClean="0">
                <a:solidFill>
                  <a:schemeClr val="tx1"/>
                </a:solidFill>
                <a:latin typeface="+mn-lt"/>
                <a:ea typeface="+mn-ea"/>
                <a:cs typeface="+mn-cs"/>
              </a:rPr>
              <a:t>Home</a:t>
            </a:r>
            <a:r>
              <a:rPr lang="en-US" sz="1100" b="0" kern="1200" dirty="0" smtClean="0">
                <a:solidFill>
                  <a:schemeClr val="tx1"/>
                </a:solidFill>
                <a:latin typeface="+mn-lt"/>
                <a:ea typeface="+mn-ea"/>
                <a:cs typeface="+mn-cs"/>
              </a:rPr>
              <a:t> tab's </a:t>
            </a:r>
            <a:r>
              <a:rPr lang="en-US" sz="1100" b="1" kern="1200" dirty="0" smtClean="0">
                <a:solidFill>
                  <a:schemeClr val="tx1"/>
                </a:solidFill>
                <a:latin typeface="+mn-lt"/>
                <a:ea typeface="+mn-ea"/>
                <a:cs typeface="+mn-cs"/>
              </a:rPr>
              <a:t>Slides</a:t>
            </a:r>
            <a:r>
              <a:rPr lang="en-US" sz="1100" b="0" kern="1200" dirty="0" smtClean="0">
                <a:solidFill>
                  <a:schemeClr val="tx1"/>
                </a:solidFill>
                <a:latin typeface="+mn-lt"/>
                <a:ea typeface="+mn-ea"/>
                <a:cs typeface="+mn-cs"/>
              </a:rPr>
              <a:t> group and select </a:t>
            </a:r>
            <a:r>
              <a:rPr lang="en-US" sz="1100" b="1" kern="1200" dirty="0" smtClean="0">
                <a:solidFill>
                  <a:schemeClr val="tx1"/>
                </a:solidFill>
                <a:latin typeface="+mn-lt"/>
                <a:ea typeface="+mn-ea"/>
                <a:cs typeface="+mn-cs"/>
              </a:rPr>
              <a:t>Reuse Slides</a:t>
            </a:r>
            <a:r>
              <a:rPr lang="en-US" sz="1100" b="0" kern="1200" dirty="0" smtClean="0">
                <a:solidFill>
                  <a:schemeClr val="tx1"/>
                </a:solidFill>
                <a:latin typeface="+mn-lt"/>
                <a:ea typeface="+mn-ea"/>
                <a:cs typeface="+mn-cs"/>
              </a:rPr>
              <a:t>.</a:t>
            </a:r>
          </a:p>
          <a:p>
            <a:pPr marL="228600" indent="-228600">
              <a:buFont typeface="+mj-lt"/>
              <a:buAutoNum type="arabicPeriod"/>
            </a:pPr>
            <a:r>
              <a:rPr lang="en-US" sz="1100" b="0" kern="1200" dirty="0" smtClean="0">
                <a:solidFill>
                  <a:schemeClr val="tx1"/>
                </a:solidFill>
                <a:latin typeface="+mn-lt"/>
                <a:ea typeface="+mn-ea"/>
                <a:cs typeface="+mn-cs"/>
              </a:rPr>
              <a:t>Click </a:t>
            </a:r>
            <a:r>
              <a:rPr lang="en-US" sz="1100" b="1" kern="1200" dirty="0" smtClean="0">
                <a:solidFill>
                  <a:schemeClr val="tx1"/>
                </a:solidFill>
                <a:latin typeface="+mn-lt"/>
                <a:ea typeface="+mn-ea"/>
                <a:cs typeface="+mn-cs"/>
              </a:rPr>
              <a:t>Browse</a:t>
            </a:r>
            <a:r>
              <a:rPr lang="en-US" sz="1100" b="0" kern="1200" dirty="0" smtClean="0">
                <a:solidFill>
                  <a:schemeClr val="tx1"/>
                </a:solidFill>
                <a:latin typeface="+mn-lt"/>
                <a:ea typeface="+mn-ea"/>
                <a:cs typeface="+mn-cs"/>
              </a:rPr>
              <a:t> in the </a:t>
            </a:r>
            <a:r>
              <a:rPr lang="en-US" sz="1100" b="1" kern="1200" dirty="0" smtClean="0">
                <a:solidFill>
                  <a:schemeClr val="tx1"/>
                </a:solidFill>
                <a:latin typeface="+mn-lt"/>
                <a:ea typeface="+mn-ea"/>
                <a:cs typeface="+mn-cs"/>
              </a:rPr>
              <a:t>Reuse Slides </a:t>
            </a:r>
            <a:r>
              <a:rPr lang="en-US" sz="1100" b="0" kern="1200" dirty="0" smtClean="0">
                <a:solidFill>
                  <a:schemeClr val="tx1"/>
                </a:solidFill>
                <a:latin typeface="+mn-lt"/>
                <a:ea typeface="+mn-ea"/>
                <a:cs typeface="+mn-cs"/>
              </a:rPr>
              <a:t>panel and select </a:t>
            </a:r>
            <a:r>
              <a:rPr lang="en-US" sz="1100" b="1" kern="1200" dirty="0" smtClean="0">
                <a:solidFill>
                  <a:schemeClr val="tx1"/>
                </a:solidFill>
                <a:latin typeface="+mn-lt"/>
                <a:ea typeface="+mn-ea"/>
                <a:cs typeface="+mn-cs"/>
              </a:rPr>
              <a:t>Browse Files</a:t>
            </a:r>
            <a:r>
              <a:rPr lang="en-US" sz="1100" b="0" kern="1200" dirty="0" smtClean="0">
                <a:solidFill>
                  <a:schemeClr val="tx1"/>
                </a:solidFill>
                <a:latin typeface="+mn-lt"/>
                <a:ea typeface="+mn-ea"/>
                <a:cs typeface="+mn-cs"/>
              </a:rPr>
              <a:t>. Double-click the PowerPoint presentation that contains the background you wish to copy.</a:t>
            </a:r>
          </a:p>
          <a:p>
            <a:pPr marL="228600" indent="-228600">
              <a:buFont typeface="+mj-lt"/>
              <a:buAutoNum type="arabicPeriod"/>
            </a:pPr>
            <a:r>
              <a:rPr lang="en-US" sz="1100" b="0" kern="1200" dirty="0" smtClean="0">
                <a:solidFill>
                  <a:schemeClr val="tx1"/>
                </a:solidFill>
                <a:latin typeface="+mn-lt"/>
                <a:ea typeface="+mn-ea"/>
                <a:cs typeface="+mn-cs"/>
              </a:rPr>
              <a:t>Check</a:t>
            </a:r>
            <a:r>
              <a:rPr lang="en-US" sz="1100" b="0" kern="1200" baseline="0" dirty="0" smtClean="0">
                <a:solidFill>
                  <a:schemeClr val="tx1"/>
                </a:solidFill>
                <a:latin typeface="+mn-lt"/>
                <a:ea typeface="+mn-ea"/>
                <a:cs typeface="+mn-cs"/>
              </a:rPr>
              <a:t> </a:t>
            </a:r>
            <a:r>
              <a:rPr lang="en-US" sz="1100" b="1" kern="1200" dirty="0" smtClean="0">
                <a:solidFill>
                  <a:schemeClr val="tx1"/>
                </a:solidFill>
                <a:latin typeface="+mn-lt"/>
                <a:ea typeface="+mn-ea"/>
                <a:cs typeface="+mn-cs"/>
              </a:rPr>
              <a:t>Keep Source Formatting</a:t>
            </a:r>
            <a:r>
              <a:rPr lang="en-US" sz="1100" b="0" kern="1200" dirty="0" smtClean="0">
                <a:solidFill>
                  <a:schemeClr val="tx1"/>
                </a:solidFill>
                <a:latin typeface="+mn-lt"/>
                <a:ea typeface="+mn-ea"/>
                <a:cs typeface="+mn-cs"/>
              </a:rPr>
              <a:t> and click the slide that contains the background you want.</a:t>
            </a:r>
          </a:p>
          <a:p>
            <a:pPr marL="228600" indent="-228600">
              <a:buFont typeface="+mj-lt"/>
              <a:buAutoNum type="arabicPeriod"/>
            </a:pPr>
            <a:r>
              <a:rPr lang="en-US" sz="1100" b="0" kern="1200" dirty="0" smtClean="0">
                <a:solidFill>
                  <a:schemeClr val="tx1"/>
                </a:solidFill>
                <a:latin typeface="+mn-lt"/>
                <a:ea typeface="+mn-ea"/>
                <a:cs typeface="+mn-cs"/>
              </a:rPr>
              <a:t>Click the left-hand slide preview to which you wish to apply the new master layout. </a:t>
            </a:r>
          </a:p>
          <a:p>
            <a:pPr marL="228600" indent="-228600">
              <a:buFont typeface="+mj-lt"/>
              <a:buAutoNum type="arabicPeriod"/>
            </a:pPr>
            <a:r>
              <a:rPr lang="en-US" sz="1100" b="1" kern="1200" dirty="0" smtClean="0">
                <a:solidFill>
                  <a:schemeClr val="tx1"/>
                </a:solidFill>
                <a:latin typeface="+mn-lt"/>
                <a:ea typeface="+mn-ea"/>
                <a:cs typeface="+mn-cs"/>
              </a:rPr>
              <a:t>Apply New Layout (Important): Right-click</a:t>
            </a:r>
            <a:r>
              <a:rPr lang="en-US" sz="1100" b="0" kern="1200" dirty="0" smtClean="0">
                <a:solidFill>
                  <a:schemeClr val="tx1"/>
                </a:solidFill>
                <a:latin typeface="+mn-lt"/>
                <a:ea typeface="+mn-ea"/>
                <a:cs typeface="+mn-cs"/>
              </a:rPr>
              <a:t> any selected slide, point to </a:t>
            </a:r>
            <a:r>
              <a:rPr lang="en-US" sz="1100" b="1" kern="1200" dirty="0" smtClean="0">
                <a:solidFill>
                  <a:schemeClr val="tx1"/>
                </a:solidFill>
                <a:latin typeface="+mn-lt"/>
                <a:ea typeface="+mn-ea"/>
                <a:cs typeface="+mn-cs"/>
              </a:rPr>
              <a:t>Layout</a:t>
            </a:r>
            <a:r>
              <a:rPr lang="en-US" sz="1100" b="0" kern="1200" dirty="0" smtClean="0">
                <a:solidFill>
                  <a:schemeClr val="tx1"/>
                </a:solidFill>
                <a:latin typeface="+mn-lt"/>
                <a:ea typeface="+mn-ea"/>
                <a:cs typeface="+mn-cs"/>
              </a:rPr>
              <a:t>, and click the slide containing the desired layout from the layout gallery. </a:t>
            </a:r>
          </a:p>
          <a:p>
            <a:pPr marL="228600" indent="-228600">
              <a:buFont typeface="+mj-lt"/>
              <a:buAutoNum type="arabicPeriod"/>
            </a:pPr>
            <a:r>
              <a:rPr lang="en-US" sz="1100" b="0" kern="1200" dirty="0" smtClean="0">
                <a:solidFill>
                  <a:schemeClr val="tx1"/>
                </a:solidFill>
                <a:latin typeface="+mn-lt"/>
                <a:ea typeface="+mn-ea"/>
                <a:cs typeface="+mn-cs"/>
              </a:rPr>
              <a:t>Delete any unwanted slides or duplicates.</a:t>
            </a:r>
          </a:p>
          <a:p>
            <a:pPr marL="228600" indent="-228600">
              <a:buFont typeface="+mj-lt"/>
              <a:buAutoNum type="arabicPeriod"/>
            </a:pPr>
            <a:endParaRPr lang="en-US" sz="1100" b="0" kern="1200" dirty="0" smtClean="0">
              <a:solidFill>
                <a:schemeClr val="tx1"/>
              </a:solidFill>
              <a:latin typeface="+mn-lt"/>
              <a:ea typeface="+mn-ea"/>
              <a:cs typeface="+mn-cs"/>
            </a:endParaRPr>
          </a:p>
          <a:p>
            <a:pPr marL="0" indent="0">
              <a:buFont typeface="+mj-lt"/>
              <a:buNone/>
            </a:pPr>
            <a:r>
              <a:rPr lang="en-US" sz="1100" b="0" kern="1200" dirty="0" smtClean="0">
                <a:solidFill>
                  <a:schemeClr val="tx1"/>
                </a:solidFill>
                <a:latin typeface="+mn-lt"/>
                <a:ea typeface="+mn-ea"/>
                <a:cs typeface="+mn-cs"/>
              </a:rPr>
              <a:t>To </a:t>
            </a:r>
            <a:r>
              <a:rPr lang="en-US" sz="1100" b="1" kern="1200" dirty="0" smtClean="0">
                <a:solidFill>
                  <a:schemeClr val="tx1"/>
                </a:solidFill>
                <a:latin typeface="+mn-lt"/>
                <a:ea typeface="+mn-ea"/>
                <a:cs typeface="+mn-cs"/>
              </a:rPr>
              <a:t>copy the Customized Background</a:t>
            </a:r>
            <a:r>
              <a:rPr lang="en-US" sz="1100" b="0" kern="1200" dirty="0" smtClean="0">
                <a:solidFill>
                  <a:schemeClr val="tx1"/>
                </a:solidFill>
                <a:latin typeface="+mn-lt"/>
                <a:ea typeface="+mn-ea"/>
                <a:cs typeface="+mn-cs"/>
              </a:rPr>
              <a:t> from Another Presentation on </a:t>
            </a:r>
            <a:r>
              <a:rPr lang="en-US" sz="1100" b="1" kern="1200" dirty="0" smtClean="0">
                <a:solidFill>
                  <a:schemeClr val="tx1"/>
                </a:solidFill>
                <a:latin typeface="+mn-lt"/>
                <a:ea typeface="+mn-ea"/>
                <a:cs typeface="+mn-cs"/>
              </a:rPr>
              <a:t>Mac</a:t>
            </a:r>
          </a:p>
          <a:p>
            <a:pPr marL="228600" indent="-228600">
              <a:buFont typeface="+mj-lt"/>
              <a:buAutoNum type="arabicPeriod"/>
            </a:pPr>
            <a:r>
              <a:rPr lang="en-US" sz="1100" b="0" kern="1200" dirty="0" smtClean="0">
                <a:solidFill>
                  <a:schemeClr val="tx1"/>
                </a:solidFill>
                <a:latin typeface="+mn-lt"/>
                <a:ea typeface="+mn-ea"/>
                <a:cs typeface="+mn-cs"/>
              </a:rPr>
              <a:t>Click </a:t>
            </a:r>
            <a:r>
              <a:rPr lang="en-US" sz="1100" b="1" kern="1200" dirty="0" smtClean="0">
                <a:solidFill>
                  <a:schemeClr val="tx1"/>
                </a:solidFill>
                <a:latin typeface="+mn-lt"/>
                <a:ea typeface="+mn-ea"/>
                <a:cs typeface="+mn-cs"/>
              </a:rPr>
              <a:t>New Slide</a:t>
            </a:r>
            <a:r>
              <a:rPr lang="en-US" sz="1100" b="0" kern="1200" dirty="0" smtClean="0">
                <a:solidFill>
                  <a:schemeClr val="tx1"/>
                </a:solidFill>
                <a:latin typeface="+mn-lt"/>
                <a:ea typeface="+mn-ea"/>
                <a:cs typeface="+mn-cs"/>
              </a:rPr>
              <a:t> from the </a:t>
            </a:r>
            <a:r>
              <a:rPr lang="en-US" sz="1100" b="1" kern="1200" dirty="0" smtClean="0">
                <a:solidFill>
                  <a:schemeClr val="tx1"/>
                </a:solidFill>
                <a:latin typeface="+mn-lt"/>
                <a:ea typeface="+mn-ea"/>
                <a:cs typeface="+mn-cs"/>
              </a:rPr>
              <a:t>Home</a:t>
            </a:r>
            <a:r>
              <a:rPr lang="en-US" sz="1100" b="0" kern="1200" dirty="0" smtClean="0">
                <a:solidFill>
                  <a:schemeClr val="tx1"/>
                </a:solidFill>
                <a:latin typeface="+mn-lt"/>
                <a:ea typeface="+mn-ea"/>
                <a:cs typeface="+mn-cs"/>
              </a:rPr>
              <a:t> tab's </a:t>
            </a:r>
            <a:r>
              <a:rPr lang="en-US" sz="1100" b="1" kern="1200" dirty="0" smtClean="0">
                <a:solidFill>
                  <a:schemeClr val="tx1"/>
                </a:solidFill>
                <a:latin typeface="+mn-lt"/>
                <a:ea typeface="+mn-ea"/>
                <a:cs typeface="+mn-cs"/>
              </a:rPr>
              <a:t>Slides</a:t>
            </a:r>
            <a:r>
              <a:rPr lang="en-US" sz="1100" b="0" kern="1200" dirty="0" smtClean="0">
                <a:solidFill>
                  <a:schemeClr val="tx1"/>
                </a:solidFill>
                <a:latin typeface="+mn-lt"/>
                <a:ea typeface="+mn-ea"/>
                <a:cs typeface="+mn-cs"/>
              </a:rPr>
              <a:t> group and select </a:t>
            </a:r>
            <a:r>
              <a:rPr lang="en-US" sz="1100" b="1" kern="1200" dirty="0" smtClean="0">
                <a:solidFill>
                  <a:schemeClr val="tx1"/>
                </a:solidFill>
                <a:latin typeface="+mn-lt"/>
                <a:ea typeface="+mn-ea"/>
                <a:cs typeface="+mn-cs"/>
              </a:rPr>
              <a:t>Insert Slides from Other Presentation…</a:t>
            </a:r>
            <a:endParaRPr lang="en-US" sz="1100" b="0" kern="1200" dirty="0" smtClean="0">
              <a:solidFill>
                <a:schemeClr val="tx1"/>
              </a:solidFill>
              <a:latin typeface="+mn-lt"/>
              <a:ea typeface="+mn-ea"/>
              <a:cs typeface="+mn-cs"/>
            </a:endParaRPr>
          </a:p>
          <a:p>
            <a:pPr marL="228600" indent="-228600">
              <a:buFont typeface="+mj-lt"/>
              <a:buAutoNum type="arabicPeriod"/>
            </a:pPr>
            <a:r>
              <a:rPr lang="en-US" sz="1100" b="0" kern="1200" dirty="0" smtClean="0">
                <a:solidFill>
                  <a:schemeClr val="tx1"/>
                </a:solidFill>
                <a:latin typeface="+mn-lt"/>
                <a:ea typeface="+mn-ea"/>
                <a:cs typeface="+mn-cs"/>
              </a:rPr>
              <a:t>Navigate to the PowerPoint presentation file that contains the background you wish to copy. Double-click or press </a:t>
            </a:r>
            <a:r>
              <a:rPr lang="en-US" sz="1100" b="1" kern="1200" dirty="0" smtClean="0">
                <a:solidFill>
                  <a:schemeClr val="tx1"/>
                </a:solidFill>
                <a:latin typeface="+mn-lt"/>
                <a:ea typeface="+mn-ea"/>
                <a:cs typeface="+mn-cs"/>
              </a:rPr>
              <a:t>Insert. </a:t>
            </a:r>
            <a:r>
              <a:rPr lang="en-US" sz="1100" b="0" kern="1200" dirty="0" smtClean="0">
                <a:solidFill>
                  <a:schemeClr val="tx1"/>
                </a:solidFill>
                <a:latin typeface="+mn-lt"/>
                <a:ea typeface="+mn-ea"/>
                <a:cs typeface="+mn-cs"/>
              </a:rPr>
              <a:t>This prompts the </a:t>
            </a:r>
            <a:r>
              <a:rPr lang="en-US" sz="1100" b="1" kern="1200" dirty="0" smtClean="0">
                <a:solidFill>
                  <a:schemeClr val="tx1"/>
                </a:solidFill>
                <a:latin typeface="+mn-lt"/>
                <a:ea typeface="+mn-ea"/>
                <a:cs typeface="+mn-cs"/>
              </a:rPr>
              <a:t>Slide Finder</a:t>
            </a:r>
            <a:r>
              <a:rPr lang="en-US" sz="1100" b="0" kern="1200" dirty="0" smtClean="0">
                <a:solidFill>
                  <a:schemeClr val="tx1"/>
                </a:solidFill>
                <a:latin typeface="+mn-lt"/>
                <a:ea typeface="+mn-ea"/>
                <a:cs typeface="+mn-cs"/>
              </a:rPr>
              <a:t> dialogue box.</a:t>
            </a:r>
          </a:p>
          <a:p>
            <a:pPr marL="228600" indent="-228600">
              <a:buFont typeface="+mj-lt"/>
              <a:buAutoNum type="arabicPeriod"/>
            </a:pPr>
            <a:r>
              <a:rPr lang="en-US" sz="1100" b="0" kern="1200" dirty="0" smtClean="0">
                <a:solidFill>
                  <a:schemeClr val="tx1"/>
                </a:solidFill>
                <a:latin typeface="+mn-lt"/>
                <a:ea typeface="+mn-ea"/>
                <a:cs typeface="+mn-cs"/>
              </a:rPr>
              <a:t>Make sure </a:t>
            </a:r>
            <a:r>
              <a:rPr lang="en-US" sz="1100" b="1" kern="1200" dirty="0" smtClean="0">
                <a:solidFill>
                  <a:schemeClr val="tx1"/>
                </a:solidFill>
                <a:latin typeface="+mn-lt"/>
                <a:ea typeface="+mn-ea"/>
                <a:cs typeface="+mn-cs"/>
              </a:rPr>
              <a:t>Keep design of original slides</a:t>
            </a:r>
            <a:r>
              <a:rPr lang="en-US" sz="1100" b="0" kern="1200" dirty="0" smtClean="0">
                <a:solidFill>
                  <a:schemeClr val="tx1"/>
                </a:solidFill>
                <a:latin typeface="+mn-lt"/>
                <a:ea typeface="+mn-ea"/>
                <a:cs typeface="+mn-cs"/>
              </a:rPr>
              <a:t> is </a:t>
            </a:r>
            <a:r>
              <a:rPr lang="en-US" sz="1100" b="1" kern="1200" dirty="0" smtClean="0">
                <a:solidFill>
                  <a:schemeClr val="tx1"/>
                </a:solidFill>
                <a:latin typeface="+mn-lt"/>
                <a:ea typeface="+mn-ea"/>
                <a:cs typeface="+mn-cs"/>
              </a:rPr>
              <a:t>unchecked</a:t>
            </a:r>
            <a:r>
              <a:rPr lang="en-US" sz="1100" b="0" kern="1200" dirty="0" smtClean="0">
                <a:solidFill>
                  <a:schemeClr val="tx1"/>
                </a:solidFill>
                <a:latin typeface="+mn-lt"/>
                <a:ea typeface="+mn-ea"/>
                <a:cs typeface="+mn-cs"/>
              </a:rPr>
              <a:t> and click the slide(s) that contains the background you want. Hold Shift key to select multiple slides.</a:t>
            </a:r>
          </a:p>
          <a:p>
            <a:pPr marL="228600" indent="-228600">
              <a:buFont typeface="+mj-lt"/>
              <a:buAutoNum type="arabicPeriod"/>
            </a:pPr>
            <a:r>
              <a:rPr lang="en-US" sz="1100" b="0" kern="1200" dirty="0" smtClean="0">
                <a:solidFill>
                  <a:schemeClr val="tx1"/>
                </a:solidFill>
                <a:latin typeface="+mn-lt"/>
                <a:ea typeface="+mn-ea"/>
                <a:cs typeface="+mn-cs"/>
              </a:rPr>
              <a:t>Click the left-hand slide preview to which you wish to apply the new master layout. </a:t>
            </a:r>
          </a:p>
          <a:p>
            <a:pPr marL="228600" indent="-228600">
              <a:buFont typeface="+mj-lt"/>
              <a:buAutoNum type="arabicPeriod"/>
            </a:pPr>
            <a:r>
              <a:rPr lang="en-US" sz="1100" b="1" kern="1200" dirty="0" smtClean="0">
                <a:solidFill>
                  <a:schemeClr val="tx1"/>
                </a:solidFill>
                <a:latin typeface="+mn-lt"/>
                <a:ea typeface="+mn-ea"/>
                <a:cs typeface="+mn-cs"/>
              </a:rPr>
              <a:t>Apply New Layout (Important): </a:t>
            </a:r>
            <a:r>
              <a:rPr lang="en-US" sz="1100" b="0" kern="1200" dirty="0" smtClean="0">
                <a:solidFill>
                  <a:schemeClr val="tx1"/>
                </a:solidFill>
                <a:latin typeface="+mn-lt"/>
                <a:ea typeface="+mn-ea"/>
                <a:cs typeface="+mn-cs"/>
              </a:rPr>
              <a:t>Click </a:t>
            </a:r>
            <a:r>
              <a:rPr lang="en-US" sz="1100" b="1" kern="1200" dirty="0" smtClean="0">
                <a:solidFill>
                  <a:schemeClr val="tx1"/>
                </a:solidFill>
                <a:latin typeface="+mn-lt"/>
                <a:ea typeface="+mn-ea"/>
                <a:cs typeface="+mn-cs"/>
              </a:rPr>
              <a:t>Layout</a:t>
            </a:r>
            <a:r>
              <a:rPr lang="en-US" sz="1100" b="0" kern="1200" dirty="0" smtClean="0">
                <a:solidFill>
                  <a:schemeClr val="tx1"/>
                </a:solidFill>
                <a:latin typeface="+mn-lt"/>
                <a:ea typeface="+mn-ea"/>
                <a:cs typeface="+mn-cs"/>
              </a:rPr>
              <a:t> from the </a:t>
            </a:r>
            <a:r>
              <a:rPr lang="en-US" sz="1100" b="1" kern="1200" dirty="0" smtClean="0">
                <a:solidFill>
                  <a:schemeClr val="tx1"/>
                </a:solidFill>
                <a:latin typeface="+mn-lt"/>
                <a:ea typeface="+mn-ea"/>
                <a:cs typeface="+mn-cs"/>
              </a:rPr>
              <a:t>Home</a:t>
            </a:r>
            <a:r>
              <a:rPr lang="en-US" sz="1100" b="0" kern="1200" dirty="0" smtClean="0">
                <a:solidFill>
                  <a:schemeClr val="tx1"/>
                </a:solidFill>
                <a:latin typeface="+mn-lt"/>
                <a:ea typeface="+mn-ea"/>
                <a:cs typeface="+mn-cs"/>
              </a:rPr>
              <a:t> tab's </a:t>
            </a:r>
            <a:r>
              <a:rPr lang="en-US" sz="1100" b="1" kern="1200" dirty="0" smtClean="0">
                <a:solidFill>
                  <a:schemeClr val="tx1"/>
                </a:solidFill>
                <a:latin typeface="+mn-lt"/>
                <a:ea typeface="+mn-ea"/>
                <a:cs typeface="+mn-cs"/>
              </a:rPr>
              <a:t>Slides</a:t>
            </a:r>
            <a:r>
              <a:rPr lang="en-US" sz="1100" b="0" kern="1200" dirty="0" smtClean="0">
                <a:solidFill>
                  <a:schemeClr val="tx1"/>
                </a:solidFill>
                <a:latin typeface="+mn-lt"/>
                <a:ea typeface="+mn-ea"/>
                <a:cs typeface="+mn-cs"/>
              </a:rPr>
              <a:t> group, and click the slide containing the desired layout from the layout gallery. </a:t>
            </a:r>
          </a:p>
          <a:p>
            <a:pPr marL="228600" indent="-228600">
              <a:buFont typeface="+mj-lt"/>
              <a:buAutoNum type="arabicPeriod"/>
            </a:pPr>
            <a:r>
              <a:rPr lang="en-US" sz="1100" b="0" kern="1200" dirty="0" smtClean="0">
                <a:solidFill>
                  <a:schemeClr val="tx1"/>
                </a:solidFill>
                <a:latin typeface="+mn-lt"/>
                <a:ea typeface="+mn-ea"/>
                <a:cs typeface="+mn-cs"/>
              </a:rPr>
              <a:t>Delete any unwanted slides or duplicates.</a:t>
            </a:r>
            <a:endParaRPr lang="en-US" baseline="0" dirty="0" smtClean="0"/>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p14="http://schemas.microsoft.com/office/powerpoint/2010/main" xmlns=""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9</a:t>
            </a:fld>
            <a:endParaRPr lang="en-US" dirty="0"/>
          </a:p>
        </p:txBody>
      </p:sp>
    </p:spTree>
    <p:extLst>
      <p:ext uri="{BB962C8B-B14F-4D97-AF65-F5344CB8AC3E}">
        <p14:creationId xmlns:p14="http://schemas.microsoft.com/office/powerpoint/2010/main" xmlns=""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0" name="Picture 9"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6" name="Date Placeholder 5"/>
          <p:cNvSpPr>
            <a:spLocks noGrp="1"/>
          </p:cNvSpPr>
          <p:nvPr>
            <p:ph type="dt" sz="half" idx="14"/>
          </p:nvPr>
        </p:nvSpPr>
        <p:spPr/>
        <p:txBody>
          <a:bodyPr/>
          <a:lstStyle>
            <a:lvl1pPr>
              <a:defRPr>
                <a:solidFill>
                  <a:srgbClr val="5F5F5F"/>
                </a:solidFill>
              </a:defRPr>
            </a:lvl1pPr>
          </a:lstStyle>
          <a:p>
            <a:fld id="{F58637A1-2757-41E8-AD98-43E9D0558D9A}" type="datetime1">
              <a:rPr lang="en-US" smtClean="0"/>
              <a:pPr/>
              <a:t>10/3/2014</a:t>
            </a:fld>
            <a:endParaRPr lang="en-US" dirty="0"/>
          </a:p>
        </p:txBody>
      </p:sp>
      <p:sp>
        <p:nvSpPr>
          <p:cNvPr id="8" name="Footer Placeholder 7"/>
          <p:cNvSpPr>
            <a:spLocks noGrp="1"/>
          </p:cNvSpPr>
          <p:nvPr>
            <p:ph type="ftr" sz="quarter" idx="15"/>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399320028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pic>
        <p:nvPicPr>
          <p:cNvPr id="9" name="Picture 8"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0"/>
          </p:nvPr>
        </p:nvSpPr>
        <p:spPr/>
        <p:txBody>
          <a:bodyPr/>
          <a:lstStyle>
            <a:lvl1pPr>
              <a:defRPr>
                <a:solidFill>
                  <a:srgbClr val="5F5F5F"/>
                </a:solidFill>
              </a:defRPr>
            </a:lvl1pPr>
          </a:lstStyle>
          <a:p>
            <a:fld id="{8DA0FC38-0FA5-4886-ABB4-D52548B1A4EE}" type="datetime1">
              <a:rPr lang="en-US" smtClean="0"/>
              <a:pPr/>
              <a:t>10/3/2014</a:t>
            </a:fld>
            <a:endParaRPr lang="en-US" dirty="0"/>
          </a:p>
        </p:txBody>
      </p:sp>
      <p:sp>
        <p:nvSpPr>
          <p:cNvPr id="8" name="Footer Placeholder 7"/>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15" name="TextBox 14"/>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240415743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6012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2" y="2286000"/>
            <a:ext cx="96012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96012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pic>
        <p:nvPicPr>
          <p:cNvPr id="12" name="Picture 11"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7" name="Date Placeholder 6"/>
          <p:cNvSpPr>
            <a:spLocks noGrp="1"/>
          </p:cNvSpPr>
          <p:nvPr>
            <p:ph type="dt" sz="half" idx="14"/>
          </p:nvPr>
        </p:nvSpPr>
        <p:spPr/>
        <p:txBody>
          <a:bodyPr/>
          <a:lstStyle>
            <a:lvl1pPr>
              <a:defRPr>
                <a:solidFill>
                  <a:schemeClr val="tx1"/>
                </a:solidFill>
              </a:defRPr>
            </a:lvl1pPr>
          </a:lstStyle>
          <a:p>
            <a:fld id="{4C505D5A-B256-44E1-AC96-C2C7474C5D8D}" type="datetime1">
              <a:rPr lang="en-US" smtClean="0"/>
              <a:pPr/>
              <a:t>10/3/2014</a:t>
            </a:fld>
            <a:endParaRPr lang="en-US" dirty="0"/>
          </a:p>
        </p:txBody>
      </p:sp>
      <p:sp>
        <p:nvSpPr>
          <p:cNvPr id="8" name="Footer Placeholder 7"/>
          <p:cNvSpPr>
            <a:spLocks noGrp="1"/>
          </p:cNvSpPr>
          <p:nvPr>
            <p:ph type="ftr" sz="quarter" idx="15"/>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4" name="TextBox 13"/>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Picture and Logo">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B3EEE87-DDB3-4675-99CC-7EF64D192D2F}"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6" name="TextBox 15"/>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25589805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with Picture and 2 Logos">
    <p:bg>
      <p:bgPr>
        <a:blipFill dpi="0" rotWithShape="1">
          <a:blip r:embed="rId2" cstate="print">
            <a:lum/>
          </a:blip>
          <a:srcRect/>
          <a:stretch>
            <a:fillRect t="-9000" b="-9000"/>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9144000" cy="1470025"/>
          </a:xfrm>
        </p:spPr>
        <p:txBody>
          <a:bodyPr/>
          <a:lstStyle>
            <a:lvl1pPr>
              <a:lnSpc>
                <a:spcPct val="80000"/>
              </a:lnSpc>
              <a:defRPr sz="4800"/>
            </a:lvl1pPr>
          </a:lstStyle>
          <a:p>
            <a:r>
              <a:rPr lang="en-US" smtClean="0"/>
              <a:t>Click to edit Master title style</a:t>
            </a:r>
            <a:endParaRPr/>
          </a:p>
        </p:txBody>
      </p:sp>
      <p:sp>
        <p:nvSpPr>
          <p:cNvPr id="3" name="Subtitle 2"/>
          <p:cNvSpPr>
            <a:spLocks noGrp="1"/>
          </p:cNvSpPr>
          <p:nvPr>
            <p:ph type="subTitle" idx="1"/>
          </p:nvPr>
        </p:nvSpPr>
        <p:spPr>
          <a:xfrm>
            <a:off x="531762" y="2286000"/>
            <a:ext cx="9144000"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lvl1pPr>
              <a:defRPr>
                <a:solidFill>
                  <a:schemeClr val="tx1"/>
                </a:solidFill>
              </a:defRPr>
            </a:lvl1pPr>
          </a:lstStyle>
          <a:p>
            <a:fld id="{D73022D7-D716-4AF5-B755-D22F080AC54D}"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smtClean="0"/>
              <a:t>Oracle Confidential – Internal/Restricted/Highly Restricted</a:t>
            </a:r>
            <a:endParaRPr lang="en-US" dirty="0"/>
          </a:p>
        </p:txBody>
      </p:sp>
      <p:sp>
        <p:nvSpPr>
          <p:cNvPr id="13" name="Text Placeholder 12"/>
          <p:cNvSpPr>
            <a:spLocks noGrp="1"/>
          </p:cNvSpPr>
          <p:nvPr>
            <p:ph type="body" sz="quarter" idx="13" hasCustomPrompt="1"/>
          </p:nvPr>
        </p:nvSpPr>
        <p:spPr>
          <a:xfrm>
            <a:off x="531814" y="3429451"/>
            <a:ext cx="9144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a:t>Click to add text</a:t>
            </a:r>
          </a:p>
        </p:txBody>
      </p:sp>
      <p:pic>
        <p:nvPicPr>
          <p:cNvPr id="14" name="Picture 13"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spTree>
    <p:extLst>
      <p:ext uri="{BB962C8B-B14F-4D97-AF65-F5344CB8AC3E}">
        <p14:creationId xmlns:p14="http://schemas.microsoft.com/office/powerpoint/2010/main" xmlns="" val="388520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F4B0713F-DA50-44B8-8328-CFEF845F6523}"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0752384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7CD2E52-83C8-44FA-88AD-FB45DDFBF65F}"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Tree>
    <p:extLst>
      <p:ext uri="{BB962C8B-B14F-4D97-AF65-F5344CB8AC3E}">
        <p14:creationId xmlns:p14="http://schemas.microsoft.com/office/powerpoint/2010/main" xmlns="" val="337176835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4" name="Date Placeholder 3"/>
          <p:cNvSpPr>
            <a:spLocks noGrp="1"/>
          </p:cNvSpPr>
          <p:nvPr>
            <p:ph type="dt" sz="half" idx="10"/>
          </p:nvPr>
        </p:nvSpPr>
        <p:spPr/>
        <p:txBody>
          <a:bodyPr/>
          <a:lstStyle/>
          <a:p>
            <a:fld id="{CB2EC637-D865-4A1A-B82E-96829CE60973}"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xmlns="" val="68122964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FC69AA-31D1-4BE3-A7F9-4499E9495C0A}"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151385333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rgbClr val="5F5F5F"/>
                </a:solidFill>
              </a:defRPr>
            </a:lvl1pPr>
          </a:lstStyle>
          <a:p>
            <a:fld id="{28D98802-C4BE-44EF-A775-109B41689843}" type="datetime1">
              <a:rPr lang="en-US" smtClean="0"/>
              <a:pPr/>
              <a:t>10/3/2014</a:t>
            </a:fld>
            <a:endParaRPr lang="en-US" dirty="0"/>
          </a:p>
        </p:txBody>
      </p:sp>
      <p:sp>
        <p:nvSpPr>
          <p:cNvPr id="5" name="Footer Placeholder 4"/>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6" name="Slide Number Placeholder 5"/>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7" name="TextBox 16"/>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3" name="Picture Placeholder 2"/>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4B324B-18FF-4147-BA18-D36160E9F106}"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67037058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6C8D6732-15F2-4802-8009-37AC693C551A}"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p:cNvSpPr>
          <p:nvPr>
            <p:ph type="pic" sz="quarter" idx="14" hasCustomPrompt="1"/>
          </p:nvPr>
        </p:nvSpPr>
        <p:spPr>
          <a:xfrm>
            <a:off x="2286000" y="1828800"/>
            <a:ext cx="3474720" cy="3840480"/>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10" name="Text Placeholder 10"/>
          <p:cNvSpPr>
            <a:spLocks noGrp="1"/>
          </p:cNvSpPr>
          <p:nvPr>
            <p:ph type="body" sz="quarter" idx="15"/>
          </p:nvPr>
        </p:nvSpPr>
        <p:spPr>
          <a:xfrm>
            <a:off x="6035040" y="1828799"/>
            <a:ext cx="562197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188907719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5B7D2015-66F5-48BA-96D8-17D36F2E0AA3}"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9450984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B4BFE1CA-6658-4197-8E4E-2C35AF1F1E72}"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Picture Placeholder 15"/>
          <p:cNvSpPr>
            <a:spLocks noGrp="1" noChangeAspect="1"/>
          </p:cNvSpPr>
          <p:nvPr>
            <p:ph type="pic" sz="quarter" idx="14" hasCustomPrompt="1"/>
          </p:nvPr>
        </p:nvSpPr>
        <p:spPr>
          <a:xfrm>
            <a:off x="531812" y="1905000"/>
            <a:ext cx="2194560" cy="3072384"/>
          </a:xfrm>
          <a:solidFill>
            <a:schemeClr val="bg2"/>
          </a:solid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Tree>
    <p:extLst>
      <p:ext uri="{BB962C8B-B14F-4D97-AF65-F5344CB8AC3E}">
        <p14:creationId xmlns:p14="http://schemas.microsoft.com/office/powerpoint/2010/main" xmlns="" val="102776685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6FBED1B2-9BE1-4BB3-AF93-47A29413317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52016615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BE9BFC2-4754-4D3F-B8B7-155C41C1ECF0}"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5337141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47832B4-CFEF-4C48-9F00-42AED7DD8CE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122633453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C6703CB-F5F4-4371-82F0-CC855CC16EF3}"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3" name="Title 2"/>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242812501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12" name="Text Placeholder 11"/>
          <p:cNvSpPr>
            <a:spLocks noGrp="1"/>
          </p:cNvSpPr>
          <p:nvPr>
            <p:ph type="body" sz="quarter" idx="15"/>
          </p:nvPr>
        </p:nvSpPr>
        <p:spPr>
          <a:xfrm>
            <a:off x="5256213" y="1524000"/>
            <a:ext cx="54864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34887D-8006-4942-961D-3944DDB3075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Tree>
    <p:extLst>
      <p:ext uri="{BB962C8B-B14F-4D97-AF65-F5344CB8AC3E}">
        <p14:creationId xmlns:p14="http://schemas.microsoft.com/office/powerpoint/2010/main" xmlns="" val="3739386509"/>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lstStyle/>
          <a:p>
            <a:fld id="{D9227421-3F85-42F8-BDFD-0A6C36E3C2FA}" type="datetime1">
              <a:rPr lang="en-US" smtClean="0"/>
              <a:pPr/>
              <a:t>10/3/2014</a:t>
            </a:fld>
            <a:endParaRPr dirty="0"/>
          </a:p>
        </p:txBody>
      </p:sp>
      <p:sp>
        <p:nvSpPr>
          <p:cNvPr id="8" name="Footer Placeholder 7"/>
          <p:cNvSpPr>
            <a:spLocks noGrp="1"/>
          </p:cNvSpPr>
          <p:nvPr>
            <p:ph type="ftr" sz="quarter" idx="11"/>
          </p:nvPr>
        </p:nvSpPr>
        <p:spPr/>
        <p:txBody>
          <a:bodyPr/>
          <a:lstStyle/>
          <a:p>
            <a:r>
              <a:rPr dirty="0"/>
              <a:t>Oracle Confidential – Internal/Restricted/Highly Restricted</a:t>
            </a:r>
          </a:p>
        </p:txBody>
      </p:sp>
      <p:sp>
        <p:nvSpPr>
          <p:cNvPr id="9" name="Slide Number Placeholder 8"/>
          <p:cNvSpPr>
            <a:spLocks noGrp="1"/>
          </p:cNvSpPr>
          <p:nvPr>
            <p:ph type="sldNum" sz="quarter" idx="12"/>
          </p:nvPr>
        </p:nvSpPr>
        <p:spPr/>
        <p:txBody>
          <a:bodyPr/>
          <a:lstStyle/>
          <a:p>
            <a:fld id="{C51EAA63-D034-42AE-91FA-B13B9518C7BE}" type="slidenum">
              <a:rPr/>
              <a:pPr/>
              <a:t>‹#›</a:t>
            </a:fld>
            <a:endParaRPr dirty="0"/>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7870018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8A1F17C-4AFE-4B02-9BD6-67CB04075FF1}" type="datetime1">
              <a:rPr lang="en-US" smtClean="0"/>
              <a:pPr/>
              <a:t>10/3/2014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33769938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10010B8-11AC-4175-BF29-EB4A3C61102F}" type="datetime1">
              <a:rPr lang="en-US" smtClean="0"/>
              <a:pPr/>
              <a:t>10/3/2014</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7" name="Title 6"/>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4163620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1827CA-F831-46B0-9758-B6BAE0AF4EAB}"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3608229342"/>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31662" y="1524000"/>
            <a:ext cx="777255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971800"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86C7CE-9D23-4A42-845E-2EB69666472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45785070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BA32AB-378C-44A6-BBCB-4C90F374D0FC}"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05827476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87AD43-539D-4156-9FD6-437CAE9F93F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90898225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494F0A-3A42-4B5D-A4C2-90E38C5A7947}"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Title 7"/>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279085471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iOS Smartphone and Tablet: Horizontal">
    <p:spTree>
      <p:nvGrpSpPr>
        <p:cNvPr id="1" name=""/>
        <p:cNvGrpSpPr/>
        <p:nvPr/>
      </p:nvGrpSpPr>
      <p:grpSpPr>
        <a:xfrm>
          <a:off x="0" y="0"/>
          <a:ext cx="0" cy="0"/>
          <a:chOff x="0" y="0"/>
          <a:chExt cx="0" cy="0"/>
        </a:xfrm>
      </p:grpSpPr>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916717" y="1522826"/>
            <a:ext cx="6495366" cy="4567423"/>
          </a:xfrm>
          <a:prstGeom prst="rect">
            <a:avLst/>
          </a:prstGeom>
        </p:spPr>
      </p:pic>
      <p:pic>
        <p:nvPicPr>
          <p:cNvPr id="15" name="Picture 14"/>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1770494" y="1827861"/>
            <a:ext cx="1840875" cy="3887139"/>
          </a:xfrm>
          <a:prstGeom prst="rect">
            <a:avLst/>
          </a:prstGeom>
        </p:spPr>
      </p:pic>
      <p:sp>
        <p:nvSpPr>
          <p:cNvPr id="3" name="Picture Placeholder 2"/>
          <p:cNvSpPr>
            <a:spLocks noGrp="1"/>
          </p:cNvSpPr>
          <p:nvPr>
            <p:ph type="pic" idx="1"/>
          </p:nvPr>
        </p:nvSpPr>
        <p:spPr bwMode="gray">
          <a:xfrm>
            <a:off x="1889122" y="2364583"/>
            <a:ext cx="161848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1BA0AC74-C01C-456F-BD5D-BCFFCE23EE8E}"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745444510"/>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iOS Smartphone and Tablet: Vertical">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xmlns="" val="0"/>
              </a:ext>
            </a:extLst>
          </a:blip>
          <a:srcRect r="7518"/>
          <a:stretch/>
        </p:blipFill>
        <p:spPr>
          <a:xfrm rot="5400000">
            <a:off x="5748377" y="1113567"/>
            <a:ext cx="6007047" cy="4567423"/>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C447B5AF-1809-4D52-BE60-78F570C83F44}"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3" name="Picture 12" descr="Photos, screen captures, graphics can be inserted in a white mobile phone and tablet"/>
          <p:cNvPicPr>
            <a:picLocks noChangeAspect="1"/>
          </p:cNvPicPr>
          <p:nvPr/>
        </p:nvPicPr>
        <p:blipFill rotWithShape="1">
          <a:blip r:embed="rId3" cstate="print">
            <a:extLst>
              <a:ext uri="{28A0092B-C50C-407E-A947-70E740481C1C}">
                <a14:useLocalDpi xmlns:a14="http://schemas.microsoft.com/office/drawing/2010/main" xmlns=""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272063404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1786728" y="2011145"/>
            <a:ext cx="1819656" cy="3522853"/>
          </a:xfrm>
          <a:prstGeom prst="rect">
            <a:avLst/>
          </a:prstGeom>
        </p:spPr>
      </p:pic>
      <p:pic>
        <p:nvPicPr>
          <p:cNvPr id="11" name="Picture 10"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4241990" y="1585322"/>
            <a:ext cx="5829300" cy="4107283"/>
          </a:xfrm>
          <a:prstGeom prst="rect">
            <a:avLst/>
          </a:prstGeom>
        </p:spPr>
      </p:pic>
      <p:sp>
        <p:nvSpPr>
          <p:cNvPr id="3" name="Picture Placeholder 2"/>
          <p:cNvSpPr>
            <a:spLocks noGrp="1"/>
          </p:cNvSpPr>
          <p:nvPr>
            <p:ph type="pic" idx="1"/>
          </p:nvPr>
        </p:nvSpPr>
        <p:spPr bwMode="gray">
          <a:xfrm>
            <a:off x="1910171" y="2364583"/>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1A2474AE-A74B-49A7-B5B1-A400C0D62D32}"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4532312" y="1975104"/>
            <a:ext cx="5248656" cy="3328416"/>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itle 3"/>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p14="http://schemas.microsoft.com/office/powerpoint/2010/main" xmlns="" val="362906812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r="2901"/>
          <a:stretch/>
        </p:blipFill>
        <p:spPr>
          <a:xfrm rot="5400000">
            <a:off x="5891726" y="1502667"/>
            <a:ext cx="5674025" cy="4117325"/>
          </a:xfrm>
          <a:prstGeom prst="rect">
            <a:avLst/>
          </a:prstGeom>
        </p:spPr>
      </p:pic>
      <p:sp>
        <p:nvSpPr>
          <p:cNvPr id="2" name="Title 1"/>
          <p:cNvSpPr>
            <a:spLocks noGrp="1"/>
          </p:cNvSpPr>
          <p:nvPr>
            <p:ph type="title"/>
          </p:nvPr>
        </p:nvSpPr>
        <p:spPr>
          <a:xfrm>
            <a:off x="531811" y="406400"/>
            <a:ext cx="5943600" cy="889000"/>
          </a:xfrm>
        </p:spPr>
        <p:txBody>
          <a:bodyPr anchor="b"/>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4B767A9A-D0AC-47FB-851D-810FC45BAB35}" type="datetime1">
              <a:rPr lang="en-US" smtClean="0"/>
              <a:pPr/>
              <a:t>10/3/2014</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9" name="Picture Placeholder 2"/>
          <p:cNvSpPr>
            <a:spLocks noGrp="1"/>
          </p:cNvSpPr>
          <p:nvPr>
            <p:ph type="pic" idx="13"/>
          </p:nvPr>
        </p:nvSpPr>
        <p:spPr bwMode="gray">
          <a:xfrm>
            <a:off x="7061703" y="1013144"/>
            <a:ext cx="3313567" cy="5252348"/>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9" name="Picture 18" descr="Photos, screen captures, graphics can be inserted in a white mobile phone and tablet"/>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3969956" y="2096382"/>
            <a:ext cx="1819656" cy="3522853"/>
          </a:xfrm>
          <a:prstGeom prst="rect">
            <a:avLst/>
          </a:prstGeom>
        </p:spPr>
      </p:pic>
      <p:sp>
        <p:nvSpPr>
          <p:cNvPr id="20" name="Picture Placeholder 2"/>
          <p:cNvSpPr>
            <a:spLocks noGrp="1"/>
          </p:cNvSpPr>
          <p:nvPr>
            <p:ph type="pic" idx="1"/>
          </p:nvPr>
        </p:nvSpPr>
        <p:spPr bwMode="gray">
          <a:xfrm>
            <a:off x="4093399" y="2449820"/>
            <a:ext cx="1572768" cy="2833684"/>
          </a:xfrm>
          <a:solidFill>
            <a:schemeClr val="bg2"/>
          </a:solidFill>
          <a:ln w="12700">
            <a:solidFill>
              <a:schemeClr val="bg2"/>
            </a:solidFill>
          </a:ln>
        </p:spPr>
        <p:txBody>
          <a:bodyPr tIns="1828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p14="http://schemas.microsoft.com/office/powerpoint/2010/main" xmlns="" val="396459250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0"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5" name="Date Placeholder 4"/>
          <p:cNvSpPr>
            <a:spLocks noGrp="1"/>
          </p:cNvSpPr>
          <p:nvPr>
            <p:ph type="dt" sz="half" idx="10"/>
          </p:nvPr>
        </p:nvSpPr>
        <p:spPr/>
        <p:txBody>
          <a:bodyPr/>
          <a:lstStyle>
            <a:lvl1pPr>
              <a:defRPr>
                <a:solidFill>
                  <a:srgbClr val="5F5F5F"/>
                </a:solidFill>
              </a:defRPr>
            </a:lvl1pPr>
          </a:lstStyle>
          <a:p>
            <a:fld id="{4ADD7E43-24FB-40CC-971F-1AFB4F96D58C}" type="datetime1">
              <a:rPr lang="en-US" smtClean="0"/>
              <a:pPr/>
              <a:t>10/3/2014</a:t>
            </a:fld>
            <a:endParaRPr lang="en-US" dirty="0"/>
          </a:p>
        </p:txBody>
      </p:sp>
      <p:sp>
        <p:nvSpPr>
          <p:cNvPr id="6" name="Footer Placeholder 5"/>
          <p:cNvSpPr>
            <a:spLocks noGrp="1"/>
          </p:cNvSpPr>
          <p:nvPr>
            <p:ph type="ftr" sz="quarter" idx="11"/>
          </p:nvPr>
        </p:nvSpPr>
        <p:spPr/>
        <p:txBody>
          <a:bodyPr/>
          <a:lstStyle>
            <a:lvl1pPr>
              <a:defRPr>
                <a:solidFill>
                  <a:srgbClr val="5F5F5F"/>
                </a:solidFill>
              </a:defRPr>
            </a:lvl1pPr>
          </a:lstStyle>
          <a:p>
            <a:r>
              <a:rPr lang="en-US" smtClean="0"/>
              <a:t>Oracle Confidential – Internal/Restricted/Highly Restricted</a:t>
            </a:r>
            <a:endParaRPr lang="en-US" dirty="0"/>
          </a:p>
        </p:txBody>
      </p:sp>
      <p:sp>
        <p:nvSpPr>
          <p:cNvPr id="7" name="Slide Number Placeholder 6"/>
          <p:cNvSpPr>
            <a:spLocks noGrp="1"/>
          </p:cNvSpPr>
          <p:nvPr>
            <p:ph type="sldNum" sz="quarter" idx="12"/>
          </p:nvPr>
        </p:nvSpPr>
        <p:spPr/>
        <p:txBody>
          <a:bodyPr/>
          <a:lstStyle>
            <a:lvl1pPr>
              <a:defRPr>
                <a:solidFill>
                  <a:srgbClr val="5F5F5F"/>
                </a:solidFill>
              </a:defRPr>
            </a:lvl1pPr>
          </a:lstStyle>
          <a:p>
            <a:fld id="{C51EAA63-D034-42AE-91FA-B13B9518C7BE}" type="slidenum">
              <a:rPr lang="en-US" smtClean="0"/>
              <a:pPr/>
              <a:t>‹#›</a:t>
            </a:fld>
            <a:endParaRPr lang="en-US" dirty="0"/>
          </a:p>
        </p:txBody>
      </p:sp>
      <p:sp>
        <p:nvSpPr>
          <p:cNvPr id="22" name="Text Placeholder 12"/>
          <p:cNvSpPr>
            <a:spLocks noGrp="1"/>
          </p:cNvSpPr>
          <p:nvPr>
            <p:ph type="body" sz="quarter" idx="13" hasCustomPrompt="1"/>
          </p:nvPr>
        </p:nvSpPr>
        <p:spPr>
          <a:xfrm>
            <a:off x="760412" y="2666999"/>
            <a:ext cx="50292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3" name="Title 2"/>
          <p:cNvSpPr>
            <a:spLocks noGrp="1"/>
          </p:cNvSpPr>
          <p:nvPr>
            <p:ph type="title" hasCustomPrompt="1"/>
          </p:nvPr>
        </p:nvSpPr>
        <p:spPr>
          <a:xfrm>
            <a:off x="760412" y="609600"/>
            <a:ext cx="5029200" cy="2044700"/>
          </a:xfrm>
        </p:spPr>
        <p:txBody>
          <a:bodyPr/>
          <a:lstStyle>
            <a:lvl1pPr>
              <a:defRPr sz="13800" b="1"/>
            </a:lvl1pPr>
          </a:lstStyle>
          <a:p>
            <a:r>
              <a:rPr lang="en-US" dirty="0" smtClean="0"/>
              <a:t>XX</a:t>
            </a:r>
            <a:endParaRPr lang="en-US" dirty="0"/>
          </a:p>
        </p:txBody>
      </p:sp>
      <p:pic>
        <p:nvPicPr>
          <p:cNvPr id="15" name="Picture 14" descr="Oracle logo in white on red staging background"/>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
        <p:nvSpPr>
          <p:cNvPr id="19" name="TextBox 18"/>
          <p:cNvSpPr txBox="1"/>
          <p:nvPr userDrawn="1"/>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rgbClr val="5F5F5F"/>
                </a:solidFill>
              </a:rPr>
              <a:t>Copyright © </a:t>
            </a:r>
            <a:r>
              <a:rPr sz="850" dirty="0" smtClean="0">
                <a:solidFill>
                  <a:srgbClr val="5F5F5F"/>
                </a:solidFill>
              </a:rPr>
              <a:t>2014</a:t>
            </a:r>
            <a:r>
              <a:rPr lang="en-US" sz="850" dirty="0" smtClean="0">
                <a:solidFill>
                  <a:srgbClr val="5F5F5F"/>
                </a:solidFill>
              </a:rPr>
              <a:t>,</a:t>
            </a:r>
            <a:r>
              <a:rPr sz="850" dirty="0" smtClean="0">
                <a:solidFill>
                  <a:srgbClr val="5F5F5F"/>
                </a:solidFill>
              </a:rPr>
              <a:t> </a:t>
            </a:r>
            <a:r>
              <a:rPr sz="850" dirty="0">
                <a:solidFill>
                  <a:srgbClr val="5F5F5F"/>
                </a:solidFill>
              </a:rPr>
              <a:t>Oracle and/or its affiliates. All rights reserved.  </a:t>
            </a:r>
            <a:r>
              <a:rPr sz="850" dirty="0" smtClean="0">
                <a:solidFill>
                  <a:srgbClr val="5F5F5F"/>
                </a:solidFill>
              </a:rPr>
              <a:t>|</a:t>
            </a:r>
            <a:endParaRPr sz="850" dirty="0">
              <a:solidFill>
                <a:srgbClr val="5F5F5F"/>
              </a:solidFill>
            </a:endParaRPr>
          </a:p>
        </p:txBody>
      </p:sp>
    </p:spTree>
    <p:extLst>
      <p:ext uri="{BB962C8B-B14F-4D97-AF65-F5344CB8AC3E}">
        <p14:creationId xmlns:p14="http://schemas.microsoft.com/office/powerpoint/2010/main" xmlns=""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ACD4C6-5F02-4E1D-8860-E571DA6DFE1F}"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xmlns="" val="259788944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134E1-025A-423B-B455-DC3D3A91EDB9}"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Tree>
    <p:extLst>
      <p:ext uri="{BB962C8B-B14F-4D97-AF65-F5344CB8AC3E}">
        <p14:creationId xmlns:p14="http://schemas.microsoft.com/office/powerpoint/2010/main" xmlns="" val="235887190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214A5B-588F-4C90-9D20-DD3B4D6AC865}" type="datetime1">
              <a:rPr lang="en-US" smtClean="0"/>
              <a:pPr/>
              <a:t>10/3/2014</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grpSp>
        <p:nvGrpSpPr>
          <p:cNvPr id="3093" name="Group 3092" descr="&quot;Hardware and Software Engineered to work together&quot; tagline in red and black"/>
          <p:cNvGrpSpPr/>
          <p:nvPr userDrawn="1"/>
        </p:nvGrpSpPr>
        <p:grpSpPr bwMode="gray">
          <a:xfrm>
            <a:off x="3263901" y="2743200"/>
            <a:ext cx="5668962" cy="1081088"/>
            <a:chOff x="3263901" y="1227138"/>
            <a:chExt cx="5668962" cy="1081088"/>
          </a:xfrm>
        </p:grpSpPr>
        <p:sp>
          <p:nvSpPr>
            <p:cNvPr id="8" name="Rectangle 5"/>
            <p:cNvSpPr>
              <a:spLocks noChangeArrowheads="1"/>
            </p:cNvSpPr>
            <p:nvPr/>
          </p:nvSpPr>
          <p:spPr bwMode="gray">
            <a:xfrm>
              <a:off x="3997326" y="1855788"/>
              <a:ext cx="73025" cy="50800"/>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9" name="Freeform 6"/>
            <p:cNvSpPr>
              <a:spLocks noEditPoints="1"/>
            </p:cNvSpPr>
            <p:nvPr/>
          </p:nvSpPr>
          <p:spPr bwMode="gray">
            <a:xfrm>
              <a:off x="48355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2"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0" name="Freeform 7"/>
            <p:cNvSpPr>
              <a:spLocks/>
            </p:cNvSpPr>
            <p:nvPr/>
          </p:nvSpPr>
          <p:spPr bwMode="gray">
            <a:xfrm>
              <a:off x="3263901" y="1236663"/>
              <a:ext cx="288925" cy="434975"/>
            </a:xfrm>
            <a:custGeom>
              <a:avLst/>
              <a:gdLst>
                <a:gd name="T0" fmla="*/ 125 w 182"/>
                <a:gd name="T1" fmla="*/ 110 h 274"/>
                <a:gd name="T2" fmla="*/ 125 w 182"/>
                <a:gd name="T3" fmla="*/ 0 h 274"/>
                <a:gd name="T4" fmla="*/ 182 w 182"/>
                <a:gd name="T5" fmla="*/ 0 h 274"/>
                <a:gd name="T6" fmla="*/ 182 w 182"/>
                <a:gd name="T7" fmla="*/ 274 h 274"/>
                <a:gd name="T8" fmla="*/ 125 w 182"/>
                <a:gd name="T9" fmla="*/ 274 h 274"/>
                <a:gd name="T10" fmla="*/ 125 w 182"/>
                <a:gd name="T11" fmla="*/ 153 h 274"/>
                <a:gd name="T12" fmla="*/ 57 w 182"/>
                <a:gd name="T13" fmla="*/ 153 h 274"/>
                <a:gd name="T14" fmla="*/ 57 w 182"/>
                <a:gd name="T15" fmla="*/ 274 h 274"/>
                <a:gd name="T16" fmla="*/ 0 w 182"/>
                <a:gd name="T17" fmla="*/ 274 h 274"/>
                <a:gd name="T18" fmla="*/ 0 w 182"/>
                <a:gd name="T19" fmla="*/ 0 h 274"/>
                <a:gd name="T20" fmla="*/ 57 w 182"/>
                <a:gd name="T21" fmla="*/ 0 h 274"/>
                <a:gd name="T22" fmla="*/ 57 w 182"/>
                <a:gd name="T23" fmla="*/ 110 h 274"/>
                <a:gd name="T24" fmla="*/ 125 w 182"/>
                <a:gd name="T25" fmla="*/ 11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274">
                  <a:moveTo>
                    <a:pt x="125" y="110"/>
                  </a:moveTo>
                  <a:lnTo>
                    <a:pt x="125" y="0"/>
                  </a:lnTo>
                  <a:lnTo>
                    <a:pt x="182" y="0"/>
                  </a:lnTo>
                  <a:lnTo>
                    <a:pt x="182" y="274"/>
                  </a:lnTo>
                  <a:lnTo>
                    <a:pt x="125" y="274"/>
                  </a:lnTo>
                  <a:lnTo>
                    <a:pt x="125" y="153"/>
                  </a:lnTo>
                  <a:lnTo>
                    <a:pt x="57" y="153"/>
                  </a:lnTo>
                  <a:lnTo>
                    <a:pt x="57" y="274"/>
                  </a:lnTo>
                  <a:lnTo>
                    <a:pt x="0" y="274"/>
                  </a:lnTo>
                  <a:lnTo>
                    <a:pt x="0" y="0"/>
                  </a:lnTo>
                  <a:lnTo>
                    <a:pt x="57" y="0"/>
                  </a:lnTo>
                  <a:lnTo>
                    <a:pt x="57" y="110"/>
                  </a:lnTo>
                  <a:lnTo>
                    <a:pt x="125" y="1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1" name="Freeform 8"/>
            <p:cNvSpPr>
              <a:spLocks noEditPoints="1"/>
            </p:cNvSpPr>
            <p:nvPr/>
          </p:nvSpPr>
          <p:spPr bwMode="gray">
            <a:xfrm>
              <a:off x="3602038" y="1362075"/>
              <a:ext cx="246063" cy="317500"/>
            </a:xfrm>
            <a:custGeom>
              <a:avLst/>
              <a:gdLst>
                <a:gd name="T0" fmla="*/ 29 w 30"/>
                <a:gd name="T1" fmla="*/ 30 h 38"/>
                <a:gd name="T2" fmla="*/ 30 w 30"/>
                <a:gd name="T3" fmla="*/ 37 h 38"/>
                <a:gd name="T4" fmla="*/ 20 w 30"/>
                <a:gd name="T5" fmla="*/ 37 h 38"/>
                <a:gd name="T6" fmla="*/ 20 w 30"/>
                <a:gd name="T7" fmla="*/ 32 h 38"/>
                <a:gd name="T8" fmla="*/ 19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4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19" y="32"/>
                    <a:pt x="19" y="32"/>
                    <a:pt x="19"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2" name="Freeform 9"/>
            <p:cNvSpPr>
              <a:spLocks/>
            </p:cNvSpPr>
            <p:nvPr/>
          </p:nvSpPr>
          <p:spPr bwMode="gray">
            <a:xfrm>
              <a:off x="3897313" y="1362075"/>
              <a:ext cx="165100" cy="309563"/>
            </a:xfrm>
            <a:custGeom>
              <a:avLst/>
              <a:gdLst>
                <a:gd name="T0" fmla="*/ 10 w 20"/>
                <a:gd name="T1" fmla="*/ 0 h 37"/>
                <a:gd name="T2" fmla="*/ 10 w 20"/>
                <a:gd name="T3" fmla="*/ 5 h 37"/>
                <a:gd name="T4" fmla="*/ 10 w 20"/>
                <a:gd name="T5" fmla="*/ 5 h 37"/>
                <a:gd name="T6" fmla="*/ 20 w 20"/>
                <a:gd name="T7" fmla="*/ 0 h 37"/>
                <a:gd name="T8" fmla="*/ 20 w 20"/>
                <a:gd name="T9" fmla="*/ 9 h 37"/>
                <a:gd name="T10" fmla="*/ 10 w 20"/>
                <a:gd name="T11" fmla="*/ 17 h 37"/>
                <a:gd name="T12" fmla="*/ 10 w 20"/>
                <a:gd name="T13" fmla="*/ 37 h 37"/>
                <a:gd name="T14" fmla="*/ 0 w 20"/>
                <a:gd name="T15" fmla="*/ 37 h 37"/>
                <a:gd name="T16" fmla="*/ 0 w 20"/>
                <a:gd name="T17" fmla="*/ 0 h 37"/>
                <a:gd name="T18" fmla="*/ 10 w 20"/>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37">
                  <a:moveTo>
                    <a:pt x="10" y="0"/>
                  </a:moveTo>
                  <a:cubicBezTo>
                    <a:pt x="10" y="5"/>
                    <a:pt x="10" y="5"/>
                    <a:pt x="10" y="5"/>
                  </a:cubicBezTo>
                  <a:cubicBezTo>
                    <a:pt x="10" y="5"/>
                    <a:pt x="10" y="5"/>
                    <a:pt x="10" y="5"/>
                  </a:cubicBezTo>
                  <a:cubicBezTo>
                    <a:pt x="12" y="1"/>
                    <a:pt x="15" y="0"/>
                    <a:pt x="20" y="0"/>
                  </a:cubicBezTo>
                  <a:cubicBezTo>
                    <a:pt x="20" y="9"/>
                    <a:pt x="20" y="9"/>
                    <a:pt x="20" y="9"/>
                  </a:cubicBezTo>
                  <a:cubicBezTo>
                    <a:pt x="11"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3" name="Freeform 10"/>
            <p:cNvSpPr>
              <a:spLocks/>
            </p:cNvSpPr>
            <p:nvPr/>
          </p:nvSpPr>
          <p:spPr bwMode="gray">
            <a:xfrm>
              <a:off x="4367213" y="1362075"/>
              <a:ext cx="444500" cy="309563"/>
            </a:xfrm>
            <a:custGeom>
              <a:avLst/>
              <a:gdLst>
                <a:gd name="T0" fmla="*/ 0 w 280"/>
                <a:gd name="T1" fmla="*/ 0 h 195"/>
                <a:gd name="T2" fmla="*/ 52 w 280"/>
                <a:gd name="T3" fmla="*/ 0 h 195"/>
                <a:gd name="T4" fmla="*/ 77 w 280"/>
                <a:gd name="T5" fmla="*/ 148 h 195"/>
                <a:gd name="T6" fmla="*/ 77 w 280"/>
                <a:gd name="T7" fmla="*/ 148 h 195"/>
                <a:gd name="T8" fmla="*/ 114 w 280"/>
                <a:gd name="T9" fmla="*/ 0 h 195"/>
                <a:gd name="T10" fmla="*/ 171 w 280"/>
                <a:gd name="T11" fmla="*/ 0 h 195"/>
                <a:gd name="T12" fmla="*/ 202 w 280"/>
                <a:gd name="T13" fmla="*/ 148 h 195"/>
                <a:gd name="T14" fmla="*/ 202 w 280"/>
                <a:gd name="T15" fmla="*/ 148 h 195"/>
                <a:gd name="T16" fmla="*/ 233 w 280"/>
                <a:gd name="T17" fmla="*/ 0 h 195"/>
                <a:gd name="T18" fmla="*/ 280 w 280"/>
                <a:gd name="T19" fmla="*/ 0 h 195"/>
                <a:gd name="T20" fmla="*/ 233 w 280"/>
                <a:gd name="T21" fmla="*/ 195 h 195"/>
                <a:gd name="T22" fmla="*/ 176 w 280"/>
                <a:gd name="T23" fmla="*/ 195 h 195"/>
                <a:gd name="T24" fmla="*/ 140 w 280"/>
                <a:gd name="T25" fmla="*/ 63 h 195"/>
                <a:gd name="T26" fmla="*/ 140 w 280"/>
                <a:gd name="T27" fmla="*/ 63 h 195"/>
                <a:gd name="T28" fmla="*/ 103 w 280"/>
                <a:gd name="T29" fmla="*/ 195 h 195"/>
                <a:gd name="T30" fmla="*/ 46 w 280"/>
                <a:gd name="T31" fmla="*/ 195 h 195"/>
                <a:gd name="T32" fmla="*/ 0 w 280"/>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0" h="195">
                  <a:moveTo>
                    <a:pt x="0" y="0"/>
                  </a:moveTo>
                  <a:lnTo>
                    <a:pt x="52" y="0"/>
                  </a:lnTo>
                  <a:lnTo>
                    <a:pt x="77" y="148"/>
                  </a:lnTo>
                  <a:lnTo>
                    <a:pt x="77" y="148"/>
                  </a:lnTo>
                  <a:lnTo>
                    <a:pt x="114" y="0"/>
                  </a:lnTo>
                  <a:lnTo>
                    <a:pt x="171" y="0"/>
                  </a:lnTo>
                  <a:lnTo>
                    <a:pt x="202" y="148"/>
                  </a:lnTo>
                  <a:lnTo>
                    <a:pt x="202" y="148"/>
                  </a:lnTo>
                  <a:lnTo>
                    <a:pt x="233" y="0"/>
                  </a:lnTo>
                  <a:lnTo>
                    <a:pt x="280" y="0"/>
                  </a:lnTo>
                  <a:lnTo>
                    <a:pt x="233" y="195"/>
                  </a:lnTo>
                  <a:lnTo>
                    <a:pt x="176" y="195"/>
                  </a:lnTo>
                  <a:lnTo>
                    <a:pt x="140" y="63"/>
                  </a:lnTo>
                  <a:lnTo>
                    <a:pt x="140" y="63"/>
                  </a:lnTo>
                  <a:lnTo>
                    <a:pt x="103" y="195"/>
                  </a:lnTo>
                  <a:lnTo>
                    <a:pt x="46"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4" name="Freeform 11"/>
            <p:cNvSpPr>
              <a:spLocks/>
            </p:cNvSpPr>
            <p:nvPr/>
          </p:nvSpPr>
          <p:spPr bwMode="gray">
            <a:xfrm>
              <a:off x="5132388" y="1362075"/>
              <a:ext cx="155575"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5" name="Freeform 12"/>
            <p:cNvSpPr>
              <a:spLocks noEditPoints="1"/>
            </p:cNvSpPr>
            <p:nvPr/>
          </p:nvSpPr>
          <p:spPr bwMode="gray">
            <a:xfrm>
              <a:off x="5321301" y="1362075"/>
              <a:ext cx="246063"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6" name="Freeform 13"/>
            <p:cNvSpPr>
              <a:spLocks noEditPoints="1"/>
            </p:cNvSpPr>
            <p:nvPr/>
          </p:nvSpPr>
          <p:spPr bwMode="gray">
            <a:xfrm>
              <a:off x="5748338" y="1362075"/>
              <a:ext cx="247650" cy="317500"/>
            </a:xfrm>
            <a:custGeom>
              <a:avLst/>
              <a:gdLst>
                <a:gd name="T0" fmla="*/ 29 w 30"/>
                <a:gd name="T1" fmla="*/ 30 h 38"/>
                <a:gd name="T2" fmla="*/ 30 w 30"/>
                <a:gd name="T3" fmla="*/ 37 h 38"/>
                <a:gd name="T4" fmla="*/ 20 w 30"/>
                <a:gd name="T5" fmla="*/ 37 h 38"/>
                <a:gd name="T6" fmla="*/ 20 w 30"/>
                <a:gd name="T7" fmla="*/ 32 h 38"/>
                <a:gd name="T8" fmla="*/ 20 w 30"/>
                <a:gd name="T9" fmla="*/ 32 h 38"/>
                <a:gd name="T10" fmla="*/ 10 w 30"/>
                <a:gd name="T11" fmla="*/ 38 h 38"/>
                <a:gd name="T12" fmla="*/ 0 w 30"/>
                <a:gd name="T13" fmla="*/ 26 h 38"/>
                <a:gd name="T14" fmla="*/ 19 w 30"/>
                <a:gd name="T15" fmla="*/ 13 h 38"/>
                <a:gd name="T16" fmla="*/ 19 w 30"/>
                <a:gd name="T17" fmla="*/ 11 h 38"/>
                <a:gd name="T18" fmla="*/ 15 w 30"/>
                <a:gd name="T19" fmla="*/ 5 h 38"/>
                <a:gd name="T20" fmla="*/ 11 w 30"/>
                <a:gd name="T21" fmla="*/ 11 h 38"/>
                <a:gd name="T22" fmla="*/ 1 w 30"/>
                <a:gd name="T23" fmla="*/ 11 h 38"/>
                <a:gd name="T24" fmla="*/ 5 w 30"/>
                <a:gd name="T25" fmla="*/ 2 h 38"/>
                <a:gd name="T26" fmla="*/ 15 w 30"/>
                <a:gd name="T27" fmla="*/ 0 h 38"/>
                <a:gd name="T28" fmla="*/ 29 w 30"/>
                <a:gd name="T29" fmla="*/ 12 h 38"/>
                <a:gd name="T30" fmla="*/ 29 w 30"/>
                <a:gd name="T31" fmla="*/ 30 h 38"/>
                <a:gd name="T32" fmla="*/ 10 w 30"/>
                <a:gd name="T33" fmla="*/ 26 h 38"/>
                <a:gd name="T34" fmla="*/ 14 w 30"/>
                <a:gd name="T35" fmla="*/ 31 h 38"/>
                <a:gd name="T36" fmla="*/ 19 w 30"/>
                <a:gd name="T37" fmla="*/ 19 h 38"/>
                <a:gd name="T38" fmla="*/ 10 w 30"/>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8">
                  <a:moveTo>
                    <a:pt x="29" y="30"/>
                  </a:moveTo>
                  <a:cubicBezTo>
                    <a:pt x="29" y="32"/>
                    <a:pt x="29" y="35"/>
                    <a:pt x="30" y="37"/>
                  </a:cubicBezTo>
                  <a:cubicBezTo>
                    <a:pt x="20" y="37"/>
                    <a:pt x="20" y="37"/>
                    <a:pt x="20" y="37"/>
                  </a:cubicBezTo>
                  <a:cubicBezTo>
                    <a:pt x="20" y="32"/>
                    <a:pt x="20" y="32"/>
                    <a:pt x="20" y="32"/>
                  </a:cubicBezTo>
                  <a:cubicBezTo>
                    <a:pt x="20" y="32"/>
                    <a:pt x="20" y="32"/>
                    <a:pt x="20" y="32"/>
                  </a:cubicBezTo>
                  <a:cubicBezTo>
                    <a:pt x="17" y="36"/>
                    <a:pt x="14" y="38"/>
                    <a:pt x="10" y="38"/>
                  </a:cubicBezTo>
                  <a:cubicBezTo>
                    <a:pt x="3" y="38"/>
                    <a:pt x="0" y="32"/>
                    <a:pt x="0" y="26"/>
                  </a:cubicBezTo>
                  <a:cubicBezTo>
                    <a:pt x="0" y="14"/>
                    <a:pt x="10" y="13"/>
                    <a:pt x="19" y="13"/>
                  </a:cubicBezTo>
                  <a:cubicBezTo>
                    <a:pt x="19" y="11"/>
                    <a:pt x="19" y="11"/>
                    <a:pt x="19" y="11"/>
                  </a:cubicBezTo>
                  <a:cubicBezTo>
                    <a:pt x="19" y="8"/>
                    <a:pt x="19" y="5"/>
                    <a:pt x="15" y="5"/>
                  </a:cubicBezTo>
                  <a:cubicBezTo>
                    <a:pt x="11" y="5"/>
                    <a:pt x="11" y="8"/>
                    <a:pt x="11" y="11"/>
                  </a:cubicBezTo>
                  <a:cubicBezTo>
                    <a:pt x="1" y="11"/>
                    <a:pt x="1" y="11"/>
                    <a:pt x="1" y="11"/>
                  </a:cubicBezTo>
                  <a:cubicBezTo>
                    <a:pt x="1" y="6"/>
                    <a:pt x="3" y="4"/>
                    <a:pt x="5" y="2"/>
                  </a:cubicBezTo>
                  <a:cubicBezTo>
                    <a:pt x="7" y="0"/>
                    <a:pt x="11" y="0"/>
                    <a:pt x="15" y="0"/>
                  </a:cubicBezTo>
                  <a:cubicBezTo>
                    <a:pt x="28" y="0"/>
                    <a:pt x="29" y="5"/>
                    <a:pt x="29" y="12"/>
                  </a:cubicBezTo>
                  <a:lnTo>
                    <a:pt x="29" y="30"/>
                  </a:lnTo>
                  <a:close/>
                  <a:moveTo>
                    <a:pt x="10" y="26"/>
                  </a:moveTo>
                  <a:cubicBezTo>
                    <a:pt x="10" y="28"/>
                    <a:pt x="11"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7" name="Freeform 14"/>
            <p:cNvSpPr>
              <a:spLocks/>
            </p:cNvSpPr>
            <p:nvPr/>
          </p:nvSpPr>
          <p:spPr bwMode="gray">
            <a:xfrm>
              <a:off x="6045201" y="1362075"/>
              <a:ext cx="230188" cy="309563"/>
            </a:xfrm>
            <a:custGeom>
              <a:avLst/>
              <a:gdLst>
                <a:gd name="T0" fmla="*/ 11 w 28"/>
                <a:gd name="T1" fmla="*/ 4 h 37"/>
                <a:gd name="T2" fmla="*/ 11 w 28"/>
                <a:gd name="T3" fmla="*/ 4 h 37"/>
                <a:gd name="T4" fmla="*/ 14 w 28"/>
                <a:gd name="T5" fmla="*/ 1 h 37"/>
                <a:gd name="T6" fmla="*/ 19 w 28"/>
                <a:gd name="T7" fmla="*/ 0 h 37"/>
                <a:gd name="T8" fmla="*/ 28 w 28"/>
                <a:gd name="T9" fmla="*/ 8 h 37"/>
                <a:gd name="T10" fmla="*/ 28 w 28"/>
                <a:gd name="T11" fmla="*/ 37 h 37"/>
                <a:gd name="T12" fmla="*/ 18 w 28"/>
                <a:gd name="T13" fmla="*/ 37 h 37"/>
                <a:gd name="T14" fmla="*/ 18 w 28"/>
                <a:gd name="T15" fmla="*/ 12 h 37"/>
                <a:gd name="T16" fmla="*/ 14 w 28"/>
                <a:gd name="T17" fmla="*/ 6 h 37"/>
                <a:gd name="T18" fmla="*/ 11 w 28"/>
                <a:gd name="T19" fmla="*/ 12 h 37"/>
                <a:gd name="T20" fmla="*/ 11 w 28"/>
                <a:gd name="T21" fmla="*/ 37 h 37"/>
                <a:gd name="T22" fmla="*/ 0 w 28"/>
                <a:gd name="T23" fmla="*/ 37 h 37"/>
                <a:gd name="T24" fmla="*/ 0 w 28"/>
                <a:gd name="T25" fmla="*/ 0 h 37"/>
                <a:gd name="T26" fmla="*/ 11 w 28"/>
                <a:gd name="T27" fmla="*/ 0 h 37"/>
                <a:gd name="T28" fmla="*/ 11 w 28"/>
                <a:gd name="T29"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7">
                  <a:moveTo>
                    <a:pt x="11" y="4"/>
                  </a:moveTo>
                  <a:cubicBezTo>
                    <a:pt x="11" y="4"/>
                    <a:pt x="11" y="4"/>
                    <a:pt x="11" y="4"/>
                  </a:cubicBezTo>
                  <a:cubicBezTo>
                    <a:pt x="12" y="2"/>
                    <a:pt x="13" y="1"/>
                    <a:pt x="14" y="1"/>
                  </a:cubicBezTo>
                  <a:cubicBezTo>
                    <a:pt x="16" y="0"/>
                    <a:pt x="17" y="0"/>
                    <a:pt x="19" y="0"/>
                  </a:cubicBezTo>
                  <a:cubicBezTo>
                    <a:pt x="24" y="0"/>
                    <a:pt x="28" y="2"/>
                    <a:pt x="28" y="8"/>
                  </a:cubicBezTo>
                  <a:cubicBezTo>
                    <a:pt x="28" y="37"/>
                    <a:pt x="28" y="37"/>
                    <a:pt x="28" y="37"/>
                  </a:cubicBezTo>
                  <a:cubicBezTo>
                    <a:pt x="18" y="37"/>
                    <a:pt x="18" y="37"/>
                    <a:pt x="18" y="37"/>
                  </a:cubicBezTo>
                  <a:cubicBezTo>
                    <a:pt x="18" y="12"/>
                    <a:pt x="18" y="12"/>
                    <a:pt x="18" y="12"/>
                  </a:cubicBezTo>
                  <a:cubicBezTo>
                    <a:pt x="18" y="8"/>
                    <a:pt x="18" y="6"/>
                    <a:pt x="14" y="6"/>
                  </a:cubicBezTo>
                  <a:cubicBezTo>
                    <a:pt x="11" y="6"/>
                    <a:pt x="11" y="8"/>
                    <a:pt x="11" y="12"/>
                  </a:cubicBezTo>
                  <a:cubicBezTo>
                    <a:pt x="11" y="37"/>
                    <a:pt x="11" y="37"/>
                    <a:pt x="11" y="37"/>
                  </a:cubicBezTo>
                  <a:cubicBezTo>
                    <a:pt x="0" y="37"/>
                    <a:pt x="0" y="37"/>
                    <a:pt x="0" y="37"/>
                  </a:cubicBezTo>
                  <a:cubicBezTo>
                    <a:pt x="0" y="0"/>
                    <a:pt x="0" y="0"/>
                    <a:pt x="0" y="0"/>
                  </a:cubicBezTo>
                  <a:cubicBezTo>
                    <a:pt x="11" y="0"/>
                    <a:pt x="11" y="0"/>
                    <a:pt x="11" y="0"/>
                  </a:cubicBezTo>
                  <a:lnTo>
                    <a:pt x="11" y="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8" name="Freeform 15"/>
            <p:cNvSpPr>
              <a:spLocks noEditPoints="1"/>
            </p:cNvSpPr>
            <p:nvPr/>
          </p:nvSpPr>
          <p:spPr bwMode="gray">
            <a:xfrm>
              <a:off x="6332538" y="1236663"/>
              <a:ext cx="239713" cy="442913"/>
            </a:xfrm>
            <a:custGeom>
              <a:avLst/>
              <a:gdLst>
                <a:gd name="T0" fmla="*/ 19 w 29"/>
                <a:gd name="T1" fmla="*/ 52 h 53"/>
                <a:gd name="T2" fmla="*/ 19 w 29"/>
                <a:gd name="T3" fmla="*/ 48 h 53"/>
                <a:gd name="T4" fmla="*/ 19 w 29"/>
                <a:gd name="T5" fmla="*/ 48 h 53"/>
                <a:gd name="T6" fmla="*/ 10 w 29"/>
                <a:gd name="T7" fmla="*/ 53 h 53"/>
                <a:gd name="T8" fmla="*/ 0 w 29"/>
                <a:gd name="T9" fmla="*/ 33 h 53"/>
                <a:gd name="T10" fmla="*/ 10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19 w 29"/>
                <a:gd name="T23" fmla="*/ 52 h 53"/>
                <a:gd name="T24" fmla="*/ 19 w 29"/>
                <a:gd name="T25" fmla="*/ 33 h 53"/>
                <a:gd name="T26" fmla="*/ 15 w 29"/>
                <a:gd name="T27" fmla="*/ 21 h 53"/>
                <a:gd name="T28" fmla="*/ 10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19" y="52"/>
                  </a:moveTo>
                  <a:cubicBezTo>
                    <a:pt x="19" y="48"/>
                    <a:pt x="19" y="48"/>
                    <a:pt x="19" y="48"/>
                  </a:cubicBezTo>
                  <a:cubicBezTo>
                    <a:pt x="19" y="48"/>
                    <a:pt x="19" y="48"/>
                    <a:pt x="19" y="48"/>
                  </a:cubicBezTo>
                  <a:cubicBezTo>
                    <a:pt x="17" y="51"/>
                    <a:pt x="14" y="53"/>
                    <a:pt x="10" y="53"/>
                  </a:cubicBezTo>
                  <a:cubicBezTo>
                    <a:pt x="0" y="53"/>
                    <a:pt x="0" y="41"/>
                    <a:pt x="0" y="33"/>
                  </a:cubicBezTo>
                  <a:cubicBezTo>
                    <a:pt x="0" y="26"/>
                    <a:pt x="0" y="15"/>
                    <a:pt x="10" y="15"/>
                  </a:cubicBezTo>
                  <a:cubicBezTo>
                    <a:pt x="14" y="15"/>
                    <a:pt x="16" y="16"/>
                    <a:pt x="19" y="19"/>
                  </a:cubicBezTo>
                  <a:cubicBezTo>
                    <a:pt x="19" y="19"/>
                    <a:pt x="19" y="19"/>
                    <a:pt x="19" y="19"/>
                  </a:cubicBezTo>
                  <a:cubicBezTo>
                    <a:pt x="19" y="0"/>
                    <a:pt x="19" y="0"/>
                    <a:pt x="19" y="0"/>
                  </a:cubicBezTo>
                  <a:cubicBezTo>
                    <a:pt x="29" y="0"/>
                    <a:pt x="29" y="0"/>
                    <a:pt x="29" y="0"/>
                  </a:cubicBezTo>
                  <a:cubicBezTo>
                    <a:pt x="29" y="52"/>
                    <a:pt x="29" y="52"/>
                    <a:pt x="29" y="52"/>
                  </a:cubicBezTo>
                  <a:lnTo>
                    <a:pt x="19" y="52"/>
                  </a:lnTo>
                  <a:close/>
                  <a:moveTo>
                    <a:pt x="19" y="33"/>
                  </a:moveTo>
                  <a:cubicBezTo>
                    <a:pt x="19" y="26"/>
                    <a:pt x="19" y="21"/>
                    <a:pt x="15" y="21"/>
                  </a:cubicBezTo>
                  <a:cubicBezTo>
                    <a:pt x="10" y="21"/>
                    <a:pt x="10" y="26"/>
                    <a:pt x="10" y="33"/>
                  </a:cubicBezTo>
                  <a:cubicBezTo>
                    <a:pt x="10"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19" name="Freeform 16"/>
            <p:cNvSpPr>
              <a:spLocks noEditPoints="1"/>
            </p:cNvSpPr>
            <p:nvPr/>
          </p:nvSpPr>
          <p:spPr bwMode="gray">
            <a:xfrm>
              <a:off x="4087813" y="1236663"/>
              <a:ext cx="238125" cy="442913"/>
            </a:xfrm>
            <a:custGeom>
              <a:avLst/>
              <a:gdLst>
                <a:gd name="T0" fmla="*/ 20 w 29"/>
                <a:gd name="T1" fmla="*/ 52 h 53"/>
                <a:gd name="T2" fmla="*/ 20 w 29"/>
                <a:gd name="T3" fmla="*/ 48 h 53"/>
                <a:gd name="T4" fmla="*/ 19 w 29"/>
                <a:gd name="T5" fmla="*/ 48 h 53"/>
                <a:gd name="T6" fmla="*/ 11 w 29"/>
                <a:gd name="T7" fmla="*/ 53 h 53"/>
                <a:gd name="T8" fmla="*/ 1 w 29"/>
                <a:gd name="T9" fmla="*/ 33 h 53"/>
                <a:gd name="T10" fmla="*/ 11 w 29"/>
                <a:gd name="T11" fmla="*/ 15 h 53"/>
                <a:gd name="T12" fmla="*/ 19 w 29"/>
                <a:gd name="T13" fmla="*/ 19 h 53"/>
                <a:gd name="T14" fmla="*/ 19 w 29"/>
                <a:gd name="T15" fmla="*/ 19 h 53"/>
                <a:gd name="T16" fmla="*/ 19 w 29"/>
                <a:gd name="T17" fmla="*/ 0 h 53"/>
                <a:gd name="T18" fmla="*/ 29 w 29"/>
                <a:gd name="T19" fmla="*/ 0 h 53"/>
                <a:gd name="T20" fmla="*/ 29 w 29"/>
                <a:gd name="T21" fmla="*/ 52 h 53"/>
                <a:gd name="T22" fmla="*/ 20 w 29"/>
                <a:gd name="T23" fmla="*/ 52 h 53"/>
                <a:gd name="T24" fmla="*/ 19 w 29"/>
                <a:gd name="T25" fmla="*/ 33 h 53"/>
                <a:gd name="T26" fmla="*/ 15 w 29"/>
                <a:gd name="T27" fmla="*/ 21 h 53"/>
                <a:gd name="T28" fmla="*/ 11 w 29"/>
                <a:gd name="T29" fmla="*/ 33 h 53"/>
                <a:gd name="T30" fmla="*/ 15 w 29"/>
                <a:gd name="T31" fmla="*/ 46 h 53"/>
                <a:gd name="T32" fmla="*/ 19 w 29"/>
                <a:gd name="T3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 h="53">
                  <a:moveTo>
                    <a:pt x="20" y="52"/>
                  </a:moveTo>
                  <a:cubicBezTo>
                    <a:pt x="20" y="48"/>
                    <a:pt x="20" y="48"/>
                    <a:pt x="20" y="48"/>
                  </a:cubicBezTo>
                  <a:cubicBezTo>
                    <a:pt x="19" y="48"/>
                    <a:pt x="19" y="48"/>
                    <a:pt x="19" y="48"/>
                  </a:cubicBezTo>
                  <a:cubicBezTo>
                    <a:pt x="18" y="51"/>
                    <a:pt x="15" y="53"/>
                    <a:pt x="11" y="53"/>
                  </a:cubicBezTo>
                  <a:cubicBezTo>
                    <a:pt x="0" y="53"/>
                    <a:pt x="1" y="41"/>
                    <a:pt x="1" y="33"/>
                  </a:cubicBezTo>
                  <a:cubicBezTo>
                    <a:pt x="1" y="26"/>
                    <a:pt x="0" y="15"/>
                    <a:pt x="11" y="15"/>
                  </a:cubicBezTo>
                  <a:cubicBezTo>
                    <a:pt x="14" y="15"/>
                    <a:pt x="17" y="16"/>
                    <a:pt x="19" y="19"/>
                  </a:cubicBezTo>
                  <a:cubicBezTo>
                    <a:pt x="19" y="19"/>
                    <a:pt x="19" y="19"/>
                    <a:pt x="19" y="19"/>
                  </a:cubicBezTo>
                  <a:cubicBezTo>
                    <a:pt x="19" y="0"/>
                    <a:pt x="19" y="0"/>
                    <a:pt x="19" y="0"/>
                  </a:cubicBezTo>
                  <a:cubicBezTo>
                    <a:pt x="29" y="0"/>
                    <a:pt x="29" y="0"/>
                    <a:pt x="29" y="0"/>
                  </a:cubicBezTo>
                  <a:cubicBezTo>
                    <a:pt x="29" y="52"/>
                    <a:pt x="29" y="52"/>
                    <a:pt x="29" y="52"/>
                  </a:cubicBezTo>
                  <a:lnTo>
                    <a:pt x="20" y="52"/>
                  </a:lnTo>
                  <a:close/>
                  <a:moveTo>
                    <a:pt x="19" y="33"/>
                  </a:moveTo>
                  <a:cubicBezTo>
                    <a:pt x="19" y="26"/>
                    <a:pt x="19" y="21"/>
                    <a:pt x="15" y="21"/>
                  </a:cubicBezTo>
                  <a:cubicBezTo>
                    <a:pt x="11" y="21"/>
                    <a:pt x="11" y="26"/>
                    <a:pt x="11" y="33"/>
                  </a:cubicBezTo>
                  <a:cubicBezTo>
                    <a:pt x="11" y="43"/>
                    <a:pt x="11" y="46"/>
                    <a:pt x="15" y="46"/>
                  </a:cubicBezTo>
                  <a:cubicBezTo>
                    <a:pt x="18" y="46"/>
                    <a:pt x="19" y="43"/>
                    <a:pt x="19" y="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0" name="Freeform 17"/>
            <p:cNvSpPr>
              <a:spLocks/>
            </p:cNvSpPr>
            <p:nvPr/>
          </p:nvSpPr>
          <p:spPr bwMode="gray">
            <a:xfrm>
              <a:off x="6761163" y="1227138"/>
              <a:ext cx="279400" cy="452438"/>
            </a:xfrm>
            <a:custGeom>
              <a:avLst/>
              <a:gdLst>
                <a:gd name="T0" fmla="*/ 16 w 34"/>
                <a:gd name="T1" fmla="*/ 54 h 54"/>
                <a:gd name="T2" fmla="*/ 1 w 34"/>
                <a:gd name="T3" fmla="*/ 37 h 54"/>
                <a:gd name="T4" fmla="*/ 11 w 34"/>
                <a:gd name="T5" fmla="*/ 37 h 54"/>
                <a:gd name="T6" fmla="*/ 18 w 34"/>
                <a:gd name="T7" fmla="*/ 46 h 54"/>
                <a:gd name="T8" fmla="*/ 23 w 34"/>
                <a:gd name="T9" fmla="*/ 40 h 54"/>
                <a:gd name="T10" fmla="*/ 1 w 34"/>
                <a:gd name="T11" fmla="*/ 14 h 54"/>
                <a:gd name="T12" fmla="*/ 18 w 34"/>
                <a:gd name="T13" fmla="*/ 0 h 54"/>
                <a:gd name="T14" fmla="*/ 34 w 34"/>
                <a:gd name="T15" fmla="*/ 15 h 54"/>
                <a:gd name="T16" fmla="*/ 23 w 34"/>
                <a:gd name="T17" fmla="*/ 15 h 54"/>
                <a:gd name="T18" fmla="*/ 18 w 34"/>
                <a:gd name="T19" fmla="*/ 8 h 54"/>
                <a:gd name="T20" fmla="*/ 12 w 34"/>
                <a:gd name="T21" fmla="*/ 13 h 54"/>
                <a:gd name="T22" fmla="*/ 34 w 34"/>
                <a:gd name="T23" fmla="*/ 39 h 54"/>
                <a:gd name="T24" fmla="*/ 16 w 34"/>
                <a:gd name="T25"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54">
                  <a:moveTo>
                    <a:pt x="16" y="54"/>
                  </a:moveTo>
                  <a:cubicBezTo>
                    <a:pt x="2" y="54"/>
                    <a:pt x="0" y="46"/>
                    <a:pt x="1" y="37"/>
                  </a:cubicBezTo>
                  <a:cubicBezTo>
                    <a:pt x="11" y="37"/>
                    <a:pt x="11" y="37"/>
                    <a:pt x="11" y="37"/>
                  </a:cubicBezTo>
                  <a:cubicBezTo>
                    <a:pt x="11" y="42"/>
                    <a:pt x="12" y="46"/>
                    <a:pt x="18" y="46"/>
                  </a:cubicBezTo>
                  <a:cubicBezTo>
                    <a:pt x="21" y="46"/>
                    <a:pt x="23" y="44"/>
                    <a:pt x="23" y="40"/>
                  </a:cubicBezTo>
                  <a:cubicBezTo>
                    <a:pt x="23" y="31"/>
                    <a:pt x="1" y="30"/>
                    <a:pt x="1" y="14"/>
                  </a:cubicBezTo>
                  <a:cubicBezTo>
                    <a:pt x="1" y="6"/>
                    <a:pt x="5" y="0"/>
                    <a:pt x="18" y="0"/>
                  </a:cubicBezTo>
                  <a:cubicBezTo>
                    <a:pt x="29" y="0"/>
                    <a:pt x="34" y="4"/>
                    <a:pt x="34" y="15"/>
                  </a:cubicBezTo>
                  <a:cubicBezTo>
                    <a:pt x="23" y="15"/>
                    <a:pt x="23" y="15"/>
                    <a:pt x="23" y="15"/>
                  </a:cubicBezTo>
                  <a:cubicBezTo>
                    <a:pt x="23" y="12"/>
                    <a:pt x="22" y="8"/>
                    <a:pt x="18" y="8"/>
                  </a:cubicBezTo>
                  <a:cubicBezTo>
                    <a:pt x="14" y="8"/>
                    <a:pt x="12" y="9"/>
                    <a:pt x="12" y="13"/>
                  </a:cubicBezTo>
                  <a:cubicBezTo>
                    <a:pt x="12" y="23"/>
                    <a:pt x="34" y="22"/>
                    <a:pt x="34" y="39"/>
                  </a:cubicBezTo>
                  <a:cubicBezTo>
                    <a:pt x="34" y="52"/>
                    <a:pt x="24" y="54"/>
                    <a:pt x="16" y="5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1" name="Freeform 18"/>
            <p:cNvSpPr>
              <a:spLocks noEditPoints="1"/>
            </p:cNvSpPr>
            <p:nvPr/>
          </p:nvSpPr>
          <p:spPr bwMode="gray">
            <a:xfrm>
              <a:off x="7081838" y="1362075"/>
              <a:ext cx="238125" cy="317500"/>
            </a:xfrm>
            <a:custGeom>
              <a:avLst/>
              <a:gdLst>
                <a:gd name="T0" fmla="*/ 0 w 29"/>
                <a:gd name="T1" fmla="*/ 18 h 38"/>
                <a:gd name="T2" fmla="*/ 15 w 29"/>
                <a:gd name="T3" fmla="*/ 0 h 38"/>
                <a:gd name="T4" fmla="*/ 29 w 29"/>
                <a:gd name="T5" fmla="*/ 18 h 38"/>
                <a:gd name="T6" fmla="*/ 15 w 29"/>
                <a:gd name="T7" fmla="*/ 38 h 38"/>
                <a:gd name="T8" fmla="*/ 0 w 29"/>
                <a:gd name="T9" fmla="*/ 18 h 38"/>
                <a:gd name="T10" fmla="*/ 19 w 29"/>
                <a:gd name="T11" fmla="*/ 18 h 38"/>
                <a:gd name="T12" fmla="*/ 15 w 29"/>
                <a:gd name="T13" fmla="*/ 6 h 38"/>
                <a:gd name="T14" fmla="*/ 10 w 29"/>
                <a:gd name="T15" fmla="*/ 18 h 38"/>
                <a:gd name="T16" fmla="*/ 15 w 29"/>
                <a:gd name="T17" fmla="*/ 31 h 38"/>
                <a:gd name="T18" fmla="*/ 19 w 29"/>
                <a:gd name="T19" fmla="*/ 1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38">
                  <a:moveTo>
                    <a:pt x="0" y="18"/>
                  </a:moveTo>
                  <a:cubicBezTo>
                    <a:pt x="0" y="8"/>
                    <a:pt x="1" y="0"/>
                    <a:pt x="15" y="0"/>
                  </a:cubicBezTo>
                  <a:cubicBezTo>
                    <a:pt x="28" y="0"/>
                    <a:pt x="29" y="8"/>
                    <a:pt x="29" y="18"/>
                  </a:cubicBezTo>
                  <a:cubicBezTo>
                    <a:pt x="29" y="30"/>
                    <a:pt x="28" y="38"/>
                    <a:pt x="15" y="38"/>
                  </a:cubicBezTo>
                  <a:cubicBezTo>
                    <a:pt x="1" y="38"/>
                    <a:pt x="0" y="30"/>
                    <a:pt x="0" y="18"/>
                  </a:cubicBezTo>
                  <a:close/>
                  <a:moveTo>
                    <a:pt x="19" y="18"/>
                  </a:moveTo>
                  <a:cubicBezTo>
                    <a:pt x="19" y="10"/>
                    <a:pt x="19" y="6"/>
                    <a:pt x="15" y="6"/>
                  </a:cubicBezTo>
                  <a:cubicBezTo>
                    <a:pt x="10" y="6"/>
                    <a:pt x="10" y="10"/>
                    <a:pt x="10" y="18"/>
                  </a:cubicBezTo>
                  <a:cubicBezTo>
                    <a:pt x="10" y="29"/>
                    <a:pt x="11" y="31"/>
                    <a:pt x="15" y="31"/>
                  </a:cubicBezTo>
                  <a:cubicBezTo>
                    <a:pt x="18" y="31"/>
                    <a:pt x="19" y="29"/>
                    <a:pt x="19" y="1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2" name="Freeform 19"/>
            <p:cNvSpPr>
              <a:spLocks/>
            </p:cNvSpPr>
            <p:nvPr/>
          </p:nvSpPr>
          <p:spPr bwMode="gray">
            <a:xfrm>
              <a:off x="7345363" y="1227138"/>
              <a:ext cx="163513" cy="444500"/>
            </a:xfrm>
            <a:custGeom>
              <a:avLst/>
              <a:gdLst>
                <a:gd name="T0" fmla="*/ 20 w 20"/>
                <a:gd name="T1" fmla="*/ 7 h 53"/>
                <a:gd name="T2" fmla="*/ 15 w 20"/>
                <a:gd name="T3" fmla="*/ 12 h 53"/>
                <a:gd name="T4" fmla="*/ 15 w 20"/>
                <a:gd name="T5" fmla="*/ 16 h 53"/>
                <a:gd name="T6" fmla="*/ 19 w 20"/>
                <a:gd name="T7" fmla="*/ 16 h 53"/>
                <a:gd name="T8" fmla="*/ 19 w 20"/>
                <a:gd name="T9" fmla="*/ 23 h 53"/>
                <a:gd name="T10" fmla="*/ 15 w 20"/>
                <a:gd name="T11" fmla="*/ 23 h 53"/>
                <a:gd name="T12" fmla="*/ 15 w 20"/>
                <a:gd name="T13" fmla="*/ 53 h 53"/>
                <a:gd name="T14" fmla="*/ 4 w 20"/>
                <a:gd name="T15" fmla="*/ 53 h 53"/>
                <a:gd name="T16" fmla="*/ 4 w 20"/>
                <a:gd name="T17" fmla="*/ 23 h 53"/>
                <a:gd name="T18" fmla="*/ 0 w 20"/>
                <a:gd name="T19" fmla="*/ 23 h 53"/>
                <a:gd name="T20" fmla="*/ 0 w 20"/>
                <a:gd name="T21" fmla="*/ 16 h 53"/>
                <a:gd name="T22" fmla="*/ 5 w 20"/>
                <a:gd name="T23" fmla="*/ 16 h 53"/>
                <a:gd name="T24" fmla="*/ 16 w 20"/>
                <a:gd name="T25" fmla="*/ 0 h 53"/>
                <a:gd name="T26" fmla="*/ 20 w 20"/>
                <a:gd name="T27" fmla="*/ 0 h 53"/>
                <a:gd name="T28" fmla="*/ 20 w 20"/>
                <a:gd name="T29"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53">
                  <a:moveTo>
                    <a:pt x="20" y="7"/>
                  </a:moveTo>
                  <a:cubicBezTo>
                    <a:pt x="16" y="7"/>
                    <a:pt x="15" y="8"/>
                    <a:pt x="15" y="12"/>
                  </a:cubicBezTo>
                  <a:cubicBezTo>
                    <a:pt x="15" y="16"/>
                    <a:pt x="15" y="16"/>
                    <a:pt x="15" y="16"/>
                  </a:cubicBezTo>
                  <a:cubicBezTo>
                    <a:pt x="19" y="16"/>
                    <a:pt x="19" y="16"/>
                    <a:pt x="19" y="16"/>
                  </a:cubicBezTo>
                  <a:cubicBezTo>
                    <a:pt x="19" y="23"/>
                    <a:pt x="19" y="23"/>
                    <a:pt x="19" y="23"/>
                  </a:cubicBezTo>
                  <a:cubicBezTo>
                    <a:pt x="15" y="23"/>
                    <a:pt x="15" y="23"/>
                    <a:pt x="15" y="23"/>
                  </a:cubicBezTo>
                  <a:cubicBezTo>
                    <a:pt x="15" y="53"/>
                    <a:pt x="15" y="53"/>
                    <a:pt x="15" y="53"/>
                  </a:cubicBezTo>
                  <a:cubicBezTo>
                    <a:pt x="4" y="53"/>
                    <a:pt x="4" y="53"/>
                    <a:pt x="4" y="53"/>
                  </a:cubicBezTo>
                  <a:cubicBezTo>
                    <a:pt x="4" y="23"/>
                    <a:pt x="4" y="23"/>
                    <a:pt x="4" y="23"/>
                  </a:cubicBezTo>
                  <a:cubicBezTo>
                    <a:pt x="0" y="23"/>
                    <a:pt x="0" y="23"/>
                    <a:pt x="0" y="23"/>
                  </a:cubicBezTo>
                  <a:cubicBezTo>
                    <a:pt x="0" y="16"/>
                    <a:pt x="0" y="16"/>
                    <a:pt x="0" y="16"/>
                  </a:cubicBezTo>
                  <a:cubicBezTo>
                    <a:pt x="5" y="16"/>
                    <a:pt x="5" y="16"/>
                    <a:pt x="5" y="16"/>
                  </a:cubicBezTo>
                  <a:cubicBezTo>
                    <a:pt x="4" y="6"/>
                    <a:pt x="4" y="0"/>
                    <a:pt x="16" y="0"/>
                  </a:cubicBezTo>
                  <a:cubicBezTo>
                    <a:pt x="17" y="0"/>
                    <a:pt x="18" y="0"/>
                    <a:pt x="20" y="0"/>
                  </a:cubicBezTo>
                  <a:lnTo>
                    <a:pt x="20" y="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3" name="Freeform 20"/>
            <p:cNvSpPr>
              <a:spLocks/>
            </p:cNvSpPr>
            <p:nvPr/>
          </p:nvSpPr>
          <p:spPr bwMode="gray">
            <a:xfrm>
              <a:off x="7542213" y="1277938"/>
              <a:ext cx="157163" cy="393700"/>
            </a:xfrm>
            <a:custGeom>
              <a:avLst/>
              <a:gdLst>
                <a:gd name="T0" fmla="*/ 0 w 19"/>
                <a:gd name="T1" fmla="*/ 10 h 47"/>
                <a:gd name="T2" fmla="*/ 4 w 19"/>
                <a:gd name="T3" fmla="*/ 10 h 47"/>
                <a:gd name="T4" fmla="*/ 4 w 19"/>
                <a:gd name="T5" fmla="*/ 4 h 47"/>
                <a:gd name="T6" fmla="*/ 14 w 19"/>
                <a:gd name="T7" fmla="*/ 0 h 47"/>
                <a:gd name="T8" fmla="*/ 14 w 19"/>
                <a:gd name="T9" fmla="*/ 10 h 47"/>
                <a:gd name="T10" fmla="*/ 19 w 19"/>
                <a:gd name="T11" fmla="*/ 10 h 47"/>
                <a:gd name="T12" fmla="*/ 19 w 19"/>
                <a:gd name="T13" fmla="*/ 17 h 47"/>
                <a:gd name="T14" fmla="*/ 14 w 19"/>
                <a:gd name="T15" fmla="*/ 17 h 47"/>
                <a:gd name="T16" fmla="*/ 14 w 19"/>
                <a:gd name="T17" fmla="*/ 36 h 47"/>
                <a:gd name="T18" fmla="*/ 17 w 19"/>
                <a:gd name="T19" fmla="*/ 41 h 47"/>
                <a:gd name="T20" fmla="*/ 19 w 19"/>
                <a:gd name="T21" fmla="*/ 41 h 47"/>
                <a:gd name="T22" fmla="*/ 19 w 19"/>
                <a:gd name="T23" fmla="*/ 47 h 47"/>
                <a:gd name="T24" fmla="*/ 14 w 19"/>
                <a:gd name="T25" fmla="*/ 47 h 47"/>
                <a:gd name="T26" fmla="*/ 4 w 19"/>
                <a:gd name="T27" fmla="*/ 39 h 47"/>
                <a:gd name="T28" fmla="*/ 4 w 19"/>
                <a:gd name="T29" fmla="*/ 17 h 47"/>
                <a:gd name="T30" fmla="*/ 0 w 19"/>
                <a:gd name="T31" fmla="*/ 17 h 47"/>
                <a:gd name="T32" fmla="*/ 0 w 19"/>
                <a:gd name="T33"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 h="47">
                  <a:moveTo>
                    <a:pt x="0" y="10"/>
                  </a:moveTo>
                  <a:cubicBezTo>
                    <a:pt x="4" y="10"/>
                    <a:pt x="4" y="10"/>
                    <a:pt x="4" y="10"/>
                  </a:cubicBezTo>
                  <a:cubicBezTo>
                    <a:pt x="4" y="4"/>
                    <a:pt x="4" y="4"/>
                    <a:pt x="4" y="4"/>
                  </a:cubicBezTo>
                  <a:cubicBezTo>
                    <a:pt x="14" y="0"/>
                    <a:pt x="14" y="0"/>
                    <a:pt x="14" y="0"/>
                  </a:cubicBezTo>
                  <a:cubicBezTo>
                    <a:pt x="14" y="10"/>
                    <a:pt x="14" y="10"/>
                    <a:pt x="14" y="10"/>
                  </a:cubicBezTo>
                  <a:cubicBezTo>
                    <a:pt x="19" y="10"/>
                    <a:pt x="19" y="10"/>
                    <a:pt x="19" y="10"/>
                  </a:cubicBezTo>
                  <a:cubicBezTo>
                    <a:pt x="19" y="17"/>
                    <a:pt x="19" y="17"/>
                    <a:pt x="19" y="17"/>
                  </a:cubicBezTo>
                  <a:cubicBezTo>
                    <a:pt x="14" y="17"/>
                    <a:pt x="14" y="17"/>
                    <a:pt x="14" y="17"/>
                  </a:cubicBezTo>
                  <a:cubicBezTo>
                    <a:pt x="14" y="36"/>
                    <a:pt x="14" y="36"/>
                    <a:pt x="14" y="36"/>
                  </a:cubicBezTo>
                  <a:cubicBezTo>
                    <a:pt x="14" y="39"/>
                    <a:pt x="14" y="41"/>
                    <a:pt x="17" y="41"/>
                  </a:cubicBezTo>
                  <a:cubicBezTo>
                    <a:pt x="18" y="41"/>
                    <a:pt x="18" y="41"/>
                    <a:pt x="19" y="41"/>
                  </a:cubicBezTo>
                  <a:cubicBezTo>
                    <a:pt x="19" y="47"/>
                    <a:pt x="19" y="47"/>
                    <a:pt x="19" y="47"/>
                  </a:cubicBezTo>
                  <a:cubicBezTo>
                    <a:pt x="18" y="47"/>
                    <a:pt x="16" y="47"/>
                    <a:pt x="14" y="47"/>
                  </a:cubicBezTo>
                  <a:cubicBezTo>
                    <a:pt x="5" y="47"/>
                    <a:pt x="4" y="41"/>
                    <a:pt x="4" y="39"/>
                  </a:cubicBezTo>
                  <a:cubicBezTo>
                    <a:pt x="4" y="17"/>
                    <a:pt x="4" y="17"/>
                    <a:pt x="4" y="17"/>
                  </a:cubicBezTo>
                  <a:cubicBezTo>
                    <a:pt x="0" y="17"/>
                    <a:pt x="0" y="17"/>
                    <a:pt x="0" y="17"/>
                  </a:cubicBezTo>
                  <a:lnTo>
                    <a:pt x="0" y="1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4" name="Freeform 21"/>
            <p:cNvSpPr>
              <a:spLocks/>
            </p:cNvSpPr>
            <p:nvPr/>
          </p:nvSpPr>
          <p:spPr bwMode="gray">
            <a:xfrm>
              <a:off x="7731126" y="1362075"/>
              <a:ext cx="452438" cy="309563"/>
            </a:xfrm>
            <a:custGeom>
              <a:avLst/>
              <a:gdLst>
                <a:gd name="T0" fmla="*/ 0 w 285"/>
                <a:gd name="T1" fmla="*/ 0 h 195"/>
                <a:gd name="T2" fmla="*/ 52 w 285"/>
                <a:gd name="T3" fmla="*/ 0 h 195"/>
                <a:gd name="T4" fmla="*/ 78 w 285"/>
                <a:gd name="T5" fmla="*/ 148 h 195"/>
                <a:gd name="T6" fmla="*/ 78 w 285"/>
                <a:gd name="T7" fmla="*/ 148 h 195"/>
                <a:gd name="T8" fmla="*/ 114 w 285"/>
                <a:gd name="T9" fmla="*/ 0 h 195"/>
                <a:gd name="T10" fmla="*/ 171 w 285"/>
                <a:gd name="T11" fmla="*/ 0 h 195"/>
                <a:gd name="T12" fmla="*/ 202 w 285"/>
                <a:gd name="T13" fmla="*/ 148 h 195"/>
                <a:gd name="T14" fmla="*/ 202 w 285"/>
                <a:gd name="T15" fmla="*/ 148 h 195"/>
                <a:gd name="T16" fmla="*/ 233 w 285"/>
                <a:gd name="T17" fmla="*/ 0 h 195"/>
                <a:gd name="T18" fmla="*/ 285 w 285"/>
                <a:gd name="T19" fmla="*/ 0 h 195"/>
                <a:gd name="T20" fmla="*/ 233 w 285"/>
                <a:gd name="T21" fmla="*/ 195 h 195"/>
                <a:gd name="T22" fmla="*/ 176 w 285"/>
                <a:gd name="T23" fmla="*/ 195 h 195"/>
                <a:gd name="T24" fmla="*/ 140 w 285"/>
                <a:gd name="T25" fmla="*/ 63 h 195"/>
                <a:gd name="T26" fmla="*/ 140 w 285"/>
                <a:gd name="T27" fmla="*/ 63 h 195"/>
                <a:gd name="T28" fmla="*/ 104 w 285"/>
                <a:gd name="T29" fmla="*/ 195 h 195"/>
                <a:gd name="T30" fmla="*/ 47 w 285"/>
                <a:gd name="T31" fmla="*/ 195 h 195"/>
                <a:gd name="T32" fmla="*/ 0 w 285"/>
                <a:gd name="T33"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5" h="195">
                  <a:moveTo>
                    <a:pt x="0" y="0"/>
                  </a:moveTo>
                  <a:lnTo>
                    <a:pt x="52" y="0"/>
                  </a:lnTo>
                  <a:lnTo>
                    <a:pt x="78" y="148"/>
                  </a:lnTo>
                  <a:lnTo>
                    <a:pt x="78" y="148"/>
                  </a:lnTo>
                  <a:lnTo>
                    <a:pt x="114" y="0"/>
                  </a:lnTo>
                  <a:lnTo>
                    <a:pt x="171" y="0"/>
                  </a:lnTo>
                  <a:lnTo>
                    <a:pt x="202" y="148"/>
                  </a:lnTo>
                  <a:lnTo>
                    <a:pt x="202" y="148"/>
                  </a:lnTo>
                  <a:lnTo>
                    <a:pt x="233" y="0"/>
                  </a:lnTo>
                  <a:lnTo>
                    <a:pt x="285" y="0"/>
                  </a:lnTo>
                  <a:lnTo>
                    <a:pt x="233" y="195"/>
                  </a:lnTo>
                  <a:lnTo>
                    <a:pt x="176" y="195"/>
                  </a:lnTo>
                  <a:lnTo>
                    <a:pt x="140" y="63"/>
                  </a:lnTo>
                  <a:lnTo>
                    <a:pt x="140" y="63"/>
                  </a:lnTo>
                  <a:lnTo>
                    <a:pt x="104" y="195"/>
                  </a:lnTo>
                  <a:lnTo>
                    <a:pt x="47" y="195"/>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5" name="Freeform 22"/>
            <p:cNvSpPr>
              <a:spLocks noEditPoints="1"/>
            </p:cNvSpPr>
            <p:nvPr/>
          </p:nvSpPr>
          <p:spPr bwMode="gray">
            <a:xfrm>
              <a:off x="8201026" y="1362075"/>
              <a:ext cx="238125" cy="317500"/>
            </a:xfrm>
            <a:custGeom>
              <a:avLst/>
              <a:gdLst>
                <a:gd name="T0" fmla="*/ 29 w 29"/>
                <a:gd name="T1" fmla="*/ 30 h 38"/>
                <a:gd name="T2" fmla="*/ 29 w 29"/>
                <a:gd name="T3" fmla="*/ 37 h 38"/>
                <a:gd name="T4" fmla="*/ 20 w 29"/>
                <a:gd name="T5" fmla="*/ 37 h 38"/>
                <a:gd name="T6" fmla="*/ 19 w 29"/>
                <a:gd name="T7" fmla="*/ 32 h 38"/>
                <a:gd name="T8" fmla="*/ 19 w 29"/>
                <a:gd name="T9" fmla="*/ 32 h 38"/>
                <a:gd name="T10" fmla="*/ 10 w 29"/>
                <a:gd name="T11" fmla="*/ 38 h 38"/>
                <a:gd name="T12" fmla="*/ 0 w 29"/>
                <a:gd name="T13" fmla="*/ 26 h 38"/>
                <a:gd name="T14" fmla="*/ 19 w 29"/>
                <a:gd name="T15" fmla="*/ 13 h 38"/>
                <a:gd name="T16" fmla="*/ 19 w 29"/>
                <a:gd name="T17" fmla="*/ 11 h 38"/>
                <a:gd name="T18" fmla="*/ 15 w 29"/>
                <a:gd name="T19" fmla="*/ 5 h 38"/>
                <a:gd name="T20" fmla="*/ 11 w 29"/>
                <a:gd name="T21" fmla="*/ 11 h 38"/>
                <a:gd name="T22" fmla="*/ 1 w 29"/>
                <a:gd name="T23" fmla="*/ 11 h 38"/>
                <a:gd name="T24" fmla="*/ 5 w 29"/>
                <a:gd name="T25" fmla="*/ 2 h 38"/>
                <a:gd name="T26" fmla="*/ 14 w 29"/>
                <a:gd name="T27" fmla="*/ 0 h 38"/>
                <a:gd name="T28" fmla="*/ 29 w 29"/>
                <a:gd name="T29" fmla="*/ 12 h 38"/>
                <a:gd name="T30" fmla="*/ 29 w 29"/>
                <a:gd name="T31" fmla="*/ 30 h 38"/>
                <a:gd name="T32" fmla="*/ 10 w 29"/>
                <a:gd name="T33" fmla="*/ 26 h 38"/>
                <a:gd name="T34" fmla="*/ 14 w 29"/>
                <a:gd name="T35" fmla="*/ 31 h 38"/>
                <a:gd name="T36" fmla="*/ 19 w 29"/>
                <a:gd name="T37" fmla="*/ 19 h 38"/>
                <a:gd name="T38" fmla="*/ 10 w 29"/>
                <a:gd name="T39" fmla="*/ 2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 h="38">
                  <a:moveTo>
                    <a:pt x="29" y="30"/>
                  </a:moveTo>
                  <a:cubicBezTo>
                    <a:pt x="29" y="32"/>
                    <a:pt x="29" y="35"/>
                    <a:pt x="29" y="37"/>
                  </a:cubicBezTo>
                  <a:cubicBezTo>
                    <a:pt x="20" y="37"/>
                    <a:pt x="20" y="37"/>
                    <a:pt x="20" y="37"/>
                  </a:cubicBezTo>
                  <a:cubicBezTo>
                    <a:pt x="19" y="32"/>
                    <a:pt x="19" y="32"/>
                    <a:pt x="19" y="32"/>
                  </a:cubicBezTo>
                  <a:cubicBezTo>
                    <a:pt x="19" y="32"/>
                    <a:pt x="19" y="32"/>
                    <a:pt x="19" y="32"/>
                  </a:cubicBezTo>
                  <a:cubicBezTo>
                    <a:pt x="17" y="36"/>
                    <a:pt x="14" y="38"/>
                    <a:pt x="10" y="38"/>
                  </a:cubicBezTo>
                  <a:cubicBezTo>
                    <a:pt x="3" y="38"/>
                    <a:pt x="0" y="32"/>
                    <a:pt x="0" y="26"/>
                  </a:cubicBezTo>
                  <a:cubicBezTo>
                    <a:pt x="0" y="14"/>
                    <a:pt x="9" y="13"/>
                    <a:pt x="19" y="13"/>
                  </a:cubicBezTo>
                  <a:cubicBezTo>
                    <a:pt x="19" y="11"/>
                    <a:pt x="19" y="11"/>
                    <a:pt x="19" y="11"/>
                  </a:cubicBezTo>
                  <a:cubicBezTo>
                    <a:pt x="19" y="8"/>
                    <a:pt x="18" y="5"/>
                    <a:pt x="15" y="5"/>
                  </a:cubicBezTo>
                  <a:cubicBezTo>
                    <a:pt x="11" y="5"/>
                    <a:pt x="11" y="8"/>
                    <a:pt x="11" y="11"/>
                  </a:cubicBezTo>
                  <a:cubicBezTo>
                    <a:pt x="1" y="11"/>
                    <a:pt x="1" y="11"/>
                    <a:pt x="1" y="11"/>
                  </a:cubicBezTo>
                  <a:cubicBezTo>
                    <a:pt x="1" y="6"/>
                    <a:pt x="2" y="4"/>
                    <a:pt x="5" y="2"/>
                  </a:cubicBezTo>
                  <a:cubicBezTo>
                    <a:pt x="7" y="0"/>
                    <a:pt x="10" y="0"/>
                    <a:pt x="14" y="0"/>
                  </a:cubicBezTo>
                  <a:cubicBezTo>
                    <a:pt x="27" y="0"/>
                    <a:pt x="29" y="5"/>
                    <a:pt x="29" y="12"/>
                  </a:cubicBezTo>
                  <a:lnTo>
                    <a:pt x="29" y="30"/>
                  </a:lnTo>
                  <a:close/>
                  <a:moveTo>
                    <a:pt x="10" y="26"/>
                  </a:moveTo>
                  <a:cubicBezTo>
                    <a:pt x="10" y="28"/>
                    <a:pt x="10" y="31"/>
                    <a:pt x="14" y="31"/>
                  </a:cubicBezTo>
                  <a:cubicBezTo>
                    <a:pt x="20" y="31"/>
                    <a:pt x="19" y="23"/>
                    <a:pt x="19" y="19"/>
                  </a:cubicBezTo>
                  <a:cubicBezTo>
                    <a:pt x="14" y="19"/>
                    <a:pt x="10" y="19"/>
                    <a:pt x="10" y="2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6" name="Freeform 23"/>
            <p:cNvSpPr>
              <a:spLocks/>
            </p:cNvSpPr>
            <p:nvPr/>
          </p:nvSpPr>
          <p:spPr bwMode="gray">
            <a:xfrm>
              <a:off x="8496301" y="1362075"/>
              <a:ext cx="157163" cy="309563"/>
            </a:xfrm>
            <a:custGeom>
              <a:avLst/>
              <a:gdLst>
                <a:gd name="T0" fmla="*/ 10 w 19"/>
                <a:gd name="T1" fmla="*/ 0 h 37"/>
                <a:gd name="T2" fmla="*/ 10 w 19"/>
                <a:gd name="T3" fmla="*/ 5 h 37"/>
                <a:gd name="T4" fmla="*/ 10 w 19"/>
                <a:gd name="T5" fmla="*/ 5 h 37"/>
                <a:gd name="T6" fmla="*/ 19 w 19"/>
                <a:gd name="T7" fmla="*/ 0 h 37"/>
                <a:gd name="T8" fmla="*/ 19 w 19"/>
                <a:gd name="T9" fmla="*/ 9 h 37"/>
                <a:gd name="T10" fmla="*/ 10 w 19"/>
                <a:gd name="T11" fmla="*/ 17 h 37"/>
                <a:gd name="T12" fmla="*/ 10 w 19"/>
                <a:gd name="T13" fmla="*/ 37 h 37"/>
                <a:gd name="T14" fmla="*/ 0 w 19"/>
                <a:gd name="T15" fmla="*/ 37 h 37"/>
                <a:gd name="T16" fmla="*/ 0 w 19"/>
                <a:gd name="T17" fmla="*/ 0 h 37"/>
                <a:gd name="T18" fmla="*/ 10 w 19"/>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37">
                  <a:moveTo>
                    <a:pt x="10" y="0"/>
                  </a:moveTo>
                  <a:cubicBezTo>
                    <a:pt x="10" y="5"/>
                    <a:pt x="10" y="5"/>
                    <a:pt x="10" y="5"/>
                  </a:cubicBezTo>
                  <a:cubicBezTo>
                    <a:pt x="10" y="5"/>
                    <a:pt x="10" y="5"/>
                    <a:pt x="10" y="5"/>
                  </a:cubicBezTo>
                  <a:cubicBezTo>
                    <a:pt x="12" y="1"/>
                    <a:pt x="15" y="0"/>
                    <a:pt x="19" y="0"/>
                  </a:cubicBezTo>
                  <a:cubicBezTo>
                    <a:pt x="19" y="9"/>
                    <a:pt x="19" y="9"/>
                    <a:pt x="19" y="9"/>
                  </a:cubicBezTo>
                  <a:cubicBezTo>
                    <a:pt x="10" y="8"/>
                    <a:pt x="10" y="13"/>
                    <a:pt x="10" y="17"/>
                  </a:cubicBezTo>
                  <a:cubicBezTo>
                    <a:pt x="10" y="37"/>
                    <a:pt x="10" y="37"/>
                    <a:pt x="10" y="37"/>
                  </a:cubicBezTo>
                  <a:cubicBezTo>
                    <a:pt x="0" y="37"/>
                    <a:pt x="0" y="37"/>
                    <a:pt x="0" y="37"/>
                  </a:cubicBezTo>
                  <a:cubicBezTo>
                    <a:pt x="0" y="0"/>
                    <a:pt x="0" y="0"/>
                    <a:pt x="0" y="0"/>
                  </a:cubicBezTo>
                  <a:lnTo>
                    <a:pt x="1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7" name="Freeform 24"/>
            <p:cNvSpPr>
              <a:spLocks noEditPoints="1"/>
            </p:cNvSpPr>
            <p:nvPr/>
          </p:nvSpPr>
          <p:spPr bwMode="gray">
            <a:xfrm>
              <a:off x="8685213" y="1362075"/>
              <a:ext cx="247650" cy="317500"/>
            </a:xfrm>
            <a:custGeom>
              <a:avLst/>
              <a:gdLst>
                <a:gd name="T0" fmla="*/ 10 w 30"/>
                <a:gd name="T1" fmla="*/ 20 h 38"/>
                <a:gd name="T2" fmla="*/ 15 w 30"/>
                <a:gd name="T3" fmla="*/ 31 h 38"/>
                <a:gd name="T4" fmla="*/ 19 w 30"/>
                <a:gd name="T5" fmla="*/ 25 h 38"/>
                <a:gd name="T6" fmla="*/ 30 w 30"/>
                <a:gd name="T7" fmla="*/ 25 h 38"/>
                <a:gd name="T8" fmla="*/ 26 w 30"/>
                <a:gd name="T9" fmla="*/ 34 h 38"/>
                <a:gd name="T10" fmla="*/ 15 w 30"/>
                <a:gd name="T11" fmla="*/ 38 h 38"/>
                <a:gd name="T12" fmla="*/ 0 w 30"/>
                <a:gd name="T13" fmla="*/ 18 h 38"/>
                <a:gd name="T14" fmla="*/ 15 w 30"/>
                <a:gd name="T15" fmla="*/ 0 h 38"/>
                <a:gd name="T16" fmla="*/ 30 w 30"/>
                <a:gd name="T17" fmla="*/ 20 h 38"/>
                <a:gd name="T18" fmla="*/ 10 w 30"/>
                <a:gd name="T19" fmla="*/ 20 h 38"/>
                <a:gd name="T20" fmla="*/ 20 w 30"/>
                <a:gd name="T21" fmla="*/ 15 h 38"/>
                <a:gd name="T22" fmla="*/ 15 w 30"/>
                <a:gd name="T23" fmla="*/ 6 h 38"/>
                <a:gd name="T24" fmla="*/ 10 w 30"/>
                <a:gd name="T25" fmla="*/ 15 h 38"/>
                <a:gd name="T26" fmla="*/ 20 w 30"/>
                <a:gd name="T27"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10" y="20"/>
                  </a:moveTo>
                  <a:cubicBezTo>
                    <a:pt x="10" y="25"/>
                    <a:pt x="11" y="31"/>
                    <a:pt x="15" y="31"/>
                  </a:cubicBezTo>
                  <a:cubicBezTo>
                    <a:pt x="19" y="31"/>
                    <a:pt x="19" y="28"/>
                    <a:pt x="19" y="25"/>
                  </a:cubicBezTo>
                  <a:cubicBezTo>
                    <a:pt x="30" y="25"/>
                    <a:pt x="30" y="25"/>
                    <a:pt x="30" y="25"/>
                  </a:cubicBezTo>
                  <a:cubicBezTo>
                    <a:pt x="30" y="29"/>
                    <a:pt x="28" y="32"/>
                    <a:pt x="26" y="34"/>
                  </a:cubicBezTo>
                  <a:cubicBezTo>
                    <a:pt x="24" y="36"/>
                    <a:pt x="20" y="38"/>
                    <a:pt x="15" y="38"/>
                  </a:cubicBezTo>
                  <a:cubicBezTo>
                    <a:pt x="2" y="38"/>
                    <a:pt x="0" y="30"/>
                    <a:pt x="0" y="18"/>
                  </a:cubicBezTo>
                  <a:cubicBezTo>
                    <a:pt x="0" y="8"/>
                    <a:pt x="2" y="0"/>
                    <a:pt x="15" y="0"/>
                  </a:cubicBezTo>
                  <a:cubicBezTo>
                    <a:pt x="29" y="0"/>
                    <a:pt x="30" y="8"/>
                    <a:pt x="30" y="20"/>
                  </a:cubicBezTo>
                  <a:lnTo>
                    <a:pt x="10" y="20"/>
                  </a:lnTo>
                  <a:close/>
                  <a:moveTo>
                    <a:pt x="20" y="15"/>
                  </a:moveTo>
                  <a:cubicBezTo>
                    <a:pt x="20" y="11"/>
                    <a:pt x="20" y="6"/>
                    <a:pt x="15" y="6"/>
                  </a:cubicBezTo>
                  <a:cubicBezTo>
                    <a:pt x="10" y="6"/>
                    <a:pt x="10" y="11"/>
                    <a:pt x="10" y="15"/>
                  </a:cubicBezTo>
                  <a:lnTo>
                    <a:pt x="20" y="15"/>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dirty="0"/>
            </a:p>
          </p:txBody>
        </p:sp>
        <p:sp>
          <p:nvSpPr>
            <p:cNvPr id="28" name="Freeform 25"/>
            <p:cNvSpPr>
              <a:spLocks noEditPoints="1"/>
            </p:cNvSpPr>
            <p:nvPr/>
          </p:nvSpPr>
          <p:spPr bwMode="gray">
            <a:xfrm>
              <a:off x="7920038" y="1957388"/>
              <a:ext cx="206375" cy="258763"/>
            </a:xfrm>
            <a:custGeom>
              <a:avLst/>
              <a:gdLst>
                <a:gd name="T0" fmla="*/ 9 w 25"/>
                <a:gd name="T1" fmla="*/ 17 h 31"/>
                <a:gd name="T2" fmla="*/ 13 w 25"/>
                <a:gd name="T3" fmla="*/ 26 h 31"/>
                <a:gd name="T4" fmla="*/ 16 w 25"/>
                <a:gd name="T5" fmla="*/ 20 h 31"/>
                <a:gd name="T6" fmla="*/ 25 w 25"/>
                <a:gd name="T7" fmla="*/ 20 h 31"/>
                <a:gd name="T8" fmla="*/ 22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7 w 25"/>
                <a:gd name="T21" fmla="*/ 12 h 31"/>
                <a:gd name="T22" fmla="*/ 13 w 25"/>
                <a:gd name="T23" fmla="*/ 5 h 31"/>
                <a:gd name="T24" fmla="*/ 9 w 25"/>
                <a:gd name="T25" fmla="*/ 12 h 31"/>
                <a:gd name="T26" fmla="*/ 17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4" y="26"/>
                    <a:pt x="22" y="28"/>
                  </a:cubicBezTo>
                  <a:cubicBezTo>
                    <a:pt x="20" y="30"/>
                    <a:pt x="17" y="31"/>
                    <a:pt x="13" y="31"/>
                  </a:cubicBezTo>
                  <a:cubicBezTo>
                    <a:pt x="2" y="31"/>
                    <a:pt x="0" y="24"/>
                    <a:pt x="0" y="15"/>
                  </a:cubicBezTo>
                  <a:cubicBezTo>
                    <a:pt x="0" y="7"/>
                    <a:pt x="2" y="0"/>
                    <a:pt x="13" y="0"/>
                  </a:cubicBezTo>
                  <a:cubicBezTo>
                    <a:pt x="24" y="0"/>
                    <a:pt x="25" y="7"/>
                    <a:pt x="25" y="17"/>
                  </a:cubicBezTo>
                  <a:lnTo>
                    <a:pt x="9" y="17"/>
                  </a:lnTo>
                  <a:close/>
                  <a:moveTo>
                    <a:pt x="17" y="12"/>
                  </a:moveTo>
                  <a:cubicBezTo>
                    <a:pt x="17" y="9"/>
                    <a:pt x="17" y="5"/>
                    <a:pt x="13" y="5"/>
                  </a:cubicBezTo>
                  <a:cubicBezTo>
                    <a:pt x="9" y="5"/>
                    <a:pt x="9" y="10"/>
                    <a:pt x="9" y="12"/>
                  </a:cubicBezTo>
                  <a:lnTo>
                    <a:pt x="17"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29" name="Freeform 26"/>
            <p:cNvSpPr>
              <a:spLocks noEditPoints="1"/>
            </p:cNvSpPr>
            <p:nvPr/>
          </p:nvSpPr>
          <p:spPr bwMode="gray">
            <a:xfrm>
              <a:off x="8553451" y="1957388"/>
              <a:ext cx="206375" cy="258763"/>
            </a:xfrm>
            <a:custGeom>
              <a:avLst/>
              <a:gdLst>
                <a:gd name="T0" fmla="*/ 9 w 25"/>
                <a:gd name="T1" fmla="*/ 17 h 31"/>
                <a:gd name="T2" fmla="*/ 12 w 25"/>
                <a:gd name="T3" fmla="*/ 26 h 31"/>
                <a:gd name="T4" fmla="*/ 16 w 25"/>
                <a:gd name="T5" fmla="*/ 20 h 31"/>
                <a:gd name="T6" fmla="*/ 24 w 25"/>
                <a:gd name="T7" fmla="*/ 20 h 31"/>
                <a:gd name="T8" fmla="*/ 21 w 25"/>
                <a:gd name="T9" fmla="*/ 28 h 31"/>
                <a:gd name="T10" fmla="*/ 12 w 25"/>
                <a:gd name="T11" fmla="*/ 31 h 31"/>
                <a:gd name="T12" fmla="*/ 0 w 25"/>
                <a:gd name="T13" fmla="*/ 15 h 31"/>
                <a:gd name="T14" fmla="*/ 12 w 25"/>
                <a:gd name="T15" fmla="*/ 0 h 31"/>
                <a:gd name="T16" fmla="*/ 25 w 25"/>
                <a:gd name="T17" fmla="*/ 17 h 31"/>
                <a:gd name="T18" fmla="*/ 9 w 25"/>
                <a:gd name="T19" fmla="*/ 17 h 31"/>
                <a:gd name="T20" fmla="*/ 16 w 25"/>
                <a:gd name="T21" fmla="*/ 12 h 31"/>
                <a:gd name="T22" fmla="*/ 12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2" y="26"/>
                  </a:cubicBezTo>
                  <a:cubicBezTo>
                    <a:pt x="15" y="26"/>
                    <a:pt x="16" y="23"/>
                    <a:pt x="16" y="20"/>
                  </a:cubicBezTo>
                  <a:cubicBezTo>
                    <a:pt x="24" y="20"/>
                    <a:pt x="24" y="20"/>
                    <a:pt x="24" y="20"/>
                  </a:cubicBezTo>
                  <a:cubicBezTo>
                    <a:pt x="24" y="24"/>
                    <a:pt x="23" y="26"/>
                    <a:pt x="21" y="28"/>
                  </a:cubicBezTo>
                  <a:cubicBezTo>
                    <a:pt x="19" y="30"/>
                    <a:pt x="16" y="31"/>
                    <a:pt x="12" y="31"/>
                  </a:cubicBezTo>
                  <a:cubicBezTo>
                    <a:pt x="2" y="31"/>
                    <a:pt x="0" y="24"/>
                    <a:pt x="0" y="15"/>
                  </a:cubicBezTo>
                  <a:cubicBezTo>
                    <a:pt x="0" y="7"/>
                    <a:pt x="1" y="0"/>
                    <a:pt x="12" y="0"/>
                  </a:cubicBezTo>
                  <a:cubicBezTo>
                    <a:pt x="24" y="0"/>
                    <a:pt x="25" y="7"/>
                    <a:pt x="25" y="17"/>
                  </a:cubicBezTo>
                  <a:lnTo>
                    <a:pt x="9" y="17"/>
                  </a:lnTo>
                  <a:close/>
                  <a:moveTo>
                    <a:pt x="16" y="12"/>
                  </a:moveTo>
                  <a:cubicBezTo>
                    <a:pt x="16" y="9"/>
                    <a:pt x="16" y="5"/>
                    <a:pt x="12"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 name="Freeform 27"/>
            <p:cNvSpPr>
              <a:spLocks/>
            </p:cNvSpPr>
            <p:nvPr/>
          </p:nvSpPr>
          <p:spPr bwMode="gray">
            <a:xfrm>
              <a:off x="3263901" y="1855788"/>
              <a:ext cx="198438" cy="352425"/>
            </a:xfrm>
            <a:custGeom>
              <a:avLst/>
              <a:gdLst>
                <a:gd name="T0" fmla="*/ 0 w 125"/>
                <a:gd name="T1" fmla="*/ 222 h 222"/>
                <a:gd name="T2" fmla="*/ 0 w 125"/>
                <a:gd name="T3" fmla="*/ 0 h 222"/>
                <a:gd name="T4" fmla="*/ 125 w 125"/>
                <a:gd name="T5" fmla="*/ 0 h 222"/>
                <a:gd name="T6" fmla="*/ 125 w 125"/>
                <a:gd name="T7" fmla="*/ 32 h 222"/>
                <a:gd name="T8" fmla="*/ 47 w 125"/>
                <a:gd name="T9" fmla="*/ 32 h 222"/>
                <a:gd name="T10" fmla="*/ 47 w 125"/>
                <a:gd name="T11" fmla="*/ 90 h 222"/>
                <a:gd name="T12" fmla="*/ 114 w 125"/>
                <a:gd name="T13" fmla="*/ 90 h 222"/>
                <a:gd name="T14" fmla="*/ 114 w 125"/>
                <a:gd name="T15" fmla="*/ 122 h 222"/>
                <a:gd name="T16" fmla="*/ 47 w 125"/>
                <a:gd name="T17" fmla="*/ 122 h 222"/>
                <a:gd name="T18" fmla="*/ 47 w 125"/>
                <a:gd name="T19" fmla="*/ 190 h 222"/>
                <a:gd name="T20" fmla="*/ 125 w 125"/>
                <a:gd name="T21" fmla="*/ 190 h 222"/>
                <a:gd name="T22" fmla="*/ 125 w 125"/>
                <a:gd name="T23" fmla="*/ 222 h 222"/>
                <a:gd name="T24" fmla="*/ 0 w 125"/>
                <a:gd name="T25"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222">
                  <a:moveTo>
                    <a:pt x="0" y="222"/>
                  </a:moveTo>
                  <a:lnTo>
                    <a:pt x="0" y="0"/>
                  </a:lnTo>
                  <a:lnTo>
                    <a:pt x="125" y="0"/>
                  </a:lnTo>
                  <a:lnTo>
                    <a:pt x="125" y="32"/>
                  </a:lnTo>
                  <a:lnTo>
                    <a:pt x="47" y="32"/>
                  </a:lnTo>
                  <a:lnTo>
                    <a:pt x="47" y="90"/>
                  </a:lnTo>
                  <a:lnTo>
                    <a:pt x="114" y="90"/>
                  </a:lnTo>
                  <a:lnTo>
                    <a:pt x="114" y="122"/>
                  </a:lnTo>
                  <a:lnTo>
                    <a:pt x="47" y="122"/>
                  </a:lnTo>
                  <a:lnTo>
                    <a:pt x="47" y="190"/>
                  </a:lnTo>
                  <a:lnTo>
                    <a:pt x="125" y="190"/>
                  </a:lnTo>
                  <a:lnTo>
                    <a:pt x="125"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1" name="Freeform 28"/>
            <p:cNvSpPr>
              <a:spLocks/>
            </p:cNvSpPr>
            <p:nvPr/>
          </p:nvSpPr>
          <p:spPr bwMode="gray">
            <a:xfrm>
              <a:off x="3503613" y="1957388"/>
              <a:ext cx="188913"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10" y="2"/>
                    <a:pt x="11"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5"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2" name="Freeform 29"/>
            <p:cNvSpPr>
              <a:spLocks noEditPoints="1"/>
            </p:cNvSpPr>
            <p:nvPr/>
          </p:nvSpPr>
          <p:spPr bwMode="gray">
            <a:xfrm>
              <a:off x="3741738" y="1957388"/>
              <a:ext cx="196850"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2 w 24"/>
                <a:gd name="T13" fmla="*/ 37 h 42"/>
                <a:gd name="T14" fmla="*/ 16 w 24"/>
                <a:gd name="T15" fmla="*/ 32 h 42"/>
                <a:gd name="T16" fmla="*/ 16 w 24"/>
                <a:gd name="T17" fmla="*/ 27 h 42"/>
                <a:gd name="T18" fmla="*/ 15 w 24"/>
                <a:gd name="T19" fmla="*/ 27 h 42"/>
                <a:gd name="T20" fmla="*/ 9 w 24"/>
                <a:gd name="T21" fmla="*/ 30 h 42"/>
                <a:gd name="T22" fmla="*/ 0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6" y="42"/>
                    <a:pt x="1" y="40"/>
                    <a:pt x="1" y="33"/>
                  </a:cubicBezTo>
                  <a:cubicBezTo>
                    <a:pt x="9" y="33"/>
                    <a:pt x="9" y="33"/>
                    <a:pt x="9" y="33"/>
                  </a:cubicBezTo>
                  <a:cubicBezTo>
                    <a:pt x="9" y="34"/>
                    <a:pt x="9" y="35"/>
                    <a:pt x="10" y="36"/>
                  </a:cubicBezTo>
                  <a:cubicBezTo>
                    <a:pt x="10" y="37"/>
                    <a:pt x="11" y="37"/>
                    <a:pt x="12" y="37"/>
                  </a:cubicBezTo>
                  <a:cubicBezTo>
                    <a:pt x="15" y="37"/>
                    <a:pt x="16" y="35"/>
                    <a:pt x="16" y="32"/>
                  </a:cubicBezTo>
                  <a:cubicBezTo>
                    <a:pt x="16" y="27"/>
                    <a:pt x="16" y="27"/>
                    <a:pt x="16" y="27"/>
                  </a:cubicBezTo>
                  <a:cubicBezTo>
                    <a:pt x="15" y="27"/>
                    <a:pt x="15" y="27"/>
                    <a:pt x="15" y="27"/>
                  </a:cubicBezTo>
                  <a:cubicBezTo>
                    <a:pt x="14" y="29"/>
                    <a:pt x="12" y="30"/>
                    <a:pt x="9" y="30"/>
                  </a:cubicBezTo>
                  <a:cubicBezTo>
                    <a:pt x="0" y="30"/>
                    <a:pt x="0" y="22"/>
                    <a:pt x="0" y="15"/>
                  </a:cubicBezTo>
                  <a:cubicBezTo>
                    <a:pt x="0" y="8"/>
                    <a:pt x="0"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3" name="Rectangle 30"/>
            <p:cNvSpPr>
              <a:spLocks noChangeArrowheads="1"/>
            </p:cNvSpPr>
            <p:nvPr/>
          </p:nvSpPr>
          <p:spPr bwMode="gray">
            <a:xfrm>
              <a:off x="3997326" y="1965325"/>
              <a:ext cx="73025" cy="242888"/>
            </a:xfrm>
            <a:prstGeom prst="rect">
              <a:avLst/>
            </a:prstGeom>
            <a:solidFill>
              <a:srgbClr val="000000"/>
            </a:solidFill>
            <a:ln w="9525">
              <a:noFill/>
              <a:miter lim="800000"/>
              <a:headEnd/>
              <a:tailEnd/>
            </a:ln>
          </p:spPr>
          <p:txBody>
            <a:bodyPr vert="horz" wrap="square" lIns="91440" tIns="45720" rIns="91440" bIns="45720" numCol="1" anchor="t" anchorCtr="0" compatLnSpc="1">
              <a:prstTxWarp prst="textNoShape">
                <a:avLst/>
              </a:prstTxWarp>
            </a:bodyPr>
            <a:lstStyle/>
            <a:p>
              <a:endParaRPr dirty="0"/>
            </a:p>
          </p:txBody>
        </p:sp>
        <p:sp>
          <p:nvSpPr>
            <p:cNvPr id="3074" name="Freeform 31"/>
            <p:cNvSpPr>
              <a:spLocks/>
            </p:cNvSpPr>
            <p:nvPr/>
          </p:nvSpPr>
          <p:spPr bwMode="gray">
            <a:xfrm>
              <a:off x="4127501" y="1957388"/>
              <a:ext cx="190500" cy="250825"/>
            </a:xfrm>
            <a:custGeom>
              <a:avLst/>
              <a:gdLst>
                <a:gd name="T0" fmla="*/ 9 w 23"/>
                <a:gd name="T1" fmla="*/ 4 h 30"/>
                <a:gd name="T2" fmla="*/ 9 w 23"/>
                <a:gd name="T3" fmla="*/ 4 h 30"/>
                <a:gd name="T4" fmla="*/ 12 w 23"/>
                <a:gd name="T5" fmla="*/ 1 h 30"/>
                <a:gd name="T6" fmla="*/ 16 w 23"/>
                <a:gd name="T7" fmla="*/ 0 h 30"/>
                <a:gd name="T8" fmla="*/ 23 w 23"/>
                <a:gd name="T9" fmla="*/ 6 h 30"/>
                <a:gd name="T10" fmla="*/ 23 w 23"/>
                <a:gd name="T11" fmla="*/ 30 h 30"/>
                <a:gd name="T12" fmla="*/ 15 w 23"/>
                <a:gd name="T13" fmla="*/ 30 h 30"/>
                <a:gd name="T14" fmla="*/ 15 w 23"/>
                <a:gd name="T15" fmla="*/ 10 h 30"/>
                <a:gd name="T16" fmla="*/ 12 w 23"/>
                <a:gd name="T17" fmla="*/ 5 h 30"/>
                <a:gd name="T18" fmla="*/ 9 w 23"/>
                <a:gd name="T19" fmla="*/ 10 h 30"/>
                <a:gd name="T20" fmla="*/ 9 w 23"/>
                <a:gd name="T21" fmla="*/ 30 h 30"/>
                <a:gd name="T22" fmla="*/ 0 w 23"/>
                <a:gd name="T23" fmla="*/ 30 h 30"/>
                <a:gd name="T24" fmla="*/ 0 w 23"/>
                <a:gd name="T25" fmla="*/ 1 h 30"/>
                <a:gd name="T26" fmla="*/ 9 w 23"/>
                <a:gd name="T27" fmla="*/ 1 h 30"/>
                <a:gd name="T28" fmla="*/ 9 w 23"/>
                <a:gd name="T29"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30">
                  <a:moveTo>
                    <a:pt x="9" y="4"/>
                  </a:moveTo>
                  <a:cubicBezTo>
                    <a:pt x="9" y="4"/>
                    <a:pt x="9" y="4"/>
                    <a:pt x="9" y="4"/>
                  </a:cubicBezTo>
                  <a:cubicBezTo>
                    <a:pt x="9" y="2"/>
                    <a:pt x="10" y="1"/>
                    <a:pt x="12" y="1"/>
                  </a:cubicBezTo>
                  <a:cubicBezTo>
                    <a:pt x="13" y="0"/>
                    <a:pt x="14" y="0"/>
                    <a:pt x="16" y="0"/>
                  </a:cubicBezTo>
                  <a:cubicBezTo>
                    <a:pt x="20" y="0"/>
                    <a:pt x="23" y="2"/>
                    <a:pt x="23" y="6"/>
                  </a:cubicBezTo>
                  <a:cubicBezTo>
                    <a:pt x="23" y="30"/>
                    <a:pt x="23" y="30"/>
                    <a:pt x="23" y="30"/>
                  </a:cubicBezTo>
                  <a:cubicBezTo>
                    <a:pt x="15" y="30"/>
                    <a:pt x="15" y="30"/>
                    <a:pt x="15" y="30"/>
                  </a:cubicBezTo>
                  <a:cubicBezTo>
                    <a:pt x="15" y="10"/>
                    <a:pt x="15" y="10"/>
                    <a:pt x="15" y="10"/>
                  </a:cubicBezTo>
                  <a:cubicBezTo>
                    <a:pt x="15" y="7"/>
                    <a:pt x="14" y="5"/>
                    <a:pt x="12" y="5"/>
                  </a:cubicBezTo>
                  <a:cubicBezTo>
                    <a:pt x="9" y="5"/>
                    <a:pt x="9" y="7"/>
                    <a:pt x="9" y="10"/>
                  </a:cubicBezTo>
                  <a:cubicBezTo>
                    <a:pt x="9" y="30"/>
                    <a:pt x="9" y="30"/>
                    <a:pt x="9" y="30"/>
                  </a:cubicBezTo>
                  <a:cubicBezTo>
                    <a:pt x="0" y="30"/>
                    <a:pt x="0" y="30"/>
                    <a:pt x="0" y="30"/>
                  </a:cubicBezTo>
                  <a:cubicBezTo>
                    <a:pt x="0" y="1"/>
                    <a:pt x="0" y="1"/>
                    <a:pt x="0" y="1"/>
                  </a:cubicBezTo>
                  <a:cubicBezTo>
                    <a:pt x="9" y="1"/>
                    <a:pt x="9" y="1"/>
                    <a:pt x="9" y="1"/>
                  </a:cubicBezTo>
                  <a:lnTo>
                    <a:pt x="9" y="4"/>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5" name="Freeform 32"/>
            <p:cNvSpPr>
              <a:spLocks noEditPoints="1"/>
            </p:cNvSpPr>
            <p:nvPr/>
          </p:nvSpPr>
          <p:spPr bwMode="gray">
            <a:xfrm>
              <a:off x="4359276"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6" y="26"/>
                    <a:pt x="16" y="23"/>
                    <a:pt x="16" y="20"/>
                  </a:cubicBezTo>
                  <a:cubicBezTo>
                    <a:pt x="25" y="20"/>
                    <a:pt x="25" y="20"/>
                    <a:pt x="25" y="20"/>
                  </a:cubicBezTo>
                  <a:cubicBezTo>
                    <a:pt x="25" y="24"/>
                    <a:pt x="23" y="26"/>
                    <a:pt x="21" y="28"/>
                  </a:cubicBezTo>
                  <a:cubicBezTo>
                    <a:pt x="19" y="30"/>
                    <a:pt x="17"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6" name="Freeform 33"/>
            <p:cNvSpPr>
              <a:spLocks noEditPoints="1"/>
            </p:cNvSpPr>
            <p:nvPr/>
          </p:nvSpPr>
          <p:spPr bwMode="gray">
            <a:xfrm>
              <a:off x="4597401"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2" y="0"/>
                    <a:pt x="13" y="0"/>
                  </a:cubicBezTo>
                  <a:cubicBezTo>
                    <a:pt x="24" y="0"/>
                    <a:pt x="25" y="7"/>
                    <a:pt x="25" y="17"/>
                  </a:cubicBezTo>
                  <a:lnTo>
                    <a:pt x="9" y="17"/>
                  </a:lnTo>
                  <a:close/>
                  <a:moveTo>
                    <a:pt x="16" y="12"/>
                  </a:moveTo>
                  <a:cubicBezTo>
                    <a:pt x="16" y="9"/>
                    <a:pt x="17"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8" name="Freeform 34"/>
            <p:cNvSpPr>
              <a:spLocks/>
            </p:cNvSpPr>
            <p:nvPr/>
          </p:nvSpPr>
          <p:spPr bwMode="gray">
            <a:xfrm>
              <a:off x="48434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79" name="Freeform 35"/>
            <p:cNvSpPr>
              <a:spLocks noEditPoints="1"/>
            </p:cNvSpPr>
            <p:nvPr/>
          </p:nvSpPr>
          <p:spPr bwMode="gray">
            <a:xfrm>
              <a:off x="4992688" y="1957388"/>
              <a:ext cx="204788" cy="258763"/>
            </a:xfrm>
            <a:custGeom>
              <a:avLst/>
              <a:gdLst>
                <a:gd name="T0" fmla="*/ 9 w 25"/>
                <a:gd name="T1" fmla="*/ 17 h 31"/>
                <a:gd name="T2" fmla="*/ 13 w 25"/>
                <a:gd name="T3" fmla="*/ 26 h 31"/>
                <a:gd name="T4" fmla="*/ 16 w 25"/>
                <a:gd name="T5" fmla="*/ 20 h 31"/>
                <a:gd name="T6" fmla="*/ 25 w 25"/>
                <a:gd name="T7" fmla="*/ 20 h 31"/>
                <a:gd name="T8" fmla="*/ 21 w 25"/>
                <a:gd name="T9" fmla="*/ 28 h 31"/>
                <a:gd name="T10" fmla="*/ 13 w 25"/>
                <a:gd name="T11" fmla="*/ 31 h 31"/>
                <a:gd name="T12" fmla="*/ 0 w 25"/>
                <a:gd name="T13" fmla="*/ 15 h 31"/>
                <a:gd name="T14" fmla="*/ 13 w 25"/>
                <a:gd name="T15" fmla="*/ 0 h 31"/>
                <a:gd name="T16" fmla="*/ 25 w 25"/>
                <a:gd name="T17" fmla="*/ 17 h 31"/>
                <a:gd name="T18" fmla="*/ 9 w 25"/>
                <a:gd name="T19" fmla="*/ 17 h 31"/>
                <a:gd name="T20" fmla="*/ 16 w 25"/>
                <a:gd name="T21" fmla="*/ 12 h 31"/>
                <a:gd name="T22" fmla="*/ 13 w 25"/>
                <a:gd name="T23" fmla="*/ 5 h 31"/>
                <a:gd name="T24" fmla="*/ 9 w 25"/>
                <a:gd name="T25" fmla="*/ 12 h 31"/>
                <a:gd name="T26" fmla="*/ 16 w 25"/>
                <a:gd name="T27" fmla="*/ 12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 h="31">
                  <a:moveTo>
                    <a:pt x="9" y="17"/>
                  </a:moveTo>
                  <a:cubicBezTo>
                    <a:pt x="9" y="20"/>
                    <a:pt x="9" y="26"/>
                    <a:pt x="13" y="26"/>
                  </a:cubicBezTo>
                  <a:cubicBezTo>
                    <a:pt x="15" y="26"/>
                    <a:pt x="16" y="23"/>
                    <a:pt x="16" y="20"/>
                  </a:cubicBezTo>
                  <a:cubicBezTo>
                    <a:pt x="25" y="20"/>
                    <a:pt x="25" y="20"/>
                    <a:pt x="25" y="20"/>
                  </a:cubicBezTo>
                  <a:cubicBezTo>
                    <a:pt x="24" y="24"/>
                    <a:pt x="23" y="26"/>
                    <a:pt x="21" y="28"/>
                  </a:cubicBezTo>
                  <a:cubicBezTo>
                    <a:pt x="19" y="30"/>
                    <a:pt x="16" y="31"/>
                    <a:pt x="13" y="31"/>
                  </a:cubicBezTo>
                  <a:cubicBezTo>
                    <a:pt x="2" y="31"/>
                    <a:pt x="0" y="24"/>
                    <a:pt x="0" y="15"/>
                  </a:cubicBezTo>
                  <a:cubicBezTo>
                    <a:pt x="0" y="7"/>
                    <a:pt x="1" y="0"/>
                    <a:pt x="13" y="0"/>
                  </a:cubicBezTo>
                  <a:cubicBezTo>
                    <a:pt x="24" y="0"/>
                    <a:pt x="25" y="7"/>
                    <a:pt x="25" y="17"/>
                  </a:cubicBezTo>
                  <a:lnTo>
                    <a:pt x="9" y="17"/>
                  </a:lnTo>
                  <a:close/>
                  <a:moveTo>
                    <a:pt x="16" y="12"/>
                  </a:moveTo>
                  <a:cubicBezTo>
                    <a:pt x="16" y="9"/>
                    <a:pt x="16" y="5"/>
                    <a:pt x="13" y="5"/>
                  </a:cubicBezTo>
                  <a:cubicBezTo>
                    <a:pt x="9" y="5"/>
                    <a:pt x="9" y="10"/>
                    <a:pt x="9" y="12"/>
                  </a:cubicBezTo>
                  <a:lnTo>
                    <a:pt x="16"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0" name="Freeform 36"/>
            <p:cNvSpPr>
              <a:spLocks noEditPoints="1"/>
            </p:cNvSpPr>
            <p:nvPr/>
          </p:nvSpPr>
          <p:spPr bwMode="gray">
            <a:xfrm>
              <a:off x="5230813" y="1855788"/>
              <a:ext cx="196850" cy="360363"/>
            </a:xfrm>
            <a:custGeom>
              <a:avLst/>
              <a:gdLst>
                <a:gd name="T0" fmla="*/ 16 w 24"/>
                <a:gd name="T1" fmla="*/ 42 h 43"/>
                <a:gd name="T2" fmla="*/ 16 w 24"/>
                <a:gd name="T3" fmla="*/ 39 h 43"/>
                <a:gd name="T4" fmla="*/ 16 w 24"/>
                <a:gd name="T5" fmla="*/ 39 h 43"/>
                <a:gd name="T6" fmla="*/ 9 w 24"/>
                <a:gd name="T7" fmla="*/ 43 h 43"/>
                <a:gd name="T8" fmla="*/ 0 w 24"/>
                <a:gd name="T9" fmla="*/ 27 h 43"/>
                <a:gd name="T10" fmla="*/ 9 w 24"/>
                <a:gd name="T11" fmla="*/ 12 h 43"/>
                <a:gd name="T12" fmla="*/ 15 w 24"/>
                <a:gd name="T13" fmla="*/ 15 h 43"/>
                <a:gd name="T14" fmla="*/ 15 w 24"/>
                <a:gd name="T15" fmla="*/ 15 h 43"/>
                <a:gd name="T16" fmla="*/ 15 w 24"/>
                <a:gd name="T17" fmla="*/ 0 h 43"/>
                <a:gd name="T18" fmla="*/ 24 w 24"/>
                <a:gd name="T19" fmla="*/ 0 h 43"/>
                <a:gd name="T20" fmla="*/ 24 w 24"/>
                <a:gd name="T21" fmla="*/ 42 h 43"/>
                <a:gd name="T22" fmla="*/ 16 w 24"/>
                <a:gd name="T23" fmla="*/ 42 h 43"/>
                <a:gd name="T24" fmla="*/ 15 w 24"/>
                <a:gd name="T25" fmla="*/ 27 h 43"/>
                <a:gd name="T26" fmla="*/ 12 w 24"/>
                <a:gd name="T27" fmla="*/ 17 h 43"/>
                <a:gd name="T28" fmla="*/ 9 w 24"/>
                <a:gd name="T29" fmla="*/ 27 h 43"/>
                <a:gd name="T30" fmla="*/ 12 w 24"/>
                <a:gd name="T31" fmla="*/ 38 h 43"/>
                <a:gd name="T32" fmla="*/ 15 w 24"/>
                <a:gd name="T33" fmla="*/ 2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 h="43">
                  <a:moveTo>
                    <a:pt x="16" y="42"/>
                  </a:moveTo>
                  <a:cubicBezTo>
                    <a:pt x="16" y="39"/>
                    <a:pt x="16" y="39"/>
                    <a:pt x="16" y="39"/>
                  </a:cubicBezTo>
                  <a:cubicBezTo>
                    <a:pt x="16" y="39"/>
                    <a:pt x="16" y="39"/>
                    <a:pt x="16" y="39"/>
                  </a:cubicBezTo>
                  <a:cubicBezTo>
                    <a:pt x="14" y="42"/>
                    <a:pt x="12" y="43"/>
                    <a:pt x="9" y="43"/>
                  </a:cubicBezTo>
                  <a:cubicBezTo>
                    <a:pt x="0" y="43"/>
                    <a:pt x="0" y="33"/>
                    <a:pt x="0" y="27"/>
                  </a:cubicBezTo>
                  <a:cubicBezTo>
                    <a:pt x="0" y="21"/>
                    <a:pt x="0" y="12"/>
                    <a:pt x="9" y="12"/>
                  </a:cubicBezTo>
                  <a:cubicBezTo>
                    <a:pt x="12" y="12"/>
                    <a:pt x="14" y="13"/>
                    <a:pt x="15" y="15"/>
                  </a:cubicBezTo>
                  <a:cubicBezTo>
                    <a:pt x="15" y="15"/>
                    <a:pt x="15" y="15"/>
                    <a:pt x="15" y="15"/>
                  </a:cubicBezTo>
                  <a:cubicBezTo>
                    <a:pt x="15" y="0"/>
                    <a:pt x="15" y="0"/>
                    <a:pt x="15" y="0"/>
                  </a:cubicBezTo>
                  <a:cubicBezTo>
                    <a:pt x="24" y="0"/>
                    <a:pt x="24" y="0"/>
                    <a:pt x="24" y="0"/>
                  </a:cubicBezTo>
                  <a:cubicBezTo>
                    <a:pt x="24" y="42"/>
                    <a:pt x="24" y="42"/>
                    <a:pt x="24" y="42"/>
                  </a:cubicBezTo>
                  <a:lnTo>
                    <a:pt x="16" y="42"/>
                  </a:lnTo>
                  <a:close/>
                  <a:moveTo>
                    <a:pt x="15" y="27"/>
                  </a:moveTo>
                  <a:cubicBezTo>
                    <a:pt x="15" y="21"/>
                    <a:pt x="16" y="17"/>
                    <a:pt x="12" y="17"/>
                  </a:cubicBezTo>
                  <a:cubicBezTo>
                    <a:pt x="8" y="17"/>
                    <a:pt x="9" y="21"/>
                    <a:pt x="9" y="27"/>
                  </a:cubicBezTo>
                  <a:cubicBezTo>
                    <a:pt x="9" y="35"/>
                    <a:pt x="9" y="38"/>
                    <a:pt x="12" y="38"/>
                  </a:cubicBezTo>
                  <a:cubicBezTo>
                    <a:pt x="15" y="38"/>
                    <a:pt x="15" y="35"/>
                    <a:pt x="15" y="27"/>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1" name="Freeform 37"/>
            <p:cNvSpPr>
              <a:spLocks/>
            </p:cNvSpPr>
            <p:nvPr/>
          </p:nvSpPr>
          <p:spPr bwMode="gray">
            <a:xfrm>
              <a:off x="5584826" y="1889125"/>
              <a:ext cx="131763" cy="327025"/>
            </a:xfrm>
            <a:custGeom>
              <a:avLst/>
              <a:gdLst>
                <a:gd name="T0" fmla="*/ 0 w 16"/>
                <a:gd name="T1" fmla="*/ 9 h 39"/>
                <a:gd name="T2" fmla="*/ 4 w 16"/>
                <a:gd name="T3" fmla="*/ 9 h 39"/>
                <a:gd name="T4" fmla="*/ 4 w 16"/>
                <a:gd name="T5" fmla="*/ 4 h 39"/>
                <a:gd name="T6" fmla="*/ 12 w 16"/>
                <a:gd name="T7" fmla="*/ 0 h 39"/>
                <a:gd name="T8" fmla="*/ 12 w 16"/>
                <a:gd name="T9" fmla="*/ 9 h 39"/>
                <a:gd name="T10" fmla="*/ 16 w 16"/>
                <a:gd name="T11" fmla="*/ 9 h 39"/>
                <a:gd name="T12" fmla="*/ 16 w 16"/>
                <a:gd name="T13" fmla="*/ 14 h 39"/>
                <a:gd name="T14" fmla="*/ 12 w 16"/>
                <a:gd name="T15" fmla="*/ 14 h 39"/>
                <a:gd name="T16" fmla="*/ 12 w 16"/>
                <a:gd name="T17" fmla="*/ 30 h 39"/>
                <a:gd name="T18" fmla="*/ 15 w 16"/>
                <a:gd name="T19" fmla="*/ 33 h 39"/>
                <a:gd name="T20" fmla="*/ 16 w 16"/>
                <a:gd name="T21" fmla="*/ 33 h 39"/>
                <a:gd name="T22" fmla="*/ 16 w 16"/>
                <a:gd name="T23" fmla="*/ 38 h 39"/>
                <a:gd name="T24" fmla="*/ 12 w 16"/>
                <a:gd name="T25" fmla="*/ 39 h 39"/>
                <a:gd name="T26" fmla="*/ 4 w 16"/>
                <a:gd name="T27" fmla="*/ 32 h 39"/>
                <a:gd name="T28" fmla="*/ 4 w 16"/>
                <a:gd name="T29" fmla="*/ 14 h 39"/>
                <a:gd name="T30" fmla="*/ 0 w 16"/>
                <a:gd name="T31" fmla="*/ 14 h 39"/>
                <a:gd name="T32" fmla="*/ 0 w 16"/>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 h="39">
                  <a:moveTo>
                    <a:pt x="0" y="9"/>
                  </a:moveTo>
                  <a:cubicBezTo>
                    <a:pt x="4" y="9"/>
                    <a:pt x="4" y="9"/>
                    <a:pt x="4" y="9"/>
                  </a:cubicBezTo>
                  <a:cubicBezTo>
                    <a:pt x="4" y="4"/>
                    <a:pt x="4" y="4"/>
                    <a:pt x="4" y="4"/>
                  </a:cubicBezTo>
                  <a:cubicBezTo>
                    <a:pt x="12" y="0"/>
                    <a:pt x="12" y="0"/>
                    <a:pt x="12" y="0"/>
                  </a:cubicBezTo>
                  <a:cubicBezTo>
                    <a:pt x="12" y="9"/>
                    <a:pt x="12" y="9"/>
                    <a:pt x="12" y="9"/>
                  </a:cubicBezTo>
                  <a:cubicBezTo>
                    <a:pt x="16" y="9"/>
                    <a:pt x="16" y="9"/>
                    <a:pt x="16" y="9"/>
                  </a:cubicBezTo>
                  <a:cubicBezTo>
                    <a:pt x="16" y="14"/>
                    <a:pt x="16" y="14"/>
                    <a:pt x="16"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4"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2" name="Freeform 38"/>
            <p:cNvSpPr>
              <a:spLocks noEditPoints="1"/>
            </p:cNvSpPr>
            <p:nvPr/>
          </p:nvSpPr>
          <p:spPr bwMode="gray">
            <a:xfrm>
              <a:off x="5740401" y="1957388"/>
              <a:ext cx="206375" cy="258763"/>
            </a:xfrm>
            <a:custGeom>
              <a:avLst/>
              <a:gdLst>
                <a:gd name="T0" fmla="*/ 0 w 25"/>
                <a:gd name="T1" fmla="*/ 15 h 31"/>
                <a:gd name="T2" fmla="*/ 13 w 25"/>
                <a:gd name="T3" fmla="*/ 0 h 31"/>
                <a:gd name="T4" fmla="*/ 25 w 25"/>
                <a:gd name="T5" fmla="*/ 15 h 31"/>
                <a:gd name="T6" fmla="*/ 13 w 25"/>
                <a:gd name="T7" fmla="*/ 31 h 31"/>
                <a:gd name="T8" fmla="*/ 0 w 25"/>
                <a:gd name="T9" fmla="*/ 15 h 31"/>
                <a:gd name="T10" fmla="*/ 16 w 25"/>
                <a:gd name="T11" fmla="*/ 15 h 31"/>
                <a:gd name="T12" fmla="*/ 13 w 25"/>
                <a:gd name="T13" fmla="*/ 5 h 31"/>
                <a:gd name="T14" fmla="*/ 9 w 25"/>
                <a:gd name="T15" fmla="*/ 15 h 31"/>
                <a:gd name="T16" fmla="*/ 13 w 25"/>
                <a:gd name="T17" fmla="*/ 26 h 31"/>
                <a:gd name="T18" fmla="*/ 16 w 25"/>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31">
                  <a:moveTo>
                    <a:pt x="0" y="15"/>
                  </a:moveTo>
                  <a:cubicBezTo>
                    <a:pt x="0" y="7"/>
                    <a:pt x="1" y="0"/>
                    <a:pt x="13" y="0"/>
                  </a:cubicBezTo>
                  <a:cubicBezTo>
                    <a:pt x="24" y="0"/>
                    <a:pt x="25" y="7"/>
                    <a:pt x="25" y="15"/>
                  </a:cubicBezTo>
                  <a:cubicBezTo>
                    <a:pt x="25" y="24"/>
                    <a:pt x="23" y="31"/>
                    <a:pt x="13" y="31"/>
                  </a:cubicBezTo>
                  <a:cubicBezTo>
                    <a:pt x="2" y="31"/>
                    <a:pt x="0" y="24"/>
                    <a:pt x="0" y="15"/>
                  </a:cubicBezTo>
                  <a:close/>
                  <a:moveTo>
                    <a:pt x="16" y="15"/>
                  </a:moveTo>
                  <a:cubicBezTo>
                    <a:pt x="16" y="8"/>
                    <a:pt x="16" y="5"/>
                    <a:pt x="13" y="5"/>
                  </a:cubicBezTo>
                  <a:cubicBezTo>
                    <a:pt x="9" y="5"/>
                    <a:pt x="9" y="8"/>
                    <a:pt x="9" y="15"/>
                  </a:cubicBezTo>
                  <a:cubicBezTo>
                    <a:pt x="9" y="24"/>
                    <a:pt x="9" y="26"/>
                    <a:pt x="13" y="26"/>
                  </a:cubicBezTo>
                  <a:cubicBezTo>
                    <a:pt x="16"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3" name="Freeform 39"/>
            <p:cNvSpPr>
              <a:spLocks/>
            </p:cNvSpPr>
            <p:nvPr/>
          </p:nvSpPr>
          <p:spPr bwMode="gray">
            <a:xfrm>
              <a:off x="6069013" y="1855788"/>
              <a:ext cx="436563" cy="352425"/>
            </a:xfrm>
            <a:custGeom>
              <a:avLst/>
              <a:gdLst>
                <a:gd name="T0" fmla="*/ 0 w 275"/>
                <a:gd name="T1" fmla="*/ 0 h 222"/>
                <a:gd name="T2" fmla="*/ 52 w 275"/>
                <a:gd name="T3" fmla="*/ 0 h 222"/>
                <a:gd name="T4" fmla="*/ 78 w 275"/>
                <a:gd name="T5" fmla="*/ 159 h 222"/>
                <a:gd name="T6" fmla="*/ 78 w 275"/>
                <a:gd name="T7" fmla="*/ 159 h 222"/>
                <a:gd name="T8" fmla="*/ 114 w 275"/>
                <a:gd name="T9" fmla="*/ 0 h 222"/>
                <a:gd name="T10" fmla="*/ 171 w 275"/>
                <a:gd name="T11" fmla="*/ 0 h 222"/>
                <a:gd name="T12" fmla="*/ 203 w 275"/>
                <a:gd name="T13" fmla="*/ 159 h 222"/>
                <a:gd name="T14" fmla="*/ 203 w 275"/>
                <a:gd name="T15" fmla="*/ 159 h 222"/>
                <a:gd name="T16" fmla="*/ 234 w 275"/>
                <a:gd name="T17" fmla="*/ 0 h 222"/>
                <a:gd name="T18" fmla="*/ 275 w 275"/>
                <a:gd name="T19" fmla="*/ 0 h 222"/>
                <a:gd name="T20" fmla="*/ 228 w 275"/>
                <a:gd name="T21" fmla="*/ 222 h 222"/>
                <a:gd name="T22" fmla="*/ 177 w 275"/>
                <a:gd name="T23" fmla="*/ 222 h 222"/>
                <a:gd name="T24" fmla="*/ 140 w 275"/>
                <a:gd name="T25" fmla="*/ 58 h 222"/>
                <a:gd name="T26" fmla="*/ 140 w 275"/>
                <a:gd name="T27" fmla="*/ 58 h 222"/>
                <a:gd name="T28" fmla="*/ 104 w 275"/>
                <a:gd name="T29" fmla="*/ 222 h 222"/>
                <a:gd name="T30" fmla="*/ 52 w 275"/>
                <a:gd name="T31" fmla="*/ 222 h 222"/>
                <a:gd name="T32" fmla="*/ 0 w 275"/>
                <a:gd name="T33"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5" h="222">
                  <a:moveTo>
                    <a:pt x="0" y="0"/>
                  </a:moveTo>
                  <a:lnTo>
                    <a:pt x="52" y="0"/>
                  </a:lnTo>
                  <a:lnTo>
                    <a:pt x="78" y="159"/>
                  </a:lnTo>
                  <a:lnTo>
                    <a:pt x="78" y="159"/>
                  </a:lnTo>
                  <a:lnTo>
                    <a:pt x="114" y="0"/>
                  </a:lnTo>
                  <a:lnTo>
                    <a:pt x="171" y="0"/>
                  </a:lnTo>
                  <a:lnTo>
                    <a:pt x="203" y="159"/>
                  </a:lnTo>
                  <a:lnTo>
                    <a:pt x="203" y="159"/>
                  </a:lnTo>
                  <a:lnTo>
                    <a:pt x="234" y="0"/>
                  </a:lnTo>
                  <a:lnTo>
                    <a:pt x="275" y="0"/>
                  </a:lnTo>
                  <a:lnTo>
                    <a:pt x="228" y="222"/>
                  </a:lnTo>
                  <a:lnTo>
                    <a:pt x="177" y="222"/>
                  </a:lnTo>
                  <a:lnTo>
                    <a:pt x="140" y="58"/>
                  </a:lnTo>
                  <a:lnTo>
                    <a:pt x="140" y="58"/>
                  </a:lnTo>
                  <a:lnTo>
                    <a:pt x="104" y="222"/>
                  </a:lnTo>
                  <a:lnTo>
                    <a:pt x="52" y="222"/>
                  </a:lnTo>
                  <a:lnTo>
                    <a:pt x="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4" name="Freeform 40"/>
            <p:cNvSpPr>
              <a:spLocks noEditPoints="1"/>
            </p:cNvSpPr>
            <p:nvPr/>
          </p:nvSpPr>
          <p:spPr bwMode="gray">
            <a:xfrm>
              <a:off x="6513513" y="1957388"/>
              <a:ext cx="198438"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5" y="5"/>
                    <a:pt x="12" y="5"/>
                  </a:cubicBezTo>
                  <a:cubicBezTo>
                    <a:pt x="8"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5" name="Freeform 41"/>
            <p:cNvSpPr>
              <a:spLocks/>
            </p:cNvSpPr>
            <p:nvPr/>
          </p:nvSpPr>
          <p:spPr bwMode="gray">
            <a:xfrm>
              <a:off x="6761163" y="1957388"/>
              <a:ext cx="131763" cy="250825"/>
            </a:xfrm>
            <a:custGeom>
              <a:avLst/>
              <a:gdLst>
                <a:gd name="T0" fmla="*/ 8 w 16"/>
                <a:gd name="T1" fmla="*/ 1 h 30"/>
                <a:gd name="T2" fmla="*/ 8 w 16"/>
                <a:gd name="T3" fmla="*/ 4 h 30"/>
                <a:gd name="T4" fmla="*/ 8 w 16"/>
                <a:gd name="T5" fmla="*/ 4 h 30"/>
                <a:gd name="T6" fmla="*/ 16 w 16"/>
                <a:gd name="T7" fmla="*/ 0 h 30"/>
                <a:gd name="T8" fmla="*/ 16 w 16"/>
                <a:gd name="T9" fmla="*/ 7 h 30"/>
                <a:gd name="T10" fmla="*/ 8 w 16"/>
                <a:gd name="T11" fmla="*/ 14 h 30"/>
                <a:gd name="T12" fmla="*/ 8 w 16"/>
                <a:gd name="T13" fmla="*/ 30 h 30"/>
                <a:gd name="T14" fmla="*/ 0 w 16"/>
                <a:gd name="T15" fmla="*/ 30 h 30"/>
                <a:gd name="T16" fmla="*/ 0 w 16"/>
                <a:gd name="T17" fmla="*/ 1 h 30"/>
                <a:gd name="T18" fmla="*/ 8 w 16"/>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30">
                  <a:moveTo>
                    <a:pt x="8" y="1"/>
                  </a:moveTo>
                  <a:cubicBezTo>
                    <a:pt x="8" y="4"/>
                    <a:pt x="8" y="4"/>
                    <a:pt x="8" y="4"/>
                  </a:cubicBezTo>
                  <a:cubicBezTo>
                    <a:pt x="8" y="4"/>
                    <a:pt x="8" y="4"/>
                    <a:pt x="8" y="4"/>
                  </a:cubicBezTo>
                  <a:cubicBezTo>
                    <a:pt x="10" y="1"/>
                    <a:pt x="12" y="0"/>
                    <a:pt x="16" y="0"/>
                  </a:cubicBezTo>
                  <a:cubicBezTo>
                    <a:pt x="16" y="7"/>
                    <a:pt x="16" y="7"/>
                    <a:pt x="16"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6" name="Freeform 42"/>
            <p:cNvSpPr>
              <a:spLocks/>
            </p:cNvSpPr>
            <p:nvPr/>
          </p:nvSpPr>
          <p:spPr bwMode="gray">
            <a:xfrm>
              <a:off x="6924676" y="1855788"/>
              <a:ext cx="206375" cy="352425"/>
            </a:xfrm>
            <a:custGeom>
              <a:avLst/>
              <a:gdLst>
                <a:gd name="T0" fmla="*/ 0 w 130"/>
                <a:gd name="T1" fmla="*/ 222 h 222"/>
                <a:gd name="T2" fmla="*/ 0 w 130"/>
                <a:gd name="T3" fmla="*/ 0 h 222"/>
                <a:gd name="T4" fmla="*/ 42 w 130"/>
                <a:gd name="T5" fmla="*/ 0 h 222"/>
                <a:gd name="T6" fmla="*/ 42 w 130"/>
                <a:gd name="T7" fmla="*/ 132 h 222"/>
                <a:gd name="T8" fmla="*/ 42 w 130"/>
                <a:gd name="T9" fmla="*/ 132 h 222"/>
                <a:gd name="T10" fmla="*/ 83 w 130"/>
                <a:gd name="T11" fmla="*/ 69 h 222"/>
                <a:gd name="T12" fmla="*/ 125 w 130"/>
                <a:gd name="T13" fmla="*/ 69 h 222"/>
                <a:gd name="T14" fmla="*/ 83 w 130"/>
                <a:gd name="T15" fmla="*/ 137 h 222"/>
                <a:gd name="T16" fmla="*/ 130 w 130"/>
                <a:gd name="T17" fmla="*/ 222 h 222"/>
                <a:gd name="T18" fmla="*/ 83 w 130"/>
                <a:gd name="T19" fmla="*/ 222 h 222"/>
                <a:gd name="T20" fmla="*/ 42 w 130"/>
                <a:gd name="T21" fmla="*/ 137 h 222"/>
                <a:gd name="T22" fmla="*/ 42 w 130"/>
                <a:gd name="T23" fmla="*/ 137 h 222"/>
                <a:gd name="T24" fmla="*/ 42 w 130"/>
                <a:gd name="T25" fmla="*/ 222 h 222"/>
                <a:gd name="T26" fmla="*/ 0 w 130"/>
                <a:gd name="T27"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0" h="222">
                  <a:moveTo>
                    <a:pt x="0" y="222"/>
                  </a:moveTo>
                  <a:lnTo>
                    <a:pt x="0" y="0"/>
                  </a:lnTo>
                  <a:lnTo>
                    <a:pt x="42" y="0"/>
                  </a:lnTo>
                  <a:lnTo>
                    <a:pt x="42" y="132"/>
                  </a:lnTo>
                  <a:lnTo>
                    <a:pt x="42" y="132"/>
                  </a:lnTo>
                  <a:lnTo>
                    <a:pt x="83" y="69"/>
                  </a:lnTo>
                  <a:lnTo>
                    <a:pt x="125" y="69"/>
                  </a:lnTo>
                  <a:lnTo>
                    <a:pt x="83" y="137"/>
                  </a:lnTo>
                  <a:lnTo>
                    <a:pt x="130" y="222"/>
                  </a:lnTo>
                  <a:lnTo>
                    <a:pt x="83" y="222"/>
                  </a:lnTo>
                  <a:lnTo>
                    <a:pt x="42" y="137"/>
                  </a:lnTo>
                  <a:lnTo>
                    <a:pt x="42" y="137"/>
                  </a:lnTo>
                  <a:lnTo>
                    <a:pt x="42" y="222"/>
                  </a:lnTo>
                  <a:lnTo>
                    <a:pt x="0" y="22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7" name="Freeform 43"/>
            <p:cNvSpPr>
              <a:spLocks/>
            </p:cNvSpPr>
            <p:nvPr/>
          </p:nvSpPr>
          <p:spPr bwMode="gray">
            <a:xfrm>
              <a:off x="7229476" y="1855788"/>
              <a:ext cx="238125" cy="352425"/>
            </a:xfrm>
            <a:custGeom>
              <a:avLst/>
              <a:gdLst>
                <a:gd name="T0" fmla="*/ 150 w 150"/>
                <a:gd name="T1" fmla="*/ 0 h 222"/>
                <a:gd name="T2" fmla="*/ 150 w 150"/>
                <a:gd name="T3" fmla="*/ 37 h 222"/>
                <a:gd name="T4" fmla="*/ 99 w 150"/>
                <a:gd name="T5" fmla="*/ 37 h 222"/>
                <a:gd name="T6" fmla="*/ 99 w 150"/>
                <a:gd name="T7" fmla="*/ 222 h 222"/>
                <a:gd name="T8" fmla="*/ 52 w 150"/>
                <a:gd name="T9" fmla="*/ 222 h 222"/>
                <a:gd name="T10" fmla="*/ 52 w 150"/>
                <a:gd name="T11" fmla="*/ 37 h 222"/>
                <a:gd name="T12" fmla="*/ 0 w 150"/>
                <a:gd name="T13" fmla="*/ 37 h 222"/>
                <a:gd name="T14" fmla="*/ 0 w 150"/>
                <a:gd name="T15" fmla="*/ 0 h 222"/>
                <a:gd name="T16" fmla="*/ 150 w 150"/>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22">
                  <a:moveTo>
                    <a:pt x="150" y="0"/>
                  </a:moveTo>
                  <a:lnTo>
                    <a:pt x="150" y="37"/>
                  </a:lnTo>
                  <a:lnTo>
                    <a:pt x="99" y="37"/>
                  </a:lnTo>
                  <a:lnTo>
                    <a:pt x="99" y="222"/>
                  </a:lnTo>
                  <a:lnTo>
                    <a:pt x="52" y="222"/>
                  </a:lnTo>
                  <a:lnTo>
                    <a:pt x="52" y="37"/>
                  </a:lnTo>
                  <a:lnTo>
                    <a:pt x="0" y="37"/>
                  </a:lnTo>
                  <a:lnTo>
                    <a:pt x="0" y="0"/>
                  </a:lnTo>
                  <a:lnTo>
                    <a:pt x="150"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8" name="Freeform 44"/>
            <p:cNvSpPr>
              <a:spLocks noEditPoints="1"/>
            </p:cNvSpPr>
            <p:nvPr/>
          </p:nvSpPr>
          <p:spPr bwMode="gray">
            <a:xfrm>
              <a:off x="7443788" y="1957388"/>
              <a:ext cx="196850" cy="258763"/>
            </a:xfrm>
            <a:custGeom>
              <a:avLst/>
              <a:gdLst>
                <a:gd name="T0" fmla="*/ 0 w 24"/>
                <a:gd name="T1" fmla="*/ 15 h 31"/>
                <a:gd name="T2" fmla="*/ 12 w 24"/>
                <a:gd name="T3" fmla="*/ 0 h 31"/>
                <a:gd name="T4" fmla="*/ 24 w 24"/>
                <a:gd name="T5" fmla="*/ 15 h 31"/>
                <a:gd name="T6" fmla="*/ 12 w 24"/>
                <a:gd name="T7" fmla="*/ 31 h 31"/>
                <a:gd name="T8" fmla="*/ 0 w 24"/>
                <a:gd name="T9" fmla="*/ 15 h 31"/>
                <a:gd name="T10" fmla="*/ 16 w 24"/>
                <a:gd name="T11" fmla="*/ 15 h 31"/>
                <a:gd name="T12" fmla="*/ 12 w 24"/>
                <a:gd name="T13" fmla="*/ 5 h 31"/>
                <a:gd name="T14" fmla="*/ 8 w 24"/>
                <a:gd name="T15" fmla="*/ 15 h 31"/>
                <a:gd name="T16" fmla="*/ 12 w 24"/>
                <a:gd name="T17" fmla="*/ 26 h 31"/>
                <a:gd name="T18" fmla="*/ 16 w 24"/>
                <a:gd name="T1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1">
                  <a:moveTo>
                    <a:pt x="0" y="15"/>
                  </a:moveTo>
                  <a:cubicBezTo>
                    <a:pt x="0" y="7"/>
                    <a:pt x="1" y="0"/>
                    <a:pt x="12" y="0"/>
                  </a:cubicBezTo>
                  <a:cubicBezTo>
                    <a:pt x="23" y="0"/>
                    <a:pt x="24" y="7"/>
                    <a:pt x="24" y="15"/>
                  </a:cubicBezTo>
                  <a:cubicBezTo>
                    <a:pt x="24" y="24"/>
                    <a:pt x="23" y="31"/>
                    <a:pt x="12" y="31"/>
                  </a:cubicBezTo>
                  <a:cubicBezTo>
                    <a:pt x="1" y="31"/>
                    <a:pt x="0" y="24"/>
                    <a:pt x="0" y="15"/>
                  </a:cubicBezTo>
                  <a:close/>
                  <a:moveTo>
                    <a:pt x="16" y="15"/>
                  </a:moveTo>
                  <a:cubicBezTo>
                    <a:pt x="16" y="8"/>
                    <a:pt x="16" y="5"/>
                    <a:pt x="12" y="5"/>
                  </a:cubicBezTo>
                  <a:cubicBezTo>
                    <a:pt x="9" y="5"/>
                    <a:pt x="8" y="8"/>
                    <a:pt x="8" y="15"/>
                  </a:cubicBezTo>
                  <a:cubicBezTo>
                    <a:pt x="8" y="24"/>
                    <a:pt x="9" y="26"/>
                    <a:pt x="12" y="26"/>
                  </a:cubicBezTo>
                  <a:cubicBezTo>
                    <a:pt x="15" y="26"/>
                    <a:pt x="16" y="24"/>
                    <a:pt x="16" y="1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89" name="Freeform 45"/>
            <p:cNvSpPr>
              <a:spLocks noEditPoints="1"/>
            </p:cNvSpPr>
            <p:nvPr/>
          </p:nvSpPr>
          <p:spPr bwMode="gray">
            <a:xfrm>
              <a:off x="7681913" y="1957388"/>
              <a:ext cx="198438" cy="350838"/>
            </a:xfrm>
            <a:custGeom>
              <a:avLst/>
              <a:gdLst>
                <a:gd name="T0" fmla="*/ 24 w 24"/>
                <a:gd name="T1" fmla="*/ 1 h 42"/>
                <a:gd name="T2" fmla="*/ 24 w 24"/>
                <a:gd name="T3" fmla="*/ 32 h 42"/>
                <a:gd name="T4" fmla="*/ 13 w 24"/>
                <a:gd name="T5" fmla="*/ 42 h 42"/>
                <a:gd name="T6" fmla="*/ 1 w 24"/>
                <a:gd name="T7" fmla="*/ 33 h 42"/>
                <a:gd name="T8" fmla="*/ 9 w 24"/>
                <a:gd name="T9" fmla="*/ 33 h 42"/>
                <a:gd name="T10" fmla="*/ 10 w 24"/>
                <a:gd name="T11" fmla="*/ 36 h 42"/>
                <a:gd name="T12" fmla="*/ 13 w 24"/>
                <a:gd name="T13" fmla="*/ 37 h 42"/>
                <a:gd name="T14" fmla="*/ 16 w 24"/>
                <a:gd name="T15" fmla="*/ 32 h 42"/>
                <a:gd name="T16" fmla="*/ 16 w 24"/>
                <a:gd name="T17" fmla="*/ 27 h 42"/>
                <a:gd name="T18" fmla="*/ 16 w 24"/>
                <a:gd name="T19" fmla="*/ 27 h 42"/>
                <a:gd name="T20" fmla="*/ 9 w 24"/>
                <a:gd name="T21" fmla="*/ 30 h 42"/>
                <a:gd name="T22" fmla="*/ 1 w 24"/>
                <a:gd name="T23" fmla="*/ 15 h 42"/>
                <a:gd name="T24" fmla="*/ 9 w 24"/>
                <a:gd name="T25" fmla="*/ 0 h 42"/>
                <a:gd name="T26" fmla="*/ 16 w 24"/>
                <a:gd name="T27" fmla="*/ 4 h 42"/>
                <a:gd name="T28" fmla="*/ 16 w 24"/>
                <a:gd name="T29" fmla="*/ 4 h 42"/>
                <a:gd name="T30" fmla="*/ 16 w 24"/>
                <a:gd name="T31" fmla="*/ 1 h 42"/>
                <a:gd name="T32" fmla="*/ 24 w 24"/>
                <a:gd name="T33" fmla="*/ 1 h 42"/>
                <a:gd name="T34" fmla="*/ 12 w 24"/>
                <a:gd name="T35" fmla="*/ 25 h 42"/>
                <a:gd name="T36" fmla="*/ 16 w 24"/>
                <a:gd name="T37" fmla="*/ 15 h 42"/>
                <a:gd name="T38" fmla="*/ 12 w 24"/>
                <a:gd name="T39" fmla="*/ 5 h 42"/>
                <a:gd name="T40" fmla="*/ 9 w 24"/>
                <a:gd name="T41" fmla="*/ 16 h 42"/>
                <a:gd name="T42" fmla="*/ 12 w 24"/>
                <a:gd name="T43"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 h="42">
                  <a:moveTo>
                    <a:pt x="24" y="1"/>
                  </a:moveTo>
                  <a:cubicBezTo>
                    <a:pt x="24" y="32"/>
                    <a:pt x="24" y="32"/>
                    <a:pt x="24" y="32"/>
                  </a:cubicBezTo>
                  <a:cubicBezTo>
                    <a:pt x="24" y="34"/>
                    <a:pt x="24" y="42"/>
                    <a:pt x="13" y="42"/>
                  </a:cubicBezTo>
                  <a:cubicBezTo>
                    <a:pt x="7" y="42"/>
                    <a:pt x="1" y="40"/>
                    <a:pt x="1" y="33"/>
                  </a:cubicBezTo>
                  <a:cubicBezTo>
                    <a:pt x="9" y="33"/>
                    <a:pt x="9" y="33"/>
                    <a:pt x="9" y="33"/>
                  </a:cubicBezTo>
                  <a:cubicBezTo>
                    <a:pt x="9" y="34"/>
                    <a:pt x="9" y="35"/>
                    <a:pt x="10" y="36"/>
                  </a:cubicBezTo>
                  <a:cubicBezTo>
                    <a:pt x="10" y="37"/>
                    <a:pt x="11" y="37"/>
                    <a:pt x="13" y="37"/>
                  </a:cubicBezTo>
                  <a:cubicBezTo>
                    <a:pt x="15" y="37"/>
                    <a:pt x="16" y="35"/>
                    <a:pt x="16" y="32"/>
                  </a:cubicBezTo>
                  <a:cubicBezTo>
                    <a:pt x="16" y="27"/>
                    <a:pt x="16" y="27"/>
                    <a:pt x="16" y="27"/>
                  </a:cubicBezTo>
                  <a:cubicBezTo>
                    <a:pt x="16" y="27"/>
                    <a:pt x="16" y="27"/>
                    <a:pt x="16" y="27"/>
                  </a:cubicBezTo>
                  <a:cubicBezTo>
                    <a:pt x="14" y="29"/>
                    <a:pt x="12" y="30"/>
                    <a:pt x="9" y="30"/>
                  </a:cubicBezTo>
                  <a:cubicBezTo>
                    <a:pt x="0" y="30"/>
                    <a:pt x="1" y="22"/>
                    <a:pt x="1" y="15"/>
                  </a:cubicBezTo>
                  <a:cubicBezTo>
                    <a:pt x="1" y="8"/>
                    <a:pt x="1" y="0"/>
                    <a:pt x="9" y="0"/>
                  </a:cubicBezTo>
                  <a:cubicBezTo>
                    <a:pt x="12" y="0"/>
                    <a:pt x="15" y="1"/>
                    <a:pt x="16" y="4"/>
                  </a:cubicBezTo>
                  <a:cubicBezTo>
                    <a:pt x="16" y="4"/>
                    <a:pt x="16" y="4"/>
                    <a:pt x="16" y="4"/>
                  </a:cubicBezTo>
                  <a:cubicBezTo>
                    <a:pt x="16" y="1"/>
                    <a:pt x="16" y="1"/>
                    <a:pt x="16" y="1"/>
                  </a:cubicBezTo>
                  <a:lnTo>
                    <a:pt x="24" y="1"/>
                  </a:lnTo>
                  <a:close/>
                  <a:moveTo>
                    <a:pt x="12" y="25"/>
                  </a:moveTo>
                  <a:cubicBezTo>
                    <a:pt x="15" y="25"/>
                    <a:pt x="16" y="22"/>
                    <a:pt x="16" y="15"/>
                  </a:cubicBezTo>
                  <a:cubicBezTo>
                    <a:pt x="16" y="9"/>
                    <a:pt x="15" y="5"/>
                    <a:pt x="12" y="5"/>
                  </a:cubicBezTo>
                  <a:cubicBezTo>
                    <a:pt x="9" y="5"/>
                    <a:pt x="9" y="7"/>
                    <a:pt x="9" y="16"/>
                  </a:cubicBezTo>
                  <a:cubicBezTo>
                    <a:pt x="9" y="19"/>
                    <a:pt x="8" y="25"/>
                    <a:pt x="12" y="25"/>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0" name="Freeform 46"/>
            <p:cNvSpPr>
              <a:spLocks/>
            </p:cNvSpPr>
            <p:nvPr/>
          </p:nvSpPr>
          <p:spPr bwMode="gray">
            <a:xfrm>
              <a:off x="8142288" y="1889125"/>
              <a:ext cx="139700" cy="327025"/>
            </a:xfrm>
            <a:custGeom>
              <a:avLst/>
              <a:gdLst>
                <a:gd name="T0" fmla="*/ 0 w 17"/>
                <a:gd name="T1" fmla="*/ 9 h 39"/>
                <a:gd name="T2" fmla="*/ 4 w 17"/>
                <a:gd name="T3" fmla="*/ 9 h 39"/>
                <a:gd name="T4" fmla="*/ 4 w 17"/>
                <a:gd name="T5" fmla="*/ 4 h 39"/>
                <a:gd name="T6" fmla="*/ 12 w 17"/>
                <a:gd name="T7" fmla="*/ 0 h 39"/>
                <a:gd name="T8" fmla="*/ 12 w 17"/>
                <a:gd name="T9" fmla="*/ 9 h 39"/>
                <a:gd name="T10" fmla="*/ 17 w 17"/>
                <a:gd name="T11" fmla="*/ 9 h 39"/>
                <a:gd name="T12" fmla="*/ 17 w 17"/>
                <a:gd name="T13" fmla="*/ 14 h 39"/>
                <a:gd name="T14" fmla="*/ 12 w 17"/>
                <a:gd name="T15" fmla="*/ 14 h 39"/>
                <a:gd name="T16" fmla="*/ 12 w 17"/>
                <a:gd name="T17" fmla="*/ 30 h 39"/>
                <a:gd name="T18" fmla="*/ 15 w 17"/>
                <a:gd name="T19" fmla="*/ 33 h 39"/>
                <a:gd name="T20" fmla="*/ 16 w 17"/>
                <a:gd name="T21" fmla="*/ 33 h 39"/>
                <a:gd name="T22" fmla="*/ 16 w 17"/>
                <a:gd name="T23" fmla="*/ 38 h 39"/>
                <a:gd name="T24" fmla="*/ 12 w 17"/>
                <a:gd name="T25" fmla="*/ 39 h 39"/>
                <a:gd name="T26" fmla="*/ 4 w 17"/>
                <a:gd name="T27" fmla="*/ 32 h 39"/>
                <a:gd name="T28" fmla="*/ 4 w 17"/>
                <a:gd name="T29" fmla="*/ 14 h 39"/>
                <a:gd name="T30" fmla="*/ 0 w 17"/>
                <a:gd name="T31" fmla="*/ 14 h 39"/>
                <a:gd name="T32" fmla="*/ 0 w 17"/>
                <a:gd name="T33"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39">
                  <a:moveTo>
                    <a:pt x="0" y="9"/>
                  </a:moveTo>
                  <a:cubicBezTo>
                    <a:pt x="4" y="9"/>
                    <a:pt x="4" y="9"/>
                    <a:pt x="4" y="9"/>
                  </a:cubicBezTo>
                  <a:cubicBezTo>
                    <a:pt x="4" y="4"/>
                    <a:pt x="4" y="4"/>
                    <a:pt x="4" y="4"/>
                  </a:cubicBezTo>
                  <a:cubicBezTo>
                    <a:pt x="12" y="0"/>
                    <a:pt x="12" y="0"/>
                    <a:pt x="12" y="0"/>
                  </a:cubicBezTo>
                  <a:cubicBezTo>
                    <a:pt x="12" y="9"/>
                    <a:pt x="12" y="9"/>
                    <a:pt x="12" y="9"/>
                  </a:cubicBezTo>
                  <a:cubicBezTo>
                    <a:pt x="17" y="9"/>
                    <a:pt x="17" y="9"/>
                    <a:pt x="17" y="9"/>
                  </a:cubicBezTo>
                  <a:cubicBezTo>
                    <a:pt x="17" y="14"/>
                    <a:pt x="17" y="14"/>
                    <a:pt x="17" y="14"/>
                  </a:cubicBezTo>
                  <a:cubicBezTo>
                    <a:pt x="12" y="14"/>
                    <a:pt x="12" y="14"/>
                    <a:pt x="12" y="14"/>
                  </a:cubicBezTo>
                  <a:cubicBezTo>
                    <a:pt x="12" y="30"/>
                    <a:pt x="12" y="30"/>
                    <a:pt x="12" y="30"/>
                  </a:cubicBezTo>
                  <a:cubicBezTo>
                    <a:pt x="12" y="32"/>
                    <a:pt x="12" y="33"/>
                    <a:pt x="15" y="33"/>
                  </a:cubicBezTo>
                  <a:cubicBezTo>
                    <a:pt x="15" y="33"/>
                    <a:pt x="16" y="33"/>
                    <a:pt x="16" y="33"/>
                  </a:cubicBezTo>
                  <a:cubicBezTo>
                    <a:pt x="16" y="38"/>
                    <a:pt x="16" y="38"/>
                    <a:pt x="16" y="38"/>
                  </a:cubicBezTo>
                  <a:cubicBezTo>
                    <a:pt x="15" y="39"/>
                    <a:pt x="14" y="39"/>
                    <a:pt x="12" y="39"/>
                  </a:cubicBezTo>
                  <a:cubicBezTo>
                    <a:pt x="5" y="39"/>
                    <a:pt x="4" y="34"/>
                    <a:pt x="4" y="32"/>
                  </a:cubicBezTo>
                  <a:cubicBezTo>
                    <a:pt x="4" y="14"/>
                    <a:pt x="4" y="14"/>
                    <a:pt x="4" y="14"/>
                  </a:cubicBezTo>
                  <a:cubicBezTo>
                    <a:pt x="0" y="14"/>
                    <a:pt x="0" y="14"/>
                    <a:pt x="0" y="14"/>
                  </a:cubicBezTo>
                  <a:lnTo>
                    <a:pt x="0" y="9"/>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1" name="Freeform 47"/>
            <p:cNvSpPr>
              <a:spLocks/>
            </p:cNvSpPr>
            <p:nvPr/>
          </p:nvSpPr>
          <p:spPr bwMode="gray">
            <a:xfrm>
              <a:off x="8323263" y="1855788"/>
              <a:ext cx="190500" cy="352425"/>
            </a:xfrm>
            <a:custGeom>
              <a:avLst/>
              <a:gdLst>
                <a:gd name="T0" fmla="*/ 14 w 23"/>
                <a:gd name="T1" fmla="*/ 42 h 42"/>
                <a:gd name="T2" fmla="*/ 14 w 23"/>
                <a:gd name="T3" fmla="*/ 22 h 42"/>
                <a:gd name="T4" fmla="*/ 11 w 23"/>
                <a:gd name="T5" fmla="*/ 17 h 42"/>
                <a:gd name="T6" fmla="*/ 8 w 23"/>
                <a:gd name="T7" fmla="*/ 22 h 42"/>
                <a:gd name="T8" fmla="*/ 8 w 23"/>
                <a:gd name="T9" fmla="*/ 42 h 42"/>
                <a:gd name="T10" fmla="*/ 0 w 23"/>
                <a:gd name="T11" fmla="*/ 42 h 42"/>
                <a:gd name="T12" fmla="*/ 0 w 23"/>
                <a:gd name="T13" fmla="*/ 0 h 42"/>
                <a:gd name="T14" fmla="*/ 8 w 23"/>
                <a:gd name="T15" fmla="*/ 0 h 42"/>
                <a:gd name="T16" fmla="*/ 8 w 23"/>
                <a:gd name="T17" fmla="*/ 16 h 42"/>
                <a:gd name="T18" fmla="*/ 8 w 23"/>
                <a:gd name="T19" fmla="*/ 16 h 42"/>
                <a:gd name="T20" fmla="*/ 11 w 23"/>
                <a:gd name="T21" fmla="*/ 13 h 42"/>
                <a:gd name="T22" fmla="*/ 15 w 23"/>
                <a:gd name="T23" fmla="*/ 12 h 42"/>
                <a:gd name="T24" fmla="*/ 23 w 23"/>
                <a:gd name="T25" fmla="*/ 18 h 42"/>
                <a:gd name="T26" fmla="*/ 23 w 23"/>
                <a:gd name="T27" fmla="*/ 42 h 42"/>
                <a:gd name="T28" fmla="*/ 14 w 23"/>
                <a:gd name="T29"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42">
                  <a:moveTo>
                    <a:pt x="14" y="42"/>
                  </a:moveTo>
                  <a:cubicBezTo>
                    <a:pt x="14" y="22"/>
                    <a:pt x="14" y="22"/>
                    <a:pt x="14" y="22"/>
                  </a:cubicBezTo>
                  <a:cubicBezTo>
                    <a:pt x="14" y="19"/>
                    <a:pt x="14" y="17"/>
                    <a:pt x="11" y="17"/>
                  </a:cubicBezTo>
                  <a:cubicBezTo>
                    <a:pt x="9" y="17"/>
                    <a:pt x="8" y="19"/>
                    <a:pt x="8" y="22"/>
                  </a:cubicBezTo>
                  <a:cubicBezTo>
                    <a:pt x="8" y="42"/>
                    <a:pt x="8" y="42"/>
                    <a:pt x="8" y="42"/>
                  </a:cubicBezTo>
                  <a:cubicBezTo>
                    <a:pt x="0" y="42"/>
                    <a:pt x="0" y="42"/>
                    <a:pt x="0" y="42"/>
                  </a:cubicBezTo>
                  <a:cubicBezTo>
                    <a:pt x="0" y="0"/>
                    <a:pt x="0" y="0"/>
                    <a:pt x="0" y="0"/>
                  </a:cubicBezTo>
                  <a:cubicBezTo>
                    <a:pt x="8" y="0"/>
                    <a:pt x="8" y="0"/>
                    <a:pt x="8" y="0"/>
                  </a:cubicBezTo>
                  <a:cubicBezTo>
                    <a:pt x="8" y="16"/>
                    <a:pt x="8" y="16"/>
                    <a:pt x="8" y="16"/>
                  </a:cubicBezTo>
                  <a:cubicBezTo>
                    <a:pt x="8" y="16"/>
                    <a:pt x="8" y="16"/>
                    <a:pt x="8" y="16"/>
                  </a:cubicBezTo>
                  <a:cubicBezTo>
                    <a:pt x="9" y="14"/>
                    <a:pt x="10" y="13"/>
                    <a:pt x="11" y="13"/>
                  </a:cubicBezTo>
                  <a:cubicBezTo>
                    <a:pt x="12" y="12"/>
                    <a:pt x="14" y="12"/>
                    <a:pt x="15" y="12"/>
                  </a:cubicBezTo>
                  <a:cubicBezTo>
                    <a:pt x="19" y="12"/>
                    <a:pt x="23" y="14"/>
                    <a:pt x="23" y="18"/>
                  </a:cubicBezTo>
                  <a:cubicBezTo>
                    <a:pt x="23" y="42"/>
                    <a:pt x="23" y="42"/>
                    <a:pt x="23" y="42"/>
                  </a:cubicBezTo>
                  <a:lnTo>
                    <a:pt x="14" y="4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sp>
          <p:nvSpPr>
            <p:cNvPr id="3092" name="Freeform 48"/>
            <p:cNvSpPr>
              <a:spLocks/>
            </p:cNvSpPr>
            <p:nvPr/>
          </p:nvSpPr>
          <p:spPr bwMode="gray">
            <a:xfrm>
              <a:off x="8801101" y="1957388"/>
              <a:ext cx="123825" cy="250825"/>
            </a:xfrm>
            <a:custGeom>
              <a:avLst/>
              <a:gdLst>
                <a:gd name="T0" fmla="*/ 8 w 15"/>
                <a:gd name="T1" fmla="*/ 1 h 30"/>
                <a:gd name="T2" fmla="*/ 8 w 15"/>
                <a:gd name="T3" fmla="*/ 4 h 30"/>
                <a:gd name="T4" fmla="*/ 8 w 15"/>
                <a:gd name="T5" fmla="*/ 4 h 30"/>
                <a:gd name="T6" fmla="*/ 15 w 15"/>
                <a:gd name="T7" fmla="*/ 0 h 30"/>
                <a:gd name="T8" fmla="*/ 15 w 15"/>
                <a:gd name="T9" fmla="*/ 7 h 30"/>
                <a:gd name="T10" fmla="*/ 8 w 15"/>
                <a:gd name="T11" fmla="*/ 14 h 30"/>
                <a:gd name="T12" fmla="*/ 8 w 15"/>
                <a:gd name="T13" fmla="*/ 30 h 30"/>
                <a:gd name="T14" fmla="*/ 0 w 15"/>
                <a:gd name="T15" fmla="*/ 30 h 30"/>
                <a:gd name="T16" fmla="*/ 0 w 15"/>
                <a:gd name="T17" fmla="*/ 1 h 30"/>
                <a:gd name="T18" fmla="*/ 8 w 15"/>
                <a:gd name="T19"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30">
                  <a:moveTo>
                    <a:pt x="8" y="1"/>
                  </a:moveTo>
                  <a:cubicBezTo>
                    <a:pt x="8" y="4"/>
                    <a:pt x="8" y="4"/>
                    <a:pt x="8" y="4"/>
                  </a:cubicBezTo>
                  <a:cubicBezTo>
                    <a:pt x="8" y="4"/>
                    <a:pt x="8" y="4"/>
                    <a:pt x="8" y="4"/>
                  </a:cubicBezTo>
                  <a:cubicBezTo>
                    <a:pt x="9" y="1"/>
                    <a:pt x="12" y="0"/>
                    <a:pt x="15" y="0"/>
                  </a:cubicBezTo>
                  <a:cubicBezTo>
                    <a:pt x="15" y="7"/>
                    <a:pt x="15" y="7"/>
                    <a:pt x="15" y="7"/>
                  </a:cubicBezTo>
                  <a:cubicBezTo>
                    <a:pt x="8" y="7"/>
                    <a:pt x="8" y="11"/>
                    <a:pt x="8" y="14"/>
                  </a:cubicBezTo>
                  <a:cubicBezTo>
                    <a:pt x="8" y="30"/>
                    <a:pt x="8" y="30"/>
                    <a:pt x="8" y="30"/>
                  </a:cubicBezTo>
                  <a:cubicBezTo>
                    <a:pt x="0" y="30"/>
                    <a:pt x="0" y="30"/>
                    <a:pt x="0" y="30"/>
                  </a:cubicBezTo>
                  <a:cubicBezTo>
                    <a:pt x="0" y="1"/>
                    <a:pt x="0" y="1"/>
                    <a:pt x="0" y="1"/>
                  </a:cubicBezTo>
                  <a:lnTo>
                    <a:pt x="8" y="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dirty="0"/>
            </a:p>
          </p:txBody>
        </p:sp>
      </p:grpSp>
    </p:spTree>
    <p:extLst>
      <p:ext uri="{BB962C8B-B14F-4D97-AF65-F5344CB8AC3E}">
        <p14:creationId xmlns:p14="http://schemas.microsoft.com/office/powerpoint/2010/main" xmlns="" val="3709137495"/>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bwMode="hidden">
          <a:xfrm>
            <a:off x="138023" y="129398"/>
            <a:ext cx="11912778" cy="6547450"/>
          </a:xfrm>
          <a:prstGeom prst="rect">
            <a:avLst/>
          </a:prstGeom>
          <a:noFill/>
          <a:ln>
            <a:noFill/>
          </a:ln>
        </p:spPr>
      </p:pic>
      <p:pic>
        <p:nvPicPr>
          <p:cNvPr id="12" name="Picture 11"/>
          <p:cNvPicPr>
            <a:picLocks noChangeAspect="1"/>
          </p:cNvPicPr>
          <p:nvPr userDrawn="1"/>
        </p:nvPicPr>
        <p:blipFill>
          <a:blip r:embed="rId3" cstate="screen">
            <a:extLst>
              <a:ext uri="{28A0092B-C50C-407E-A947-70E740481C1C}">
                <a14:useLocalDpi xmlns:a14="http://schemas.microsoft.com/office/drawing/2010/main" xmlns="" val="0"/>
              </a:ext>
            </a:extLst>
          </a:blip>
          <a:stretch>
            <a:fillRect/>
          </a:stretch>
        </p:blipFill>
        <p:spPr bwMode="black">
          <a:xfrm>
            <a:off x="3822128" y="2843826"/>
            <a:ext cx="4544568" cy="569547"/>
          </a:xfrm>
          <a:prstGeom prst="rect">
            <a:avLst/>
          </a:prstGeom>
        </p:spPr>
      </p:pic>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xmlns="" val="1065755523"/>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9AD8BE6-AA7C-4328-9B9F-94628525022E}" type="datetime1">
              <a:rPr lang="en-US" smtClean="0"/>
              <a:pPr/>
              <a:t>10/3/2014</a:t>
            </a:fld>
            <a:endParaRPr lang="en-US"/>
          </a:p>
        </p:txBody>
      </p:sp>
      <p:sp>
        <p:nvSpPr>
          <p:cNvPr id="5" name="Footer Placeholder 4"/>
          <p:cNvSpPr>
            <a:spLocks noGrp="1"/>
          </p:cNvSpPr>
          <p:nvPr>
            <p:ph type="ftr" sz="quarter" idx="11"/>
          </p:nvPr>
        </p:nvSpPr>
        <p:spPr/>
        <p:txBody>
          <a:bodyPr/>
          <a:lstStyle/>
          <a:p>
            <a:r>
              <a:rPr lang="en-US" smtClean="0"/>
              <a:t>Oracle Confidential – Internal/Restricted/Highly Restricted</a:t>
            </a:r>
            <a:endParaRPr lang="en-US"/>
          </a:p>
        </p:txBody>
      </p:sp>
      <p:sp>
        <p:nvSpPr>
          <p:cNvPr id="6" name="Slide Number Placeholder 5"/>
          <p:cNvSpPr>
            <a:spLocks noGrp="1"/>
          </p:cNvSpPr>
          <p:nvPr>
            <p:ph type="sldNum" sz="quarter" idx="12"/>
          </p:nvPr>
        </p:nvSpPr>
        <p:spPr/>
        <p:txBody>
          <a:bodyPr/>
          <a:lstStyle/>
          <a:p>
            <a:fld id="{D4EAF17A-378C-49D5-A479-C71FF9D7F1E7}" type="slidenum">
              <a:rPr lang="en-US" smtClean="0"/>
              <a:pPr/>
              <a:t>‹#›</a:t>
            </a:fld>
            <a:endParaRPr lang="en-US"/>
          </a:p>
        </p:txBody>
      </p:sp>
    </p:spTree>
    <p:extLst>
      <p:ext uri="{BB962C8B-B14F-4D97-AF65-F5344CB8AC3E}">
        <p14:creationId xmlns:p14="http://schemas.microsoft.com/office/powerpoint/2010/main" xmlns="" val="3862187121"/>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CB8E2682-7303-4393-9F25-7F1900A10367}" type="datetime1">
              <a:rPr lang="en-US" smtClean="0"/>
              <a:pPr/>
              <a:t>10/3/2014</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p14="http://schemas.microsoft.com/office/powerpoint/2010/main" xmlns="" val="217345457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9398" cy="6858000"/>
            <a:chOff x="0" y="0"/>
            <a:chExt cx="12189398" cy="6858000"/>
          </a:xfrm>
        </p:grpSpPr>
        <p:sp>
          <p:nvSpPr>
            <p:cNvPr id="8" name="Rectangle 7"/>
            <p:cNvSpPr/>
            <p:nvPr/>
          </p:nvSpPr>
          <p:spPr bwMode="gray">
            <a:xfrm>
              <a:off x="0" y="0"/>
              <a:ext cx="193962"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0"/>
              <a:ext cx="19396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0"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0"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182130" y="6556248"/>
            <a:ext cx="1226398"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F58637A1-2757-41E8-AD98-43E9D0558D9A}" type="datetime1">
              <a:rPr lang="en-US" smtClean="0"/>
              <a:pPr/>
              <a:t>10/3/2014</a:t>
            </a:fld>
            <a:endParaRPr lang="en-US" dirty="0"/>
          </a:p>
        </p:txBody>
      </p:sp>
      <p:sp>
        <p:nvSpPr>
          <p:cNvPr id="5" name="Footer Placeholder 4"/>
          <p:cNvSpPr>
            <a:spLocks noGrp="1"/>
          </p:cNvSpPr>
          <p:nvPr>
            <p:ph type="ftr" sz="quarter" idx="3"/>
          </p:nvPr>
        </p:nvSpPr>
        <p:spPr>
          <a:xfrm>
            <a:off x="8621423" y="6556248"/>
            <a:ext cx="2743200" cy="182880"/>
          </a:xfrm>
          <a:prstGeom prst="rect">
            <a:avLst/>
          </a:prstGeom>
        </p:spPr>
        <p:txBody>
          <a:bodyPr vert="horz" wrap="none" lIns="0" tIns="0" rIns="0" bIns="0" rtlCol="0" anchor="ctr" anchorCtr="0">
            <a:noAutofit/>
          </a:bodyPr>
          <a:lstStyle>
            <a:lvl1pPr algn="l">
              <a:defRPr sz="850">
                <a:solidFill>
                  <a:schemeClr val="tx1"/>
                </a:solidFill>
              </a:defRPr>
            </a:lvl1pPr>
          </a:lstStyle>
          <a:p>
            <a:r>
              <a:rPr lang="en-US" smtClean="0"/>
              <a:t>Oracle Confidential – Internal/Restricted/Highly Restricted</a:t>
            </a:r>
            <a:endParaRPr lang="en-US"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nchorCtr="0">
            <a:noAutofit/>
          </a:bodyPr>
          <a:lstStyle>
            <a:lvl1pPr algn="r">
              <a:defRPr sz="850">
                <a:solidFill>
                  <a:schemeClr val="tx1"/>
                </a:solidFill>
              </a:defRPr>
            </a:lvl1pPr>
          </a:lstStyle>
          <a:p>
            <a:fld id="{C51EAA63-D034-42AE-91FA-B13B9518C7BE}" type="slidenum">
              <a:rPr lang="en-US" smtClean="0"/>
              <a:pPr/>
              <a:t>‹#›</a:t>
            </a:fld>
            <a:endParaRPr lang="en-US" dirty="0"/>
          </a:p>
        </p:txBody>
      </p:sp>
      <p:sp>
        <p:nvSpPr>
          <p:cNvPr id="15" name="TextBox 14"/>
          <p:cNvSpPr txBox="1"/>
          <p:nvPr/>
        </p:nvSpPr>
        <p:spPr>
          <a:xfrm>
            <a:off x="5376672" y="6556248"/>
            <a:ext cx="3200400" cy="182880"/>
          </a:xfrm>
          <a:prstGeom prst="rect">
            <a:avLst/>
          </a:prstGeom>
          <a:noFill/>
        </p:spPr>
        <p:txBody>
          <a:bodyPr vert="horz" wrap="none" lIns="0" tIns="0" rIns="0" bIns="0" rtlCol="0" anchor="ctr" anchorCtr="0">
            <a:noAutofit/>
          </a:bodyPr>
          <a:lstStyle/>
          <a:p>
            <a:pPr algn="r"/>
            <a:r>
              <a:rPr sz="850" dirty="0">
                <a:solidFill>
                  <a:schemeClr val="tx1"/>
                </a:solidFill>
              </a:rPr>
              <a:t>Copyright © </a:t>
            </a:r>
            <a:r>
              <a:rPr sz="850" dirty="0" smtClean="0">
                <a:solidFill>
                  <a:schemeClr val="tx1"/>
                </a:solidFill>
              </a:rPr>
              <a:t>2014</a:t>
            </a:r>
            <a:r>
              <a:rPr lang="en-US" sz="850" dirty="0" smtClean="0">
                <a:solidFill>
                  <a:schemeClr val="tx1"/>
                </a:solidFill>
              </a:rPr>
              <a:t>,</a:t>
            </a:r>
            <a:r>
              <a:rPr sz="850" dirty="0" smtClean="0">
                <a:solidFill>
                  <a:schemeClr val="tx1"/>
                </a:solidFill>
              </a:rPr>
              <a:t> </a:t>
            </a:r>
            <a:r>
              <a:rPr sz="850" dirty="0">
                <a:solidFill>
                  <a:schemeClr val="tx1"/>
                </a:solidFill>
              </a:rPr>
              <a:t>Oracle and/or its affiliates. All rights reserved.  </a:t>
            </a:r>
            <a:r>
              <a:rPr sz="850" dirty="0" smtClean="0">
                <a:solidFill>
                  <a:schemeClr val="tx1"/>
                </a:solidFill>
              </a:rPr>
              <a:t>|</a:t>
            </a:r>
            <a:endParaRPr sz="850" dirty="0">
              <a:solidFill>
                <a:schemeClr val="tx1"/>
              </a:solidFill>
            </a:endParaRPr>
          </a:p>
        </p:txBody>
      </p:sp>
      <p:pic>
        <p:nvPicPr>
          <p:cNvPr id="19" name="Picture 18" descr="Oracle logo in white on red staging background"/>
          <p:cNvPicPr>
            <a:picLocks noChangeAspect="1"/>
          </p:cNvPicPr>
          <p:nvPr/>
        </p:nvPicPr>
        <p:blipFill>
          <a:blip r:embed="rId40" cstate="print">
            <a:extLst>
              <a:ext uri="{28A0092B-C50C-407E-A947-70E740481C1C}">
                <a14:useLocalDpi xmlns:a14="http://schemas.microsoft.com/office/drawing/2010/main" xmlns="" val="0"/>
              </a:ext>
            </a:extLst>
          </a:blip>
          <a:stretch>
            <a:fillRect/>
          </a:stretch>
        </p:blipFill>
        <p:spPr bwMode="ltGray">
          <a:xfrm>
            <a:off x="531812" y="6263640"/>
            <a:ext cx="1622861" cy="594360"/>
          </a:xfrm>
          <a:prstGeom prst="rect">
            <a:avLst/>
          </a:prstGeom>
        </p:spPr>
      </p:pic>
    </p:spTree>
    <p:extLst>
      <p:ext uri="{BB962C8B-B14F-4D97-AF65-F5344CB8AC3E}">
        <p14:creationId xmlns:p14="http://schemas.microsoft.com/office/powerpoint/2010/main" xmlns=""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64" r:id="rId4"/>
    <p:sldLayoutId id="2147483689"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orient="horz" pos="2160" userDrawn="1">
          <p15:clr>
            <a:srgbClr val="F26B43"/>
          </p15:clr>
        </p15:guide>
        <p15:guide id="3"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55056264"/>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Application Architecture</a:t>
            </a:r>
            <a:endParaRPr lang="en-US" dirty="0"/>
          </a:p>
        </p:txBody>
      </p:sp>
      <p:sp>
        <p:nvSpPr>
          <p:cNvPr id="3" name="Subtitle 2"/>
          <p:cNvSpPr>
            <a:spLocks noGrp="1"/>
          </p:cNvSpPr>
          <p:nvPr>
            <p:ph type="subTitle" idx="1"/>
          </p:nvPr>
        </p:nvSpPr>
        <p:spPr/>
        <p:txBody>
          <a:bodyPr/>
          <a:lstStyle/>
          <a:p>
            <a:r>
              <a:rPr lang="en-US" dirty="0" smtClean="0"/>
              <a:t>Sample</a:t>
            </a:r>
            <a:endParaRPr lang="en-US" dirty="0"/>
          </a:p>
        </p:txBody>
      </p:sp>
      <p:sp>
        <p:nvSpPr>
          <p:cNvPr id="6" name="Text Placeholder 5"/>
          <p:cNvSpPr>
            <a:spLocks noGrp="1"/>
          </p:cNvSpPr>
          <p:nvPr>
            <p:ph type="body" sz="quarter" idx="13"/>
          </p:nvPr>
        </p:nvSpPr>
        <p:spPr/>
        <p:txBody>
          <a:bodyPr/>
          <a:lstStyle/>
          <a:p>
            <a:r>
              <a:rPr lang="en-US" smtClean="0"/>
              <a:t>Presenter’s Name</a:t>
            </a:r>
          </a:p>
          <a:p>
            <a:r>
              <a:rPr lang="en-US" smtClean="0"/>
              <a:t>Presenter’s Title</a:t>
            </a:r>
          </a:p>
          <a:p>
            <a:r>
              <a:rPr lang="en-US" smtClean="0"/>
              <a:t>Organization, Division or Business Unit</a:t>
            </a:r>
          </a:p>
          <a:p>
            <a:r>
              <a:rPr lang="en-US" smtClean="0"/>
              <a:t>Month 00, 2014</a:t>
            </a:r>
            <a:endParaRPr lang="en-US" dirty="0"/>
          </a:p>
        </p:txBody>
      </p:sp>
      <p:sp>
        <p:nvSpPr>
          <p:cNvPr id="11" name="Footer Placeholder 10"/>
          <p:cNvSpPr>
            <a:spLocks noGrp="1"/>
          </p:cNvSpPr>
          <p:nvPr>
            <p:ph type="ftr" sz="quarter" idx="15"/>
          </p:nvPr>
        </p:nvSpPr>
        <p:spPr/>
        <p:txBody>
          <a:bodyPr/>
          <a:lstStyle/>
          <a:p>
            <a:r>
              <a:rPr lang="en-US" smtClean="0"/>
              <a:t>Oracle Confidential – Internal/Restricted/Highly Restricted</a:t>
            </a:r>
            <a:endParaRPr lang="en-US" dirty="0"/>
          </a:p>
        </p:txBody>
      </p:sp>
    </p:spTree>
    <p:extLst>
      <p:ext uri="{BB962C8B-B14F-4D97-AF65-F5344CB8AC3E}">
        <p14:creationId xmlns:p14="http://schemas.microsoft.com/office/powerpoint/2010/main" xmlns="" val="3367760557"/>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The Systems Model Has 3 IS/IT Best Practice Systems Areas That Support the Core Processes</a:t>
            </a:r>
            <a:endParaRPr lang="en-US" dirty="0"/>
          </a:p>
        </p:txBody>
      </p:sp>
      <p:sp>
        <p:nvSpPr>
          <p:cNvPr id="7" name="Content Placeholder 6"/>
          <p:cNvSpPr>
            <a:spLocks noGrp="1"/>
          </p:cNvSpPr>
          <p:nvPr>
            <p:ph idx="1"/>
          </p:nvPr>
        </p:nvSpPr>
        <p:spPr/>
        <p:txBody>
          <a:bodyPr/>
          <a:lstStyle/>
          <a:p>
            <a:pPr>
              <a:spcBef>
                <a:spcPts val="300"/>
              </a:spcBef>
            </a:pPr>
            <a:r>
              <a:rPr lang="en-US" b="1" dirty="0" smtClean="0"/>
              <a:t>CRM – Customer Relationship Management</a:t>
            </a:r>
          </a:p>
          <a:p>
            <a:pPr lvl="1">
              <a:spcBef>
                <a:spcPts val="300"/>
              </a:spcBef>
            </a:pPr>
            <a:r>
              <a:rPr lang="en-US" dirty="0" smtClean="0"/>
              <a:t>The Suite of Applications used to </a:t>
            </a:r>
            <a:r>
              <a:rPr lang="en-US" u="sng" dirty="0" smtClean="0"/>
              <a:t>MANAGE THE PRE-PROPOSAL AND PRE-CONTRACT RELATIONS WITH THE PROSPECTS AND CUSTOMERS</a:t>
            </a:r>
          </a:p>
          <a:p>
            <a:pPr>
              <a:spcBef>
                <a:spcPts val="300"/>
              </a:spcBef>
            </a:pPr>
            <a:r>
              <a:rPr lang="en-US" b="1" dirty="0" smtClean="0"/>
              <a:t>PLM – Product Life Cycle Management</a:t>
            </a:r>
          </a:p>
          <a:p>
            <a:pPr lvl="1">
              <a:spcBef>
                <a:spcPts val="300"/>
              </a:spcBef>
            </a:pPr>
            <a:r>
              <a:rPr lang="en-US" dirty="0" smtClean="0"/>
              <a:t>The Suite of Applications used to </a:t>
            </a:r>
            <a:r>
              <a:rPr lang="en-US" u="sng" dirty="0" smtClean="0"/>
              <a:t>MANAGE THE ENGINEERING WORK</a:t>
            </a:r>
            <a:r>
              <a:rPr lang="en-US" dirty="0" smtClean="0"/>
              <a:t>. The primary purpose of PLM is to act as the “PRODUCTION SYSTEM” for the engineering community.  The PLM Suite shall manage all tangible items relating to engineering, i.e., drawings, as well as all product-related data, i.e., Items and BOMs.</a:t>
            </a:r>
          </a:p>
          <a:p>
            <a:pPr>
              <a:spcBef>
                <a:spcPts val="300"/>
              </a:spcBef>
            </a:pPr>
            <a:r>
              <a:rPr lang="en-US" b="1" dirty="0" smtClean="0"/>
              <a:t>ERP – Enterprise Resource Planning</a:t>
            </a:r>
          </a:p>
          <a:p>
            <a:pPr lvl="1">
              <a:spcBef>
                <a:spcPts val="300"/>
              </a:spcBef>
            </a:pPr>
            <a:r>
              <a:rPr lang="en-US" dirty="0" smtClean="0"/>
              <a:t>The Suite of Applications used to </a:t>
            </a:r>
            <a:r>
              <a:rPr lang="en-US" u="sng" dirty="0" smtClean="0"/>
              <a:t>MANAGE ALL PHYSICAL FLOWS OF GOODS AS WELL AS ALL VALUE BASED TRANSACTIONS</a:t>
            </a:r>
            <a:r>
              <a:rPr lang="en-US" dirty="0" smtClean="0"/>
              <a:t>. As the engineering deliverables of a complete project, the ERP will hold a complete view of the agreed statement of work towards the customer.</a:t>
            </a:r>
            <a:endParaRPr lang="en-US" dirty="0"/>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1EAA63-D034-42AE-91FA-B13B9518C7BE}" type="slidenum">
              <a:rPr lang="en-US" smtClean="0"/>
              <a:pPr/>
              <a:t>4</a:t>
            </a:fld>
            <a:endParaRPr lang="en-US" dirty="0"/>
          </a:p>
        </p:txBody>
      </p:sp>
      <p:sp>
        <p:nvSpPr>
          <p:cNvPr id="7" name="Rectangle 2"/>
          <p:cNvSpPr txBox="1">
            <a:spLocks noChangeArrowheads="1"/>
          </p:cNvSpPr>
          <p:nvPr/>
        </p:nvSpPr>
        <p:spPr>
          <a:xfrm>
            <a:off x="2428646" y="663027"/>
            <a:ext cx="7772400" cy="596900"/>
          </a:xfrm>
          <a:prstGeom prst="rect">
            <a:avLst/>
          </a:prstGeom>
        </p:spPr>
        <p:txBody>
          <a:bodyPr/>
          <a:lstStyle/>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Conceptual Application Architecture</a:t>
            </a:r>
            <a:endParaRPr kumimoji="0" lang="en-US" sz="1600" b="1" i="1" u="none" strike="noStrike" kern="1200" cap="none" spc="0" normalizeH="0" baseline="0" noProof="0" dirty="0" smtClean="0">
              <a:ln>
                <a:noFill/>
              </a:ln>
              <a:solidFill>
                <a:schemeClr val="tx1"/>
              </a:solidFill>
              <a:effectLst/>
              <a:uLnTx/>
              <a:uFillTx/>
              <a:latin typeface="+mj-lt"/>
              <a:ea typeface="+mj-ea"/>
              <a:cs typeface="+mj-cs"/>
            </a:endParaRPr>
          </a:p>
        </p:txBody>
      </p:sp>
      <p:sp>
        <p:nvSpPr>
          <p:cNvPr id="8" name="Rectangle 3"/>
          <p:cNvSpPr>
            <a:spLocks noChangeArrowheads="1"/>
          </p:cNvSpPr>
          <p:nvPr/>
        </p:nvSpPr>
        <p:spPr bwMode="auto">
          <a:xfrm>
            <a:off x="2104796" y="1455190"/>
            <a:ext cx="8208962" cy="4608512"/>
          </a:xfrm>
          <a:prstGeom prst="rect">
            <a:avLst/>
          </a:prstGeom>
          <a:solidFill>
            <a:srgbClr val="3366FF"/>
          </a:solidFill>
          <a:ln w="19050">
            <a:noFill/>
            <a:miter lim="800000"/>
            <a:headEnd/>
            <a:tailEnd/>
          </a:ln>
        </p:spPr>
        <p:txBody>
          <a:bodyPr wrap="none"/>
          <a:lstStyle/>
          <a:p>
            <a:endParaRPr lang="en-US" sz="1000" b="1">
              <a:latin typeface="Verdana" pitchFamily="34" charset="0"/>
            </a:endParaRPr>
          </a:p>
        </p:txBody>
      </p:sp>
      <p:sp>
        <p:nvSpPr>
          <p:cNvPr id="9" name="Rectangle 4"/>
          <p:cNvSpPr>
            <a:spLocks noChangeArrowheads="1"/>
          </p:cNvSpPr>
          <p:nvPr/>
        </p:nvSpPr>
        <p:spPr bwMode="auto">
          <a:xfrm>
            <a:off x="2173058" y="1528215"/>
            <a:ext cx="8070850" cy="287337"/>
          </a:xfrm>
          <a:prstGeom prst="rect">
            <a:avLst/>
          </a:prstGeom>
          <a:solidFill>
            <a:srgbClr val="CCECFF"/>
          </a:solidFill>
          <a:ln w="19050">
            <a:noFill/>
            <a:miter lim="800000"/>
            <a:headEnd/>
            <a:tailEnd/>
          </a:ln>
          <a:effectLst>
            <a:outerShdw dist="35921" dir="2700000" algn="ctr" rotWithShape="0">
              <a:schemeClr val="bg2"/>
            </a:outerShdw>
          </a:effectLst>
        </p:spPr>
        <p:txBody>
          <a:bodyPr wrap="none" anchor="ctr"/>
          <a:lstStyle/>
          <a:p>
            <a:pPr>
              <a:defRPr/>
            </a:pPr>
            <a:r>
              <a:rPr lang="en-US" sz="1100" b="1">
                <a:solidFill>
                  <a:srgbClr val="3333CC"/>
                </a:solidFill>
                <a:latin typeface="Verdana" pitchFamily="34" charset="0"/>
              </a:rPr>
              <a:t>Personal Productivity and Collaboration</a:t>
            </a:r>
          </a:p>
        </p:txBody>
      </p:sp>
      <p:sp>
        <p:nvSpPr>
          <p:cNvPr id="10" name="Rectangle 5"/>
          <p:cNvSpPr>
            <a:spLocks noChangeArrowheads="1"/>
          </p:cNvSpPr>
          <p:nvPr/>
        </p:nvSpPr>
        <p:spPr bwMode="auto">
          <a:xfrm>
            <a:off x="2173058" y="1886990"/>
            <a:ext cx="8070850" cy="2809875"/>
          </a:xfrm>
          <a:prstGeom prst="rect">
            <a:avLst/>
          </a:prstGeom>
          <a:solidFill>
            <a:srgbClr val="CCECFF"/>
          </a:solidFill>
          <a:ln w="19050">
            <a:noFill/>
            <a:miter lim="800000"/>
            <a:headEnd/>
            <a:tailEnd/>
          </a:ln>
          <a:effectLst>
            <a:outerShdw dist="35921" dir="2700000" algn="ctr" rotWithShape="0">
              <a:schemeClr val="bg2"/>
            </a:outerShdw>
          </a:effectLst>
        </p:spPr>
        <p:txBody>
          <a:bodyPr wrap="none"/>
          <a:lstStyle/>
          <a:p>
            <a:pPr>
              <a:defRPr/>
            </a:pPr>
            <a:r>
              <a:rPr lang="en-US" sz="1100" b="1">
                <a:solidFill>
                  <a:srgbClr val="3333CC"/>
                </a:solidFill>
                <a:latin typeface="Verdana" pitchFamily="34" charset="0"/>
              </a:rPr>
              <a:t>Core Business Applications</a:t>
            </a:r>
          </a:p>
        </p:txBody>
      </p:sp>
      <p:sp>
        <p:nvSpPr>
          <p:cNvPr id="11" name="Rectangle 6"/>
          <p:cNvSpPr>
            <a:spLocks noChangeArrowheads="1"/>
          </p:cNvSpPr>
          <p:nvPr/>
        </p:nvSpPr>
        <p:spPr bwMode="auto">
          <a:xfrm>
            <a:off x="2173058" y="4768302"/>
            <a:ext cx="8070850" cy="863600"/>
          </a:xfrm>
          <a:prstGeom prst="rect">
            <a:avLst/>
          </a:prstGeom>
          <a:solidFill>
            <a:srgbClr val="CCECFF"/>
          </a:solidFill>
          <a:ln w="19050">
            <a:noFill/>
            <a:miter lim="800000"/>
            <a:headEnd/>
            <a:tailEnd/>
          </a:ln>
          <a:effectLst>
            <a:outerShdw dist="35921" dir="2700000" algn="ctr" rotWithShape="0">
              <a:schemeClr val="bg2"/>
            </a:outerShdw>
          </a:effectLst>
        </p:spPr>
        <p:txBody>
          <a:bodyPr wrap="none"/>
          <a:lstStyle/>
          <a:p>
            <a:pPr algn="ctr">
              <a:defRPr/>
            </a:pPr>
            <a:r>
              <a:rPr lang="en-US" sz="1100" b="1" dirty="0">
                <a:solidFill>
                  <a:srgbClr val="3333CC"/>
                </a:solidFill>
                <a:latin typeface="Verdana" pitchFamily="34" charset="0"/>
              </a:rPr>
              <a:t>Application Foundation</a:t>
            </a:r>
          </a:p>
        </p:txBody>
      </p:sp>
      <p:grpSp>
        <p:nvGrpSpPr>
          <p:cNvPr id="12" name="Group 7"/>
          <p:cNvGrpSpPr>
            <a:grpSpLocks/>
          </p:cNvGrpSpPr>
          <p:nvPr/>
        </p:nvGrpSpPr>
        <p:grpSpPr bwMode="auto">
          <a:xfrm>
            <a:off x="2311171" y="5055640"/>
            <a:ext cx="7794625" cy="503237"/>
            <a:chOff x="606" y="3385"/>
            <a:chExt cx="4910" cy="317"/>
          </a:xfrm>
        </p:grpSpPr>
        <p:sp>
          <p:nvSpPr>
            <p:cNvPr id="13" name="Rectangle 8"/>
            <p:cNvSpPr>
              <a:spLocks noChangeArrowheads="1"/>
            </p:cNvSpPr>
            <p:nvPr/>
          </p:nvSpPr>
          <p:spPr bwMode="auto">
            <a:xfrm>
              <a:off x="606" y="3385"/>
              <a:ext cx="4910" cy="136"/>
            </a:xfrm>
            <a:prstGeom prst="rect">
              <a:avLst/>
            </a:prstGeom>
            <a:solidFill>
              <a:srgbClr val="DDDDDD"/>
            </a:solidFill>
            <a:ln w="3175">
              <a:solidFill>
                <a:schemeClr val="bg2"/>
              </a:solidFill>
              <a:miter lim="800000"/>
              <a:headEnd/>
              <a:tailEnd/>
            </a:ln>
            <a:effectLst>
              <a:outerShdw dist="35921" dir="2700000" algn="ctr" rotWithShape="0">
                <a:schemeClr val="bg2"/>
              </a:outerShdw>
            </a:effectLst>
          </p:spPr>
          <p:txBody>
            <a:bodyPr wrap="none" anchor="ctr"/>
            <a:lstStyle/>
            <a:p>
              <a:pPr algn="ctr">
                <a:defRPr/>
              </a:pPr>
              <a:r>
                <a:rPr lang="en-US" sz="900" b="1" dirty="0">
                  <a:solidFill>
                    <a:srgbClr val="3333CC"/>
                  </a:solidFill>
                  <a:latin typeface="Verdana" pitchFamily="34" charset="0"/>
                </a:rPr>
                <a:t>Security</a:t>
              </a:r>
            </a:p>
          </p:txBody>
        </p:sp>
        <p:sp>
          <p:nvSpPr>
            <p:cNvPr id="14" name="Rectangle 9"/>
            <p:cNvSpPr>
              <a:spLocks noChangeArrowheads="1"/>
            </p:cNvSpPr>
            <p:nvPr/>
          </p:nvSpPr>
          <p:spPr bwMode="auto">
            <a:xfrm>
              <a:off x="606" y="3566"/>
              <a:ext cx="4910" cy="136"/>
            </a:xfrm>
            <a:prstGeom prst="rect">
              <a:avLst/>
            </a:prstGeom>
            <a:solidFill>
              <a:srgbClr val="DDDDDD"/>
            </a:solidFill>
            <a:ln w="3175">
              <a:solidFill>
                <a:schemeClr val="bg2"/>
              </a:solidFill>
              <a:miter lim="800000"/>
              <a:headEnd/>
              <a:tailEnd/>
            </a:ln>
            <a:effectLst>
              <a:outerShdw dist="35921" dir="2700000" algn="ctr" rotWithShape="0">
                <a:schemeClr val="bg2"/>
              </a:outerShdw>
            </a:effectLst>
          </p:spPr>
          <p:txBody>
            <a:bodyPr wrap="none" anchor="ctr"/>
            <a:lstStyle/>
            <a:p>
              <a:pPr algn="ctr">
                <a:defRPr/>
              </a:pPr>
              <a:r>
                <a:rPr lang="en-US" sz="900" b="1" dirty="0">
                  <a:solidFill>
                    <a:srgbClr val="3333CC"/>
                  </a:solidFill>
                  <a:latin typeface="Verdana" pitchFamily="34" charset="0"/>
                </a:rPr>
                <a:t>Integration</a:t>
              </a:r>
            </a:p>
          </p:txBody>
        </p:sp>
      </p:grpSp>
      <p:sp>
        <p:nvSpPr>
          <p:cNvPr id="15" name="Rectangle 10"/>
          <p:cNvSpPr>
            <a:spLocks noChangeArrowheads="1"/>
          </p:cNvSpPr>
          <p:nvPr/>
        </p:nvSpPr>
        <p:spPr bwMode="auto">
          <a:xfrm>
            <a:off x="2173058" y="5703340"/>
            <a:ext cx="8070850" cy="287337"/>
          </a:xfrm>
          <a:prstGeom prst="rect">
            <a:avLst/>
          </a:prstGeom>
          <a:solidFill>
            <a:srgbClr val="CCECFF"/>
          </a:solidFill>
          <a:ln w="19050">
            <a:noFill/>
            <a:miter lim="800000"/>
            <a:headEnd/>
            <a:tailEnd/>
          </a:ln>
          <a:effectLst>
            <a:outerShdw dist="35921" dir="2700000" algn="ctr" rotWithShape="0">
              <a:schemeClr val="bg2"/>
            </a:outerShdw>
          </a:effectLst>
        </p:spPr>
        <p:txBody>
          <a:bodyPr wrap="none"/>
          <a:lstStyle/>
          <a:p>
            <a:pPr algn="ctr">
              <a:defRPr/>
            </a:pPr>
            <a:r>
              <a:rPr lang="en-US" sz="1100" b="1" dirty="0">
                <a:solidFill>
                  <a:srgbClr val="3333CC"/>
                </a:solidFill>
                <a:latin typeface="Verdana" pitchFamily="34" charset="0"/>
              </a:rPr>
              <a:t>Technical Infrastructure</a:t>
            </a:r>
          </a:p>
        </p:txBody>
      </p:sp>
      <p:grpSp>
        <p:nvGrpSpPr>
          <p:cNvPr id="16" name="Group 11"/>
          <p:cNvGrpSpPr>
            <a:grpSpLocks/>
          </p:cNvGrpSpPr>
          <p:nvPr/>
        </p:nvGrpSpPr>
        <p:grpSpPr bwMode="auto">
          <a:xfrm>
            <a:off x="2242908" y="2247352"/>
            <a:ext cx="2382838" cy="2303463"/>
            <a:chOff x="563" y="1616"/>
            <a:chExt cx="1501" cy="1451"/>
          </a:xfrm>
        </p:grpSpPr>
        <p:sp>
          <p:nvSpPr>
            <p:cNvPr id="17" name="Rectangle 12"/>
            <p:cNvSpPr>
              <a:spLocks noChangeArrowheads="1"/>
            </p:cNvSpPr>
            <p:nvPr/>
          </p:nvSpPr>
          <p:spPr bwMode="auto">
            <a:xfrm>
              <a:off x="563" y="1616"/>
              <a:ext cx="1501" cy="1451"/>
            </a:xfrm>
            <a:prstGeom prst="rect">
              <a:avLst/>
            </a:prstGeom>
            <a:solidFill>
              <a:srgbClr val="DDDDDD"/>
            </a:solidFill>
            <a:ln w="28575">
              <a:noFill/>
              <a:miter lim="800000"/>
              <a:headEnd/>
              <a:tailEnd/>
            </a:ln>
            <a:effectLst>
              <a:outerShdw dist="35921" dir="2700000" algn="ctr" rotWithShape="0">
                <a:schemeClr val="bg2"/>
              </a:outerShdw>
            </a:effectLst>
          </p:spPr>
          <p:txBody>
            <a:bodyPr wrap="none" anchor="ctr"/>
            <a:lstStyle/>
            <a:p>
              <a:pPr>
                <a:defRPr/>
              </a:pPr>
              <a:endParaRPr lang="en-US" sz="1000" b="1">
                <a:latin typeface="Verdana" pitchFamily="34" charset="0"/>
              </a:endParaRPr>
            </a:p>
          </p:txBody>
        </p:sp>
        <p:sp>
          <p:nvSpPr>
            <p:cNvPr id="18" name="Text Box 13"/>
            <p:cNvSpPr txBox="1">
              <a:spLocks noChangeArrowheads="1"/>
            </p:cNvSpPr>
            <p:nvPr/>
          </p:nvSpPr>
          <p:spPr bwMode="auto">
            <a:xfrm>
              <a:off x="563" y="1616"/>
              <a:ext cx="1260" cy="192"/>
            </a:xfrm>
            <a:prstGeom prst="rect">
              <a:avLst/>
            </a:prstGeom>
            <a:noFill/>
            <a:ln w="9525">
              <a:noFill/>
              <a:miter lim="800000"/>
              <a:headEnd/>
              <a:tailEnd/>
            </a:ln>
            <a:effectLst/>
          </p:spPr>
          <p:txBody>
            <a:bodyPr>
              <a:spAutoFit/>
            </a:bodyPr>
            <a:lstStyle/>
            <a:p>
              <a:pPr algn="l">
                <a:spcBef>
                  <a:spcPct val="50000"/>
                </a:spcBef>
                <a:defRPr/>
              </a:pPr>
              <a:r>
                <a:rPr lang="en-US" sz="1400" b="1">
                  <a:solidFill>
                    <a:srgbClr val="CC0000"/>
                  </a:solidFill>
                  <a:effectLst>
                    <a:outerShdw blurRad="38100" dist="38100" dir="2700000" algn="tl">
                      <a:srgbClr val="C0C0C0"/>
                    </a:outerShdw>
                  </a:effectLst>
                  <a:latin typeface="Verdana" pitchFamily="34" charset="0"/>
                </a:rPr>
                <a:t>Sell</a:t>
              </a:r>
              <a:endParaRPr lang="da-DK" sz="1400" b="1">
                <a:solidFill>
                  <a:srgbClr val="CC0000"/>
                </a:solidFill>
                <a:effectLst>
                  <a:outerShdw blurRad="38100" dist="38100" dir="2700000" algn="tl">
                    <a:srgbClr val="C0C0C0"/>
                  </a:outerShdw>
                </a:effectLst>
                <a:latin typeface="Verdana" pitchFamily="34" charset="0"/>
              </a:endParaRPr>
            </a:p>
          </p:txBody>
        </p:sp>
      </p:grpSp>
      <p:grpSp>
        <p:nvGrpSpPr>
          <p:cNvPr id="19" name="Group 14"/>
          <p:cNvGrpSpPr>
            <a:grpSpLocks/>
          </p:cNvGrpSpPr>
          <p:nvPr/>
        </p:nvGrpSpPr>
        <p:grpSpPr bwMode="auto">
          <a:xfrm>
            <a:off x="4697183" y="2247352"/>
            <a:ext cx="2663825" cy="2303463"/>
            <a:chOff x="2109" y="1616"/>
            <a:chExt cx="1678" cy="1451"/>
          </a:xfrm>
        </p:grpSpPr>
        <p:sp>
          <p:nvSpPr>
            <p:cNvPr id="20" name="Rectangle 15"/>
            <p:cNvSpPr>
              <a:spLocks noChangeArrowheads="1"/>
            </p:cNvSpPr>
            <p:nvPr/>
          </p:nvSpPr>
          <p:spPr bwMode="auto">
            <a:xfrm>
              <a:off x="2336" y="1616"/>
              <a:ext cx="1451" cy="1451"/>
            </a:xfrm>
            <a:prstGeom prst="rect">
              <a:avLst/>
            </a:prstGeom>
            <a:solidFill>
              <a:srgbClr val="DDDDDD"/>
            </a:solidFill>
            <a:ln w="28575">
              <a:noFill/>
              <a:miter lim="800000"/>
              <a:headEnd/>
              <a:tailEnd/>
            </a:ln>
            <a:effectLst>
              <a:outerShdw dist="35921" dir="2700000" algn="ctr" rotWithShape="0">
                <a:schemeClr val="bg2"/>
              </a:outerShdw>
            </a:effectLst>
          </p:spPr>
          <p:txBody>
            <a:bodyPr wrap="none" anchor="ctr"/>
            <a:lstStyle/>
            <a:p>
              <a:pPr>
                <a:defRPr/>
              </a:pPr>
              <a:endParaRPr lang="en-US" sz="900" b="1">
                <a:latin typeface="Verdana" pitchFamily="34" charset="0"/>
              </a:endParaRPr>
            </a:p>
          </p:txBody>
        </p:sp>
        <p:sp>
          <p:nvSpPr>
            <p:cNvPr id="21" name="AutoShape 16"/>
            <p:cNvSpPr>
              <a:spLocks noChangeArrowheads="1"/>
            </p:cNvSpPr>
            <p:nvPr/>
          </p:nvSpPr>
          <p:spPr bwMode="auto">
            <a:xfrm>
              <a:off x="2109" y="2115"/>
              <a:ext cx="181" cy="318"/>
            </a:xfrm>
            <a:prstGeom prst="homePlate">
              <a:avLst>
                <a:gd name="adj" fmla="val 25000"/>
              </a:avLst>
            </a:prstGeom>
            <a:solidFill>
              <a:srgbClr val="DDDDDD"/>
            </a:solidFill>
            <a:ln w="9525">
              <a:noFill/>
              <a:miter lim="800000"/>
              <a:headEnd/>
              <a:tailEnd/>
            </a:ln>
            <a:effectLst>
              <a:outerShdw dist="35921" dir="2700000" algn="ctr" rotWithShape="0">
                <a:schemeClr val="bg2"/>
              </a:outerShdw>
            </a:effectLst>
          </p:spPr>
          <p:txBody>
            <a:bodyPr wrap="none" anchor="ctr"/>
            <a:lstStyle/>
            <a:p>
              <a:pPr>
                <a:defRPr/>
              </a:pPr>
              <a:endParaRPr lang="en-US"/>
            </a:p>
          </p:txBody>
        </p:sp>
        <p:sp>
          <p:nvSpPr>
            <p:cNvPr id="22" name="Text Box 17"/>
            <p:cNvSpPr txBox="1">
              <a:spLocks noChangeArrowheads="1"/>
            </p:cNvSpPr>
            <p:nvPr/>
          </p:nvSpPr>
          <p:spPr bwMode="auto">
            <a:xfrm>
              <a:off x="2290" y="1616"/>
              <a:ext cx="1260" cy="192"/>
            </a:xfrm>
            <a:prstGeom prst="rect">
              <a:avLst/>
            </a:prstGeom>
            <a:noFill/>
            <a:ln w="9525">
              <a:noFill/>
              <a:miter lim="800000"/>
              <a:headEnd/>
              <a:tailEnd/>
            </a:ln>
            <a:effectLst/>
          </p:spPr>
          <p:txBody>
            <a:bodyPr>
              <a:spAutoFit/>
            </a:bodyPr>
            <a:lstStyle/>
            <a:p>
              <a:pPr algn="l">
                <a:spcBef>
                  <a:spcPct val="50000"/>
                </a:spcBef>
                <a:defRPr/>
              </a:pPr>
              <a:r>
                <a:rPr lang="en-US" sz="1400" b="1">
                  <a:solidFill>
                    <a:srgbClr val="CC0000"/>
                  </a:solidFill>
                  <a:effectLst>
                    <a:outerShdw blurRad="38100" dist="38100" dir="2700000" algn="tl">
                      <a:srgbClr val="C0C0C0"/>
                    </a:outerShdw>
                  </a:effectLst>
                  <a:latin typeface="Verdana" pitchFamily="34" charset="0"/>
                </a:rPr>
                <a:t> Design</a:t>
              </a:r>
              <a:endParaRPr lang="da-DK" sz="1400" b="1">
                <a:solidFill>
                  <a:srgbClr val="CC0000"/>
                </a:solidFill>
                <a:effectLst>
                  <a:outerShdw blurRad="38100" dist="38100" dir="2700000" algn="tl">
                    <a:srgbClr val="C0C0C0"/>
                  </a:outerShdw>
                </a:effectLst>
                <a:latin typeface="Verdana" pitchFamily="34" charset="0"/>
              </a:endParaRPr>
            </a:p>
          </p:txBody>
        </p:sp>
      </p:grpSp>
      <p:grpSp>
        <p:nvGrpSpPr>
          <p:cNvPr id="23" name="Group 18"/>
          <p:cNvGrpSpPr>
            <a:grpSpLocks/>
          </p:cNvGrpSpPr>
          <p:nvPr/>
        </p:nvGrpSpPr>
        <p:grpSpPr bwMode="auto">
          <a:xfrm>
            <a:off x="7434033" y="2247352"/>
            <a:ext cx="2741613" cy="2303463"/>
            <a:chOff x="3833" y="1616"/>
            <a:chExt cx="1727" cy="1451"/>
          </a:xfrm>
        </p:grpSpPr>
        <p:sp>
          <p:nvSpPr>
            <p:cNvPr id="24" name="Rectangle 19"/>
            <p:cNvSpPr>
              <a:spLocks noChangeArrowheads="1"/>
            </p:cNvSpPr>
            <p:nvPr/>
          </p:nvSpPr>
          <p:spPr bwMode="auto">
            <a:xfrm>
              <a:off x="4059" y="1616"/>
              <a:ext cx="1501" cy="1451"/>
            </a:xfrm>
            <a:prstGeom prst="rect">
              <a:avLst/>
            </a:prstGeom>
            <a:solidFill>
              <a:srgbClr val="DDDDDD"/>
            </a:solidFill>
            <a:ln w="28575">
              <a:noFill/>
              <a:miter lim="800000"/>
              <a:headEnd/>
              <a:tailEnd/>
            </a:ln>
            <a:effectLst>
              <a:outerShdw dist="35921" dir="2700000" algn="ctr" rotWithShape="0">
                <a:schemeClr val="bg2"/>
              </a:outerShdw>
            </a:effectLst>
          </p:spPr>
          <p:txBody>
            <a:bodyPr wrap="none" anchor="ctr"/>
            <a:lstStyle/>
            <a:p>
              <a:pPr>
                <a:defRPr/>
              </a:pPr>
              <a:endParaRPr lang="en-US" sz="900" b="1">
                <a:latin typeface="Verdana" pitchFamily="34" charset="0"/>
              </a:endParaRPr>
            </a:p>
          </p:txBody>
        </p:sp>
        <p:sp>
          <p:nvSpPr>
            <p:cNvPr id="25" name="Text Box 20"/>
            <p:cNvSpPr txBox="1">
              <a:spLocks noChangeArrowheads="1"/>
            </p:cNvSpPr>
            <p:nvPr/>
          </p:nvSpPr>
          <p:spPr bwMode="auto">
            <a:xfrm>
              <a:off x="3995" y="1616"/>
              <a:ext cx="1521" cy="192"/>
            </a:xfrm>
            <a:prstGeom prst="rect">
              <a:avLst/>
            </a:prstGeom>
            <a:noFill/>
            <a:ln w="9525">
              <a:noFill/>
              <a:miter lim="800000"/>
              <a:headEnd/>
              <a:tailEnd/>
            </a:ln>
            <a:effectLst/>
          </p:spPr>
          <p:txBody>
            <a:bodyPr>
              <a:spAutoFit/>
            </a:bodyPr>
            <a:lstStyle/>
            <a:p>
              <a:pPr algn="l">
                <a:spcBef>
                  <a:spcPct val="50000"/>
                </a:spcBef>
                <a:defRPr/>
              </a:pPr>
              <a:r>
                <a:rPr lang="en-US" sz="1400" b="1">
                  <a:solidFill>
                    <a:srgbClr val="CC0000"/>
                  </a:solidFill>
                  <a:effectLst>
                    <a:outerShdw blurRad="38100" dist="38100" dir="2700000" algn="tl">
                      <a:srgbClr val="C0C0C0"/>
                    </a:outerShdw>
                  </a:effectLst>
                  <a:latin typeface="Verdana" pitchFamily="34" charset="0"/>
                </a:rPr>
                <a:t> Deliver</a:t>
              </a:r>
              <a:endParaRPr lang="da-DK" sz="1400" b="1">
                <a:solidFill>
                  <a:srgbClr val="CC0000"/>
                </a:solidFill>
                <a:effectLst>
                  <a:outerShdw blurRad="38100" dist="38100" dir="2700000" algn="tl">
                    <a:srgbClr val="C0C0C0"/>
                  </a:outerShdw>
                </a:effectLst>
                <a:latin typeface="Verdana" pitchFamily="34" charset="0"/>
              </a:endParaRPr>
            </a:p>
          </p:txBody>
        </p:sp>
        <p:sp>
          <p:nvSpPr>
            <p:cNvPr id="26" name="AutoShape 21"/>
            <p:cNvSpPr>
              <a:spLocks noChangeArrowheads="1"/>
            </p:cNvSpPr>
            <p:nvPr/>
          </p:nvSpPr>
          <p:spPr bwMode="auto">
            <a:xfrm>
              <a:off x="3833" y="2115"/>
              <a:ext cx="181" cy="318"/>
            </a:xfrm>
            <a:prstGeom prst="homePlate">
              <a:avLst>
                <a:gd name="adj" fmla="val 25000"/>
              </a:avLst>
            </a:prstGeom>
            <a:solidFill>
              <a:srgbClr val="DDDDDD"/>
            </a:solidFill>
            <a:ln w="9525">
              <a:noFill/>
              <a:miter lim="800000"/>
              <a:headEnd/>
              <a:tailEnd/>
            </a:ln>
            <a:effectLst>
              <a:outerShdw dist="35921" dir="2700000" algn="ctr" rotWithShape="0">
                <a:schemeClr val="bg2"/>
              </a:outerShdw>
            </a:effectLst>
          </p:spPr>
          <p:txBody>
            <a:bodyPr wrap="none" anchor="ctr"/>
            <a:lstStyle/>
            <a:p>
              <a:pPr>
                <a:defRPr/>
              </a:pPr>
              <a:endParaRPr lang="en-US"/>
            </a:p>
          </p:txBody>
        </p:sp>
      </p:grpSp>
      <p:grpSp>
        <p:nvGrpSpPr>
          <p:cNvPr id="27" name="Group 22"/>
          <p:cNvGrpSpPr>
            <a:grpSpLocks/>
          </p:cNvGrpSpPr>
          <p:nvPr/>
        </p:nvGrpSpPr>
        <p:grpSpPr bwMode="auto">
          <a:xfrm>
            <a:off x="2311171" y="2606127"/>
            <a:ext cx="7794625" cy="1873250"/>
            <a:chOff x="606" y="1842"/>
            <a:chExt cx="4910" cy="1180"/>
          </a:xfrm>
        </p:grpSpPr>
        <p:sp>
          <p:nvSpPr>
            <p:cNvPr id="28" name="Rectangle 23"/>
            <p:cNvSpPr>
              <a:spLocks noChangeArrowheads="1"/>
            </p:cNvSpPr>
            <p:nvPr/>
          </p:nvSpPr>
          <p:spPr bwMode="auto">
            <a:xfrm>
              <a:off x="606" y="1842"/>
              <a:ext cx="1418" cy="499"/>
            </a:xfrm>
            <a:prstGeom prst="rect">
              <a:avLst/>
            </a:prstGeom>
            <a:solidFill>
              <a:schemeClr val="bg1"/>
            </a:solidFill>
            <a:ln w="3175">
              <a:solidFill>
                <a:schemeClr val="bg2"/>
              </a:solidFill>
              <a:miter lim="800000"/>
              <a:headEnd/>
              <a:tailEnd/>
            </a:ln>
            <a:effectLst>
              <a:outerShdw dist="35921" dir="2700000" algn="ctr" rotWithShape="0">
                <a:schemeClr val="bg2"/>
              </a:outerShdw>
            </a:effectLst>
          </p:spPr>
          <p:txBody>
            <a:bodyPr wrap="none" anchor="ctr"/>
            <a:lstStyle/>
            <a:p>
              <a:pPr algn="ctr">
                <a:defRPr/>
              </a:pPr>
              <a:r>
                <a:rPr lang="en-US" sz="900" b="1" dirty="0">
                  <a:latin typeface="Verdana" pitchFamily="34" charset="0"/>
                </a:rPr>
                <a:t>Customer relationship</a:t>
              </a:r>
            </a:p>
            <a:p>
              <a:pPr algn="ctr">
                <a:defRPr/>
              </a:pPr>
              <a:r>
                <a:rPr lang="en-US" sz="900" b="1" dirty="0">
                  <a:latin typeface="Verdana" pitchFamily="34" charset="0"/>
                </a:rPr>
                <a:t>Management</a:t>
              </a:r>
            </a:p>
            <a:p>
              <a:pPr algn="ctr">
                <a:defRPr/>
              </a:pPr>
              <a:r>
                <a:rPr lang="en-US" sz="900" b="1" dirty="0">
                  <a:latin typeface="Verdana" pitchFamily="34" charset="0"/>
                </a:rPr>
                <a:t>(CRM)</a:t>
              </a:r>
            </a:p>
          </p:txBody>
        </p:sp>
        <p:sp>
          <p:nvSpPr>
            <p:cNvPr id="29" name="Rectangle 24"/>
            <p:cNvSpPr>
              <a:spLocks noChangeArrowheads="1"/>
            </p:cNvSpPr>
            <p:nvPr/>
          </p:nvSpPr>
          <p:spPr bwMode="auto">
            <a:xfrm>
              <a:off x="606" y="2841"/>
              <a:ext cx="4910" cy="181"/>
            </a:xfrm>
            <a:prstGeom prst="rect">
              <a:avLst/>
            </a:prstGeom>
            <a:solidFill>
              <a:schemeClr val="bg1"/>
            </a:solidFill>
            <a:ln w="3175">
              <a:solidFill>
                <a:schemeClr val="bg2"/>
              </a:solidFill>
              <a:miter lim="800000"/>
              <a:headEnd/>
              <a:tailEnd/>
            </a:ln>
            <a:effectLst>
              <a:outerShdw dist="35921" dir="2700000" algn="ctr" rotWithShape="0">
                <a:schemeClr val="bg2"/>
              </a:outerShdw>
            </a:effectLst>
          </p:spPr>
          <p:txBody>
            <a:bodyPr wrap="none" anchor="ctr"/>
            <a:lstStyle/>
            <a:p>
              <a:pPr algn="ctr">
                <a:defRPr/>
              </a:pPr>
              <a:r>
                <a:rPr lang="en-US" sz="900" b="1" dirty="0">
                  <a:latin typeface="Verdana" pitchFamily="34" charset="0"/>
                </a:rPr>
                <a:t>Business Intelligence</a:t>
              </a:r>
            </a:p>
          </p:txBody>
        </p:sp>
        <p:sp>
          <p:nvSpPr>
            <p:cNvPr id="30" name="Rectangle 25"/>
            <p:cNvSpPr>
              <a:spLocks noChangeArrowheads="1"/>
            </p:cNvSpPr>
            <p:nvPr/>
          </p:nvSpPr>
          <p:spPr bwMode="auto">
            <a:xfrm>
              <a:off x="4098" y="1842"/>
              <a:ext cx="1418" cy="499"/>
            </a:xfrm>
            <a:prstGeom prst="rect">
              <a:avLst/>
            </a:prstGeom>
            <a:solidFill>
              <a:schemeClr val="bg1"/>
            </a:solidFill>
            <a:ln w="3175">
              <a:solidFill>
                <a:schemeClr val="bg2"/>
              </a:solidFill>
              <a:miter lim="800000"/>
              <a:headEnd/>
              <a:tailEnd/>
            </a:ln>
            <a:effectLst>
              <a:outerShdw dist="35921" dir="2700000" algn="ctr" rotWithShape="0">
                <a:schemeClr val="bg2"/>
              </a:outerShdw>
            </a:effectLst>
          </p:spPr>
          <p:txBody>
            <a:bodyPr wrap="none" anchor="ctr"/>
            <a:lstStyle/>
            <a:p>
              <a:pPr algn="ctr">
                <a:defRPr/>
              </a:pPr>
              <a:r>
                <a:rPr lang="en-US" sz="900" b="1" dirty="0">
                  <a:latin typeface="Verdana" pitchFamily="34" charset="0"/>
                </a:rPr>
                <a:t>Enterprise resource </a:t>
              </a:r>
            </a:p>
            <a:p>
              <a:pPr algn="ctr">
                <a:defRPr/>
              </a:pPr>
              <a:r>
                <a:rPr lang="en-US" sz="900" b="1" dirty="0">
                  <a:latin typeface="Verdana" pitchFamily="34" charset="0"/>
                </a:rPr>
                <a:t>Planning</a:t>
              </a:r>
            </a:p>
            <a:p>
              <a:pPr algn="ctr">
                <a:defRPr/>
              </a:pPr>
              <a:r>
                <a:rPr lang="en-US" sz="900" b="1" dirty="0">
                  <a:latin typeface="Verdana" pitchFamily="34" charset="0"/>
                </a:rPr>
                <a:t>(ERP)</a:t>
              </a:r>
            </a:p>
          </p:txBody>
        </p:sp>
        <p:sp>
          <p:nvSpPr>
            <p:cNvPr id="31" name="Rectangle 26"/>
            <p:cNvSpPr>
              <a:spLocks noChangeArrowheads="1"/>
            </p:cNvSpPr>
            <p:nvPr/>
          </p:nvSpPr>
          <p:spPr bwMode="auto">
            <a:xfrm>
              <a:off x="4099" y="2387"/>
              <a:ext cx="1417" cy="181"/>
            </a:xfrm>
            <a:prstGeom prst="rect">
              <a:avLst/>
            </a:prstGeom>
            <a:solidFill>
              <a:schemeClr val="bg1"/>
            </a:solidFill>
            <a:ln w="3175">
              <a:solidFill>
                <a:schemeClr val="bg2"/>
              </a:solidFill>
              <a:miter lim="800000"/>
              <a:headEnd/>
              <a:tailEnd/>
            </a:ln>
            <a:effectLst>
              <a:outerShdw dist="35921" dir="2700000" algn="ctr" rotWithShape="0">
                <a:schemeClr val="bg2"/>
              </a:outerShdw>
            </a:effectLst>
          </p:spPr>
          <p:txBody>
            <a:bodyPr wrap="none" anchor="ctr"/>
            <a:lstStyle/>
            <a:p>
              <a:pPr algn="ctr">
                <a:defRPr/>
              </a:pPr>
              <a:r>
                <a:rPr lang="en-US" sz="900" b="1">
                  <a:latin typeface="Verdana" pitchFamily="34" charset="0"/>
                </a:rPr>
                <a:t>Corporate Content Management</a:t>
              </a:r>
            </a:p>
          </p:txBody>
        </p:sp>
        <p:sp>
          <p:nvSpPr>
            <p:cNvPr id="32" name="Rectangle 27"/>
            <p:cNvSpPr>
              <a:spLocks noChangeArrowheads="1"/>
            </p:cNvSpPr>
            <p:nvPr/>
          </p:nvSpPr>
          <p:spPr bwMode="auto">
            <a:xfrm>
              <a:off x="4099" y="2613"/>
              <a:ext cx="1417" cy="181"/>
            </a:xfrm>
            <a:prstGeom prst="rect">
              <a:avLst/>
            </a:prstGeom>
            <a:solidFill>
              <a:schemeClr val="bg1"/>
            </a:solidFill>
            <a:ln w="3175">
              <a:solidFill>
                <a:schemeClr val="bg2"/>
              </a:solidFill>
              <a:miter lim="800000"/>
              <a:headEnd/>
              <a:tailEnd/>
            </a:ln>
            <a:effectLst>
              <a:outerShdw dist="35921" dir="2700000" algn="ctr" rotWithShape="0">
                <a:schemeClr val="bg2"/>
              </a:outerShdw>
            </a:effectLst>
          </p:spPr>
          <p:txBody>
            <a:bodyPr wrap="none" anchor="ctr"/>
            <a:lstStyle/>
            <a:p>
              <a:pPr algn="ctr">
                <a:defRPr/>
              </a:pPr>
              <a:r>
                <a:rPr lang="en-US" sz="900" b="1">
                  <a:latin typeface="Verdana" pitchFamily="34" charset="0"/>
                </a:rPr>
                <a:t>Corp. Governance and Compliance</a:t>
              </a:r>
            </a:p>
          </p:txBody>
        </p:sp>
        <p:sp>
          <p:nvSpPr>
            <p:cNvPr id="33" name="Rectangle 28"/>
            <p:cNvSpPr>
              <a:spLocks noChangeArrowheads="1"/>
            </p:cNvSpPr>
            <p:nvPr/>
          </p:nvSpPr>
          <p:spPr bwMode="auto">
            <a:xfrm>
              <a:off x="2376" y="1842"/>
              <a:ext cx="1371" cy="499"/>
            </a:xfrm>
            <a:prstGeom prst="rect">
              <a:avLst/>
            </a:prstGeom>
            <a:solidFill>
              <a:schemeClr val="bg1"/>
            </a:solidFill>
            <a:ln w="3175">
              <a:solidFill>
                <a:schemeClr val="bg2"/>
              </a:solidFill>
              <a:miter lim="800000"/>
              <a:headEnd/>
              <a:tailEnd/>
            </a:ln>
            <a:effectLst>
              <a:outerShdw dist="35921" dir="2700000" algn="ctr" rotWithShape="0">
                <a:schemeClr val="bg2"/>
              </a:outerShdw>
            </a:effectLst>
          </p:spPr>
          <p:txBody>
            <a:bodyPr wrap="none" anchor="ctr"/>
            <a:lstStyle/>
            <a:p>
              <a:pPr algn="ctr">
                <a:defRPr/>
              </a:pPr>
              <a:r>
                <a:rPr lang="en-US" sz="900" b="1" dirty="0">
                  <a:latin typeface="Verdana" pitchFamily="34" charset="0"/>
                </a:rPr>
                <a:t>Product life-cycle management</a:t>
              </a:r>
            </a:p>
            <a:p>
              <a:pPr algn="ctr">
                <a:defRPr/>
              </a:pPr>
              <a:r>
                <a:rPr lang="en-US" sz="900" b="1" dirty="0">
                  <a:latin typeface="Verdana" pitchFamily="34" charset="0"/>
                </a:rPr>
                <a:t>Product data management</a:t>
              </a:r>
            </a:p>
            <a:p>
              <a:pPr algn="ctr">
                <a:defRPr/>
              </a:pPr>
              <a:r>
                <a:rPr lang="en-US" sz="900" b="1" dirty="0">
                  <a:latin typeface="Verdana" pitchFamily="34" charset="0"/>
                </a:rPr>
                <a:t>(PLM)</a:t>
              </a:r>
            </a:p>
          </p:txBody>
        </p:sp>
      </p:gr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1EAA63-D034-42AE-91FA-B13B9518C7BE}" type="slidenum">
              <a:rPr lang="en-US" smtClean="0"/>
              <a:pPr/>
              <a:t>5</a:t>
            </a:fld>
            <a:endParaRPr lang="en-US" dirty="0"/>
          </a:p>
        </p:txBody>
      </p:sp>
      <p:sp>
        <p:nvSpPr>
          <p:cNvPr id="4" name="Slide Number Placeholder 4"/>
          <p:cNvSpPr txBox="1">
            <a:spLocks/>
          </p:cNvSpPr>
          <p:nvPr/>
        </p:nvSpPr>
        <p:spPr>
          <a:xfrm>
            <a:off x="8640396" y="6306590"/>
            <a:ext cx="2133600" cy="476250"/>
          </a:xfrm>
          <a:prstGeom prst="rect">
            <a:avLst/>
          </a:prstGeom>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AC8DFD8-8464-45BA-AF56-576E1ECBA514}" type="slidenum">
              <a:rPr kumimoji="0" lang="en-US" sz="850" b="0" i="0" u="none" strike="noStrike" kern="1200" cap="none" spc="0" normalizeH="0" baseline="0" noProof="0" smtClean="0">
                <a:ln>
                  <a:noFill/>
                </a:ln>
                <a:solidFill>
                  <a:schemeClr val="tx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850" b="0" i="0" u="none" strike="noStrike" kern="1200" cap="none" spc="0" normalizeH="0" baseline="0" noProof="0">
              <a:ln>
                <a:noFill/>
              </a:ln>
              <a:solidFill>
                <a:schemeClr val="tx1"/>
              </a:solidFill>
              <a:effectLst/>
              <a:uLnTx/>
              <a:uFillTx/>
              <a:latin typeface="+mn-lt"/>
              <a:ea typeface="+mn-ea"/>
              <a:cs typeface="+mn-cs"/>
            </a:endParaRPr>
          </a:p>
        </p:txBody>
      </p:sp>
      <p:sp>
        <p:nvSpPr>
          <p:cNvPr id="5" name="Rectangle 2"/>
          <p:cNvSpPr txBox="1">
            <a:spLocks noChangeArrowheads="1"/>
          </p:cNvSpPr>
          <p:nvPr/>
        </p:nvSpPr>
        <p:spPr>
          <a:xfrm>
            <a:off x="2349134" y="663027"/>
            <a:ext cx="7772400" cy="596900"/>
          </a:xfrm>
          <a:prstGeom prst="rect">
            <a:avLst/>
          </a:prstGeom>
        </p:spPr>
        <p:txBody>
          <a:bodyPr/>
          <a:lstStyle/>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Logical Application </a:t>
            </a:r>
            <a:r>
              <a:rPr kumimoji="0" lang="en-US" sz="2000" b="1" i="0" u="none" strike="noStrike" kern="1200" cap="none" spc="0" normalizeH="0" baseline="0" noProof="0" dirty="0" err="1" smtClean="0">
                <a:ln>
                  <a:noFill/>
                </a:ln>
                <a:solidFill>
                  <a:schemeClr val="tx1"/>
                </a:solidFill>
                <a:effectLst/>
                <a:uLnTx/>
                <a:uFillTx/>
                <a:latin typeface="+mj-lt"/>
                <a:ea typeface="+mj-ea"/>
                <a:cs typeface="+mj-cs"/>
              </a:rPr>
              <a:t>Application</a:t>
            </a:r>
            <a:r>
              <a:rPr kumimoji="0" lang="en-US" sz="2000" b="1" i="0" u="none" strike="noStrike" kern="1200" cap="none" spc="0" normalizeH="0" baseline="0" noProof="0" dirty="0" smtClean="0">
                <a:ln>
                  <a:noFill/>
                </a:ln>
                <a:solidFill>
                  <a:schemeClr val="tx1"/>
                </a:solidFill>
                <a:effectLst/>
                <a:uLnTx/>
                <a:uFillTx/>
                <a:latin typeface="+mj-lt"/>
                <a:ea typeface="+mj-ea"/>
                <a:cs typeface="+mj-cs"/>
              </a:rPr>
              <a:t> Architecture</a:t>
            </a:r>
            <a:endParaRPr kumimoji="0" lang="en-US" sz="1600" b="1" i="1" u="none" strike="noStrike" kern="1200" cap="none" spc="0" normalizeH="0" baseline="0" noProof="0" dirty="0" smtClean="0">
              <a:ln>
                <a:noFill/>
              </a:ln>
              <a:solidFill>
                <a:schemeClr val="tx1"/>
              </a:solidFill>
              <a:effectLst/>
              <a:uLnTx/>
              <a:uFillTx/>
              <a:latin typeface="+mj-lt"/>
              <a:ea typeface="+mj-ea"/>
              <a:cs typeface="+mj-cs"/>
            </a:endParaRPr>
          </a:p>
        </p:txBody>
      </p:sp>
      <p:sp>
        <p:nvSpPr>
          <p:cNvPr id="6" name="Rectangle 3"/>
          <p:cNvSpPr>
            <a:spLocks noChangeArrowheads="1"/>
          </p:cNvSpPr>
          <p:nvPr/>
        </p:nvSpPr>
        <p:spPr bwMode="auto">
          <a:xfrm>
            <a:off x="2025284" y="1455190"/>
            <a:ext cx="8208962" cy="4608512"/>
          </a:xfrm>
          <a:prstGeom prst="rect">
            <a:avLst/>
          </a:prstGeom>
          <a:solidFill>
            <a:srgbClr val="3366FF"/>
          </a:solidFill>
          <a:ln w="19050">
            <a:noFill/>
            <a:miter lim="800000"/>
            <a:headEnd/>
            <a:tailEnd/>
          </a:ln>
        </p:spPr>
        <p:txBody>
          <a:bodyPr wrap="none"/>
          <a:lstStyle/>
          <a:p>
            <a:endParaRPr lang="en-US" sz="1000" b="1">
              <a:latin typeface="Verdana" pitchFamily="34" charset="0"/>
            </a:endParaRPr>
          </a:p>
        </p:txBody>
      </p:sp>
      <p:sp>
        <p:nvSpPr>
          <p:cNvPr id="7" name="Rectangle 4"/>
          <p:cNvSpPr>
            <a:spLocks noChangeArrowheads="1"/>
          </p:cNvSpPr>
          <p:nvPr/>
        </p:nvSpPr>
        <p:spPr bwMode="auto">
          <a:xfrm>
            <a:off x="2093546" y="1528215"/>
            <a:ext cx="8070850" cy="4391025"/>
          </a:xfrm>
          <a:prstGeom prst="rect">
            <a:avLst/>
          </a:prstGeom>
          <a:solidFill>
            <a:srgbClr val="CCECFF"/>
          </a:solidFill>
          <a:ln w="19050">
            <a:noFill/>
            <a:miter lim="800000"/>
            <a:headEnd/>
            <a:tailEnd/>
          </a:ln>
          <a:effectLst>
            <a:outerShdw dist="35921" dir="2700000" algn="ctr" rotWithShape="0">
              <a:schemeClr val="bg2"/>
            </a:outerShdw>
          </a:effectLst>
        </p:spPr>
        <p:txBody>
          <a:bodyPr wrap="none"/>
          <a:lstStyle/>
          <a:p>
            <a:pPr>
              <a:defRPr/>
            </a:pPr>
            <a:r>
              <a:rPr lang="en-US" sz="1100" b="1">
                <a:solidFill>
                  <a:srgbClr val="3333CC"/>
                </a:solidFill>
                <a:latin typeface="Verdana" pitchFamily="34" charset="0"/>
              </a:rPr>
              <a:t>Personal Productivity and Collaboration</a:t>
            </a:r>
          </a:p>
        </p:txBody>
      </p:sp>
      <p:sp>
        <p:nvSpPr>
          <p:cNvPr id="8" name="Rectangle 6"/>
          <p:cNvSpPr>
            <a:spLocks noChangeArrowheads="1"/>
          </p:cNvSpPr>
          <p:nvPr/>
        </p:nvSpPr>
        <p:spPr bwMode="auto">
          <a:xfrm>
            <a:off x="2312621" y="2245765"/>
            <a:ext cx="2016125" cy="9366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Applications Access</a:t>
            </a:r>
          </a:p>
        </p:txBody>
      </p:sp>
      <p:sp>
        <p:nvSpPr>
          <p:cNvPr id="9" name="Rectangle 7"/>
          <p:cNvSpPr>
            <a:spLocks noChangeArrowheads="1"/>
          </p:cNvSpPr>
          <p:nvPr/>
        </p:nvSpPr>
        <p:spPr bwMode="auto">
          <a:xfrm>
            <a:off x="2384059" y="25331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Link to Business Applications</a:t>
            </a:r>
          </a:p>
        </p:txBody>
      </p:sp>
      <p:sp>
        <p:nvSpPr>
          <p:cNvPr id="10" name="Rectangle 8"/>
          <p:cNvSpPr>
            <a:spLocks noChangeArrowheads="1"/>
          </p:cNvSpPr>
          <p:nvPr/>
        </p:nvSpPr>
        <p:spPr bwMode="auto">
          <a:xfrm>
            <a:off x="2384059" y="27490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Notifications</a:t>
            </a:r>
          </a:p>
        </p:txBody>
      </p:sp>
      <p:sp>
        <p:nvSpPr>
          <p:cNvPr id="11" name="Rectangle 9"/>
          <p:cNvSpPr>
            <a:spLocks noChangeArrowheads="1"/>
          </p:cNvSpPr>
          <p:nvPr/>
        </p:nvSpPr>
        <p:spPr bwMode="auto">
          <a:xfrm>
            <a:off x="2314209" y="3253827"/>
            <a:ext cx="2014537" cy="11525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BI Access</a:t>
            </a:r>
          </a:p>
        </p:txBody>
      </p:sp>
      <p:sp>
        <p:nvSpPr>
          <p:cNvPr id="12" name="Rectangle 10"/>
          <p:cNvSpPr>
            <a:spLocks noChangeArrowheads="1"/>
          </p:cNvSpPr>
          <p:nvPr/>
        </p:nvSpPr>
        <p:spPr bwMode="auto">
          <a:xfrm>
            <a:off x="2384059" y="354275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Dashboards</a:t>
            </a:r>
          </a:p>
        </p:txBody>
      </p:sp>
      <p:sp>
        <p:nvSpPr>
          <p:cNvPr id="13" name="Rectangle 11"/>
          <p:cNvSpPr>
            <a:spLocks noChangeArrowheads="1"/>
          </p:cNvSpPr>
          <p:nvPr/>
        </p:nvSpPr>
        <p:spPr bwMode="auto">
          <a:xfrm>
            <a:off x="2384059" y="375865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Reports</a:t>
            </a:r>
          </a:p>
        </p:txBody>
      </p:sp>
      <p:sp>
        <p:nvSpPr>
          <p:cNvPr id="14" name="Rectangle 12"/>
          <p:cNvSpPr>
            <a:spLocks noChangeArrowheads="1"/>
          </p:cNvSpPr>
          <p:nvPr/>
        </p:nvSpPr>
        <p:spPr bwMode="auto">
          <a:xfrm>
            <a:off x="2384059" y="397455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Exception Alerts</a:t>
            </a:r>
          </a:p>
        </p:txBody>
      </p:sp>
      <p:sp>
        <p:nvSpPr>
          <p:cNvPr id="15" name="Rectangle 13"/>
          <p:cNvSpPr>
            <a:spLocks noChangeArrowheads="1"/>
          </p:cNvSpPr>
          <p:nvPr/>
        </p:nvSpPr>
        <p:spPr bwMode="auto">
          <a:xfrm>
            <a:off x="2384059" y="419045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t>
            </a:r>
          </a:p>
        </p:txBody>
      </p:sp>
      <p:sp>
        <p:nvSpPr>
          <p:cNvPr id="16" name="Rectangle 14"/>
          <p:cNvSpPr>
            <a:spLocks noChangeArrowheads="1"/>
          </p:cNvSpPr>
          <p:nvPr/>
        </p:nvSpPr>
        <p:spPr bwMode="auto">
          <a:xfrm>
            <a:off x="2384059" y="29649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t>
            </a:r>
          </a:p>
        </p:txBody>
      </p:sp>
      <p:sp>
        <p:nvSpPr>
          <p:cNvPr id="17" name="Rectangle 15"/>
          <p:cNvSpPr>
            <a:spLocks noChangeArrowheads="1"/>
          </p:cNvSpPr>
          <p:nvPr/>
        </p:nvSpPr>
        <p:spPr bwMode="auto">
          <a:xfrm>
            <a:off x="4401771" y="2245765"/>
            <a:ext cx="2016125" cy="18002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Personal Productivity</a:t>
            </a:r>
          </a:p>
        </p:txBody>
      </p:sp>
      <p:sp>
        <p:nvSpPr>
          <p:cNvPr id="18" name="Rectangle 16"/>
          <p:cNvSpPr>
            <a:spLocks noChangeArrowheads="1"/>
          </p:cNvSpPr>
          <p:nvPr/>
        </p:nvSpPr>
        <p:spPr bwMode="auto">
          <a:xfrm>
            <a:off x="4473209" y="3398290"/>
            <a:ext cx="1871662"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Chat Rooms</a:t>
            </a:r>
          </a:p>
        </p:txBody>
      </p:sp>
      <p:sp>
        <p:nvSpPr>
          <p:cNvPr id="19" name="Rectangle 17"/>
          <p:cNvSpPr>
            <a:spLocks noChangeArrowheads="1"/>
          </p:cNvSpPr>
          <p:nvPr/>
        </p:nvSpPr>
        <p:spPr bwMode="auto">
          <a:xfrm>
            <a:off x="4473209" y="3614190"/>
            <a:ext cx="1871662"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Discussion Forums</a:t>
            </a:r>
          </a:p>
        </p:txBody>
      </p:sp>
      <p:sp>
        <p:nvSpPr>
          <p:cNvPr id="20" name="Rectangle 18"/>
          <p:cNvSpPr>
            <a:spLocks noChangeArrowheads="1"/>
          </p:cNvSpPr>
          <p:nvPr/>
        </p:nvSpPr>
        <p:spPr bwMode="auto">
          <a:xfrm>
            <a:off x="4473209" y="27490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Instant Messaging</a:t>
            </a:r>
          </a:p>
        </p:txBody>
      </p:sp>
      <p:sp>
        <p:nvSpPr>
          <p:cNvPr id="21" name="Rectangle 19"/>
          <p:cNvSpPr>
            <a:spLocks noChangeArrowheads="1"/>
          </p:cNvSpPr>
          <p:nvPr/>
        </p:nvSpPr>
        <p:spPr bwMode="auto">
          <a:xfrm>
            <a:off x="4473209" y="29649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Voice Over the Internet</a:t>
            </a:r>
          </a:p>
        </p:txBody>
      </p:sp>
      <p:sp>
        <p:nvSpPr>
          <p:cNvPr id="22" name="Rectangle 20"/>
          <p:cNvSpPr>
            <a:spLocks noChangeArrowheads="1"/>
          </p:cNvSpPr>
          <p:nvPr/>
        </p:nvSpPr>
        <p:spPr bwMode="auto">
          <a:xfrm>
            <a:off x="4473209" y="31808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eConferencing</a:t>
            </a:r>
          </a:p>
        </p:txBody>
      </p:sp>
      <p:sp>
        <p:nvSpPr>
          <p:cNvPr id="23" name="Rectangle 21"/>
          <p:cNvSpPr>
            <a:spLocks noChangeArrowheads="1"/>
          </p:cNvSpPr>
          <p:nvPr/>
        </p:nvSpPr>
        <p:spPr bwMode="auto">
          <a:xfrm>
            <a:off x="4473209" y="3830090"/>
            <a:ext cx="1871662"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WIKI/Blog</a:t>
            </a:r>
          </a:p>
        </p:txBody>
      </p:sp>
      <p:sp>
        <p:nvSpPr>
          <p:cNvPr id="24" name="Rectangle 22"/>
          <p:cNvSpPr>
            <a:spLocks noChangeArrowheads="1"/>
          </p:cNvSpPr>
          <p:nvPr/>
        </p:nvSpPr>
        <p:spPr bwMode="auto">
          <a:xfrm>
            <a:off x="6489334" y="3469727"/>
            <a:ext cx="2016125" cy="719138"/>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Security</a:t>
            </a:r>
          </a:p>
        </p:txBody>
      </p:sp>
      <p:sp>
        <p:nvSpPr>
          <p:cNvPr id="25" name="Rectangle 23"/>
          <p:cNvSpPr>
            <a:spLocks noChangeArrowheads="1"/>
          </p:cNvSpPr>
          <p:nvPr/>
        </p:nvSpPr>
        <p:spPr bwMode="auto">
          <a:xfrm>
            <a:off x="6562359" y="3757065"/>
            <a:ext cx="1871662"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Single Sign On</a:t>
            </a:r>
          </a:p>
        </p:txBody>
      </p:sp>
      <p:sp>
        <p:nvSpPr>
          <p:cNvPr id="26" name="Rectangle 24"/>
          <p:cNvSpPr>
            <a:spLocks noChangeArrowheads="1"/>
          </p:cNvSpPr>
          <p:nvPr/>
        </p:nvSpPr>
        <p:spPr bwMode="auto">
          <a:xfrm>
            <a:off x="6562359" y="3972965"/>
            <a:ext cx="1871662"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Site Personalization</a:t>
            </a:r>
          </a:p>
        </p:txBody>
      </p:sp>
      <p:sp>
        <p:nvSpPr>
          <p:cNvPr id="27" name="Rectangle 25"/>
          <p:cNvSpPr>
            <a:spLocks noChangeArrowheads="1"/>
          </p:cNvSpPr>
          <p:nvPr/>
        </p:nvSpPr>
        <p:spPr bwMode="auto">
          <a:xfrm>
            <a:off x="6489334" y="2245765"/>
            <a:ext cx="2016125" cy="1152525"/>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Content &amp; Collaboration</a:t>
            </a:r>
          </a:p>
        </p:txBody>
      </p:sp>
      <p:sp>
        <p:nvSpPr>
          <p:cNvPr id="28" name="Rectangle 26"/>
          <p:cNvSpPr>
            <a:spLocks noChangeArrowheads="1"/>
          </p:cNvSpPr>
          <p:nvPr/>
        </p:nvSpPr>
        <p:spPr bwMode="auto">
          <a:xfrm>
            <a:off x="6562359" y="25331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Enterprise Search</a:t>
            </a:r>
          </a:p>
        </p:txBody>
      </p:sp>
      <p:sp>
        <p:nvSpPr>
          <p:cNvPr id="29" name="Rectangle 27"/>
          <p:cNvSpPr>
            <a:spLocks noChangeArrowheads="1"/>
          </p:cNvSpPr>
          <p:nvPr/>
        </p:nvSpPr>
        <p:spPr bwMode="auto">
          <a:xfrm>
            <a:off x="6562359" y="27490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Content</a:t>
            </a:r>
          </a:p>
        </p:txBody>
      </p:sp>
      <p:sp>
        <p:nvSpPr>
          <p:cNvPr id="30" name="Rectangle 28"/>
          <p:cNvSpPr>
            <a:spLocks noChangeArrowheads="1"/>
          </p:cNvSpPr>
          <p:nvPr/>
        </p:nvSpPr>
        <p:spPr bwMode="auto">
          <a:xfrm>
            <a:off x="6562359" y="29649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Team Rooms</a:t>
            </a:r>
          </a:p>
        </p:txBody>
      </p:sp>
      <p:sp>
        <p:nvSpPr>
          <p:cNvPr id="31" name="Rectangle 29"/>
          <p:cNvSpPr>
            <a:spLocks noChangeArrowheads="1"/>
          </p:cNvSpPr>
          <p:nvPr/>
        </p:nvSpPr>
        <p:spPr bwMode="auto">
          <a:xfrm>
            <a:off x="4473209" y="2533102"/>
            <a:ext cx="18716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Presence Management</a:t>
            </a:r>
          </a:p>
        </p:txBody>
      </p:sp>
      <p:sp>
        <p:nvSpPr>
          <p:cNvPr id="32" name="Rectangle 30"/>
          <p:cNvSpPr>
            <a:spLocks noChangeArrowheads="1"/>
          </p:cNvSpPr>
          <p:nvPr/>
        </p:nvSpPr>
        <p:spPr bwMode="auto">
          <a:xfrm>
            <a:off x="6562359" y="3182390"/>
            <a:ext cx="1871662"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Alerts (RSS)</a:t>
            </a:r>
          </a:p>
        </p:txBody>
      </p:sp>
      <p:sp>
        <p:nvSpPr>
          <p:cNvPr id="33" name="Rectangle 31"/>
          <p:cNvSpPr>
            <a:spLocks noChangeArrowheads="1"/>
          </p:cNvSpPr>
          <p:nvPr/>
        </p:nvSpPr>
        <p:spPr bwMode="auto">
          <a:xfrm>
            <a:off x="2312621" y="1958427"/>
            <a:ext cx="7489825" cy="215900"/>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Portal Tool</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609067" y="398537"/>
            <a:ext cx="7772400" cy="596900"/>
          </a:xfrm>
          <a:prstGeom prst="rect">
            <a:avLst/>
          </a:prstGeom>
        </p:spPr>
        <p:txBody>
          <a:bodyPr/>
          <a:lstStyle/>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Logical Application Architecture</a:t>
            </a:r>
            <a:endParaRPr kumimoji="0" lang="en-US" sz="1600" b="1" i="1" u="none" strike="noStrike" kern="1200" cap="none" spc="0" normalizeH="0" baseline="0" noProof="0" dirty="0" smtClean="0">
              <a:ln>
                <a:noFill/>
              </a:ln>
              <a:solidFill>
                <a:schemeClr val="tx1"/>
              </a:solidFill>
              <a:effectLst/>
              <a:uLnTx/>
              <a:uFillTx/>
              <a:latin typeface="+mj-lt"/>
              <a:ea typeface="+mj-ea"/>
              <a:cs typeface="+mj-cs"/>
            </a:endParaRPr>
          </a:p>
        </p:txBody>
      </p:sp>
      <p:sp>
        <p:nvSpPr>
          <p:cNvPr id="6" name="Rectangle 3"/>
          <p:cNvSpPr>
            <a:spLocks noChangeArrowheads="1"/>
          </p:cNvSpPr>
          <p:nvPr/>
        </p:nvSpPr>
        <p:spPr bwMode="auto">
          <a:xfrm>
            <a:off x="2243942" y="1139900"/>
            <a:ext cx="8208962" cy="4968875"/>
          </a:xfrm>
          <a:prstGeom prst="rect">
            <a:avLst/>
          </a:prstGeom>
          <a:solidFill>
            <a:srgbClr val="3366FF"/>
          </a:solidFill>
          <a:ln w="19050">
            <a:noFill/>
            <a:miter lim="800000"/>
            <a:headEnd/>
            <a:tailEnd/>
          </a:ln>
        </p:spPr>
        <p:txBody>
          <a:bodyPr wrap="none"/>
          <a:lstStyle/>
          <a:p>
            <a:pPr algn="ctr"/>
            <a:endParaRPr lang="en-US" sz="1000" b="1">
              <a:latin typeface="Verdana" pitchFamily="34" charset="0"/>
            </a:endParaRPr>
          </a:p>
        </p:txBody>
      </p:sp>
      <p:sp>
        <p:nvSpPr>
          <p:cNvPr id="7" name="Rectangle 4"/>
          <p:cNvSpPr>
            <a:spLocks noChangeArrowheads="1"/>
          </p:cNvSpPr>
          <p:nvPr/>
        </p:nvSpPr>
        <p:spPr bwMode="auto">
          <a:xfrm>
            <a:off x="2312204" y="1211337"/>
            <a:ext cx="8070850" cy="4824413"/>
          </a:xfrm>
          <a:prstGeom prst="rect">
            <a:avLst/>
          </a:prstGeom>
          <a:solidFill>
            <a:srgbClr val="CCECFF"/>
          </a:solidFill>
          <a:ln w="19050">
            <a:noFill/>
            <a:miter lim="800000"/>
            <a:headEnd/>
            <a:tailEnd/>
          </a:ln>
          <a:effectLst>
            <a:outerShdw dist="35921" dir="2700000" algn="ctr" rotWithShape="0">
              <a:schemeClr val="bg2"/>
            </a:outerShdw>
          </a:effectLst>
        </p:spPr>
        <p:txBody>
          <a:bodyPr wrap="none"/>
          <a:lstStyle/>
          <a:p>
            <a:pPr algn="ctr">
              <a:defRPr/>
            </a:pPr>
            <a:r>
              <a:rPr lang="en-US" sz="1100" b="1">
                <a:solidFill>
                  <a:srgbClr val="3333CC"/>
                </a:solidFill>
                <a:latin typeface="Verdana" pitchFamily="34" charset="0"/>
              </a:rPr>
              <a:t>Core Business Applications</a:t>
            </a:r>
          </a:p>
        </p:txBody>
      </p:sp>
      <p:grpSp>
        <p:nvGrpSpPr>
          <p:cNvPr id="8" name="Group 5"/>
          <p:cNvGrpSpPr>
            <a:grpSpLocks/>
          </p:cNvGrpSpPr>
          <p:nvPr/>
        </p:nvGrpSpPr>
        <p:grpSpPr bwMode="auto">
          <a:xfrm>
            <a:off x="2382054" y="1427237"/>
            <a:ext cx="1662113" cy="381000"/>
            <a:chOff x="563" y="1526"/>
            <a:chExt cx="1501" cy="1541"/>
          </a:xfrm>
        </p:grpSpPr>
        <p:sp>
          <p:nvSpPr>
            <p:cNvPr id="9" name="Rectangle 6"/>
            <p:cNvSpPr>
              <a:spLocks noChangeArrowheads="1"/>
            </p:cNvSpPr>
            <p:nvPr/>
          </p:nvSpPr>
          <p:spPr bwMode="auto">
            <a:xfrm>
              <a:off x="563" y="1616"/>
              <a:ext cx="1501" cy="1451"/>
            </a:xfrm>
            <a:prstGeom prst="rect">
              <a:avLst/>
            </a:prstGeom>
            <a:solidFill>
              <a:srgbClr val="DDDDDD"/>
            </a:solidFill>
            <a:ln w="28575">
              <a:noFill/>
              <a:miter lim="800000"/>
              <a:headEnd/>
              <a:tailEnd/>
            </a:ln>
            <a:effectLst>
              <a:outerShdw dist="35921" dir="2700000" algn="ctr" rotWithShape="0">
                <a:schemeClr val="bg2"/>
              </a:outerShdw>
            </a:effectLst>
          </p:spPr>
          <p:txBody>
            <a:bodyPr wrap="none" anchor="ctr"/>
            <a:lstStyle/>
            <a:p>
              <a:pPr algn="ctr">
                <a:defRPr/>
              </a:pPr>
              <a:endParaRPr lang="en-US" sz="1000" b="1">
                <a:latin typeface="Verdana" pitchFamily="34" charset="0"/>
              </a:endParaRPr>
            </a:p>
          </p:txBody>
        </p:sp>
        <p:sp>
          <p:nvSpPr>
            <p:cNvPr id="10" name="Text Box 7"/>
            <p:cNvSpPr txBox="1">
              <a:spLocks noChangeArrowheads="1"/>
            </p:cNvSpPr>
            <p:nvPr/>
          </p:nvSpPr>
          <p:spPr bwMode="auto">
            <a:xfrm>
              <a:off x="563" y="1526"/>
              <a:ext cx="1260" cy="1233"/>
            </a:xfrm>
            <a:prstGeom prst="rect">
              <a:avLst/>
            </a:prstGeom>
            <a:noFill/>
            <a:ln w="9525">
              <a:noFill/>
              <a:miter lim="800000"/>
              <a:headEnd/>
              <a:tailEnd/>
            </a:ln>
            <a:effectLst/>
          </p:spPr>
          <p:txBody>
            <a:bodyPr>
              <a:spAutoFit/>
            </a:bodyPr>
            <a:lstStyle/>
            <a:p>
              <a:pPr>
                <a:spcBef>
                  <a:spcPct val="50000"/>
                </a:spcBef>
                <a:defRPr/>
              </a:pPr>
              <a:r>
                <a:rPr lang="en-US" sz="1400" b="1" dirty="0">
                  <a:solidFill>
                    <a:srgbClr val="CC0000"/>
                  </a:solidFill>
                  <a:effectLst>
                    <a:outerShdw blurRad="38100" dist="38100" dir="2700000" algn="tl">
                      <a:srgbClr val="C0C0C0"/>
                    </a:outerShdw>
                  </a:effectLst>
                  <a:latin typeface="Verdana" pitchFamily="34" charset="0"/>
                </a:rPr>
                <a:t>Sell</a:t>
              </a:r>
              <a:endParaRPr lang="da-DK" sz="1400" b="1" dirty="0">
                <a:solidFill>
                  <a:srgbClr val="CC0000"/>
                </a:solidFill>
                <a:effectLst>
                  <a:outerShdw blurRad="38100" dist="38100" dir="2700000" algn="tl">
                    <a:srgbClr val="C0C0C0"/>
                  </a:outerShdw>
                </a:effectLst>
                <a:latin typeface="Verdana" pitchFamily="34" charset="0"/>
              </a:endParaRPr>
            </a:p>
          </p:txBody>
        </p:sp>
      </p:grpSp>
      <p:grpSp>
        <p:nvGrpSpPr>
          <p:cNvPr id="11" name="Group 8"/>
          <p:cNvGrpSpPr>
            <a:grpSpLocks/>
          </p:cNvGrpSpPr>
          <p:nvPr/>
        </p:nvGrpSpPr>
        <p:grpSpPr bwMode="auto">
          <a:xfrm>
            <a:off x="4115604" y="1427237"/>
            <a:ext cx="3024188" cy="381000"/>
            <a:chOff x="2109" y="1526"/>
            <a:chExt cx="1678" cy="1541"/>
          </a:xfrm>
        </p:grpSpPr>
        <p:sp>
          <p:nvSpPr>
            <p:cNvPr id="12" name="Rectangle 9"/>
            <p:cNvSpPr>
              <a:spLocks noChangeArrowheads="1"/>
            </p:cNvSpPr>
            <p:nvPr/>
          </p:nvSpPr>
          <p:spPr bwMode="auto">
            <a:xfrm>
              <a:off x="2336" y="1616"/>
              <a:ext cx="1451" cy="1451"/>
            </a:xfrm>
            <a:prstGeom prst="rect">
              <a:avLst/>
            </a:prstGeom>
            <a:solidFill>
              <a:srgbClr val="DDDDDD"/>
            </a:solidFill>
            <a:ln w="28575">
              <a:noFill/>
              <a:miter lim="800000"/>
              <a:headEnd/>
              <a:tailEnd/>
            </a:ln>
            <a:effectLst>
              <a:outerShdw dist="35921" dir="2700000" algn="ctr" rotWithShape="0">
                <a:schemeClr val="bg2"/>
              </a:outerShdw>
            </a:effectLst>
          </p:spPr>
          <p:txBody>
            <a:bodyPr wrap="none" anchor="ctr"/>
            <a:lstStyle/>
            <a:p>
              <a:pPr algn="ctr">
                <a:defRPr/>
              </a:pPr>
              <a:endParaRPr lang="en-US" sz="900" b="1">
                <a:latin typeface="Verdana" pitchFamily="34" charset="0"/>
              </a:endParaRPr>
            </a:p>
          </p:txBody>
        </p:sp>
        <p:sp>
          <p:nvSpPr>
            <p:cNvPr id="13" name="AutoShape 10"/>
            <p:cNvSpPr>
              <a:spLocks noChangeArrowheads="1"/>
            </p:cNvSpPr>
            <p:nvPr/>
          </p:nvSpPr>
          <p:spPr bwMode="auto">
            <a:xfrm>
              <a:off x="2109" y="2117"/>
              <a:ext cx="181" cy="315"/>
            </a:xfrm>
            <a:prstGeom prst="homePlate">
              <a:avLst>
                <a:gd name="adj" fmla="val 25000"/>
              </a:avLst>
            </a:prstGeom>
            <a:solidFill>
              <a:srgbClr val="DDDDDD"/>
            </a:solidFill>
            <a:ln w="9525">
              <a:noFill/>
              <a:miter lim="800000"/>
              <a:headEnd/>
              <a:tailEnd/>
            </a:ln>
            <a:effectLst>
              <a:outerShdw dist="35921" dir="2700000" algn="ctr" rotWithShape="0">
                <a:schemeClr val="bg2"/>
              </a:outerShdw>
            </a:effectLst>
          </p:spPr>
          <p:txBody>
            <a:bodyPr wrap="none" anchor="ctr"/>
            <a:lstStyle/>
            <a:p>
              <a:pPr algn="ctr">
                <a:defRPr/>
              </a:pPr>
              <a:endParaRPr lang="en-US"/>
            </a:p>
          </p:txBody>
        </p:sp>
        <p:sp>
          <p:nvSpPr>
            <p:cNvPr id="14" name="Text Box 11"/>
            <p:cNvSpPr txBox="1">
              <a:spLocks noChangeArrowheads="1"/>
            </p:cNvSpPr>
            <p:nvPr/>
          </p:nvSpPr>
          <p:spPr bwMode="auto">
            <a:xfrm>
              <a:off x="2290" y="1526"/>
              <a:ext cx="1260" cy="1233"/>
            </a:xfrm>
            <a:prstGeom prst="rect">
              <a:avLst/>
            </a:prstGeom>
            <a:noFill/>
            <a:ln w="9525">
              <a:noFill/>
              <a:miter lim="800000"/>
              <a:headEnd/>
              <a:tailEnd/>
            </a:ln>
            <a:effectLst/>
          </p:spPr>
          <p:txBody>
            <a:bodyPr>
              <a:spAutoFit/>
            </a:bodyPr>
            <a:lstStyle/>
            <a:p>
              <a:pPr>
                <a:spcBef>
                  <a:spcPct val="50000"/>
                </a:spcBef>
                <a:defRPr/>
              </a:pPr>
              <a:r>
                <a:rPr lang="en-US" sz="1400" b="1" dirty="0">
                  <a:solidFill>
                    <a:srgbClr val="CC0000"/>
                  </a:solidFill>
                  <a:effectLst>
                    <a:outerShdw blurRad="38100" dist="38100" dir="2700000" algn="tl">
                      <a:srgbClr val="C0C0C0"/>
                    </a:outerShdw>
                  </a:effectLst>
                  <a:latin typeface="Verdana" pitchFamily="34" charset="0"/>
                </a:rPr>
                <a:t> Design</a:t>
              </a:r>
              <a:endParaRPr lang="da-DK" sz="1400" b="1" dirty="0">
                <a:solidFill>
                  <a:srgbClr val="CC0000"/>
                </a:solidFill>
                <a:effectLst>
                  <a:outerShdw blurRad="38100" dist="38100" dir="2700000" algn="tl">
                    <a:srgbClr val="C0C0C0"/>
                  </a:outerShdw>
                </a:effectLst>
                <a:latin typeface="Verdana" pitchFamily="34" charset="0"/>
              </a:endParaRPr>
            </a:p>
          </p:txBody>
        </p:sp>
      </p:grpSp>
      <p:grpSp>
        <p:nvGrpSpPr>
          <p:cNvPr id="15" name="Group 12"/>
          <p:cNvGrpSpPr>
            <a:grpSpLocks/>
          </p:cNvGrpSpPr>
          <p:nvPr/>
        </p:nvGrpSpPr>
        <p:grpSpPr bwMode="auto">
          <a:xfrm>
            <a:off x="7212817" y="1427237"/>
            <a:ext cx="3101975" cy="381000"/>
            <a:chOff x="3833" y="1526"/>
            <a:chExt cx="1727" cy="1541"/>
          </a:xfrm>
        </p:grpSpPr>
        <p:sp>
          <p:nvSpPr>
            <p:cNvPr id="16" name="Rectangle 13"/>
            <p:cNvSpPr>
              <a:spLocks noChangeArrowheads="1"/>
            </p:cNvSpPr>
            <p:nvPr/>
          </p:nvSpPr>
          <p:spPr bwMode="auto">
            <a:xfrm>
              <a:off x="4059" y="1616"/>
              <a:ext cx="1501" cy="1451"/>
            </a:xfrm>
            <a:prstGeom prst="rect">
              <a:avLst/>
            </a:prstGeom>
            <a:solidFill>
              <a:srgbClr val="DDDDDD"/>
            </a:solidFill>
            <a:ln w="28575">
              <a:noFill/>
              <a:miter lim="800000"/>
              <a:headEnd/>
              <a:tailEnd/>
            </a:ln>
            <a:effectLst>
              <a:outerShdw dist="35921" dir="2700000" algn="ctr" rotWithShape="0">
                <a:schemeClr val="bg2"/>
              </a:outerShdw>
            </a:effectLst>
          </p:spPr>
          <p:txBody>
            <a:bodyPr wrap="none" anchor="ctr"/>
            <a:lstStyle/>
            <a:p>
              <a:pPr algn="ctr">
                <a:defRPr/>
              </a:pPr>
              <a:endParaRPr lang="en-US" sz="900" b="1">
                <a:latin typeface="Verdana" pitchFamily="34" charset="0"/>
              </a:endParaRPr>
            </a:p>
          </p:txBody>
        </p:sp>
        <p:sp>
          <p:nvSpPr>
            <p:cNvPr id="17" name="Text Box 14"/>
            <p:cNvSpPr txBox="1">
              <a:spLocks noChangeArrowheads="1"/>
            </p:cNvSpPr>
            <p:nvPr/>
          </p:nvSpPr>
          <p:spPr bwMode="auto">
            <a:xfrm>
              <a:off x="3995" y="1526"/>
              <a:ext cx="1521" cy="1233"/>
            </a:xfrm>
            <a:prstGeom prst="rect">
              <a:avLst/>
            </a:prstGeom>
            <a:noFill/>
            <a:ln w="9525">
              <a:noFill/>
              <a:miter lim="800000"/>
              <a:headEnd/>
              <a:tailEnd/>
            </a:ln>
            <a:effectLst/>
          </p:spPr>
          <p:txBody>
            <a:bodyPr>
              <a:spAutoFit/>
            </a:bodyPr>
            <a:lstStyle/>
            <a:p>
              <a:pPr>
                <a:spcBef>
                  <a:spcPct val="50000"/>
                </a:spcBef>
                <a:defRPr/>
              </a:pPr>
              <a:r>
                <a:rPr lang="en-US" sz="1400" b="1" dirty="0">
                  <a:solidFill>
                    <a:srgbClr val="CC0000"/>
                  </a:solidFill>
                  <a:effectLst>
                    <a:outerShdw blurRad="38100" dist="38100" dir="2700000" algn="tl">
                      <a:srgbClr val="C0C0C0"/>
                    </a:outerShdw>
                  </a:effectLst>
                  <a:latin typeface="Verdana" pitchFamily="34" charset="0"/>
                </a:rPr>
                <a:t> Deliver</a:t>
              </a:r>
              <a:endParaRPr lang="da-DK" sz="1400" b="1" dirty="0">
                <a:solidFill>
                  <a:srgbClr val="CC0000"/>
                </a:solidFill>
                <a:effectLst>
                  <a:outerShdw blurRad="38100" dist="38100" dir="2700000" algn="tl">
                    <a:srgbClr val="C0C0C0"/>
                  </a:outerShdw>
                </a:effectLst>
                <a:latin typeface="Verdana" pitchFamily="34" charset="0"/>
              </a:endParaRPr>
            </a:p>
          </p:txBody>
        </p:sp>
        <p:sp>
          <p:nvSpPr>
            <p:cNvPr id="18" name="AutoShape 15"/>
            <p:cNvSpPr>
              <a:spLocks noChangeArrowheads="1"/>
            </p:cNvSpPr>
            <p:nvPr/>
          </p:nvSpPr>
          <p:spPr bwMode="auto">
            <a:xfrm>
              <a:off x="3833" y="2117"/>
              <a:ext cx="181" cy="315"/>
            </a:xfrm>
            <a:prstGeom prst="homePlate">
              <a:avLst>
                <a:gd name="adj" fmla="val 25000"/>
              </a:avLst>
            </a:prstGeom>
            <a:solidFill>
              <a:srgbClr val="DDDDDD"/>
            </a:solidFill>
            <a:ln w="9525">
              <a:noFill/>
              <a:miter lim="800000"/>
              <a:headEnd/>
              <a:tailEnd/>
            </a:ln>
            <a:effectLst>
              <a:outerShdw dist="35921" dir="2700000" algn="ctr" rotWithShape="0">
                <a:schemeClr val="bg2"/>
              </a:outerShdw>
            </a:effectLst>
          </p:spPr>
          <p:txBody>
            <a:bodyPr wrap="none" anchor="ctr"/>
            <a:lstStyle/>
            <a:p>
              <a:pPr algn="ctr">
                <a:defRPr/>
              </a:pPr>
              <a:endParaRPr lang="en-US"/>
            </a:p>
          </p:txBody>
        </p:sp>
      </p:grpSp>
      <p:sp>
        <p:nvSpPr>
          <p:cNvPr id="19" name="Rectangle 17"/>
          <p:cNvSpPr>
            <a:spLocks noChangeArrowheads="1"/>
          </p:cNvSpPr>
          <p:nvPr/>
        </p:nvSpPr>
        <p:spPr bwMode="auto">
          <a:xfrm>
            <a:off x="2388404" y="1932062"/>
            <a:ext cx="7920038" cy="646113"/>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Business Intelligence</a:t>
            </a:r>
          </a:p>
        </p:txBody>
      </p:sp>
      <p:sp>
        <p:nvSpPr>
          <p:cNvPr id="20" name="Rectangle 18"/>
          <p:cNvSpPr>
            <a:spLocks noChangeArrowheads="1"/>
          </p:cNvSpPr>
          <p:nvPr/>
        </p:nvSpPr>
        <p:spPr bwMode="auto">
          <a:xfrm>
            <a:off x="4114017" y="2651200"/>
            <a:ext cx="3098800" cy="2449512"/>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endParaRPr lang="en-US" sz="900" b="1">
              <a:latin typeface="Verdana" pitchFamily="34" charset="0"/>
            </a:endParaRPr>
          </a:p>
        </p:txBody>
      </p:sp>
      <p:sp>
        <p:nvSpPr>
          <p:cNvPr id="21" name="Rectangle 19"/>
          <p:cNvSpPr>
            <a:spLocks noChangeArrowheads="1"/>
          </p:cNvSpPr>
          <p:nvPr/>
        </p:nvSpPr>
        <p:spPr bwMode="auto">
          <a:xfrm>
            <a:off x="7284254" y="2651200"/>
            <a:ext cx="3024188" cy="2449512"/>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endParaRPr lang="en-US" sz="900" b="1">
              <a:latin typeface="Verdana" pitchFamily="34" charset="0"/>
            </a:endParaRPr>
          </a:p>
        </p:txBody>
      </p:sp>
      <p:sp>
        <p:nvSpPr>
          <p:cNvPr id="22" name="Rectangle 20"/>
          <p:cNvSpPr>
            <a:spLocks noChangeArrowheads="1"/>
          </p:cNvSpPr>
          <p:nvPr/>
        </p:nvSpPr>
        <p:spPr bwMode="auto">
          <a:xfrm>
            <a:off x="2388404" y="2651200"/>
            <a:ext cx="1655763" cy="2449512"/>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endParaRPr lang="en-US" sz="900" b="1">
              <a:latin typeface="Verdana" pitchFamily="34" charset="0"/>
            </a:endParaRPr>
          </a:p>
        </p:txBody>
      </p:sp>
      <p:sp>
        <p:nvSpPr>
          <p:cNvPr id="23" name="Rectangle 21"/>
          <p:cNvSpPr>
            <a:spLocks noChangeArrowheads="1"/>
          </p:cNvSpPr>
          <p:nvPr/>
        </p:nvSpPr>
        <p:spPr bwMode="auto">
          <a:xfrm>
            <a:off x="7284254" y="5315025"/>
            <a:ext cx="3024188" cy="576262"/>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Corporate Content Management</a:t>
            </a:r>
          </a:p>
        </p:txBody>
      </p:sp>
      <p:sp>
        <p:nvSpPr>
          <p:cNvPr id="24" name="Rectangle 22"/>
          <p:cNvSpPr>
            <a:spLocks noChangeArrowheads="1"/>
          </p:cNvSpPr>
          <p:nvPr/>
        </p:nvSpPr>
        <p:spPr bwMode="auto">
          <a:xfrm>
            <a:off x="4115604" y="5315025"/>
            <a:ext cx="3097213" cy="576262"/>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Corporate Governance and Compliance</a:t>
            </a:r>
          </a:p>
        </p:txBody>
      </p:sp>
      <p:sp>
        <p:nvSpPr>
          <p:cNvPr id="25" name="Rectangle 23"/>
          <p:cNvSpPr>
            <a:spLocks noChangeArrowheads="1"/>
          </p:cNvSpPr>
          <p:nvPr/>
        </p:nvSpPr>
        <p:spPr bwMode="auto">
          <a:xfrm>
            <a:off x="2459842" y="2147962"/>
            <a:ext cx="2087562"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Dashboards</a:t>
            </a:r>
          </a:p>
        </p:txBody>
      </p:sp>
      <p:sp>
        <p:nvSpPr>
          <p:cNvPr id="26" name="Rectangle 24"/>
          <p:cNvSpPr>
            <a:spLocks noChangeArrowheads="1"/>
          </p:cNvSpPr>
          <p:nvPr/>
        </p:nvSpPr>
        <p:spPr bwMode="auto">
          <a:xfrm>
            <a:off x="4620429" y="2146375"/>
            <a:ext cx="2808288"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Reporting &amp; Analysis</a:t>
            </a:r>
          </a:p>
        </p:txBody>
      </p:sp>
      <p:sp>
        <p:nvSpPr>
          <p:cNvPr id="27" name="Rectangle 25"/>
          <p:cNvSpPr>
            <a:spLocks noChangeArrowheads="1"/>
          </p:cNvSpPr>
          <p:nvPr/>
        </p:nvSpPr>
        <p:spPr bwMode="auto">
          <a:xfrm>
            <a:off x="7500154" y="2146375"/>
            <a:ext cx="22320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Planning &amp; Modeling</a:t>
            </a:r>
          </a:p>
        </p:txBody>
      </p:sp>
      <p:sp>
        <p:nvSpPr>
          <p:cNvPr id="28" name="Rectangle 26"/>
          <p:cNvSpPr>
            <a:spLocks noChangeArrowheads="1"/>
          </p:cNvSpPr>
          <p:nvPr/>
        </p:nvSpPr>
        <p:spPr bwMode="auto">
          <a:xfrm>
            <a:off x="2459842" y="2363862"/>
            <a:ext cx="7272337"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Enterprise Data Warehouse</a:t>
            </a:r>
          </a:p>
        </p:txBody>
      </p:sp>
      <p:sp>
        <p:nvSpPr>
          <p:cNvPr id="29" name="Rectangle 27"/>
          <p:cNvSpPr>
            <a:spLocks noChangeArrowheads="1"/>
          </p:cNvSpPr>
          <p:nvPr/>
        </p:nvSpPr>
        <p:spPr bwMode="auto">
          <a:xfrm>
            <a:off x="4185454" y="4884812"/>
            <a:ext cx="2808288" cy="1428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Content (</a:t>
            </a:r>
            <a:r>
              <a:rPr lang="en-US" sz="700" i="1">
                <a:latin typeface="Verdana" pitchFamily="34" charset="0"/>
              </a:rPr>
              <a:t>Product</a:t>
            </a:r>
            <a:r>
              <a:rPr lang="en-US" sz="700" b="1">
                <a:latin typeface="Verdana" pitchFamily="34" charset="0"/>
              </a:rPr>
              <a:t>)</a:t>
            </a:r>
          </a:p>
        </p:txBody>
      </p:sp>
      <p:sp>
        <p:nvSpPr>
          <p:cNvPr id="30" name="Rectangle 28"/>
          <p:cNvSpPr>
            <a:spLocks noChangeArrowheads="1"/>
          </p:cNvSpPr>
          <p:nvPr/>
        </p:nvSpPr>
        <p:spPr bwMode="auto">
          <a:xfrm>
            <a:off x="7428717" y="42355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Proposal</a:t>
            </a:r>
          </a:p>
        </p:txBody>
      </p:sp>
      <p:sp>
        <p:nvSpPr>
          <p:cNvPr id="31" name="Rectangle 29"/>
          <p:cNvSpPr>
            <a:spLocks noChangeArrowheads="1"/>
          </p:cNvSpPr>
          <p:nvPr/>
        </p:nvSpPr>
        <p:spPr bwMode="auto">
          <a:xfrm>
            <a:off x="7428717" y="38037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Management</a:t>
            </a:r>
          </a:p>
        </p:txBody>
      </p:sp>
      <p:sp>
        <p:nvSpPr>
          <p:cNvPr id="32" name="Rectangle 30"/>
          <p:cNvSpPr>
            <a:spLocks noChangeArrowheads="1"/>
          </p:cNvSpPr>
          <p:nvPr/>
        </p:nvSpPr>
        <p:spPr bwMode="auto">
          <a:xfrm>
            <a:off x="7428717" y="44514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Finance</a:t>
            </a:r>
          </a:p>
        </p:txBody>
      </p:sp>
      <p:sp>
        <p:nvSpPr>
          <p:cNvPr id="33" name="Rectangle 31"/>
          <p:cNvSpPr>
            <a:spLocks noChangeArrowheads="1"/>
          </p:cNvSpPr>
          <p:nvPr/>
        </p:nvSpPr>
        <p:spPr bwMode="auto">
          <a:xfrm>
            <a:off x="7428717" y="46673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HR</a:t>
            </a:r>
          </a:p>
        </p:txBody>
      </p:sp>
      <p:sp>
        <p:nvSpPr>
          <p:cNvPr id="34" name="Rectangle 32"/>
          <p:cNvSpPr>
            <a:spLocks noChangeArrowheads="1"/>
          </p:cNvSpPr>
          <p:nvPr/>
        </p:nvSpPr>
        <p:spPr bwMode="auto">
          <a:xfrm>
            <a:off x="8868579" y="4019625"/>
            <a:ext cx="1368425" cy="1460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Procurement</a:t>
            </a:r>
          </a:p>
        </p:txBody>
      </p:sp>
      <p:sp>
        <p:nvSpPr>
          <p:cNvPr id="35" name="Rectangle 33"/>
          <p:cNvSpPr>
            <a:spLocks noChangeArrowheads="1"/>
          </p:cNvSpPr>
          <p:nvPr/>
        </p:nvSpPr>
        <p:spPr bwMode="auto">
          <a:xfrm>
            <a:off x="8868579" y="38037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Manufacturing</a:t>
            </a:r>
          </a:p>
        </p:txBody>
      </p:sp>
      <p:sp>
        <p:nvSpPr>
          <p:cNvPr id="36" name="Rectangle 34"/>
          <p:cNvSpPr>
            <a:spLocks noChangeArrowheads="1"/>
          </p:cNvSpPr>
          <p:nvPr/>
        </p:nvSpPr>
        <p:spPr bwMode="auto">
          <a:xfrm>
            <a:off x="8868579" y="3152850"/>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Order Management</a:t>
            </a:r>
          </a:p>
        </p:txBody>
      </p:sp>
      <p:sp>
        <p:nvSpPr>
          <p:cNvPr id="37" name="Rectangle 35"/>
          <p:cNvSpPr>
            <a:spLocks noChangeArrowheads="1"/>
          </p:cNvSpPr>
          <p:nvPr/>
        </p:nvSpPr>
        <p:spPr bwMode="auto">
          <a:xfrm>
            <a:off x="8868579" y="2938537"/>
            <a:ext cx="136842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Shipping</a:t>
            </a:r>
          </a:p>
        </p:txBody>
      </p:sp>
      <p:sp>
        <p:nvSpPr>
          <p:cNvPr id="38" name="Rectangle 36"/>
          <p:cNvSpPr>
            <a:spLocks noChangeArrowheads="1"/>
          </p:cNvSpPr>
          <p:nvPr/>
        </p:nvSpPr>
        <p:spPr bwMode="auto">
          <a:xfrm>
            <a:off x="8868579" y="3370337"/>
            <a:ext cx="136842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Inventory &amp; Warehousing</a:t>
            </a:r>
          </a:p>
        </p:txBody>
      </p:sp>
      <p:sp>
        <p:nvSpPr>
          <p:cNvPr id="39" name="Rectangle 37"/>
          <p:cNvSpPr>
            <a:spLocks noChangeArrowheads="1"/>
          </p:cNvSpPr>
          <p:nvPr/>
        </p:nvSpPr>
        <p:spPr bwMode="auto">
          <a:xfrm>
            <a:off x="2388404" y="5316612"/>
            <a:ext cx="1655763" cy="576263"/>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Other</a:t>
            </a:r>
          </a:p>
        </p:txBody>
      </p:sp>
      <p:sp>
        <p:nvSpPr>
          <p:cNvPr id="40" name="Rectangle 38"/>
          <p:cNvSpPr>
            <a:spLocks noChangeArrowheads="1"/>
          </p:cNvSpPr>
          <p:nvPr/>
        </p:nvSpPr>
        <p:spPr bwMode="auto">
          <a:xfrm>
            <a:off x="2458254" y="5603950"/>
            <a:ext cx="129857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Site Operation</a:t>
            </a:r>
          </a:p>
        </p:txBody>
      </p:sp>
      <p:sp>
        <p:nvSpPr>
          <p:cNvPr id="41" name="Rectangle 39"/>
          <p:cNvSpPr>
            <a:spLocks noChangeArrowheads="1"/>
          </p:cNvSpPr>
          <p:nvPr/>
        </p:nvSpPr>
        <p:spPr bwMode="auto">
          <a:xfrm>
            <a:off x="7428717" y="40196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Contracts</a:t>
            </a:r>
          </a:p>
        </p:txBody>
      </p:sp>
      <p:sp>
        <p:nvSpPr>
          <p:cNvPr id="42" name="Rectangle 40"/>
          <p:cNvSpPr>
            <a:spLocks noChangeArrowheads="1"/>
          </p:cNvSpPr>
          <p:nvPr/>
        </p:nvSpPr>
        <p:spPr bwMode="auto">
          <a:xfrm>
            <a:off x="8868579" y="35878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Quality (</a:t>
            </a:r>
            <a:r>
              <a:rPr lang="en-US" sz="700" i="1">
                <a:latin typeface="Verdana" pitchFamily="34" charset="0"/>
              </a:rPr>
              <a:t>Delivery</a:t>
            </a:r>
            <a:r>
              <a:rPr lang="en-US" sz="700" b="1">
                <a:latin typeface="Verdana" pitchFamily="34" charset="0"/>
              </a:rPr>
              <a:t>)</a:t>
            </a:r>
          </a:p>
        </p:txBody>
      </p:sp>
      <p:sp>
        <p:nvSpPr>
          <p:cNvPr id="43" name="Rectangle 41"/>
          <p:cNvSpPr>
            <a:spLocks noChangeArrowheads="1"/>
          </p:cNvSpPr>
          <p:nvPr/>
        </p:nvSpPr>
        <p:spPr bwMode="auto">
          <a:xfrm>
            <a:off x="7428717" y="4883225"/>
            <a:ext cx="2808287" cy="1428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Content (</a:t>
            </a:r>
            <a:r>
              <a:rPr lang="en-US" sz="700" i="1">
                <a:latin typeface="Verdana" pitchFamily="34" charset="0"/>
              </a:rPr>
              <a:t>Legal Transactional Documents</a:t>
            </a:r>
            <a:r>
              <a:rPr lang="en-US" sz="700" b="1">
                <a:latin typeface="Verdana" pitchFamily="34" charset="0"/>
              </a:rPr>
              <a:t>)</a:t>
            </a:r>
          </a:p>
        </p:txBody>
      </p:sp>
      <p:sp>
        <p:nvSpPr>
          <p:cNvPr id="44" name="Rectangle 42"/>
          <p:cNvSpPr>
            <a:spLocks noChangeArrowheads="1"/>
          </p:cNvSpPr>
          <p:nvPr/>
        </p:nvSpPr>
        <p:spPr bwMode="auto">
          <a:xfrm>
            <a:off x="7428717" y="33719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Accounting</a:t>
            </a:r>
          </a:p>
        </p:txBody>
      </p:sp>
      <p:sp>
        <p:nvSpPr>
          <p:cNvPr id="45" name="Rectangle 43"/>
          <p:cNvSpPr>
            <a:spLocks noChangeArrowheads="1"/>
          </p:cNvSpPr>
          <p:nvPr/>
        </p:nvSpPr>
        <p:spPr bwMode="auto">
          <a:xfrm>
            <a:off x="8868579" y="4233937"/>
            <a:ext cx="136842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Supply Chain Management</a:t>
            </a:r>
          </a:p>
        </p:txBody>
      </p:sp>
      <p:sp>
        <p:nvSpPr>
          <p:cNvPr id="46" name="Rectangle 44"/>
          <p:cNvSpPr>
            <a:spLocks noChangeArrowheads="1"/>
          </p:cNvSpPr>
          <p:nvPr/>
        </p:nvSpPr>
        <p:spPr bwMode="auto">
          <a:xfrm>
            <a:off x="8868579" y="44514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Consolidation</a:t>
            </a:r>
          </a:p>
        </p:txBody>
      </p:sp>
      <p:sp>
        <p:nvSpPr>
          <p:cNvPr id="47" name="Rectangle 45"/>
          <p:cNvSpPr>
            <a:spLocks noChangeArrowheads="1"/>
          </p:cNvSpPr>
          <p:nvPr/>
        </p:nvSpPr>
        <p:spPr bwMode="auto">
          <a:xfrm>
            <a:off x="8868579" y="46673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Time &amp; Expenses</a:t>
            </a:r>
          </a:p>
        </p:txBody>
      </p:sp>
      <p:sp>
        <p:nvSpPr>
          <p:cNvPr id="48" name="Rectangle 46"/>
          <p:cNvSpPr>
            <a:spLocks noChangeArrowheads="1"/>
          </p:cNvSpPr>
          <p:nvPr/>
        </p:nvSpPr>
        <p:spPr bwMode="auto">
          <a:xfrm>
            <a:off x="8868579" y="2722637"/>
            <a:ext cx="136842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Transportation Mngt.</a:t>
            </a:r>
          </a:p>
        </p:txBody>
      </p:sp>
      <p:sp>
        <p:nvSpPr>
          <p:cNvPr id="49" name="Rectangle 47"/>
          <p:cNvSpPr>
            <a:spLocks noChangeArrowheads="1"/>
          </p:cNvSpPr>
          <p:nvPr/>
        </p:nvSpPr>
        <p:spPr bwMode="auto">
          <a:xfrm>
            <a:off x="2459842" y="2722637"/>
            <a:ext cx="129857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Sales</a:t>
            </a:r>
          </a:p>
        </p:txBody>
      </p:sp>
      <p:sp>
        <p:nvSpPr>
          <p:cNvPr id="50" name="Rectangle 48"/>
          <p:cNvSpPr>
            <a:spLocks noChangeArrowheads="1"/>
          </p:cNvSpPr>
          <p:nvPr/>
        </p:nvSpPr>
        <p:spPr bwMode="auto">
          <a:xfrm>
            <a:off x="2459842" y="2938537"/>
            <a:ext cx="129857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Marketing</a:t>
            </a:r>
          </a:p>
        </p:txBody>
      </p:sp>
      <p:sp>
        <p:nvSpPr>
          <p:cNvPr id="51" name="Rectangle 49"/>
          <p:cNvSpPr>
            <a:spLocks noChangeArrowheads="1"/>
          </p:cNvSpPr>
          <p:nvPr/>
        </p:nvSpPr>
        <p:spPr bwMode="auto">
          <a:xfrm>
            <a:off x="4260067" y="5603950"/>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Quality (</a:t>
            </a:r>
            <a:r>
              <a:rPr lang="en-US" sz="700" i="1">
                <a:latin typeface="Verdana" pitchFamily="34" charset="0"/>
              </a:rPr>
              <a:t>ISO</a:t>
            </a:r>
            <a:r>
              <a:rPr lang="en-US" sz="700" b="1">
                <a:latin typeface="Verdana" pitchFamily="34" charset="0"/>
              </a:rPr>
              <a:t>)</a:t>
            </a:r>
          </a:p>
        </p:txBody>
      </p:sp>
      <p:sp>
        <p:nvSpPr>
          <p:cNvPr id="52" name="Rectangle 50"/>
          <p:cNvSpPr>
            <a:spLocks noChangeArrowheads="1"/>
          </p:cNvSpPr>
          <p:nvPr/>
        </p:nvSpPr>
        <p:spPr bwMode="auto">
          <a:xfrm>
            <a:off x="5699929" y="5603950"/>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Business Process Mngt.</a:t>
            </a:r>
          </a:p>
        </p:txBody>
      </p:sp>
      <p:sp>
        <p:nvSpPr>
          <p:cNvPr id="53" name="Rectangle 51"/>
          <p:cNvSpPr>
            <a:spLocks noChangeArrowheads="1"/>
          </p:cNvSpPr>
          <p:nvPr/>
        </p:nvSpPr>
        <p:spPr bwMode="auto">
          <a:xfrm>
            <a:off x="7500154" y="5603950"/>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Content (</a:t>
            </a:r>
            <a:r>
              <a:rPr lang="en-US" sz="700" i="1">
                <a:latin typeface="Verdana" pitchFamily="34" charset="0"/>
              </a:rPr>
              <a:t>General</a:t>
            </a:r>
            <a:r>
              <a:rPr lang="en-US" sz="700" b="1">
                <a:latin typeface="Verdana" pitchFamily="34" charset="0"/>
              </a:rPr>
              <a:t>)</a:t>
            </a:r>
          </a:p>
        </p:txBody>
      </p:sp>
      <p:sp>
        <p:nvSpPr>
          <p:cNvPr id="54" name="Rectangle 52"/>
          <p:cNvSpPr>
            <a:spLocks noChangeArrowheads="1"/>
          </p:cNvSpPr>
          <p:nvPr/>
        </p:nvSpPr>
        <p:spPr bwMode="auto">
          <a:xfrm>
            <a:off x="7428717" y="2724225"/>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eCommerce/Collaboration</a:t>
            </a:r>
          </a:p>
        </p:txBody>
      </p:sp>
      <p:sp>
        <p:nvSpPr>
          <p:cNvPr id="55" name="Rectangle 53"/>
          <p:cNvSpPr>
            <a:spLocks noChangeArrowheads="1"/>
          </p:cNvSpPr>
          <p:nvPr/>
        </p:nvSpPr>
        <p:spPr bwMode="auto">
          <a:xfrm>
            <a:off x="7428717" y="2940125"/>
            <a:ext cx="719137" cy="1428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Product Data</a:t>
            </a:r>
          </a:p>
        </p:txBody>
      </p:sp>
      <p:cxnSp>
        <p:nvCxnSpPr>
          <p:cNvPr id="56" name="AutoShape 54"/>
          <p:cNvCxnSpPr>
            <a:cxnSpLocks noChangeShapeType="1"/>
            <a:endCxn id="55" idx="1"/>
          </p:cNvCxnSpPr>
          <p:nvPr/>
        </p:nvCxnSpPr>
        <p:spPr bwMode="auto">
          <a:xfrm>
            <a:off x="7068354" y="3011562"/>
            <a:ext cx="360363" cy="0"/>
          </a:xfrm>
          <a:prstGeom prst="straightConnector1">
            <a:avLst/>
          </a:prstGeom>
          <a:noFill/>
          <a:ln w="9525">
            <a:solidFill>
              <a:schemeClr val="tx1"/>
            </a:solidFill>
            <a:round/>
            <a:headEnd/>
            <a:tailEnd type="triangle" w="med" len="med"/>
          </a:ln>
          <a:effectLst>
            <a:outerShdw dist="35921" dir="2700000" algn="ctr" rotWithShape="0">
              <a:schemeClr val="bg2"/>
            </a:outerShdw>
          </a:effectLst>
        </p:spPr>
      </p:cxnSp>
      <p:sp>
        <p:nvSpPr>
          <p:cNvPr id="57" name="Rectangle 55"/>
          <p:cNvSpPr>
            <a:spLocks noChangeArrowheads="1"/>
          </p:cNvSpPr>
          <p:nvPr/>
        </p:nvSpPr>
        <p:spPr bwMode="auto">
          <a:xfrm>
            <a:off x="7428717" y="3156025"/>
            <a:ext cx="719137" cy="1428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Parts lists</a:t>
            </a:r>
          </a:p>
        </p:txBody>
      </p:sp>
      <p:cxnSp>
        <p:nvCxnSpPr>
          <p:cNvPr id="58" name="AutoShape 56"/>
          <p:cNvCxnSpPr>
            <a:cxnSpLocks noChangeShapeType="1"/>
            <a:endCxn id="57" idx="1"/>
          </p:cNvCxnSpPr>
          <p:nvPr/>
        </p:nvCxnSpPr>
        <p:spPr bwMode="auto">
          <a:xfrm>
            <a:off x="7068354" y="3227462"/>
            <a:ext cx="360363" cy="0"/>
          </a:xfrm>
          <a:prstGeom prst="straightConnector1">
            <a:avLst/>
          </a:prstGeom>
          <a:noFill/>
          <a:ln w="9525">
            <a:solidFill>
              <a:schemeClr val="tx1"/>
            </a:solidFill>
            <a:round/>
            <a:headEnd/>
            <a:tailEnd type="triangle" w="med" len="med"/>
          </a:ln>
          <a:effectLst>
            <a:outerShdw dist="35921" dir="2700000" algn="ctr" rotWithShape="0">
              <a:schemeClr val="bg2"/>
            </a:outerShdw>
          </a:effectLst>
        </p:spPr>
      </p:cxnSp>
      <p:cxnSp>
        <p:nvCxnSpPr>
          <p:cNvPr id="59" name="AutoShape 57"/>
          <p:cNvCxnSpPr>
            <a:cxnSpLocks noChangeShapeType="1"/>
            <a:stCxn id="31" idx="1"/>
          </p:cNvCxnSpPr>
          <p:nvPr/>
        </p:nvCxnSpPr>
        <p:spPr bwMode="auto">
          <a:xfrm flipH="1">
            <a:off x="7068354" y="3876750"/>
            <a:ext cx="360363" cy="0"/>
          </a:xfrm>
          <a:prstGeom prst="straightConnector1">
            <a:avLst/>
          </a:prstGeom>
          <a:noFill/>
          <a:ln w="9525">
            <a:solidFill>
              <a:schemeClr val="tx1"/>
            </a:solidFill>
            <a:round/>
            <a:headEnd type="triangle" w="med" len="med"/>
            <a:tailEnd type="triangle" w="med" len="med"/>
          </a:ln>
          <a:effectLst>
            <a:outerShdw dist="35921" dir="2700000" algn="ctr" rotWithShape="0">
              <a:schemeClr val="bg2"/>
            </a:outerShdw>
          </a:effectLst>
        </p:spPr>
      </p:cxnSp>
      <p:cxnSp>
        <p:nvCxnSpPr>
          <p:cNvPr id="60" name="AutoShape 58"/>
          <p:cNvCxnSpPr>
            <a:cxnSpLocks noChangeShapeType="1"/>
            <a:stCxn id="30" idx="1"/>
          </p:cNvCxnSpPr>
          <p:nvPr/>
        </p:nvCxnSpPr>
        <p:spPr bwMode="auto">
          <a:xfrm flipH="1">
            <a:off x="7068354" y="4308550"/>
            <a:ext cx="360363" cy="0"/>
          </a:xfrm>
          <a:prstGeom prst="straightConnector1">
            <a:avLst/>
          </a:prstGeom>
          <a:noFill/>
          <a:ln w="9525">
            <a:solidFill>
              <a:schemeClr val="tx1"/>
            </a:solidFill>
            <a:round/>
            <a:headEnd type="triangle" w="med" len="med"/>
            <a:tailEnd type="triangle" w="med" len="med"/>
          </a:ln>
          <a:effectLst>
            <a:outerShdw dist="35921" dir="2700000" algn="ctr" rotWithShape="0">
              <a:schemeClr val="bg2"/>
            </a:outerShdw>
          </a:effectLst>
        </p:spPr>
      </p:cxnSp>
      <p:sp>
        <p:nvSpPr>
          <p:cNvPr id="61" name="Rectangle 59"/>
          <p:cNvSpPr>
            <a:spLocks noChangeArrowheads="1"/>
          </p:cNvSpPr>
          <p:nvPr/>
        </p:nvSpPr>
        <p:spPr bwMode="auto">
          <a:xfrm>
            <a:off x="7428717" y="3587825"/>
            <a:ext cx="576262"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 Plan</a:t>
            </a:r>
          </a:p>
        </p:txBody>
      </p:sp>
      <p:sp>
        <p:nvSpPr>
          <p:cNvPr id="62" name="Rectangle 60"/>
          <p:cNvSpPr>
            <a:spLocks noChangeArrowheads="1"/>
          </p:cNvSpPr>
          <p:nvPr/>
        </p:nvSpPr>
        <p:spPr bwMode="auto">
          <a:xfrm>
            <a:off x="4185454" y="2938537"/>
            <a:ext cx="136842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Plant Design</a:t>
            </a:r>
          </a:p>
        </p:txBody>
      </p:sp>
      <p:sp>
        <p:nvSpPr>
          <p:cNvPr id="63" name="Rectangle 61"/>
          <p:cNvSpPr>
            <a:spLocks noChangeArrowheads="1"/>
          </p:cNvSpPr>
          <p:nvPr/>
        </p:nvSpPr>
        <p:spPr bwMode="auto">
          <a:xfrm>
            <a:off x="4187042" y="3156025"/>
            <a:ext cx="1366837" cy="1428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Detailed Design</a:t>
            </a:r>
          </a:p>
        </p:txBody>
      </p:sp>
      <p:sp>
        <p:nvSpPr>
          <p:cNvPr id="64" name="Rectangle 62"/>
          <p:cNvSpPr>
            <a:spLocks noChangeArrowheads="1"/>
          </p:cNvSpPr>
          <p:nvPr/>
        </p:nvSpPr>
        <p:spPr bwMode="auto">
          <a:xfrm>
            <a:off x="4185454" y="35878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Drafting</a:t>
            </a:r>
          </a:p>
        </p:txBody>
      </p:sp>
      <p:sp>
        <p:nvSpPr>
          <p:cNvPr id="65" name="Rectangle 63"/>
          <p:cNvSpPr>
            <a:spLocks noChangeArrowheads="1"/>
          </p:cNvSpPr>
          <p:nvPr/>
        </p:nvSpPr>
        <p:spPr bwMode="auto">
          <a:xfrm>
            <a:off x="5625317" y="40196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Quality (Product)</a:t>
            </a:r>
          </a:p>
        </p:txBody>
      </p:sp>
      <p:sp>
        <p:nvSpPr>
          <p:cNvPr id="66" name="Rectangle 64"/>
          <p:cNvSpPr>
            <a:spLocks noChangeArrowheads="1"/>
          </p:cNvSpPr>
          <p:nvPr/>
        </p:nvSpPr>
        <p:spPr bwMode="auto">
          <a:xfrm>
            <a:off x="5625317" y="33719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dirty="0">
                <a:latin typeface="Verdana" pitchFamily="34" charset="0"/>
              </a:rPr>
              <a:t>Collaboration</a:t>
            </a:r>
          </a:p>
        </p:txBody>
      </p:sp>
      <p:sp>
        <p:nvSpPr>
          <p:cNvPr id="67" name="Rectangle 65"/>
          <p:cNvSpPr>
            <a:spLocks noChangeArrowheads="1"/>
          </p:cNvSpPr>
          <p:nvPr/>
        </p:nvSpPr>
        <p:spPr bwMode="auto">
          <a:xfrm>
            <a:off x="4185454" y="38037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Configuration</a:t>
            </a:r>
          </a:p>
        </p:txBody>
      </p:sp>
      <p:sp>
        <p:nvSpPr>
          <p:cNvPr id="68" name="Rectangle 66"/>
          <p:cNvSpPr>
            <a:spLocks noChangeArrowheads="1"/>
          </p:cNvSpPr>
          <p:nvPr/>
        </p:nvSpPr>
        <p:spPr bwMode="auto">
          <a:xfrm>
            <a:off x="5625317" y="29401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Product Data</a:t>
            </a:r>
          </a:p>
        </p:txBody>
      </p:sp>
      <p:sp>
        <p:nvSpPr>
          <p:cNvPr id="69" name="Rectangle 67"/>
          <p:cNvSpPr>
            <a:spLocks noChangeArrowheads="1"/>
          </p:cNvSpPr>
          <p:nvPr/>
        </p:nvSpPr>
        <p:spPr bwMode="auto">
          <a:xfrm>
            <a:off x="5625317" y="31560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Parts lists</a:t>
            </a:r>
          </a:p>
        </p:txBody>
      </p:sp>
      <p:sp>
        <p:nvSpPr>
          <p:cNvPr id="70" name="Rectangle 68"/>
          <p:cNvSpPr>
            <a:spLocks noChangeArrowheads="1"/>
          </p:cNvSpPr>
          <p:nvPr/>
        </p:nvSpPr>
        <p:spPr bwMode="auto">
          <a:xfrm>
            <a:off x="6273017" y="3803725"/>
            <a:ext cx="7207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 Mngt.</a:t>
            </a:r>
          </a:p>
        </p:txBody>
      </p:sp>
      <p:sp>
        <p:nvSpPr>
          <p:cNvPr id="71" name="Rectangle 69"/>
          <p:cNvSpPr>
            <a:spLocks noChangeArrowheads="1"/>
          </p:cNvSpPr>
          <p:nvPr/>
        </p:nvSpPr>
        <p:spPr bwMode="auto">
          <a:xfrm>
            <a:off x="6273017" y="4235525"/>
            <a:ext cx="7207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 Proposal</a:t>
            </a:r>
          </a:p>
        </p:txBody>
      </p:sp>
      <p:sp>
        <p:nvSpPr>
          <p:cNvPr id="72" name="Rectangle 70"/>
          <p:cNvSpPr>
            <a:spLocks noChangeArrowheads="1"/>
          </p:cNvSpPr>
          <p:nvPr/>
        </p:nvSpPr>
        <p:spPr bwMode="auto">
          <a:xfrm>
            <a:off x="5625317" y="3803725"/>
            <a:ext cx="576262"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 Plan</a:t>
            </a:r>
          </a:p>
        </p:txBody>
      </p:sp>
      <p:sp>
        <p:nvSpPr>
          <p:cNvPr id="73" name="Rectangle 71"/>
          <p:cNvSpPr>
            <a:spLocks noChangeArrowheads="1"/>
          </p:cNvSpPr>
          <p:nvPr/>
        </p:nvSpPr>
        <p:spPr bwMode="auto">
          <a:xfrm>
            <a:off x="4185454" y="33719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Digital Simulation</a:t>
            </a:r>
          </a:p>
        </p:txBody>
      </p:sp>
      <p:sp>
        <p:nvSpPr>
          <p:cNvPr id="74" name="Rectangle 72"/>
          <p:cNvSpPr>
            <a:spLocks noChangeArrowheads="1"/>
          </p:cNvSpPr>
          <p:nvPr/>
        </p:nvSpPr>
        <p:spPr bwMode="auto">
          <a:xfrm>
            <a:off x="4185454" y="40196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NC - Manufacturing</a:t>
            </a:r>
          </a:p>
        </p:txBody>
      </p:sp>
      <p:sp>
        <p:nvSpPr>
          <p:cNvPr id="75" name="Rectangle 73"/>
          <p:cNvSpPr>
            <a:spLocks noChangeArrowheads="1"/>
          </p:cNvSpPr>
          <p:nvPr/>
        </p:nvSpPr>
        <p:spPr bwMode="auto">
          <a:xfrm>
            <a:off x="5625317" y="27242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Requirement Mngt.</a:t>
            </a:r>
          </a:p>
        </p:txBody>
      </p:sp>
      <p:sp>
        <p:nvSpPr>
          <p:cNvPr id="76" name="Rectangle 74"/>
          <p:cNvSpPr>
            <a:spLocks noChangeArrowheads="1"/>
          </p:cNvSpPr>
          <p:nvPr/>
        </p:nvSpPr>
        <p:spPr bwMode="auto">
          <a:xfrm>
            <a:off x="4185454" y="27242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Knowledge Management</a:t>
            </a:r>
          </a:p>
        </p:txBody>
      </p:sp>
      <p:sp>
        <p:nvSpPr>
          <p:cNvPr id="77" name="Rectangle 75"/>
          <p:cNvSpPr>
            <a:spLocks noChangeArrowheads="1"/>
          </p:cNvSpPr>
          <p:nvPr/>
        </p:nvSpPr>
        <p:spPr bwMode="auto">
          <a:xfrm>
            <a:off x="5625317" y="3587825"/>
            <a:ext cx="1368425" cy="144462"/>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Release Management</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1EAA63-D034-42AE-91FA-B13B9518C7BE}" type="slidenum">
              <a:rPr lang="en-US" smtClean="0"/>
              <a:pPr/>
              <a:t>7</a:t>
            </a:fld>
            <a:endParaRPr lang="en-US" dirty="0"/>
          </a:p>
        </p:txBody>
      </p:sp>
      <p:sp>
        <p:nvSpPr>
          <p:cNvPr id="4" name="Rectangle 2"/>
          <p:cNvSpPr txBox="1">
            <a:spLocks noChangeArrowheads="1"/>
          </p:cNvSpPr>
          <p:nvPr/>
        </p:nvSpPr>
        <p:spPr>
          <a:xfrm>
            <a:off x="2349134" y="702783"/>
            <a:ext cx="7772400" cy="596900"/>
          </a:xfrm>
          <a:prstGeom prst="rect">
            <a:avLst/>
          </a:prstGeom>
        </p:spPr>
        <p:txBody>
          <a:bodyPr/>
          <a:lstStyle/>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Logical Application Architecture</a:t>
            </a:r>
            <a:endParaRPr kumimoji="0" lang="en-US" sz="1600" b="1" i="1" u="none" strike="noStrike" kern="1200" cap="none" spc="0" normalizeH="0" baseline="0" noProof="0" dirty="0" smtClean="0">
              <a:ln>
                <a:noFill/>
              </a:ln>
              <a:solidFill>
                <a:schemeClr val="tx1"/>
              </a:solidFill>
              <a:effectLst/>
              <a:uLnTx/>
              <a:uFillTx/>
              <a:latin typeface="+mj-lt"/>
              <a:ea typeface="+mj-ea"/>
              <a:cs typeface="+mj-cs"/>
            </a:endParaRPr>
          </a:p>
        </p:txBody>
      </p:sp>
      <p:sp>
        <p:nvSpPr>
          <p:cNvPr id="5" name="Rectangle 3"/>
          <p:cNvSpPr>
            <a:spLocks noChangeArrowheads="1"/>
          </p:cNvSpPr>
          <p:nvPr/>
        </p:nvSpPr>
        <p:spPr bwMode="auto">
          <a:xfrm>
            <a:off x="2025284" y="1494946"/>
            <a:ext cx="8208962" cy="4608512"/>
          </a:xfrm>
          <a:prstGeom prst="rect">
            <a:avLst/>
          </a:prstGeom>
          <a:solidFill>
            <a:srgbClr val="3366FF"/>
          </a:solidFill>
          <a:ln w="19050">
            <a:noFill/>
            <a:miter lim="800000"/>
            <a:headEnd/>
            <a:tailEnd/>
          </a:ln>
        </p:spPr>
        <p:txBody>
          <a:bodyPr wrap="none"/>
          <a:lstStyle/>
          <a:p>
            <a:pPr algn="ctr"/>
            <a:endParaRPr lang="en-US" sz="1000" b="1">
              <a:latin typeface="Verdana" pitchFamily="34" charset="0"/>
            </a:endParaRPr>
          </a:p>
        </p:txBody>
      </p:sp>
      <p:sp>
        <p:nvSpPr>
          <p:cNvPr id="6" name="Rectangle 4"/>
          <p:cNvSpPr>
            <a:spLocks noChangeArrowheads="1"/>
          </p:cNvSpPr>
          <p:nvPr/>
        </p:nvSpPr>
        <p:spPr bwMode="auto">
          <a:xfrm>
            <a:off x="2093546" y="1566383"/>
            <a:ext cx="8070850" cy="4464050"/>
          </a:xfrm>
          <a:prstGeom prst="rect">
            <a:avLst/>
          </a:prstGeom>
          <a:solidFill>
            <a:srgbClr val="CCECFF"/>
          </a:solidFill>
          <a:ln w="19050">
            <a:noFill/>
            <a:miter lim="800000"/>
            <a:headEnd/>
            <a:tailEnd/>
          </a:ln>
          <a:effectLst>
            <a:outerShdw dist="35921" dir="2700000" algn="ctr" rotWithShape="0">
              <a:schemeClr val="bg2"/>
            </a:outerShdw>
          </a:effectLst>
        </p:spPr>
        <p:txBody>
          <a:bodyPr wrap="none"/>
          <a:lstStyle/>
          <a:p>
            <a:pPr algn="ctr">
              <a:defRPr/>
            </a:pPr>
            <a:r>
              <a:rPr lang="en-US" sz="1100" b="1">
                <a:solidFill>
                  <a:srgbClr val="3333CC"/>
                </a:solidFill>
                <a:latin typeface="Verdana" pitchFamily="34" charset="0"/>
              </a:rPr>
              <a:t>Application Foundation</a:t>
            </a:r>
          </a:p>
        </p:txBody>
      </p:sp>
      <p:sp>
        <p:nvSpPr>
          <p:cNvPr id="7" name="Rectangle 6"/>
          <p:cNvSpPr>
            <a:spLocks noChangeArrowheads="1"/>
          </p:cNvSpPr>
          <p:nvPr/>
        </p:nvSpPr>
        <p:spPr bwMode="auto">
          <a:xfrm>
            <a:off x="2241184" y="1926746"/>
            <a:ext cx="3817937" cy="649287"/>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Integration</a:t>
            </a:r>
          </a:p>
        </p:txBody>
      </p:sp>
      <p:sp>
        <p:nvSpPr>
          <p:cNvPr id="8" name="Rectangle 7"/>
          <p:cNvSpPr>
            <a:spLocks noChangeArrowheads="1"/>
          </p:cNvSpPr>
          <p:nvPr/>
        </p:nvSpPr>
        <p:spPr bwMode="auto">
          <a:xfrm>
            <a:off x="6130559" y="1926746"/>
            <a:ext cx="3887787" cy="2089150"/>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Security</a:t>
            </a:r>
          </a:p>
        </p:txBody>
      </p:sp>
      <p:sp>
        <p:nvSpPr>
          <p:cNvPr id="9" name="Rectangle 8"/>
          <p:cNvSpPr>
            <a:spLocks noChangeArrowheads="1"/>
          </p:cNvSpPr>
          <p:nvPr/>
        </p:nvSpPr>
        <p:spPr bwMode="auto">
          <a:xfrm>
            <a:off x="2530109" y="2287108"/>
            <a:ext cx="136842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Enterprise Service Bus</a:t>
            </a:r>
          </a:p>
        </p:txBody>
      </p:sp>
      <p:sp>
        <p:nvSpPr>
          <p:cNvPr id="10" name="Rectangle 9"/>
          <p:cNvSpPr>
            <a:spLocks noChangeArrowheads="1"/>
          </p:cNvSpPr>
          <p:nvPr/>
        </p:nvSpPr>
        <p:spPr bwMode="auto">
          <a:xfrm>
            <a:off x="3969971" y="2287108"/>
            <a:ext cx="1368425"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Adapters</a:t>
            </a:r>
          </a:p>
        </p:txBody>
      </p:sp>
      <p:sp>
        <p:nvSpPr>
          <p:cNvPr id="11" name="Rectangle 10"/>
          <p:cNvSpPr>
            <a:spLocks noChangeArrowheads="1"/>
          </p:cNvSpPr>
          <p:nvPr/>
        </p:nvSpPr>
        <p:spPr bwMode="auto">
          <a:xfrm>
            <a:off x="6275021" y="2287108"/>
            <a:ext cx="3455988" cy="1444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Enterprise Access Management (incl. Single Sign On)</a:t>
            </a:r>
          </a:p>
        </p:txBody>
      </p:sp>
      <p:sp>
        <p:nvSpPr>
          <p:cNvPr id="12" name="Rectangle 11"/>
          <p:cNvSpPr>
            <a:spLocks noChangeArrowheads="1"/>
          </p:cNvSpPr>
          <p:nvPr/>
        </p:nvSpPr>
        <p:spPr bwMode="auto">
          <a:xfrm>
            <a:off x="6492509" y="2503008"/>
            <a:ext cx="2951162" cy="433388"/>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lstStyle/>
          <a:p>
            <a:pPr algn="ctr">
              <a:defRPr/>
            </a:pPr>
            <a:r>
              <a:rPr lang="en-US" sz="700" b="1">
                <a:latin typeface="Verdana" pitchFamily="34" charset="0"/>
              </a:rPr>
              <a:t>Virtual Directory</a:t>
            </a:r>
          </a:p>
        </p:txBody>
      </p:sp>
      <p:sp>
        <p:nvSpPr>
          <p:cNvPr id="13" name="Rectangle 12"/>
          <p:cNvSpPr>
            <a:spLocks noChangeArrowheads="1"/>
          </p:cNvSpPr>
          <p:nvPr/>
        </p:nvSpPr>
        <p:spPr bwMode="auto">
          <a:xfrm>
            <a:off x="6563946" y="2718908"/>
            <a:ext cx="1368425" cy="144463"/>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Active Directory (Internal)</a:t>
            </a:r>
          </a:p>
        </p:txBody>
      </p:sp>
      <p:sp>
        <p:nvSpPr>
          <p:cNvPr id="14" name="Rectangle 13"/>
          <p:cNvSpPr>
            <a:spLocks noChangeArrowheads="1"/>
          </p:cNvSpPr>
          <p:nvPr/>
        </p:nvSpPr>
        <p:spPr bwMode="auto">
          <a:xfrm>
            <a:off x="8003809" y="2718908"/>
            <a:ext cx="1368425" cy="144463"/>
          </a:xfrm>
          <a:prstGeom prst="rect">
            <a:avLst/>
          </a:prstGeom>
          <a:solidFill>
            <a:srgbClr val="CCE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Active Directory (External)</a:t>
            </a:r>
          </a:p>
        </p:txBody>
      </p:sp>
      <p:sp>
        <p:nvSpPr>
          <p:cNvPr id="15" name="Rectangle 14"/>
          <p:cNvSpPr>
            <a:spLocks noChangeArrowheads="1"/>
          </p:cNvSpPr>
          <p:nvPr/>
        </p:nvSpPr>
        <p:spPr bwMode="auto">
          <a:xfrm>
            <a:off x="6275021" y="3799996"/>
            <a:ext cx="3455988"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Enterprise Identity Management</a:t>
            </a:r>
          </a:p>
        </p:txBody>
      </p:sp>
      <p:sp>
        <p:nvSpPr>
          <p:cNvPr id="16" name="Rectangle 15"/>
          <p:cNvSpPr>
            <a:spLocks noChangeArrowheads="1"/>
          </p:cNvSpPr>
          <p:nvPr/>
        </p:nvSpPr>
        <p:spPr bwMode="auto">
          <a:xfrm>
            <a:off x="6562359" y="3584096"/>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Connector (AD)</a:t>
            </a:r>
          </a:p>
        </p:txBody>
      </p:sp>
      <p:sp>
        <p:nvSpPr>
          <p:cNvPr id="17" name="Rectangle 16"/>
          <p:cNvSpPr>
            <a:spLocks noChangeArrowheads="1"/>
          </p:cNvSpPr>
          <p:nvPr/>
        </p:nvSpPr>
        <p:spPr bwMode="auto">
          <a:xfrm>
            <a:off x="8002221" y="3584096"/>
            <a:ext cx="1368425" cy="14446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Connector (OA eBiz)</a:t>
            </a:r>
          </a:p>
        </p:txBody>
      </p:sp>
      <p:sp>
        <p:nvSpPr>
          <p:cNvPr id="18" name="Rectangle 17"/>
          <p:cNvSpPr>
            <a:spLocks noChangeArrowheads="1"/>
          </p:cNvSpPr>
          <p:nvPr/>
        </p:nvSpPr>
        <p:spPr bwMode="auto">
          <a:xfrm>
            <a:off x="6562359" y="3007833"/>
            <a:ext cx="2808287" cy="504825"/>
          </a:xfrm>
          <a:prstGeom prst="rect">
            <a:avLst/>
          </a:prstGeom>
          <a:noFill/>
          <a:ln w="9525">
            <a:solidFill>
              <a:schemeClr val="tx1"/>
            </a:solidFill>
            <a:prstDash val="dash"/>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Applications</a:t>
            </a: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Oracle Confidential – Internal/Restricted/Highly Restricted</a:t>
            </a:r>
            <a:endParaRPr lang="en-US" dirty="0"/>
          </a:p>
        </p:txBody>
      </p:sp>
      <p:sp>
        <p:nvSpPr>
          <p:cNvPr id="3" name="Slide Number Placeholder 2"/>
          <p:cNvSpPr>
            <a:spLocks noGrp="1"/>
          </p:cNvSpPr>
          <p:nvPr>
            <p:ph type="sldNum" sz="quarter" idx="12"/>
          </p:nvPr>
        </p:nvSpPr>
        <p:spPr/>
        <p:txBody>
          <a:bodyPr/>
          <a:lstStyle/>
          <a:p>
            <a:fld id="{C51EAA63-D034-42AE-91FA-B13B9518C7BE}" type="slidenum">
              <a:rPr lang="en-US" smtClean="0"/>
              <a:pPr/>
              <a:t>8</a:t>
            </a:fld>
            <a:endParaRPr lang="en-US" dirty="0"/>
          </a:p>
        </p:txBody>
      </p:sp>
      <p:sp>
        <p:nvSpPr>
          <p:cNvPr id="4" name="Rectangle 11"/>
          <p:cNvSpPr>
            <a:spLocks noChangeArrowheads="1"/>
          </p:cNvSpPr>
          <p:nvPr/>
        </p:nvSpPr>
        <p:spPr bwMode="auto">
          <a:xfrm>
            <a:off x="4924887" y="2233961"/>
            <a:ext cx="3097212" cy="2592388"/>
          </a:xfrm>
          <a:prstGeom prst="rect">
            <a:avLst/>
          </a:prstGeom>
          <a:solidFill>
            <a:srgbClr val="DDDDDD"/>
          </a:solidFill>
          <a:ln w="9525">
            <a:noFill/>
            <a:miter lim="800000"/>
            <a:headEnd/>
            <a:tailEnd/>
          </a:ln>
          <a:effectLst>
            <a:outerShdw dist="35921" dir="2700000" algn="ctr" rotWithShape="0">
              <a:schemeClr val="bg2"/>
            </a:outerShdw>
          </a:effectLst>
        </p:spPr>
        <p:txBody>
          <a:bodyPr wrap="none"/>
          <a:lstStyle/>
          <a:p>
            <a:pPr algn="ctr">
              <a:defRPr/>
            </a:pPr>
            <a:r>
              <a:rPr lang="en-US" sz="900" b="1">
                <a:latin typeface="Verdana" pitchFamily="34" charset="0"/>
              </a:rPr>
              <a:t>ERP 2010</a:t>
            </a:r>
          </a:p>
        </p:txBody>
      </p:sp>
      <p:sp>
        <p:nvSpPr>
          <p:cNvPr id="5" name="Rectangle 12"/>
          <p:cNvSpPr>
            <a:spLocks noChangeArrowheads="1"/>
          </p:cNvSpPr>
          <p:nvPr/>
        </p:nvSpPr>
        <p:spPr bwMode="auto">
          <a:xfrm>
            <a:off x="5069349" y="41786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Finance</a:t>
            </a:r>
          </a:p>
        </p:txBody>
      </p:sp>
      <p:sp>
        <p:nvSpPr>
          <p:cNvPr id="6" name="Rectangle 13"/>
          <p:cNvSpPr>
            <a:spLocks noChangeArrowheads="1"/>
          </p:cNvSpPr>
          <p:nvPr/>
        </p:nvSpPr>
        <p:spPr bwMode="auto">
          <a:xfrm>
            <a:off x="5069349" y="43945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HR</a:t>
            </a:r>
          </a:p>
        </p:txBody>
      </p:sp>
      <p:sp>
        <p:nvSpPr>
          <p:cNvPr id="7" name="Rectangle 14"/>
          <p:cNvSpPr>
            <a:spLocks noChangeArrowheads="1"/>
          </p:cNvSpPr>
          <p:nvPr/>
        </p:nvSpPr>
        <p:spPr bwMode="auto">
          <a:xfrm>
            <a:off x="6509212" y="3746849"/>
            <a:ext cx="1368425" cy="146050"/>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Procurement</a:t>
            </a:r>
          </a:p>
        </p:txBody>
      </p:sp>
      <p:sp>
        <p:nvSpPr>
          <p:cNvPr id="8" name="Rectangle 15"/>
          <p:cNvSpPr>
            <a:spLocks noChangeArrowheads="1"/>
          </p:cNvSpPr>
          <p:nvPr/>
        </p:nvSpPr>
        <p:spPr bwMode="auto">
          <a:xfrm>
            <a:off x="6509212" y="35309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Manufacturing</a:t>
            </a:r>
          </a:p>
        </p:txBody>
      </p:sp>
      <p:sp>
        <p:nvSpPr>
          <p:cNvPr id="9" name="Rectangle 16"/>
          <p:cNvSpPr>
            <a:spLocks noChangeArrowheads="1"/>
          </p:cNvSpPr>
          <p:nvPr/>
        </p:nvSpPr>
        <p:spPr bwMode="auto">
          <a:xfrm>
            <a:off x="6509212" y="2880074"/>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Order Management</a:t>
            </a:r>
          </a:p>
        </p:txBody>
      </p:sp>
      <p:sp>
        <p:nvSpPr>
          <p:cNvPr id="10" name="Rectangle 17"/>
          <p:cNvSpPr>
            <a:spLocks noChangeArrowheads="1"/>
          </p:cNvSpPr>
          <p:nvPr/>
        </p:nvSpPr>
        <p:spPr bwMode="auto">
          <a:xfrm>
            <a:off x="6509212" y="2665761"/>
            <a:ext cx="1368425" cy="144463"/>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Shipping</a:t>
            </a:r>
          </a:p>
        </p:txBody>
      </p:sp>
      <p:sp>
        <p:nvSpPr>
          <p:cNvPr id="11" name="Rectangle 18"/>
          <p:cNvSpPr>
            <a:spLocks noChangeArrowheads="1"/>
          </p:cNvSpPr>
          <p:nvPr/>
        </p:nvSpPr>
        <p:spPr bwMode="auto">
          <a:xfrm>
            <a:off x="6509212" y="3097561"/>
            <a:ext cx="1368425" cy="144463"/>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Inventory &amp; Warehousing</a:t>
            </a:r>
          </a:p>
        </p:txBody>
      </p:sp>
      <p:sp>
        <p:nvSpPr>
          <p:cNvPr id="12" name="Rectangle 19"/>
          <p:cNvSpPr>
            <a:spLocks noChangeArrowheads="1"/>
          </p:cNvSpPr>
          <p:nvPr/>
        </p:nvSpPr>
        <p:spPr bwMode="auto">
          <a:xfrm>
            <a:off x="5069349" y="37468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Contracts</a:t>
            </a:r>
          </a:p>
        </p:txBody>
      </p:sp>
      <p:sp>
        <p:nvSpPr>
          <p:cNvPr id="13" name="Rectangle 20"/>
          <p:cNvSpPr>
            <a:spLocks noChangeArrowheads="1"/>
          </p:cNvSpPr>
          <p:nvPr/>
        </p:nvSpPr>
        <p:spPr bwMode="auto">
          <a:xfrm>
            <a:off x="6509212" y="33150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Quality (Delivery)</a:t>
            </a:r>
          </a:p>
        </p:txBody>
      </p:sp>
      <p:sp>
        <p:nvSpPr>
          <p:cNvPr id="14" name="Rectangle 21"/>
          <p:cNvSpPr>
            <a:spLocks noChangeArrowheads="1"/>
          </p:cNvSpPr>
          <p:nvPr/>
        </p:nvSpPr>
        <p:spPr bwMode="auto">
          <a:xfrm>
            <a:off x="5069349" y="4610449"/>
            <a:ext cx="2808288" cy="142875"/>
          </a:xfrm>
          <a:prstGeom prst="rect">
            <a:avLst/>
          </a:prstGeom>
          <a:solidFill>
            <a:schemeClr val="bg2"/>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solidFill>
                  <a:schemeClr val="bg1"/>
                </a:solidFill>
                <a:latin typeface="Verdana" pitchFamily="34" charset="0"/>
              </a:rPr>
              <a:t>Content (</a:t>
            </a:r>
            <a:r>
              <a:rPr lang="en-US" sz="700" i="1">
                <a:solidFill>
                  <a:schemeClr val="bg1"/>
                </a:solidFill>
                <a:latin typeface="Verdana" pitchFamily="34" charset="0"/>
              </a:rPr>
              <a:t>Legal Transactional Documents</a:t>
            </a:r>
            <a:r>
              <a:rPr lang="en-US" sz="700" b="1">
                <a:solidFill>
                  <a:schemeClr val="bg1"/>
                </a:solidFill>
                <a:latin typeface="Verdana" pitchFamily="34" charset="0"/>
              </a:rPr>
              <a:t>)</a:t>
            </a:r>
          </a:p>
        </p:txBody>
      </p:sp>
      <p:sp>
        <p:nvSpPr>
          <p:cNvPr id="15" name="Rectangle 22"/>
          <p:cNvSpPr>
            <a:spLocks noChangeArrowheads="1"/>
          </p:cNvSpPr>
          <p:nvPr/>
        </p:nvSpPr>
        <p:spPr bwMode="auto">
          <a:xfrm>
            <a:off x="5069349" y="30991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Accounting</a:t>
            </a:r>
          </a:p>
        </p:txBody>
      </p:sp>
      <p:sp>
        <p:nvSpPr>
          <p:cNvPr id="16" name="Rectangle 23"/>
          <p:cNvSpPr>
            <a:spLocks noChangeArrowheads="1"/>
          </p:cNvSpPr>
          <p:nvPr/>
        </p:nvSpPr>
        <p:spPr bwMode="auto">
          <a:xfrm>
            <a:off x="6509212" y="3961161"/>
            <a:ext cx="1368425" cy="144463"/>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Supply Chain Management</a:t>
            </a:r>
          </a:p>
        </p:txBody>
      </p:sp>
      <p:sp>
        <p:nvSpPr>
          <p:cNvPr id="17" name="Rectangle 24"/>
          <p:cNvSpPr>
            <a:spLocks noChangeArrowheads="1"/>
          </p:cNvSpPr>
          <p:nvPr/>
        </p:nvSpPr>
        <p:spPr bwMode="auto">
          <a:xfrm>
            <a:off x="6509212" y="41786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Consolidation</a:t>
            </a:r>
          </a:p>
        </p:txBody>
      </p:sp>
      <p:sp>
        <p:nvSpPr>
          <p:cNvPr id="18" name="Rectangle 25"/>
          <p:cNvSpPr>
            <a:spLocks noChangeArrowheads="1"/>
          </p:cNvSpPr>
          <p:nvPr/>
        </p:nvSpPr>
        <p:spPr bwMode="auto">
          <a:xfrm>
            <a:off x="6509212" y="43945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Time &amp; Expenses</a:t>
            </a:r>
          </a:p>
        </p:txBody>
      </p:sp>
      <p:sp>
        <p:nvSpPr>
          <p:cNvPr id="19" name="Rectangle 26"/>
          <p:cNvSpPr>
            <a:spLocks noChangeArrowheads="1"/>
          </p:cNvSpPr>
          <p:nvPr/>
        </p:nvSpPr>
        <p:spPr bwMode="auto">
          <a:xfrm>
            <a:off x="6509212" y="2449861"/>
            <a:ext cx="1368425" cy="144463"/>
          </a:xfrm>
          <a:prstGeom prst="rect">
            <a:avLst/>
          </a:prstGeom>
          <a:solidFill>
            <a:schemeClr val="bg1"/>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Transportation Mngt.*)</a:t>
            </a:r>
          </a:p>
        </p:txBody>
      </p:sp>
      <p:sp>
        <p:nvSpPr>
          <p:cNvPr id="20" name="Rectangle 27"/>
          <p:cNvSpPr>
            <a:spLocks noChangeArrowheads="1"/>
          </p:cNvSpPr>
          <p:nvPr/>
        </p:nvSpPr>
        <p:spPr bwMode="auto">
          <a:xfrm>
            <a:off x="5069349" y="2449861"/>
            <a:ext cx="1368425" cy="144463"/>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eCommerce/Collaboration</a:t>
            </a:r>
          </a:p>
        </p:txBody>
      </p:sp>
      <p:sp>
        <p:nvSpPr>
          <p:cNvPr id="21" name="Rectangle 28"/>
          <p:cNvSpPr>
            <a:spLocks noChangeArrowheads="1"/>
          </p:cNvSpPr>
          <p:nvPr/>
        </p:nvSpPr>
        <p:spPr bwMode="auto">
          <a:xfrm>
            <a:off x="5069349" y="39627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Proposal</a:t>
            </a:r>
          </a:p>
        </p:txBody>
      </p:sp>
      <p:sp>
        <p:nvSpPr>
          <p:cNvPr id="22" name="Rectangle 29"/>
          <p:cNvSpPr>
            <a:spLocks noChangeArrowheads="1"/>
          </p:cNvSpPr>
          <p:nvPr/>
        </p:nvSpPr>
        <p:spPr bwMode="auto">
          <a:xfrm>
            <a:off x="5069349" y="3530949"/>
            <a:ext cx="1368425" cy="144462"/>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Management</a:t>
            </a:r>
          </a:p>
        </p:txBody>
      </p:sp>
      <p:sp>
        <p:nvSpPr>
          <p:cNvPr id="23" name="Rectangle 30"/>
          <p:cNvSpPr>
            <a:spLocks noChangeArrowheads="1"/>
          </p:cNvSpPr>
          <p:nvPr/>
        </p:nvSpPr>
        <p:spPr bwMode="auto">
          <a:xfrm>
            <a:off x="5069349" y="2667349"/>
            <a:ext cx="719138" cy="142875"/>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Product Data</a:t>
            </a:r>
          </a:p>
        </p:txBody>
      </p:sp>
      <p:sp>
        <p:nvSpPr>
          <p:cNvPr id="24" name="Rectangle 31"/>
          <p:cNvSpPr>
            <a:spLocks noChangeArrowheads="1"/>
          </p:cNvSpPr>
          <p:nvPr/>
        </p:nvSpPr>
        <p:spPr bwMode="auto">
          <a:xfrm>
            <a:off x="5069349" y="2883249"/>
            <a:ext cx="719138" cy="142875"/>
          </a:xfrm>
          <a:prstGeom prst="rect">
            <a:avLst/>
          </a:prstGeom>
          <a:solidFill>
            <a:srgbClr val="CC00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Parts lists</a:t>
            </a:r>
          </a:p>
        </p:txBody>
      </p:sp>
      <p:sp>
        <p:nvSpPr>
          <p:cNvPr id="25" name="Rectangle 32"/>
          <p:cNvSpPr>
            <a:spLocks noChangeArrowheads="1"/>
          </p:cNvSpPr>
          <p:nvPr/>
        </p:nvSpPr>
        <p:spPr bwMode="auto">
          <a:xfrm>
            <a:off x="5069349" y="3315049"/>
            <a:ext cx="576263" cy="144462"/>
          </a:xfrm>
          <a:prstGeom prst="rect">
            <a:avLst/>
          </a:prstGeom>
          <a:solidFill>
            <a:srgbClr val="669900"/>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 Plan</a:t>
            </a:r>
          </a:p>
        </p:txBody>
      </p:sp>
      <p:sp>
        <p:nvSpPr>
          <p:cNvPr id="26" name="Rectangle 35"/>
          <p:cNvSpPr>
            <a:spLocks noChangeArrowheads="1"/>
          </p:cNvSpPr>
          <p:nvPr/>
        </p:nvSpPr>
        <p:spPr bwMode="auto">
          <a:xfrm>
            <a:off x="5069349" y="5115274"/>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Documentum 3)</a:t>
            </a:r>
          </a:p>
        </p:txBody>
      </p:sp>
      <p:sp>
        <p:nvSpPr>
          <p:cNvPr id="27" name="Rectangle 36"/>
          <p:cNvSpPr>
            <a:spLocks noChangeArrowheads="1"/>
          </p:cNvSpPr>
          <p:nvPr/>
        </p:nvSpPr>
        <p:spPr bwMode="auto">
          <a:xfrm>
            <a:off x="3053224" y="497081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HR Core</a:t>
            </a:r>
          </a:p>
        </p:txBody>
      </p:sp>
      <p:sp>
        <p:nvSpPr>
          <p:cNvPr id="28" name="Rectangle 37"/>
          <p:cNvSpPr>
            <a:spLocks noChangeArrowheads="1"/>
          </p:cNvSpPr>
          <p:nvPr/>
        </p:nvSpPr>
        <p:spPr bwMode="auto">
          <a:xfrm>
            <a:off x="3053224" y="518671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HR Self Service</a:t>
            </a:r>
          </a:p>
        </p:txBody>
      </p:sp>
      <p:sp>
        <p:nvSpPr>
          <p:cNvPr id="29" name="Rectangle 38"/>
          <p:cNvSpPr>
            <a:spLocks noChangeArrowheads="1"/>
          </p:cNvSpPr>
          <p:nvPr/>
        </p:nvSpPr>
        <p:spPr bwMode="auto">
          <a:xfrm>
            <a:off x="8742824" y="482634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Time &amp; Labor</a:t>
            </a:r>
          </a:p>
        </p:txBody>
      </p:sp>
      <p:sp>
        <p:nvSpPr>
          <p:cNvPr id="30" name="Rectangle 39"/>
          <p:cNvSpPr>
            <a:spLocks noChangeArrowheads="1"/>
          </p:cNvSpPr>
          <p:nvPr/>
        </p:nvSpPr>
        <p:spPr bwMode="auto">
          <a:xfrm>
            <a:off x="3053224" y="540261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Appraisals</a:t>
            </a:r>
          </a:p>
        </p:txBody>
      </p:sp>
      <p:sp>
        <p:nvSpPr>
          <p:cNvPr id="31" name="Rectangle 40"/>
          <p:cNvSpPr>
            <a:spLocks noChangeArrowheads="1"/>
          </p:cNvSpPr>
          <p:nvPr/>
        </p:nvSpPr>
        <p:spPr bwMode="auto">
          <a:xfrm>
            <a:off x="3053224" y="561851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iRecruitment</a:t>
            </a:r>
          </a:p>
        </p:txBody>
      </p:sp>
      <p:sp>
        <p:nvSpPr>
          <p:cNvPr id="32" name="Rectangle 41"/>
          <p:cNvSpPr>
            <a:spLocks noChangeArrowheads="1"/>
          </p:cNvSpPr>
          <p:nvPr/>
        </p:nvSpPr>
        <p:spPr bwMode="auto">
          <a:xfrm>
            <a:off x="3053224" y="583441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eLearning</a:t>
            </a:r>
          </a:p>
        </p:txBody>
      </p:sp>
      <p:sp>
        <p:nvSpPr>
          <p:cNvPr id="33" name="Rectangle 42"/>
          <p:cNvSpPr>
            <a:spLocks noChangeArrowheads="1"/>
          </p:cNvSpPr>
          <p:nvPr/>
        </p:nvSpPr>
        <p:spPr bwMode="auto">
          <a:xfrm>
            <a:off x="3053224" y="605031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Training Administration</a:t>
            </a:r>
          </a:p>
        </p:txBody>
      </p:sp>
      <p:sp>
        <p:nvSpPr>
          <p:cNvPr id="34" name="Rectangle 43"/>
          <p:cNvSpPr>
            <a:spLocks noChangeArrowheads="1"/>
          </p:cNvSpPr>
          <p:nvPr/>
        </p:nvSpPr>
        <p:spPr bwMode="auto">
          <a:xfrm>
            <a:off x="9246062" y="353094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Procurement</a:t>
            </a:r>
          </a:p>
        </p:txBody>
      </p:sp>
      <p:sp>
        <p:nvSpPr>
          <p:cNvPr id="35" name="Rectangle 44"/>
          <p:cNvSpPr>
            <a:spLocks noChangeArrowheads="1"/>
          </p:cNvSpPr>
          <p:nvPr/>
        </p:nvSpPr>
        <p:spPr bwMode="auto">
          <a:xfrm>
            <a:off x="5069349" y="158626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iSupplier Portal</a:t>
            </a:r>
          </a:p>
        </p:txBody>
      </p:sp>
      <p:sp>
        <p:nvSpPr>
          <p:cNvPr id="36" name="Rectangle 45"/>
          <p:cNvSpPr>
            <a:spLocks noChangeArrowheads="1"/>
          </p:cNvSpPr>
          <p:nvPr/>
        </p:nvSpPr>
        <p:spPr bwMode="auto">
          <a:xfrm>
            <a:off x="9246062" y="374684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Sourcing</a:t>
            </a:r>
          </a:p>
        </p:txBody>
      </p:sp>
      <p:sp>
        <p:nvSpPr>
          <p:cNvPr id="37" name="Rectangle 46"/>
          <p:cNvSpPr>
            <a:spLocks noChangeArrowheads="1"/>
          </p:cNvSpPr>
          <p:nvPr/>
        </p:nvSpPr>
        <p:spPr bwMode="auto">
          <a:xfrm>
            <a:off x="9246062" y="396274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Procurement Contracts</a:t>
            </a:r>
          </a:p>
        </p:txBody>
      </p:sp>
      <p:sp>
        <p:nvSpPr>
          <p:cNvPr id="38" name="Rectangle 47"/>
          <p:cNvSpPr>
            <a:spLocks noChangeArrowheads="1"/>
          </p:cNvSpPr>
          <p:nvPr/>
        </p:nvSpPr>
        <p:spPr bwMode="auto">
          <a:xfrm>
            <a:off x="8885699" y="453901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Hyperion</a:t>
            </a:r>
          </a:p>
        </p:txBody>
      </p:sp>
      <p:sp>
        <p:nvSpPr>
          <p:cNvPr id="39" name="Rectangle 48"/>
          <p:cNvSpPr>
            <a:spLocks noChangeArrowheads="1"/>
          </p:cNvSpPr>
          <p:nvPr/>
        </p:nvSpPr>
        <p:spPr bwMode="auto">
          <a:xfrm>
            <a:off x="1973724" y="3818286"/>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General Ledger</a:t>
            </a:r>
          </a:p>
        </p:txBody>
      </p:sp>
      <p:sp>
        <p:nvSpPr>
          <p:cNvPr id="40" name="Rectangle 49"/>
          <p:cNvSpPr>
            <a:spLocks noChangeArrowheads="1"/>
          </p:cNvSpPr>
          <p:nvPr/>
        </p:nvSpPr>
        <p:spPr bwMode="auto">
          <a:xfrm>
            <a:off x="1973724" y="4034186"/>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Account Payables</a:t>
            </a:r>
          </a:p>
        </p:txBody>
      </p:sp>
      <p:sp>
        <p:nvSpPr>
          <p:cNvPr id="41" name="Rectangle 50"/>
          <p:cNvSpPr>
            <a:spLocks noChangeArrowheads="1"/>
          </p:cNvSpPr>
          <p:nvPr/>
        </p:nvSpPr>
        <p:spPr bwMode="auto">
          <a:xfrm>
            <a:off x="1973724" y="4250086"/>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Account Receivables</a:t>
            </a:r>
          </a:p>
        </p:txBody>
      </p:sp>
      <p:sp>
        <p:nvSpPr>
          <p:cNvPr id="42" name="Rectangle 51"/>
          <p:cNvSpPr>
            <a:spLocks noChangeArrowheads="1"/>
          </p:cNvSpPr>
          <p:nvPr/>
        </p:nvSpPr>
        <p:spPr bwMode="auto">
          <a:xfrm>
            <a:off x="1973724" y="4465986"/>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Fixed Assets</a:t>
            </a:r>
          </a:p>
        </p:txBody>
      </p:sp>
      <p:sp>
        <p:nvSpPr>
          <p:cNvPr id="43" name="Rectangle 52"/>
          <p:cNvSpPr>
            <a:spLocks noChangeArrowheads="1"/>
          </p:cNvSpPr>
          <p:nvPr/>
        </p:nvSpPr>
        <p:spPr bwMode="auto">
          <a:xfrm>
            <a:off x="8742824" y="504224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iExpenses</a:t>
            </a:r>
          </a:p>
        </p:txBody>
      </p:sp>
      <p:sp>
        <p:nvSpPr>
          <p:cNvPr id="44" name="Rectangle 53"/>
          <p:cNvSpPr>
            <a:spLocks noChangeArrowheads="1"/>
          </p:cNvSpPr>
          <p:nvPr/>
        </p:nvSpPr>
        <p:spPr bwMode="auto">
          <a:xfrm>
            <a:off x="1973724" y="4681886"/>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Localizations 2)</a:t>
            </a:r>
          </a:p>
        </p:txBody>
      </p:sp>
      <p:sp>
        <p:nvSpPr>
          <p:cNvPr id="45" name="Rectangle 54"/>
          <p:cNvSpPr>
            <a:spLocks noChangeArrowheads="1"/>
          </p:cNvSpPr>
          <p:nvPr/>
        </p:nvSpPr>
        <p:spPr bwMode="auto">
          <a:xfrm>
            <a:off x="8453899" y="1875186"/>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Shipping</a:t>
            </a:r>
          </a:p>
        </p:txBody>
      </p:sp>
      <p:sp>
        <p:nvSpPr>
          <p:cNvPr id="46" name="Rectangle 55"/>
          <p:cNvSpPr>
            <a:spLocks noChangeArrowheads="1"/>
          </p:cNvSpPr>
          <p:nvPr/>
        </p:nvSpPr>
        <p:spPr bwMode="auto">
          <a:xfrm>
            <a:off x="8598362" y="2162524"/>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Order Management</a:t>
            </a:r>
          </a:p>
        </p:txBody>
      </p:sp>
      <p:sp>
        <p:nvSpPr>
          <p:cNvPr id="47" name="Rectangle 56"/>
          <p:cNvSpPr>
            <a:spLocks noChangeArrowheads="1"/>
          </p:cNvSpPr>
          <p:nvPr/>
        </p:nvSpPr>
        <p:spPr bwMode="auto">
          <a:xfrm>
            <a:off x="8742824" y="245144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Inventory</a:t>
            </a:r>
          </a:p>
        </p:txBody>
      </p:sp>
      <p:sp>
        <p:nvSpPr>
          <p:cNvPr id="48" name="Rectangle 57"/>
          <p:cNvSpPr>
            <a:spLocks noChangeArrowheads="1"/>
          </p:cNvSpPr>
          <p:nvPr/>
        </p:nvSpPr>
        <p:spPr bwMode="auto">
          <a:xfrm>
            <a:off x="8885699" y="2738786"/>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Quality</a:t>
            </a:r>
          </a:p>
        </p:txBody>
      </p:sp>
      <p:sp>
        <p:nvSpPr>
          <p:cNvPr id="49" name="Rectangle 58"/>
          <p:cNvSpPr>
            <a:spLocks noChangeArrowheads="1"/>
          </p:cNvSpPr>
          <p:nvPr/>
        </p:nvSpPr>
        <p:spPr bwMode="auto">
          <a:xfrm>
            <a:off x="2837324" y="259591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Costing</a:t>
            </a:r>
          </a:p>
        </p:txBody>
      </p:sp>
      <p:sp>
        <p:nvSpPr>
          <p:cNvPr id="50" name="Rectangle 59"/>
          <p:cNvSpPr>
            <a:spLocks noChangeArrowheads="1"/>
          </p:cNvSpPr>
          <p:nvPr/>
        </p:nvSpPr>
        <p:spPr bwMode="auto">
          <a:xfrm>
            <a:off x="2837324" y="2810224"/>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Billing</a:t>
            </a:r>
          </a:p>
        </p:txBody>
      </p:sp>
      <p:sp>
        <p:nvSpPr>
          <p:cNvPr id="51" name="Rectangle 60"/>
          <p:cNvSpPr>
            <a:spLocks noChangeArrowheads="1"/>
          </p:cNvSpPr>
          <p:nvPr/>
        </p:nvSpPr>
        <p:spPr bwMode="auto">
          <a:xfrm>
            <a:off x="2189624" y="353094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Management</a:t>
            </a:r>
          </a:p>
        </p:txBody>
      </p:sp>
      <p:sp>
        <p:nvSpPr>
          <p:cNvPr id="52" name="Rectangle 61"/>
          <p:cNvSpPr>
            <a:spLocks noChangeArrowheads="1"/>
          </p:cNvSpPr>
          <p:nvPr/>
        </p:nvSpPr>
        <p:spPr bwMode="auto">
          <a:xfrm>
            <a:off x="5069349" y="180216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Collaboration</a:t>
            </a:r>
          </a:p>
        </p:txBody>
      </p:sp>
      <p:sp>
        <p:nvSpPr>
          <p:cNvPr id="53" name="Rectangle 62"/>
          <p:cNvSpPr>
            <a:spLocks noChangeArrowheads="1"/>
          </p:cNvSpPr>
          <p:nvPr/>
        </p:nvSpPr>
        <p:spPr bwMode="auto">
          <a:xfrm>
            <a:off x="2403937" y="331346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Resource Mngt. 1)</a:t>
            </a:r>
          </a:p>
        </p:txBody>
      </p:sp>
      <p:sp>
        <p:nvSpPr>
          <p:cNvPr id="54" name="Rectangle 63"/>
          <p:cNvSpPr>
            <a:spLocks noChangeArrowheads="1"/>
          </p:cNvSpPr>
          <p:nvPr/>
        </p:nvSpPr>
        <p:spPr bwMode="auto">
          <a:xfrm>
            <a:off x="2621424" y="3097561"/>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MS Project</a:t>
            </a:r>
          </a:p>
        </p:txBody>
      </p:sp>
      <p:sp>
        <p:nvSpPr>
          <p:cNvPr id="55" name="Rectangle 64"/>
          <p:cNvSpPr>
            <a:spLocks noChangeArrowheads="1"/>
          </p:cNvSpPr>
          <p:nvPr/>
        </p:nvSpPr>
        <p:spPr bwMode="auto">
          <a:xfrm>
            <a:off x="3053224" y="208949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Item Master</a:t>
            </a:r>
          </a:p>
        </p:txBody>
      </p:sp>
      <p:sp>
        <p:nvSpPr>
          <p:cNvPr id="56" name="Rectangle 65"/>
          <p:cNvSpPr>
            <a:spLocks noChangeArrowheads="1"/>
          </p:cNvSpPr>
          <p:nvPr/>
        </p:nvSpPr>
        <p:spPr bwMode="auto">
          <a:xfrm>
            <a:off x="3053224" y="230539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Bill of Material</a:t>
            </a:r>
          </a:p>
        </p:txBody>
      </p:sp>
      <p:sp>
        <p:nvSpPr>
          <p:cNvPr id="57" name="Rectangle 66"/>
          <p:cNvSpPr>
            <a:spLocks noChangeArrowheads="1"/>
          </p:cNvSpPr>
          <p:nvPr/>
        </p:nvSpPr>
        <p:spPr bwMode="auto">
          <a:xfrm>
            <a:off x="9030162" y="4250086"/>
            <a:ext cx="1368425" cy="144463"/>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MRP</a:t>
            </a:r>
          </a:p>
        </p:txBody>
      </p:sp>
      <p:sp>
        <p:nvSpPr>
          <p:cNvPr id="58" name="Rectangle 67"/>
          <p:cNvSpPr>
            <a:spLocks noChangeArrowheads="1"/>
          </p:cNvSpPr>
          <p:nvPr/>
        </p:nvSpPr>
        <p:spPr bwMode="auto">
          <a:xfrm>
            <a:off x="9030162" y="302929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Discrete Manufacturing</a:t>
            </a:r>
          </a:p>
        </p:txBody>
      </p:sp>
      <p:cxnSp>
        <p:nvCxnSpPr>
          <p:cNvPr id="59" name="AutoShape 68"/>
          <p:cNvCxnSpPr>
            <a:cxnSpLocks noChangeShapeType="1"/>
            <a:stCxn id="14" idx="1"/>
            <a:endCxn id="26" idx="1"/>
          </p:cNvCxnSpPr>
          <p:nvPr/>
        </p:nvCxnSpPr>
        <p:spPr bwMode="auto">
          <a:xfrm rot="10800000" flipH="1" flipV="1">
            <a:off x="5069349" y="4681886"/>
            <a:ext cx="1588" cy="506413"/>
          </a:xfrm>
          <a:prstGeom prst="bentConnector3">
            <a:avLst>
              <a:gd name="adj1" fmla="val -14400005"/>
            </a:avLst>
          </a:prstGeom>
          <a:noFill/>
          <a:ln w="9525">
            <a:solidFill>
              <a:schemeClr val="bg2"/>
            </a:solidFill>
            <a:prstDash val="dash"/>
            <a:miter lim="800000"/>
            <a:headEnd/>
            <a:tailEnd/>
          </a:ln>
        </p:spPr>
      </p:cxnSp>
      <p:cxnSp>
        <p:nvCxnSpPr>
          <p:cNvPr id="60" name="AutoShape 69"/>
          <p:cNvCxnSpPr>
            <a:cxnSpLocks noChangeShapeType="1"/>
            <a:stCxn id="18" idx="3"/>
            <a:endCxn id="29" idx="1"/>
          </p:cNvCxnSpPr>
          <p:nvPr/>
        </p:nvCxnSpPr>
        <p:spPr bwMode="auto">
          <a:xfrm>
            <a:off x="7877637" y="4467574"/>
            <a:ext cx="865187" cy="431800"/>
          </a:xfrm>
          <a:prstGeom prst="bentConnector3">
            <a:avLst>
              <a:gd name="adj1" fmla="val 49907"/>
            </a:avLst>
          </a:prstGeom>
          <a:noFill/>
          <a:ln w="9525">
            <a:solidFill>
              <a:schemeClr val="bg2"/>
            </a:solidFill>
            <a:prstDash val="dash"/>
            <a:miter lim="800000"/>
            <a:headEnd/>
            <a:tailEnd/>
          </a:ln>
        </p:spPr>
      </p:cxnSp>
      <p:cxnSp>
        <p:nvCxnSpPr>
          <p:cNvPr id="61" name="AutoShape 70"/>
          <p:cNvCxnSpPr>
            <a:cxnSpLocks noChangeShapeType="1"/>
            <a:stCxn id="18" idx="3"/>
            <a:endCxn id="43" idx="1"/>
          </p:cNvCxnSpPr>
          <p:nvPr/>
        </p:nvCxnSpPr>
        <p:spPr bwMode="auto">
          <a:xfrm>
            <a:off x="7877637" y="4467574"/>
            <a:ext cx="865187" cy="647700"/>
          </a:xfrm>
          <a:prstGeom prst="bentConnector3">
            <a:avLst>
              <a:gd name="adj1" fmla="val 49907"/>
            </a:avLst>
          </a:prstGeom>
          <a:noFill/>
          <a:ln w="9525">
            <a:solidFill>
              <a:schemeClr val="bg2"/>
            </a:solidFill>
            <a:prstDash val="dash"/>
            <a:miter lim="800000"/>
            <a:headEnd/>
            <a:tailEnd/>
          </a:ln>
        </p:spPr>
      </p:cxnSp>
      <p:cxnSp>
        <p:nvCxnSpPr>
          <p:cNvPr id="62" name="AutoShape 71"/>
          <p:cNvCxnSpPr>
            <a:cxnSpLocks noChangeShapeType="1"/>
            <a:stCxn id="17" idx="3"/>
            <a:endCxn id="38" idx="1"/>
          </p:cNvCxnSpPr>
          <p:nvPr/>
        </p:nvCxnSpPr>
        <p:spPr bwMode="auto">
          <a:xfrm>
            <a:off x="7877637" y="4251674"/>
            <a:ext cx="1008062" cy="360362"/>
          </a:xfrm>
          <a:prstGeom prst="bentConnector3">
            <a:avLst>
              <a:gd name="adj1" fmla="val 49921"/>
            </a:avLst>
          </a:prstGeom>
          <a:noFill/>
          <a:ln w="9525">
            <a:solidFill>
              <a:schemeClr val="bg2"/>
            </a:solidFill>
            <a:prstDash val="dash"/>
            <a:miter lim="800000"/>
            <a:headEnd/>
            <a:tailEnd/>
          </a:ln>
        </p:spPr>
      </p:cxnSp>
      <p:cxnSp>
        <p:nvCxnSpPr>
          <p:cNvPr id="63" name="AutoShape 72"/>
          <p:cNvCxnSpPr>
            <a:cxnSpLocks noChangeShapeType="1"/>
            <a:stCxn id="7" idx="3"/>
            <a:endCxn id="36" idx="1"/>
          </p:cNvCxnSpPr>
          <p:nvPr/>
        </p:nvCxnSpPr>
        <p:spPr bwMode="auto">
          <a:xfrm>
            <a:off x="7877637" y="3819874"/>
            <a:ext cx="1368425" cy="0"/>
          </a:xfrm>
          <a:prstGeom prst="straightConnector1">
            <a:avLst/>
          </a:prstGeom>
          <a:noFill/>
          <a:ln w="9525">
            <a:solidFill>
              <a:schemeClr val="bg2"/>
            </a:solidFill>
            <a:prstDash val="dash"/>
            <a:round/>
            <a:headEnd/>
            <a:tailEnd/>
          </a:ln>
        </p:spPr>
      </p:cxnSp>
      <p:cxnSp>
        <p:nvCxnSpPr>
          <p:cNvPr id="64" name="AutoShape 73"/>
          <p:cNvCxnSpPr>
            <a:cxnSpLocks noChangeShapeType="1"/>
            <a:stCxn id="7" idx="3"/>
            <a:endCxn id="34" idx="1"/>
          </p:cNvCxnSpPr>
          <p:nvPr/>
        </p:nvCxnSpPr>
        <p:spPr bwMode="auto">
          <a:xfrm flipV="1">
            <a:off x="7877637" y="3603974"/>
            <a:ext cx="1368425" cy="215900"/>
          </a:xfrm>
          <a:prstGeom prst="bentConnector3">
            <a:avLst>
              <a:gd name="adj1" fmla="val 50000"/>
            </a:avLst>
          </a:prstGeom>
          <a:noFill/>
          <a:ln w="9525">
            <a:solidFill>
              <a:schemeClr val="bg2"/>
            </a:solidFill>
            <a:prstDash val="dash"/>
            <a:miter lim="800000"/>
            <a:headEnd/>
            <a:tailEnd/>
          </a:ln>
        </p:spPr>
      </p:cxnSp>
      <p:cxnSp>
        <p:nvCxnSpPr>
          <p:cNvPr id="65" name="AutoShape 74"/>
          <p:cNvCxnSpPr>
            <a:cxnSpLocks noChangeShapeType="1"/>
            <a:stCxn id="7" idx="3"/>
            <a:endCxn id="37" idx="1"/>
          </p:cNvCxnSpPr>
          <p:nvPr/>
        </p:nvCxnSpPr>
        <p:spPr bwMode="auto">
          <a:xfrm>
            <a:off x="7877637" y="3819874"/>
            <a:ext cx="1368425" cy="215900"/>
          </a:xfrm>
          <a:prstGeom prst="bentConnector3">
            <a:avLst>
              <a:gd name="adj1" fmla="val 50000"/>
            </a:avLst>
          </a:prstGeom>
          <a:noFill/>
          <a:ln w="9525">
            <a:solidFill>
              <a:schemeClr val="bg2"/>
            </a:solidFill>
            <a:prstDash val="dash"/>
            <a:miter lim="800000"/>
            <a:headEnd/>
            <a:tailEnd/>
          </a:ln>
        </p:spPr>
      </p:cxnSp>
      <p:cxnSp>
        <p:nvCxnSpPr>
          <p:cNvPr id="66" name="AutoShape 75"/>
          <p:cNvCxnSpPr>
            <a:cxnSpLocks noChangeShapeType="1"/>
            <a:stCxn id="16" idx="3"/>
            <a:endCxn id="57" idx="1"/>
          </p:cNvCxnSpPr>
          <p:nvPr/>
        </p:nvCxnSpPr>
        <p:spPr bwMode="auto">
          <a:xfrm>
            <a:off x="7877637" y="4034186"/>
            <a:ext cx="1152525" cy="288925"/>
          </a:xfrm>
          <a:prstGeom prst="bentConnector3">
            <a:avLst>
              <a:gd name="adj1" fmla="val 50000"/>
            </a:avLst>
          </a:prstGeom>
          <a:noFill/>
          <a:ln w="9525">
            <a:solidFill>
              <a:schemeClr val="bg2"/>
            </a:solidFill>
            <a:prstDash val="dash"/>
            <a:miter lim="800000"/>
            <a:headEnd/>
            <a:tailEnd/>
          </a:ln>
        </p:spPr>
      </p:cxnSp>
      <p:cxnSp>
        <p:nvCxnSpPr>
          <p:cNvPr id="67" name="AutoShape 76"/>
          <p:cNvCxnSpPr>
            <a:cxnSpLocks noChangeShapeType="1"/>
            <a:stCxn id="8" idx="3"/>
            <a:endCxn id="58" idx="1"/>
          </p:cNvCxnSpPr>
          <p:nvPr/>
        </p:nvCxnSpPr>
        <p:spPr bwMode="auto">
          <a:xfrm flipV="1">
            <a:off x="7877637" y="3102324"/>
            <a:ext cx="1152525" cy="501650"/>
          </a:xfrm>
          <a:prstGeom prst="bentConnector3">
            <a:avLst>
              <a:gd name="adj1" fmla="val 50000"/>
            </a:avLst>
          </a:prstGeom>
          <a:noFill/>
          <a:ln w="9525">
            <a:solidFill>
              <a:schemeClr val="bg2"/>
            </a:solidFill>
            <a:prstDash val="dash"/>
            <a:miter lim="800000"/>
            <a:headEnd/>
            <a:tailEnd/>
          </a:ln>
        </p:spPr>
      </p:cxnSp>
      <p:sp>
        <p:nvSpPr>
          <p:cNvPr id="68" name="Rectangle 77"/>
          <p:cNvSpPr>
            <a:spLocks noChangeArrowheads="1"/>
          </p:cNvSpPr>
          <p:nvPr/>
        </p:nvSpPr>
        <p:spPr bwMode="auto">
          <a:xfrm>
            <a:off x="9030162" y="3245199"/>
            <a:ext cx="1368425" cy="144462"/>
          </a:xfrm>
          <a:prstGeom prst="rect">
            <a:avLst/>
          </a:prstGeom>
          <a:solidFill>
            <a:srgbClr val="EAEAEA"/>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700" b="1">
                <a:latin typeface="Verdana" pitchFamily="34" charset="0"/>
              </a:rPr>
              <a:t>Project Manufacturing</a:t>
            </a:r>
          </a:p>
        </p:txBody>
      </p:sp>
      <p:cxnSp>
        <p:nvCxnSpPr>
          <p:cNvPr id="69" name="AutoShape 78"/>
          <p:cNvCxnSpPr>
            <a:cxnSpLocks noChangeShapeType="1"/>
            <a:stCxn id="13" idx="3"/>
            <a:endCxn id="48" idx="1"/>
          </p:cNvCxnSpPr>
          <p:nvPr/>
        </p:nvCxnSpPr>
        <p:spPr bwMode="auto">
          <a:xfrm flipV="1">
            <a:off x="7877637" y="2811811"/>
            <a:ext cx="1008062" cy="576263"/>
          </a:xfrm>
          <a:prstGeom prst="bentConnector3">
            <a:avLst>
              <a:gd name="adj1" fmla="val 49921"/>
            </a:avLst>
          </a:prstGeom>
          <a:noFill/>
          <a:ln w="9525">
            <a:solidFill>
              <a:schemeClr val="bg2"/>
            </a:solidFill>
            <a:prstDash val="dash"/>
            <a:miter lim="800000"/>
            <a:headEnd/>
            <a:tailEnd/>
          </a:ln>
        </p:spPr>
      </p:cxnSp>
      <p:cxnSp>
        <p:nvCxnSpPr>
          <p:cNvPr id="70" name="AutoShape 79"/>
          <p:cNvCxnSpPr>
            <a:cxnSpLocks noChangeShapeType="1"/>
            <a:stCxn id="11" idx="3"/>
            <a:endCxn id="47" idx="1"/>
          </p:cNvCxnSpPr>
          <p:nvPr/>
        </p:nvCxnSpPr>
        <p:spPr bwMode="auto">
          <a:xfrm flipV="1">
            <a:off x="7877637" y="2524474"/>
            <a:ext cx="865187" cy="646112"/>
          </a:xfrm>
          <a:prstGeom prst="bentConnector3">
            <a:avLst>
              <a:gd name="adj1" fmla="val 49907"/>
            </a:avLst>
          </a:prstGeom>
          <a:noFill/>
          <a:ln w="9525">
            <a:solidFill>
              <a:schemeClr val="bg2"/>
            </a:solidFill>
            <a:prstDash val="dash"/>
            <a:miter lim="800000"/>
            <a:headEnd/>
            <a:tailEnd/>
          </a:ln>
        </p:spPr>
      </p:cxnSp>
      <p:cxnSp>
        <p:nvCxnSpPr>
          <p:cNvPr id="71" name="AutoShape 80"/>
          <p:cNvCxnSpPr>
            <a:cxnSpLocks noChangeShapeType="1"/>
            <a:stCxn id="9" idx="3"/>
            <a:endCxn id="46" idx="1"/>
          </p:cNvCxnSpPr>
          <p:nvPr/>
        </p:nvCxnSpPr>
        <p:spPr bwMode="auto">
          <a:xfrm flipV="1">
            <a:off x="7877637" y="2235549"/>
            <a:ext cx="720725" cy="717550"/>
          </a:xfrm>
          <a:prstGeom prst="bentConnector3">
            <a:avLst>
              <a:gd name="adj1" fmla="val 50000"/>
            </a:avLst>
          </a:prstGeom>
          <a:noFill/>
          <a:ln w="9525">
            <a:solidFill>
              <a:schemeClr val="bg2"/>
            </a:solidFill>
            <a:prstDash val="dash"/>
            <a:miter lim="800000"/>
            <a:headEnd/>
            <a:tailEnd/>
          </a:ln>
        </p:spPr>
      </p:cxnSp>
      <p:cxnSp>
        <p:nvCxnSpPr>
          <p:cNvPr id="72" name="AutoShape 81"/>
          <p:cNvCxnSpPr>
            <a:cxnSpLocks noChangeShapeType="1"/>
            <a:stCxn id="10" idx="3"/>
            <a:endCxn id="45" idx="1"/>
          </p:cNvCxnSpPr>
          <p:nvPr/>
        </p:nvCxnSpPr>
        <p:spPr bwMode="auto">
          <a:xfrm flipV="1">
            <a:off x="7877637" y="1948211"/>
            <a:ext cx="576262" cy="790575"/>
          </a:xfrm>
          <a:prstGeom prst="bentConnector3">
            <a:avLst>
              <a:gd name="adj1" fmla="val 49861"/>
            </a:avLst>
          </a:prstGeom>
          <a:noFill/>
          <a:ln w="9525">
            <a:solidFill>
              <a:schemeClr val="bg2"/>
            </a:solidFill>
            <a:prstDash val="dash"/>
            <a:miter lim="800000"/>
            <a:headEnd/>
            <a:tailEnd/>
          </a:ln>
        </p:spPr>
      </p:cxnSp>
      <p:cxnSp>
        <p:nvCxnSpPr>
          <p:cNvPr id="73" name="AutoShape 82"/>
          <p:cNvCxnSpPr>
            <a:cxnSpLocks noChangeShapeType="1"/>
            <a:stCxn id="8" idx="3"/>
            <a:endCxn id="68" idx="1"/>
          </p:cNvCxnSpPr>
          <p:nvPr/>
        </p:nvCxnSpPr>
        <p:spPr bwMode="auto">
          <a:xfrm flipV="1">
            <a:off x="7877637" y="3318224"/>
            <a:ext cx="1152525" cy="285750"/>
          </a:xfrm>
          <a:prstGeom prst="bentConnector3">
            <a:avLst>
              <a:gd name="adj1" fmla="val 50000"/>
            </a:avLst>
          </a:prstGeom>
          <a:noFill/>
          <a:ln w="9525">
            <a:solidFill>
              <a:schemeClr val="bg2"/>
            </a:solidFill>
            <a:prstDash val="dash"/>
            <a:miter lim="800000"/>
            <a:headEnd/>
            <a:tailEnd/>
          </a:ln>
        </p:spPr>
      </p:cxnSp>
      <p:cxnSp>
        <p:nvCxnSpPr>
          <p:cNvPr id="74" name="AutoShape 83"/>
          <p:cNvCxnSpPr>
            <a:cxnSpLocks noChangeShapeType="1"/>
            <a:stCxn id="6" idx="1"/>
            <a:endCxn id="33" idx="3"/>
          </p:cNvCxnSpPr>
          <p:nvPr/>
        </p:nvCxnSpPr>
        <p:spPr bwMode="auto">
          <a:xfrm rot="10800000" flipV="1">
            <a:off x="4421649" y="4467574"/>
            <a:ext cx="647700" cy="1655762"/>
          </a:xfrm>
          <a:prstGeom prst="bentConnector3">
            <a:avLst>
              <a:gd name="adj1" fmla="val 50000"/>
            </a:avLst>
          </a:prstGeom>
          <a:noFill/>
          <a:ln w="9525">
            <a:solidFill>
              <a:schemeClr val="bg2"/>
            </a:solidFill>
            <a:prstDash val="dash"/>
            <a:miter lim="800000"/>
            <a:headEnd/>
            <a:tailEnd/>
          </a:ln>
        </p:spPr>
      </p:cxnSp>
      <p:cxnSp>
        <p:nvCxnSpPr>
          <p:cNvPr id="75" name="AutoShape 84"/>
          <p:cNvCxnSpPr>
            <a:cxnSpLocks noChangeShapeType="1"/>
            <a:stCxn id="6" idx="1"/>
            <a:endCxn id="31" idx="3"/>
          </p:cNvCxnSpPr>
          <p:nvPr/>
        </p:nvCxnSpPr>
        <p:spPr bwMode="auto">
          <a:xfrm rot="10800000" flipV="1">
            <a:off x="4421649" y="4467574"/>
            <a:ext cx="647700" cy="1223962"/>
          </a:xfrm>
          <a:prstGeom prst="bentConnector3">
            <a:avLst>
              <a:gd name="adj1" fmla="val 50000"/>
            </a:avLst>
          </a:prstGeom>
          <a:noFill/>
          <a:ln w="9525">
            <a:solidFill>
              <a:schemeClr val="bg2"/>
            </a:solidFill>
            <a:prstDash val="dash"/>
            <a:miter lim="800000"/>
            <a:headEnd/>
            <a:tailEnd/>
          </a:ln>
        </p:spPr>
      </p:cxnSp>
      <p:cxnSp>
        <p:nvCxnSpPr>
          <p:cNvPr id="76" name="AutoShape 85"/>
          <p:cNvCxnSpPr>
            <a:cxnSpLocks noChangeShapeType="1"/>
            <a:stCxn id="6" idx="1"/>
            <a:endCxn id="32" idx="3"/>
          </p:cNvCxnSpPr>
          <p:nvPr/>
        </p:nvCxnSpPr>
        <p:spPr bwMode="auto">
          <a:xfrm rot="10800000" flipV="1">
            <a:off x="4421649" y="4467574"/>
            <a:ext cx="647700" cy="1439862"/>
          </a:xfrm>
          <a:prstGeom prst="bentConnector3">
            <a:avLst>
              <a:gd name="adj1" fmla="val 50000"/>
            </a:avLst>
          </a:prstGeom>
          <a:noFill/>
          <a:ln w="9525">
            <a:solidFill>
              <a:schemeClr val="bg2"/>
            </a:solidFill>
            <a:prstDash val="dash"/>
            <a:miter lim="800000"/>
            <a:headEnd/>
            <a:tailEnd/>
          </a:ln>
        </p:spPr>
      </p:cxnSp>
      <p:cxnSp>
        <p:nvCxnSpPr>
          <p:cNvPr id="77" name="AutoShape 86"/>
          <p:cNvCxnSpPr>
            <a:cxnSpLocks noChangeShapeType="1"/>
            <a:stCxn id="6" idx="1"/>
            <a:endCxn id="30" idx="3"/>
          </p:cNvCxnSpPr>
          <p:nvPr/>
        </p:nvCxnSpPr>
        <p:spPr bwMode="auto">
          <a:xfrm rot="10800000" flipV="1">
            <a:off x="4421649" y="4467574"/>
            <a:ext cx="647700" cy="1008062"/>
          </a:xfrm>
          <a:prstGeom prst="bentConnector3">
            <a:avLst>
              <a:gd name="adj1" fmla="val 50000"/>
            </a:avLst>
          </a:prstGeom>
          <a:noFill/>
          <a:ln w="9525">
            <a:solidFill>
              <a:schemeClr val="bg2"/>
            </a:solidFill>
            <a:prstDash val="dash"/>
            <a:miter lim="800000"/>
            <a:headEnd/>
            <a:tailEnd/>
          </a:ln>
        </p:spPr>
      </p:cxnSp>
      <p:cxnSp>
        <p:nvCxnSpPr>
          <p:cNvPr id="78" name="AutoShape 87"/>
          <p:cNvCxnSpPr>
            <a:cxnSpLocks noChangeShapeType="1"/>
            <a:stCxn id="6" idx="1"/>
            <a:endCxn id="28" idx="3"/>
          </p:cNvCxnSpPr>
          <p:nvPr/>
        </p:nvCxnSpPr>
        <p:spPr bwMode="auto">
          <a:xfrm rot="10800000" flipV="1">
            <a:off x="4421649" y="4467574"/>
            <a:ext cx="647700" cy="792162"/>
          </a:xfrm>
          <a:prstGeom prst="bentConnector3">
            <a:avLst>
              <a:gd name="adj1" fmla="val 50000"/>
            </a:avLst>
          </a:prstGeom>
          <a:noFill/>
          <a:ln w="9525">
            <a:solidFill>
              <a:schemeClr val="bg2"/>
            </a:solidFill>
            <a:prstDash val="dash"/>
            <a:miter lim="800000"/>
            <a:headEnd/>
            <a:tailEnd/>
          </a:ln>
        </p:spPr>
      </p:cxnSp>
      <p:cxnSp>
        <p:nvCxnSpPr>
          <p:cNvPr id="79" name="AutoShape 88"/>
          <p:cNvCxnSpPr>
            <a:cxnSpLocks noChangeShapeType="1"/>
            <a:stCxn id="6" idx="1"/>
            <a:endCxn id="27" idx="3"/>
          </p:cNvCxnSpPr>
          <p:nvPr/>
        </p:nvCxnSpPr>
        <p:spPr bwMode="auto">
          <a:xfrm rot="10800000" flipV="1">
            <a:off x="4421649" y="4467574"/>
            <a:ext cx="647700" cy="576262"/>
          </a:xfrm>
          <a:prstGeom prst="bentConnector3">
            <a:avLst>
              <a:gd name="adj1" fmla="val 50000"/>
            </a:avLst>
          </a:prstGeom>
          <a:noFill/>
          <a:ln w="9525">
            <a:solidFill>
              <a:schemeClr val="bg2"/>
            </a:solidFill>
            <a:prstDash val="dash"/>
            <a:miter lim="800000"/>
            <a:headEnd/>
            <a:tailEnd/>
          </a:ln>
        </p:spPr>
      </p:cxnSp>
      <p:cxnSp>
        <p:nvCxnSpPr>
          <p:cNvPr id="80" name="AutoShape 89"/>
          <p:cNvCxnSpPr>
            <a:cxnSpLocks noChangeShapeType="1"/>
            <a:stCxn id="5" idx="1"/>
            <a:endCxn id="44" idx="3"/>
          </p:cNvCxnSpPr>
          <p:nvPr/>
        </p:nvCxnSpPr>
        <p:spPr bwMode="auto">
          <a:xfrm rot="10800000" flipV="1">
            <a:off x="3342149" y="4251674"/>
            <a:ext cx="1727200" cy="503237"/>
          </a:xfrm>
          <a:prstGeom prst="bentConnector3">
            <a:avLst>
              <a:gd name="adj1" fmla="val 50000"/>
            </a:avLst>
          </a:prstGeom>
          <a:noFill/>
          <a:ln w="9525">
            <a:solidFill>
              <a:schemeClr val="bg2"/>
            </a:solidFill>
            <a:prstDash val="dash"/>
            <a:miter lim="800000"/>
            <a:headEnd/>
            <a:tailEnd/>
          </a:ln>
        </p:spPr>
      </p:cxnSp>
      <p:cxnSp>
        <p:nvCxnSpPr>
          <p:cNvPr id="81" name="AutoShape 90"/>
          <p:cNvCxnSpPr>
            <a:cxnSpLocks noChangeShapeType="1"/>
            <a:stCxn id="5" idx="1"/>
            <a:endCxn id="42" idx="3"/>
          </p:cNvCxnSpPr>
          <p:nvPr/>
        </p:nvCxnSpPr>
        <p:spPr bwMode="auto">
          <a:xfrm rot="10800000" flipV="1">
            <a:off x="3342149" y="4251674"/>
            <a:ext cx="1727200" cy="287337"/>
          </a:xfrm>
          <a:prstGeom prst="bentConnector3">
            <a:avLst>
              <a:gd name="adj1" fmla="val 50000"/>
            </a:avLst>
          </a:prstGeom>
          <a:noFill/>
          <a:ln w="9525">
            <a:solidFill>
              <a:schemeClr val="bg2"/>
            </a:solidFill>
            <a:prstDash val="dash"/>
            <a:miter lim="800000"/>
            <a:headEnd/>
            <a:tailEnd/>
          </a:ln>
        </p:spPr>
      </p:cxnSp>
      <p:cxnSp>
        <p:nvCxnSpPr>
          <p:cNvPr id="82" name="AutoShape 91"/>
          <p:cNvCxnSpPr>
            <a:cxnSpLocks noChangeShapeType="1"/>
            <a:stCxn id="5" idx="1"/>
            <a:endCxn id="41" idx="3"/>
          </p:cNvCxnSpPr>
          <p:nvPr/>
        </p:nvCxnSpPr>
        <p:spPr bwMode="auto">
          <a:xfrm rot="10800000" flipV="1">
            <a:off x="3342149" y="4251674"/>
            <a:ext cx="1727200" cy="71437"/>
          </a:xfrm>
          <a:prstGeom prst="bentConnector3">
            <a:avLst>
              <a:gd name="adj1" fmla="val 50000"/>
            </a:avLst>
          </a:prstGeom>
          <a:noFill/>
          <a:ln w="9525">
            <a:solidFill>
              <a:schemeClr val="bg2"/>
            </a:solidFill>
            <a:prstDash val="dash"/>
            <a:miter lim="800000"/>
            <a:headEnd/>
            <a:tailEnd/>
          </a:ln>
        </p:spPr>
      </p:cxnSp>
      <p:cxnSp>
        <p:nvCxnSpPr>
          <p:cNvPr id="83" name="AutoShape 92"/>
          <p:cNvCxnSpPr>
            <a:cxnSpLocks noChangeShapeType="1"/>
            <a:stCxn id="5" idx="1"/>
            <a:endCxn id="40" idx="3"/>
          </p:cNvCxnSpPr>
          <p:nvPr/>
        </p:nvCxnSpPr>
        <p:spPr bwMode="auto">
          <a:xfrm rot="10800000">
            <a:off x="3342149" y="4107211"/>
            <a:ext cx="1727200" cy="144463"/>
          </a:xfrm>
          <a:prstGeom prst="bentConnector3">
            <a:avLst>
              <a:gd name="adj1" fmla="val 50000"/>
            </a:avLst>
          </a:prstGeom>
          <a:noFill/>
          <a:ln w="9525">
            <a:solidFill>
              <a:schemeClr val="bg2"/>
            </a:solidFill>
            <a:prstDash val="dash"/>
            <a:miter lim="800000"/>
            <a:headEnd/>
            <a:tailEnd/>
          </a:ln>
        </p:spPr>
      </p:cxnSp>
      <p:cxnSp>
        <p:nvCxnSpPr>
          <p:cNvPr id="84" name="AutoShape 93"/>
          <p:cNvCxnSpPr>
            <a:cxnSpLocks noChangeShapeType="1"/>
            <a:stCxn id="5" idx="1"/>
            <a:endCxn id="39" idx="3"/>
          </p:cNvCxnSpPr>
          <p:nvPr/>
        </p:nvCxnSpPr>
        <p:spPr bwMode="auto">
          <a:xfrm rot="10800000">
            <a:off x="3342149" y="3891311"/>
            <a:ext cx="1727200" cy="360363"/>
          </a:xfrm>
          <a:prstGeom prst="bentConnector3">
            <a:avLst>
              <a:gd name="adj1" fmla="val 50000"/>
            </a:avLst>
          </a:prstGeom>
          <a:noFill/>
          <a:ln w="9525">
            <a:solidFill>
              <a:schemeClr val="bg2"/>
            </a:solidFill>
            <a:prstDash val="dash"/>
            <a:miter lim="800000"/>
            <a:headEnd/>
            <a:tailEnd/>
          </a:ln>
        </p:spPr>
      </p:cxnSp>
      <p:cxnSp>
        <p:nvCxnSpPr>
          <p:cNvPr id="85" name="AutoShape 94"/>
          <p:cNvCxnSpPr>
            <a:cxnSpLocks noChangeShapeType="1"/>
            <a:stCxn id="25" idx="1"/>
            <a:endCxn id="54" idx="3"/>
          </p:cNvCxnSpPr>
          <p:nvPr/>
        </p:nvCxnSpPr>
        <p:spPr bwMode="auto">
          <a:xfrm rot="10800000">
            <a:off x="3989849" y="3170586"/>
            <a:ext cx="1079500" cy="217488"/>
          </a:xfrm>
          <a:prstGeom prst="bentConnector3">
            <a:avLst>
              <a:gd name="adj1" fmla="val 50000"/>
            </a:avLst>
          </a:prstGeom>
          <a:noFill/>
          <a:ln w="9525">
            <a:solidFill>
              <a:schemeClr val="bg2"/>
            </a:solidFill>
            <a:prstDash val="dash"/>
            <a:miter lim="800000"/>
            <a:headEnd/>
            <a:tailEnd/>
          </a:ln>
        </p:spPr>
      </p:cxnSp>
      <p:cxnSp>
        <p:nvCxnSpPr>
          <p:cNvPr id="86" name="AutoShape 95"/>
          <p:cNvCxnSpPr>
            <a:cxnSpLocks noChangeShapeType="1"/>
            <a:stCxn id="22" idx="1"/>
            <a:endCxn id="51" idx="3"/>
          </p:cNvCxnSpPr>
          <p:nvPr/>
        </p:nvCxnSpPr>
        <p:spPr bwMode="auto">
          <a:xfrm rot="10800000">
            <a:off x="3558049" y="3603974"/>
            <a:ext cx="1511300" cy="0"/>
          </a:xfrm>
          <a:prstGeom prst="straightConnector1">
            <a:avLst/>
          </a:prstGeom>
          <a:noFill/>
          <a:ln w="9525">
            <a:solidFill>
              <a:schemeClr val="bg2"/>
            </a:solidFill>
            <a:prstDash val="dash"/>
            <a:round/>
            <a:headEnd/>
            <a:tailEnd/>
          </a:ln>
        </p:spPr>
      </p:cxnSp>
      <p:cxnSp>
        <p:nvCxnSpPr>
          <p:cNvPr id="87" name="AutoShape 96"/>
          <p:cNvCxnSpPr>
            <a:cxnSpLocks noChangeShapeType="1"/>
            <a:stCxn id="21" idx="1"/>
            <a:endCxn id="51" idx="3"/>
          </p:cNvCxnSpPr>
          <p:nvPr/>
        </p:nvCxnSpPr>
        <p:spPr bwMode="auto">
          <a:xfrm rot="10800000">
            <a:off x="3558049" y="3603974"/>
            <a:ext cx="1511300" cy="431800"/>
          </a:xfrm>
          <a:prstGeom prst="bentConnector3">
            <a:avLst>
              <a:gd name="adj1" fmla="val 50000"/>
            </a:avLst>
          </a:prstGeom>
          <a:noFill/>
          <a:ln w="9525">
            <a:solidFill>
              <a:schemeClr val="bg2"/>
            </a:solidFill>
            <a:prstDash val="dash"/>
            <a:miter lim="800000"/>
            <a:headEnd/>
            <a:tailEnd/>
          </a:ln>
        </p:spPr>
      </p:cxnSp>
      <p:cxnSp>
        <p:nvCxnSpPr>
          <p:cNvPr id="88" name="AutoShape 97"/>
          <p:cNvCxnSpPr>
            <a:cxnSpLocks noChangeShapeType="1"/>
            <a:stCxn id="12" idx="1"/>
            <a:endCxn id="51" idx="3"/>
          </p:cNvCxnSpPr>
          <p:nvPr/>
        </p:nvCxnSpPr>
        <p:spPr bwMode="auto">
          <a:xfrm rot="10800000">
            <a:off x="3558049" y="3603974"/>
            <a:ext cx="1511300" cy="215900"/>
          </a:xfrm>
          <a:prstGeom prst="bentConnector3">
            <a:avLst>
              <a:gd name="adj1" fmla="val 50000"/>
            </a:avLst>
          </a:prstGeom>
          <a:noFill/>
          <a:ln w="9525">
            <a:solidFill>
              <a:schemeClr val="bg2"/>
            </a:solidFill>
            <a:prstDash val="dash"/>
            <a:miter lim="800000"/>
            <a:headEnd/>
            <a:tailEnd/>
          </a:ln>
        </p:spPr>
      </p:cxnSp>
      <p:cxnSp>
        <p:nvCxnSpPr>
          <p:cNvPr id="89" name="AutoShape 98"/>
          <p:cNvCxnSpPr>
            <a:cxnSpLocks noChangeShapeType="1"/>
            <a:stCxn id="22" idx="1"/>
            <a:endCxn id="53" idx="3"/>
          </p:cNvCxnSpPr>
          <p:nvPr/>
        </p:nvCxnSpPr>
        <p:spPr bwMode="auto">
          <a:xfrm rot="10800000">
            <a:off x="3772362" y="3386486"/>
            <a:ext cx="1296987" cy="217488"/>
          </a:xfrm>
          <a:prstGeom prst="bentConnector3">
            <a:avLst>
              <a:gd name="adj1" fmla="val 49940"/>
            </a:avLst>
          </a:prstGeom>
          <a:noFill/>
          <a:ln w="9525">
            <a:solidFill>
              <a:schemeClr val="bg2"/>
            </a:solidFill>
            <a:prstDash val="dash"/>
            <a:miter lim="800000"/>
            <a:headEnd/>
            <a:tailEnd/>
          </a:ln>
        </p:spPr>
      </p:cxnSp>
      <p:cxnSp>
        <p:nvCxnSpPr>
          <p:cNvPr id="90" name="AutoShape 99"/>
          <p:cNvCxnSpPr>
            <a:cxnSpLocks noChangeShapeType="1"/>
            <a:stCxn id="15" idx="1"/>
            <a:endCxn id="49" idx="3"/>
          </p:cNvCxnSpPr>
          <p:nvPr/>
        </p:nvCxnSpPr>
        <p:spPr bwMode="auto">
          <a:xfrm rot="10800000">
            <a:off x="4205749" y="2668936"/>
            <a:ext cx="863600" cy="503238"/>
          </a:xfrm>
          <a:prstGeom prst="bentConnector3">
            <a:avLst>
              <a:gd name="adj1" fmla="val 50000"/>
            </a:avLst>
          </a:prstGeom>
          <a:noFill/>
          <a:ln w="9525">
            <a:solidFill>
              <a:schemeClr val="bg2"/>
            </a:solidFill>
            <a:prstDash val="dash"/>
            <a:miter lim="800000"/>
            <a:headEnd/>
            <a:tailEnd/>
          </a:ln>
        </p:spPr>
      </p:cxnSp>
      <p:cxnSp>
        <p:nvCxnSpPr>
          <p:cNvPr id="91" name="AutoShape 100"/>
          <p:cNvCxnSpPr>
            <a:cxnSpLocks noChangeShapeType="1"/>
            <a:stCxn id="15" idx="1"/>
            <a:endCxn id="50" idx="3"/>
          </p:cNvCxnSpPr>
          <p:nvPr/>
        </p:nvCxnSpPr>
        <p:spPr bwMode="auto">
          <a:xfrm rot="10800000">
            <a:off x="4205749" y="2883249"/>
            <a:ext cx="863600" cy="288925"/>
          </a:xfrm>
          <a:prstGeom prst="bentConnector3">
            <a:avLst>
              <a:gd name="adj1" fmla="val 50000"/>
            </a:avLst>
          </a:prstGeom>
          <a:noFill/>
          <a:ln w="9525">
            <a:solidFill>
              <a:schemeClr val="bg2"/>
            </a:solidFill>
            <a:prstDash val="dash"/>
            <a:miter lim="800000"/>
            <a:headEnd/>
            <a:tailEnd/>
          </a:ln>
        </p:spPr>
      </p:cxnSp>
      <p:cxnSp>
        <p:nvCxnSpPr>
          <p:cNvPr id="92" name="AutoShape 101"/>
          <p:cNvCxnSpPr>
            <a:cxnSpLocks noChangeShapeType="1"/>
            <a:stCxn id="23" idx="1"/>
            <a:endCxn id="55" idx="3"/>
          </p:cNvCxnSpPr>
          <p:nvPr/>
        </p:nvCxnSpPr>
        <p:spPr bwMode="auto">
          <a:xfrm rot="10800000">
            <a:off x="4421649" y="2162524"/>
            <a:ext cx="647700" cy="576262"/>
          </a:xfrm>
          <a:prstGeom prst="bentConnector3">
            <a:avLst>
              <a:gd name="adj1" fmla="val 50000"/>
            </a:avLst>
          </a:prstGeom>
          <a:noFill/>
          <a:ln w="9525">
            <a:solidFill>
              <a:schemeClr val="bg2"/>
            </a:solidFill>
            <a:prstDash val="dash"/>
            <a:miter lim="800000"/>
            <a:headEnd/>
            <a:tailEnd/>
          </a:ln>
        </p:spPr>
      </p:cxnSp>
      <p:cxnSp>
        <p:nvCxnSpPr>
          <p:cNvPr id="93" name="AutoShape 102"/>
          <p:cNvCxnSpPr>
            <a:cxnSpLocks noChangeShapeType="1"/>
            <a:stCxn id="24" idx="1"/>
            <a:endCxn id="56" idx="3"/>
          </p:cNvCxnSpPr>
          <p:nvPr/>
        </p:nvCxnSpPr>
        <p:spPr bwMode="auto">
          <a:xfrm rot="10800000">
            <a:off x="4421649" y="2378424"/>
            <a:ext cx="647700" cy="576262"/>
          </a:xfrm>
          <a:prstGeom prst="bentConnector3">
            <a:avLst>
              <a:gd name="adj1" fmla="val 50000"/>
            </a:avLst>
          </a:prstGeom>
          <a:noFill/>
          <a:ln w="9525">
            <a:solidFill>
              <a:schemeClr val="bg2"/>
            </a:solidFill>
            <a:prstDash val="dash"/>
            <a:miter lim="800000"/>
            <a:headEnd/>
            <a:tailEnd/>
          </a:ln>
        </p:spPr>
      </p:cxnSp>
      <p:cxnSp>
        <p:nvCxnSpPr>
          <p:cNvPr id="94" name="AutoShape 103"/>
          <p:cNvCxnSpPr>
            <a:cxnSpLocks noChangeShapeType="1"/>
            <a:stCxn id="20" idx="1"/>
            <a:endCxn id="35" idx="1"/>
          </p:cNvCxnSpPr>
          <p:nvPr/>
        </p:nvCxnSpPr>
        <p:spPr bwMode="auto">
          <a:xfrm rot="10800000" flipH="1">
            <a:off x="5069349" y="1659286"/>
            <a:ext cx="1588" cy="863600"/>
          </a:xfrm>
          <a:prstGeom prst="bentConnector3">
            <a:avLst>
              <a:gd name="adj1" fmla="val -14400005"/>
            </a:avLst>
          </a:prstGeom>
          <a:noFill/>
          <a:ln w="9525">
            <a:solidFill>
              <a:schemeClr val="bg2"/>
            </a:solidFill>
            <a:prstDash val="dash"/>
            <a:miter lim="800000"/>
            <a:headEnd/>
            <a:tailEnd/>
          </a:ln>
        </p:spPr>
      </p:cxnSp>
      <p:cxnSp>
        <p:nvCxnSpPr>
          <p:cNvPr id="95" name="AutoShape 104"/>
          <p:cNvCxnSpPr>
            <a:cxnSpLocks noChangeShapeType="1"/>
            <a:stCxn id="20" idx="1"/>
            <a:endCxn id="52" idx="1"/>
          </p:cNvCxnSpPr>
          <p:nvPr/>
        </p:nvCxnSpPr>
        <p:spPr bwMode="auto">
          <a:xfrm rot="10800000" flipH="1">
            <a:off x="5069349" y="1875186"/>
            <a:ext cx="1588" cy="647700"/>
          </a:xfrm>
          <a:prstGeom prst="bentConnector3">
            <a:avLst>
              <a:gd name="adj1" fmla="val -14400005"/>
            </a:avLst>
          </a:prstGeom>
          <a:noFill/>
          <a:ln w="9525">
            <a:solidFill>
              <a:schemeClr val="bg2"/>
            </a:solidFill>
            <a:prstDash val="dash"/>
            <a:miter lim="800000"/>
            <a:headEnd/>
            <a:tailEnd/>
          </a:ln>
        </p:spPr>
      </p:cxnSp>
      <p:sp>
        <p:nvSpPr>
          <p:cNvPr id="96" name="Text Box 105"/>
          <p:cNvSpPr txBox="1">
            <a:spLocks noChangeArrowheads="1"/>
          </p:cNvSpPr>
          <p:nvPr/>
        </p:nvSpPr>
        <p:spPr bwMode="auto">
          <a:xfrm>
            <a:off x="6004387" y="5618511"/>
            <a:ext cx="3097212" cy="558800"/>
          </a:xfrm>
          <a:prstGeom prst="rect">
            <a:avLst/>
          </a:prstGeom>
          <a:noFill/>
          <a:ln w="9525">
            <a:solidFill>
              <a:schemeClr val="tx1"/>
            </a:solidFill>
            <a:prstDash val="dash"/>
            <a:miter lim="800000"/>
            <a:headEnd/>
            <a:tailEnd/>
          </a:ln>
        </p:spPr>
        <p:txBody>
          <a:bodyPr>
            <a:spAutoFit/>
          </a:bodyPr>
          <a:lstStyle/>
          <a:p>
            <a:pPr marL="457200" indent="-457200">
              <a:buFontTx/>
              <a:buAutoNum type="arabicPeriod"/>
            </a:pPr>
            <a:r>
              <a:rPr lang="en-US" sz="1000" dirty="0">
                <a:latin typeface="Verdana" pitchFamily="34" charset="0"/>
              </a:rPr>
              <a:t>Only for Services projects</a:t>
            </a:r>
          </a:p>
          <a:p>
            <a:pPr marL="457200" indent="-457200">
              <a:buFontTx/>
              <a:buAutoNum type="arabicPeriod"/>
            </a:pPr>
            <a:r>
              <a:rPr lang="en-US" sz="1000" dirty="0">
                <a:latin typeface="Verdana" pitchFamily="34" charset="0"/>
              </a:rPr>
              <a:t>Localization Pack per country</a:t>
            </a:r>
          </a:p>
          <a:p>
            <a:pPr marL="457200" indent="-457200">
              <a:buFontTx/>
              <a:buAutoNum type="arabicPeriod"/>
            </a:pPr>
            <a:r>
              <a:rPr lang="en-US" sz="1000" dirty="0">
                <a:latin typeface="Verdana" pitchFamily="34" charset="0"/>
              </a:rPr>
              <a:t>Yet to be decided</a:t>
            </a:r>
          </a:p>
        </p:txBody>
      </p:sp>
      <p:sp>
        <p:nvSpPr>
          <p:cNvPr id="97" name="Rectangle 107"/>
          <p:cNvSpPr txBox="1">
            <a:spLocks noChangeArrowheads="1"/>
          </p:cNvSpPr>
          <p:nvPr/>
        </p:nvSpPr>
        <p:spPr>
          <a:xfrm>
            <a:off x="2369012" y="722661"/>
            <a:ext cx="7772400" cy="596900"/>
          </a:xfrm>
          <a:prstGeom prst="rect">
            <a:avLst/>
          </a:prstGeom>
          <a:noFill/>
        </p:spPr>
        <p:txBody>
          <a:bodyPr/>
          <a:lstStyle/>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sz="2000" b="1" i="0" u="none" strike="noStrike" kern="1200" cap="none" spc="0" normalizeH="0" baseline="0" noProof="0" dirty="0" smtClean="0">
                <a:ln>
                  <a:noFill/>
                </a:ln>
                <a:solidFill>
                  <a:schemeClr val="tx1"/>
                </a:solidFill>
                <a:effectLst/>
                <a:uLnTx/>
                <a:uFillTx/>
                <a:latin typeface="+mj-lt"/>
                <a:ea typeface="+mj-ea"/>
                <a:cs typeface="+mj-cs"/>
              </a:rPr>
              <a:t>Physical Application Architecture - </a:t>
            </a:r>
            <a:r>
              <a:rPr kumimoji="0" lang="en-US" sz="2000" b="1" i="0" u="sng" strike="noStrike" kern="1200" cap="none" spc="0" normalizeH="0" baseline="0" noProof="0" dirty="0" smtClean="0">
                <a:ln>
                  <a:noFill/>
                </a:ln>
                <a:solidFill>
                  <a:schemeClr val="tx1"/>
                </a:solidFill>
                <a:effectLst/>
                <a:uLnTx/>
                <a:uFillTx/>
                <a:latin typeface="+mj-lt"/>
                <a:ea typeface="+mj-ea"/>
                <a:cs typeface="+mj-cs"/>
              </a:rPr>
              <a:t>subset</a:t>
            </a:r>
            <a:endParaRPr kumimoji="0" lang="en-US" sz="1600" b="1" i="1" u="sng" strike="noStrike" kern="1200" cap="none" spc="0" normalizeH="0" baseline="0" noProof="0" dirty="0" smtClean="0">
              <a:ln>
                <a:noFill/>
              </a:ln>
              <a:solidFill>
                <a:schemeClr val="tx1"/>
              </a:solidFill>
              <a:effectLst/>
              <a:uLnTx/>
              <a:uFillTx/>
              <a:latin typeface="+mj-lt"/>
              <a:ea typeface="+mj-ea"/>
              <a:cs typeface="+mj-cs"/>
            </a:endParaRPr>
          </a:p>
        </p:txBody>
      </p:sp>
    </p:spTree>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5373386"/>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41555E"/>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smtClean="0"/>
        </a:defPPr>
      </a:lstStyle>
    </a:txDef>
  </a:objectDefaults>
  <a:extraClrSchemeLst/>
  <a:extLst>
    <a:ext uri="{05A4C25C-085E-4340-85A3-A5531E510DB2}">
      <thm15:themeFamily xmlns:thm15="http://schemas.microsoft.com/office/thememl/2012/main" xmlns="" name="Oracle_16x9-2014-0714" id="{032D2387-665B-4DFB-BDAE-D66619AD7C3A}" vid="{BB0AD61B-F388-487D-A806-2F7277FE970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17</TotalTime>
  <Words>931</Words>
  <Application>Microsoft Office PowerPoint</Application>
  <PresentationFormat>Custom</PresentationFormat>
  <Paragraphs>225</Paragraphs>
  <Slides>9</Slides>
  <Notes>3</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blank</vt:lpstr>
      <vt:lpstr>Slide 1</vt:lpstr>
      <vt:lpstr>Application Architecture</vt:lpstr>
      <vt:lpstr>The Systems Model Has 3 IS/IT Best Practice Systems Areas That Support the Core Processes</vt:lpstr>
      <vt:lpstr>Slide 4</vt:lpstr>
      <vt:lpstr>Slide 5</vt:lpstr>
      <vt:lpstr>Slide 6</vt:lpstr>
      <vt:lpstr>Slide 7</vt:lpstr>
      <vt:lpstr>Slide 8</vt:lpstr>
      <vt:lpstr>Slide 9</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EA.140 Application Architecture Sample B</dc:title>
  <dc:creator>Oracle Methods</dc:creator>
  <cp:keywords>OUM</cp:keywords>
  <dc:description>Copyright © 2010, 2014, Oracle and/or its affiliates.  All rights reserved.</dc:description>
  <cp:lastModifiedBy>masander</cp:lastModifiedBy>
  <cp:revision>3</cp:revision>
  <cp:lastPrinted>2014-07-15T21:24:45Z</cp:lastPrinted>
  <dcterms:created xsi:type="dcterms:W3CDTF">2014-10-03T22:51:47Z</dcterms:created>
  <dcterms:modified xsi:type="dcterms:W3CDTF">2014-10-04T01:17:39Z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