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354" r:id="rId2"/>
    <p:sldId id="258" r:id="rId3"/>
    <p:sldId id="370" r:id="rId4"/>
    <p:sldId id="372" r:id="rId5"/>
    <p:sldId id="374" r:id="rId6"/>
    <p:sldId id="375" r:id="rId7"/>
    <p:sldId id="377" r:id="rId8"/>
    <p:sldId id="379" r:id="rId9"/>
    <p:sldId id="381" r:id="rId10"/>
    <p:sldId id="383" r:id="rId11"/>
    <p:sldId id="385" r:id="rId12"/>
    <p:sldId id="386" r:id="rId13"/>
    <p:sldId id="387" r:id="rId14"/>
    <p:sldId id="388" r:id="rId15"/>
    <p:sldId id="289" r:id="rId16"/>
  </p:sldIdLst>
  <p:sldSz cx="12188825"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F7F7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p:cViewPr varScale="1">
        <p:scale>
          <a:sx n="50" d="100"/>
          <a:sy n="50" d="100"/>
        </p:scale>
        <p:origin x="-2094" y="-96"/>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1/12/2016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p14="http://schemas.microsoft.com/office/powerpoint/2010/main" xmlns=""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dirty="0" smtClean="0"/>
              <a:t>This is a </a:t>
            </a:r>
            <a:r>
              <a:rPr lang="en-US" b="1" dirty="0" smtClean="0"/>
              <a:t>Remote Speaker</a:t>
            </a:r>
            <a:r>
              <a:rPr lang="en-US" b="1" baseline="0" dirty="0" smtClean="0"/>
              <a:t> </a:t>
            </a:r>
            <a:r>
              <a:rPr lang="en-US" b="1" dirty="0" smtClean="0"/>
              <a:t>Picture </a:t>
            </a:r>
            <a:r>
              <a:rPr lang="en-US" b="0" dirty="0" smtClean="0"/>
              <a:t>slide</a:t>
            </a:r>
            <a:r>
              <a:rPr lang="en-US" b="1" dirty="0" smtClean="0"/>
              <a:t> </a:t>
            </a:r>
            <a:r>
              <a:rPr lang="en-US" baseline="0" dirty="0" smtClean="0"/>
              <a:t>ideal for including a picture with the speaker’s name and title and company.</a:t>
            </a:r>
          </a:p>
          <a:p>
            <a:pPr marL="0" marR="0" indent="0" algn="l" defTabSz="914400" rtl="0" eaLnBrk="1" fontAlgn="auto" latinLnBrk="0" hangingPunct="1">
              <a:lnSpc>
                <a:spcPct val="100000"/>
              </a:lnSpc>
              <a:spcBef>
                <a:spcPts val="600"/>
              </a:spcBef>
              <a:spcAft>
                <a:spcPts val="0"/>
              </a:spcAft>
              <a:buClrTx/>
              <a:buSzTx/>
              <a:buFontTx/>
              <a:buNone/>
              <a:tabLst/>
              <a:defRPr/>
            </a:pPr>
            <a:endParaRPr lang="en-US" dirty="0" smtClean="0"/>
          </a:p>
          <a:p>
            <a:r>
              <a:rPr lang="en-US" dirty="0" smtClean="0"/>
              <a:t>To </a:t>
            </a:r>
            <a:r>
              <a:rPr lang="en-US" b="1" dirty="0" smtClean="0"/>
              <a:t>Replace the Picture</a:t>
            </a:r>
            <a:r>
              <a:rPr lang="en-US" b="1" baseline="0" dirty="0" smtClean="0"/>
              <a:t> </a:t>
            </a:r>
            <a:r>
              <a:rPr lang="en-US" dirty="0" smtClean="0"/>
              <a:t>on this sample slide (this applies to all slides in this template that contain replaceable</a:t>
            </a:r>
            <a:r>
              <a:rPr lang="en-US" baseline="0" dirty="0" smtClean="0"/>
              <a:t> </a:t>
            </a:r>
            <a:r>
              <a:rPr lang="en-US" dirty="0" smtClean="0"/>
              <a:t>pictures)</a:t>
            </a:r>
          </a:p>
          <a:p>
            <a:endParaRPr lang="en-US" dirty="0" smtClean="0"/>
          </a:p>
          <a:p>
            <a:r>
              <a:rPr lang="en-US" dirty="0" smtClean="0"/>
              <a:t>Select the sample picture and press Delete. Click the icon inside the shape to open the Insert Picture dialog box. Navigate to the location where the picture is stored, select desired picture and click on the Insert button to fit the image proportionally within the shape. </a:t>
            </a:r>
          </a:p>
          <a:p>
            <a:endParaRPr lang="en-US" dirty="0" smtClean="0"/>
          </a:p>
          <a:p>
            <a:r>
              <a:rPr lang="en-US" b="1" dirty="0" smtClean="0"/>
              <a:t>Note:</a:t>
            </a:r>
            <a:r>
              <a:rPr lang="en-US" dirty="0" smtClean="0"/>
              <a:t> Do not right-click the image to change the picture inside the picture placeholder. This will change the frame size of the picture placeholder. Instead, follow the steps outlined above.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3</a:t>
            </a:fld>
            <a:endParaRPr lang="en-US" dirty="0"/>
          </a:p>
        </p:txBody>
      </p:sp>
    </p:spTree>
    <p:extLst>
      <p:ext uri="{BB962C8B-B14F-4D97-AF65-F5344CB8AC3E}">
        <p14:creationId xmlns:p14="http://schemas.microsoft.com/office/powerpoint/2010/main" xmlns="" val="4196614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Grp="1" noChangeArrowheads="1"/>
          </p:cNvSpPr>
          <p:nvPr>
            <p:ph type="sldNum" sz="quarter" idx="5"/>
          </p:nvPr>
        </p:nvSpPr>
        <p:spPr>
          <a:noFill/>
        </p:spPr>
        <p:txBody>
          <a:bodyPr/>
          <a:lstStyle/>
          <a:p>
            <a:fld id="{062096D6-E575-4BB1-A51C-B02BCFFE80BA}" type="slidenum">
              <a:rPr lang="en-GB"/>
              <a:pPr/>
              <a:t>6</a:t>
            </a:fld>
            <a:endParaRPr lang="en-GB"/>
          </a:p>
        </p:txBody>
      </p:sp>
      <p:sp>
        <p:nvSpPr>
          <p:cNvPr id="22531" name="Rectangle 2"/>
          <p:cNvSpPr>
            <a:spLocks noGrp="1" noRot="1" noChangeAspect="1" noChangeArrowheads="1" noTextEdit="1"/>
          </p:cNvSpPr>
          <p:nvPr>
            <p:ph type="sldImg"/>
          </p:nvPr>
        </p:nvSpPr>
        <p:spPr>
          <a:xfrm>
            <a:off x="349250" y="679450"/>
            <a:ext cx="6164263" cy="3468688"/>
          </a:xfrm>
          <a:ln/>
        </p:spPr>
      </p:sp>
      <p:sp>
        <p:nvSpPr>
          <p:cNvPr id="22532" name="Rectangle 3"/>
          <p:cNvSpPr>
            <a:spLocks noGrp="1" noChangeArrowheads="1"/>
          </p:cNvSpPr>
          <p:nvPr>
            <p:ph type="body" idx="1"/>
          </p:nvPr>
        </p:nvSpPr>
        <p:spPr>
          <a:xfrm>
            <a:off x="913962" y="4375793"/>
            <a:ext cx="5030077" cy="4073707"/>
          </a:xfrm>
          <a:noFill/>
          <a:ln/>
        </p:spPr>
        <p:txBody>
          <a:bodyPr/>
          <a:lstStyle/>
          <a:p>
            <a:endParaRPr lang="fr-FR" smtClean="0"/>
          </a:p>
        </p:txBody>
      </p:sp>
      <p:sp>
        <p:nvSpPr>
          <p:cNvPr id="22533" name="AutoShape 4"/>
          <p:cNvSpPr>
            <a:spLocks noChangeArrowheads="1"/>
          </p:cNvSpPr>
          <p:nvPr/>
        </p:nvSpPr>
        <p:spPr bwMode="auto">
          <a:xfrm>
            <a:off x="3353385" y="2928690"/>
            <a:ext cx="327656" cy="1037273"/>
          </a:xfrm>
          <a:prstGeom prst="irregularSeal1">
            <a:avLst/>
          </a:prstGeom>
          <a:noFill/>
          <a:ln w="38100">
            <a:solidFill>
              <a:srgbClr val="FF0000"/>
            </a:solidFill>
            <a:miter lim="800000"/>
            <a:headEnd/>
            <a:tailEnd/>
          </a:ln>
        </p:spPr>
        <p:txBody>
          <a:bodyPr wrap="none" anchor="ctr">
            <a:spAutoFit/>
          </a:bodyPr>
          <a:lstStyle/>
          <a:p>
            <a:endParaRPr lang="en-US"/>
          </a:p>
        </p:txBody>
      </p:sp>
      <p:sp>
        <p:nvSpPr>
          <p:cNvPr id="22534" name="Text Box 5"/>
          <p:cNvSpPr txBox="1">
            <a:spLocks noChangeArrowheads="1"/>
          </p:cNvSpPr>
          <p:nvPr/>
        </p:nvSpPr>
        <p:spPr bwMode="auto">
          <a:xfrm>
            <a:off x="3693656" y="3211878"/>
            <a:ext cx="1007007" cy="492443"/>
          </a:xfrm>
          <a:prstGeom prst="rect">
            <a:avLst/>
          </a:prstGeom>
          <a:noFill/>
          <a:ln w="9525">
            <a:noFill/>
            <a:miter lim="800000"/>
            <a:headEnd/>
            <a:tailEnd/>
          </a:ln>
        </p:spPr>
        <p:txBody>
          <a:bodyPr wrap="none">
            <a:spAutoFit/>
          </a:bodyPr>
          <a:lstStyle/>
          <a:p>
            <a:pPr eaLnBrk="1" hangingPunct="1">
              <a:lnSpc>
                <a:spcPct val="130000"/>
              </a:lnSpc>
            </a:pPr>
            <a:r>
              <a:rPr lang="en-US" sz="1000" i="0">
                <a:solidFill>
                  <a:srgbClr val="000000"/>
                </a:solidFill>
                <a:latin typeface="Tahoma" pitchFamily="34" charset="0"/>
              </a:rPr>
              <a:t>2 More Levels </a:t>
            </a:r>
          </a:p>
          <a:p>
            <a:pPr eaLnBrk="1" hangingPunct="1">
              <a:lnSpc>
                <a:spcPct val="130000"/>
              </a:lnSpc>
            </a:pPr>
            <a:r>
              <a:rPr lang="en-US" sz="1000" i="0">
                <a:solidFill>
                  <a:srgbClr val="000000"/>
                </a:solidFill>
                <a:latin typeface="Tahoma" pitchFamily="34" charset="0"/>
              </a:rPr>
              <a:t>Below this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9</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11</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15</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B975B69D-2E22-4B24-976F-3237F058576B}" type="datetime1">
              <a:rPr lang="en-US" smtClean="0"/>
              <a:pPr/>
              <a:t>1/12/2016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E662AD93-0A8B-413E-9E95-3DE4D7E36B6B}" type="datetime1">
              <a:rPr lang="en-US" smtClean="0"/>
              <a:pPr/>
              <a:t>1/12/2016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D9E3860B-53B9-449F-9821-F1380CCDA719}" type="datetime1">
              <a:rPr lang="en-US" smtClean="0"/>
              <a:pPr/>
              <a:t>1/12/2016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8CC65014-A9F9-497C-B1D8-5010FE874338}" type="datetime1">
              <a:rPr lang="en-US" smtClean="0"/>
              <a:pPr/>
              <a:t>1/12/2016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C8827E1F-95D6-4818-BF04-6C3257209A9A}" type="datetime1">
              <a:rPr lang="en-US" smtClean="0"/>
              <a:pPr/>
              <a:t>1/12/2016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E7518011-2551-4B32-A6AA-AFC24DB64264}" type="datetime1">
              <a:rPr lang="en-US" smtClean="0"/>
              <a:pPr/>
              <a:t>1/12/2016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B4B8AB6C-9C3E-42E9-B7A8-0D45F45ED471}" type="datetime1">
              <a:rPr lang="en-US" smtClean="0"/>
              <a:pPr/>
              <a:t>1/12/2016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321EBE77-71C8-437E-804E-BC6AAF017E85}" type="datetime1">
              <a:rPr lang="en-US" smtClean="0"/>
              <a:pPr/>
              <a:t>1/12/2016</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DB5F04E-0354-432A-A855-37800FB6DA58}" type="datetime1">
              <a:rPr lang="en-US" smtClean="0"/>
              <a:pPr/>
              <a:t>1/12/2016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49CFB8C4-001D-4957-B9B3-628844C9D583}" type="datetime1">
              <a:rPr lang="en-US" smtClean="0"/>
              <a:pPr/>
              <a:t>1/12/2016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4225562F-2ACD-4F60-85F6-5301FCEDAEAC}"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587678-0AF4-4782-B078-8A5C40C5F820}" type="datetime1">
              <a:rPr lang="en-US" smtClean="0"/>
              <a:pPr/>
              <a:t>1/12/2016</a:t>
            </a:fld>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D0091650-2DA7-4F98-952E-E61312C99A3D}"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C683AEB3-E9FF-4B6F-AA33-40C48C25DAF2}"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15B29849-9FA5-4843-8A15-8CBEC83B121F}"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7E89316E-2B4C-49F6-A212-EC90CFB64CF6}"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FBA25FF2-AF19-4410-B8A6-5DF99D94FFA7}"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6904FB-3D37-4E0F-B7B8-AA3F64E3A727}"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EB6639-AC6B-4E30-92FA-C924D3694C4B}"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6ADE43AE-D5BA-4F0E-AFD4-DDA6EE069E12}" type="datetime1">
              <a:rPr lang="en-US" smtClean="0"/>
              <a:pPr/>
              <a:t>1/12/2016</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FE8AB15-353C-48EB-85A6-CD6CB44B5029}" type="datetime1">
              <a:rPr lang="en-US" smtClean="0"/>
              <a:pPr/>
              <a:t>1/12/2016</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EF03ACBD-99F9-49C0-ACB9-EF931CDC9B1A}" type="datetime1">
              <a:rPr lang="en-US" smtClean="0"/>
              <a:pPr/>
              <a:t>1/12/2016</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88F458-7733-429C-B109-3C9F9A2DE3CC}" type="datetime1">
              <a:rPr lang="en-US" smtClean="0"/>
              <a:pPr/>
              <a:t>1/12/2016</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E11F8E4-39D0-4049-AF38-0FC900C023ED}"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6F1077-4A98-41B8-B551-C393A0D6444B}"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84E017-F44D-46EF-BC24-DC595FD8ADCF}"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234B49-3EA9-4F79-9400-39CBD7EE9D61}"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C510DAC-5D82-4E50-B7C4-230A7C1EB1DA}"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CD55F35D-1371-4430-93CE-9994DA2B52E7}"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D047D40C-911F-4FC7-9B74-6B0DFEFD7AC5}"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FC4128B5-3AEB-4DA3-B66D-E26AABB569DA}" type="datetime1">
              <a:rPr lang="en-US" smtClean="0"/>
              <a:pPr/>
              <a:t>1/12/2016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FD572F76-F1EA-444A-83BB-E47A14440E4E}" type="datetime1">
              <a:rPr lang="en-US" smtClean="0"/>
              <a:pPr/>
              <a:t>1/12/2016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D44BE07A-7D22-4C19-A5BD-483F056B573B}" type="datetime1">
              <a:rPr lang="en-US" smtClean="0"/>
              <a:pPr/>
              <a:t>1/12/2016</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C99BAFB7-0E5E-4EE7-8641-AF7850911139}" type="datetime1">
              <a:rPr lang="en-US" smtClean="0"/>
              <a:pPr/>
              <a:t>1/12/2016</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A798F0-FA43-4E15-BD25-5AA39BB9FA12}" type="datetime1">
              <a:rPr lang="en-US" smtClean="0"/>
              <a:pPr/>
              <a:t>1/12/2016</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60E4D1F5-AACB-4215-8EA5-C7BF4EA7155B}" type="datetime1">
              <a:rPr lang="en-US" smtClean="0"/>
              <a:pPr/>
              <a:t>1/12/2016</a:t>
            </a:fld>
            <a:endParaRPr lang="en-US"/>
          </a:p>
        </p:txBody>
      </p:sp>
      <p:sp>
        <p:nvSpPr>
          <p:cNvPr id="5" name="Footer Placeholder 4"/>
          <p:cNvSpPr>
            <a:spLocks noGrp="1"/>
          </p:cNvSpPr>
          <p:nvPr>
            <p:ph type="ftr" sz="quarter" idx="11"/>
          </p:nvPr>
        </p:nvSpPr>
        <p:spPr/>
        <p:txBody>
          <a:bodyPr>
            <a:noAutofit/>
          </a:bodyPr>
          <a:lstStyle/>
          <a:p>
            <a:r>
              <a:rPr lang="en-US" smtClean="0"/>
              <a:t>Oracle Confidential – Internal/Restricted/Highly Restricted</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8D60B8A-9BFF-4352-BF1B-F2D9953CB3D0}" type="datetime1">
              <a:rPr lang="en-US" smtClean="0"/>
              <a:pPr/>
              <a:t>1/12/2016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5A8124F4-2654-49F0-B08D-C261A0579CE7}" type="datetime1">
              <a:rPr lang="en-US" smtClean="0"/>
              <a:pPr/>
              <a:t>1/12/2016</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7.xml"/><Relationship Id="rId1" Type="http://schemas.openxmlformats.org/officeDocument/2006/relationships/slideLayout" Target="../slideLayouts/slideLayout21.xml"/><Relationship Id="rId5" Type="http://schemas.openxmlformats.org/officeDocument/2006/relationships/image" Target="../media/image21.emf"/><Relationship Id="rId4" Type="http://schemas.openxmlformats.org/officeDocument/2006/relationships/image" Target="../media/image20.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Discovery Map</a:t>
            </a:r>
            <a:endParaRPr lang="en-US"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endParaRPr lang="en-US" dirty="0"/>
          </a:p>
        </p:txBody>
      </p:sp>
      <p:sp>
        <p:nvSpPr>
          <p:cNvPr id="6" name="Text Placeholder 5"/>
          <p:cNvSpPr>
            <a:spLocks noGrp="1"/>
          </p:cNvSpPr>
          <p:nvPr>
            <p:ph type="body" sz="quarter" idx="13"/>
          </p:nvPr>
        </p:nvSpPr>
        <p:spPr/>
        <p:txBody>
          <a:bodyPr/>
          <a:lstStyle/>
          <a:p>
            <a:r>
              <a:rPr lang="en-US" smtClean="0"/>
              <a:t>Presenter’s Name</a:t>
            </a:r>
          </a:p>
          <a:p>
            <a:r>
              <a:rPr lang="en-US" smtClean="0"/>
              <a:t>Presenter’s Title</a:t>
            </a:r>
          </a:p>
          <a:p>
            <a:r>
              <a:rPr lang="en-US" smtClean="0"/>
              <a:t>Organization, Division or Business Unit</a:t>
            </a:r>
          </a:p>
          <a:p>
            <a:r>
              <a:rPr lang="en-US" smtClean="0"/>
              <a:t>Month 00, 2014</a:t>
            </a:r>
            <a:endParaRPr lang="en-US" dirty="0"/>
          </a:p>
        </p:txBody>
      </p:sp>
      <p:sp>
        <p:nvSpPr>
          <p:cNvPr id="7" name="TextBox 6"/>
          <p:cNvSpPr txBox="1"/>
          <p:nvPr/>
        </p:nvSpPr>
        <p:spPr>
          <a:xfrm>
            <a:off x="56372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8" name="Picture 7" descr="Oracle_Unified_Method_485C.gif"/>
          <p:cNvPicPr>
            <a:picLocks noChangeAspect="1"/>
          </p:cNvPicPr>
          <p:nvPr/>
        </p:nvPicPr>
        <p:blipFill>
          <a:blip r:embed="rId4" cstate="print"/>
          <a:srcRect/>
          <a:stretch>
            <a:fillRect/>
          </a:stretch>
        </p:blipFill>
        <p:spPr bwMode="auto">
          <a:xfrm>
            <a:off x="9980612" y="5562600"/>
            <a:ext cx="1619250" cy="638175"/>
          </a:xfrm>
          <a:prstGeom prst="rect">
            <a:avLst/>
          </a:prstGeom>
          <a:noFill/>
          <a:ln w="9525">
            <a:noFill/>
            <a:miter lim="800000"/>
            <a:headEnd/>
            <a:tailEnd/>
          </a:ln>
        </p:spPr>
      </p:pic>
    </p:spTree>
    <p:extLst>
      <p:ext uri="{BB962C8B-B14F-4D97-AF65-F5344CB8AC3E}">
        <p14:creationId xmlns:p14="http://schemas.microsoft.com/office/powerpoint/2010/main" xmlns="" val="336776055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Speaker</a:t>
            </a:r>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a:t>
            </a:fld>
            <a:endParaRPr lang="en-US" dirty="0"/>
          </a:p>
        </p:txBody>
      </p:sp>
      <p:sp>
        <p:nvSpPr>
          <p:cNvPr id="11" name="Text Placeholder 10"/>
          <p:cNvSpPr>
            <a:spLocks noGrp="1"/>
          </p:cNvSpPr>
          <p:nvPr>
            <p:ph type="body" sz="quarter" idx="14"/>
          </p:nvPr>
        </p:nvSpPr>
        <p:spPr/>
        <p:txBody>
          <a:bodyPr/>
          <a:lstStyle/>
          <a:p>
            <a:r>
              <a:rPr lang="en-US" smtClean="0"/>
              <a:t>First, Last Name</a:t>
            </a:r>
          </a:p>
          <a:p>
            <a:pPr lvl="1"/>
            <a:r>
              <a:rPr lang="en-US" smtClean="0"/>
              <a:t>Title, Company</a:t>
            </a:r>
            <a:endParaRPr lang="en-US" dirty="0"/>
          </a:p>
        </p:txBody>
      </p:sp>
      <p:sp>
        <p:nvSpPr>
          <p:cNvPr id="17" name="TextBox 16"/>
          <p:cNvSpPr txBox="1"/>
          <p:nvPr/>
        </p:nvSpPr>
        <p:spPr>
          <a:xfrm>
            <a:off x="9133544" y="5483636"/>
            <a:ext cx="2752069" cy="838200"/>
          </a:xfrm>
          <a:prstGeom prst="rect">
            <a:avLst/>
          </a:prstGeom>
          <a:solidFill>
            <a:srgbClr val="EAEEEF"/>
          </a:solidFill>
          <a:ln w="12700">
            <a:solidFill>
              <a:srgbClr val="D9541E"/>
            </a:solidFill>
            <a:prstDash val="sysDash"/>
          </a:ln>
        </p:spPr>
        <p:txBody>
          <a:bodyPr wrap="square" lIns="91440" tIns="91440" rIns="91440" bIns="91440" rtlCol="0">
            <a:noAutofit/>
          </a:bodyPr>
          <a:lstStyle/>
          <a:p>
            <a:pPr>
              <a:lnSpc>
                <a:spcPct val="90000"/>
              </a:lnSpc>
              <a:spcBef>
                <a:spcPts val="600"/>
              </a:spcBef>
            </a:pPr>
            <a:r>
              <a:rPr lang="en-US" sz="1050" b="1" dirty="0" smtClean="0">
                <a:solidFill>
                  <a:srgbClr val="5F5F5F"/>
                </a:solidFill>
              </a:rPr>
              <a:t>Note: </a:t>
            </a:r>
            <a:r>
              <a:rPr lang="en-US" sz="1050" dirty="0" smtClean="0">
                <a:solidFill>
                  <a:srgbClr val="5F5F5F"/>
                </a:solidFill>
              </a:rPr>
              <a:t>Detailed instructions on how to replace sample pictures like the one shown here can be found in the speaker notes of this slide.</a:t>
            </a:r>
          </a:p>
          <a:p>
            <a:pPr>
              <a:lnSpc>
                <a:spcPct val="90000"/>
              </a:lnSpc>
              <a:spcBef>
                <a:spcPts val="600"/>
              </a:spcBef>
            </a:pPr>
            <a:r>
              <a:rPr lang="en-US" sz="1050" b="1" dirty="0" smtClean="0">
                <a:solidFill>
                  <a:srgbClr val="5F5F5F"/>
                </a:solidFill>
              </a:rPr>
              <a:t>Tip! </a:t>
            </a:r>
            <a:r>
              <a:rPr lang="en-US" sz="1050" dirty="0" smtClean="0">
                <a:solidFill>
                  <a:srgbClr val="5F5F5F"/>
                </a:solidFill>
              </a:rPr>
              <a:t>Remember to remove this text box.</a:t>
            </a:r>
          </a:p>
        </p:txBody>
      </p:sp>
      <p:pic>
        <p:nvPicPr>
          <p:cNvPr id="39" name="Picture Placeholder 38"/>
          <p:cNvPicPr>
            <a:picLocks noGrp="1" noChangeAspect="1"/>
          </p:cNvPicPr>
          <p:nvPr>
            <p:ph type="pic" idx="1"/>
          </p:nvPr>
        </p:nvPicPr>
        <p:blipFill rotWithShape="1">
          <a:blip r:embed="rId3" cstate="screen">
            <a:extLst>
              <a:ext uri="{28A0092B-C50C-407E-A947-70E740481C1C}">
                <a14:useLocalDpi xmlns:a14="http://schemas.microsoft.com/office/drawing/2010/main" xmlns="" val="0"/>
              </a:ext>
            </a:extLst>
          </a:blip>
          <a:srcRect/>
          <a:stretch/>
        </p:blipFill>
        <p:spPr>
          <a:xfrm>
            <a:off x="2285999" y="1828800"/>
            <a:ext cx="3474720" cy="3840480"/>
          </a:xfrm>
        </p:spPr>
      </p:pic>
    </p:spTree>
    <p:extLst>
      <p:ext uri="{BB962C8B-B14F-4D97-AF65-F5344CB8AC3E}">
        <p14:creationId xmlns:p14="http://schemas.microsoft.com/office/powerpoint/2010/main" xmlns="" val="53848568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Discovery Map</a:t>
            </a:r>
            <a:endParaRPr lang="en-US" dirty="0"/>
          </a:p>
        </p:txBody>
      </p:sp>
      <p:sp>
        <p:nvSpPr>
          <p:cNvPr id="4" name="Text Placeholder 3"/>
          <p:cNvSpPr>
            <a:spLocks noGrp="1"/>
          </p:cNvSpPr>
          <p:nvPr>
            <p:ph type="body" sz="half" idx="2"/>
          </p:nvPr>
        </p:nvSpPr>
        <p:spPr>
          <a:xfrm>
            <a:off x="8990012" y="1524001"/>
            <a:ext cx="2667001" cy="4419600"/>
          </a:xfrm>
        </p:spPr>
        <p:txBody>
          <a:bodyPr/>
          <a:lstStyle/>
          <a:p>
            <a:r>
              <a:rPr lang="en-US" b="1" dirty="0" smtClean="0"/>
              <a:t>Consequential Pains</a:t>
            </a:r>
          </a:p>
          <a:p>
            <a:r>
              <a:rPr lang="en-US" dirty="0" smtClean="0"/>
              <a:t>The impact of the tactical pains.</a:t>
            </a:r>
          </a:p>
          <a:p>
            <a:endParaRPr lang="en-US" dirty="0" smtClean="0"/>
          </a:p>
          <a:p>
            <a:r>
              <a:rPr lang="en-US" b="1" dirty="0" smtClean="0"/>
              <a:t>Tactical Pains</a:t>
            </a:r>
          </a:p>
          <a:p>
            <a:r>
              <a:rPr lang="en-US" dirty="0" smtClean="0">
                <a:solidFill>
                  <a:schemeClr val="tx2"/>
                </a:solidFill>
              </a:rPr>
              <a:t>Tasks, situations or processes that prevent Enterprise from </a:t>
            </a:r>
            <a:br>
              <a:rPr lang="en-US" dirty="0" smtClean="0">
                <a:solidFill>
                  <a:schemeClr val="tx2"/>
                </a:solidFill>
              </a:rPr>
            </a:br>
            <a:r>
              <a:rPr lang="en-US" dirty="0" smtClean="0">
                <a:solidFill>
                  <a:schemeClr val="tx2"/>
                </a:solidFill>
              </a:rPr>
              <a:t>achieving their Key Business Requirements.</a:t>
            </a:r>
          </a:p>
          <a:p>
            <a:endParaRPr lang="en-US" dirty="0" smtClean="0"/>
          </a:p>
        </p:txBody>
      </p:sp>
      <p:sp>
        <p:nvSpPr>
          <p:cNvPr id="5" name="Slide Number Placeholder 4"/>
          <p:cNvSpPr>
            <a:spLocks noGrp="1"/>
          </p:cNvSpPr>
          <p:nvPr>
            <p:ph type="sldNum" sz="quarter" idx="12"/>
          </p:nvPr>
        </p:nvSpPr>
        <p:spPr/>
        <p:txBody>
          <a:bodyPr/>
          <a:lstStyle/>
          <a:p>
            <a:fld id="{C51EAA63-D034-42AE-91FA-B13B9518C7BE}" type="slidenum">
              <a:rPr lang="en-US" smtClean="0"/>
              <a:pPr/>
              <a:t>4</a:t>
            </a:fld>
            <a:endParaRPr lang="en-US" dirty="0"/>
          </a:p>
        </p:txBody>
      </p:sp>
      <p:grpSp>
        <p:nvGrpSpPr>
          <p:cNvPr id="7" name="Group 1046"/>
          <p:cNvGrpSpPr>
            <a:grpSpLocks/>
          </p:cNvGrpSpPr>
          <p:nvPr/>
        </p:nvGrpSpPr>
        <p:grpSpPr bwMode="auto">
          <a:xfrm>
            <a:off x="2073795" y="2592917"/>
            <a:ext cx="5108303" cy="1354759"/>
            <a:chOff x="589" y="1613"/>
            <a:chExt cx="3084" cy="1099"/>
          </a:xfrm>
        </p:grpSpPr>
        <p:sp>
          <p:nvSpPr>
            <p:cNvPr id="8" name="Rectangle 1047"/>
            <p:cNvSpPr>
              <a:spLocks noChangeArrowheads="1"/>
            </p:cNvSpPr>
            <p:nvPr/>
          </p:nvSpPr>
          <p:spPr bwMode="auto">
            <a:xfrm>
              <a:off x="589" y="2087"/>
              <a:ext cx="1019" cy="625"/>
            </a:xfrm>
            <a:prstGeom prst="rect">
              <a:avLst/>
            </a:prstGeom>
            <a:solidFill>
              <a:srgbClr val="9797BF"/>
            </a:solidFill>
            <a:ln w="9525">
              <a:noFill/>
              <a:miter lim="800000"/>
              <a:headEnd/>
              <a:tailEnd/>
            </a:ln>
            <a:effectLst>
              <a:outerShdw dist="35921" dir="2700000" algn="ctr" rotWithShape="0">
                <a:schemeClr val="tx2"/>
              </a:outerShdw>
            </a:effectLst>
          </p:spPr>
          <p:txBody>
            <a:bodyPr wrap="none" anchor="ctr"/>
            <a:lstStyle/>
            <a:p>
              <a:pPr algn="ctr">
                <a:spcBef>
                  <a:spcPct val="20000"/>
                </a:spcBef>
                <a:buClr>
                  <a:srgbClr val="FFCC00"/>
                </a:buClr>
                <a:buSzPct val="90000"/>
                <a:buFont typeface="Monotype Sorts" pitchFamily="2" charset="2"/>
                <a:buNone/>
                <a:defRPr/>
              </a:pPr>
              <a:r>
                <a:rPr lang="en-US" b="0" i="0" dirty="0">
                  <a:solidFill>
                    <a:srgbClr val="FFFFFF"/>
                  </a:solidFill>
                  <a:effectLst>
                    <a:outerShdw blurRad="38100" dist="38100" dir="2700000" algn="tl">
                      <a:srgbClr val="000000"/>
                    </a:outerShdw>
                  </a:effectLst>
                </a:rPr>
                <a:t>Strategies</a:t>
              </a:r>
              <a:endParaRPr lang="en-US" b="0" i="0" dirty="0">
                <a:solidFill>
                  <a:srgbClr val="FFFFFF"/>
                </a:solidFill>
              </a:endParaRPr>
            </a:p>
          </p:txBody>
        </p:sp>
        <p:sp>
          <p:nvSpPr>
            <p:cNvPr id="9" name="Rectangle 1048"/>
            <p:cNvSpPr>
              <a:spLocks noChangeArrowheads="1"/>
            </p:cNvSpPr>
            <p:nvPr/>
          </p:nvSpPr>
          <p:spPr bwMode="auto">
            <a:xfrm>
              <a:off x="2665" y="2087"/>
              <a:ext cx="1008" cy="625"/>
            </a:xfrm>
            <a:prstGeom prst="rect">
              <a:avLst/>
            </a:prstGeom>
            <a:solidFill>
              <a:srgbClr val="9797BF"/>
            </a:solidFill>
            <a:ln w="9525">
              <a:noFill/>
              <a:miter lim="800000"/>
              <a:headEnd/>
              <a:tailEnd/>
            </a:ln>
            <a:effectLst>
              <a:outerShdw dist="35921" dir="2700000" algn="ctr" rotWithShape="0">
                <a:schemeClr val="tx2"/>
              </a:outerShdw>
            </a:effectLst>
          </p:spPr>
          <p:txBody>
            <a:bodyPr wrap="none" anchor="ctr"/>
            <a:lstStyle/>
            <a:p>
              <a:pPr algn="ctr">
                <a:spcBef>
                  <a:spcPct val="20000"/>
                </a:spcBef>
                <a:buClr>
                  <a:srgbClr val="FFCC00"/>
                </a:buClr>
                <a:buSzPct val="90000"/>
                <a:buFont typeface="Monotype Sorts" pitchFamily="2" charset="2"/>
                <a:buNone/>
                <a:defRPr/>
              </a:pPr>
              <a:r>
                <a:rPr lang="en-US" b="0" i="0" dirty="0">
                  <a:solidFill>
                    <a:srgbClr val="FFFFFF"/>
                  </a:solidFill>
                  <a:effectLst>
                    <a:outerShdw blurRad="38100" dist="38100" dir="2700000" algn="tl">
                      <a:srgbClr val="000000"/>
                    </a:outerShdw>
                  </a:effectLst>
                </a:rPr>
                <a:t>Strategies</a:t>
              </a:r>
              <a:endParaRPr lang="en-US" b="0" i="0" dirty="0">
                <a:solidFill>
                  <a:srgbClr val="FFFFFF"/>
                </a:solidFill>
              </a:endParaRPr>
            </a:p>
          </p:txBody>
        </p:sp>
        <p:cxnSp>
          <p:nvCxnSpPr>
            <p:cNvPr id="10" name="AutoShape 1049"/>
            <p:cNvCxnSpPr>
              <a:cxnSpLocks noChangeShapeType="1"/>
              <a:stCxn id="56" idx="2"/>
              <a:endCxn id="8" idx="0"/>
            </p:cNvCxnSpPr>
            <p:nvPr/>
          </p:nvCxnSpPr>
          <p:spPr bwMode="auto">
            <a:xfrm rot="5400000">
              <a:off x="1412" y="1299"/>
              <a:ext cx="474" cy="1101"/>
            </a:xfrm>
            <a:prstGeom prst="bentConnector3">
              <a:avLst>
                <a:gd name="adj1" fmla="val 50000"/>
              </a:avLst>
            </a:prstGeom>
            <a:noFill/>
            <a:ln w="19050">
              <a:solidFill>
                <a:schemeClr val="tx2"/>
              </a:solidFill>
              <a:miter lim="800000"/>
              <a:headEnd/>
              <a:tailEnd type="triangle" w="med" len="med"/>
            </a:ln>
          </p:spPr>
        </p:cxnSp>
        <p:cxnSp>
          <p:nvCxnSpPr>
            <p:cNvPr id="11" name="AutoShape 1050"/>
            <p:cNvCxnSpPr>
              <a:cxnSpLocks noChangeShapeType="1"/>
              <a:stCxn id="56" idx="2"/>
              <a:endCxn id="9" idx="0"/>
            </p:cNvCxnSpPr>
            <p:nvPr/>
          </p:nvCxnSpPr>
          <p:spPr bwMode="auto">
            <a:xfrm rot="16200000" flipH="1">
              <a:off x="2448" y="1366"/>
              <a:ext cx="474" cy="969"/>
            </a:xfrm>
            <a:prstGeom prst="bentConnector3">
              <a:avLst>
                <a:gd name="adj1" fmla="val 50000"/>
              </a:avLst>
            </a:prstGeom>
            <a:noFill/>
            <a:ln w="19050">
              <a:solidFill>
                <a:schemeClr val="tx2"/>
              </a:solidFill>
              <a:miter lim="800000"/>
              <a:headEnd/>
              <a:tailEnd type="triangle" w="med" len="med"/>
            </a:ln>
          </p:spPr>
        </p:cxnSp>
      </p:grpSp>
      <p:grpSp>
        <p:nvGrpSpPr>
          <p:cNvPr id="12" name="Group 1051"/>
          <p:cNvGrpSpPr>
            <a:grpSpLocks/>
          </p:cNvGrpSpPr>
          <p:nvPr/>
        </p:nvGrpSpPr>
        <p:grpSpPr bwMode="auto">
          <a:xfrm>
            <a:off x="1607519" y="3936580"/>
            <a:ext cx="6050705" cy="1223944"/>
            <a:chOff x="308" y="2703"/>
            <a:chExt cx="3653" cy="993"/>
          </a:xfrm>
        </p:grpSpPr>
        <p:sp>
          <p:nvSpPr>
            <p:cNvPr id="13" name="Rectangle 1052"/>
            <p:cNvSpPr>
              <a:spLocks noChangeArrowheads="1"/>
            </p:cNvSpPr>
            <p:nvPr/>
          </p:nvSpPr>
          <p:spPr bwMode="auto">
            <a:xfrm>
              <a:off x="3312" y="3240"/>
              <a:ext cx="649" cy="456"/>
            </a:xfrm>
            <a:prstGeom prst="rect">
              <a:avLst/>
            </a:prstGeom>
            <a:solidFill>
              <a:srgbClr val="9797BF"/>
            </a:solidFill>
            <a:ln w="9525">
              <a:noFill/>
              <a:miter lim="800000"/>
              <a:headEnd/>
              <a:tailEnd/>
            </a:ln>
            <a:effectLst>
              <a:outerShdw dist="35921" dir="2700000" algn="ctr" rotWithShape="0">
                <a:schemeClr val="tx2"/>
              </a:outerShdw>
            </a:effectLst>
          </p:spPr>
          <p:txBody>
            <a:bodyPr wrap="none" anchor="ctr"/>
            <a:lstStyle/>
            <a:p>
              <a:pPr algn="ctr">
                <a:spcBef>
                  <a:spcPct val="20000"/>
                </a:spcBef>
                <a:buClr>
                  <a:srgbClr val="FFCC00"/>
                </a:buClr>
                <a:buSzPct val="90000"/>
                <a:buFont typeface="Monotype Sorts" pitchFamily="2" charset="2"/>
                <a:buNone/>
                <a:defRPr/>
              </a:pPr>
              <a:r>
                <a:rPr lang="en-US" b="0" i="0" dirty="0">
                  <a:solidFill>
                    <a:srgbClr val="FFFFFF"/>
                  </a:solidFill>
                  <a:effectLst>
                    <a:outerShdw blurRad="38100" dist="38100" dir="2700000" algn="tl">
                      <a:srgbClr val="000000"/>
                    </a:outerShdw>
                  </a:effectLst>
                </a:rPr>
                <a:t>Tactics</a:t>
              </a:r>
              <a:endParaRPr lang="en-US" b="0" i="0" dirty="0">
                <a:solidFill>
                  <a:srgbClr val="FFFFFF"/>
                </a:solidFill>
              </a:endParaRPr>
            </a:p>
          </p:txBody>
        </p:sp>
        <p:sp>
          <p:nvSpPr>
            <p:cNvPr id="14" name="Rectangle 1053"/>
            <p:cNvSpPr>
              <a:spLocks noChangeArrowheads="1"/>
            </p:cNvSpPr>
            <p:nvPr/>
          </p:nvSpPr>
          <p:spPr bwMode="auto">
            <a:xfrm>
              <a:off x="1200" y="3240"/>
              <a:ext cx="649" cy="456"/>
            </a:xfrm>
            <a:prstGeom prst="rect">
              <a:avLst/>
            </a:prstGeom>
            <a:solidFill>
              <a:srgbClr val="9797BF"/>
            </a:solidFill>
            <a:ln w="9525">
              <a:noFill/>
              <a:miter lim="800000"/>
              <a:headEnd/>
              <a:tailEnd/>
            </a:ln>
            <a:effectLst>
              <a:outerShdw dist="35921" dir="2700000" algn="ctr" rotWithShape="0">
                <a:schemeClr val="tx2"/>
              </a:outerShdw>
            </a:effectLst>
          </p:spPr>
          <p:txBody>
            <a:bodyPr wrap="none" anchor="ctr"/>
            <a:lstStyle/>
            <a:p>
              <a:pPr algn="ctr">
                <a:spcBef>
                  <a:spcPct val="20000"/>
                </a:spcBef>
                <a:buClr>
                  <a:srgbClr val="FFCC00"/>
                </a:buClr>
                <a:buSzPct val="90000"/>
                <a:buFont typeface="Monotype Sorts" pitchFamily="2" charset="2"/>
                <a:buNone/>
                <a:defRPr/>
              </a:pPr>
              <a:r>
                <a:rPr lang="en-US" b="0" i="0" dirty="0">
                  <a:solidFill>
                    <a:srgbClr val="FFFFFF"/>
                  </a:solidFill>
                  <a:effectLst>
                    <a:outerShdw blurRad="38100" dist="38100" dir="2700000" algn="tl">
                      <a:srgbClr val="000000"/>
                    </a:outerShdw>
                  </a:effectLst>
                </a:rPr>
                <a:t>Tactics</a:t>
              </a:r>
              <a:endParaRPr lang="en-US" b="0" i="0" dirty="0">
                <a:solidFill>
                  <a:srgbClr val="FFFFFF"/>
                </a:solidFill>
              </a:endParaRPr>
            </a:p>
          </p:txBody>
        </p:sp>
        <p:sp>
          <p:nvSpPr>
            <p:cNvPr id="15" name="Rectangle 1054"/>
            <p:cNvSpPr>
              <a:spLocks noChangeArrowheads="1"/>
            </p:cNvSpPr>
            <p:nvPr/>
          </p:nvSpPr>
          <p:spPr bwMode="auto">
            <a:xfrm>
              <a:off x="308" y="3240"/>
              <a:ext cx="649" cy="456"/>
            </a:xfrm>
            <a:prstGeom prst="rect">
              <a:avLst/>
            </a:prstGeom>
            <a:solidFill>
              <a:srgbClr val="9797BF"/>
            </a:solidFill>
            <a:ln w="9525">
              <a:noFill/>
              <a:miter lim="800000"/>
              <a:headEnd/>
              <a:tailEnd/>
            </a:ln>
            <a:effectLst>
              <a:outerShdw dist="35921" dir="2700000" algn="ctr" rotWithShape="0">
                <a:schemeClr val="tx2"/>
              </a:outerShdw>
            </a:effectLst>
          </p:spPr>
          <p:txBody>
            <a:bodyPr wrap="none" anchor="ctr"/>
            <a:lstStyle/>
            <a:p>
              <a:pPr algn="ctr">
                <a:spcBef>
                  <a:spcPct val="20000"/>
                </a:spcBef>
                <a:buClr>
                  <a:srgbClr val="FFCC00"/>
                </a:buClr>
                <a:buSzPct val="90000"/>
                <a:buFont typeface="Monotype Sorts" pitchFamily="2" charset="2"/>
                <a:buNone/>
                <a:defRPr/>
              </a:pPr>
              <a:r>
                <a:rPr lang="en-US" b="0" i="0" dirty="0">
                  <a:solidFill>
                    <a:srgbClr val="FFFFFF"/>
                  </a:solidFill>
                  <a:effectLst>
                    <a:outerShdw blurRad="38100" dist="38100" dir="2700000" algn="tl">
                      <a:srgbClr val="000000"/>
                    </a:outerShdw>
                  </a:effectLst>
                </a:rPr>
                <a:t>Tactics</a:t>
              </a:r>
              <a:endParaRPr lang="en-US" b="0" i="0" dirty="0">
                <a:solidFill>
                  <a:srgbClr val="FFFFFF"/>
                </a:solidFill>
              </a:endParaRPr>
            </a:p>
          </p:txBody>
        </p:sp>
        <p:sp>
          <p:nvSpPr>
            <p:cNvPr id="16" name="Rectangle 1055"/>
            <p:cNvSpPr>
              <a:spLocks noChangeArrowheads="1"/>
            </p:cNvSpPr>
            <p:nvPr/>
          </p:nvSpPr>
          <p:spPr bwMode="auto">
            <a:xfrm>
              <a:off x="2377" y="3240"/>
              <a:ext cx="649" cy="456"/>
            </a:xfrm>
            <a:prstGeom prst="rect">
              <a:avLst/>
            </a:prstGeom>
            <a:solidFill>
              <a:srgbClr val="9797BF"/>
            </a:solidFill>
            <a:ln w="9525">
              <a:noFill/>
              <a:miter lim="800000"/>
              <a:headEnd/>
              <a:tailEnd/>
            </a:ln>
            <a:effectLst>
              <a:outerShdw dist="35921" dir="2700000" algn="ctr" rotWithShape="0">
                <a:schemeClr val="tx2"/>
              </a:outerShdw>
            </a:effectLst>
          </p:spPr>
          <p:txBody>
            <a:bodyPr wrap="none" anchor="ctr"/>
            <a:lstStyle/>
            <a:p>
              <a:pPr algn="ctr">
                <a:spcBef>
                  <a:spcPct val="20000"/>
                </a:spcBef>
                <a:buClr>
                  <a:srgbClr val="FFCC00"/>
                </a:buClr>
                <a:buSzPct val="90000"/>
                <a:buFont typeface="Monotype Sorts" pitchFamily="2" charset="2"/>
                <a:buNone/>
                <a:defRPr/>
              </a:pPr>
              <a:r>
                <a:rPr lang="en-US" b="0" i="0" dirty="0">
                  <a:solidFill>
                    <a:srgbClr val="FFFFFF"/>
                  </a:solidFill>
                  <a:effectLst>
                    <a:outerShdw blurRad="38100" dist="38100" dir="2700000" algn="tl">
                      <a:srgbClr val="000000"/>
                    </a:outerShdw>
                  </a:effectLst>
                </a:rPr>
                <a:t>Tactics</a:t>
              </a:r>
              <a:endParaRPr lang="en-US" b="0" i="0" dirty="0">
                <a:solidFill>
                  <a:srgbClr val="FFFFFF"/>
                </a:solidFill>
              </a:endParaRPr>
            </a:p>
          </p:txBody>
        </p:sp>
        <p:cxnSp>
          <p:nvCxnSpPr>
            <p:cNvPr id="17" name="AutoShape 1056"/>
            <p:cNvCxnSpPr>
              <a:cxnSpLocks noChangeShapeType="1"/>
              <a:stCxn id="8" idx="2"/>
              <a:endCxn id="15" idx="0"/>
            </p:cNvCxnSpPr>
            <p:nvPr/>
          </p:nvCxnSpPr>
          <p:spPr bwMode="auto">
            <a:xfrm rot="5400000">
              <a:off x="602" y="2743"/>
              <a:ext cx="528" cy="467"/>
            </a:xfrm>
            <a:prstGeom prst="bentConnector3">
              <a:avLst>
                <a:gd name="adj1" fmla="val 50000"/>
              </a:avLst>
            </a:prstGeom>
            <a:noFill/>
            <a:ln w="19050">
              <a:solidFill>
                <a:schemeClr val="tx2"/>
              </a:solidFill>
              <a:miter lim="800000"/>
              <a:headEnd/>
              <a:tailEnd type="triangle" w="med" len="med"/>
            </a:ln>
          </p:spPr>
        </p:cxnSp>
        <p:cxnSp>
          <p:nvCxnSpPr>
            <p:cNvPr id="18" name="AutoShape 1057"/>
            <p:cNvCxnSpPr>
              <a:cxnSpLocks noChangeShapeType="1"/>
              <a:stCxn id="8" idx="2"/>
              <a:endCxn id="14" idx="0"/>
            </p:cNvCxnSpPr>
            <p:nvPr/>
          </p:nvCxnSpPr>
          <p:spPr bwMode="auto">
            <a:xfrm rot="16200000" flipH="1">
              <a:off x="1043" y="2759"/>
              <a:ext cx="537" cy="425"/>
            </a:xfrm>
            <a:prstGeom prst="bentConnector3">
              <a:avLst>
                <a:gd name="adj1" fmla="val 50000"/>
              </a:avLst>
            </a:prstGeom>
            <a:noFill/>
            <a:ln w="19050">
              <a:solidFill>
                <a:schemeClr val="tx2"/>
              </a:solidFill>
              <a:miter lim="800000"/>
              <a:headEnd/>
              <a:tailEnd type="triangle" w="med" len="med"/>
            </a:ln>
          </p:spPr>
        </p:cxnSp>
        <p:cxnSp>
          <p:nvCxnSpPr>
            <p:cNvPr id="19" name="AutoShape 1058"/>
            <p:cNvCxnSpPr>
              <a:cxnSpLocks noChangeShapeType="1"/>
              <a:stCxn id="9" idx="2"/>
              <a:endCxn id="16" idx="0"/>
            </p:cNvCxnSpPr>
            <p:nvPr/>
          </p:nvCxnSpPr>
          <p:spPr bwMode="auto">
            <a:xfrm rot="5400000">
              <a:off x="2667" y="2738"/>
              <a:ext cx="537" cy="468"/>
            </a:xfrm>
            <a:prstGeom prst="bentConnector3">
              <a:avLst>
                <a:gd name="adj1" fmla="val 50000"/>
              </a:avLst>
            </a:prstGeom>
            <a:noFill/>
            <a:ln w="19050">
              <a:solidFill>
                <a:schemeClr val="tx2"/>
              </a:solidFill>
              <a:miter lim="800000"/>
              <a:headEnd/>
              <a:tailEnd type="triangle" w="med" len="med"/>
            </a:ln>
          </p:spPr>
        </p:cxnSp>
        <p:cxnSp>
          <p:nvCxnSpPr>
            <p:cNvPr id="20" name="AutoShape 1059"/>
            <p:cNvCxnSpPr>
              <a:cxnSpLocks noChangeShapeType="1"/>
              <a:stCxn id="9" idx="2"/>
              <a:endCxn id="13" idx="0"/>
            </p:cNvCxnSpPr>
            <p:nvPr/>
          </p:nvCxnSpPr>
          <p:spPr bwMode="auto">
            <a:xfrm rot="16200000" flipH="1">
              <a:off x="3135" y="2738"/>
              <a:ext cx="537" cy="467"/>
            </a:xfrm>
            <a:prstGeom prst="bentConnector3">
              <a:avLst>
                <a:gd name="adj1" fmla="val 50000"/>
              </a:avLst>
            </a:prstGeom>
            <a:noFill/>
            <a:ln w="19050">
              <a:solidFill>
                <a:schemeClr val="tx2"/>
              </a:solidFill>
              <a:miter lim="800000"/>
              <a:headEnd/>
              <a:tailEnd type="triangle" w="med" len="med"/>
            </a:ln>
          </p:spPr>
        </p:cxnSp>
      </p:grpSp>
      <p:grpSp>
        <p:nvGrpSpPr>
          <p:cNvPr id="21" name="Group 1060"/>
          <p:cNvGrpSpPr>
            <a:grpSpLocks/>
          </p:cNvGrpSpPr>
          <p:nvPr/>
        </p:nvGrpSpPr>
        <p:grpSpPr bwMode="auto">
          <a:xfrm>
            <a:off x="482476" y="3865122"/>
            <a:ext cx="1358546" cy="1033463"/>
            <a:chOff x="2112" y="3216"/>
            <a:chExt cx="642" cy="651"/>
          </a:xfrm>
        </p:grpSpPr>
        <p:pic>
          <p:nvPicPr>
            <p:cNvPr id="22" name="Picture 1061" descr="FSA05467"/>
            <p:cNvPicPr>
              <a:picLocks noChangeAspect="1" noChangeArrowheads="1"/>
            </p:cNvPicPr>
            <p:nvPr/>
          </p:nvPicPr>
          <p:blipFill>
            <a:blip r:embed="rId2" cstate="print"/>
            <a:srcRect/>
            <a:stretch>
              <a:fillRect/>
            </a:stretch>
          </p:blipFill>
          <p:spPr bwMode="auto">
            <a:xfrm>
              <a:off x="2112" y="3216"/>
              <a:ext cx="642" cy="651"/>
            </a:xfrm>
            <a:prstGeom prst="rect">
              <a:avLst/>
            </a:prstGeom>
            <a:noFill/>
            <a:ln w="9525">
              <a:noFill/>
              <a:miter lim="800000"/>
              <a:headEnd/>
              <a:tailEnd/>
            </a:ln>
          </p:spPr>
        </p:pic>
        <p:sp>
          <p:nvSpPr>
            <p:cNvPr id="23" name="Text Box 1062"/>
            <p:cNvSpPr txBox="1">
              <a:spLocks noChangeArrowheads="1"/>
            </p:cNvSpPr>
            <p:nvPr/>
          </p:nvSpPr>
          <p:spPr bwMode="auto">
            <a:xfrm>
              <a:off x="2285" y="3340"/>
              <a:ext cx="282" cy="368"/>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3200" dirty="0">
                  <a:solidFill>
                    <a:srgbClr val="FFFFFF"/>
                  </a:solidFill>
                </a:rPr>
                <a:t>TP</a:t>
              </a:r>
            </a:p>
          </p:txBody>
        </p:sp>
      </p:grpSp>
      <p:grpSp>
        <p:nvGrpSpPr>
          <p:cNvPr id="24" name="Group 1063"/>
          <p:cNvGrpSpPr>
            <a:grpSpLocks/>
          </p:cNvGrpSpPr>
          <p:nvPr/>
        </p:nvGrpSpPr>
        <p:grpSpPr bwMode="auto">
          <a:xfrm>
            <a:off x="7569348" y="4603310"/>
            <a:ext cx="1358546" cy="1033463"/>
            <a:chOff x="2928" y="2949"/>
            <a:chExt cx="642" cy="651"/>
          </a:xfrm>
        </p:grpSpPr>
        <p:pic>
          <p:nvPicPr>
            <p:cNvPr id="25" name="Picture 1064" descr="FSA05467"/>
            <p:cNvPicPr>
              <a:picLocks noChangeAspect="1" noChangeArrowheads="1"/>
            </p:cNvPicPr>
            <p:nvPr/>
          </p:nvPicPr>
          <p:blipFill>
            <a:blip r:embed="rId2" cstate="print"/>
            <a:srcRect/>
            <a:stretch>
              <a:fillRect/>
            </a:stretch>
          </p:blipFill>
          <p:spPr bwMode="auto">
            <a:xfrm>
              <a:off x="2928" y="2949"/>
              <a:ext cx="642" cy="651"/>
            </a:xfrm>
            <a:prstGeom prst="rect">
              <a:avLst/>
            </a:prstGeom>
            <a:noFill/>
            <a:ln w="9525">
              <a:noFill/>
              <a:miter lim="800000"/>
              <a:headEnd/>
              <a:tailEnd/>
            </a:ln>
          </p:spPr>
        </p:pic>
        <p:sp>
          <p:nvSpPr>
            <p:cNvPr id="26" name="Text Box 1065"/>
            <p:cNvSpPr txBox="1">
              <a:spLocks noChangeArrowheads="1"/>
            </p:cNvSpPr>
            <p:nvPr/>
          </p:nvSpPr>
          <p:spPr bwMode="auto">
            <a:xfrm>
              <a:off x="3101" y="3073"/>
              <a:ext cx="282" cy="368"/>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3200" dirty="0">
                  <a:solidFill>
                    <a:srgbClr val="FFFFFF"/>
                  </a:solidFill>
                </a:rPr>
                <a:t>TP</a:t>
              </a:r>
            </a:p>
          </p:txBody>
        </p:sp>
      </p:grpSp>
      <p:grpSp>
        <p:nvGrpSpPr>
          <p:cNvPr id="27" name="Group 1067"/>
          <p:cNvGrpSpPr>
            <a:grpSpLocks/>
          </p:cNvGrpSpPr>
          <p:nvPr/>
        </p:nvGrpSpPr>
        <p:grpSpPr bwMode="auto">
          <a:xfrm>
            <a:off x="6094414" y="1787086"/>
            <a:ext cx="2577429" cy="2024063"/>
            <a:chOff x="2688" y="1824"/>
            <a:chExt cx="1218" cy="1275"/>
          </a:xfrm>
        </p:grpSpPr>
        <p:grpSp>
          <p:nvGrpSpPr>
            <p:cNvPr id="28" name="Group 1068"/>
            <p:cNvGrpSpPr>
              <a:grpSpLocks/>
            </p:cNvGrpSpPr>
            <p:nvPr/>
          </p:nvGrpSpPr>
          <p:grpSpPr bwMode="auto">
            <a:xfrm>
              <a:off x="3264" y="2448"/>
              <a:ext cx="642" cy="651"/>
              <a:chOff x="3264" y="2448"/>
              <a:chExt cx="642" cy="651"/>
            </a:xfrm>
          </p:grpSpPr>
          <p:grpSp>
            <p:nvGrpSpPr>
              <p:cNvPr id="34" name="Group 1069"/>
              <p:cNvGrpSpPr>
                <a:grpSpLocks/>
              </p:cNvGrpSpPr>
              <p:nvPr/>
            </p:nvGrpSpPr>
            <p:grpSpPr bwMode="auto">
              <a:xfrm>
                <a:off x="3264" y="2448"/>
                <a:ext cx="642" cy="651"/>
                <a:chOff x="3024" y="2304"/>
                <a:chExt cx="642" cy="651"/>
              </a:xfrm>
            </p:grpSpPr>
            <p:sp>
              <p:nvSpPr>
                <p:cNvPr id="36" name="Freeform 1070"/>
                <p:cNvSpPr>
                  <a:spLocks/>
                </p:cNvSpPr>
                <p:nvPr/>
              </p:nvSpPr>
              <p:spPr bwMode="auto">
                <a:xfrm>
                  <a:off x="3099" y="2375"/>
                  <a:ext cx="503" cy="503"/>
                </a:xfrm>
                <a:custGeom>
                  <a:avLst/>
                  <a:gdLst>
                    <a:gd name="T0" fmla="*/ 277 w 503"/>
                    <a:gd name="T1" fmla="*/ 1 h 503"/>
                    <a:gd name="T2" fmla="*/ 314 w 503"/>
                    <a:gd name="T3" fmla="*/ 8 h 503"/>
                    <a:gd name="T4" fmla="*/ 349 w 503"/>
                    <a:gd name="T5" fmla="*/ 19 h 503"/>
                    <a:gd name="T6" fmla="*/ 381 w 503"/>
                    <a:gd name="T7" fmla="*/ 36 h 503"/>
                    <a:gd name="T8" fmla="*/ 412 w 503"/>
                    <a:gd name="T9" fmla="*/ 57 h 503"/>
                    <a:gd name="T10" fmla="*/ 438 w 503"/>
                    <a:gd name="T11" fmla="*/ 82 h 503"/>
                    <a:gd name="T12" fmla="*/ 460 w 503"/>
                    <a:gd name="T13" fmla="*/ 111 h 503"/>
                    <a:gd name="T14" fmla="*/ 478 w 503"/>
                    <a:gd name="T15" fmla="*/ 143 h 503"/>
                    <a:gd name="T16" fmla="*/ 492 w 503"/>
                    <a:gd name="T17" fmla="*/ 177 h 503"/>
                    <a:gd name="T18" fmla="*/ 500 w 503"/>
                    <a:gd name="T19" fmla="*/ 213 h 503"/>
                    <a:gd name="T20" fmla="*/ 503 w 503"/>
                    <a:gd name="T21" fmla="*/ 251 h 503"/>
                    <a:gd name="T22" fmla="*/ 500 w 503"/>
                    <a:gd name="T23" fmla="*/ 289 h 503"/>
                    <a:gd name="T24" fmla="*/ 492 w 503"/>
                    <a:gd name="T25" fmla="*/ 326 h 503"/>
                    <a:gd name="T26" fmla="*/ 478 w 503"/>
                    <a:gd name="T27" fmla="*/ 360 h 503"/>
                    <a:gd name="T28" fmla="*/ 460 w 503"/>
                    <a:gd name="T29" fmla="*/ 391 h 503"/>
                    <a:gd name="T30" fmla="*/ 438 w 503"/>
                    <a:gd name="T31" fmla="*/ 421 h 503"/>
                    <a:gd name="T32" fmla="*/ 412 w 503"/>
                    <a:gd name="T33" fmla="*/ 445 h 503"/>
                    <a:gd name="T34" fmla="*/ 381 w 503"/>
                    <a:gd name="T35" fmla="*/ 466 h 503"/>
                    <a:gd name="T36" fmla="*/ 349 w 503"/>
                    <a:gd name="T37" fmla="*/ 483 h 503"/>
                    <a:gd name="T38" fmla="*/ 314 w 503"/>
                    <a:gd name="T39" fmla="*/ 495 h 503"/>
                    <a:gd name="T40" fmla="*/ 277 w 503"/>
                    <a:gd name="T41" fmla="*/ 501 h 503"/>
                    <a:gd name="T42" fmla="*/ 239 w 503"/>
                    <a:gd name="T43" fmla="*/ 503 h 503"/>
                    <a:gd name="T44" fmla="*/ 201 w 503"/>
                    <a:gd name="T45" fmla="*/ 498 h 503"/>
                    <a:gd name="T46" fmla="*/ 166 w 503"/>
                    <a:gd name="T47" fmla="*/ 488 h 503"/>
                    <a:gd name="T48" fmla="*/ 133 w 503"/>
                    <a:gd name="T49" fmla="*/ 472 h 503"/>
                    <a:gd name="T50" fmla="*/ 102 w 503"/>
                    <a:gd name="T51" fmla="*/ 453 h 503"/>
                    <a:gd name="T52" fmla="*/ 74 w 503"/>
                    <a:gd name="T53" fmla="*/ 429 h 503"/>
                    <a:gd name="T54" fmla="*/ 50 w 503"/>
                    <a:gd name="T55" fmla="*/ 401 h 503"/>
                    <a:gd name="T56" fmla="*/ 31 w 503"/>
                    <a:gd name="T57" fmla="*/ 370 h 503"/>
                    <a:gd name="T58" fmla="*/ 15 w 503"/>
                    <a:gd name="T59" fmla="*/ 337 h 503"/>
                    <a:gd name="T60" fmla="*/ 5 w 503"/>
                    <a:gd name="T61" fmla="*/ 302 h 503"/>
                    <a:gd name="T62" fmla="*/ 1 w 503"/>
                    <a:gd name="T63" fmla="*/ 264 h 503"/>
                    <a:gd name="T64" fmla="*/ 2 w 503"/>
                    <a:gd name="T65" fmla="*/ 226 h 503"/>
                    <a:gd name="T66" fmla="*/ 8 w 503"/>
                    <a:gd name="T67" fmla="*/ 189 h 503"/>
                    <a:gd name="T68" fmla="*/ 20 w 503"/>
                    <a:gd name="T69" fmla="*/ 154 h 503"/>
                    <a:gd name="T70" fmla="*/ 37 w 503"/>
                    <a:gd name="T71" fmla="*/ 122 h 503"/>
                    <a:gd name="T72" fmla="*/ 58 w 503"/>
                    <a:gd name="T73" fmla="*/ 91 h 503"/>
                    <a:gd name="T74" fmla="*/ 82 w 503"/>
                    <a:gd name="T75" fmla="*/ 65 h 503"/>
                    <a:gd name="T76" fmla="*/ 112 w 503"/>
                    <a:gd name="T77" fmla="*/ 43 h 503"/>
                    <a:gd name="T78" fmla="*/ 143 w 503"/>
                    <a:gd name="T79" fmla="*/ 24 h 503"/>
                    <a:gd name="T80" fmla="*/ 177 w 503"/>
                    <a:gd name="T81" fmla="*/ 11 h 503"/>
                    <a:gd name="T82" fmla="*/ 214 w 503"/>
                    <a:gd name="T83" fmla="*/ 3 h 503"/>
                    <a:gd name="T84" fmla="*/ 252 w 503"/>
                    <a:gd name="T85" fmla="*/ 0 h 50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03"/>
                    <a:gd name="T130" fmla="*/ 0 h 503"/>
                    <a:gd name="T131" fmla="*/ 503 w 503"/>
                    <a:gd name="T132" fmla="*/ 503 h 50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03" h="503">
                      <a:moveTo>
                        <a:pt x="252" y="0"/>
                      </a:moveTo>
                      <a:lnTo>
                        <a:pt x="265" y="0"/>
                      </a:lnTo>
                      <a:lnTo>
                        <a:pt x="277" y="1"/>
                      </a:lnTo>
                      <a:lnTo>
                        <a:pt x="290" y="3"/>
                      </a:lnTo>
                      <a:lnTo>
                        <a:pt x="302" y="5"/>
                      </a:lnTo>
                      <a:lnTo>
                        <a:pt x="314" y="8"/>
                      </a:lnTo>
                      <a:lnTo>
                        <a:pt x="326" y="11"/>
                      </a:lnTo>
                      <a:lnTo>
                        <a:pt x="338" y="15"/>
                      </a:lnTo>
                      <a:lnTo>
                        <a:pt x="349" y="19"/>
                      </a:lnTo>
                      <a:lnTo>
                        <a:pt x="360" y="24"/>
                      </a:lnTo>
                      <a:lnTo>
                        <a:pt x="371" y="30"/>
                      </a:lnTo>
                      <a:lnTo>
                        <a:pt x="381" y="36"/>
                      </a:lnTo>
                      <a:lnTo>
                        <a:pt x="392" y="43"/>
                      </a:lnTo>
                      <a:lnTo>
                        <a:pt x="401" y="50"/>
                      </a:lnTo>
                      <a:lnTo>
                        <a:pt x="412" y="57"/>
                      </a:lnTo>
                      <a:lnTo>
                        <a:pt x="421" y="65"/>
                      </a:lnTo>
                      <a:lnTo>
                        <a:pt x="430" y="73"/>
                      </a:lnTo>
                      <a:lnTo>
                        <a:pt x="438" y="82"/>
                      </a:lnTo>
                      <a:lnTo>
                        <a:pt x="446" y="91"/>
                      </a:lnTo>
                      <a:lnTo>
                        <a:pt x="453" y="101"/>
                      </a:lnTo>
                      <a:lnTo>
                        <a:pt x="460" y="111"/>
                      </a:lnTo>
                      <a:lnTo>
                        <a:pt x="467" y="122"/>
                      </a:lnTo>
                      <a:lnTo>
                        <a:pt x="473" y="132"/>
                      </a:lnTo>
                      <a:lnTo>
                        <a:pt x="478" y="143"/>
                      </a:lnTo>
                      <a:lnTo>
                        <a:pt x="483" y="154"/>
                      </a:lnTo>
                      <a:lnTo>
                        <a:pt x="488" y="165"/>
                      </a:lnTo>
                      <a:lnTo>
                        <a:pt x="492" y="177"/>
                      </a:lnTo>
                      <a:lnTo>
                        <a:pt x="495" y="189"/>
                      </a:lnTo>
                      <a:lnTo>
                        <a:pt x="498" y="201"/>
                      </a:lnTo>
                      <a:lnTo>
                        <a:pt x="500" y="213"/>
                      </a:lnTo>
                      <a:lnTo>
                        <a:pt x="502" y="226"/>
                      </a:lnTo>
                      <a:lnTo>
                        <a:pt x="503" y="238"/>
                      </a:lnTo>
                      <a:lnTo>
                        <a:pt x="503" y="251"/>
                      </a:lnTo>
                      <a:lnTo>
                        <a:pt x="503" y="264"/>
                      </a:lnTo>
                      <a:lnTo>
                        <a:pt x="502" y="277"/>
                      </a:lnTo>
                      <a:lnTo>
                        <a:pt x="500" y="289"/>
                      </a:lnTo>
                      <a:lnTo>
                        <a:pt x="498" y="302"/>
                      </a:lnTo>
                      <a:lnTo>
                        <a:pt x="495" y="314"/>
                      </a:lnTo>
                      <a:lnTo>
                        <a:pt x="492" y="326"/>
                      </a:lnTo>
                      <a:lnTo>
                        <a:pt x="488" y="337"/>
                      </a:lnTo>
                      <a:lnTo>
                        <a:pt x="483" y="349"/>
                      </a:lnTo>
                      <a:lnTo>
                        <a:pt x="478" y="360"/>
                      </a:lnTo>
                      <a:lnTo>
                        <a:pt x="473" y="370"/>
                      </a:lnTo>
                      <a:lnTo>
                        <a:pt x="467" y="381"/>
                      </a:lnTo>
                      <a:lnTo>
                        <a:pt x="460" y="391"/>
                      </a:lnTo>
                      <a:lnTo>
                        <a:pt x="453" y="401"/>
                      </a:lnTo>
                      <a:lnTo>
                        <a:pt x="446" y="410"/>
                      </a:lnTo>
                      <a:lnTo>
                        <a:pt x="438" y="421"/>
                      </a:lnTo>
                      <a:lnTo>
                        <a:pt x="430" y="429"/>
                      </a:lnTo>
                      <a:lnTo>
                        <a:pt x="421" y="438"/>
                      </a:lnTo>
                      <a:lnTo>
                        <a:pt x="412" y="445"/>
                      </a:lnTo>
                      <a:lnTo>
                        <a:pt x="401" y="453"/>
                      </a:lnTo>
                      <a:lnTo>
                        <a:pt x="392" y="460"/>
                      </a:lnTo>
                      <a:lnTo>
                        <a:pt x="381" y="466"/>
                      </a:lnTo>
                      <a:lnTo>
                        <a:pt x="371" y="472"/>
                      </a:lnTo>
                      <a:lnTo>
                        <a:pt x="360" y="478"/>
                      </a:lnTo>
                      <a:lnTo>
                        <a:pt x="349" y="483"/>
                      </a:lnTo>
                      <a:lnTo>
                        <a:pt x="338" y="488"/>
                      </a:lnTo>
                      <a:lnTo>
                        <a:pt x="326" y="491"/>
                      </a:lnTo>
                      <a:lnTo>
                        <a:pt x="314" y="495"/>
                      </a:lnTo>
                      <a:lnTo>
                        <a:pt x="302" y="498"/>
                      </a:lnTo>
                      <a:lnTo>
                        <a:pt x="290" y="500"/>
                      </a:lnTo>
                      <a:lnTo>
                        <a:pt x="277" y="501"/>
                      </a:lnTo>
                      <a:lnTo>
                        <a:pt x="265" y="503"/>
                      </a:lnTo>
                      <a:lnTo>
                        <a:pt x="252" y="503"/>
                      </a:lnTo>
                      <a:lnTo>
                        <a:pt x="239" y="503"/>
                      </a:lnTo>
                      <a:lnTo>
                        <a:pt x="226" y="501"/>
                      </a:lnTo>
                      <a:lnTo>
                        <a:pt x="214" y="500"/>
                      </a:lnTo>
                      <a:lnTo>
                        <a:pt x="201" y="498"/>
                      </a:lnTo>
                      <a:lnTo>
                        <a:pt x="189" y="495"/>
                      </a:lnTo>
                      <a:lnTo>
                        <a:pt x="177" y="491"/>
                      </a:lnTo>
                      <a:lnTo>
                        <a:pt x="166" y="488"/>
                      </a:lnTo>
                      <a:lnTo>
                        <a:pt x="154" y="483"/>
                      </a:lnTo>
                      <a:lnTo>
                        <a:pt x="143" y="478"/>
                      </a:lnTo>
                      <a:lnTo>
                        <a:pt x="133" y="472"/>
                      </a:lnTo>
                      <a:lnTo>
                        <a:pt x="122" y="466"/>
                      </a:lnTo>
                      <a:lnTo>
                        <a:pt x="112" y="460"/>
                      </a:lnTo>
                      <a:lnTo>
                        <a:pt x="102" y="453"/>
                      </a:lnTo>
                      <a:lnTo>
                        <a:pt x="93" y="445"/>
                      </a:lnTo>
                      <a:lnTo>
                        <a:pt x="82" y="438"/>
                      </a:lnTo>
                      <a:lnTo>
                        <a:pt x="74" y="429"/>
                      </a:lnTo>
                      <a:lnTo>
                        <a:pt x="65" y="421"/>
                      </a:lnTo>
                      <a:lnTo>
                        <a:pt x="58" y="410"/>
                      </a:lnTo>
                      <a:lnTo>
                        <a:pt x="50" y="401"/>
                      </a:lnTo>
                      <a:lnTo>
                        <a:pt x="43" y="391"/>
                      </a:lnTo>
                      <a:lnTo>
                        <a:pt x="37" y="381"/>
                      </a:lnTo>
                      <a:lnTo>
                        <a:pt x="31" y="370"/>
                      </a:lnTo>
                      <a:lnTo>
                        <a:pt x="25" y="360"/>
                      </a:lnTo>
                      <a:lnTo>
                        <a:pt x="20" y="349"/>
                      </a:lnTo>
                      <a:lnTo>
                        <a:pt x="15" y="337"/>
                      </a:lnTo>
                      <a:lnTo>
                        <a:pt x="12" y="326"/>
                      </a:lnTo>
                      <a:lnTo>
                        <a:pt x="8" y="314"/>
                      </a:lnTo>
                      <a:lnTo>
                        <a:pt x="5" y="302"/>
                      </a:lnTo>
                      <a:lnTo>
                        <a:pt x="3" y="289"/>
                      </a:lnTo>
                      <a:lnTo>
                        <a:pt x="2" y="277"/>
                      </a:lnTo>
                      <a:lnTo>
                        <a:pt x="1" y="264"/>
                      </a:lnTo>
                      <a:lnTo>
                        <a:pt x="0" y="251"/>
                      </a:lnTo>
                      <a:lnTo>
                        <a:pt x="1" y="238"/>
                      </a:lnTo>
                      <a:lnTo>
                        <a:pt x="2" y="226"/>
                      </a:lnTo>
                      <a:lnTo>
                        <a:pt x="3" y="213"/>
                      </a:lnTo>
                      <a:lnTo>
                        <a:pt x="5" y="201"/>
                      </a:lnTo>
                      <a:lnTo>
                        <a:pt x="8" y="189"/>
                      </a:lnTo>
                      <a:lnTo>
                        <a:pt x="12" y="177"/>
                      </a:lnTo>
                      <a:lnTo>
                        <a:pt x="15" y="165"/>
                      </a:lnTo>
                      <a:lnTo>
                        <a:pt x="20" y="154"/>
                      </a:lnTo>
                      <a:lnTo>
                        <a:pt x="25" y="143"/>
                      </a:lnTo>
                      <a:lnTo>
                        <a:pt x="31" y="132"/>
                      </a:lnTo>
                      <a:lnTo>
                        <a:pt x="37" y="122"/>
                      </a:lnTo>
                      <a:lnTo>
                        <a:pt x="43" y="111"/>
                      </a:lnTo>
                      <a:lnTo>
                        <a:pt x="50" y="101"/>
                      </a:lnTo>
                      <a:lnTo>
                        <a:pt x="58" y="91"/>
                      </a:lnTo>
                      <a:lnTo>
                        <a:pt x="65" y="82"/>
                      </a:lnTo>
                      <a:lnTo>
                        <a:pt x="74" y="73"/>
                      </a:lnTo>
                      <a:lnTo>
                        <a:pt x="82" y="65"/>
                      </a:lnTo>
                      <a:lnTo>
                        <a:pt x="93" y="57"/>
                      </a:lnTo>
                      <a:lnTo>
                        <a:pt x="102" y="50"/>
                      </a:lnTo>
                      <a:lnTo>
                        <a:pt x="112" y="43"/>
                      </a:lnTo>
                      <a:lnTo>
                        <a:pt x="122" y="36"/>
                      </a:lnTo>
                      <a:lnTo>
                        <a:pt x="133" y="30"/>
                      </a:lnTo>
                      <a:lnTo>
                        <a:pt x="143" y="24"/>
                      </a:lnTo>
                      <a:lnTo>
                        <a:pt x="154" y="19"/>
                      </a:lnTo>
                      <a:lnTo>
                        <a:pt x="166" y="15"/>
                      </a:lnTo>
                      <a:lnTo>
                        <a:pt x="177" y="11"/>
                      </a:lnTo>
                      <a:lnTo>
                        <a:pt x="189" y="8"/>
                      </a:lnTo>
                      <a:lnTo>
                        <a:pt x="201" y="5"/>
                      </a:lnTo>
                      <a:lnTo>
                        <a:pt x="214" y="3"/>
                      </a:lnTo>
                      <a:lnTo>
                        <a:pt x="226" y="1"/>
                      </a:lnTo>
                      <a:lnTo>
                        <a:pt x="239" y="0"/>
                      </a:lnTo>
                      <a:lnTo>
                        <a:pt x="252" y="0"/>
                      </a:lnTo>
                      <a:close/>
                    </a:path>
                  </a:pathLst>
                </a:custGeom>
                <a:solidFill>
                  <a:srgbClr val="3366FF"/>
                </a:solidFill>
                <a:ln w="9525">
                  <a:noFill/>
                  <a:round/>
                  <a:headEnd/>
                  <a:tailEnd/>
                </a:ln>
              </p:spPr>
              <p:txBody>
                <a:bodyPr/>
                <a:lstStyle/>
                <a:p>
                  <a:endParaRPr lang="en-US"/>
                </a:p>
              </p:txBody>
            </p:sp>
            <p:sp>
              <p:nvSpPr>
                <p:cNvPr id="37" name="Freeform 1071"/>
                <p:cNvSpPr>
                  <a:spLocks noEditPoints="1"/>
                </p:cNvSpPr>
                <p:nvPr/>
              </p:nvSpPr>
              <p:spPr bwMode="auto">
                <a:xfrm>
                  <a:off x="3024" y="2304"/>
                  <a:ext cx="642" cy="651"/>
                </a:xfrm>
                <a:custGeom>
                  <a:avLst/>
                  <a:gdLst>
                    <a:gd name="T0" fmla="*/ 579 w 642"/>
                    <a:gd name="T1" fmla="*/ 390 h 651"/>
                    <a:gd name="T2" fmla="*/ 579 w 642"/>
                    <a:gd name="T3" fmla="*/ 379 h 651"/>
                    <a:gd name="T4" fmla="*/ 582 w 642"/>
                    <a:gd name="T5" fmla="*/ 366 h 651"/>
                    <a:gd name="T6" fmla="*/ 641 w 642"/>
                    <a:gd name="T7" fmla="*/ 278 h 651"/>
                    <a:gd name="T8" fmla="*/ 505 w 642"/>
                    <a:gd name="T9" fmla="*/ 129 h 651"/>
                    <a:gd name="T10" fmla="*/ 355 w 642"/>
                    <a:gd name="T11" fmla="*/ 58 h 651"/>
                    <a:gd name="T12" fmla="*/ 249 w 642"/>
                    <a:gd name="T13" fmla="*/ 67 h 651"/>
                    <a:gd name="T14" fmla="*/ 236 w 642"/>
                    <a:gd name="T15" fmla="*/ 72 h 651"/>
                    <a:gd name="T16" fmla="*/ 224 w 642"/>
                    <a:gd name="T17" fmla="*/ 76 h 651"/>
                    <a:gd name="T18" fmla="*/ 172 w 642"/>
                    <a:gd name="T19" fmla="*/ 46 h 651"/>
                    <a:gd name="T20" fmla="*/ 154 w 642"/>
                    <a:gd name="T21" fmla="*/ 48 h 651"/>
                    <a:gd name="T22" fmla="*/ 139 w 642"/>
                    <a:gd name="T23" fmla="*/ 57 h 651"/>
                    <a:gd name="T24" fmla="*/ 123 w 642"/>
                    <a:gd name="T25" fmla="*/ 68 h 651"/>
                    <a:gd name="T26" fmla="*/ 21 w 642"/>
                    <a:gd name="T27" fmla="*/ 203 h 651"/>
                    <a:gd name="T28" fmla="*/ 59 w 642"/>
                    <a:gd name="T29" fmla="*/ 391 h 651"/>
                    <a:gd name="T30" fmla="*/ 164 w 642"/>
                    <a:gd name="T31" fmla="*/ 548 h 651"/>
                    <a:gd name="T32" fmla="*/ 248 w 642"/>
                    <a:gd name="T33" fmla="*/ 586 h 651"/>
                    <a:gd name="T34" fmla="*/ 259 w 642"/>
                    <a:gd name="T35" fmla="*/ 586 h 651"/>
                    <a:gd name="T36" fmla="*/ 270 w 642"/>
                    <a:gd name="T37" fmla="*/ 589 h 651"/>
                    <a:gd name="T38" fmla="*/ 312 w 642"/>
                    <a:gd name="T39" fmla="*/ 651 h 651"/>
                    <a:gd name="T40" fmla="*/ 368 w 642"/>
                    <a:gd name="T41" fmla="*/ 639 h 651"/>
                    <a:gd name="T42" fmla="*/ 372 w 642"/>
                    <a:gd name="T43" fmla="*/ 629 h 651"/>
                    <a:gd name="T44" fmla="*/ 376 w 642"/>
                    <a:gd name="T45" fmla="*/ 617 h 651"/>
                    <a:gd name="T46" fmla="*/ 379 w 642"/>
                    <a:gd name="T47" fmla="*/ 604 h 651"/>
                    <a:gd name="T48" fmla="*/ 384 w 642"/>
                    <a:gd name="T49" fmla="*/ 593 h 651"/>
                    <a:gd name="T50" fmla="*/ 391 w 642"/>
                    <a:gd name="T51" fmla="*/ 584 h 651"/>
                    <a:gd name="T52" fmla="*/ 401 w 642"/>
                    <a:gd name="T53" fmla="*/ 579 h 651"/>
                    <a:gd name="T54" fmla="*/ 410 w 642"/>
                    <a:gd name="T55" fmla="*/ 575 h 651"/>
                    <a:gd name="T56" fmla="*/ 416 w 642"/>
                    <a:gd name="T57" fmla="*/ 573 h 651"/>
                    <a:gd name="T58" fmla="*/ 469 w 642"/>
                    <a:gd name="T59" fmla="*/ 605 h 651"/>
                    <a:gd name="T60" fmla="*/ 528 w 642"/>
                    <a:gd name="T61" fmla="*/ 487 h 651"/>
                    <a:gd name="T62" fmla="*/ 538 w 642"/>
                    <a:gd name="T63" fmla="*/ 484 h 651"/>
                    <a:gd name="T64" fmla="*/ 549 w 642"/>
                    <a:gd name="T65" fmla="*/ 484 h 651"/>
                    <a:gd name="T66" fmla="*/ 561 w 642"/>
                    <a:gd name="T67" fmla="*/ 485 h 651"/>
                    <a:gd name="T68" fmla="*/ 573 w 642"/>
                    <a:gd name="T69" fmla="*/ 486 h 651"/>
                    <a:gd name="T70" fmla="*/ 585 w 642"/>
                    <a:gd name="T71" fmla="*/ 487 h 651"/>
                    <a:gd name="T72" fmla="*/ 597 w 642"/>
                    <a:gd name="T73" fmla="*/ 486 h 651"/>
                    <a:gd name="T74" fmla="*/ 132 w 642"/>
                    <a:gd name="T75" fmla="*/ 195 h 651"/>
                    <a:gd name="T76" fmla="*/ 170 w 642"/>
                    <a:gd name="T77" fmla="*/ 152 h 651"/>
                    <a:gd name="T78" fmla="*/ 215 w 642"/>
                    <a:gd name="T79" fmla="*/ 121 h 651"/>
                    <a:gd name="T80" fmla="*/ 265 w 642"/>
                    <a:gd name="T81" fmla="*/ 101 h 651"/>
                    <a:gd name="T82" fmla="*/ 320 w 642"/>
                    <a:gd name="T83" fmla="*/ 94 h 651"/>
                    <a:gd name="T84" fmla="*/ 375 w 642"/>
                    <a:gd name="T85" fmla="*/ 101 h 651"/>
                    <a:gd name="T86" fmla="*/ 428 w 642"/>
                    <a:gd name="T87" fmla="*/ 122 h 651"/>
                    <a:gd name="T88" fmla="*/ 474 w 642"/>
                    <a:gd name="T89" fmla="*/ 155 h 651"/>
                    <a:gd name="T90" fmla="*/ 510 w 642"/>
                    <a:gd name="T91" fmla="*/ 198 h 651"/>
                    <a:gd name="T92" fmla="*/ 534 w 642"/>
                    <a:gd name="T93" fmla="*/ 246 h 651"/>
                    <a:gd name="T94" fmla="*/ 546 w 642"/>
                    <a:gd name="T95" fmla="*/ 299 h 651"/>
                    <a:gd name="T96" fmla="*/ 545 w 642"/>
                    <a:gd name="T97" fmla="*/ 354 h 651"/>
                    <a:gd name="T98" fmla="*/ 530 w 642"/>
                    <a:gd name="T99" fmla="*/ 408 h 651"/>
                    <a:gd name="T100" fmla="*/ 501 w 642"/>
                    <a:gd name="T101" fmla="*/ 458 h 651"/>
                    <a:gd name="T102" fmla="*/ 462 w 642"/>
                    <a:gd name="T103" fmla="*/ 499 h 651"/>
                    <a:gd name="T104" fmla="*/ 416 w 642"/>
                    <a:gd name="T105" fmla="*/ 527 h 651"/>
                    <a:gd name="T106" fmla="*/ 364 w 642"/>
                    <a:gd name="T107" fmla="*/ 544 h 651"/>
                    <a:gd name="T108" fmla="*/ 310 w 642"/>
                    <a:gd name="T109" fmla="*/ 549 h 651"/>
                    <a:gd name="T110" fmla="*/ 255 w 642"/>
                    <a:gd name="T111" fmla="*/ 539 h 651"/>
                    <a:gd name="T112" fmla="*/ 203 w 642"/>
                    <a:gd name="T113" fmla="*/ 516 h 651"/>
                    <a:gd name="T114" fmla="*/ 158 w 642"/>
                    <a:gd name="T115" fmla="*/ 480 h 651"/>
                    <a:gd name="T116" fmla="*/ 124 w 642"/>
                    <a:gd name="T117" fmla="*/ 436 h 651"/>
                    <a:gd name="T118" fmla="*/ 103 w 642"/>
                    <a:gd name="T119" fmla="*/ 387 h 651"/>
                    <a:gd name="T120" fmla="*/ 94 w 642"/>
                    <a:gd name="T121" fmla="*/ 333 h 651"/>
                    <a:gd name="T122" fmla="*/ 97 w 642"/>
                    <a:gd name="T123" fmla="*/ 278 h 651"/>
                    <a:gd name="T124" fmla="*/ 115 w 642"/>
                    <a:gd name="T125" fmla="*/ 224 h 6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642"/>
                    <a:gd name="T190" fmla="*/ 0 h 651"/>
                    <a:gd name="T191" fmla="*/ 642 w 642"/>
                    <a:gd name="T192" fmla="*/ 651 h 65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642" h="651">
                      <a:moveTo>
                        <a:pt x="624" y="438"/>
                      </a:moveTo>
                      <a:lnTo>
                        <a:pt x="582" y="396"/>
                      </a:lnTo>
                      <a:lnTo>
                        <a:pt x="580" y="394"/>
                      </a:lnTo>
                      <a:lnTo>
                        <a:pt x="579" y="392"/>
                      </a:lnTo>
                      <a:lnTo>
                        <a:pt x="579" y="390"/>
                      </a:lnTo>
                      <a:lnTo>
                        <a:pt x="578" y="388"/>
                      </a:lnTo>
                      <a:lnTo>
                        <a:pt x="578" y="386"/>
                      </a:lnTo>
                      <a:lnTo>
                        <a:pt x="578" y="384"/>
                      </a:lnTo>
                      <a:lnTo>
                        <a:pt x="579" y="381"/>
                      </a:lnTo>
                      <a:lnTo>
                        <a:pt x="579" y="379"/>
                      </a:lnTo>
                      <a:lnTo>
                        <a:pt x="580" y="376"/>
                      </a:lnTo>
                      <a:lnTo>
                        <a:pt x="580" y="374"/>
                      </a:lnTo>
                      <a:lnTo>
                        <a:pt x="581" y="371"/>
                      </a:lnTo>
                      <a:lnTo>
                        <a:pt x="582" y="369"/>
                      </a:lnTo>
                      <a:lnTo>
                        <a:pt x="582" y="366"/>
                      </a:lnTo>
                      <a:lnTo>
                        <a:pt x="583" y="364"/>
                      </a:lnTo>
                      <a:lnTo>
                        <a:pt x="583" y="361"/>
                      </a:lnTo>
                      <a:lnTo>
                        <a:pt x="583" y="358"/>
                      </a:lnTo>
                      <a:lnTo>
                        <a:pt x="642" y="327"/>
                      </a:lnTo>
                      <a:lnTo>
                        <a:pt x="641" y="278"/>
                      </a:lnTo>
                      <a:lnTo>
                        <a:pt x="579" y="257"/>
                      </a:lnTo>
                      <a:lnTo>
                        <a:pt x="566" y="210"/>
                      </a:lnTo>
                      <a:lnTo>
                        <a:pt x="600" y="162"/>
                      </a:lnTo>
                      <a:lnTo>
                        <a:pt x="571" y="117"/>
                      </a:lnTo>
                      <a:lnTo>
                        <a:pt x="505" y="129"/>
                      </a:lnTo>
                      <a:lnTo>
                        <a:pt x="485" y="112"/>
                      </a:lnTo>
                      <a:lnTo>
                        <a:pt x="489" y="49"/>
                      </a:lnTo>
                      <a:lnTo>
                        <a:pt x="443" y="23"/>
                      </a:lnTo>
                      <a:lnTo>
                        <a:pt x="394" y="60"/>
                      </a:lnTo>
                      <a:lnTo>
                        <a:pt x="355" y="58"/>
                      </a:lnTo>
                      <a:lnTo>
                        <a:pt x="326" y="0"/>
                      </a:lnTo>
                      <a:lnTo>
                        <a:pt x="276" y="4"/>
                      </a:lnTo>
                      <a:lnTo>
                        <a:pt x="254" y="65"/>
                      </a:lnTo>
                      <a:lnTo>
                        <a:pt x="251" y="66"/>
                      </a:lnTo>
                      <a:lnTo>
                        <a:pt x="249" y="67"/>
                      </a:lnTo>
                      <a:lnTo>
                        <a:pt x="246" y="68"/>
                      </a:lnTo>
                      <a:lnTo>
                        <a:pt x="244" y="69"/>
                      </a:lnTo>
                      <a:lnTo>
                        <a:pt x="241" y="70"/>
                      </a:lnTo>
                      <a:lnTo>
                        <a:pt x="239" y="71"/>
                      </a:lnTo>
                      <a:lnTo>
                        <a:pt x="236" y="72"/>
                      </a:lnTo>
                      <a:lnTo>
                        <a:pt x="234" y="73"/>
                      </a:lnTo>
                      <a:lnTo>
                        <a:pt x="231" y="74"/>
                      </a:lnTo>
                      <a:lnTo>
                        <a:pt x="229" y="74"/>
                      </a:lnTo>
                      <a:lnTo>
                        <a:pt x="226" y="75"/>
                      </a:lnTo>
                      <a:lnTo>
                        <a:pt x="224" y="76"/>
                      </a:lnTo>
                      <a:lnTo>
                        <a:pt x="221" y="76"/>
                      </a:lnTo>
                      <a:lnTo>
                        <a:pt x="218" y="77"/>
                      </a:lnTo>
                      <a:lnTo>
                        <a:pt x="216" y="77"/>
                      </a:lnTo>
                      <a:lnTo>
                        <a:pt x="213" y="77"/>
                      </a:lnTo>
                      <a:lnTo>
                        <a:pt x="172" y="46"/>
                      </a:lnTo>
                      <a:lnTo>
                        <a:pt x="169" y="46"/>
                      </a:lnTo>
                      <a:lnTo>
                        <a:pt x="165" y="46"/>
                      </a:lnTo>
                      <a:lnTo>
                        <a:pt x="162" y="46"/>
                      </a:lnTo>
                      <a:lnTo>
                        <a:pt x="157" y="47"/>
                      </a:lnTo>
                      <a:lnTo>
                        <a:pt x="154" y="48"/>
                      </a:lnTo>
                      <a:lnTo>
                        <a:pt x="151" y="49"/>
                      </a:lnTo>
                      <a:lnTo>
                        <a:pt x="148" y="51"/>
                      </a:lnTo>
                      <a:lnTo>
                        <a:pt x="145" y="53"/>
                      </a:lnTo>
                      <a:lnTo>
                        <a:pt x="142" y="55"/>
                      </a:lnTo>
                      <a:lnTo>
                        <a:pt x="139" y="57"/>
                      </a:lnTo>
                      <a:lnTo>
                        <a:pt x="136" y="59"/>
                      </a:lnTo>
                      <a:lnTo>
                        <a:pt x="133" y="62"/>
                      </a:lnTo>
                      <a:lnTo>
                        <a:pt x="129" y="64"/>
                      </a:lnTo>
                      <a:lnTo>
                        <a:pt x="126" y="66"/>
                      </a:lnTo>
                      <a:lnTo>
                        <a:pt x="123" y="68"/>
                      </a:lnTo>
                      <a:lnTo>
                        <a:pt x="120" y="70"/>
                      </a:lnTo>
                      <a:lnTo>
                        <a:pt x="132" y="135"/>
                      </a:lnTo>
                      <a:lnTo>
                        <a:pt x="111" y="162"/>
                      </a:lnTo>
                      <a:lnTo>
                        <a:pt x="49" y="153"/>
                      </a:lnTo>
                      <a:lnTo>
                        <a:pt x="21" y="203"/>
                      </a:lnTo>
                      <a:lnTo>
                        <a:pt x="63" y="249"/>
                      </a:lnTo>
                      <a:lnTo>
                        <a:pt x="57" y="293"/>
                      </a:lnTo>
                      <a:lnTo>
                        <a:pt x="0" y="321"/>
                      </a:lnTo>
                      <a:lnTo>
                        <a:pt x="5" y="379"/>
                      </a:lnTo>
                      <a:lnTo>
                        <a:pt x="59" y="391"/>
                      </a:lnTo>
                      <a:lnTo>
                        <a:pt x="76" y="441"/>
                      </a:lnTo>
                      <a:lnTo>
                        <a:pt x="36" y="483"/>
                      </a:lnTo>
                      <a:lnTo>
                        <a:pt x="71" y="535"/>
                      </a:lnTo>
                      <a:lnTo>
                        <a:pt x="132" y="517"/>
                      </a:lnTo>
                      <a:lnTo>
                        <a:pt x="164" y="548"/>
                      </a:lnTo>
                      <a:lnTo>
                        <a:pt x="153" y="605"/>
                      </a:lnTo>
                      <a:lnTo>
                        <a:pt x="195" y="627"/>
                      </a:lnTo>
                      <a:lnTo>
                        <a:pt x="244" y="586"/>
                      </a:lnTo>
                      <a:lnTo>
                        <a:pt x="246" y="586"/>
                      </a:lnTo>
                      <a:lnTo>
                        <a:pt x="248" y="586"/>
                      </a:lnTo>
                      <a:lnTo>
                        <a:pt x="250" y="585"/>
                      </a:lnTo>
                      <a:lnTo>
                        <a:pt x="252" y="585"/>
                      </a:lnTo>
                      <a:lnTo>
                        <a:pt x="254" y="585"/>
                      </a:lnTo>
                      <a:lnTo>
                        <a:pt x="256" y="586"/>
                      </a:lnTo>
                      <a:lnTo>
                        <a:pt x="259" y="586"/>
                      </a:lnTo>
                      <a:lnTo>
                        <a:pt x="261" y="586"/>
                      </a:lnTo>
                      <a:lnTo>
                        <a:pt x="263" y="587"/>
                      </a:lnTo>
                      <a:lnTo>
                        <a:pt x="266" y="587"/>
                      </a:lnTo>
                      <a:lnTo>
                        <a:pt x="268" y="588"/>
                      </a:lnTo>
                      <a:lnTo>
                        <a:pt x="270" y="589"/>
                      </a:lnTo>
                      <a:lnTo>
                        <a:pt x="273" y="589"/>
                      </a:lnTo>
                      <a:lnTo>
                        <a:pt x="275" y="590"/>
                      </a:lnTo>
                      <a:lnTo>
                        <a:pt x="277" y="591"/>
                      </a:lnTo>
                      <a:lnTo>
                        <a:pt x="280" y="592"/>
                      </a:lnTo>
                      <a:lnTo>
                        <a:pt x="312" y="651"/>
                      </a:lnTo>
                      <a:lnTo>
                        <a:pt x="362" y="646"/>
                      </a:lnTo>
                      <a:lnTo>
                        <a:pt x="364" y="645"/>
                      </a:lnTo>
                      <a:lnTo>
                        <a:pt x="365" y="643"/>
                      </a:lnTo>
                      <a:lnTo>
                        <a:pt x="366" y="641"/>
                      </a:lnTo>
                      <a:lnTo>
                        <a:pt x="368" y="639"/>
                      </a:lnTo>
                      <a:lnTo>
                        <a:pt x="369" y="637"/>
                      </a:lnTo>
                      <a:lnTo>
                        <a:pt x="370" y="635"/>
                      </a:lnTo>
                      <a:lnTo>
                        <a:pt x="371" y="633"/>
                      </a:lnTo>
                      <a:lnTo>
                        <a:pt x="371" y="631"/>
                      </a:lnTo>
                      <a:lnTo>
                        <a:pt x="372" y="629"/>
                      </a:lnTo>
                      <a:lnTo>
                        <a:pt x="373" y="626"/>
                      </a:lnTo>
                      <a:lnTo>
                        <a:pt x="374" y="624"/>
                      </a:lnTo>
                      <a:lnTo>
                        <a:pt x="374" y="621"/>
                      </a:lnTo>
                      <a:lnTo>
                        <a:pt x="375" y="619"/>
                      </a:lnTo>
                      <a:lnTo>
                        <a:pt x="376" y="617"/>
                      </a:lnTo>
                      <a:lnTo>
                        <a:pt x="376" y="614"/>
                      </a:lnTo>
                      <a:lnTo>
                        <a:pt x="377" y="612"/>
                      </a:lnTo>
                      <a:lnTo>
                        <a:pt x="377" y="609"/>
                      </a:lnTo>
                      <a:lnTo>
                        <a:pt x="378" y="607"/>
                      </a:lnTo>
                      <a:lnTo>
                        <a:pt x="379" y="604"/>
                      </a:lnTo>
                      <a:lnTo>
                        <a:pt x="380" y="602"/>
                      </a:lnTo>
                      <a:lnTo>
                        <a:pt x="381" y="599"/>
                      </a:lnTo>
                      <a:lnTo>
                        <a:pt x="382" y="597"/>
                      </a:lnTo>
                      <a:lnTo>
                        <a:pt x="382" y="595"/>
                      </a:lnTo>
                      <a:lnTo>
                        <a:pt x="384" y="593"/>
                      </a:lnTo>
                      <a:lnTo>
                        <a:pt x="385" y="591"/>
                      </a:lnTo>
                      <a:lnTo>
                        <a:pt x="386" y="589"/>
                      </a:lnTo>
                      <a:lnTo>
                        <a:pt x="388" y="587"/>
                      </a:lnTo>
                      <a:lnTo>
                        <a:pt x="389" y="585"/>
                      </a:lnTo>
                      <a:lnTo>
                        <a:pt x="391" y="584"/>
                      </a:lnTo>
                      <a:lnTo>
                        <a:pt x="393" y="582"/>
                      </a:lnTo>
                      <a:lnTo>
                        <a:pt x="395" y="581"/>
                      </a:lnTo>
                      <a:lnTo>
                        <a:pt x="398" y="580"/>
                      </a:lnTo>
                      <a:lnTo>
                        <a:pt x="400" y="579"/>
                      </a:lnTo>
                      <a:lnTo>
                        <a:pt x="401" y="579"/>
                      </a:lnTo>
                      <a:lnTo>
                        <a:pt x="403" y="578"/>
                      </a:lnTo>
                      <a:lnTo>
                        <a:pt x="405" y="577"/>
                      </a:lnTo>
                      <a:lnTo>
                        <a:pt x="407" y="577"/>
                      </a:lnTo>
                      <a:lnTo>
                        <a:pt x="408" y="576"/>
                      </a:lnTo>
                      <a:lnTo>
                        <a:pt x="410" y="575"/>
                      </a:lnTo>
                      <a:lnTo>
                        <a:pt x="411" y="575"/>
                      </a:lnTo>
                      <a:lnTo>
                        <a:pt x="413" y="574"/>
                      </a:lnTo>
                      <a:lnTo>
                        <a:pt x="414" y="574"/>
                      </a:lnTo>
                      <a:lnTo>
                        <a:pt x="415" y="573"/>
                      </a:lnTo>
                      <a:lnTo>
                        <a:pt x="416" y="573"/>
                      </a:lnTo>
                      <a:lnTo>
                        <a:pt x="418" y="572"/>
                      </a:lnTo>
                      <a:lnTo>
                        <a:pt x="419" y="572"/>
                      </a:lnTo>
                      <a:lnTo>
                        <a:pt x="420" y="572"/>
                      </a:lnTo>
                      <a:lnTo>
                        <a:pt x="421" y="571"/>
                      </a:lnTo>
                      <a:lnTo>
                        <a:pt x="469" y="605"/>
                      </a:lnTo>
                      <a:lnTo>
                        <a:pt x="520" y="574"/>
                      </a:lnTo>
                      <a:lnTo>
                        <a:pt x="507" y="511"/>
                      </a:lnTo>
                      <a:lnTo>
                        <a:pt x="524" y="491"/>
                      </a:lnTo>
                      <a:lnTo>
                        <a:pt x="526" y="490"/>
                      </a:lnTo>
                      <a:lnTo>
                        <a:pt x="528" y="487"/>
                      </a:lnTo>
                      <a:lnTo>
                        <a:pt x="530" y="487"/>
                      </a:lnTo>
                      <a:lnTo>
                        <a:pt x="532" y="486"/>
                      </a:lnTo>
                      <a:lnTo>
                        <a:pt x="534" y="485"/>
                      </a:lnTo>
                      <a:lnTo>
                        <a:pt x="536" y="484"/>
                      </a:lnTo>
                      <a:lnTo>
                        <a:pt x="538" y="484"/>
                      </a:lnTo>
                      <a:lnTo>
                        <a:pt x="540" y="484"/>
                      </a:lnTo>
                      <a:lnTo>
                        <a:pt x="542" y="484"/>
                      </a:lnTo>
                      <a:lnTo>
                        <a:pt x="544" y="483"/>
                      </a:lnTo>
                      <a:lnTo>
                        <a:pt x="547" y="483"/>
                      </a:lnTo>
                      <a:lnTo>
                        <a:pt x="549" y="484"/>
                      </a:lnTo>
                      <a:lnTo>
                        <a:pt x="551" y="484"/>
                      </a:lnTo>
                      <a:lnTo>
                        <a:pt x="554" y="484"/>
                      </a:lnTo>
                      <a:lnTo>
                        <a:pt x="556" y="484"/>
                      </a:lnTo>
                      <a:lnTo>
                        <a:pt x="559" y="484"/>
                      </a:lnTo>
                      <a:lnTo>
                        <a:pt x="561" y="485"/>
                      </a:lnTo>
                      <a:lnTo>
                        <a:pt x="563" y="485"/>
                      </a:lnTo>
                      <a:lnTo>
                        <a:pt x="566" y="485"/>
                      </a:lnTo>
                      <a:lnTo>
                        <a:pt x="568" y="486"/>
                      </a:lnTo>
                      <a:lnTo>
                        <a:pt x="571" y="486"/>
                      </a:lnTo>
                      <a:lnTo>
                        <a:pt x="573" y="486"/>
                      </a:lnTo>
                      <a:lnTo>
                        <a:pt x="576" y="486"/>
                      </a:lnTo>
                      <a:lnTo>
                        <a:pt x="578" y="487"/>
                      </a:lnTo>
                      <a:lnTo>
                        <a:pt x="581" y="487"/>
                      </a:lnTo>
                      <a:lnTo>
                        <a:pt x="583" y="487"/>
                      </a:lnTo>
                      <a:lnTo>
                        <a:pt x="585" y="487"/>
                      </a:lnTo>
                      <a:lnTo>
                        <a:pt x="588" y="487"/>
                      </a:lnTo>
                      <a:lnTo>
                        <a:pt x="590" y="487"/>
                      </a:lnTo>
                      <a:lnTo>
                        <a:pt x="592" y="486"/>
                      </a:lnTo>
                      <a:lnTo>
                        <a:pt x="595" y="486"/>
                      </a:lnTo>
                      <a:lnTo>
                        <a:pt x="597" y="486"/>
                      </a:lnTo>
                      <a:lnTo>
                        <a:pt x="624" y="438"/>
                      </a:lnTo>
                      <a:close/>
                      <a:moveTo>
                        <a:pt x="115" y="224"/>
                      </a:moveTo>
                      <a:lnTo>
                        <a:pt x="120" y="214"/>
                      </a:lnTo>
                      <a:lnTo>
                        <a:pt x="126" y="204"/>
                      </a:lnTo>
                      <a:lnTo>
                        <a:pt x="132" y="195"/>
                      </a:lnTo>
                      <a:lnTo>
                        <a:pt x="139" y="185"/>
                      </a:lnTo>
                      <a:lnTo>
                        <a:pt x="146" y="177"/>
                      </a:lnTo>
                      <a:lnTo>
                        <a:pt x="153" y="168"/>
                      </a:lnTo>
                      <a:lnTo>
                        <a:pt x="162" y="159"/>
                      </a:lnTo>
                      <a:lnTo>
                        <a:pt x="170" y="152"/>
                      </a:lnTo>
                      <a:lnTo>
                        <a:pt x="178" y="145"/>
                      </a:lnTo>
                      <a:lnTo>
                        <a:pt x="187" y="138"/>
                      </a:lnTo>
                      <a:lnTo>
                        <a:pt x="196" y="132"/>
                      </a:lnTo>
                      <a:lnTo>
                        <a:pt x="205" y="126"/>
                      </a:lnTo>
                      <a:lnTo>
                        <a:pt x="215" y="121"/>
                      </a:lnTo>
                      <a:lnTo>
                        <a:pt x="225" y="116"/>
                      </a:lnTo>
                      <a:lnTo>
                        <a:pt x="235" y="111"/>
                      </a:lnTo>
                      <a:lnTo>
                        <a:pt x="245" y="108"/>
                      </a:lnTo>
                      <a:lnTo>
                        <a:pt x="255" y="104"/>
                      </a:lnTo>
                      <a:lnTo>
                        <a:pt x="265" y="101"/>
                      </a:lnTo>
                      <a:lnTo>
                        <a:pt x="276" y="99"/>
                      </a:lnTo>
                      <a:lnTo>
                        <a:pt x="287" y="97"/>
                      </a:lnTo>
                      <a:lnTo>
                        <a:pt x="298" y="96"/>
                      </a:lnTo>
                      <a:lnTo>
                        <a:pt x="309" y="95"/>
                      </a:lnTo>
                      <a:lnTo>
                        <a:pt x="320" y="94"/>
                      </a:lnTo>
                      <a:lnTo>
                        <a:pt x="331" y="95"/>
                      </a:lnTo>
                      <a:lnTo>
                        <a:pt x="342" y="95"/>
                      </a:lnTo>
                      <a:lnTo>
                        <a:pt x="353" y="97"/>
                      </a:lnTo>
                      <a:lnTo>
                        <a:pt x="364" y="99"/>
                      </a:lnTo>
                      <a:lnTo>
                        <a:pt x="375" y="101"/>
                      </a:lnTo>
                      <a:lnTo>
                        <a:pt x="386" y="104"/>
                      </a:lnTo>
                      <a:lnTo>
                        <a:pt x="396" y="108"/>
                      </a:lnTo>
                      <a:lnTo>
                        <a:pt x="407" y="112"/>
                      </a:lnTo>
                      <a:lnTo>
                        <a:pt x="418" y="116"/>
                      </a:lnTo>
                      <a:lnTo>
                        <a:pt x="428" y="122"/>
                      </a:lnTo>
                      <a:lnTo>
                        <a:pt x="438" y="127"/>
                      </a:lnTo>
                      <a:lnTo>
                        <a:pt x="448" y="134"/>
                      </a:lnTo>
                      <a:lnTo>
                        <a:pt x="457" y="140"/>
                      </a:lnTo>
                      <a:lnTo>
                        <a:pt x="466" y="147"/>
                      </a:lnTo>
                      <a:lnTo>
                        <a:pt x="474" y="155"/>
                      </a:lnTo>
                      <a:lnTo>
                        <a:pt x="483" y="162"/>
                      </a:lnTo>
                      <a:lnTo>
                        <a:pt x="490" y="171"/>
                      </a:lnTo>
                      <a:lnTo>
                        <a:pt x="497" y="180"/>
                      </a:lnTo>
                      <a:lnTo>
                        <a:pt x="504" y="188"/>
                      </a:lnTo>
                      <a:lnTo>
                        <a:pt x="510" y="198"/>
                      </a:lnTo>
                      <a:lnTo>
                        <a:pt x="516" y="207"/>
                      </a:lnTo>
                      <a:lnTo>
                        <a:pt x="521" y="216"/>
                      </a:lnTo>
                      <a:lnTo>
                        <a:pt x="526" y="226"/>
                      </a:lnTo>
                      <a:lnTo>
                        <a:pt x="530" y="236"/>
                      </a:lnTo>
                      <a:lnTo>
                        <a:pt x="534" y="246"/>
                      </a:lnTo>
                      <a:lnTo>
                        <a:pt x="537" y="256"/>
                      </a:lnTo>
                      <a:lnTo>
                        <a:pt x="540" y="267"/>
                      </a:lnTo>
                      <a:lnTo>
                        <a:pt x="543" y="277"/>
                      </a:lnTo>
                      <a:lnTo>
                        <a:pt x="544" y="288"/>
                      </a:lnTo>
                      <a:lnTo>
                        <a:pt x="546" y="299"/>
                      </a:lnTo>
                      <a:lnTo>
                        <a:pt x="547" y="310"/>
                      </a:lnTo>
                      <a:lnTo>
                        <a:pt x="547" y="321"/>
                      </a:lnTo>
                      <a:lnTo>
                        <a:pt x="547" y="332"/>
                      </a:lnTo>
                      <a:lnTo>
                        <a:pt x="546" y="343"/>
                      </a:lnTo>
                      <a:lnTo>
                        <a:pt x="545" y="354"/>
                      </a:lnTo>
                      <a:lnTo>
                        <a:pt x="543" y="365"/>
                      </a:lnTo>
                      <a:lnTo>
                        <a:pt x="540" y="376"/>
                      </a:lnTo>
                      <a:lnTo>
                        <a:pt x="537" y="387"/>
                      </a:lnTo>
                      <a:lnTo>
                        <a:pt x="534" y="397"/>
                      </a:lnTo>
                      <a:lnTo>
                        <a:pt x="530" y="408"/>
                      </a:lnTo>
                      <a:lnTo>
                        <a:pt x="525" y="419"/>
                      </a:lnTo>
                      <a:lnTo>
                        <a:pt x="520" y="429"/>
                      </a:lnTo>
                      <a:lnTo>
                        <a:pt x="514" y="439"/>
                      </a:lnTo>
                      <a:lnTo>
                        <a:pt x="508" y="449"/>
                      </a:lnTo>
                      <a:lnTo>
                        <a:pt x="501" y="458"/>
                      </a:lnTo>
                      <a:lnTo>
                        <a:pt x="494" y="467"/>
                      </a:lnTo>
                      <a:lnTo>
                        <a:pt x="487" y="475"/>
                      </a:lnTo>
                      <a:lnTo>
                        <a:pt x="478" y="483"/>
                      </a:lnTo>
                      <a:lnTo>
                        <a:pt x="470" y="491"/>
                      </a:lnTo>
                      <a:lnTo>
                        <a:pt x="462" y="499"/>
                      </a:lnTo>
                      <a:lnTo>
                        <a:pt x="453" y="505"/>
                      </a:lnTo>
                      <a:lnTo>
                        <a:pt x="444" y="511"/>
                      </a:lnTo>
                      <a:lnTo>
                        <a:pt x="435" y="517"/>
                      </a:lnTo>
                      <a:lnTo>
                        <a:pt x="425" y="522"/>
                      </a:lnTo>
                      <a:lnTo>
                        <a:pt x="416" y="527"/>
                      </a:lnTo>
                      <a:lnTo>
                        <a:pt x="406" y="532"/>
                      </a:lnTo>
                      <a:lnTo>
                        <a:pt x="396" y="536"/>
                      </a:lnTo>
                      <a:lnTo>
                        <a:pt x="385" y="539"/>
                      </a:lnTo>
                      <a:lnTo>
                        <a:pt x="375" y="542"/>
                      </a:lnTo>
                      <a:lnTo>
                        <a:pt x="364" y="544"/>
                      </a:lnTo>
                      <a:lnTo>
                        <a:pt x="353" y="546"/>
                      </a:lnTo>
                      <a:lnTo>
                        <a:pt x="343" y="548"/>
                      </a:lnTo>
                      <a:lnTo>
                        <a:pt x="332" y="548"/>
                      </a:lnTo>
                      <a:lnTo>
                        <a:pt x="321" y="549"/>
                      </a:lnTo>
                      <a:lnTo>
                        <a:pt x="310" y="549"/>
                      </a:lnTo>
                      <a:lnTo>
                        <a:pt x="299" y="548"/>
                      </a:lnTo>
                      <a:lnTo>
                        <a:pt x="288" y="547"/>
                      </a:lnTo>
                      <a:lnTo>
                        <a:pt x="277" y="545"/>
                      </a:lnTo>
                      <a:lnTo>
                        <a:pt x="266" y="542"/>
                      </a:lnTo>
                      <a:lnTo>
                        <a:pt x="255" y="539"/>
                      </a:lnTo>
                      <a:lnTo>
                        <a:pt x="244" y="536"/>
                      </a:lnTo>
                      <a:lnTo>
                        <a:pt x="234" y="532"/>
                      </a:lnTo>
                      <a:lnTo>
                        <a:pt x="223" y="527"/>
                      </a:lnTo>
                      <a:lnTo>
                        <a:pt x="213" y="522"/>
                      </a:lnTo>
                      <a:lnTo>
                        <a:pt x="203" y="516"/>
                      </a:lnTo>
                      <a:lnTo>
                        <a:pt x="193" y="510"/>
                      </a:lnTo>
                      <a:lnTo>
                        <a:pt x="184" y="503"/>
                      </a:lnTo>
                      <a:lnTo>
                        <a:pt x="175" y="496"/>
                      </a:lnTo>
                      <a:lnTo>
                        <a:pt x="167" y="489"/>
                      </a:lnTo>
                      <a:lnTo>
                        <a:pt x="158" y="480"/>
                      </a:lnTo>
                      <a:lnTo>
                        <a:pt x="150" y="472"/>
                      </a:lnTo>
                      <a:lnTo>
                        <a:pt x="143" y="464"/>
                      </a:lnTo>
                      <a:lnTo>
                        <a:pt x="136" y="455"/>
                      </a:lnTo>
                      <a:lnTo>
                        <a:pt x="130" y="446"/>
                      </a:lnTo>
                      <a:lnTo>
                        <a:pt x="124" y="436"/>
                      </a:lnTo>
                      <a:lnTo>
                        <a:pt x="119" y="427"/>
                      </a:lnTo>
                      <a:lnTo>
                        <a:pt x="114" y="417"/>
                      </a:lnTo>
                      <a:lnTo>
                        <a:pt x="110" y="407"/>
                      </a:lnTo>
                      <a:lnTo>
                        <a:pt x="106" y="397"/>
                      </a:lnTo>
                      <a:lnTo>
                        <a:pt x="103" y="387"/>
                      </a:lnTo>
                      <a:lnTo>
                        <a:pt x="100" y="376"/>
                      </a:lnTo>
                      <a:lnTo>
                        <a:pt x="98" y="366"/>
                      </a:lnTo>
                      <a:lnTo>
                        <a:pt x="96" y="355"/>
                      </a:lnTo>
                      <a:lnTo>
                        <a:pt x="94" y="344"/>
                      </a:lnTo>
                      <a:lnTo>
                        <a:pt x="94" y="333"/>
                      </a:lnTo>
                      <a:lnTo>
                        <a:pt x="93" y="322"/>
                      </a:lnTo>
                      <a:lnTo>
                        <a:pt x="93" y="311"/>
                      </a:lnTo>
                      <a:lnTo>
                        <a:pt x="94" y="300"/>
                      </a:lnTo>
                      <a:lnTo>
                        <a:pt x="95" y="289"/>
                      </a:lnTo>
                      <a:lnTo>
                        <a:pt x="97" y="278"/>
                      </a:lnTo>
                      <a:lnTo>
                        <a:pt x="100" y="267"/>
                      </a:lnTo>
                      <a:lnTo>
                        <a:pt x="103" y="256"/>
                      </a:lnTo>
                      <a:lnTo>
                        <a:pt x="106" y="246"/>
                      </a:lnTo>
                      <a:lnTo>
                        <a:pt x="110" y="235"/>
                      </a:lnTo>
                      <a:lnTo>
                        <a:pt x="115" y="224"/>
                      </a:lnTo>
                      <a:close/>
                    </a:path>
                  </a:pathLst>
                </a:custGeom>
                <a:solidFill>
                  <a:srgbClr val="000000"/>
                </a:solidFill>
                <a:ln w="9525">
                  <a:noFill/>
                  <a:round/>
                  <a:headEnd/>
                  <a:tailEnd/>
                </a:ln>
              </p:spPr>
              <p:txBody>
                <a:bodyPr/>
                <a:lstStyle/>
                <a:p>
                  <a:endParaRPr lang="en-US"/>
                </a:p>
              </p:txBody>
            </p:sp>
          </p:grpSp>
          <p:sp>
            <p:nvSpPr>
              <p:cNvPr id="35" name="Text Box 1072"/>
              <p:cNvSpPr txBox="1">
                <a:spLocks noChangeArrowheads="1"/>
              </p:cNvSpPr>
              <p:nvPr/>
            </p:nvSpPr>
            <p:spPr bwMode="auto">
              <a:xfrm>
                <a:off x="3441" y="2572"/>
                <a:ext cx="291" cy="368"/>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3200" dirty="0">
                    <a:solidFill>
                      <a:srgbClr val="FFFFFF"/>
                    </a:solidFill>
                  </a:rPr>
                  <a:t>CP</a:t>
                </a:r>
              </a:p>
            </p:txBody>
          </p:sp>
        </p:grpSp>
        <p:grpSp>
          <p:nvGrpSpPr>
            <p:cNvPr id="29" name="Group 1073"/>
            <p:cNvGrpSpPr>
              <a:grpSpLocks/>
            </p:cNvGrpSpPr>
            <p:nvPr/>
          </p:nvGrpSpPr>
          <p:grpSpPr bwMode="auto">
            <a:xfrm>
              <a:off x="2688" y="1824"/>
              <a:ext cx="852" cy="864"/>
              <a:chOff x="2688" y="1824"/>
              <a:chExt cx="852" cy="864"/>
            </a:xfrm>
          </p:grpSpPr>
          <p:grpSp>
            <p:nvGrpSpPr>
              <p:cNvPr id="30" name="Group 1074"/>
              <p:cNvGrpSpPr>
                <a:grpSpLocks/>
              </p:cNvGrpSpPr>
              <p:nvPr/>
            </p:nvGrpSpPr>
            <p:grpSpPr bwMode="auto">
              <a:xfrm>
                <a:off x="2688" y="1824"/>
                <a:ext cx="852" cy="864"/>
                <a:chOff x="1824" y="1824"/>
                <a:chExt cx="852" cy="864"/>
              </a:xfrm>
            </p:grpSpPr>
            <p:sp>
              <p:nvSpPr>
                <p:cNvPr id="32" name="Freeform 1075"/>
                <p:cNvSpPr>
                  <a:spLocks/>
                </p:cNvSpPr>
                <p:nvPr/>
              </p:nvSpPr>
              <p:spPr bwMode="auto">
                <a:xfrm>
                  <a:off x="1924" y="1919"/>
                  <a:ext cx="667" cy="666"/>
                </a:xfrm>
                <a:custGeom>
                  <a:avLst/>
                  <a:gdLst>
                    <a:gd name="T0" fmla="*/ 367 w 667"/>
                    <a:gd name="T1" fmla="*/ 1 h 666"/>
                    <a:gd name="T2" fmla="*/ 417 w 667"/>
                    <a:gd name="T3" fmla="*/ 10 h 666"/>
                    <a:gd name="T4" fmla="*/ 463 w 667"/>
                    <a:gd name="T5" fmla="*/ 25 h 666"/>
                    <a:gd name="T6" fmla="*/ 506 w 667"/>
                    <a:gd name="T7" fmla="*/ 47 h 666"/>
                    <a:gd name="T8" fmla="*/ 546 w 667"/>
                    <a:gd name="T9" fmla="*/ 75 h 666"/>
                    <a:gd name="T10" fmla="*/ 580 w 667"/>
                    <a:gd name="T11" fmla="*/ 109 h 666"/>
                    <a:gd name="T12" fmla="*/ 610 w 667"/>
                    <a:gd name="T13" fmla="*/ 146 h 666"/>
                    <a:gd name="T14" fmla="*/ 634 w 667"/>
                    <a:gd name="T15" fmla="*/ 189 h 666"/>
                    <a:gd name="T16" fmla="*/ 652 w 667"/>
                    <a:gd name="T17" fmla="*/ 234 h 666"/>
                    <a:gd name="T18" fmla="*/ 663 w 667"/>
                    <a:gd name="T19" fmla="*/ 282 h 666"/>
                    <a:gd name="T20" fmla="*/ 667 w 667"/>
                    <a:gd name="T21" fmla="*/ 332 h 666"/>
                    <a:gd name="T22" fmla="*/ 663 w 667"/>
                    <a:gd name="T23" fmla="*/ 383 h 666"/>
                    <a:gd name="T24" fmla="*/ 652 w 667"/>
                    <a:gd name="T25" fmla="*/ 432 h 666"/>
                    <a:gd name="T26" fmla="*/ 634 w 667"/>
                    <a:gd name="T27" fmla="*/ 477 h 666"/>
                    <a:gd name="T28" fmla="*/ 610 w 667"/>
                    <a:gd name="T29" fmla="*/ 519 h 666"/>
                    <a:gd name="T30" fmla="*/ 580 w 667"/>
                    <a:gd name="T31" fmla="*/ 557 h 666"/>
                    <a:gd name="T32" fmla="*/ 546 w 667"/>
                    <a:gd name="T33" fmla="*/ 589 h 666"/>
                    <a:gd name="T34" fmla="*/ 506 w 667"/>
                    <a:gd name="T35" fmla="*/ 617 h 666"/>
                    <a:gd name="T36" fmla="*/ 463 w 667"/>
                    <a:gd name="T37" fmla="*/ 640 h 666"/>
                    <a:gd name="T38" fmla="*/ 417 w 667"/>
                    <a:gd name="T39" fmla="*/ 656 h 666"/>
                    <a:gd name="T40" fmla="*/ 367 w 667"/>
                    <a:gd name="T41" fmla="*/ 664 h 666"/>
                    <a:gd name="T42" fmla="*/ 317 w 667"/>
                    <a:gd name="T43" fmla="*/ 666 h 666"/>
                    <a:gd name="T44" fmla="*/ 266 w 667"/>
                    <a:gd name="T45" fmla="*/ 660 h 666"/>
                    <a:gd name="T46" fmla="*/ 220 w 667"/>
                    <a:gd name="T47" fmla="*/ 647 h 666"/>
                    <a:gd name="T48" fmla="*/ 176 w 667"/>
                    <a:gd name="T49" fmla="*/ 625 h 666"/>
                    <a:gd name="T50" fmla="*/ 134 w 667"/>
                    <a:gd name="T51" fmla="*/ 600 h 666"/>
                    <a:gd name="T52" fmla="*/ 98 w 667"/>
                    <a:gd name="T53" fmla="*/ 568 h 666"/>
                    <a:gd name="T54" fmla="*/ 66 w 667"/>
                    <a:gd name="T55" fmla="*/ 532 h 666"/>
                    <a:gd name="T56" fmla="*/ 41 w 667"/>
                    <a:gd name="T57" fmla="*/ 491 h 666"/>
                    <a:gd name="T58" fmla="*/ 20 w 667"/>
                    <a:gd name="T59" fmla="*/ 447 h 666"/>
                    <a:gd name="T60" fmla="*/ 7 w 667"/>
                    <a:gd name="T61" fmla="*/ 400 h 666"/>
                    <a:gd name="T62" fmla="*/ 1 w 667"/>
                    <a:gd name="T63" fmla="*/ 350 h 666"/>
                    <a:gd name="T64" fmla="*/ 3 w 667"/>
                    <a:gd name="T65" fmla="*/ 299 h 666"/>
                    <a:gd name="T66" fmla="*/ 10 w 667"/>
                    <a:gd name="T67" fmla="*/ 250 h 666"/>
                    <a:gd name="T68" fmla="*/ 26 w 667"/>
                    <a:gd name="T69" fmla="*/ 203 h 666"/>
                    <a:gd name="T70" fmla="*/ 49 w 667"/>
                    <a:gd name="T71" fmla="*/ 161 h 666"/>
                    <a:gd name="T72" fmla="*/ 77 w 667"/>
                    <a:gd name="T73" fmla="*/ 121 h 666"/>
                    <a:gd name="T74" fmla="*/ 109 w 667"/>
                    <a:gd name="T75" fmla="*/ 86 h 666"/>
                    <a:gd name="T76" fmla="*/ 148 w 667"/>
                    <a:gd name="T77" fmla="*/ 57 h 666"/>
                    <a:gd name="T78" fmla="*/ 189 w 667"/>
                    <a:gd name="T79" fmla="*/ 31 h 666"/>
                    <a:gd name="T80" fmla="*/ 234 w 667"/>
                    <a:gd name="T81" fmla="*/ 14 h 666"/>
                    <a:gd name="T82" fmla="*/ 283 w 667"/>
                    <a:gd name="T83" fmla="*/ 4 h 666"/>
                    <a:gd name="T84" fmla="*/ 334 w 667"/>
                    <a:gd name="T85" fmla="*/ 0 h 6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67"/>
                    <a:gd name="T130" fmla="*/ 0 h 666"/>
                    <a:gd name="T131" fmla="*/ 667 w 667"/>
                    <a:gd name="T132" fmla="*/ 666 h 6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67" h="666">
                      <a:moveTo>
                        <a:pt x="334" y="0"/>
                      </a:moveTo>
                      <a:lnTo>
                        <a:pt x="351" y="0"/>
                      </a:lnTo>
                      <a:lnTo>
                        <a:pt x="367" y="1"/>
                      </a:lnTo>
                      <a:lnTo>
                        <a:pt x="385" y="4"/>
                      </a:lnTo>
                      <a:lnTo>
                        <a:pt x="401" y="6"/>
                      </a:lnTo>
                      <a:lnTo>
                        <a:pt x="417" y="10"/>
                      </a:lnTo>
                      <a:lnTo>
                        <a:pt x="433" y="14"/>
                      </a:lnTo>
                      <a:lnTo>
                        <a:pt x="448" y="19"/>
                      </a:lnTo>
                      <a:lnTo>
                        <a:pt x="463" y="25"/>
                      </a:lnTo>
                      <a:lnTo>
                        <a:pt x="478" y="31"/>
                      </a:lnTo>
                      <a:lnTo>
                        <a:pt x="492" y="39"/>
                      </a:lnTo>
                      <a:lnTo>
                        <a:pt x="506" y="47"/>
                      </a:lnTo>
                      <a:lnTo>
                        <a:pt x="520" y="57"/>
                      </a:lnTo>
                      <a:lnTo>
                        <a:pt x="532" y="66"/>
                      </a:lnTo>
                      <a:lnTo>
                        <a:pt x="546" y="75"/>
                      </a:lnTo>
                      <a:lnTo>
                        <a:pt x="558" y="86"/>
                      </a:lnTo>
                      <a:lnTo>
                        <a:pt x="570" y="97"/>
                      </a:lnTo>
                      <a:lnTo>
                        <a:pt x="580" y="109"/>
                      </a:lnTo>
                      <a:lnTo>
                        <a:pt x="591" y="121"/>
                      </a:lnTo>
                      <a:lnTo>
                        <a:pt x="600" y="133"/>
                      </a:lnTo>
                      <a:lnTo>
                        <a:pt x="610" y="146"/>
                      </a:lnTo>
                      <a:lnTo>
                        <a:pt x="619" y="161"/>
                      </a:lnTo>
                      <a:lnTo>
                        <a:pt x="627" y="174"/>
                      </a:lnTo>
                      <a:lnTo>
                        <a:pt x="634" y="189"/>
                      </a:lnTo>
                      <a:lnTo>
                        <a:pt x="640" y="203"/>
                      </a:lnTo>
                      <a:lnTo>
                        <a:pt x="647" y="218"/>
                      </a:lnTo>
                      <a:lnTo>
                        <a:pt x="652" y="234"/>
                      </a:lnTo>
                      <a:lnTo>
                        <a:pt x="656" y="250"/>
                      </a:lnTo>
                      <a:lnTo>
                        <a:pt x="660" y="266"/>
                      </a:lnTo>
                      <a:lnTo>
                        <a:pt x="663" y="282"/>
                      </a:lnTo>
                      <a:lnTo>
                        <a:pt x="665" y="299"/>
                      </a:lnTo>
                      <a:lnTo>
                        <a:pt x="667" y="315"/>
                      </a:lnTo>
                      <a:lnTo>
                        <a:pt x="667" y="332"/>
                      </a:lnTo>
                      <a:lnTo>
                        <a:pt x="667" y="350"/>
                      </a:lnTo>
                      <a:lnTo>
                        <a:pt x="665" y="367"/>
                      </a:lnTo>
                      <a:lnTo>
                        <a:pt x="663" y="383"/>
                      </a:lnTo>
                      <a:lnTo>
                        <a:pt x="660" y="400"/>
                      </a:lnTo>
                      <a:lnTo>
                        <a:pt x="656" y="416"/>
                      </a:lnTo>
                      <a:lnTo>
                        <a:pt x="652" y="432"/>
                      </a:lnTo>
                      <a:lnTo>
                        <a:pt x="647" y="447"/>
                      </a:lnTo>
                      <a:lnTo>
                        <a:pt x="640" y="463"/>
                      </a:lnTo>
                      <a:lnTo>
                        <a:pt x="634" y="477"/>
                      </a:lnTo>
                      <a:lnTo>
                        <a:pt x="627" y="491"/>
                      </a:lnTo>
                      <a:lnTo>
                        <a:pt x="619" y="505"/>
                      </a:lnTo>
                      <a:lnTo>
                        <a:pt x="610" y="519"/>
                      </a:lnTo>
                      <a:lnTo>
                        <a:pt x="600" y="532"/>
                      </a:lnTo>
                      <a:lnTo>
                        <a:pt x="591" y="544"/>
                      </a:lnTo>
                      <a:lnTo>
                        <a:pt x="580" y="557"/>
                      </a:lnTo>
                      <a:lnTo>
                        <a:pt x="570" y="568"/>
                      </a:lnTo>
                      <a:lnTo>
                        <a:pt x="558" y="580"/>
                      </a:lnTo>
                      <a:lnTo>
                        <a:pt x="546" y="589"/>
                      </a:lnTo>
                      <a:lnTo>
                        <a:pt x="532" y="600"/>
                      </a:lnTo>
                      <a:lnTo>
                        <a:pt x="520" y="609"/>
                      </a:lnTo>
                      <a:lnTo>
                        <a:pt x="506" y="617"/>
                      </a:lnTo>
                      <a:lnTo>
                        <a:pt x="492" y="625"/>
                      </a:lnTo>
                      <a:lnTo>
                        <a:pt x="478" y="633"/>
                      </a:lnTo>
                      <a:lnTo>
                        <a:pt x="463" y="640"/>
                      </a:lnTo>
                      <a:lnTo>
                        <a:pt x="448" y="647"/>
                      </a:lnTo>
                      <a:lnTo>
                        <a:pt x="433" y="651"/>
                      </a:lnTo>
                      <a:lnTo>
                        <a:pt x="417" y="656"/>
                      </a:lnTo>
                      <a:lnTo>
                        <a:pt x="401" y="660"/>
                      </a:lnTo>
                      <a:lnTo>
                        <a:pt x="385" y="662"/>
                      </a:lnTo>
                      <a:lnTo>
                        <a:pt x="367" y="664"/>
                      </a:lnTo>
                      <a:lnTo>
                        <a:pt x="351" y="666"/>
                      </a:lnTo>
                      <a:lnTo>
                        <a:pt x="334" y="666"/>
                      </a:lnTo>
                      <a:lnTo>
                        <a:pt x="317" y="666"/>
                      </a:lnTo>
                      <a:lnTo>
                        <a:pt x="299" y="664"/>
                      </a:lnTo>
                      <a:lnTo>
                        <a:pt x="283" y="662"/>
                      </a:lnTo>
                      <a:lnTo>
                        <a:pt x="266" y="660"/>
                      </a:lnTo>
                      <a:lnTo>
                        <a:pt x="250" y="656"/>
                      </a:lnTo>
                      <a:lnTo>
                        <a:pt x="234" y="651"/>
                      </a:lnTo>
                      <a:lnTo>
                        <a:pt x="220" y="647"/>
                      </a:lnTo>
                      <a:lnTo>
                        <a:pt x="204" y="640"/>
                      </a:lnTo>
                      <a:lnTo>
                        <a:pt x="189" y="633"/>
                      </a:lnTo>
                      <a:lnTo>
                        <a:pt x="176" y="625"/>
                      </a:lnTo>
                      <a:lnTo>
                        <a:pt x="161" y="617"/>
                      </a:lnTo>
                      <a:lnTo>
                        <a:pt x="148" y="609"/>
                      </a:lnTo>
                      <a:lnTo>
                        <a:pt x="134" y="600"/>
                      </a:lnTo>
                      <a:lnTo>
                        <a:pt x="122" y="589"/>
                      </a:lnTo>
                      <a:lnTo>
                        <a:pt x="109" y="580"/>
                      </a:lnTo>
                      <a:lnTo>
                        <a:pt x="98" y="568"/>
                      </a:lnTo>
                      <a:lnTo>
                        <a:pt x="86" y="557"/>
                      </a:lnTo>
                      <a:lnTo>
                        <a:pt x="77" y="544"/>
                      </a:lnTo>
                      <a:lnTo>
                        <a:pt x="66" y="532"/>
                      </a:lnTo>
                      <a:lnTo>
                        <a:pt x="57" y="519"/>
                      </a:lnTo>
                      <a:lnTo>
                        <a:pt x="49" y="505"/>
                      </a:lnTo>
                      <a:lnTo>
                        <a:pt x="41" y="491"/>
                      </a:lnTo>
                      <a:lnTo>
                        <a:pt x="33" y="477"/>
                      </a:lnTo>
                      <a:lnTo>
                        <a:pt x="26" y="463"/>
                      </a:lnTo>
                      <a:lnTo>
                        <a:pt x="20" y="447"/>
                      </a:lnTo>
                      <a:lnTo>
                        <a:pt x="16" y="432"/>
                      </a:lnTo>
                      <a:lnTo>
                        <a:pt x="10" y="416"/>
                      </a:lnTo>
                      <a:lnTo>
                        <a:pt x="7" y="400"/>
                      </a:lnTo>
                      <a:lnTo>
                        <a:pt x="4" y="383"/>
                      </a:lnTo>
                      <a:lnTo>
                        <a:pt x="3" y="367"/>
                      </a:lnTo>
                      <a:lnTo>
                        <a:pt x="1" y="350"/>
                      </a:lnTo>
                      <a:lnTo>
                        <a:pt x="0" y="332"/>
                      </a:lnTo>
                      <a:lnTo>
                        <a:pt x="1" y="315"/>
                      </a:lnTo>
                      <a:lnTo>
                        <a:pt x="3" y="299"/>
                      </a:lnTo>
                      <a:lnTo>
                        <a:pt x="4" y="282"/>
                      </a:lnTo>
                      <a:lnTo>
                        <a:pt x="7" y="266"/>
                      </a:lnTo>
                      <a:lnTo>
                        <a:pt x="10" y="250"/>
                      </a:lnTo>
                      <a:lnTo>
                        <a:pt x="16" y="234"/>
                      </a:lnTo>
                      <a:lnTo>
                        <a:pt x="20" y="218"/>
                      </a:lnTo>
                      <a:lnTo>
                        <a:pt x="26" y="203"/>
                      </a:lnTo>
                      <a:lnTo>
                        <a:pt x="33" y="189"/>
                      </a:lnTo>
                      <a:lnTo>
                        <a:pt x="41" y="174"/>
                      </a:lnTo>
                      <a:lnTo>
                        <a:pt x="49" y="161"/>
                      </a:lnTo>
                      <a:lnTo>
                        <a:pt x="57" y="146"/>
                      </a:lnTo>
                      <a:lnTo>
                        <a:pt x="66" y="133"/>
                      </a:lnTo>
                      <a:lnTo>
                        <a:pt x="77" y="121"/>
                      </a:lnTo>
                      <a:lnTo>
                        <a:pt x="86" y="109"/>
                      </a:lnTo>
                      <a:lnTo>
                        <a:pt x="98" y="97"/>
                      </a:lnTo>
                      <a:lnTo>
                        <a:pt x="109" y="86"/>
                      </a:lnTo>
                      <a:lnTo>
                        <a:pt x="122" y="75"/>
                      </a:lnTo>
                      <a:lnTo>
                        <a:pt x="134" y="66"/>
                      </a:lnTo>
                      <a:lnTo>
                        <a:pt x="148" y="57"/>
                      </a:lnTo>
                      <a:lnTo>
                        <a:pt x="161" y="47"/>
                      </a:lnTo>
                      <a:lnTo>
                        <a:pt x="176" y="39"/>
                      </a:lnTo>
                      <a:lnTo>
                        <a:pt x="189" y="31"/>
                      </a:lnTo>
                      <a:lnTo>
                        <a:pt x="204" y="25"/>
                      </a:lnTo>
                      <a:lnTo>
                        <a:pt x="220" y="19"/>
                      </a:lnTo>
                      <a:lnTo>
                        <a:pt x="234" y="14"/>
                      </a:lnTo>
                      <a:lnTo>
                        <a:pt x="250" y="10"/>
                      </a:lnTo>
                      <a:lnTo>
                        <a:pt x="266" y="6"/>
                      </a:lnTo>
                      <a:lnTo>
                        <a:pt x="283" y="4"/>
                      </a:lnTo>
                      <a:lnTo>
                        <a:pt x="299" y="1"/>
                      </a:lnTo>
                      <a:lnTo>
                        <a:pt x="317" y="0"/>
                      </a:lnTo>
                      <a:lnTo>
                        <a:pt x="334" y="0"/>
                      </a:lnTo>
                      <a:close/>
                    </a:path>
                  </a:pathLst>
                </a:custGeom>
                <a:solidFill>
                  <a:srgbClr val="3366FF"/>
                </a:solidFill>
                <a:ln w="9525">
                  <a:noFill/>
                  <a:round/>
                  <a:headEnd/>
                  <a:tailEnd/>
                </a:ln>
              </p:spPr>
              <p:txBody>
                <a:bodyPr/>
                <a:lstStyle/>
                <a:p>
                  <a:endParaRPr lang="en-US"/>
                </a:p>
              </p:txBody>
            </p:sp>
            <p:sp>
              <p:nvSpPr>
                <p:cNvPr id="33" name="Freeform 1076"/>
                <p:cNvSpPr>
                  <a:spLocks noEditPoints="1"/>
                </p:cNvSpPr>
                <p:nvPr/>
              </p:nvSpPr>
              <p:spPr bwMode="auto">
                <a:xfrm>
                  <a:off x="1824" y="1824"/>
                  <a:ext cx="852" cy="864"/>
                </a:xfrm>
                <a:custGeom>
                  <a:avLst/>
                  <a:gdLst>
                    <a:gd name="T0" fmla="*/ 768 w 852"/>
                    <a:gd name="T1" fmla="*/ 518 h 864"/>
                    <a:gd name="T2" fmla="*/ 768 w 852"/>
                    <a:gd name="T3" fmla="*/ 503 h 864"/>
                    <a:gd name="T4" fmla="*/ 772 w 852"/>
                    <a:gd name="T5" fmla="*/ 486 h 864"/>
                    <a:gd name="T6" fmla="*/ 851 w 852"/>
                    <a:gd name="T7" fmla="*/ 369 h 864"/>
                    <a:gd name="T8" fmla="*/ 670 w 852"/>
                    <a:gd name="T9" fmla="*/ 172 h 864"/>
                    <a:gd name="T10" fmla="*/ 471 w 852"/>
                    <a:gd name="T11" fmla="*/ 77 h 864"/>
                    <a:gd name="T12" fmla="*/ 330 w 852"/>
                    <a:gd name="T13" fmla="*/ 89 h 864"/>
                    <a:gd name="T14" fmla="*/ 313 w 852"/>
                    <a:gd name="T15" fmla="*/ 96 h 864"/>
                    <a:gd name="T16" fmla="*/ 297 w 852"/>
                    <a:gd name="T17" fmla="*/ 101 h 864"/>
                    <a:gd name="T18" fmla="*/ 228 w 852"/>
                    <a:gd name="T19" fmla="*/ 61 h 864"/>
                    <a:gd name="T20" fmla="*/ 205 w 852"/>
                    <a:gd name="T21" fmla="*/ 64 h 864"/>
                    <a:gd name="T22" fmla="*/ 185 w 852"/>
                    <a:gd name="T23" fmla="*/ 76 h 864"/>
                    <a:gd name="T24" fmla="*/ 164 w 852"/>
                    <a:gd name="T25" fmla="*/ 91 h 864"/>
                    <a:gd name="T26" fmla="*/ 28 w 852"/>
                    <a:gd name="T27" fmla="*/ 269 h 864"/>
                    <a:gd name="T28" fmla="*/ 79 w 852"/>
                    <a:gd name="T29" fmla="*/ 519 h 864"/>
                    <a:gd name="T30" fmla="*/ 217 w 852"/>
                    <a:gd name="T31" fmla="*/ 727 h 864"/>
                    <a:gd name="T32" fmla="*/ 329 w 852"/>
                    <a:gd name="T33" fmla="*/ 777 h 864"/>
                    <a:gd name="T34" fmla="*/ 343 w 852"/>
                    <a:gd name="T35" fmla="*/ 777 h 864"/>
                    <a:gd name="T36" fmla="*/ 358 w 852"/>
                    <a:gd name="T37" fmla="*/ 781 h 864"/>
                    <a:gd name="T38" fmla="*/ 414 w 852"/>
                    <a:gd name="T39" fmla="*/ 864 h 864"/>
                    <a:gd name="T40" fmla="*/ 489 w 852"/>
                    <a:gd name="T41" fmla="*/ 848 h 864"/>
                    <a:gd name="T42" fmla="*/ 494 w 852"/>
                    <a:gd name="T43" fmla="*/ 835 h 864"/>
                    <a:gd name="T44" fmla="*/ 499 w 852"/>
                    <a:gd name="T45" fmla="*/ 819 h 864"/>
                    <a:gd name="T46" fmla="*/ 503 w 852"/>
                    <a:gd name="T47" fmla="*/ 801 h 864"/>
                    <a:gd name="T48" fmla="*/ 510 w 852"/>
                    <a:gd name="T49" fmla="*/ 787 h 864"/>
                    <a:gd name="T50" fmla="*/ 519 w 852"/>
                    <a:gd name="T51" fmla="*/ 775 h 864"/>
                    <a:gd name="T52" fmla="*/ 533 w 852"/>
                    <a:gd name="T53" fmla="*/ 768 h 864"/>
                    <a:gd name="T54" fmla="*/ 544 w 852"/>
                    <a:gd name="T55" fmla="*/ 763 h 864"/>
                    <a:gd name="T56" fmla="*/ 552 w 852"/>
                    <a:gd name="T57" fmla="*/ 760 h 864"/>
                    <a:gd name="T58" fmla="*/ 623 w 852"/>
                    <a:gd name="T59" fmla="*/ 803 h 864"/>
                    <a:gd name="T60" fmla="*/ 700 w 852"/>
                    <a:gd name="T61" fmla="*/ 647 h 864"/>
                    <a:gd name="T62" fmla="*/ 714 w 852"/>
                    <a:gd name="T63" fmla="*/ 643 h 864"/>
                    <a:gd name="T64" fmla="*/ 728 w 852"/>
                    <a:gd name="T65" fmla="*/ 643 h 864"/>
                    <a:gd name="T66" fmla="*/ 744 w 852"/>
                    <a:gd name="T67" fmla="*/ 644 h 864"/>
                    <a:gd name="T68" fmla="*/ 760 w 852"/>
                    <a:gd name="T69" fmla="*/ 646 h 864"/>
                    <a:gd name="T70" fmla="*/ 776 w 852"/>
                    <a:gd name="T71" fmla="*/ 647 h 864"/>
                    <a:gd name="T72" fmla="*/ 792 w 852"/>
                    <a:gd name="T73" fmla="*/ 646 h 864"/>
                    <a:gd name="T74" fmla="*/ 176 w 852"/>
                    <a:gd name="T75" fmla="*/ 258 h 864"/>
                    <a:gd name="T76" fmla="*/ 225 w 852"/>
                    <a:gd name="T77" fmla="*/ 202 h 864"/>
                    <a:gd name="T78" fmla="*/ 285 w 852"/>
                    <a:gd name="T79" fmla="*/ 161 h 864"/>
                    <a:gd name="T80" fmla="*/ 351 w 852"/>
                    <a:gd name="T81" fmla="*/ 134 h 864"/>
                    <a:gd name="T82" fmla="*/ 425 w 852"/>
                    <a:gd name="T83" fmla="*/ 125 h 864"/>
                    <a:gd name="T84" fmla="*/ 498 w 852"/>
                    <a:gd name="T85" fmla="*/ 134 h 864"/>
                    <a:gd name="T86" fmla="*/ 568 w 852"/>
                    <a:gd name="T87" fmla="*/ 162 h 864"/>
                    <a:gd name="T88" fmla="*/ 630 w 852"/>
                    <a:gd name="T89" fmla="*/ 206 h 864"/>
                    <a:gd name="T90" fmla="*/ 676 w 852"/>
                    <a:gd name="T91" fmla="*/ 262 h 864"/>
                    <a:gd name="T92" fmla="*/ 708 w 852"/>
                    <a:gd name="T93" fmla="*/ 326 h 864"/>
                    <a:gd name="T94" fmla="*/ 724 w 852"/>
                    <a:gd name="T95" fmla="*/ 397 h 864"/>
                    <a:gd name="T96" fmla="*/ 723 w 852"/>
                    <a:gd name="T97" fmla="*/ 470 h 864"/>
                    <a:gd name="T98" fmla="*/ 703 w 852"/>
                    <a:gd name="T99" fmla="*/ 542 h 864"/>
                    <a:gd name="T100" fmla="*/ 664 w 852"/>
                    <a:gd name="T101" fmla="*/ 608 h 864"/>
                    <a:gd name="T102" fmla="*/ 614 w 852"/>
                    <a:gd name="T103" fmla="*/ 662 h 864"/>
                    <a:gd name="T104" fmla="*/ 552 w 852"/>
                    <a:gd name="T105" fmla="*/ 699 h 864"/>
                    <a:gd name="T106" fmla="*/ 483 w 852"/>
                    <a:gd name="T107" fmla="*/ 722 h 864"/>
                    <a:gd name="T108" fmla="*/ 411 w 852"/>
                    <a:gd name="T109" fmla="*/ 728 h 864"/>
                    <a:gd name="T110" fmla="*/ 338 w 852"/>
                    <a:gd name="T111" fmla="*/ 715 h 864"/>
                    <a:gd name="T112" fmla="*/ 269 w 852"/>
                    <a:gd name="T113" fmla="*/ 684 h 864"/>
                    <a:gd name="T114" fmla="*/ 210 w 852"/>
                    <a:gd name="T115" fmla="*/ 638 h 864"/>
                    <a:gd name="T116" fmla="*/ 165 w 852"/>
                    <a:gd name="T117" fmla="*/ 579 h 864"/>
                    <a:gd name="T118" fmla="*/ 137 w 852"/>
                    <a:gd name="T119" fmla="*/ 514 h 864"/>
                    <a:gd name="T120" fmla="*/ 125 w 852"/>
                    <a:gd name="T121" fmla="*/ 442 h 864"/>
                    <a:gd name="T122" fmla="*/ 129 w 852"/>
                    <a:gd name="T123" fmla="*/ 369 h 864"/>
                    <a:gd name="T124" fmla="*/ 153 w 852"/>
                    <a:gd name="T125" fmla="*/ 297 h 86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852"/>
                    <a:gd name="T190" fmla="*/ 0 h 864"/>
                    <a:gd name="T191" fmla="*/ 852 w 852"/>
                    <a:gd name="T192" fmla="*/ 864 h 86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852" h="864">
                      <a:moveTo>
                        <a:pt x="828" y="582"/>
                      </a:moveTo>
                      <a:lnTo>
                        <a:pt x="772" y="526"/>
                      </a:lnTo>
                      <a:lnTo>
                        <a:pt x="769" y="523"/>
                      </a:lnTo>
                      <a:lnTo>
                        <a:pt x="768" y="521"/>
                      </a:lnTo>
                      <a:lnTo>
                        <a:pt x="768" y="518"/>
                      </a:lnTo>
                      <a:lnTo>
                        <a:pt x="767" y="515"/>
                      </a:lnTo>
                      <a:lnTo>
                        <a:pt x="767" y="513"/>
                      </a:lnTo>
                      <a:lnTo>
                        <a:pt x="767" y="510"/>
                      </a:lnTo>
                      <a:lnTo>
                        <a:pt x="768" y="506"/>
                      </a:lnTo>
                      <a:lnTo>
                        <a:pt x="768" y="503"/>
                      </a:lnTo>
                      <a:lnTo>
                        <a:pt x="769" y="499"/>
                      </a:lnTo>
                      <a:lnTo>
                        <a:pt x="769" y="497"/>
                      </a:lnTo>
                      <a:lnTo>
                        <a:pt x="771" y="493"/>
                      </a:lnTo>
                      <a:lnTo>
                        <a:pt x="772" y="490"/>
                      </a:lnTo>
                      <a:lnTo>
                        <a:pt x="772" y="486"/>
                      </a:lnTo>
                      <a:lnTo>
                        <a:pt x="773" y="483"/>
                      </a:lnTo>
                      <a:lnTo>
                        <a:pt x="773" y="479"/>
                      </a:lnTo>
                      <a:lnTo>
                        <a:pt x="773" y="475"/>
                      </a:lnTo>
                      <a:lnTo>
                        <a:pt x="852" y="434"/>
                      </a:lnTo>
                      <a:lnTo>
                        <a:pt x="851" y="369"/>
                      </a:lnTo>
                      <a:lnTo>
                        <a:pt x="768" y="341"/>
                      </a:lnTo>
                      <a:lnTo>
                        <a:pt x="751" y="278"/>
                      </a:lnTo>
                      <a:lnTo>
                        <a:pt x="796" y="216"/>
                      </a:lnTo>
                      <a:lnTo>
                        <a:pt x="757" y="156"/>
                      </a:lnTo>
                      <a:lnTo>
                        <a:pt x="670" y="172"/>
                      </a:lnTo>
                      <a:lnTo>
                        <a:pt x="643" y="149"/>
                      </a:lnTo>
                      <a:lnTo>
                        <a:pt x="648" y="65"/>
                      </a:lnTo>
                      <a:lnTo>
                        <a:pt x="588" y="31"/>
                      </a:lnTo>
                      <a:lnTo>
                        <a:pt x="523" y="80"/>
                      </a:lnTo>
                      <a:lnTo>
                        <a:pt x="471" y="77"/>
                      </a:lnTo>
                      <a:lnTo>
                        <a:pt x="433" y="0"/>
                      </a:lnTo>
                      <a:lnTo>
                        <a:pt x="366" y="5"/>
                      </a:lnTo>
                      <a:lnTo>
                        <a:pt x="337" y="87"/>
                      </a:lnTo>
                      <a:lnTo>
                        <a:pt x="333" y="88"/>
                      </a:lnTo>
                      <a:lnTo>
                        <a:pt x="330" y="89"/>
                      </a:lnTo>
                      <a:lnTo>
                        <a:pt x="326" y="91"/>
                      </a:lnTo>
                      <a:lnTo>
                        <a:pt x="323" y="92"/>
                      </a:lnTo>
                      <a:lnTo>
                        <a:pt x="320" y="93"/>
                      </a:lnTo>
                      <a:lnTo>
                        <a:pt x="317" y="95"/>
                      </a:lnTo>
                      <a:lnTo>
                        <a:pt x="313" y="96"/>
                      </a:lnTo>
                      <a:lnTo>
                        <a:pt x="310" y="97"/>
                      </a:lnTo>
                      <a:lnTo>
                        <a:pt x="306" y="99"/>
                      </a:lnTo>
                      <a:lnTo>
                        <a:pt x="304" y="99"/>
                      </a:lnTo>
                      <a:lnTo>
                        <a:pt x="300" y="100"/>
                      </a:lnTo>
                      <a:lnTo>
                        <a:pt x="297" y="101"/>
                      </a:lnTo>
                      <a:lnTo>
                        <a:pt x="293" y="101"/>
                      </a:lnTo>
                      <a:lnTo>
                        <a:pt x="289" y="103"/>
                      </a:lnTo>
                      <a:lnTo>
                        <a:pt x="286" y="103"/>
                      </a:lnTo>
                      <a:lnTo>
                        <a:pt x="282" y="103"/>
                      </a:lnTo>
                      <a:lnTo>
                        <a:pt x="228" y="61"/>
                      </a:lnTo>
                      <a:lnTo>
                        <a:pt x="224" y="61"/>
                      </a:lnTo>
                      <a:lnTo>
                        <a:pt x="218" y="61"/>
                      </a:lnTo>
                      <a:lnTo>
                        <a:pt x="214" y="61"/>
                      </a:lnTo>
                      <a:lnTo>
                        <a:pt x="209" y="63"/>
                      </a:lnTo>
                      <a:lnTo>
                        <a:pt x="205" y="64"/>
                      </a:lnTo>
                      <a:lnTo>
                        <a:pt x="201" y="65"/>
                      </a:lnTo>
                      <a:lnTo>
                        <a:pt x="197" y="68"/>
                      </a:lnTo>
                      <a:lnTo>
                        <a:pt x="193" y="71"/>
                      </a:lnTo>
                      <a:lnTo>
                        <a:pt x="189" y="73"/>
                      </a:lnTo>
                      <a:lnTo>
                        <a:pt x="185" y="76"/>
                      </a:lnTo>
                      <a:lnTo>
                        <a:pt x="181" y="79"/>
                      </a:lnTo>
                      <a:lnTo>
                        <a:pt x="177" y="83"/>
                      </a:lnTo>
                      <a:lnTo>
                        <a:pt x="172" y="85"/>
                      </a:lnTo>
                      <a:lnTo>
                        <a:pt x="168" y="88"/>
                      </a:lnTo>
                      <a:lnTo>
                        <a:pt x="164" y="91"/>
                      </a:lnTo>
                      <a:lnTo>
                        <a:pt x="160" y="93"/>
                      </a:lnTo>
                      <a:lnTo>
                        <a:pt x="176" y="180"/>
                      </a:lnTo>
                      <a:lnTo>
                        <a:pt x="148" y="216"/>
                      </a:lnTo>
                      <a:lnTo>
                        <a:pt x="65" y="204"/>
                      </a:lnTo>
                      <a:lnTo>
                        <a:pt x="28" y="269"/>
                      </a:lnTo>
                      <a:lnTo>
                        <a:pt x="84" y="330"/>
                      </a:lnTo>
                      <a:lnTo>
                        <a:pt x="76" y="389"/>
                      </a:lnTo>
                      <a:lnTo>
                        <a:pt x="0" y="426"/>
                      </a:lnTo>
                      <a:lnTo>
                        <a:pt x="7" y="503"/>
                      </a:lnTo>
                      <a:lnTo>
                        <a:pt x="79" y="519"/>
                      </a:lnTo>
                      <a:lnTo>
                        <a:pt x="101" y="586"/>
                      </a:lnTo>
                      <a:lnTo>
                        <a:pt x="48" y="642"/>
                      </a:lnTo>
                      <a:lnTo>
                        <a:pt x="95" y="710"/>
                      </a:lnTo>
                      <a:lnTo>
                        <a:pt x="176" y="686"/>
                      </a:lnTo>
                      <a:lnTo>
                        <a:pt x="217" y="727"/>
                      </a:lnTo>
                      <a:lnTo>
                        <a:pt x="204" y="803"/>
                      </a:lnTo>
                      <a:lnTo>
                        <a:pt x="258" y="832"/>
                      </a:lnTo>
                      <a:lnTo>
                        <a:pt x="323" y="777"/>
                      </a:lnTo>
                      <a:lnTo>
                        <a:pt x="326" y="777"/>
                      </a:lnTo>
                      <a:lnTo>
                        <a:pt x="329" y="777"/>
                      </a:lnTo>
                      <a:lnTo>
                        <a:pt x="331" y="776"/>
                      </a:lnTo>
                      <a:lnTo>
                        <a:pt x="334" y="776"/>
                      </a:lnTo>
                      <a:lnTo>
                        <a:pt x="337" y="776"/>
                      </a:lnTo>
                      <a:lnTo>
                        <a:pt x="339" y="777"/>
                      </a:lnTo>
                      <a:lnTo>
                        <a:pt x="343" y="777"/>
                      </a:lnTo>
                      <a:lnTo>
                        <a:pt x="346" y="777"/>
                      </a:lnTo>
                      <a:lnTo>
                        <a:pt x="349" y="779"/>
                      </a:lnTo>
                      <a:lnTo>
                        <a:pt x="353" y="779"/>
                      </a:lnTo>
                      <a:lnTo>
                        <a:pt x="355" y="780"/>
                      </a:lnTo>
                      <a:lnTo>
                        <a:pt x="358" y="781"/>
                      </a:lnTo>
                      <a:lnTo>
                        <a:pt x="362" y="781"/>
                      </a:lnTo>
                      <a:lnTo>
                        <a:pt x="365" y="783"/>
                      </a:lnTo>
                      <a:lnTo>
                        <a:pt x="367" y="784"/>
                      </a:lnTo>
                      <a:lnTo>
                        <a:pt x="371" y="785"/>
                      </a:lnTo>
                      <a:lnTo>
                        <a:pt x="414" y="864"/>
                      </a:lnTo>
                      <a:lnTo>
                        <a:pt x="481" y="857"/>
                      </a:lnTo>
                      <a:lnTo>
                        <a:pt x="483" y="856"/>
                      </a:lnTo>
                      <a:lnTo>
                        <a:pt x="485" y="853"/>
                      </a:lnTo>
                      <a:lnTo>
                        <a:pt x="486" y="851"/>
                      </a:lnTo>
                      <a:lnTo>
                        <a:pt x="489" y="848"/>
                      </a:lnTo>
                      <a:lnTo>
                        <a:pt x="490" y="845"/>
                      </a:lnTo>
                      <a:lnTo>
                        <a:pt x="491" y="843"/>
                      </a:lnTo>
                      <a:lnTo>
                        <a:pt x="493" y="840"/>
                      </a:lnTo>
                      <a:lnTo>
                        <a:pt x="493" y="837"/>
                      </a:lnTo>
                      <a:lnTo>
                        <a:pt x="494" y="835"/>
                      </a:lnTo>
                      <a:lnTo>
                        <a:pt x="495" y="831"/>
                      </a:lnTo>
                      <a:lnTo>
                        <a:pt x="497" y="828"/>
                      </a:lnTo>
                      <a:lnTo>
                        <a:pt x="497" y="824"/>
                      </a:lnTo>
                      <a:lnTo>
                        <a:pt x="498" y="821"/>
                      </a:lnTo>
                      <a:lnTo>
                        <a:pt x="499" y="819"/>
                      </a:lnTo>
                      <a:lnTo>
                        <a:pt x="499" y="815"/>
                      </a:lnTo>
                      <a:lnTo>
                        <a:pt x="501" y="812"/>
                      </a:lnTo>
                      <a:lnTo>
                        <a:pt x="501" y="808"/>
                      </a:lnTo>
                      <a:lnTo>
                        <a:pt x="502" y="805"/>
                      </a:lnTo>
                      <a:lnTo>
                        <a:pt x="503" y="801"/>
                      </a:lnTo>
                      <a:lnTo>
                        <a:pt x="505" y="799"/>
                      </a:lnTo>
                      <a:lnTo>
                        <a:pt x="506" y="795"/>
                      </a:lnTo>
                      <a:lnTo>
                        <a:pt x="507" y="792"/>
                      </a:lnTo>
                      <a:lnTo>
                        <a:pt x="507" y="789"/>
                      </a:lnTo>
                      <a:lnTo>
                        <a:pt x="510" y="787"/>
                      </a:lnTo>
                      <a:lnTo>
                        <a:pt x="511" y="784"/>
                      </a:lnTo>
                      <a:lnTo>
                        <a:pt x="513" y="781"/>
                      </a:lnTo>
                      <a:lnTo>
                        <a:pt x="515" y="779"/>
                      </a:lnTo>
                      <a:lnTo>
                        <a:pt x="517" y="776"/>
                      </a:lnTo>
                      <a:lnTo>
                        <a:pt x="519" y="775"/>
                      </a:lnTo>
                      <a:lnTo>
                        <a:pt x="522" y="772"/>
                      </a:lnTo>
                      <a:lnTo>
                        <a:pt x="525" y="771"/>
                      </a:lnTo>
                      <a:lnTo>
                        <a:pt x="529" y="769"/>
                      </a:lnTo>
                      <a:lnTo>
                        <a:pt x="531" y="768"/>
                      </a:lnTo>
                      <a:lnTo>
                        <a:pt x="533" y="768"/>
                      </a:lnTo>
                      <a:lnTo>
                        <a:pt x="535" y="767"/>
                      </a:lnTo>
                      <a:lnTo>
                        <a:pt x="538" y="765"/>
                      </a:lnTo>
                      <a:lnTo>
                        <a:pt x="540" y="765"/>
                      </a:lnTo>
                      <a:lnTo>
                        <a:pt x="542" y="764"/>
                      </a:lnTo>
                      <a:lnTo>
                        <a:pt x="544" y="763"/>
                      </a:lnTo>
                      <a:lnTo>
                        <a:pt x="546" y="763"/>
                      </a:lnTo>
                      <a:lnTo>
                        <a:pt x="548" y="761"/>
                      </a:lnTo>
                      <a:lnTo>
                        <a:pt x="550" y="761"/>
                      </a:lnTo>
                      <a:lnTo>
                        <a:pt x="551" y="760"/>
                      </a:lnTo>
                      <a:lnTo>
                        <a:pt x="552" y="760"/>
                      </a:lnTo>
                      <a:lnTo>
                        <a:pt x="555" y="759"/>
                      </a:lnTo>
                      <a:lnTo>
                        <a:pt x="556" y="759"/>
                      </a:lnTo>
                      <a:lnTo>
                        <a:pt x="558" y="759"/>
                      </a:lnTo>
                      <a:lnTo>
                        <a:pt x="559" y="757"/>
                      </a:lnTo>
                      <a:lnTo>
                        <a:pt x="623" y="803"/>
                      </a:lnTo>
                      <a:lnTo>
                        <a:pt x="690" y="761"/>
                      </a:lnTo>
                      <a:lnTo>
                        <a:pt x="672" y="678"/>
                      </a:lnTo>
                      <a:lnTo>
                        <a:pt x="695" y="651"/>
                      </a:lnTo>
                      <a:lnTo>
                        <a:pt x="698" y="650"/>
                      </a:lnTo>
                      <a:lnTo>
                        <a:pt x="700" y="647"/>
                      </a:lnTo>
                      <a:lnTo>
                        <a:pt x="703" y="647"/>
                      </a:lnTo>
                      <a:lnTo>
                        <a:pt x="706" y="646"/>
                      </a:lnTo>
                      <a:lnTo>
                        <a:pt x="708" y="644"/>
                      </a:lnTo>
                      <a:lnTo>
                        <a:pt x="711" y="643"/>
                      </a:lnTo>
                      <a:lnTo>
                        <a:pt x="714" y="643"/>
                      </a:lnTo>
                      <a:lnTo>
                        <a:pt x="716" y="643"/>
                      </a:lnTo>
                      <a:lnTo>
                        <a:pt x="719" y="643"/>
                      </a:lnTo>
                      <a:lnTo>
                        <a:pt x="722" y="642"/>
                      </a:lnTo>
                      <a:lnTo>
                        <a:pt x="726" y="642"/>
                      </a:lnTo>
                      <a:lnTo>
                        <a:pt x="728" y="643"/>
                      </a:lnTo>
                      <a:lnTo>
                        <a:pt x="731" y="643"/>
                      </a:lnTo>
                      <a:lnTo>
                        <a:pt x="735" y="643"/>
                      </a:lnTo>
                      <a:lnTo>
                        <a:pt x="738" y="643"/>
                      </a:lnTo>
                      <a:lnTo>
                        <a:pt x="742" y="643"/>
                      </a:lnTo>
                      <a:lnTo>
                        <a:pt x="744" y="644"/>
                      </a:lnTo>
                      <a:lnTo>
                        <a:pt x="747" y="644"/>
                      </a:lnTo>
                      <a:lnTo>
                        <a:pt x="751" y="644"/>
                      </a:lnTo>
                      <a:lnTo>
                        <a:pt x="753" y="646"/>
                      </a:lnTo>
                      <a:lnTo>
                        <a:pt x="757" y="646"/>
                      </a:lnTo>
                      <a:lnTo>
                        <a:pt x="760" y="646"/>
                      </a:lnTo>
                      <a:lnTo>
                        <a:pt x="764" y="646"/>
                      </a:lnTo>
                      <a:lnTo>
                        <a:pt x="767" y="647"/>
                      </a:lnTo>
                      <a:lnTo>
                        <a:pt x="771" y="647"/>
                      </a:lnTo>
                      <a:lnTo>
                        <a:pt x="773" y="647"/>
                      </a:lnTo>
                      <a:lnTo>
                        <a:pt x="776" y="647"/>
                      </a:lnTo>
                      <a:lnTo>
                        <a:pt x="780" y="647"/>
                      </a:lnTo>
                      <a:lnTo>
                        <a:pt x="783" y="647"/>
                      </a:lnTo>
                      <a:lnTo>
                        <a:pt x="785" y="646"/>
                      </a:lnTo>
                      <a:lnTo>
                        <a:pt x="789" y="646"/>
                      </a:lnTo>
                      <a:lnTo>
                        <a:pt x="792" y="646"/>
                      </a:lnTo>
                      <a:lnTo>
                        <a:pt x="828" y="582"/>
                      </a:lnTo>
                      <a:close/>
                      <a:moveTo>
                        <a:pt x="153" y="297"/>
                      </a:moveTo>
                      <a:lnTo>
                        <a:pt x="160" y="284"/>
                      </a:lnTo>
                      <a:lnTo>
                        <a:pt x="168" y="270"/>
                      </a:lnTo>
                      <a:lnTo>
                        <a:pt x="176" y="258"/>
                      </a:lnTo>
                      <a:lnTo>
                        <a:pt x="185" y="245"/>
                      </a:lnTo>
                      <a:lnTo>
                        <a:pt x="194" y="234"/>
                      </a:lnTo>
                      <a:lnTo>
                        <a:pt x="204" y="222"/>
                      </a:lnTo>
                      <a:lnTo>
                        <a:pt x="214" y="212"/>
                      </a:lnTo>
                      <a:lnTo>
                        <a:pt x="225" y="202"/>
                      </a:lnTo>
                      <a:lnTo>
                        <a:pt x="236" y="193"/>
                      </a:lnTo>
                      <a:lnTo>
                        <a:pt x="248" y="184"/>
                      </a:lnTo>
                      <a:lnTo>
                        <a:pt x="260" y="176"/>
                      </a:lnTo>
                      <a:lnTo>
                        <a:pt x="272" y="168"/>
                      </a:lnTo>
                      <a:lnTo>
                        <a:pt x="285" y="161"/>
                      </a:lnTo>
                      <a:lnTo>
                        <a:pt x="298" y="154"/>
                      </a:lnTo>
                      <a:lnTo>
                        <a:pt x="312" y="148"/>
                      </a:lnTo>
                      <a:lnTo>
                        <a:pt x="325" y="144"/>
                      </a:lnTo>
                      <a:lnTo>
                        <a:pt x="338" y="138"/>
                      </a:lnTo>
                      <a:lnTo>
                        <a:pt x="351" y="134"/>
                      </a:lnTo>
                      <a:lnTo>
                        <a:pt x="366" y="132"/>
                      </a:lnTo>
                      <a:lnTo>
                        <a:pt x="381" y="129"/>
                      </a:lnTo>
                      <a:lnTo>
                        <a:pt x="395" y="128"/>
                      </a:lnTo>
                      <a:lnTo>
                        <a:pt x="410" y="126"/>
                      </a:lnTo>
                      <a:lnTo>
                        <a:pt x="425" y="125"/>
                      </a:lnTo>
                      <a:lnTo>
                        <a:pt x="439" y="126"/>
                      </a:lnTo>
                      <a:lnTo>
                        <a:pt x="454" y="126"/>
                      </a:lnTo>
                      <a:lnTo>
                        <a:pt x="469" y="129"/>
                      </a:lnTo>
                      <a:lnTo>
                        <a:pt x="483" y="132"/>
                      </a:lnTo>
                      <a:lnTo>
                        <a:pt x="498" y="134"/>
                      </a:lnTo>
                      <a:lnTo>
                        <a:pt x="513" y="138"/>
                      </a:lnTo>
                      <a:lnTo>
                        <a:pt x="526" y="144"/>
                      </a:lnTo>
                      <a:lnTo>
                        <a:pt x="540" y="149"/>
                      </a:lnTo>
                      <a:lnTo>
                        <a:pt x="555" y="154"/>
                      </a:lnTo>
                      <a:lnTo>
                        <a:pt x="568" y="162"/>
                      </a:lnTo>
                      <a:lnTo>
                        <a:pt x="582" y="169"/>
                      </a:lnTo>
                      <a:lnTo>
                        <a:pt x="595" y="178"/>
                      </a:lnTo>
                      <a:lnTo>
                        <a:pt x="607" y="186"/>
                      </a:lnTo>
                      <a:lnTo>
                        <a:pt x="619" y="196"/>
                      </a:lnTo>
                      <a:lnTo>
                        <a:pt x="630" y="206"/>
                      </a:lnTo>
                      <a:lnTo>
                        <a:pt x="640" y="216"/>
                      </a:lnTo>
                      <a:lnTo>
                        <a:pt x="650" y="226"/>
                      </a:lnTo>
                      <a:lnTo>
                        <a:pt x="659" y="238"/>
                      </a:lnTo>
                      <a:lnTo>
                        <a:pt x="668" y="249"/>
                      </a:lnTo>
                      <a:lnTo>
                        <a:pt x="676" y="262"/>
                      </a:lnTo>
                      <a:lnTo>
                        <a:pt x="684" y="274"/>
                      </a:lnTo>
                      <a:lnTo>
                        <a:pt x="691" y="286"/>
                      </a:lnTo>
                      <a:lnTo>
                        <a:pt x="698" y="300"/>
                      </a:lnTo>
                      <a:lnTo>
                        <a:pt x="703" y="313"/>
                      </a:lnTo>
                      <a:lnTo>
                        <a:pt x="708" y="326"/>
                      </a:lnTo>
                      <a:lnTo>
                        <a:pt x="712" y="339"/>
                      </a:lnTo>
                      <a:lnTo>
                        <a:pt x="716" y="354"/>
                      </a:lnTo>
                      <a:lnTo>
                        <a:pt x="720" y="367"/>
                      </a:lnTo>
                      <a:lnTo>
                        <a:pt x="722" y="382"/>
                      </a:lnTo>
                      <a:lnTo>
                        <a:pt x="724" y="397"/>
                      </a:lnTo>
                      <a:lnTo>
                        <a:pt x="726" y="411"/>
                      </a:lnTo>
                      <a:lnTo>
                        <a:pt x="726" y="426"/>
                      </a:lnTo>
                      <a:lnTo>
                        <a:pt x="726" y="441"/>
                      </a:lnTo>
                      <a:lnTo>
                        <a:pt x="724" y="455"/>
                      </a:lnTo>
                      <a:lnTo>
                        <a:pt x="723" y="470"/>
                      </a:lnTo>
                      <a:lnTo>
                        <a:pt x="720" y="485"/>
                      </a:lnTo>
                      <a:lnTo>
                        <a:pt x="716" y="499"/>
                      </a:lnTo>
                      <a:lnTo>
                        <a:pt x="712" y="514"/>
                      </a:lnTo>
                      <a:lnTo>
                        <a:pt x="708" y="527"/>
                      </a:lnTo>
                      <a:lnTo>
                        <a:pt x="703" y="542"/>
                      </a:lnTo>
                      <a:lnTo>
                        <a:pt x="696" y="556"/>
                      </a:lnTo>
                      <a:lnTo>
                        <a:pt x="690" y="570"/>
                      </a:lnTo>
                      <a:lnTo>
                        <a:pt x="682" y="583"/>
                      </a:lnTo>
                      <a:lnTo>
                        <a:pt x="674" y="596"/>
                      </a:lnTo>
                      <a:lnTo>
                        <a:pt x="664" y="608"/>
                      </a:lnTo>
                      <a:lnTo>
                        <a:pt x="655" y="620"/>
                      </a:lnTo>
                      <a:lnTo>
                        <a:pt x="646" y="631"/>
                      </a:lnTo>
                      <a:lnTo>
                        <a:pt x="635" y="642"/>
                      </a:lnTo>
                      <a:lnTo>
                        <a:pt x="624" y="651"/>
                      </a:lnTo>
                      <a:lnTo>
                        <a:pt x="614" y="662"/>
                      </a:lnTo>
                      <a:lnTo>
                        <a:pt x="602" y="670"/>
                      </a:lnTo>
                      <a:lnTo>
                        <a:pt x="590" y="678"/>
                      </a:lnTo>
                      <a:lnTo>
                        <a:pt x="578" y="686"/>
                      </a:lnTo>
                      <a:lnTo>
                        <a:pt x="564" y="692"/>
                      </a:lnTo>
                      <a:lnTo>
                        <a:pt x="552" y="699"/>
                      </a:lnTo>
                      <a:lnTo>
                        <a:pt x="539" y="706"/>
                      </a:lnTo>
                      <a:lnTo>
                        <a:pt x="526" y="711"/>
                      </a:lnTo>
                      <a:lnTo>
                        <a:pt x="511" y="715"/>
                      </a:lnTo>
                      <a:lnTo>
                        <a:pt x="498" y="719"/>
                      </a:lnTo>
                      <a:lnTo>
                        <a:pt x="483" y="722"/>
                      </a:lnTo>
                      <a:lnTo>
                        <a:pt x="469" y="724"/>
                      </a:lnTo>
                      <a:lnTo>
                        <a:pt x="455" y="727"/>
                      </a:lnTo>
                      <a:lnTo>
                        <a:pt x="441" y="727"/>
                      </a:lnTo>
                      <a:lnTo>
                        <a:pt x="426" y="728"/>
                      </a:lnTo>
                      <a:lnTo>
                        <a:pt x="411" y="728"/>
                      </a:lnTo>
                      <a:lnTo>
                        <a:pt x="397" y="727"/>
                      </a:lnTo>
                      <a:lnTo>
                        <a:pt x="382" y="726"/>
                      </a:lnTo>
                      <a:lnTo>
                        <a:pt x="367" y="723"/>
                      </a:lnTo>
                      <a:lnTo>
                        <a:pt x="353" y="719"/>
                      </a:lnTo>
                      <a:lnTo>
                        <a:pt x="338" y="715"/>
                      </a:lnTo>
                      <a:lnTo>
                        <a:pt x="323" y="711"/>
                      </a:lnTo>
                      <a:lnTo>
                        <a:pt x="310" y="706"/>
                      </a:lnTo>
                      <a:lnTo>
                        <a:pt x="296" y="699"/>
                      </a:lnTo>
                      <a:lnTo>
                        <a:pt x="282" y="692"/>
                      </a:lnTo>
                      <a:lnTo>
                        <a:pt x="269" y="684"/>
                      </a:lnTo>
                      <a:lnTo>
                        <a:pt x="256" y="676"/>
                      </a:lnTo>
                      <a:lnTo>
                        <a:pt x="244" y="667"/>
                      </a:lnTo>
                      <a:lnTo>
                        <a:pt x="232" y="658"/>
                      </a:lnTo>
                      <a:lnTo>
                        <a:pt x="221" y="648"/>
                      </a:lnTo>
                      <a:lnTo>
                        <a:pt x="210" y="638"/>
                      </a:lnTo>
                      <a:lnTo>
                        <a:pt x="200" y="627"/>
                      </a:lnTo>
                      <a:lnTo>
                        <a:pt x="190" y="616"/>
                      </a:lnTo>
                      <a:lnTo>
                        <a:pt x="181" y="604"/>
                      </a:lnTo>
                      <a:lnTo>
                        <a:pt x="173" y="592"/>
                      </a:lnTo>
                      <a:lnTo>
                        <a:pt x="165" y="579"/>
                      </a:lnTo>
                      <a:lnTo>
                        <a:pt x="158" y="567"/>
                      </a:lnTo>
                      <a:lnTo>
                        <a:pt x="152" y="554"/>
                      </a:lnTo>
                      <a:lnTo>
                        <a:pt x="146" y="540"/>
                      </a:lnTo>
                      <a:lnTo>
                        <a:pt x="141" y="527"/>
                      </a:lnTo>
                      <a:lnTo>
                        <a:pt x="137" y="514"/>
                      </a:lnTo>
                      <a:lnTo>
                        <a:pt x="133" y="499"/>
                      </a:lnTo>
                      <a:lnTo>
                        <a:pt x="130" y="486"/>
                      </a:lnTo>
                      <a:lnTo>
                        <a:pt x="128" y="471"/>
                      </a:lnTo>
                      <a:lnTo>
                        <a:pt x="125" y="457"/>
                      </a:lnTo>
                      <a:lnTo>
                        <a:pt x="125" y="442"/>
                      </a:lnTo>
                      <a:lnTo>
                        <a:pt x="124" y="427"/>
                      </a:lnTo>
                      <a:lnTo>
                        <a:pt x="124" y="413"/>
                      </a:lnTo>
                      <a:lnTo>
                        <a:pt x="125" y="398"/>
                      </a:lnTo>
                      <a:lnTo>
                        <a:pt x="126" y="383"/>
                      </a:lnTo>
                      <a:lnTo>
                        <a:pt x="129" y="369"/>
                      </a:lnTo>
                      <a:lnTo>
                        <a:pt x="133" y="354"/>
                      </a:lnTo>
                      <a:lnTo>
                        <a:pt x="137" y="339"/>
                      </a:lnTo>
                      <a:lnTo>
                        <a:pt x="141" y="326"/>
                      </a:lnTo>
                      <a:lnTo>
                        <a:pt x="146" y="312"/>
                      </a:lnTo>
                      <a:lnTo>
                        <a:pt x="153" y="297"/>
                      </a:lnTo>
                      <a:close/>
                    </a:path>
                  </a:pathLst>
                </a:custGeom>
                <a:solidFill>
                  <a:srgbClr val="000000"/>
                </a:solidFill>
                <a:ln w="9525">
                  <a:noFill/>
                  <a:round/>
                  <a:headEnd/>
                  <a:tailEnd/>
                </a:ln>
              </p:spPr>
              <p:txBody>
                <a:bodyPr/>
                <a:lstStyle/>
                <a:p>
                  <a:endParaRPr lang="en-US"/>
                </a:p>
              </p:txBody>
            </p:sp>
          </p:grpSp>
          <p:sp>
            <p:nvSpPr>
              <p:cNvPr id="31" name="Text Box 1077"/>
              <p:cNvSpPr txBox="1">
                <a:spLocks noChangeArrowheads="1"/>
              </p:cNvSpPr>
              <p:nvPr/>
            </p:nvSpPr>
            <p:spPr bwMode="auto">
              <a:xfrm>
                <a:off x="2973" y="2054"/>
                <a:ext cx="291" cy="368"/>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3200" dirty="0">
                    <a:solidFill>
                      <a:srgbClr val="FFFFFF"/>
                    </a:solidFill>
                  </a:rPr>
                  <a:t>CP</a:t>
                </a:r>
              </a:p>
            </p:txBody>
          </p:sp>
        </p:grpSp>
      </p:grpSp>
      <p:grpSp>
        <p:nvGrpSpPr>
          <p:cNvPr id="38" name="Group 1078"/>
          <p:cNvGrpSpPr>
            <a:grpSpLocks/>
          </p:cNvGrpSpPr>
          <p:nvPr/>
        </p:nvGrpSpPr>
        <p:grpSpPr bwMode="auto">
          <a:xfrm>
            <a:off x="1134238" y="1672784"/>
            <a:ext cx="1802930" cy="1371600"/>
            <a:chOff x="1824" y="1824"/>
            <a:chExt cx="852" cy="864"/>
          </a:xfrm>
        </p:grpSpPr>
        <p:grpSp>
          <p:nvGrpSpPr>
            <p:cNvPr id="39" name="Group 1079"/>
            <p:cNvGrpSpPr>
              <a:grpSpLocks/>
            </p:cNvGrpSpPr>
            <p:nvPr/>
          </p:nvGrpSpPr>
          <p:grpSpPr bwMode="auto">
            <a:xfrm>
              <a:off x="1824" y="1824"/>
              <a:ext cx="852" cy="864"/>
              <a:chOff x="1824" y="1824"/>
              <a:chExt cx="852" cy="864"/>
            </a:xfrm>
          </p:grpSpPr>
          <p:sp>
            <p:nvSpPr>
              <p:cNvPr id="41" name="Freeform 1080"/>
              <p:cNvSpPr>
                <a:spLocks/>
              </p:cNvSpPr>
              <p:nvPr/>
            </p:nvSpPr>
            <p:spPr bwMode="auto">
              <a:xfrm>
                <a:off x="1924" y="1919"/>
                <a:ext cx="667" cy="666"/>
              </a:xfrm>
              <a:custGeom>
                <a:avLst/>
                <a:gdLst>
                  <a:gd name="T0" fmla="*/ 367 w 667"/>
                  <a:gd name="T1" fmla="*/ 1 h 666"/>
                  <a:gd name="T2" fmla="*/ 417 w 667"/>
                  <a:gd name="T3" fmla="*/ 10 h 666"/>
                  <a:gd name="T4" fmla="*/ 463 w 667"/>
                  <a:gd name="T5" fmla="*/ 25 h 666"/>
                  <a:gd name="T6" fmla="*/ 506 w 667"/>
                  <a:gd name="T7" fmla="*/ 47 h 666"/>
                  <a:gd name="T8" fmla="*/ 546 w 667"/>
                  <a:gd name="T9" fmla="*/ 75 h 666"/>
                  <a:gd name="T10" fmla="*/ 580 w 667"/>
                  <a:gd name="T11" fmla="*/ 109 h 666"/>
                  <a:gd name="T12" fmla="*/ 610 w 667"/>
                  <a:gd name="T13" fmla="*/ 146 h 666"/>
                  <a:gd name="T14" fmla="*/ 634 w 667"/>
                  <a:gd name="T15" fmla="*/ 189 h 666"/>
                  <a:gd name="T16" fmla="*/ 652 w 667"/>
                  <a:gd name="T17" fmla="*/ 234 h 666"/>
                  <a:gd name="T18" fmla="*/ 663 w 667"/>
                  <a:gd name="T19" fmla="*/ 282 h 666"/>
                  <a:gd name="T20" fmla="*/ 667 w 667"/>
                  <a:gd name="T21" fmla="*/ 332 h 666"/>
                  <a:gd name="T22" fmla="*/ 663 w 667"/>
                  <a:gd name="T23" fmla="*/ 383 h 666"/>
                  <a:gd name="T24" fmla="*/ 652 w 667"/>
                  <a:gd name="T25" fmla="*/ 432 h 666"/>
                  <a:gd name="T26" fmla="*/ 634 w 667"/>
                  <a:gd name="T27" fmla="*/ 477 h 666"/>
                  <a:gd name="T28" fmla="*/ 610 w 667"/>
                  <a:gd name="T29" fmla="*/ 519 h 666"/>
                  <a:gd name="T30" fmla="*/ 580 w 667"/>
                  <a:gd name="T31" fmla="*/ 557 h 666"/>
                  <a:gd name="T32" fmla="*/ 546 w 667"/>
                  <a:gd name="T33" fmla="*/ 589 h 666"/>
                  <a:gd name="T34" fmla="*/ 506 w 667"/>
                  <a:gd name="T35" fmla="*/ 617 h 666"/>
                  <a:gd name="T36" fmla="*/ 463 w 667"/>
                  <a:gd name="T37" fmla="*/ 640 h 666"/>
                  <a:gd name="T38" fmla="*/ 417 w 667"/>
                  <a:gd name="T39" fmla="*/ 656 h 666"/>
                  <a:gd name="T40" fmla="*/ 367 w 667"/>
                  <a:gd name="T41" fmla="*/ 664 h 666"/>
                  <a:gd name="T42" fmla="*/ 317 w 667"/>
                  <a:gd name="T43" fmla="*/ 666 h 666"/>
                  <a:gd name="T44" fmla="*/ 266 w 667"/>
                  <a:gd name="T45" fmla="*/ 660 h 666"/>
                  <a:gd name="T46" fmla="*/ 220 w 667"/>
                  <a:gd name="T47" fmla="*/ 647 h 666"/>
                  <a:gd name="T48" fmla="*/ 176 w 667"/>
                  <a:gd name="T49" fmla="*/ 625 h 666"/>
                  <a:gd name="T50" fmla="*/ 134 w 667"/>
                  <a:gd name="T51" fmla="*/ 600 h 666"/>
                  <a:gd name="T52" fmla="*/ 98 w 667"/>
                  <a:gd name="T53" fmla="*/ 568 h 666"/>
                  <a:gd name="T54" fmla="*/ 66 w 667"/>
                  <a:gd name="T55" fmla="*/ 532 h 666"/>
                  <a:gd name="T56" fmla="*/ 41 w 667"/>
                  <a:gd name="T57" fmla="*/ 491 h 666"/>
                  <a:gd name="T58" fmla="*/ 20 w 667"/>
                  <a:gd name="T59" fmla="*/ 447 h 666"/>
                  <a:gd name="T60" fmla="*/ 7 w 667"/>
                  <a:gd name="T61" fmla="*/ 400 h 666"/>
                  <a:gd name="T62" fmla="*/ 1 w 667"/>
                  <a:gd name="T63" fmla="*/ 350 h 666"/>
                  <a:gd name="T64" fmla="*/ 3 w 667"/>
                  <a:gd name="T65" fmla="*/ 299 h 666"/>
                  <a:gd name="T66" fmla="*/ 10 w 667"/>
                  <a:gd name="T67" fmla="*/ 250 h 666"/>
                  <a:gd name="T68" fmla="*/ 26 w 667"/>
                  <a:gd name="T69" fmla="*/ 203 h 666"/>
                  <a:gd name="T70" fmla="*/ 49 w 667"/>
                  <a:gd name="T71" fmla="*/ 161 h 666"/>
                  <a:gd name="T72" fmla="*/ 77 w 667"/>
                  <a:gd name="T73" fmla="*/ 121 h 666"/>
                  <a:gd name="T74" fmla="*/ 109 w 667"/>
                  <a:gd name="T75" fmla="*/ 86 h 666"/>
                  <a:gd name="T76" fmla="*/ 148 w 667"/>
                  <a:gd name="T77" fmla="*/ 57 h 666"/>
                  <a:gd name="T78" fmla="*/ 189 w 667"/>
                  <a:gd name="T79" fmla="*/ 31 h 666"/>
                  <a:gd name="T80" fmla="*/ 234 w 667"/>
                  <a:gd name="T81" fmla="*/ 14 h 666"/>
                  <a:gd name="T82" fmla="*/ 283 w 667"/>
                  <a:gd name="T83" fmla="*/ 4 h 666"/>
                  <a:gd name="T84" fmla="*/ 334 w 667"/>
                  <a:gd name="T85" fmla="*/ 0 h 6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67"/>
                  <a:gd name="T130" fmla="*/ 0 h 666"/>
                  <a:gd name="T131" fmla="*/ 667 w 667"/>
                  <a:gd name="T132" fmla="*/ 666 h 6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67" h="666">
                    <a:moveTo>
                      <a:pt x="334" y="0"/>
                    </a:moveTo>
                    <a:lnTo>
                      <a:pt x="351" y="0"/>
                    </a:lnTo>
                    <a:lnTo>
                      <a:pt x="367" y="1"/>
                    </a:lnTo>
                    <a:lnTo>
                      <a:pt x="385" y="4"/>
                    </a:lnTo>
                    <a:lnTo>
                      <a:pt x="401" y="6"/>
                    </a:lnTo>
                    <a:lnTo>
                      <a:pt x="417" y="10"/>
                    </a:lnTo>
                    <a:lnTo>
                      <a:pt x="433" y="14"/>
                    </a:lnTo>
                    <a:lnTo>
                      <a:pt x="448" y="19"/>
                    </a:lnTo>
                    <a:lnTo>
                      <a:pt x="463" y="25"/>
                    </a:lnTo>
                    <a:lnTo>
                      <a:pt x="478" y="31"/>
                    </a:lnTo>
                    <a:lnTo>
                      <a:pt x="492" y="39"/>
                    </a:lnTo>
                    <a:lnTo>
                      <a:pt x="506" y="47"/>
                    </a:lnTo>
                    <a:lnTo>
                      <a:pt x="520" y="57"/>
                    </a:lnTo>
                    <a:lnTo>
                      <a:pt x="532" y="66"/>
                    </a:lnTo>
                    <a:lnTo>
                      <a:pt x="546" y="75"/>
                    </a:lnTo>
                    <a:lnTo>
                      <a:pt x="558" y="86"/>
                    </a:lnTo>
                    <a:lnTo>
                      <a:pt x="570" y="97"/>
                    </a:lnTo>
                    <a:lnTo>
                      <a:pt x="580" y="109"/>
                    </a:lnTo>
                    <a:lnTo>
                      <a:pt x="591" y="121"/>
                    </a:lnTo>
                    <a:lnTo>
                      <a:pt x="600" y="133"/>
                    </a:lnTo>
                    <a:lnTo>
                      <a:pt x="610" y="146"/>
                    </a:lnTo>
                    <a:lnTo>
                      <a:pt x="619" y="161"/>
                    </a:lnTo>
                    <a:lnTo>
                      <a:pt x="627" y="174"/>
                    </a:lnTo>
                    <a:lnTo>
                      <a:pt x="634" y="189"/>
                    </a:lnTo>
                    <a:lnTo>
                      <a:pt x="640" y="203"/>
                    </a:lnTo>
                    <a:lnTo>
                      <a:pt x="647" y="218"/>
                    </a:lnTo>
                    <a:lnTo>
                      <a:pt x="652" y="234"/>
                    </a:lnTo>
                    <a:lnTo>
                      <a:pt x="656" y="250"/>
                    </a:lnTo>
                    <a:lnTo>
                      <a:pt x="660" y="266"/>
                    </a:lnTo>
                    <a:lnTo>
                      <a:pt x="663" y="282"/>
                    </a:lnTo>
                    <a:lnTo>
                      <a:pt x="665" y="299"/>
                    </a:lnTo>
                    <a:lnTo>
                      <a:pt x="667" y="315"/>
                    </a:lnTo>
                    <a:lnTo>
                      <a:pt x="667" y="332"/>
                    </a:lnTo>
                    <a:lnTo>
                      <a:pt x="667" y="350"/>
                    </a:lnTo>
                    <a:lnTo>
                      <a:pt x="665" y="367"/>
                    </a:lnTo>
                    <a:lnTo>
                      <a:pt x="663" y="383"/>
                    </a:lnTo>
                    <a:lnTo>
                      <a:pt x="660" y="400"/>
                    </a:lnTo>
                    <a:lnTo>
                      <a:pt x="656" y="416"/>
                    </a:lnTo>
                    <a:lnTo>
                      <a:pt x="652" y="432"/>
                    </a:lnTo>
                    <a:lnTo>
                      <a:pt x="647" y="447"/>
                    </a:lnTo>
                    <a:lnTo>
                      <a:pt x="640" y="463"/>
                    </a:lnTo>
                    <a:lnTo>
                      <a:pt x="634" y="477"/>
                    </a:lnTo>
                    <a:lnTo>
                      <a:pt x="627" y="491"/>
                    </a:lnTo>
                    <a:lnTo>
                      <a:pt x="619" y="505"/>
                    </a:lnTo>
                    <a:lnTo>
                      <a:pt x="610" y="519"/>
                    </a:lnTo>
                    <a:lnTo>
                      <a:pt x="600" y="532"/>
                    </a:lnTo>
                    <a:lnTo>
                      <a:pt x="591" y="544"/>
                    </a:lnTo>
                    <a:lnTo>
                      <a:pt x="580" y="557"/>
                    </a:lnTo>
                    <a:lnTo>
                      <a:pt x="570" y="568"/>
                    </a:lnTo>
                    <a:lnTo>
                      <a:pt x="558" y="580"/>
                    </a:lnTo>
                    <a:lnTo>
                      <a:pt x="546" y="589"/>
                    </a:lnTo>
                    <a:lnTo>
                      <a:pt x="532" y="600"/>
                    </a:lnTo>
                    <a:lnTo>
                      <a:pt x="520" y="609"/>
                    </a:lnTo>
                    <a:lnTo>
                      <a:pt x="506" y="617"/>
                    </a:lnTo>
                    <a:lnTo>
                      <a:pt x="492" y="625"/>
                    </a:lnTo>
                    <a:lnTo>
                      <a:pt x="478" y="633"/>
                    </a:lnTo>
                    <a:lnTo>
                      <a:pt x="463" y="640"/>
                    </a:lnTo>
                    <a:lnTo>
                      <a:pt x="448" y="647"/>
                    </a:lnTo>
                    <a:lnTo>
                      <a:pt x="433" y="651"/>
                    </a:lnTo>
                    <a:lnTo>
                      <a:pt x="417" y="656"/>
                    </a:lnTo>
                    <a:lnTo>
                      <a:pt x="401" y="660"/>
                    </a:lnTo>
                    <a:lnTo>
                      <a:pt x="385" y="662"/>
                    </a:lnTo>
                    <a:lnTo>
                      <a:pt x="367" y="664"/>
                    </a:lnTo>
                    <a:lnTo>
                      <a:pt x="351" y="666"/>
                    </a:lnTo>
                    <a:lnTo>
                      <a:pt x="334" y="666"/>
                    </a:lnTo>
                    <a:lnTo>
                      <a:pt x="317" y="666"/>
                    </a:lnTo>
                    <a:lnTo>
                      <a:pt x="299" y="664"/>
                    </a:lnTo>
                    <a:lnTo>
                      <a:pt x="283" y="662"/>
                    </a:lnTo>
                    <a:lnTo>
                      <a:pt x="266" y="660"/>
                    </a:lnTo>
                    <a:lnTo>
                      <a:pt x="250" y="656"/>
                    </a:lnTo>
                    <a:lnTo>
                      <a:pt x="234" y="651"/>
                    </a:lnTo>
                    <a:lnTo>
                      <a:pt x="220" y="647"/>
                    </a:lnTo>
                    <a:lnTo>
                      <a:pt x="204" y="640"/>
                    </a:lnTo>
                    <a:lnTo>
                      <a:pt x="189" y="633"/>
                    </a:lnTo>
                    <a:lnTo>
                      <a:pt x="176" y="625"/>
                    </a:lnTo>
                    <a:lnTo>
                      <a:pt x="161" y="617"/>
                    </a:lnTo>
                    <a:lnTo>
                      <a:pt x="148" y="609"/>
                    </a:lnTo>
                    <a:lnTo>
                      <a:pt x="134" y="600"/>
                    </a:lnTo>
                    <a:lnTo>
                      <a:pt x="122" y="589"/>
                    </a:lnTo>
                    <a:lnTo>
                      <a:pt x="109" y="580"/>
                    </a:lnTo>
                    <a:lnTo>
                      <a:pt x="98" y="568"/>
                    </a:lnTo>
                    <a:lnTo>
                      <a:pt x="86" y="557"/>
                    </a:lnTo>
                    <a:lnTo>
                      <a:pt x="77" y="544"/>
                    </a:lnTo>
                    <a:lnTo>
                      <a:pt x="66" y="532"/>
                    </a:lnTo>
                    <a:lnTo>
                      <a:pt x="57" y="519"/>
                    </a:lnTo>
                    <a:lnTo>
                      <a:pt x="49" y="505"/>
                    </a:lnTo>
                    <a:lnTo>
                      <a:pt x="41" y="491"/>
                    </a:lnTo>
                    <a:lnTo>
                      <a:pt x="33" y="477"/>
                    </a:lnTo>
                    <a:lnTo>
                      <a:pt x="26" y="463"/>
                    </a:lnTo>
                    <a:lnTo>
                      <a:pt x="20" y="447"/>
                    </a:lnTo>
                    <a:lnTo>
                      <a:pt x="16" y="432"/>
                    </a:lnTo>
                    <a:lnTo>
                      <a:pt x="10" y="416"/>
                    </a:lnTo>
                    <a:lnTo>
                      <a:pt x="7" y="400"/>
                    </a:lnTo>
                    <a:lnTo>
                      <a:pt x="4" y="383"/>
                    </a:lnTo>
                    <a:lnTo>
                      <a:pt x="3" y="367"/>
                    </a:lnTo>
                    <a:lnTo>
                      <a:pt x="1" y="350"/>
                    </a:lnTo>
                    <a:lnTo>
                      <a:pt x="0" y="332"/>
                    </a:lnTo>
                    <a:lnTo>
                      <a:pt x="1" y="315"/>
                    </a:lnTo>
                    <a:lnTo>
                      <a:pt x="3" y="299"/>
                    </a:lnTo>
                    <a:lnTo>
                      <a:pt x="4" y="282"/>
                    </a:lnTo>
                    <a:lnTo>
                      <a:pt x="7" y="266"/>
                    </a:lnTo>
                    <a:lnTo>
                      <a:pt x="10" y="250"/>
                    </a:lnTo>
                    <a:lnTo>
                      <a:pt x="16" y="234"/>
                    </a:lnTo>
                    <a:lnTo>
                      <a:pt x="20" y="218"/>
                    </a:lnTo>
                    <a:lnTo>
                      <a:pt x="26" y="203"/>
                    </a:lnTo>
                    <a:lnTo>
                      <a:pt x="33" y="189"/>
                    </a:lnTo>
                    <a:lnTo>
                      <a:pt x="41" y="174"/>
                    </a:lnTo>
                    <a:lnTo>
                      <a:pt x="49" y="161"/>
                    </a:lnTo>
                    <a:lnTo>
                      <a:pt x="57" y="146"/>
                    </a:lnTo>
                    <a:lnTo>
                      <a:pt x="66" y="133"/>
                    </a:lnTo>
                    <a:lnTo>
                      <a:pt x="77" y="121"/>
                    </a:lnTo>
                    <a:lnTo>
                      <a:pt x="86" y="109"/>
                    </a:lnTo>
                    <a:lnTo>
                      <a:pt x="98" y="97"/>
                    </a:lnTo>
                    <a:lnTo>
                      <a:pt x="109" y="86"/>
                    </a:lnTo>
                    <a:lnTo>
                      <a:pt x="122" y="75"/>
                    </a:lnTo>
                    <a:lnTo>
                      <a:pt x="134" y="66"/>
                    </a:lnTo>
                    <a:lnTo>
                      <a:pt x="148" y="57"/>
                    </a:lnTo>
                    <a:lnTo>
                      <a:pt x="161" y="47"/>
                    </a:lnTo>
                    <a:lnTo>
                      <a:pt x="176" y="39"/>
                    </a:lnTo>
                    <a:lnTo>
                      <a:pt x="189" y="31"/>
                    </a:lnTo>
                    <a:lnTo>
                      <a:pt x="204" y="25"/>
                    </a:lnTo>
                    <a:lnTo>
                      <a:pt x="220" y="19"/>
                    </a:lnTo>
                    <a:lnTo>
                      <a:pt x="234" y="14"/>
                    </a:lnTo>
                    <a:lnTo>
                      <a:pt x="250" y="10"/>
                    </a:lnTo>
                    <a:lnTo>
                      <a:pt x="266" y="6"/>
                    </a:lnTo>
                    <a:lnTo>
                      <a:pt x="283" y="4"/>
                    </a:lnTo>
                    <a:lnTo>
                      <a:pt x="299" y="1"/>
                    </a:lnTo>
                    <a:lnTo>
                      <a:pt x="317" y="0"/>
                    </a:lnTo>
                    <a:lnTo>
                      <a:pt x="334" y="0"/>
                    </a:lnTo>
                    <a:close/>
                  </a:path>
                </a:pathLst>
              </a:custGeom>
              <a:solidFill>
                <a:srgbClr val="3366FF"/>
              </a:solidFill>
              <a:ln w="9525">
                <a:noFill/>
                <a:round/>
                <a:headEnd/>
                <a:tailEnd/>
              </a:ln>
            </p:spPr>
            <p:txBody>
              <a:bodyPr/>
              <a:lstStyle/>
              <a:p>
                <a:endParaRPr lang="en-US"/>
              </a:p>
            </p:txBody>
          </p:sp>
          <p:sp>
            <p:nvSpPr>
              <p:cNvPr id="42" name="Freeform 1081"/>
              <p:cNvSpPr>
                <a:spLocks noEditPoints="1"/>
              </p:cNvSpPr>
              <p:nvPr/>
            </p:nvSpPr>
            <p:spPr bwMode="auto">
              <a:xfrm>
                <a:off x="1824" y="1824"/>
                <a:ext cx="852" cy="864"/>
              </a:xfrm>
              <a:custGeom>
                <a:avLst/>
                <a:gdLst>
                  <a:gd name="T0" fmla="*/ 768 w 852"/>
                  <a:gd name="T1" fmla="*/ 518 h 864"/>
                  <a:gd name="T2" fmla="*/ 768 w 852"/>
                  <a:gd name="T3" fmla="*/ 503 h 864"/>
                  <a:gd name="T4" fmla="*/ 772 w 852"/>
                  <a:gd name="T5" fmla="*/ 486 h 864"/>
                  <a:gd name="T6" fmla="*/ 851 w 852"/>
                  <a:gd name="T7" fmla="*/ 369 h 864"/>
                  <a:gd name="T8" fmla="*/ 670 w 852"/>
                  <a:gd name="T9" fmla="*/ 172 h 864"/>
                  <a:gd name="T10" fmla="*/ 471 w 852"/>
                  <a:gd name="T11" fmla="*/ 77 h 864"/>
                  <a:gd name="T12" fmla="*/ 330 w 852"/>
                  <a:gd name="T13" fmla="*/ 89 h 864"/>
                  <a:gd name="T14" fmla="*/ 313 w 852"/>
                  <a:gd name="T15" fmla="*/ 96 h 864"/>
                  <a:gd name="T16" fmla="*/ 297 w 852"/>
                  <a:gd name="T17" fmla="*/ 101 h 864"/>
                  <a:gd name="T18" fmla="*/ 228 w 852"/>
                  <a:gd name="T19" fmla="*/ 61 h 864"/>
                  <a:gd name="T20" fmla="*/ 205 w 852"/>
                  <a:gd name="T21" fmla="*/ 64 h 864"/>
                  <a:gd name="T22" fmla="*/ 185 w 852"/>
                  <a:gd name="T23" fmla="*/ 76 h 864"/>
                  <a:gd name="T24" fmla="*/ 164 w 852"/>
                  <a:gd name="T25" fmla="*/ 91 h 864"/>
                  <a:gd name="T26" fmla="*/ 28 w 852"/>
                  <a:gd name="T27" fmla="*/ 269 h 864"/>
                  <a:gd name="T28" fmla="*/ 79 w 852"/>
                  <a:gd name="T29" fmla="*/ 519 h 864"/>
                  <a:gd name="T30" fmla="*/ 217 w 852"/>
                  <a:gd name="T31" fmla="*/ 727 h 864"/>
                  <a:gd name="T32" fmla="*/ 329 w 852"/>
                  <a:gd name="T33" fmla="*/ 777 h 864"/>
                  <a:gd name="T34" fmla="*/ 343 w 852"/>
                  <a:gd name="T35" fmla="*/ 777 h 864"/>
                  <a:gd name="T36" fmla="*/ 358 w 852"/>
                  <a:gd name="T37" fmla="*/ 781 h 864"/>
                  <a:gd name="T38" fmla="*/ 414 w 852"/>
                  <a:gd name="T39" fmla="*/ 864 h 864"/>
                  <a:gd name="T40" fmla="*/ 489 w 852"/>
                  <a:gd name="T41" fmla="*/ 848 h 864"/>
                  <a:gd name="T42" fmla="*/ 494 w 852"/>
                  <a:gd name="T43" fmla="*/ 835 h 864"/>
                  <a:gd name="T44" fmla="*/ 499 w 852"/>
                  <a:gd name="T45" fmla="*/ 819 h 864"/>
                  <a:gd name="T46" fmla="*/ 503 w 852"/>
                  <a:gd name="T47" fmla="*/ 801 h 864"/>
                  <a:gd name="T48" fmla="*/ 510 w 852"/>
                  <a:gd name="T49" fmla="*/ 787 h 864"/>
                  <a:gd name="T50" fmla="*/ 519 w 852"/>
                  <a:gd name="T51" fmla="*/ 775 h 864"/>
                  <a:gd name="T52" fmla="*/ 533 w 852"/>
                  <a:gd name="T53" fmla="*/ 768 h 864"/>
                  <a:gd name="T54" fmla="*/ 544 w 852"/>
                  <a:gd name="T55" fmla="*/ 763 h 864"/>
                  <a:gd name="T56" fmla="*/ 552 w 852"/>
                  <a:gd name="T57" fmla="*/ 760 h 864"/>
                  <a:gd name="T58" fmla="*/ 623 w 852"/>
                  <a:gd name="T59" fmla="*/ 803 h 864"/>
                  <a:gd name="T60" fmla="*/ 700 w 852"/>
                  <a:gd name="T61" fmla="*/ 647 h 864"/>
                  <a:gd name="T62" fmla="*/ 714 w 852"/>
                  <a:gd name="T63" fmla="*/ 643 h 864"/>
                  <a:gd name="T64" fmla="*/ 728 w 852"/>
                  <a:gd name="T65" fmla="*/ 643 h 864"/>
                  <a:gd name="T66" fmla="*/ 744 w 852"/>
                  <a:gd name="T67" fmla="*/ 644 h 864"/>
                  <a:gd name="T68" fmla="*/ 760 w 852"/>
                  <a:gd name="T69" fmla="*/ 646 h 864"/>
                  <a:gd name="T70" fmla="*/ 776 w 852"/>
                  <a:gd name="T71" fmla="*/ 647 h 864"/>
                  <a:gd name="T72" fmla="*/ 792 w 852"/>
                  <a:gd name="T73" fmla="*/ 646 h 864"/>
                  <a:gd name="T74" fmla="*/ 176 w 852"/>
                  <a:gd name="T75" fmla="*/ 258 h 864"/>
                  <a:gd name="T76" fmla="*/ 225 w 852"/>
                  <a:gd name="T77" fmla="*/ 202 h 864"/>
                  <a:gd name="T78" fmla="*/ 285 w 852"/>
                  <a:gd name="T79" fmla="*/ 161 h 864"/>
                  <a:gd name="T80" fmla="*/ 351 w 852"/>
                  <a:gd name="T81" fmla="*/ 134 h 864"/>
                  <a:gd name="T82" fmla="*/ 425 w 852"/>
                  <a:gd name="T83" fmla="*/ 125 h 864"/>
                  <a:gd name="T84" fmla="*/ 498 w 852"/>
                  <a:gd name="T85" fmla="*/ 134 h 864"/>
                  <a:gd name="T86" fmla="*/ 568 w 852"/>
                  <a:gd name="T87" fmla="*/ 162 h 864"/>
                  <a:gd name="T88" fmla="*/ 630 w 852"/>
                  <a:gd name="T89" fmla="*/ 206 h 864"/>
                  <a:gd name="T90" fmla="*/ 676 w 852"/>
                  <a:gd name="T91" fmla="*/ 262 h 864"/>
                  <a:gd name="T92" fmla="*/ 708 w 852"/>
                  <a:gd name="T93" fmla="*/ 326 h 864"/>
                  <a:gd name="T94" fmla="*/ 724 w 852"/>
                  <a:gd name="T95" fmla="*/ 397 h 864"/>
                  <a:gd name="T96" fmla="*/ 723 w 852"/>
                  <a:gd name="T97" fmla="*/ 470 h 864"/>
                  <a:gd name="T98" fmla="*/ 703 w 852"/>
                  <a:gd name="T99" fmla="*/ 542 h 864"/>
                  <a:gd name="T100" fmla="*/ 664 w 852"/>
                  <a:gd name="T101" fmla="*/ 608 h 864"/>
                  <a:gd name="T102" fmla="*/ 614 w 852"/>
                  <a:gd name="T103" fmla="*/ 662 h 864"/>
                  <a:gd name="T104" fmla="*/ 552 w 852"/>
                  <a:gd name="T105" fmla="*/ 699 h 864"/>
                  <a:gd name="T106" fmla="*/ 483 w 852"/>
                  <a:gd name="T107" fmla="*/ 722 h 864"/>
                  <a:gd name="T108" fmla="*/ 411 w 852"/>
                  <a:gd name="T109" fmla="*/ 728 h 864"/>
                  <a:gd name="T110" fmla="*/ 338 w 852"/>
                  <a:gd name="T111" fmla="*/ 715 h 864"/>
                  <a:gd name="T112" fmla="*/ 269 w 852"/>
                  <a:gd name="T113" fmla="*/ 684 h 864"/>
                  <a:gd name="T114" fmla="*/ 210 w 852"/>
                  <a:gd name="T115" fmla="*/ 638 h 864"/>
                  <a:gd name="T116" fmla="*/ 165 w 852"/>
                  <a:gd name="T117" fmla="*/ 579 h 864"/>
                  <a:gd name="T118" fmla="*/ 137 w 852"/>
                  <a:gd name="T119" fmla="*/ 514 h 864"/>
                  <a:gd name="T120" fmla="*/ 125 w 852"/>
                  <a:gd name="T121" fmla="*/ 442 h 864"/>
                  <a:gd name="T122" fmla="*/ 129 w 852"/>
                  <a:gd name="T123" fmla="*/ 369 h 864"/>
                  <a:gd name="T124" fmla="*/ 153 w 852"/>
                  <a:gd name="T125" fmla="*/ 297 h 86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852"/>
                  <a:gd name="T190" fmla="*/ 0 h 864"/>
                  <a:gd name="T191" fmla="*/ 852 w 852"/>
                  <a:gd name="T192" fmla="*/ 864 h 86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852" h="864">
                    <a:moveTo>
                      <a:pt x="828" y="582"/>
                    </a:moveTo>
                    <a:lnTo>
                      <a:pt x="772" y="526"/>
                    </a:lnTo>
                    <a:lnTo>
                      <a:pt x="769" y="523"/>
                    </a:lnTo>
                    <a:lnTo>
                      <a:pt x="768" y="521"/>
                    </a:lnTo>
                    <a:lnTo>
                      <a:pt x="768" y="518"/>
                    </a:lnTo>
                    <a:lnTo>
                      <a:pt x="767" y="515"/>
                    </a:lnTo>
                    <a:lnTo>
                      <a:pt x="767" y="513"/>
                    </a:lnTo>
                    <a:lnTo>
                      <a:pt x="767" y="510"/>
                    </a:lnTo>
                    <a:lnTo>
                      <a:pt x="768" y="506"/>
                    </a:lnTo>
                    <a:lnTo>
                      <a:pt x="768" y="503"/>
                    </a:lnTo>
                    <a:lnTo>
                      <a:pt x="769" y="499"/>
                    </a:lnTo>
                    <a:lnTo>
                      <a:pt x="769" y="497"/>
                    </a:lnTo>
                    <a:lnTo>
                      <a:pt x="771" y="493"/>
                    </a:lnTo>
                    <a:lnTo>
                      <a:pt x="772" y="490"/>
                    </a:lnTo>
                    <a:lnTo>
                      <a:pt x="772" y="486"/>
                    </a:lnTo>
                    <a:lnTo>
                      <a:pt x="773" y="483"/>
                    </a:lnTo>
                    <a:lnTo>
                      <a:pt x="773" y="479"/>
                    </a:lnTo>
                    <a:lnTo>
                      <a:pt x="773" y="475"/>
                    </a:lnTo>
                    <a:lnTo>
                      <a:pt x="852" y="434"/>
                    </a:lnTo>
                    <a:lnTo>
                      <a:pt x="851" y="369"/>
                    </a:lnTo>
                    <a:lnTo>
                      <a:pt x="768" y="341"/>
                    </a:lnTo>
                    <a:lnTo>
                      <a:pt x="751" y="278"/>
                    </a:lnTo>
                    <a:lnTo>
                      <a:pt x="796" y="216"/>
                    </a:lnTo>
                    <a:lnTo>
                      <a:pt x="757" y="156"/>
                    </a:lnTo>
                    <a:lnTo>
                      <a:pt x="670" y="172"/>
                    </a:lnTo>
                    <a:lnTo>
                      <a:pt x="643" y="149"/>
                    </a:lnTo>
                    <a:lnTo>
                      <a:pt x="648" y="65"/>
                    </a:lnTo>
                    <a:lnTo>
                      <a:pt x="588" y="31"/>
                    </a:lnTo>
                    <a:lnTo>
                      <a:pt x="523" y="80"/>
                    </a:lnTo>
                    <a:lnTo>
                      <a:pt x="471" y="77"/>
                    </a:lnTo>
                    <a:lnTo>
                      <a:pt x="433" y="0"/>
                    </a:lnTo>
                    <a:lnTo>
                      <a:pt x="366" y="5"/>
                    </a:lnTo>
                    <a:lnTo>
                      <a:pt x="337" y="87"/>
                    </a:lnTo>
                    <a:lnTo>
                      <a:pt x="333" y="88"/>
                    </a:lnTo>
                    <a:lnTo>
                      <a:pt x="330" y="89"/>
                    </a:lnTo>
                    <a:lnTo>
                      <a:pt x="326" y="91"/>
                    </a:lnTo>
                    <a:lnTo>
                      <a:pt x="323" y="92"/>
                    </a:lnTo>
                    <a:lnTo>
                      <a:pt x="320" y="93"/>
                    </a:lnTo>
                    <a:lnTo>
                      <a:pt x="317" y="95"/>
                    </a:lnTo>
                    <a:lnTo>
                      <a:pt x="313" y="96"/>
                    </a:lnTo>
                    <a:lnTo>
                      <a:pt x="310" y="97"/>
                    </a:lnTo>
                    <a:lnTo>
                      <a:pt x="306" y="99"/>
                    </a:lnTo>
                    <a:lnTo>
                      <a:pt x="304" y="99"/>
                    </a:lnTo>
                    <a:lnTo>
                      <a:pt x="300" y="100"/>
                    </a:lnTo>
                    <a:lnTo>
                      <a:pt x="297" y="101"/>
                    </a:lnTo>
                    <a:lnTo>
                      <a:pt x="293" y="101"/>
                    </a:lnTo>
                    <a:lnTo>
                      <a:pt x="289" y="103"/>
                    </a:lnTo>
                    <a:lnTo>
                      <a:pt x="286" y="103"/>
                    </a:lnTo>
                    <a:lnTo>
                      <a:pt x="282" y="103"/>
                    </a:lnTo>
                    <a:lnTo>
                      <a:pt x="228" y="61"/>
                    </a:lnTo>
                    <a:lnTo>
                      <a:pt x="224" y="61"/>
                    </a:lnTo>
                    <a:lnTo>
                      <a:pt x="218" y="61"/>
                    </a:lnTo>
                    <a:lnTo>
                      <a:pt x="214" y="61"/>
                    </a:lnTo>
                    <a:lnTo>
                      <a:pt x="209" y="63"/>
                    </a:lnTo>
                    <a:lnTo>
                      <a:pt x="205" y="64"/>
                    </a:lnTo>
                    <a:lnTo>
                      <a:pt x="201" y="65"/>
                    </a:lnTo>
                    <a:lnTo>
                      <a:pt x="197" y="68"/>
                    </a:lnTo>
                    <a:lnTo>
                      <a:pt x="193" y="71"/>
                    </a:lnTo>
                    <a:lnTo>
                      <a:pt x="189" y="73"/>
                    </a:lnTo>
                    <a:lnTo>
                      <a:pt x="185" y="76"/>
                    </a:lnTo>
                    <a:lnTo>
                      <a:pt x="181" y="79"/>
                    </a:lnTo>
                    <a:lnTo>
                      <a:pt x="177" y="83"/>
                    </a:lnTo>
                    <a:lnTo>
                      <a:pt x="172" y="85"/>
                    </a:lnTo>
                    <a:lnTo>
                      <a:pt x="168" y="88"/>
                    </a:lnTo>
                    <a:lnTo>
                      <a:pt x="164" y="91"/>
                    </a:lnTo>
                    <a:lnTo>
                      <a:pt x="160" y="93"/>
                    </a:lnTo>
                    <a:lnTo>
                      <a:pt x="176" y="180"/>
                    </a:lnTo>
                    <a:lnTo>
                      <a:pt x="148" y="216"/>
                    </a:lnTo>
                    <a:lnTo>
                      <a:pt x="65" y="204"/>
                    </a:lnTo>
                    <a:lnTo>
                      <a:pt x="28" y="269"/>
                    </a:lnTo>
                    <a:lnTo>
                      <a:pt x="84" y="330"/>
                    </a:lnTo>
                    <a:lnTo>
                      <a:pt x="76" y="389"/>
                    </a:lnTo>
                    <a:lnTo>
                      <a:pt x="0" y="426"/>
                    </a:lnTo>
                    <a:lnTo>
                      <a:pt x="7" y="503"/>
                    </a:lnTo>
                    <a:lnTo>
                      <a:pt x="79" y="519"/>
                    </a:lnTo>
                    <a:lnTo>
                      <a:pt x="101" y="586"/>
                    </a:lnTo>
                    <a:lnTo>
                      <a:pt x="48" y="642"/>
                    </a:lnTo>
                    <a:lnTo>
                      <a:pt x="95" y="710"/>
                    </a:lnTo>
                    <a:lnTo>
                      <a:pt x="176" y="686"/>
                    </a:lnTo>
                    <a:lnTo>
                      <a:pt x="217" y="727"/>
                    </a:lnTo>
                    <a:lnTo>
                      <a:pt x="204" y="803"/>
                    </a:lnTo>
                    <a:lnTo>
                      <a:pt x="258" y="832"/>
                    </a:lnTo>
                    <a:lnTo>
                      <a:pt x="323" y="777"/>
                    </a:lnTo>
                    <a:lnTo>
                      <a:pt x="326" y="777"/>
                    </a:lnTo>
                    <a:lnTo>
                      <a:pt x="329" y="777"/>
                    </a:lnTo>
                    <a:lnTo>
                      <a:pt x="331" y="776"/>
                    </a:lnTo>
                    <a:lnTo>
                      <a:pt x="334" y="776"/>
                    </a:lnTo>
                    <a:lnTo>
                      <a:pt x="337" y="776"/>
                    </a:lnTo>
                    <a:lnTo>
                      <a:pt x="339" y="777"/>
                    </a:lnTo>
                    <a:lnTo>
                      <a:pt x="343" y="777"/>
                    </a:lnTo>
                    <a:lnTo>
                      <a:pt x="346" y="777"/>
                    </a:lnTo>
                    <a:lnTo>
                      <a:pt x="349" y="779"/>
                    </a:lnTo>
                    <a:lnTo>
                      <a:pt x="353" y="779"/>
                    </a:lnTo>
                    <a:lnTo>
                      <a:pt x="355" y="780"/>
                    </a:lnTo>
                    <a:lnTo>
                      <a:pt x="358" y="781"/>
                    </a:lnTo>
                    <a:lnTo>
                      <a:pt x="362" y="781"/>
                    </a:lnTo>
                    <a:lnTo>
                      <a:pt x="365" y="783"/>
                    </a:lnTo>
                    <a:lnTo>
                      <a:pt x="367" y="784"/>
                    </a:lnTo>
                    <a:lnTo>
                      <a:pt x="371" y="785"/>
                    </a:lnTo>
                    <a:lnTo>
                      <a:pt x="414" y="864"/>
                    </a:lnTo>
                    <a:lnTo>
                      <a:pt x="481" y="857"/>
                    </a:lnTo>
                    <a:lnTo>
                      <a:pt x="483" y="856"/>
                    </a:lnTo>
                    <a:lnTo>
                      <a:pt x="485" y="853"/>
                    </a:lnTo>
                    <a:lnTo>
                      <a:pt x="486" y="851"/>
                    </a:lnTo>
                    <a:lnTo>
                      <a:pt x="489" y="848"/>
                    </a:lnTo>
                    <a:lnTo>
                      <a:pt x="490" y="845"/>
                    </a:lnTo>
                    <a:lnTo>
                      <a:pt x="491" y="843"/>
                    </a:lnTo>
                    <a:lnTo>
                      <a:pt x="493" y="840"/>
                    </a:lnTo>
                    <a:lnTo>
                      <a:pt x="493" y="837"/>
                    </a:lnTo>
                    <a:lnTo>
                      <a:pt x="494" y="835"/>
                    </a:lnTo>
                    <a:lnTo>
                      <a:pt x="495" y="831"/>
                    </a:lnTo>
                    <a:lnTo>
                      <a:pt x="497" y="828"/>
                    </a:lnTo>
                    <a:lnTo>
                      <a:pt x="497" y="824"/>
                    </a:lnTo>
                    <a:lnTo>
                      <a:pt x="498" y="821"/>
                    </a:lnTo>
                    <a:lnTo>
                      <a:pt x="499" y="819"/>
                    </a:lnTo>
                    <a:lnTo>
                      <a:pt x="499" y="815"/>
                    </a:lnTo>
                    <a:lnTo>
                      <a:pt x="501" y="812"/>
                    </a:lnTo>
                    <a:lnTo>
                      <a:pt x="501" y="808"/>
                    </a:lnTo>
                    <a:lnTo>
                      <a:pt x="502" y="805"/>
                    </a:lnTo>
                    <a:lnTo>
                      <a:pt x="503" y="801"/>
                    </a:lnTo>
                    <a:lnTo>
                      <a:pt x="505" y="799"/>
                    </a:lnTo>
                    <a:lnTo>
                      <a:pt x="506" y="795"/>
                    </a:lnTo>
                    <a:lnTo>
                      <a:pt x="507" y="792"/>
                    </a:lnTo>
                    <a:lnTo>
                      <a:pt x="507" y="789"/>
                    </a:lnTo>
                    <a:lnTo>
                      <a:pt x="510" y="787"/>
                    </a:lnTo>
                    <a:lnTo>
                      <a:pt x="511" y="784"/>
                    </a:lnTo>
                    <a:lnTo>
                      <a:pt x="513" y="781"/>
                    </a:lnTo>
                    <a:lnTo>
                      <a:pt x="515" y="779"/>
                    </a:lnTo>
                    <a:lnTo>
                      <a:pt x="517" y="776"/>
                    </a:lnTo>
                    <a:lnTo>
                      <a:pt x="519" y="775"/>
                    </a:lnTo>
                    <a:lnTo>
                      <a:pt x="522" y="772"/>
                    </a:lnTo>
                    <a:lnTo>
                      <a:pt x="525" y="771"/>
                    </a:lnTo>
                    <a:lnTo>
                      <a:pt x="529" y="769"/>
                    </a:lnTo>
                    <a:lnTo>
                      <a:pt x="531" y="768"/>
                    </a:lnTo>
                    <a:lnTo>
                      <a:pt x="533" y="768"/>
                    </a:lnTo>
                    <a:lnTo>
                      <a:pt x="535" y="767"/>
                    </a:lnTo>
                    <a:lnTo>
                      <a:pt x="538" y="765"/>
                    </a:lnTo>
                    <a:lnTo>
                      <a:pt x="540" y="765"/>
                    </a:lnTo>
                    <a:lnTo>
                      <a:pt x="542" y="764"/>
                    </a:lnTo>
                    <a:lnTo>
                      <a:pt x="544" y="763"/>
                    </a:lnTo>
                    <a:lnTo>
                      <a:pt x="546" y="763"/>
                    </a:lnTo>
                    <a:lnTo>
                      <a:pt x="548" y="761"/>
                    </a:lnTo>
                    <a:lnTo>
                      <a:pt x="550" y="761"/>
                    </a:lnTo>
                    <a:lnTo>
                      <a:pt x="551" y="760"/>
                    </a:lnTo>
                    <a:lnTo>
                      <a:pt x="552" y="760"/>
                    </a:lnTo>
                    <a:lnTo>
                      <a:pt x="555" y="759"/>
                    </a:lnTo>
                    <a:lnTo>
                      <a:pt x="556" y="759"/>
                    </a:lnTo>
                    <a:lnTo>
                      <a:pt x="558" y="759"/>
                    </a:lnTo>
                    <a:lnTo>
                      <a:pt x="559" y="757"/>
                    </a:lnTo>
                    <a:lnTo>
                      <a:pt x="623" y="803"/>
                    </a:lnTo>
                    <a:lnTo>
                      <a:pt x="690" y="761"/>
                    </a:lnTo>
                    <a:lnTo>
                      <a:pt x="672" y="678"/>
                    </a:lnTo>
                    <a:lnTo>
                      <a:pt x="695" y="651"/>
                    </a:lnTo>
                    <a:lnTo>
                      <a:pt x="698" y="650"/>
                    </a:lnTo>
                    <a:lnTo>
                      <a:pt x="700" y="647"/>
                    </a:lnTo>
                    <a:lnTo>
                      <a:pt x="703" y="647"/>
                    </a:lnTo>
                    <a:lnTo>
                      <a:pt x="706" y="646"/>
                    </a:lnTo>
                    <a:lnTo>
                      <a:pt x="708" y="644"/>
                    </a:lnTo>
                    <a:lnTo>
                      <a:pt x="711" y="643"/>
                    </a:lnTo>
                    <a:lnTo>
                      <a:pt x="714" y="643"/>
                    </a:lnTo>
                    <a:lnTo>
                      <a:pt x="716" y="643"/>
                    </a:lnTo>
                    <a:lnTo>
                      <a:pt x="719" y="643"/>
                    </a:lnTo>
                    <a:lnTo>
                      <a:pt x="722" y="642"/>
                    </a:lnTo>
                    <a:lnTo>
                      <a:pt x="726" y="642"/>
                    </a:lnTo>
                    <a:lnTo>
                      <a:pt x="728" y="643"/>
                    </a:lnTo>
                    <a:lnTo>
                      <a:pt x="731" y="643"/>
                    </a:lnTo>
                    <a:lnTo>
                      <a:pt x="735" y="643"/>
                    </a:lnTo>
                    <a:lnTo>
                      <a:pt x="738" y="643"/>
                    </a:lnTo>
                    <a:lnTo>
                      <a:pt x="742" y="643"/>
                    </a:lnTo>
                    <a:lnTo>
                      <a:pt x="744" y="644"/>
                    </a:lnTo>
                    <a:lnTo>
                      <a:pt x="747" y="644"/>
                    </a:lnTo>
                    <a:lnTo>
                      <a:pt x="751" y="644"/>
                    </a:lnTo>
                    <a:lnTo>
                      <a:pt x="753" y="646"/>
                    </a:lnTo>
                    <a:lnTo>
                      <a:pt x="757" y="646"/>
                    </a:lnTo>
                    <a:lnTo>
                      <a:pt x="760" y="646"/>
                    </a:lnTo>
                    <a:lnTo>
                      <a:pt x="764" y="646"/>
                    </a:lnTo>
                    <a:lnTo>
                      <a:pt x="767" y="647"/>
                    </a:lnTo>
                    <a:lnTo>
                      <a:pt x="771" y="647"/>
                    </a:lnTo>
                    <a:lnTo>
                      <a:pt x="773" y="647"/>
                    </a:lnTo>
                    <a:lnTo>
                      <a:pt x="776" y="647"/>
                    </a:lnTo>
                    <a:lnTo>
                      <a:pt x="780" y="647"/>
                    </a:lnTo>
                    <a:lnTo>
                      <a:pt x="783" y="647"/>
                    </a:lnTo>
                    <a:lnTo>
                      <a:pt x="785" y="646"/>
                    </a:lnTo>
                    <a:lnTo>
                      <a:pt x="789" y="646"/>
                    </a:lnTo>
                    <a:lnTo>
                      <a:pt x="792" y="646"/>
                    </a:lnTo>
                    <a:lnTo>
                      <a:pt x="828" y="582"/>
                    </a:lnTo>
                    <a:close/>
                    <a:moveTo>
                      <a:pt x="153" y="297"/>
                    </a:moveTo>
                    <a:lnTo>
                      <a:pt x="160" y="284"/>
                    </a:lnTo>
                    <a:lnTo>
                      <a:pt x="168" y="270"/>
                    </a:lnTo>
                    <a:lnTo>
                      <a:pt x="176" y="258"/>
                    </a:lnTo>
                    <a:lnTo>
                      <a:pt x="185" y="245"/>
                    </a:lnTo>
                    <a:lnTo>
                      <a:pt x="194" y="234"/>
                    </a:lnTo>
                    <a:lnTo>
                      <a:pt x="204" y="222"/>
                    </a:lnTo>
                    <a:lnTo>
                      <a:pt x="214" y="212"/>
                    </a:lnTo>
                    <a:lnTo>
                      <a:pt x="225" y="202"/>
                    </a:lnTo>
                    <a:lnTo>
                      <a:pt x="236" y="193"/>
                    </a:lnTo>
                    <a:lnTo>
                      <a:pt x="248" y="184"/>
                    </a:lnTo>
                    <a:lnTo>
                      <a:pt x="260" y="176"/>
                    </a:lnTo>
                    <a:lnTo>
                      <a:pt x="272" y="168"/>
                    </a:lnTo>
                    <a:lnTo>
                      <a:pt x="285" y="161"/>
                    </a:lnTo>
                    <a:lnTo>
                      <a:pt x="298" y="154"/>
                    </a:lnTo>
                    <a:lnTo>
                      <a:pt x="312" y="148"/>
                    </a:lnTo>
                    <a:lnTo>
                      <a:pt x="325" y="144"/>
                    </a:lnTo>
                    <a:lnTo>
                      <a:pt x="338" y="138"/>
                    </a:lnTo>
                    <a:lnTo>
                      <a:pt x="351" y="134"/>
                    </a:lnTo>
                    <a:lnTo>
                      <a:pt x="366" y="132"/>
                    </a:lnTo>
                    <a:lnTo>
                      <a:pt x="381" y="129"/>
                    </a:lnTo>
                    <a:lnTo>
                      <a:pt x="395" y="128"/>
                    </a:lnTo>
                    <a:lnTo>
                      <a:pt x="410" y="126"/>
                    </a:lnTo>
                    <a:lnTo>
                      <a:pt x="425" y="125"/>
                    </a:lnTo>
                    <a:lnTo>
                      <a:pt x="439" y="126"/>
                    </a:lnTo>
                    <a:lnTo>
                      <a:pt x="454" y="126"/>
                    </a:lnTo>
                    <a:lnTo>
                      <a:pt x="469" y="129"/>
                    </a:lnTo>
                    <a:lnTo>
                      <a:pt x="483" y="132"/>
                    </a:lnTo>
                    <a:lnTo>
                      <a:pt x="498" y="134"/>
                    </a:lnTo>
                    <a:lnTo>
                      <a:pt x="513" y="138"/>
                    </a:lnTo>
                    <a:lnTo>
                      <a:pt x="526" y="144"/>
                    </a:lnTo>
                    <a:lnTo>
                      <a:pt x="540" y="149"/>
                    </a:lnTo>
                    <a:lnTo>
                      <a:pt x="555" y="154"/>
                    </a:lnTo>
                    <a:lnTo>
                      <a:pt x="568" y="162"/>
                    </a:lnTo>
                    <a:lnTo>
                      <a:pt x="582" y="169"/>
                    </a:lnTo>
                    <a:lnTo>
                      <a:pt x="595" y="178"/>
                    </a:lnTo>
                    <a:lnTo>
                      <a:pt x="607" y="186"/>
                    </a:lnTo>
                    <a:lnTo>
                      <a:pt x="619" y="196"/>
                    </a:lnTo>
                    <a:lnTo>
                      <a:pt x="630" y="206"/>
                    </a:lnTo>
                    <a:lnTo>
                      <a:pt x="640" y="216"/>
                    </a:lnTo>
                    <a:lnTo>
                      <a:pt x="650" y="226"/>
                    </a:lnTo>
                    <a:lnTo>
                      <a:pt x="659" y="238"/>
                    </a:lnTo>
                    <a:lnTo>
                      <a:pt x="668" y="249"/>
                    </a:lnTo>
                    <a:lnTo>
                      <a:pt x="676" y="262"/>
                    </a:lnTo>
                    <a:lnTo>
                      <a:pt x="684" y="274"/>
                    </a:lnTo>
                    <a:lnTo>
                      <a:pt x="691" y="286"/>
                    </a:lnTo>
                    <a:lnTo>
                      <a:pt x="698" y="300"/>
                    </a:lnTo>
                    <a:lnTo>
                      <a:pt x="703" y="313"/>
                    </a:lnTo>
                    <a:lnTo>
                      <a:pt x="708" y="326"/>
                    </a:lnTo>
                    <a:lnTo>
                      <a:pt x="712" y="339"/>
                    </a:lnTo>
                    <a:lnTo>
                      <a:pt x="716" y="354"/>
                    </a:lnTo>
                    <a:lnTo>
                      <a:pt x="720" y="367"/>
                    </a:lnTo>
                    <a:lnTo>
                      <a:pt x="722" y="382"/>
                    </a:lnTo>
                    <a:lnTo>
                      <a:pt x="724" y="397"/>
                    </a:lnTo>
                    <a:lnTo>
                      <a:pt x="726" y="411"/>
                    </a:lnTo>
                    <a:lnTo>
                      <a:pt x="726" y="426"/>
                    </a:lnTo>
                    <a:lnTo>
                      <a:pt x="726" y="441"/>
                    </a:lnTo>
                    <a:lnTo>
                      <a:pt x="724" y="455"/>
                    </a:lnTo>
                    <a:lnTo>
                      <a:pt x="723" y="470"/>
                    </a:lnTo>
                    <a:lnTo>
                      <a:pt x="720" y="485"/>
                    </a:lnTo>
                    <a:lnTo>
                      <a:pt x="716" y="499"/>
                    </a:lnTo>
                    <a:lnTo>
                      <a:pt x="712" y="514"/>
                    </a:lnTo>
                    <a:lnTo>
                      <a:pt x="708" y="527"/>
                    </a:lnTo>
                    <a:lnTo>
                      <a:pt x="703" y="542"/>
                    </a:lnTo>
                    <a:lnTo>
                      <a:pt x="696" y="556"/>
                    </a:lnTo>
                    <a:lnTo>
                      <a:pt x="690" y="570"/>
                    </a:lnTo>
                    <a:lnTo>
                      <a:pt x="682" y="583"/>
                    </a:lnTo>
                    <a:lnTo>
                      <a:pt x="674" y="596"/>
                    </a:lnTo>
                    <a:lnTo>
                      <a:pt x="664" y="608"/>
                    </a:lnTo>
                    <a:lnTo>
                      <a:pt x="655" y="620"/>
                    </a:lnTo>
                    <a:lnTo>
                      <a:pt x="646" y="631"/>
                    </a:lnTo>
                    <a:lnTo>
                      <a:pt x="635" y="642"/>
                    </a:lnTo>
                    <a:lnTo>
                      <a:pt x="624" y="651"/>
                    </a:lnTo>
                    <a:lnTo>
                      <a:pt x="614" y="662"/>
                    </a:lnTo>
                    <a:lnTo>
                      <a:pt x="602" y="670"/>
                    </a:lnTo>
                    <a:lnTo>
                      <a:pt x="590" y="678"/>
                    </a:lnTo>
                    <a:lnTo>
                      <a:pt x="578" y="686"/>
                    </a:lnTo>
                    <a:lnTo>
                      <a:pt x="564" y="692"/>
                    </a:lnTo>
                    <a:lnTo>
                      <a:pt x="552" y="699"/>
                    </a:lnTo>
                    <a:lnTo>
                      <a:pt x="539" y="706"/>
                    </a:lnTo>
                    <a:lnTo>
                      <a:pt x="526" y="711"/>
                    </a:lnTo>
                    <a:lnTo>
                      <a:pt x="511" y="715"/>
                    </a:lnTo>
                    <a:lnTo>
                      <a:pt x="498" y="719"/>
                    </a:lnTo>
                    <a:lnTo>
                      <a:pt x="483" y="722"/>
                    </a:lnTo>
                    <a:lnTo>
                      <a:pt x="469" y="724"/>
                    </a:lnTo>
                    <a:lnTo>
                      <a:pt x="455" y="727"/>
                    </a:lnTo>
                    <a:lnTo>
                      <a:pt x="441" y="727"/>
                    </a:lnTo>
                    <a:lnTo>
                      <a:pt x="426" y="728"/>
                    </a:lnTo>
                    <a:lnTo>
                      <a:pt x="411" y="728"/>
                    </a:lnTo>
                    <a:lnTo>
                      <a:pt x="397" y="727"/>
                    </a:lnTo>
                    <a:lnTo>
                      <a:pt x="382" y="726"/>
                    </a:lnTo>
                    <a:lnTo>
                      <a:pt x="367" y="723"/>
                    </a:lnTo>
                    <a:lnTo>
                      <a:pt x="353" y="719"/>
                    </a:lnTo>
                    <a:lnTo>
                      <a:pt x="338" y="715"/>
                    </a:lnTo>
                    <a:lnTo>
                      <a:pt x="323" y="711"/>
                    </a:lnTo>
                    <a:lnTo>
                      <a:pt x="310" y="706"/>
                    </a:lnTo>
                    <a:lnTo>
                      <a:pt x="296" y="699"/>
                    </a:lnTo>
                    <a:lnTo>
                      <a:pt x="282" y="692"/>
                    </a:lnTo>
                    <a:lnTo>
                      <a:pt x="269" y="684"/>
                    </a:lnTo>
                    <a:lnTo>
                      <a:pt x="256" y="676"/>
                    </a:lnTo>
                    <a:lnTo>
                      <a:pt x="244" y="667"/>
                    </a:lnTo>
                    <a:lnTo>
                      <a:pt x="232" y="658"/>
                    </a:lnTo>
                    <a:lnTo>
                      <a:pt x="221" y="648"/>
                    </a:lnTo>
                    <a:lnTo>
                      <a:pt x="210" y="638"/>
                    </a:lnTo>
                    <a:lnTo>
                      <a:pt x="200" y="627"/>
                    </a:lnTo>
                    <a:lnTo>
                      <a:pt x="190" y="616"/>
                    </a:lnTo>
                    <a:lnTo>
                      <a:pt x="181" y="604"/>
                    </a:lnTo>
                    <a:lnTo>
                      <a:pt x="173" y="592"/>
                    </a:lnTo>
                    <a:lnTo>
                      <a:pt x="165" y="579"/>
                    </a:lnTo>
                    <a:lnTo>
                      <a:pt x="158" y="567"/>
                    </a:lnTo>
                    <a:lnTo>
                      <a:pt x="152" y="554"/>
                    </a:lnTo>
                    <a:lnTo>
                      <a:pt x="146" y="540"/>
                    </a:lnTo>
                    <a:lnTo>
                      <a:pt x="141" y="527"/>
                    </a:lnTo>
                    <a:lnTo>
                      <a:pt x="137" y="514"/>
                    </a:lnTo>
                    <a:lnTo>
                      <a:pt x="133" y="499"/>
                    </a:lnTo>
                    <a:lnTo>
                      <a:pt x="130" y="486"/>
                    </a:lnTo>
                    <a:lnTo>
                      <a:pt x="128" y="471"/>
                    </a:lnTo>
                    <a:lnTo>
                      <a:pt x="125" y="457"/>
                    </a:lnTo>
                    <a:lnTo>
                      <a:pt x="125" y="442"/>
                    </a:lnTo>
                    <a:lnTo>
                      <a:pt x="124" y="427"/>
                    </a:lnTo>
                    <a:lnTo>
                      <a:pt x="124" y="413"/>
                    </a:lnTo>
                    <a:lnTo>
                      <a:pt x="125" y="398"/>
                    </a:lnTo>
                    <a:lnTo>
                      <a:pt x="126" y="383"/>
                    </a:lnTo>
                    <a:lnTo>
                      <a:pt x="129" y="369"/>
                    </a:lnTo>
                    <a:lnTo>
                      <a:pt x="133" y="354"/>
                    </a:lnTo>
                    <a:lnTo>
                      <a:pt x="137" y="339"/>
                    </a:lnTo>
                    <a:lnTo>
                      <a:pt x="141" y="326"/>
                    </a:lnTo>
                    <a:lnTo>
                      <a:pt x="146" y="312"/>
                    </a:lnTo>
                    <a:lnTo>
                      <a:pt x="153" y="297"/>
                    </a:lnTo>
                    <a:close/>
                  </a:path>
                </a:pathLst>
              </a:custGeom>
              <a:solidFill>
                <a:srgbClr val="000000"/>
              </a:solidFill>
              <a:ln w="9525">
                <a:noFill/>
                <a:round/>
                <a:headEnd/>
                <a:tailEnd/>
              </a:ln>
            </p:spPr>
            <p:txBody>
              <a:bodyPr/>
              <a:lstStyle/>
              <a:p>
                <a:endParaRPr lang="en-US"/>
              </a:p>
            </p:txBody>
          </p:sp>
        </p:grpSp>
        <p:sp>
          <p:nvSpPr>
            <p:cNvPr id="40" name="Text Box 1082"/>
            <p:cNvSpPr txBox="1">
              <a:spLocks noChangeArrowheads="1"/>
            </p:cNvSpPr>
            <p:nvPr/>
          </p:nvSpPr>
          <p:spPr bwMode="auto">
            <a:xfrm>
              <a:off x="2079" y="2054"/>
              <a:ext cx="291" cy="368"/>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3200" dirty="0">
                  <a:solidFill>
                    <a:srgbClr val="FFFFFF"/>
                  </a:solidFill>
                </a:rPr>
                <a:t>CP</a:t>
              </a:r>
            </a:p>
          </p:txBody>
        </p:sp>
      </p:grpSp>
      <p:grpSp>
        <p:nvGrpSpPr>
          <p:cNvPr id="43" name="Group 1083"/>
          <p:cNvGrpSpPr>
            <a:grpSpLocks/>
          </p:cNvGrpSpPr>
          <p:nvPr/>
        </p:nvGrpSpPr>
        <p:grpSpPr bwMode="auto">
          <a:xfrm>
            <a:off x="778733" y="2955486"/>
            <a:ext cx="1358546" cy="1033463"/>
            <a:chOff x="624" y="2448"/>
            <a:chExt cx="642" cy="651"/>
          </a:xfrm>
        </p:grpSpPr>
        <p:grpSp>
          <p:nvGrpSpPr>
            <p:cNvPr id="44" name="Group 1084"/>
            <p:cNvGrpSpPr>
              <a:grpSpLocks/>
            </p:cNvGrpSpPr>
            <p:nvPr/>
          </p:nvGrpSpPr>
          <p:grpSpPr bwMode="auto">
            <a:xfrm>
              <a:off x="624" y="2448"/>
              <a:ext cx="642" cy="651"/>
              <a:chOff x="3024" y="2304"/>
              <a:chExt cx="642" cy="651"/>
            </a:xfrm>
          </p:grpSpPr>
          <p:sp>
            <p:nvSpPr>
              <p:cNvPr id="46" name="Freeform 1085"/>
              <p:cNvSpPr>
                <a:spLocks/>
              </p:cNvSpPr>
              <p:nvPr/>
            </p:nvSpPr>
            <p:spPr bwMode="auto">
              <a:xfrm>
                <a:off x="3099" y="2375"/>
                <a:ext cx="503" cy="503"/>
              </a:xfrm>
              <a:custGeom>
                <a:avLst/>
                <a:gdLst>
                  <a:gd name="T0" fmla="*/ 277 w 503"/>
                  <a:gd name="T1" fmla="*/ 1 h 503"/>
                  <a:gd name="T2" fmla="*/ 314 w 503"/>
                  <a:gd name="T3" fmla="*/ 8 h 503"/>
                  <a:gd name="T4" fmla="*/ 349 w 503"/>
                  <a:gd name="T5" fmla="*/ 19 h 503"/>
                  <a:gd name="T6" fmla="*/ 381 w 503"/>
                  <a:gd name="T7" fmla="*/ 36 h 503"/>
                  <a:gd name="T8" fmla="*/ 412 w 503"/>
                  <a:gd name="T9" fmla="*/ 57 h 503"/>
                  <a:gd name="T10" fmla="*/ 438 w 503"/>
                  <a:gd name="T11" fmla="*/ 82 h 503"/>
                  <a:gd name="T12" fmla="*/ 460 w 503"/>
                  <a:gd name="T13" fmla="*/ 111 h 503"/>
                  <a:gd name="T14" fmla="*/ 478 w 503"/>
                  <a:gd name="T15" fmla="*/ 143 h 503"/>
                  <a:gd name="T16" fmla="*/ 492 w 503"/>
                  <a:gd name="T17" fmla="*/ 177 h 503"/>
                  <a:gd name="T18" fmla="*/ 500 w 503"/>
                  <a:gd name="T19" fmla="*/ 213 h 503"/>
                  <a:gd name="T20" fmla="*/ 503 w 503"/>
                  <a:gd name="T21" fmla="*/ 251 h 503"/>
                  <a:gd name="T22" fmla="*/ 500 w 503"/>
                  <a:gd name="T23" fmla="*/ 289 h 503"/>
                  <a:gd name="T24" fmla="*/ 492 w 503"/>
                  <a:gd name="T25" fmla="*/ 326 h 503"/>
                  <a:gd name="T26" fmla="*/ 478 w 503"/>
                  <a:gd name="T27" fmla="*/ 360 h 503"/>
                  <a:gd name="T28" fmla="*/ 460 w 503"/>
                  <a:gd name="T29" fmla="*/ 391 h 503"/>
                  <a:gd name="T30" fmla="*/ 438 w 503"/>
                  <a:gd name="T31" fmla="*/ 421 h 503"/>
                  <a:gd name="T32" fmla="*/ 412 w 503"/>
                  <a:gd name="T33" fmla="*/ 445 h 503"/>
                  <a:gd name="T34" fmla="*/ 381 w 503"/>
                  <a:gd name="T35" fmla="*/ 466 h 503"/>
                  <a:gd name="T36" fmla="*/ 349 w 503"/>
                  <a:gd name="T37" fmla="*/ 483 h 503"/>
                  <a:gd name="T38" fmla="*/ 314 w 503"/>
                  <a:gd name="T39" fmla="*/ 495 h 503"/>
                  <a:gd name="T40" fmla="*/ 277 w 503"/>
                  <a:gd name="T41" fmla="*/ 501 h 503"/>
                  <a:gd name="T42" fmla="*/ 239 w 503"/>
                  <a:gd name="T43" fmla="*/ 503 h 503"/>
                  <a:gd name="T44" fmla="*/ 201 w 503"/>
                  <a:gd name="T45" fmla="*/ 498 h 503"/>
                  <a:gd name="T46" fmla="*/ 166 w 503"/>
                  <a:gd name="T47" fmla="*/ 488 h 503"/>
                  <a:gd name="T48" fmla="*/ 133 w 503"/>
                  <a:gd name="T49" fmla="*/ 472 h 503"/>
                  <a:gd name="T50" fmla="*/ 102 w 503"/>
                  <a:gd name="T51" fmla="*/ 453 h 503"/>
                  <a:gd name="T52" fmla="*/ 74 w 503"/>
                  <a:gd name="T53" fmla="*/ 429 h 503"/>
                  <a:gd name="T54" fmla="*/ 50 w 503"/>
                  <a:gd name="T55" fmla="*/ 401 h 503"/>
                  <a:gd name="T56" fmla="*/ 31 w 503"/>
                  <a:gd name="T57" fmla="*/ 370 h 503"/>
                  <a:gd name="T58" fmla="*/ 15 w 503"/>
                  <a:gd name="T59" fmla="*/ 337 h 503"/>
                  <a:gd name="T60" fmla="*/ 5 w 503"/>
                  <a:gd name="T61" fmla="*/ 302 h 503"/>
                  <a:gd name="T62" fmla="*/ 1 w 503"/>
                  <a:gd name="T63" fmla="*/ 264 h 503"/>
                  <a:gd name="T64" fmla="*/ 2 w 503"/>
                  <a:gd name="T65" fmla="*/ 226 h 503"/>
                  <a:gd name="T66" fmla="*/ 8 w 503"/>
                  <a:gd name="T67" fmla="*/ 189 h 503"/>
                  <a:gd name="T68" fmla="*/ 20 w 503"/>
                  <a:gd name="T69" fmla="*/ 154 h 503"/>
                  <a:gd name="T70" fmla="*/ 37 w 503"/>
                  <a:gd name="T71" fmla="*/ 122 h 503"/>
                  <a:gd name="T72" fmla="*/ 58 w 503"/>
                  <a:gd name="T73" fmla="*/ 91 h 503"/>
                  <a:gd name="T74" fmla="*/ 82 w 503"/>
                  <a:gd name="T75" fmla="*/ 65 h 503"/>
                  <a:gd name="T76" fmla="*/ 112 w 503"/>
                  <a:gd name="T77" fmla="*/ 43 h 503"/>
                  <a:gd name="T78" fmla="*/ 143 w 503"/>
                  <a:gd name="T79" fmla="*/ 24 h 503"/>
                  <a:gd name="T80" fmla="*/ 177 w 503"/>
                  <a:gd name="T81" fmla="*/ 11 h 503"/>
                  <a:gd name="T82" fmla="*/ 214 w 503"/>
                  <a:gd name="T83" fmla="*/ 3 h 503"/>
                  <a:gd name="T84" fmla="*/ 252 w 503"/>
                  <a:gd name="T85" fmla="*/ 0 h 50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03"/>
                  <a:gd name="T130" fmla="*/ 0 h 503"/>
                  <a:gd name="T131" fmla="*/ 503 w 503"/>
                  <a:gd name="T132" fmla="*/ 503 h 50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03" h="503">
                    <a:moveTo>
                      <a:pt x="252" y="0"/>
                    </a:moveTo>
                    <a:lnTo>
                      <a:pt x="265" y="0"/>
                    </a:lnTo>
                    <a:lnTo>
                      <a:pt x="277" y="1"/>
                    </a:lnTo>
                    <a:lnTo>
                      <a:pt x="290" y="3"/>
                    </a:lnTo>
                    <a:lnTo>
                      <a:pt x="302" y="5"/>
                    </a:lnTo>
                    <a:lnTo>
                      <a:pt x="314" y="8"/>
                    </a:lnTo>
                    <a:lnTo>
                      <a:pt x="326" y="11"/>
                    </a:lnTo>
                    <a:lnTo>
                      <a:pt x="338" y="15"/>
                    </a:lnTo>
                    <a:lnTo>
                      <a:pt x="349" y="19"/>
                    </a:lnTo>
                    <a:lnTo>
                      <a:pt x="360" y="24"/>
                    </a:lnTo>
                    <a:lnTo>
                      <a:pt x="371" y="30"/>
                    </a:lnTo>
                    <a:lnTo>
                      <a:pt x="381" y="36"/>
                    </a:lnTo>
                    <a:lnTo>
                      <a:pt x="392" y="43"/>
                    </a:lnTo>
                    <a:lnTo>
                      <a:pt x="401" y="50"/>
                    </a:lnTo>
                    <a:lnTo>
                      <a:pt x="412" y="57"/>
                    </a:lnTo>
                    <a:lnTo>
                      <a:pt x="421" y="65"/>
                    </a:lnTo>
                    <a:lnTo>
                      <a:pt x="430" y="73"/>
                    </a:lnTo>
                    <a:lnTo>
                      <a:pt x="438" y="82"/>
                    </a:lnTo>
                    <a:lnTo>
                      <a:pt x="446" y="91"/>
                    </a:lnTo>
                    <a:lnTo>
                      <a:pt x="453" y="101"/>
                    </a:lnTo>
                    <a:lnTo>
                      <a:pt x="460" y="111"/>
                    </a:lnTo>
                    <a:lnTo>
                      <a:pt x="467" y="122"/>
                    </a:lnTo>
                    <a:lnTo>
                      <a:pt x="473" y="132"/>
                    </a:lnTo>
                    <a:lnTo>
                      <a:pt x="478" y="143"/>
                    </a:lnTo>
                    <a:lnTo>
                      <a:pt x="483" y="154"/>
                    </a:lnTo>
                    <a:lnTo>
                      <a:pt x="488" y="165"/>
                    </a:lnTo>
                    <a:lnTo>
                      <a:pt x="492" y="177"/>
                    </a:lnTo>
                    <a:lnTo>
                      <a:pt x="495" y="189"/>
                    </a:lnTo>
                    <a:lnTo>
                      <a:pt x="498" y="201"/>
                    </a:lnTo>
                    <a:lnTo>
                      <a:pt x="500" y="213"/>
                    </a:lnTo>
                    <a:lnTo>
                      <a:pt x="502" y="226"/>
                    </a:lnTo>
                    <a:lnTo>
                      <a:pt x="503" y="238"/>
                    </a:lnTo>
                    <a:lnTo>
                      <a:pt x="503" y="251"/>
                    </a:lnTo>
                    <a:lnTo>
                      <a:pt x="503" y="264"/>
                    </a:lnTo>
                    <a:lnTo>
                      <a:pt x="502" y="277"/>
                    </a:lnTo>
                    <a:lnTo>
                      <a:pt x="500" y="289"/>
                    </a:lnTo>
                    <a:lnTo>
                      <a:pt x="498" y="302"/>
                    </a:lnTo>
                    <a:lnTo>
                      <a:pt x="495" y="314"/>
                    </a:lnTo>
                    <a:lnTo>
                      <a:pt x="492" y="326"/>
                    </a:lnTo>
                    <a:lnTo>
                      <a:pt x="488" y="337"/>
                    </a:lnTo>
                    <a:lnTo>
                      <a:pt x="483" y="349"/>
                    </a:lnTo>
                    <a:lnTo>
                      <a:pt x="478" y="360"/>
                    </a:lnTo>
                    <a:lnTo>
                      <a:pt x="473" y="370"/>
                    </a:lnTo>
                    <a:lnTo>
                      <a:pt x="467" y="381"/>
                    </a:lnTo>
                    <a:lnTo>
                      <a:pt x="460" y="391"/>
                    </a:lnTo>
                    <a:lnTo>
                      <a:pt x="453" y="401"/>
                    </a:lnTo>
                    <a:lnTo>
                      <a:pt x="446" y="410"/>
                    </a:lnTo>
                    <a:lnTo>
                      <a:pt x="438" y="421"/>
                    </a:lnTo>
                    <a:lnTo>
                      <a:pt x="430" y="429"/>
                    </a:lnTo>
                    <a:lnTo>
                      <a:pt x="421" y="438"/>
                    </a:lnTo>
                    <a:lnTo>
                      <a:pt x="412" y="445"/>
                    </a:lnTo>
                    <a:lnTo>
                      <a:pt x="401" y="453"/>
                    </a:lnTo>
                    <a:lnTo>
                      <a:pt x="392" y="460"/>
                    </a:lnTo>
                    <a:lnTo>
                      <a:pt x="381" y="466"/>
                    </a:lnTo>
                    <a:lnTo>
                      <a:pt x="371" y="472"/>
                    </a:lnTo>
                    <a:lnTo>
                      <a:pt x="360" y="478"/>
                    </a:lnTo>
                    <a:lnTo>
                      <a:pt x="349" y="483"/>
                    </a:lnTo>
                    <a:lnTo>
                      <a:pt x="338" y="488"/>
                    </a:lnTo>
                    <a:lnTo>
                      <a:pt x="326" y="491"/>
                    </a:lnTo>
                    <a:lnTo>
                      <a:pt x="314" y="495"/>
                    </a:lnTo>
                    <a:lnTo>
                      <a:pt x="302" y="498"/>
                    </a:lnTo>
                    <a:lnTo>
                      <a:pt x="290" y="500"/>
                    </a:lnTo>
                    <a:lnTo>
                      <a:pt x="277" y="501"/>
                    </a:lnTo>
                    <a:lnTo>
                      <a:pt x="265" y="503"/>
                    </a:lnTo>
                    <a:lnTo>
                      <a:pt x="252" y="503"/>
                    </a:lnTo>
                    <a:lnTo>
                      <a:pt x="239" y="503"/>
                    </a:lnTo>
                    <a:lnTo>
                      <a:pt x="226" y="501"/>
                    </a:lnTo>
                    <a:lnTo>
                      <a:pt x="214" y="500"/>
                    </a:lnTo>
                    <a:lnTo>
                      <a:pt x="201" y="498"/>
                    </a:lnTo>
                    <a:lnTo>
                      <a:pt x="189" y="495"/>
                    </a:lnTo>
                    <a:lnTo>
                      <a:pt x="177" y="491"/>
                    </a:lnTo>
                    <a:lnTo>
                      <a:pt x="166" y="488"/>
                    </a:lnTo>
                    <a:lnTo>
                      <a:pt x="154" y="483"/>
                    </a:lnTo>
                    <a:lnTo>
                      <a:pt x="143" y="478"/>
                    </a:lnTo>
                    <a:lnTo>
                      <a:pt x="133" y="472"/>
                    </a:lnTo>
                    <a:lnTo>
                      <a:pt x="122" y="466"/>
                    </a:lnTo>
                    <a:lnTo>
                      <a:pt x="112" y="460"/>
                    </a:lnTo>
                    <a:lnTo>
                      <a:pt x="102" y="453"/>
                    </a:lnTo>
                    <a:lnTo>
                      <a:pt x="93" y="445"/>
                    </a:lnTo>
                    <a:lnTo>
                      <a:pt x="82" y="438"/>
                    </a:lnTo>
                    <a:lnTo>
                      <a:pt x="74" y="429"/>
                    </a:lnTo>
                    <a:lnTo>
                      <a:pt x="65" y="421"/>
                    </a:lnTo>
                    <a:lnTo>
                      <a:pt x="58" y="410"/>
                    </a:lnTo>
                    <a:lnTo>
                      <a:pt x="50" y="401"/>
                    </a:lnTo>
                    <a:lnTo>
                      <a:pt x="43" y="391"/>
                    </a:lnTo>
                    <a:lnTo>
                      <a:pt x="37" y="381"/>
                    </a:lnTo>
                    <a:lnTo>
                      <a:pt x="31" y="370"/>
                    </a:lnTo>
                    <a:lnTo>
                      <a:pt x="25" y="360"/>
                    </a:lnTo>
                    <a:lnTo>
                      <a:pt x="20" y="349"/>
                    </a:lnTo>
                    <a:lnTo>
                      <a:pt x="15" y="337"/>
                    </a:lnTo>
                    <a:lnTo>
                      <a:pt x="12" y="326"/>
                    </a:lnTo>
                    <a:lnTo>
                      <a:pt x="8" y="314"/>
                    </a:lnTo>
                    <a:lnTo>
                      <a:pt x="5" y="302"/>
                    </a:lnTo>
                    <a:lnTo>
                      <a:pt x="3" y="289"/>
                    </a:lnTo>
                    <a:lnTo>
                      <a:pt x="2" y="277"/>
                    </a:lnTo>
                    <a:lnTo>
                      <a:pt x="1" y="264"/>
                    </a:lnTo>
                    <a:lnTo>
                      <a:pt x="0" y="251"/>
                    </a:lnTo>
                    <a:lnTo>
                      <a:pt x="1" y="238"/>
                    </a:lnTo>
                    <a:lnTo>
                      <a:pt x="2" y="226"/>
                    </a:lnTo>
                    <a:lnTo>
                      <a:pt x="3" y="213"/>
                    </a:lnTo>
                    <a:lnTo>
                      <a:pt x="5" y="201"/>
                    </a:lnTo>
                    <a:lnTo>
                      <a:pt x="8" y="189"/>
                    </a:lnTo>
                    <a:lnTo>
                      <a:pt x="12" y="177"/>
                    </a:lnTo>
                    <a:lnTo>
                      <a:pt x="15" y="165"/>
                    </a:lnTo>
                    <a:lnTo>
                      <a:pt x="20" y="154"/>
                    </a:lnTo>
                    <a:lnTo>
                      <a:pt x="25" y="143"/>
                    </a:lnTo>
                    <a:lnTo>
                      <a:pt x="31" y="132"/>
                    </a:lnTo>
                    <a:lnTo>
                      <a:pt x="37" y="122"/>
                    </a:lnTo>
                    <a:lnTo>
                      <a:pt x="43" y="111"/>
                    </a:lnTo>
                    <a:lnTo>
                      <a:pt x="50" y="101"/>
                    </a:lnTo>
                    <a:lnTo>
                      <a:pt x="58" y="91"/>
                    </a:lnTo>
                    <a:lnTo>
                      <a:pt x="65" y="82"/>
                    </a:lnTo>
                    <a:lnTo>
                      <a:pt x="74" y="73"/>
                    </a:lnTo>
                    <a:lnTo>
                      <a:pt x="82" y="65"/>
                    </a:lnTo>
                    <a:lnTo>
                      <a:pt x="93" y="57"/>
                    </a:lnTo>
                    <a:lnTo>
                      <a:pt x="102" y="50"/>
                    </a:lnTo>
                    <a:lnTo>
                      <a:pt x="112" y="43"/>
                    </a:lnTo>
                    <a:lnTo>
                      <a:pt x="122" y="36"/>
                    </a:lnTo>
                    <a:lnTo>
                      <a:pt x="133" y="30"/>
                    </a:lnTo>
                    <a:lnTo>
                      <a:pt x="143" y="24"/>
                    </a:lnTo>
                    <a:lnTo>
                      <a:pt x="154" y="19"/>
                    </a:lnTo>
                    <a:lnTo>
                      <a:pt x="166" y="15"/>
                    </a:lnTo>
                    <a:lnTo>
                      <a:pt x="177" y="11"/>
                    </a:lnTo>
                    <a:lnTo>
                      <a:pt x="189" y="8"/>
                    </a:lnTo>
                    <a:lnTo>
                      <a:pt x="201" y="5"/>
                    </a:lnTo>
                    <a:lnTo>
                      <a:pt x="214" y="3"/>
                    </a:lnTo>
                    <a:lnTo>
                      <a:pt x="226" y="1"/>
                    </a:lnTo>
                    <a:lnTo>
                      <a:pt x="239" y="0"/>
                    </a:lnTo>
                    <a:lnTo>
                      <a:pt x="252" y="0"/>
                    </a:lnTo>
                    <a:close/>
                  </a:path>
                </a:pathLst>
              </a:custGeom>
              <a:solidFill>
                <a:srgbClr val="3366FF"/>
              </a:solidFill>
              <a:ln w="9525">
                <a:noFill/>
                <a:round/>
                <a:headEnd/>
                <a:tailEnd/>
              </a:ln>
            </p:spPr>
            <p:txBody>
              <a:bodyPr/>
              <a:lstStyle/>
              <a:p>
                <a:endParaRPr lang="en-US"/>
              </a:p>
            </p:txBody>
          </p:sp>
          <p:sp>
            <p:nvSpPr>
              <p:cNvPr id="47" name="Freeform 1086"/>
              <p:cNvSpPr>
                <a:spLocks noEditPoints="1"/>
              </p:cNvSpPr>
              <p:nvPr/>
            </p:nvSpPr>
            <p:spPr bwMode="auto">
              <a:xfrm>
                <a:off x="3024" y="2304"/>
                <a:ext cx="642" cy="651"/>
              </a:xfrm>
              <a:custGeom>
                <a:avLst/>
                <a:gdLst>
                  <a:gd name="T0" fmla="*/ 579 w 642"/>
                  <a:gd name="T1" fmla="*/ 390 h 651"/>
                  <a:gd name="T2" fmla="*/ 579 w 642"/>
                  <a:gd name="T3" fmla="*/ 379 h 651"/>
                  <a:gd name="T4" fmla="*/ 582 w 642"/>
                  <a:gd name="T5" fmla="*/ 366 h 651"/>
                  <a:gd name="T6" fmla="*/ 641 w 642"/>
                  <a:gd name="T7" fmla="*/ 278 h 651"/>
                  <a:gd name="T8" fmla="*/ 505 w 642"/>
                  <a:gd name="T9" fmla="*/ 129 h 651"/>
                  <a:gd name="T10" fmla="*/ 355 w 642"/>
                  <a:gd name="T11" fmla="*/ 58 h 651"/>
                  <a:gd name="T12" fmla="*/ 249 w 642"/>
                  <a:gd name="T13" fmla="*/ 67 h 651"/>
                  <a:gd name="T14" fmla="*/ 236 w 642"/>
                  <a:gd name="T15" fmla="*/ 72 h 651"/>
                  <a:gd name="T16" fmla="*/ 224 w 642"/>
                  <a:gd name="T17" fmla="*/ 76 h 651"/>
                  <a:gd name="T18" fmla="*/ 172 w 642"/>
                  <a:gd name="T19" fmla="*/ 46 h 651"/>
                  <a:gd name="T20" fmla="*/ 154 w 642"/>
                  <a:gd name="T21" fmla="*/ 48 h 651"/>
                  <a:gd name="T22" fmla="*/ 139 w 642"/>
                  <a:gd name="T23" fmla="*/ 57 h 651"/>
                  <a:gd name="T24" fmla="*/ 123 w 642"/>
                  <a:gd name="T25" fmla="*/ 68 h 651"/>
                  <a:gd name="T26" fmla="*/ 21 w 642"/>
                  <a:gd name="T27" fmla="*/ 203 h 651"/>
                  <a:gd name="T28" fmla="*/ 59 w 642"/>
                  <a:gd name="T29" fmla="*/ 391 h 651"/>
                  <a:gd name="T30" fmla="*/ 164 w 642"/>
                  <a:gd name="T31" fmla="*/ 548 h 651"/>
                  <a:gd name="T32" fmla="*/ 248 w 642"/>
                  <a:gd name="T33" fmla="*/ 586 h 651"/>
                  <a:gd name="T34" fmla="*/ 259 w 642"/>
                  <a:gd name="T35" fmla="*/ 586 h 651"/>
                  <a:gd name="T36" fmla="*/ 270 w 642"/>
                  <a:gd name="T37" fmla="*/ 589 h 651"/>
                  <a:gd name="T38" fmla="*/ 312 w 642"/>
                  <a:gd name="T39" fmla="*/ 651 h 651"/>
                  <a:gd name="T40" fmla="*/ 368 w 642"/>
                  <a:gd name="T41" fmla="*/ 639 h 651"/>
                  <a:gd name="T42" fmla="*/ 372 w 642"/>
                  <a:gd name="T43" fmla="*/ 629 h 651"/>
                  <a:gd name="T44" fmla="*/ 376 w 642"/>
                  <a:gd name="T45" fmla="*/ 617 h 651"/>
                  <a:gd name="T46" fmla="*/ 379 w 642"/>
                  <a:gd name="T47" fmla="*/ 604 h 651"/>
                  <a:gd name="T48" fmla="*/ 384 w 642"/>
                  <a:gd name="T49" fmla="*/ 593 h 651"/>
                  <a:gd name="T50" fmla="*/ 391 w 642"/>
                  <a:gd name="T51" fmla="*/ 584 h 651"/>
                  <a:gd name="T52" fmla="*/ 401 w 642"/>
                  <a:gd name="T53" fmla="*/ 579 h 651"/>
                  <a:gd name="T54" fmla="*/ 410 w 642"/>
                  <a:gd name="T55" fmla="*/ 575 h 651"/>
                  <a:gd name="T56" fmla="*/ 416 w 642"/>
                  <a:gd name="T57" fmla="*/ 573 h 651"/>
                  <a:gd name="T58" fmla="*/ 469 w 642"/>
                  <a:gd name="T59" fmla="*/ 605 h 651"/>
                  <a:gd name="T60" fmla="*/ 528 w 642"/>
                  <a:gd name="T61" fmla="*/ 487 h 651"/>
                  <a:gd name="T62" fmla="*/ 538 w 642"/>
                  <a:gd name="T63" fmla="*/ 484 h 651"/>
                  <a:gd name="T64" fmla="*/ 549 w 642"/>
                  <a:gd name="T65" fmla="*/ 484 h 651"/>
                  <a:gd name="T66" fmla="*/ 561 w 642"/>
                  <a:gd name="T67" fmla="*/ 485 h 651"/>
                  <a:gd name="T68" fmla="*/ 573 w 642"/>
                  <a:gd name="T69" fmla="*/ 486 h 651"/>
                  <a:gd name="T70" fmla="*/ 585 w 642"/>
                  <a:gd name="T71" fmla="*/ 487 h 651"/>
                  <a:gd name="T72" fmla="*/ 597 w 642"/>
                  <a:gd name="T73" fmla="*/ 486 h 651"/>
                  <a:gd name="T74" fmla="*/ 132 w 642"/>
                  <a:gd name="T75" fmla="*/ 195 h 651"/>
                  <a:gd name="T76" fmla="*/ 170 w 642"/>
                  <a:gd name="T77" fmla="*/ 152 h 651"/>
                  <a:gd name="T78" fmla="*/ 215 w 642"/>
                  <a:gd name="T79" fmla="*/ 121 h 651"/>
                  <a:gd name="T80" fmla="*/ 265 w 642"/>
                  <a:gd name="T81" fmla="*/ 101 h 651"/>
                  <a:gd name="T82" fmla="*/ 320 w 642"/>
                  <a:gd name="T83" fmla="*/ 94 h 651"/>
                  <a:gd name="T84" fmla="*/ 375 w 642"/>
                  <a:gd name="T85" fmla="*/ 101 h 651"/>
                  <a:gd name="T86" fmla="*/ 428 w 642"/>
                  <a:gd name="T87" fmla="*/ 122 h 651"/>
                  <a:gd name="T88" fmla="*/ 474 w 642"/>
                  <a:gd name="T89" fmla="*/ 155 h 651"/>
                  <a:gd name="T90" fmla="*/ 510 w 642"/>
                  <a:gd name="T91" fmla="*/ 198 h 651"/>
                  <a:gd name="T92" fmla="*/ 534 w 642"/>
                  <a:gd name="T93" fmla="*/ 246 h 651"/>
                  <a:gd name="T94" fmla="*/ 546 w 642"/>
                  <a:gd name="T95" fmla="*/ 299 h 651"/>
                  <a:gd name="T96" fmla="*/ 545 w 642"/>
                  <a:gd name="T97" fmla="*/ 354 h 651"/>
                  <a:gd name="T98" fmla="*/ 530 w 642"/>
                  <a:gd name="T99" fmla="*/ 408 h 651"/>
                  <a:gd name="T100" fmla="*/ 501 w 642"/>
                  <a:gd name="T101" fmla="*/ 458 h 651"/>
                  <a:gd name="T102" fmla="*/ 462 w 642"/>
                  <a:gd name="T103" fmla="*/ 499 h 651"/>
                  <a:gd name="T104" fmla="*/ 416 w 642"/>
                  <a:gd name="T105" fmla="*/ 527 h 651"/>
                  <a:gd name="T106" fmla="*/ 364 w 642"/>
                  <a:gd name="T107" fmla="*/ 544 h 651"/>
                  <a:gd name="T108" fmla="*/ 310 w 642"/>
                  <a:gd name="T109" fmla="*/ 549 h 651"/>
                  <a:gd name="T110" fmla="*/ 255 w 642"/>
                  <a:gd name="T111" fmla="*/ 539 h 651"/>
                  <a:gd name="T112" fmla="*/ 203 w 642"/>
                  <a:gd name="T113" fmla="*/ 516 h 651"/>
                  <a:gd name="T114" fmla="*/ 158 w 642"/>
                  <a:gd name="T115" fmla="*/ 480 h 651"/>
                  <a:gd name="T116" fmla="*/ 124 w 642"/>
                  <a:gd name="T117" fmla="*/ 436 h 651"/>
                  <a:gd name="T118" fmla="*/ 103 w 642"/>
                  <a:gd name="T119" fmla="*/ 387 h 651"/>
                  <a:gd name="T120" fmla="*/ 94 w 642"/>
                  <a:gd name="T121" fmla="*/ 333 h 651"/>
                  <a:gd name="T122" fmla="*/ 97 w 642"/>
                  <a:gd name="T123" fmla="*/ 278 h 651"/>
                  <a:gd name="T124" fmla="*/ 115 w 642"/>
                  <a:gd name="T125" fmla="*/ 224 h 6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642"/>
                  <a:gd name="T190" fmla="*/ 0 h 651"/>
                  <a:gd name="T191" fmla="*/ 642 w 642"/>
                  <a:gd name="T192" fmla="*/ 651 h 65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642" h="651">
                    <a:moveTo>
                      <a:pt x="624" y="438"/>
                    </a:moveTo>
                    <a:lnTo>
                      <a:pt x="582" y="396"/>
                    </a:lnTo>
                    <a:lnTo>
                      <a:pt x="580" y="394"/>
                    </a:lnTo>
                    <a:lnTo>
                      <a:pt x="579" y="392"/>
                    </a:lnTo>
                    <a:lnTo>
                      <a:pt x="579" y="390"/>
                    </a:lnTo>
                    <a:lnTo>
                      <a:pt x="578" y="388"/>
                    </a:lnTo>
                    <a:lnTo>
                      <a:pt x="578" y="386"/>
                    </a:lnTo>
                    <a:lnTo>
                      <a:pt x="578" y="384"/>
                    </a:lnTo>
                    <a:lnTo>
                      <a:pt x="579" y="381"/>
                    </a:lnTo>
                    <a:lnTo>
                      <a:pt x="579" y="379"/>
                    </a:lnTo>
                    <a:lnTo>
                      <a:pt x="580" y="376"/>
                    </a:lnTo>
                    <a:lnTo>
                      <a:pt x="580" y="374"/>
                    </a:lnTo>
                    <a:lnTo>
                      <a:pt x="581" y="371"/>
                    </a:lnTo>
                    <a:lnTo>
                      <a:pt x="582" y="369"/>
                    </a:lnTo>
                    <a:lnTo>
                      <a:pt x="582" y="366"/>
                    </a:lnTo>
                    <a:lnTo>
                      <a:pt x="583" y="364"/>
                    </a:lnTo>
                    <a:lnTo>
                      <a:pt x="583" y="361"/>
                    </a:lnTo>
                    <a:lnTo>
                      <a:pt x="583" y="358"/>
                    </a:lnTo>
                    <a:lnTo>
                      <a:pt x="642" y="327"/>
                    </a:lnTo>
                    <a:lnTo>
                      <a:pt x="641" y="278"/>
                    </a:lnTo>
                    <a:lnTo>
                      <a:pt x="579" y="257"/>
                    </a:lnTo>
                    <a:lnTo>
                      <a:pt x="566" y="210"/>
                    </a:lnTo>
                    <a:lnTo>
                      <a:pt x="600" y="162"/>
                    </a:lnTo>
                    <a:lnTo>
                      <a:pt x="571" y="117"/>
                    </a:lnTo>
                    <a:lnTo>
                      <a:pt x="505" y="129"/>
                    </a:lnTo>
                    <a:lnTo>
                      <a:pt x="485" y="112"/>
                    </a:lnTo>
                    <a:lnTo>
                      <a:pt x="489" y="49"/>
                    </a:lnTo>
                    <a:lnTo>
                      <a:pt x="443" y="23"/>
                    </a:lnTo>
                    <a:lnTo>
                      <a:pt x="394" y="60"/>
                    </a:lnTo>
                    <a:lnTo>
                      <a:pt x="355" y="58"/>
                    </a:lnTo>
                    <a:lnTo>
                      <a:pt x="326" y="0"/>
                    </a:lnTo>
                    <a:lnTo>
                      <a:pt x="276" y="4"/>
                    </a:lnTo>
                    <a:lnTo>
                      <a:pt x="254" y="65"/>
                    </a:lnTo>
                    <a:lnTo>
                      <a:pt x="251" y="66"/>
                    </a:lnTo>
                    <a:lnTo>
                      <a:pt x="249" y="67"/>
                    </a:lnTo>
                    <a:lnTo>
                      <a:pt x="246" y="68"/>
                    </a:lnTo>
                    <a:lnTo>
                      <a:pt x="244" y="69"/>
                    </a:lnTo>
                    <a:lnTo>
                      <a:pt x="241" y="70"/>
                    </a:lnTo>
                    <a:lnTo>
                      <a:pt x="239" y="71"/>
                    </a:lnTo>
                    <a:lnTo>
                      <a:pt x="236" y="72"/>
                    </a:lnTo>
                    <a:lnTo>
                      <a:pt x="234" y="73"/>
                    </a:lnTo>
                    <a:lnTo>
                      <a:pt x="231" y="74"/>
                    </a:lnTo>
                    <a:lnTo>
                      <a:pt x="229" y="74"/>
                    </a:lnTo>
                    <a:lnTo>
                      <a:pt x="226" y="75"/>
                    </a:lnTo>
                    <a:lnTo>
                      <a:pt x="224" y="76"/>
                    </a:lnTo>
                    <a:lnTo>
                      <a:pt x="221" y="76"/>
                    </a:lnTo>
                    <a:lnTo>
                      <a:pt x="218" y="77"/>
                    </a:lnTo>
                    <a:lnTo>
                      <a:pt x="216" y="77"/>
                    </a:lnTo>
                    <a:lnTo>
                      <a:pt x="213" y="77"/>
                    </a:lnTo>
                    <a:lnTo>
                      <a:pt x="172" y="46"/>
                    </a:lnTo>
                    <a:lnTo>
                      <a:pt x="169" y="46"/>
                    </a:lnTo>
                    <a:lnTo>
                      <a:pt x="165" y="46"/>
                    </a:lnTo>
                    <a:lnTo>
                      <a:pt x="162" y="46"/>
                    </a:lnTo>
                    <a:lnTo>
                      <a:pt x="157" y="47"/>
                    </a:lnTo>
                    <a:lnTo>
                      <a:pt x="154" y="48"/>
                    </a:lnTo>
                    <a:lnTo>
                      <a:pt x="151" y="49"/>
                    </a:lnTo>
                    <a:lnTo>
                      <a:pt x="148" y="51"/>
                    </a:lnTo>
                    <a:lnTo>
                      <a:pt x="145" y="53"/>
                    </a:lnTo>
                    <a:lnTo>
                      <a:pt x="142" y="55"/>
                    </a:lnTo>
                    <a:lnTo>
                      <a:pt x="139" y="57"/>
                    </a:lnTo>
                    <a:lnTo>
                      <a:pt x="136" y="59"/>
                    </a:lnTo>
                    <a:lnTo>
                      <a:pt x="133" y="62"/>
                    </a:lnTo>
                    <a:lnTo>
                      <a:pt x="129" y="64"/>
                    </a:lnTo>
                    <a:lnTo>
                      <a:pt x="126" y="66"/>
                    </a:lnTo>
                    <a:lnTo>
                      <a:pt x="123" y="68"/>
                    </a:lnTo>
                    <a:lnTo>
                      <a:pt x="120" y="70"/>
                    </a:lnTo>
                    <a:lnTo>
                      <a:pt x="132" y="135"/>
                    </a:lnTo>
                    <a:lnTo>
                      <a:pt x="111" y="162"/>
                    </a:lnTo>
                    <a:lnTo>
                      <a:pt x="49" y="153"/>
                    </a:lnTo>
                    <a:lnTo>
                      <a:pt x="21" y="203"/>
                    </a:lnTo>
                    <a:lnTo>
                      <a:pt x="63" y="249"/>
                    </a:lnTo>
                    <a:lnTo>
                      <a:pt x="57" y="293"/>
                    </a:lnTo>
                    <a:lnTo>
                      <a:pt x="0" y="321"/>
                    </a:lnTo>
                    <a:lnTo>
                      <a:pt x="5" y="379"/>
                    </a:lnTo>
                    <a:lnTo>
                      <a:pt x="59" y="391"/>
                    </a:lnTo>
                    <a:lnTo>
                      <a:pt x="76" y="441"/>
                    </a:lnTo>
                    <a:lnTo>
                      <a:pt x="36" y="483"/>
                    </a:lnTo>
                    <a:lnTo>
                      <a:pt x="71" y="535"/>
                    </a:lnTo>
                    <a:lnTo>
                      <a:pt x="132" y="517"/>
                    </a:lnTo>
                    <a:lnTo>
                      <a:pt x="164" y="548"/>
                    </a:lnTo>
                    <a:lnTo>
                      <a:pt x="153" y="605"/>
                    </a:lnTo>
                    <a:lnTo>
                      <a:pt x="195" y="627"/>
                    </a:lnTo>
                    <a:lnTo>
                      <a:pt x="244" y="586"/>
                    </a:lnTo>
                    <a:lnTo>
                      <a:pt x="246" y="586"/>
                    </a:lnTo>
                    <a:lnTo>
                      <a:pt x="248" y="586"/>
                    </a:lnTo>
                    <a:lnTo>
                      <a:pt x="250" y="585"/>
                    </a:lnTo>
                    <a:lnTo>
                      <a:pt x="252" y="585"/>
                    </a:lnTo>
                    <a:lnTo>
                      <a:pt x="254" y="585"/>
                    </a:lnTo>
                    <a:lnTo>
                      <a:pt x="256" y="586"/>
                    </a:lnTo>
                    <a:lnTo>
                      <a:pt x="259" y="586"/>
                    </a:lnTo>
                    <a:lnTo>
                      <a:pt x="261" y="586"/>
                    </a:lnTo>
                    <a:lnTo>
                      <a:pt x="263" y="587"/>
                    </a:lnTo>
                    <a:lnTo>
                      <a:pt x="266" y="587"/>
                    </a:lnTo>
                    <a:lnTo>
                      <a:pt x="268" y="588"/>
                    </a:lnTo>
                    <a:lnTo>
                      <a:pt x="270" y="589"/>
                    </a:lnTo>
                    <a:lnTo>
                      <a:pt x="273" y="589"/>
                    </a:lnTo>
                    <a:lnTo>
                      <a:pt x="275" y="590"/>
                    </a:lnTo>
                    <a:lnTo>
                      <a:pt x="277" y="591"/>
                    </a:lnTo>
                    <a:lnTo>
                      <a:pt x="280" y="592"/>
                    </a:lnTo>
                    <a:lnTo>
                      <a:pt x="312" y="651"/>
                    </a:lnTo>
                    <a:lnTo>
                      <a:pt x="362" y="646"/>
                    </a:lnTo>
                    <a:lnTo>
                      <a:pt x="364" y="645"/>
                    </a:lnTo>
                    <a:lnTo>
                      <a:pt x="365" y="643"/>
                    </a:lnTo>
                    <a:lnTo>
                      <a:pt x="366" y="641"/>
                    </a:lnTo>
                    <a:lnTo>
                      <a:pt x="368" y="639"/>
                    </a:lnTo>
                    <a:lnTo>
                      <a:pt x="369" y="637"/>
                    </a:lnTo>
                    <a:lnTo>
                      <a:pt x="370" y="635"/>
                    </a:lnTo>
                    <a:lnTo>
                      <a:pt x="371" y="633"/>
                    </a:lnTo>
                    <a:lnTo>
                      <a:pt x="371" y="631"/>
                    </a:lnTo>
                    <a:lnTo>
                      <a:pt x="372" y="629"/>
                    </a:lnTo>
                    <a:lnTo>
                      <a:pt x="373" y="626"/>
                    </a:lnTo>
                    <a:lnTo>
                      <a:pt x="374" y="624"/>
                    </a:lnTo>
                    <a:lnTo>
                      <a:pt x="374" y="621"/>
                    </a:lnTo>
                    <a:lnTo>
                      <a:pt x="375" y="619"/>
                    </a:lnTo>
                    <a:lnTo>
                      <a:pt x="376" y="617"/>
                    </a:lnTo>
                    <a:lnTo>
                      <a:pt x="376" y="614"/>
                    </a:lnTo>
                    <a:lnTo>
                      <a:pt x="377" y="612"/>
                    </a:lnTo>
                    <a:lnTo>
                      <a:pt x="377" y="609"/>
                    </a:lnTo>
                    <a:lnTo>
                      <a:pt x="378" y="607"/>
                    </a:lnTo>
                    <a:lnTo>
                      <a:pt x="379" y="604"/>
                    </a:lnTo>
                    <a:lnTo>
                      <a:pt x="380" y="602"/>
                    </a:lnTo>
                    <a:lnTo>
                      <a:pt x="381" y="599"/>
                    </a:lnTo>
                    <a:lnTo>
                      <a:pt x="382" y="597"/>
                    </a:lnTo>
                    <a:lnTo>
                      <a:pt x="382" y="595"/>
                    </a:lnTo>
                    <a:lnTo>
                      <a:pt x="384" y="593"/>
                    </a:lnTo>
                    <a:lnTo>
                      <a:pt x="385" y="591"/>
                    </a:lnTo>
                    <a:lnTo>
                      <a:pt x="386" y="589"/>
                    </a:lnTo>
                    <a:lnTo>
                      <a:pt x="388" y="587"/>
                    </a:lnTo>
                    <a:lnTo>
                      <a:pt x="389" y="585"/>
                    </a:lnTo>
                    <a:lnTo>
                      <a:pt x="391" y="584"/>
                    </a:lnTo>
                    <a:lnTo>
                      <a:pt x="393" y="582"/>
                    </a:lnTo>
                    <a:lnTo>
                      <a:pt x="395" y="581"/>
                    </a:lnTo>
                    <a:lnTo>
                      <a:pt x="398" y="580"/>
                    </a:lnTo>
                    <a:lnTo>
                      <a:pt x="400" y="579"/>
                    </a:lnTo>
                    <a:lnTo>
                      <a:pt x="401" y="579"/>
                    </a:lnTo>
                    <a:lnTo>
                      <a:pt x="403" y="578"/>
                    </a:lnTo>
                    <a:lnTo>
                      <a:pt x="405" y="577"/>
                    </a:lnTo>
                    <a:lnTo>
                      <a:pt x="407" y="577"/>
                    </a:lnTo>
                    <a:lnTo>
                      <a:pt x="408" y="576"/>
                    </a:lnTo>
                    <a:lnTo>
                      <a:pt x="410" y="575"/>
                    </a:lnTo>
                    <a:lnTo>
                      <a:pt x="411" y="575"/>
                    </a:lnTo>
                    <a:lnTo>
                      <a:pt x="413" y="574"/>
                    </a:lnTo>
                    <a:lnTo>
                      <a:pt x="414" y="574"/>
                    </a:lnTo>
                    <a:lnTo>
                      <a:pt x="415" y="573"/>
                    </a:lnTo>
                    <a:lnTo>
                      <a:pt x="416" y="573"/>
                    </a:lnTo>
                    <a:lnTo>
                      <a:pt x="418" y="572"/>
                    </a:lnTo>
                    <a:lnTo>
                      <a:pt x="419" y="572"/>
                    </a:lnTo>
                    <a:lnTo>
                      <a:pt x="420" y="572"/>
                    </a:lnTo>
                    <a:lnTo>
                      <a:pt x="421" y="571"/>
                    </a:lnTo>
                    <a:lnTo>
                      <a:pt x="469" y="605"/>
                    </a:lnTo>
                    <a:lnTo>
                      <a:pt x="520" y="574"/>
                    </a:lnTo>
                    <a:lnTo>
                      <a:pt x="507" y="511"/>
                    </a:lnTo>
                    <a:lnTo>
                      <a:pt x="524" y="491"/>
                    </a:lnTo>
                    <a:lnTo>
                      <a:pt x="526" y="490"/>
                    </a:lnTo>
                    <a:lnTo>
                      <a:pt x="528" y="487"/>
                    </a:lnTo>
                    <a:lnTo>
                      <a:pt x="530" y="487"/>
                    </a:lnTo>
                    <a:lnTo>
                      <a:pt x="532" y="486"/>
                    </a:lnTo>
                    <a:lnTo>
                      <a:pt x="534" y="485"/>
                    </a:lnTo>
                    <a:lnTo>
                      <a:pt x="536" y="484"/>
                    </a:lnTo>
                    <a:lnTo>
                      <a:pt x="538" y="484"/>
                    </a:lnTo>
                    <a:lnTo>
                      <a:pt x="540" y="484"/>
                    </a:lnTo>
                    <a:lnTo>
                      <a:pt x="542" y="484"/>
                    </a:lnTo>
                    <a:lnTo>
                      <a:pt x="544" y="483"/>
                    </a:lnTo>
                    <a:lnTo>
                      <a:pt x="547" y="483"/>
                    </a:lnTo>
                    <a:lnTo>
                      <a:pt x="549" y="484"/>
                    </a:lnTo>
                    <a:lnTo>
                      <a:pt x="551" y="484"/>
                    </a:lnTo>
                    <a:lnTo>
                      <a:pt x="554" y="484"/>
                    </a:lnTo>
                    <a:lnTo>
                      <a:pt x="556" y="484"/>
                    </a:lnTo>
                    <a:lnTo>
                      <a:pt x="559" y="484"/>
                    </a:lnTo>
                    <a:lnTo>
                      <a:pt x="561" y="485"/>
                    </a:lnTo>
                    <a:lnTo>
                      <a:pt x="563" y="485"/>
                    </a:lnTo>
                    <a:lnTo>
                      <a:pt x="566" y="485"/>
                    </a:lnTo>
                    <a:lnTo>
                      <a:pt x="568" y="486"/>
                    </a:lnTo>
                    <a:lnTo>
                      <a:pt x="571" y="486"/>
                    </a:lnTo>
                    <a:lnTo>
                      <a:pt x="573" y="486"/>
                    </a:lnTo>
                    <a:lnTo>
                      <a:pt x="576" y="486"/>
                    </a:lnTo>
                    <a:lnTo>
                      <a:pt x="578" y="487"/>
                    </a:lnTo>
                    <a:lnTo>
                      <a:pt x="581" y="487"/>
                    </a:lnTo>
                    <a:lnTo>
                      <a:pt x="583" y="487"/>
                    </a:lnTo>
                    <a:lnTo>
                      <a:pt x="585" y="487"/>
                    </a:lnTo>
                    <a:lnTo>
                      <a:pt x="588" y="487"/>
                    </a:lnTo>
                    <a:lnTo>
                      <a:pt x="590" y="487"/>
                    </a:lnTo>
                    <a:lnTo>
                      <a:pt x="592" y="486"/>
                    </a:lnTo>
                    <a:lnTo>
                      <a:pt x="595" y="486"/>
                    </a:lnTo>
                    <a:lnTo>
                      <a:pt x="597" y="486"/>
                    </a:lnTo>
                    <a:lnTo>
                      <a:pt x="624" y="438"/>
                    </a:lnTo>
                    <a:close/>
                    <a:moveTo>
                      <a:pt x="115" y="224"/>
                    </a:moveTo>
                    <a:lnTo>
                      <a:pt x="120" y="214"/>
                    </a:lnTo>
                    <a:lnTo>
                      <a:pt x="126" y="204"/>
                    </a:lnTo>
                    <a:lnTo>
                      <a:pt x="132" y="195"/>
                    </a:lnTo>
                    <a:lnTo>
                      <a:pt x="139" y="185"/>
                    </a:lnTo>
                    <a:lnTo>
                      <a:pt x="146" y="177"/>
                    </a:lnTo>
                    <a:lnTo>
                      <a:pt x="153" y="168"/>
                    </a:lnTo>
                    <a:lnTo>
                      <a:pt x="162" y="159"/>
                    </a:lnTo>
                    <a:lnTo>
                      <a:pt x="170" y="152"/>
                    </a:lnTo>
                    <a:lnTo>
                      <a:pt x="178" y="145"/>
                    </a:lnTo>
                    <a:lnTo>
                      <a:pt x="187" y="138"/>
                    </a:lnTo>
                    <a:lnTo>
                      <a:pt x="196" y="132"/>
                    </a:lnTo>
                    <a:lnTo>
                      <a:pt x="205" y="126"/>
                    </a:lnTo>
                    <a:lnTo>
                      <a:pt x="215" y="121"/>
                    </a:lnTo>
                    <a:lnTo>
                      <a:pt x="225" y="116"/>
                    </a:lnTo>
                    <a:lnTo>
                      <a:pt x="235" y="111"/>
                    </a:lnTo>
                    <a:lnTo>
                      <a:pt x="245" y="108"/>
                    </a:lnTo>
                    <a:lnTo>
                      <a:pt x="255" y="104"/>
                    </a:lnTo>
                    <a:lnTo>
                      <a:pt x="265" y="101"/>
                    </a:lnTo>
                    <a:lnTo>
                      <a:pt x="276" y="99"/>
                    </a:lnTo>
                    <a:lnTo>
                      <a:pt x="287" y="97"/>
                    </a:lnTo>
                    <a:lnTo>
                      <a:pt x="298" y="96"/>
                    </a:lnTo>
                    <a:lnTo>
                      <a:pt x="309" y="95"/>
                    </a:lnTo>
                    <a:lnTo>
                      <a:pt x="320" y="94"/>
                    </a:lnTo>
                    <a:lnTo>
                      <a:pt x="331" y="95"/>
                    </a:lnTo>
                    <a:lnTo>
                      <a:pt x="342" y="95"/>
                    </a:lnTo>
                    <a:lnTo>
                      <a:pt x="353" y="97"/>
                    </a:lnTo>
                    <a:lnTo>
                      <a:pt x="364" y="99"/>
                    </a:lnTo>
                    <a:lnTo>
                      <a:pt x="375" y="101"/>
                    </a:lnTo>
                    <a:lnTo>
                      <a:pt x="386" y="104"/>
                    </a:lnTo>
                    <a:lnTo>
                      <a:pt x="396" y="108"/>
                    </a:lnTo>
                    <a:lnTo>
                      <a:pt x="407" y="112"/>
                    </a:lnTo>
                    <a:lnTo>
                      <a:pt x="418" y="116"/>
                    </a:lnTo>
                    <a:lnTo>
                      <a:pt x="428" y="122"/>
                    </a:lnTo>
                    <a:lnTo>
                      <a:pt x="438" y="127"/>
                    </a:lnTo>
                    <a:lnTo>
                      <a:pt x="448" y="134"/>
                    </a:lnTo>
                    <a:lnTo>
                      <a:pt x="457" y="140"/>
                    </a:lnTo>
                    <a:lnTo>
                      <a:pt x="466" y="147"/>
                    </a:lnTo>
                    <a:lnTo>
                      <a:pt x="474" y="155"/>
                    </a:lnTo>
                    <a:lnTo>
                      <a:pt x="483" y="162"/>
                    </a:lnTo>
                    <a:lnTo>
                      <a:pt x="490" y="171"/>
                    </a:lnTo>
                    <a:lnTo>
                      <a:pt x="497" y="180"/>
                    </a:lnTo>
                    <a:lnTo>
                      <a:pt x="504" y="188"/>
                    </a:lnTo>
                    <a:lnTo>
                      <a:pt x="510" y="198"/>
                    </a:lnTo>
                    <a:lnTo>
                      <a:pt x="516" y="207"/>
                    </a:lnTo>
                    <a:lnTo>
                      <a:pt x="521" y="216"/>
                    </a:lnTo>
                    <a:lnTo>
                      <a:pt x="526" y="226"/>
                    </a:lnTo>
                    <a:lnTo>
                      <a:pt x="530" y="236"/>
                    </a:lnTo>
                    <a:lnTo>
                      <a:pt x="534" y="246"/>
                    </a:lnTo>
                    <a:lnTo>
                      <a:pt x="537" y="256"/>
                    </a:lnTo>
                    <a:lnTo>
                      <a:pt x="540" y="267"/>
                    </a:lnTo>
                    <a:lnTo>
                      <a:pt x="543" y="277"/>
                    </a:lnTo>
                    <a:lnTo>
                      <a:pt x="544" y="288"/>
                    </a:lnTo>
                    <a:lnTo>
                      <a:pt x="546" y="299"/>
                    </a:lnTo>
                    <a:lnTo>
                      <a:pt x="547" y="310"/>
                    </a:lnTo>
                    <a:lnTo>
                      <a:pt x="547" y="321"/>
                    </a:lnTo>
                    <a:lnTo>
                      <a:pt x="547" y="332"/>
                    </a:lnTo>
                    <a:lnTo>
                      <a:pt x="546" y="343"/>
                    </a:lnTo>
                    <a:lnTo>
                      <a:pt x="545" y="354"/>
                    </a:lnTo>
                    <a:lnTo>
                      <a:pt x="543" y="365"/>
                    </a:lnTo>
                    <a:lnTo>
                      <a:pt x="540" y="376"/>
                    </a:lnTo>
                    <a:lnTo>
                      <a:pt x="537" y="387"/>
                    </a:lnTo>
                    <a:lnTo>
                      <a:pt x="534" y="397"/>
                    </a:lnTo>
                    <a:lnTo>
                      <a:pt x="530" y="408"/>
                    </a:lnTo>
                    <a:lnTo>
                      <a:pt x="525" y="419"/>
                    </a:lnTo>
                    <a:lnTo>
                      <a:pt x="520" y="429"/>
                    </a:lnTo>
                    <a:lnTo>
                      <a:pt x="514" y="439"/>
                    </a:lnTo>
                    <a:lnTo>
                      <a:pt x="508" y="449"/>
                    </a:lnTo>
                    <a:lnTo>
                      <a:pt x="501" y="458"/>
                    </a:lnTo>
                    <a:lnTo>
                      <a:pt x="494" y="467"/>
                    </a:lnTo>
                    <a:lnTo>
                      <a:pt x="487" y="475"/>
                    </a:lnTo>
                    <a:lnTo>
                      <a:pt x="478" y="483"/>
                    </a:lnTo>
                    <a:lnTo>
                      <a:pt x="470" y="491"/>
                    </a:lnTo>
                    <a:lnTo>
                      <a:pt x="462" y="499"/>
                    </a:lnTo>
                    <a:lnTo>
                      <a:pt x="453" y="505"/>
                    </a:lnTo>
                    <a:lnTo>
                      <a:pt x="444" y="511"/>
                    </a:lnTo>
                    <a:lnTo>
                      <a:pt x="435" y="517"/>
                    </a:lnTo>
                    <a:lnTo>
                      <a:pt x="425" y="522"/>
                    </a:lnTo>
                    <a:lnTo>
                      <a:pt x="416" y="527"/>
                    </a:lnTo>
                    <a:lnTo>
                      <a:pt x="406" y="532"/>
                    </a:lnTo>
                    <a:lnTo>
                      <a:pt x="396" y="536"/>
                    </a:lnTo>
                    <a:lnTo>
                      <a:pt x="385" y="539"/>
                    </a:lnTo>
                    <a:lnTo>
                      <a:pt x="375" y="542"/>
                    </a:lnTo>
                    <a:lnTo>
                      <a:pt x="364" y="544"/>
                    </a:lnTo>
                    <a:lnTo>
                      <a:pt x="353" y="546"/>
                    </a:lnTo>
                    <a:lnTo>
                      <a:pt x="343" y="548"/>
                    </a:lnTo>
                    <a:lnTo>
                      <a:pt x="332" y="548"/>
                    </a:lnTo>
                    <a:lnTo>
                      <a:pt x="321" y="549"/>
                    </a:lnTo>
                    <a:lnTo>
                      <a:pt x="310" y="549"/>
                    </a:lnTo>
                    <a:lnTo>
                      <a:pt x="299" y="548"/>
                    </a:lnTo>
                    <a:lnTo>
                      <a:pt x="288" y="547"/>
                    </a:lnTo>
                    <a:lnTo>
                      <a:pt x="277" y="545"/>
                    </a:lnTo>
                    <a:lnTo>
                      <a:pt x="266" y="542"/>
                    </a:lnTo>
                    <a:lnTo>
                      <a:pt x="255" y="539"/>
                    </a:lnTo>
                    <a:lnTo>
                      <a:pt x="244" y="536"/>
                    </a:lnTo>
                    <a:lnTo>
                      <a:pt x="234" y="532"/>
                    </a:lnTo>
                    <a:lnTo>
                      <a:pt x="223" y="527"/>
                    </a:lnTo>
                    <a:lnTo>
                      <a:pt x="213" y="522"/>
                    </a:lnTo>
                    <a:lnTo>
                      <a:pt x="203" y="516"/>
                    </a:lnTo>
                    <a:lnTo>
                      <a:pt x="193" y="510"/>
                    </a:lnTo>
                    <a:lnTo>
                      <a:pt x="184" y="503"/>
                    </a:lnTo>
                    <a:lnTo>
                      <a:pt x="175" y="496"/>
                    </a:lnTo>
                    <a:lnTo>
                      <a:pt x="167" y="489"/>
                    </a:lnTo>
                    <a:lnTo>
                      <a:pt x="158" y="480"/>
                    </a:lnTo>
                    <a:lnTo>
                      <a:pt x="150" y="472"/>
                    </a:lnTo>
                    <a:lnTo>
                      <a:pt x="143" y="464"/>
                    </a:lnTo>
                    <a:lnTo>
                      <a:pt x="136" y="455"/>
                    </a:lnTo>
                    <a:lnTo>
                      <a:pt x="130" y="446"/>
                    </a:lnTo>
                    <a:lnTo>
                      <a:pt x="124" y="436"/>
                    </a:lnTo>
                    <a:lnTo>
                      <a:pt x="119" y="427"/>
                    </a:lnTo>
                    <a:lnTo>
                      <a:pt x="114" y="417"/>
                    </a:lnTo>
                    <a:lnTo>
                      <a:pt x="110" y="407"/>
                    </a:lnTo>
                    <a:lnTo>
                      <a:pt x="106" y="397"/>
                    </a:lnTo>
                    <a:lnTo>
                      <a:pt x="103" y="387"/>
                    </a:lnTo>
                    <a:lnTo>
                      <a:pt x="100" y="376"/>
                    </a:lnTo>
                    <a:lnTo>
                      <a:pt x="98" y="366"/>
                    </a:lnTo>
                    <a:lnTo>
                      <a:pt x="96" y="355"/>
                    </a:lnTo>
                    <a:lnTo>
                      <a:pt x="94" y="344"/>
                    </a:lnTo>
                    <a:lnTo>
                      <a:pt x="94" y="333"/>
                    </a:lnTo>
                    <a:lnTo>
                      <a:pt x="93" y="322"/>
                    </a:lnTo>
                    <a:lnTo>
                      <a:pt x="93" y="311"/>
                    </a:lnTo>
                    <a:lnTo>
                      <a:pt x="94" y="300"/>
                    </a:lnTo>
                    <a:lnTo>
                      <a:pt x="95" y="289"/>
                    </a:lnTo>
                    <a:lnTo>
                      <a:pt x="97" y="278"/>
                    </a:lnTo>
                    <a:lnTo>
                      <a:pt x="100" y="267"/>
                    </a:lnTo>
                    <a:lnTo>
                      <a:pt x="103" y="256"/>
                    </a:lnTo>
                    <a:lnTo>
                      <a:pt x="106" y="246"/>
                    </a:lnTo>
                    <a:lnTo>
                      <a:pt x="110" y="235"/>
                    </a:lnTo>
                    <a:lnTo>
                      <a:pt x="115" y="224"/>
                    </a:lnTo>
                    <a:close/>
                  </a:path>
                </a:pathLst>
              </a:custGeom>
              <a:solidFill>
                <a:srgbClr val="000000"/>
              </a:solidFill>
              <a:ln w="9525">
                <a:noFill/>
                <a:round/>
                <a:headEnd/>
                <a:tailEnd/>
              </a:ln>
            </p:spPr>
            <p:txBody>
              <a:bodyPr/>
              <a:lstStyle/>
              <a:p>
                <a:endParaRPr lang="en-US"/>
              </a:p>
            </p:txBody>
          </p:sp>
        </p:grpSp>
        <p:sp>
          <p:nvSpPr>
            <p:cNvPr id="45" name="Text Box 1087"/>
            <p:cNvSpPr txBox="1">
              <a:spLocks noChangeArrowheads="1"/>
            </p:cNvSpPr>
            <p:nvPr/>
          </p:nvSpPr>
          <p:spPr bwMode="auto">
            <a:xfrm>
              <a:off x="792" y="2572"/>
              <a:ext cx="291" cy="368"/>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3200" dirty="0">
                  <a:solidFill>
                    <a:srgbClr val="FFFFFF"/>
                  </a:solidFill>
                </a:rPr>
                <a:t>CP</a:t>
              </a:r>
            </a:p>
          </p:txBody>
        </p:sp>
      </p:grpSp>
      <p:grpSp>
        <p:nvGrpSpPr>
          <p:cNvPr id="49" name="Group 1090"/>
          <p:cNvGrpSpPr>
            <a:grpSpLocks/>
          </p:cNvGrpSpPr>
          <p:nvPr/>
        </p:nvGrpSpPr>
        <p:grpSpPr bwMode="auto">
          <a:xfrm>
            <a:off x="524799" y="4754122"/>
            <a:ext cx="1358546" cy="1033463"/>
            <a:chOff x="2112" y="3216"/>
            <a:chExt cx="642" cy="651"/>
          </a:xfrm>
        </p:grpSpPr>
        <p:pic>
          <p:nvPicPr>
            <p:cNvPr id="50" name="Picture 1091" descr="FSA05467"/>
            <p:cNvPicPr>
              <a:picLocks noChangeAspect="1" noChangeArrowheads="1"/>
            </p:cNvPicPr>
            <p:nvPr/>
          </p:nvPicPr>
          <p:blipFill>
            <a:blip r:embed="rId2" cstate="print"/>
            <a:srcRect/>
            <a:stretch>
              <a:fillRect/>
            </a:stretch>
          </p:blipFill>
          <p:spPr bwMode="auto">
            <a:xfrm>
              <a:off x="2112" y="3216"/>
              <a:ext cx="642" cy="651"/>
            </a:xfrm>
            <a:prstGeom prst="rect">
              <a:avLst/>
            </a:prstGeom>
            <a:noFill/>
            <a:ln w="9525">
              <a:noFill/>
              <a:miter lim="800000"/>
              <a:headEnd/>
              <a:tailEnd/>
            </a:ln>
          </p:spPr>
        </p:pic>
        <p:sp>
          <p:nvSpPr>
            <p:cNvPr id="51" name="Text Box 1092"/>
            <p:cNvSpPr txBox="1">
              <a:spLocks noChangeArrowheads="1"/>
            </p:cNvSpPr>
            <p:nvPr/>
          </p:nvSpPr>
          <p:spPr bwMode="auto">
            <a:xfrm>
              <a:off x="2301" y="3340"/>
              <a:ext cx="282" cy="368"/>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3200" dirty="0">
                  <a:solidFill>
                    <a:srgbClr val="FFFFFF"/>
                  </a:solidFill>
                </a:rPr>
                <a:t>TP</a:t>
              </a:r>
            </a:p>
          </p:txBody>
        </p:sp>
      </p:grpSp>
      <p:grpSp>
        <p:nvGrpSpPr>
          <p:cNvPr id="52" name="Group 1093"/>
          <p:cNvGrpSpPr>
            <a:grpSpLocks/>
          </p:cNvGrpSpPr>
          <p:nvPr/>
        </p:nvGrpSpPr>
        <p:grpSpPr bwMode="auto">
          <a:xfrm>
            <a:off x="7374665" y="3734947"/>
            <a:ext cx="1358546" cy="1033463"/>
            <a:chOff x="2112" y="3216"/>
            <a:chExt cx="642" cy="651"/>
          </a:xfrm>
        </p:grpSpPr>
        <p:pic>
          <p:nvPicPr>
            <p:cNvPr id="53" name="Picture 1094" descr="FSA05467"/>
            <p:cNvPicPr>
              <a:picLocks noChangeAspect="1" noChangeArrowheads="1"/>
            </p:cNvPicPr>
            <p:nvPr/>
          </p:nvPicPr>
          <p:blipFill>
            <a:blip r:embed="rId2" cstate="print"/>
            <a:srcRect/>
            <a:stretch>
              <a:fillRect/>
            </a:stretch>
          </p:blipFill>
          <p:spPr bwMode="auto">
            <a:xfrm>
              <a:off x="2112" y="3216"/>
              <a:ext cx="642" cy="651"/>
            </a:xfrm>
            <a:prstGeom prst="rect">
              <a:avLst/>
            </a:prstGeom>
            <a:noFill/>
            <a:ln w="9525">
              <a:noFill/>
              <a:miter lim="800000"/>
              <a:headEnd/>
              <a:tailEnd/>
            </a:ln>
          </p:spPr>
        </p:pic>
        <p:sp>
          <p:nvSpPr>
            <p:cNvPr id="54" name="Text Box 1095"/>
            <p:cNvSpPr txBox="1">
              <a:spLocks noChangeArrowheads="1"/>
            </p:cNvSpPr>
            <p:nvPr/>
          </p:nvSpPr>
          <p:spPr bwMode="auto">
            <a:xfrm>
              <a:off x="2305" y="3340"/>
              <a:ext cx="282" cy="368"/>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3200" dirty="0">
                  <a:solidFill>
                    <a:srgbClr val="FFFFFF"/>
                  </a:solidFill>
                </a:rPr>
                <a:t>TP</a:t>
              </a:r>
            </a:p>
          </p:txBody>
        </p:sp>
      </p:grpSp>
      <p:grpSp>
        <p:nvGrpSpPr>
          <p:cNvPr id="55" name="Group 1100"/>
          <p:cNvGrpSpPr>
            <a:grpSpLocks/>
          </p:cNvGrpSpPr>
          <p:nvPr/>
        </p:nvGrpSpPr>
        <p:grpSpPr bwMode="auto">
          <a:xfrm>
            <a:off x="3580469" y="1812481"/>
            <a:ext cx="2329844" cy="780920"/>
            <a:chOff x="1628" y="1408"/>
            <a:chExt cx="1101" cy="484"/>
          </a:xfrm>
        </p:grpSpPr>
        <p:sp>
          <p:nvSpPr>
            <p:cNvPr id="56" name="Rectangle 1101"/>
            <p:cNvSpPr>
              <a:spLocks noChangeArrowheads="1"/>
            </p:cNvSpPr>
            <p:nvPr/>
          </p:nvSpPr>
          <p:spPr bwMode="auto">
            <a:xfrm>
              <a:off x="1628" y="1408"/>
              <a:ext cx="1098" cy="484"/>
            </a:xfrm>
            <a:prstGeom prst="rect">
              <a:avLst/>
            </a:prstGeom>
            <a:gradFill rotWithShape="0">
              <a:gsLst>
                <a:gs pos="0">
                  <a:srgbClr val="FFD72D"/>
                </a:gs>
                <a:gs pos="100000">
                  <a:srgbClr val="FFD72D">
                    <a:gamma/>
                    <a:shade val="76078"/>
                    <a:invGamma/>
                  </a:srgbClr>
                </a:gs>
              </a:gsLst>
              <a:path path="shape">
                <a:fillToRect l="50000" t="50000" r="50000" b="50000"/>
              </a:path>
            </a:gradFill>
            <a:ln w="9525">
              <a:noFill/>
              <a:miter lim="800000"/>
              <a:headEnd/>
              <a:tailEnd/>
            </a:ln>
            <a:effectLst>
              <a:outerShdw dist="35921" dir="2700000" algn="ctr" rotWithShape="0">
                <a:schemeClr val="tx2"/>
              </a:outerShdw>
            </a:effectLst>
          </p:spPr>
          <p:txBody>
            <a:bodyPr wrap="none" anchor="ctr"/>
            <a:lstStyle/>
            <a:p>
              <a:pPr>
                <a:defRPr/>
              </a:pPr>
              <a:endParaRPr lang="en-US"/>
            </a:p>
          </p:txBody>
        </p:sp>
        <p:sp>
          <p:nvSpPr>
            <p:cNvPr id="57" name="Rectangle 1102"/>
            <p:cNvSpPr>
              <a:spLocks noChangeArrowheads="1"/>
            </p:cNvSpPr>
            <p:nvPr/>
          </p:nvSpPr>
          <p:spPr bwMode="auto">
            <a:xfrm>
              <a:off x="1700" y="1471"/>
              <a:ext cx="1029" cy="382"/>
            </a:xfrm>
            <a:prstGeom prst="rect">
              <a:avLst/>
            </a:prstGeom>
            <a:noFill/>
            <a:ln w="9525">
              <a:noFill/>
              <a:miter lim="800000"/>
              <a:headEnd/>
              <a:tailEnd/>
            </a:ln>
          </p:spPr>
          <p:txBody>
            <a:bodyPr wrap="square" lIns="92075" tIns="46038" rIns="92075" bIns="46038">
              <a:spAutoFit/>
            </a:bodyPr>
            <a:lstStyle/>
            <a:p>
              <a:pPr algn="ctr" eaLnBrk="1" hangingPunct="1">
                <a:spcBef>
                  <a:spcPct val="50000"/>
                </a:spcBef>
              </a:pPr>
              <a:r>
                <a:rPr lang="en-US" sz="1700" dirty="0">
                  <a:latin typeface="Tahoma" pitchFamily="34" charset="0"/>
                </a:rPr>
                <a:t>Expand </a:t>
              </a:r>
              <a:r>
                <a:rPr lang="en-US" sz="1700" dirty="0" smtClean="0">
                  <a:latin typeface="Tahoma" pitchFamily="34" charset="0"/>
                </a:rPr>
                <a:t>to the </a:t>
              </a:r>
              <a:r>
                <a:rPr lang="en-US" sz="1700" dirty="0">
                  <a:latin typeface="Tahoma" pitchFamily="34" charset="0"/>
                </a:rPr>
                <a:t>European Market</a:t>
              </a:r>
              <a:endParaRPr lang="fr-FR" sz="1700" dirty="0">
                <a:latin typeface="Tahoma" pitchFamily="34" charset="0"/>
              </a:endParaRPr>
            </a:p>
          </p:txBody>
        </p:sp>
      </p:grpSp>
      <p:grpSp>
        <p:nvGrpSpPr>
          <p:cNvPr id="58" name="Group 1103"/>
          <p:cNvGrpSpPr>
            <a:grpSpLocks/>
          </p:cNvGrpSpPr>
          <p:nvPr/>
        </p:nvGrpSpPr>
        <p:grpSpPr bwMode="auto">
          <a:xfrm>
            <a:off x="2632448" y="1345760"/>
            <a:ext cx="1358546" cy="1033463"/>
            <a:chOff x="216" y="1305"/>
            <a:chExt cx="642" cy="651"/>
          </a:xfrm>
        </p:grpSpPr>
        <p:sp>
          <p:nvSpPr>
            <p:cNvPr id="59" name="Freeform 1104"/>
            <p:cNvSpPr>
              <a:spLocks/>
            </p:cNvSpPr>
            <p:nvPr/>
          </p:nvSpPr>
          <p:spPr bwMode="auto">
            <a:xfrm>
              <a:off x="291" y="1376"/>
              <a:ext cx="503" cy="503"/>
            </a:xfrm>
            <a:custGeom>
              <a:avLst/>
              <a:gdLst>
                <a:gd name="T0" fmla="*/ 277 w 503"/>
                <a:gd name="T1" fmla="*/ 1 h 503"/>
                <a:gd name="T2" fmla="*/ 314 w 503"/>
                <a:gd name="T3" fmla="*/ 8 h 503"/>
                <a:gd name="T4" fmla="*/ 349 w 503"/>
                <a:gd name="T5" fmla="*/ 19 h 503"/>
                <a:gd name="T6" fmla="*/ 381 w 503"/>
                <a:gd name="T7" fmla="*/ 36 h 503"/>
                <a:gd name="T8" fmla="*/ 412 w 503"/>
                <a:gd name="T9" fmla="*/ 57 h 503"/>
                <a:gd name="T10" fmla="*/ 438 w 503"/>
                <a:gd name="T11" fmla="*/ 82 h 503"/>
                <a:gd name="T12" fmla="*/ 460 w 503"/>
                <a:gd name="T13" fmla="*/ 111 h 503"/>
                <a:gd name="T14" fmla="*/ 478 w 503"/>
                <a:gd name="T15" fmla="*/ 143 h 503"/>
                <a:gd name="T16" fmla="*/ 492 w 503"/>
                <a:gd name="T17" fmla="*/ 177 h 503"/>
                <a:gd name="T18" fmla="*/ 500 w 503"/>
                <a:gd name="T19" fmla="*/ 213 h 503"/>
                <a:gd name="T20" fmla="*/ 503 w 503"/>
                <a:gd name="T21" fmla="*/ 251 h 503"/>
                <a:gd name="T22" fmla="*/ 500 w 503"/>
                <a:gd name="T23" fmla="*/ 289 h 503"/>
                <a:gd name="T24" fmla="*/ 492 w 503"/>
                <a:gd name="T25" fmla="*/ 326 h 503"/>
                <a:gd name="T26" fmla="*/ 478 w 503"/>
                <a:gd name="T27" fmla="*/ 360 h 503"/>
                <a:gd name="T28" fmla="*/ 460 w 503"/>
                <a:gd name="T29" fmla="*/ 391 h 503"/>
                <a:gd name="T30" fmla="*/ 438 w 503"/>
                <a:gd name="T31" fmla="*/ 421 h 503"/>
                <a:gd name="T32" fmla="*/ 412 w 503"/>
                <a:gd name="T33" fmla="*/ 445 h 503"/>
                <a:gd name="T34" fmla="*/ 381 w 503"/>
                <a:gd name="T35" fmla="*/ 466 h 503"/>
                <a:gd name="T36" fmla="*/ 349 w 503"/>
                <a:gd name="T37" fmla="*/ 483 h 503"/>
                <a:gd name="T38" fmla="*/ 314 w 503"/>
                <a:gd name="T39" fmla="*/ 495 h 503"/>
                <a:gd name="T40" fmla="*/ 277 w 503"/>
                <a:gd name="T41" fmla="*/ 501 h 503"/>
                <a:gd name="T42" fmla="*/ 239 w 503"/>
                <a:gd name="T43" fmla="*/ 503 h 503"/>
                <a:gd name="T44" fmla="*/ 201 w 503"/>
                <a:gd name="T45" fmla="*/ 498 h 503"/>
                <a:gd name="T46" fmla="*/ 166 w 503"/>
                <a:gd name="T47" fmla="*/ 488 h 503"/>
                <a:gd name="T48" fmla="*/ 133 w 503"/>
                <a:gd name="T49" fmla="*/ 472 h 503"/>
                <a:gd name="T50" fmla="*/ 102 w 503"/>
                <a:gd name="T51" fmla="*/ 453 h 503"/>
                <a:gd name="T52" fmla="*/ 74 w 503"/>
                <a:gd name="T53" fmla="*/ 429 h 503"/>
                <a:gd name="T54" fmla="*/ 50 w 503"/>
                <a:gd name="T55" fmla="*/ 401 h 503"/>
                <a:gd name="T56" fmla="*/ 31 w 503"/>
                <a:gd name="T57" fmla="*/ 370 h 503"/>
                <a:gd name="T58" fmla="*/ 15 w 503"/>
                <a:gd name="T59" fmla="*/ 337 h 503"/>
                <a:gd name="T60" fmla="*/ 5 w 503"/>
                <a:gd name="T61" fmla="*/ 302 h 503"/>
                <a:gd name="T62" fmla="*/ 1 w 503"/>
                <a:gd name="T63" fmla="*/ 264 h 503"/>
                <a:gd name="T64" fmla="*/ 2 w 503"/>
                <a:gd name="T65" fmla="*/ 226 h 503"/>
                <a:gd name="T66" fmla="*/ 8 w 503"/>
                <a:gd name="T67" fmla="*/ 189 h 503"/>
                <a:gd name="T68" fmla="*/ 20 w 503"/>
                <a:gd name="T69" fmla="*/ 154 h 503"/>
                <a:gd name="T70" fmla="*/ 37 w 503"/>
                <a:gd name="T71" fmla="*/ 122 h 503"/>
                <a:gd name="T72" fmla="*/ 58 w 503"/>
                <a:gd name="T73" fmla="*/ 91 h 503"/>
                <a:gd name="T74" fmla="*/ 82 w 503"/>
                <a:gd name="T75" fmla="*/ 65 h 503"/>
                <a:gd name="T76" fmla="*/ 112 w 503"/>
                <a:gd name="T77" fmla="*/ 43 h 503"/>
                <a:gd name="T78" fmla="*/ 143 w 503"/>
                <a:gd name="T79" fmla="*/ 24 h 503"/>
                <a:gd name="T80" fmla="*/ 177 w 503"/>
                <a:gd name="T81" fmla="*/ 11 h 503"/>
                <a:gd name="T82" fmla="*/ 214 w 503"/>
                <a:gd name="T83" fmla="*/ 3 h 503"/>
                <a:gd name="T84" fmla="*/ 252 w 503"/>
                <a:gd name="T85" fmla="*/ 0 h 50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03"/>
                <a:gd name="T130" fmla="*/ 0 h 503"/>
                <a:gd name="T131" fmla="*/ 503 w 503"/>
                <a:gd name="T132" fmla="*/ 503 h 50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03" h="503">
                  <a:moveTo>
                    <a:pt x="252" y="0"/>
                  </a:moveTo>
                  <a:lnTo>
                    <a:pt x="265" y="0"/>
                  </a:lnTo>
                  <a:lnTo>
                    <a:pt x="277" y="1"/>
                  </a:lnTo>
                  <a:lnTo>
                    <a:pt x="290" y="3"/>
                  </a:lnTo>
                  <a:lnTo>
                    <a:pt x="302" y="5"/>
                  </a:lnTo>
                  <a:lnTo>
                    <a:pt x="314" y="8"/>
                  </a:lnTo>
                  <a:lnTo>
                    <a:pt x="326" y="11"/>
                  </a:lnTo>
                  <a:lnTo>
                    <a:pt x="338" y="15"/>
                  </a:lnTo>
                  <a:lnTo>
                    <a:pt x="349" y="19"/>
                  </a:lnTo>
                  <a:lnTo>
                    <a:pt x="360" y="24"/>
                  </a:lnTo>
                  <a:lnTo>
                    <a:pt x="371" y="30"/>
                  </a:lnTo>
                  <a:lnTo>
                    <a:pt x="381" y="36"/>
                  </a:lnTo>
                  <a:lnTo>
                    <a:pt x="392" y="43"/>
                  </a:lnTo>
                  <a:lnTo>
                    <a:pt x="401" y="50"/>
                  </a:lnTo>
                  <a:lnTo>
                    <a:pt x="412" y="57"/>
                  </a:lnTo>
                  <a:lnTo>
                    <a:pt x="421" y="65"/>
                  </a:lnTo>
                  <a:lnTo>
                    <a:pt x="430" y="73"/>
                  </a:lnTo>
                  <a:lnTo>
                    <a:pt x="438" y="82"/>
                  </a:lnTo>
                  <a:lnTo>
                    <a:pt x="446" y="91"/>
                  </a:lnTo>
                  <a:lnTo>
                    <a:pt x="453" y="101"/>
                  </a:lnTo>
                  <a:lnTo>
                    <a:pt x="460" y="111"/>
                  </a:lnTo>
                  <a:lnTo>
                    <a:pt x="467" y="122"/>
                  </a:lnTo>
                  <a:lnTo>
                    <a:pt x="473" y="132"/>
                  </a:lnTo>
                  <a:lnTo>
                    <a:pt x="478" y="143"/>
                  </a:lnTo>
                  <a:lnTo>
                    <a:pt x="483" y="154"/>
                  </a:lnTo>
                  <a:lnTo>
                    <a:pt x="488" y="165"/>
                  </a:lnTo>
                  <a:lnTo>
                    <a:pt x="492" y="177"/>
                  </a:lnTo>
                  <a:lnTo>
                    <a:pt x="495" y="189"/>
                  </a:lnTo>
                  <a:lnTo>
                    <a:pt x="498" y="201"/>
                  </a:lnTo>
                  <a:lnTo>
                    <a:pt x="500" y="213"/>
                  </a:lnTo>
                  <a:lnTo>
                    <a:pt x="502" y="226"/>
                  </a:lnTo>
                  <a:lnTo>
                    <a:pt x="503" y="238"/>
                  </a:lnTo>
                  <a:lnTo>
                    <a:pt x="503" y="251"/>
                  </a:lnTo>
                  <a:lnTo>
                    <a:pt x="503" y="264"/>
                  </a:lnTo>
                  <a:lnTo>
                    <a:pt x="502" y="277"/>
                  </a:lnTo>
                  <a:lnTo>
                    <a:pt x="500" y="289"/>
                  </a:lnTo>
                  <a:lnTo>
                    <a:pt x="498" y="302"/>
                  </a:lnTo>
                  <a:lnTo>
                    <a:pt x="495" y="314"/>
                  </a:lnTo>
                  <a:lnTo>
                    <a:pt x="492" y="326"/>
                  </a:lnTo>
                  <a:lnTo>
                    <a:pt x="488" y="337"/>
                  </a:lnTo>
                  <a:lnTo>
                    <a:pt x="483" y="349"/>
                  </a:lnTo>
                  <a:lnTo>
                    <a:pt x="478" y="360"/>
                  </a:lnTo>
                  <a:lnTo>
                    <a:pt x="473" y="370"/>
                  </a:lnTo>
                  <a:lnTo>
                    <a:pt x="467" y="381"/>
                  </a:lnTo>
                  <a:lnTo>
                    <a:pt x="460" y="391"/>
                  </a:lnTo>
                  <a:lnTo>
                    <a:pt x="453" y="401"/>
                  </a:lnTo>
                  <a:lnTo>
                    <a:pt x="446" y="410"/>
                  </a:lnTo>
                  <a:lnTo>
                    <a:pt x="438" y="421"/>
                  </a:lnTo>
                  <a:lnTo>
                    <a:pt x="430" y="429"/>
                  </a:lnTo>
                  <a:lnTo>
                    <a:pt x="421" y="438"/>
                  </a:lnTo>
                  <a:lnTo>
                    <a:pt x="412" y="445"/>
                  </a:lnTo>
                  <a:lnTo>
                    <a:pt x="401" y="453"/>
                  </a:lnTo>
                  <a:lnTo>
                    <a:pt x="392" y="460"/>
                  </a:lnTo>
                  <a:lnTo>
                    <a:pt x="381" y="466"/>
                  </a:lnTo>
                  <a:lnTo>
                    <a:pt x="371" y="472"/>
                  </a:lnTo>
                  <a:lnTo>
                    <a:pt x="360" y="478"/>
                  </a:lnTo>
                  <a:lnTo>
                    <a:pt x="349" y="483"/>
                  </a:lnTo>
                  <a:lnTo>
                    <a:pt x="338" y="488"/>
                  </a:lnTo>
                  <a:lnTo>
                    <a:pt x="326" y="491"/>
                  </a:lnTo>
                  <a:lnTo>
                    <a:pt x="314" y="495"/>
                  </a:lnTo>
                  <a:lnTo>
                    <a:pt x="302" y="498"/>
                  </a:lnTo>
                  <a:lnTo>
                    <a:pt x="290" y="500"/>
                  </a:lnTo>
                  <a:lnTo>
                    <a:pt x="277" y="501"/>
                  </a:lnTo>
                  <a:lnTo>
                    <a:pt x="265" y="503"/>
                  </a:lnTo>
                  <a:lnTo>
                    <a:pt x="252" y="503"/>
                  </a:lnTo>
                  <a:lnTo>
                    <a:pt x="239" y="503"/>
                  </a:lnTo>
                  <a:lnTo>
                    <a:pt x="226" y="501"/>
                  </a:lnTo>
                  <a:lnTo>
                    <a:pt x="214" y="500"/>
                  </a:lnTo>
                  <a:lnTo>
                    <a:pt x="201" y="498"/>
                  </a:lnTo>
                  <a:lnTo>
                    <a:pt x="189" y="495"/>
                  </a:lnTo>
                  <a:lnTo>
                    <a:pt x="177" y="491"/>
                  </a:lnTo>
                  <a:lnTo>
                    <a:pt x="166" y="488"/>
                  </a:lnTo>
                  <a:lnTo>
                    <a:pt x="154" y="483"/>
                  </a:lnTo>
                  <a:lnTo>
                    <a:pt x="143" y="478"/>
                  </a:lnTo>
                  <a:lnTo>
                    <a:pt x="133" y="472"/>
                  </a:lnTo>
                  <a:lnTo>
                    <a:pt x="122" y="466"/>
                  </a:lnTo>
                  <a:lnTo>
                    <a:pt x="112" y="460"/>
                  </a:lnTo>
                  <a:lnTo>
                    <a:pt x="102" y="453"/>
                  </a:lnTo>
                  <a:lnTo>
                    <a:pt x="93" y="445"/>
                  </a:lnTo>
                  <a:lnTo>
                    <a:pt x="82" y="438"/>
                  </a:lnTo>
                  <a:lnTo>
                    <a:pt x="74" y="429"/>
                  </a:lnTo>
                  <a:lnTo>
                    <a:pt x="65" y="421"/>
                  </a:lnTo>
                  <a:lnTo>
                    <a:pt x="58" y="410"/>
                  </a:lnTo>
                  <a:lnTo>
                    <a:pt x="50" y="401"/>
                  </a:lnTo>
                  <a:lnTo>
                    <a:pt x="43" y="391"/>
                  </a:lnTo>
                  <a:lnTo>
                    <a:pt x="37" y="381"/>
                  </a:lnTo>
                  <a:lnTo>
                    <a:pt x="31" y="370"/>
                  </a:lnTo>
                  <a:lnTo>
                    <a:pt x="25" y="360"/>
                  </a:lnTo>
                  <a:lnTo>
                    <a:pt x="20" y="349"/>
                  </a:lnTo>
                  <a:lnTo>
                    <a:pt x="15" y="337"/>
                  </a:lnTo>
                  <a:lnTo>
                    <a:pt x="12" y="326"/>
                  </a:lnTo>
                  <a:lnTo>
                    <a:pt x="8" y="314"/>
                  </a:lnTo>
                  <a:lnTo>
                    <a:pt x="5" y="302"/>
                  </a:lnTo>
                  <a:lnTo>
                    <a:pt x="3" y="289"/>
                  </a:lnTo>
                  <a:lnTo>
                    <a:pt x="2" y="277"/>
                  </a:lnTo>
                  <a:lnTo>
                    <a:pt x="1" y="264"/>
                  </a:lnTo>
                  <a:lnTo>
                    <a:pt x="0" y="251"/>
                  </a:lnTo>
                  <a:lnTo>
                    <a:pt x="1" y="238"/>
                  </a:lnTo>
                  <a:lnTo>
                    <a:pt x="2" y="226"/>
                  </a:lnTo>
                  <a:lnTo>
                    <a:pt x="3" y="213"/>
                  </a:lnTo>
                  <a:lnTo>
                    <a:pt x="5" y="201"/>
                  </a:lnTo>
                  <a:lnTo>
                    <a:pt x="8" y="189"/>
                  </a:lnTo>
                  <a:lnTo>
                    <a:pt x="12" y="177"/>
                  </a:lnTo>
                  <a:lnTo>
                    <a:pt x="15" y="165"/>
                  </a:lnTo>
                  <a:lnTo>
                    <a:pt x="20" y="154"/>
                  </a:lnTo>
                  <a:lnTo>
                    <a:pt x="25" y="143"/>
                  </a:lnTo>
                  <a:lnTo>
                    <a:pt x="31" y="132"/>
                  </a:lnTo>
                  <a:lnTo>
                    <a:pt x="37" y="122"/>
                  </a:lnTo>
                  <a:lnTo>
                    <a:pt x="43" y="111"/>
                  </a:lnTo>
                  <a:lnTo>
                    <a:pt x="50" y="101"/>
                  </a:lnTo>
                  <a:lnTo>
                    <a:pt x="58" y="91"/>
                  </a:lnTo>
                  <a:lnTo>
                    <a:pt x="65" y="82"/>
                  </a:lnTo>
                  <a:lnTo>
                    <a:pt x="74" y="73"/>
                  </a:lnTo>
                  <a:lnTo>
                    <a:pt x="82" y="65"/>
                  </a:lnTo>
                  <a:lnTo>
                    <a:pt x="93" y="57"/>
                  </a:lnTo>
                  <a:lnTo>
                    <a:pt x="102" y="50"/>
                  </a:lnTo>
                  <a:lnTo>
                    <a:pt x="112" y="43"/>
                  </a:lnTo>
                  <a:lnTo>
                    <a:pt x="122" y="36"/>
                  </a:lnTo>
                  <a:lnTo>
                    <a:pt x="133" y="30"/>
                  </a:lnTo>
                  <a:lnTo>
                    <a:pt x="143" y="24"/>
                  </a:lnTo>
                  <a:lnTo>
                    <a:pt x="154" y="19"/>
                  </a:lnTo>
                  <a:lnTo>
                    <a:pt x="166" y="15"/>
                  </a:lnTo>
                  <a:lnTo>
                    <a:pt x="177" y="11"/>
                  </a:lnTo>
                  <a:lnTo>
                    <a:pt x="189" y="8"/>
                  </a:lnTo>
                  <a:lnTo>
                    <a:pt x="201" y="5"/>
                  </a:lnTo>
                  <a:lnTo>
                    <a:pt x="214" y="3"/>
                  </a:lnTo>
                  <a:lnTo>
                    <a:pt x="226" y="1"/>
                  </a:lnTo>
                  <a:lnTo>
                    <a:pt x="239" y="0"/>
                  </a:lnTo>
                  <a:lnTo>
                    <a:pt x="252" y="0"/>
                  </a:lnTo>
                  <a:close/>
                </a:path>
              </a:pathLst>
            </a:custGeom>
            <a:solidFill>
              <a:srgbClr val="CC9900"/>
            </a:solidFill>
            <a:ln w="9525">
              <a:noFill/>
              <a:round/>
              <a:headEnd/>
              <a:tailEnd/>
            </a:ln>
          </p:spPr>
          <p:txBody>
            <a:bodyPr/>
            <a:lstStyle/>
            <a:p>
              <a:endParaRPr lang="en-US"/>
            </a:p>
          </p:txBody>
        </p:sp>
        <p:sp>
          <p:nvSpPr>
            <p:cNvPr id="60" name="Freeform 1105"/>
            <p:cNvSpPr>
              <a:spLocks noEditPoints="1"/>
            </p:cNvSpPr>
            <p:nvPr/>
          </p:nvSpPr>
          <p:spPr bwMode="auto">
            <a:xfrm>
              <a:off x="216" y="1305"/>
              <a:ext cx="642" cy="651"/>
            </a:xfrm>
            <a:custGeom>
              <a:avLst/>
              <a:gdLst>
                <a:gd name="T0" fmla="*/ 579 w 642"/>
                <a:gd name="T1" fmla="*/ 390 h 651"/>
                <a:gd name="T2" fmla="*/ 579 w 642"/>
                <a:gd name="T3" fmla="*/ 379 h 651"/>
                <a:gd name="T4" fmla="*/ 582 w 642"/>
                <a:gd name="T5" fmla="*/ 366 h 651"/>
                <a:gd name="T6" fmla="*/ 641 w 642"/>
                <a:gd name="T7" fmla="*/ 278 h 651"/>
                <a:gd name="T8" fmla="*/ 505 w 642"/>
                <a:gd name="T9" fmla="*/ 129 h 651"/>
                <a:gd name="T10" fmla="*/ 355 w 642"/>
                <a:gd name="T11" fmla="*/ 58 h 651"/>
                <a:gd name="T12" fmla="*/ 249 w 642"/>
                <a:gd name="T13" fmla="*/ 67 h 651"/>
                <a:gd name="T14" fmla="*/ 236 w 642"/>
                <a:gd name="T15" fmla="*/ 72 h 651"/>
                <a:gd name="T16" fmla="*/ 224 w 642"/>
                <a:gd name="T17" fmla="*/ 76 h 651"/>
                <a:gd name="T18" fmla="*/ 172 w 642"/>
                <a:gd name="T19" fmla="*/ 46 h 651"/>
                <a:gd name="T20" fmla="*/ 154 w 642"/>
                <a:gd name="T21" fmla="*/ 48 h 651"/>
                <a:gd name="T22" fmla="*/ 139 w 642"/>
                <a:gd name="T23" fmla="*/ 57 h 651"/>
                <a:gd name="T24" fmla="*/ 123 w 642"/>
                <a:gd name="T25" fmla="*/ 68 h 651"/>
                <a:gd name="T26" fmla="*/ 21 w 642"/>
                <a:gd name="T27" fmla="*/ 203 h 651"/>
                <a:gd name="T28" fmla="*/ 59 w 642"/>
                <a:gd name="T29" fmla="*/ 391 h 651"/>
                <a:gd name="T30" fmla="*/ 164 w 642"/>
                <a:gd name="T31" fmla="*/ 548 h 651"/>
                <a:gd name="T32" fmla="*/ 248 w 642"/>
                <a:gd name="T33" fmla="*/ 586 h 651"/>
                <a:gd name="T34" fmla="*/ 259 w 642"/>
                <a:gd name="T35" fmla="*/ 586 h 651"/>
                <a:gd name="T36" fmla="*/ 270 w 642"/>
                <a:gd name="T37" fmla="*/ 589 h 651"/>
                <a:gd name="T38" fmla="*/ 312 w 642"/>
                <a:gd name="T39" fmla="*/ 651 h 651"/>
                <a:gd name="T40" fmla="*/ 368 w 642"/>
                <a:gd name="T41" fmla="*/ 639 h 651"/>
                <a:gd name="T42" fmla="*/ 372 w 642"/>
                <a:gd name="T43" fmla="*/ 629 h 651"/>
                <a:gd name="T44" fmla="*/ 376 w 642"/>
                <a:gd name="T45" fmla="*/ 617 h 651"/>
                <a:gd name="T46" fmla="*/ 379 w 642"/>
                <a:gd name="T47" fmla="*/ 604 h 651"/>
                <a:gd name="T48" fmla="*/ 384 w 642"/>
                <a:gd name="T49" fmla="*/ 593 h 651"/>
                <a:gd name="T50" fmla="*/ 391 w 642"/>
                <a:gd name="T51" fmla="*/ 584 h 651"/>
                <a:gd name="T52" fmla="*/ 401 w 642"/>
                <a:gd name="T53" fmla="*/ 579 h 651"/>
                <a:gd name="T54" fmla="*/ 410 w 642"/>
                <a:gd name="T55" fmla="*/ 575 h 651"/>
                <a:gd name="T56" fmla="*/ 416 w 642"/>
                <a:gd name="T57" fmla="*/ 573 h 651"/>
                <a:gd name="T58" fmla="*/ 469 w 642"/>
                <a:gd name="T59" fmla="*/ 605 h 651"/>
                <a:gd name="T60" fmla="*/ 528 w 642"/>
                <a:gd name="T61" fmla="*/ 487 h 651"/>
                <a:gd name="T62" fmla="*/ 538 w 642"/>
                <a:gd name="T63" fmla="*/ 484 h 651"/>
                <a:gd name="T64" fmla="*/ 549 w 642"/>
                <a:gd name="T65" fmla="*/ 484 h 651"/>
                <a:gd name="T66" fmla="*/ 561 w 642"/>
                <a:gd name="T67" fmla="*/ 485 h 651"/>
                <a:gd name="T68" fmla="*/ 573 w 642"/>
                <a:gd name="T69" fmla="*/ 486 h 651"/>
                <a:gd name="T70" fmla="*/ 585 w 642"/>
                <a:gd name="T71" fmla="*/ 487 h 651"/>
                <a:gd name="T72" fmla="*/ 597 w 642"/>
                <a:gd name="T73" fmla="*/ 486 h 651"/>
                <a:gd name="T74" fmla="*/ 132 w 642"/>
                <a:gd name="T75" fmla="*/ 195 h 651"/>
                <a:gd name="T76" fmla="*/ 170 w 642"/>
                <a:gd name="T77" fmla="*/ 152 h 651"/>
                <a:gd name="T78" fmla="*/ 215 w 642"/>
                <a:gd name="T79" fmla="*/ 121 h 651"/>
                <a:gd name="T80" fmla="*/ 265 w 642"/>
                <a:gd name="T81" fmla="*/ 101 h 651"/>
                <a:gd name="T82" fmla="*/ 320 w 642"/>
                <a:gd name="T83" fmla="*/ 94 h 651"/>
                <a:gd name="T84" fmla="*/ 375 w 642"/>
                <a:gd name="T85" fmla="*/ 101 h 651"/>
                <a:gd name="T86" fmla="*/ 428 w 642"/>
                <a:gd name="T87" fmla="*/ 122 h 651"/>
                <a:gd name="T88" fmla="*/ 474 w 642"/>
                <a:gd name="T89" fmla="*/ 155 h 651"/>
                <a:gd name="T90" fmla="*/ 510 w 642"/>
                <a:gd name="T91" fmla="*/ 198 h 651"/>
                <a:gd name="T92" fmla="*/ 534 w 642"/>
                <a:gd name="T93" fmla="*/ 246 h 651"/>
                <a:gd name="T94" fmla="*/ 546 w 642"/>
                <a:gd name="T95" fmla="*/ 299 h 651"/>
                <a:gd name="T96" fmla="*/ 545 w 642"/>
                <a:gd name="T97" fmla="*/ 354 h 651"/>
                <a:gd name="T98" fmla="*/ 530 w 642"/>
                <a:gd name="T99" fmla="*/ 408 h 651"/>
                <a:gd name="T100" fmla="*/ 501 w 642"/>
                <a:gd name="T101" fmla="*/ 458 h 651"/>
                <a:gd name="T102" fmla="*/ 462 w 642"/>
                <a:gd name="T103" fmla="*/ 499 h 651"/>
                <a:gd name="T104" fmla="*/ 416 w 642"/>
                <a:gd name="T105" fmla="*/ 527 h 651"/>
                <a:gd name="T106" fmla="*/ 364 w 642"/>
                <a:gd name="T107" fmla="*/ 544 h 651"/>
                <a:gd name="T108" fmla="*/ 310 w 642"/>
                <a:gd name="T109" fmla="*/ 549 h 651"/>
                <a:gd name="T110" fmla="*/ 255 w 642"/>
                <a:gd name="T111" fmla="*/ 539 h 651"/>
                <a:gd name="T112" fmla="*/ 203 w 642"/>
                <a:gd name="T113" fmla="*/ 516 h 651"/>
                <a:gd name="T114" fmla="*/ 158 w 642"/>
                <a:gd name="T115" fmla="*/ 480 h 651"/>
                <a:gd name="T116" fmla="*/ 124 w 642"/>
                <a:gd name="T117" fmla="*/ 436 h 651"/>
                <a:gd name="T118" fmla="*/ 103 w 642"/>
                <a:gd name="T119" fmla="*/ 387 h 651"/>
                <a:gd name="T120" fmla="*/ 94 w 642"/>
                <a:gd name="T121" fmla="*/ 333 h 651"/>
                <a:gd name="T122" fmla="*/ 97 w 642"/>
                <a:gd name="T123" fmla="*/ 278 h 651"/>
                <a:gd name="T124" fmla="*/ 115 w 642"/>
                <a:gd name="T125" fmla="*/ 224 h 6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642"/>
                <a:gd name="T190" fmla="*/ 0 h 651"/>
                <a:gd name="T191" fmla="*/ 642 w 642"/>
                <a:gd name="T192" fmla="*/ 651 h 65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642" h="651">
                  <a:moveTo>
                    <a:pt x="624" y="438"/>
                  </a:moveTo>
                  <a:lnTo>
                    <a:pt x="582" y="396"/>
                  </a:lnTo>
                  <a:lnTo>
                    <a:pt x="580" y="394"/>
                  </a:lnTo>
                  <a:lnTo>
                    <a:pt x="579" y="392"/>
                  </a:lnTo>
                  <a:lnTo>
                    <a:pt x="579" y="390"/>
                  </a:lnTo>
                  <a:lnTo>
                    <a:pt x="578" y="388"/>
                  </a:lnTo>
                  <a:lnTo>
                    <a:pt x="578" y="386"/>
                  </a:lnTo>
                  <a:lnTo>
                    <a:pt x="578" y="384"/>
                  </a:lnTo>
                  <a:lnTo>
                    <a:pt x="579" y="381"/>
                  </a:lnTo>
                  <a:lnTo>
                    <a:pt x="579" y="379"/>
                  </a:lnTo>
                  <a:lnTo>
                    <a:pt x="580" y="376"/>
                  </a:lnTo>
                  <a:lnTo>
                    <a:pt x="580" y="374"/>
                  </a:lnTo>
                  <a:lnTo>
                    <a:pt x="581" y="371"/>
                  </a:lnTo>
                  <a:lnTo>
                    <a:pt x="582" y="369"/>
                  </a:lnTo>
                  <a:lnTo>
                    <a:pt x="582" y="366"/>
                  </a:lnTo>
                  <a:lnTo>
                    <a:pt x="583" y="364"/>
                  </a:lnTo>
                  <a:lnTo>
                    <a:pt x="583" y="361"/>
                  </a:lnTo>
                  <a:lnTo>
                    <a:pt x="583" y="358"/>
                  </a:lnTo>
                  <a:lnTo>
                    <a:pt x="642" y="327"/>
                  </a:lnTo>
                  <a:lnTo>
                    <a:pt x="641" y="278"/>
                  </a:lnTo>
                  <a:lnTo>
                    <a:pt x="579" y="257"/>
                  </a:lnTo>
                  <a:lnTo>
                    <a:pt x="566" y="210"/>
                  </a:lnTo>
                  <a:lnTo>
                    <a:pt x="600" y="162"/>
                  </a:lnTo>
                  <a:lnTo>
                    <a:pt x="571" y="117"/>
                  </a:lnTo>
                  <a:lnTo>
                    <a:pt x="505" y="129"/>
                  </a:lnTo>
                  <a:lnTo>
                    <a:pt x="485" y="112"/>
                  </a:lnTo>
                  <a:lnTo>
                    <a:pt x="489" y="49"/>
                  </a:lnTo>
                  <a:lnTo>
                    <a:pt x="443" y="23"/>
                  </a:lnTo>
                  <a:lnTo>
                    <a:pt x="394" y="60"/>
                  </a:lnTo>
                  <a:lnTo>
                    <a:pt x="355" y="58"/>
                  </a:lnTo>
                  <a:lnTo>
                    <a:pt x="326" y="0"/>
                  </a:lnTo>
                  <a:lnTo>
                    <a:pt x="276" y="4"/>
                  </a:lnTo>
                  <a:lnTo>
                    <a:pt x="254" y="65"/>
                  </a:lnTo>
                  <a:lnTo>
                    <a:pt x="251" y="66"/>
                  </a:lnTo>
                  <a:lnTo>
                    <a:pt x="249" y="67"/>
                  </a:lnTo>
                  <a:lnTo>
                    <a:pt x="246" y="68"/>
                  </a:lnTo>
                  <a:lnTo>
                    <a:pt x="244" y="69"/>
                  </a:lnTo>
                  <a:lnTo>
                    <a:pt x="241" y="70"/>
                  </a:lnTo>
                  <a:lnTo>
                    <a:pt x="239" y="71"/>
                  </a:lnTo>
                  <a:lnTo>
                    <a:pt x="236" y="72"/>
                  </a:lnTo>
                  <a:lnTo>
                    <a:pt x="234" y="73"/>
                  </a:lnTo>
                  <a:lnTo>
                    <a:pt x="231" y="74"/>
                  </a:lnTo>
                  <a:lnTo>
                    <a:pt x="229" y="74"/>
                  </a:lnTo>
                  <a:lnTo>
                    <a:pt x="226" y="75"/>
                  </a:lnTo>
                  <a:lnTo>
                    <a:pt x="224" y="76"/>
                  </a:lnTo>
                  <a:lnTo>
                    <a:pt x="221" y="76"/>
                  </a:lnTo>
                  <a:lnTo>
                    <a:pt x="218" y="77"/>
                  </a:lnTo>
                  <a:lnTo>
                    <a:pt x="216" y="77"/>
                  </a:lnTo>
                  <a:lnTo>
                    <a:pt x="213" y="77"/>
                  </a:lnTo>
                  <a:lnTo>
                    <a:pt x="172" y="46"/>
                  </a:lnTo>
                  <a:lnTo>
                    <a:pt x="169" y="46"/>
                  </a:lnTo>
                  <a:lnTo>
                    <a:pt x="165" y="46"/>
                  </a:lnTo>
                  <a:lnTo>
                    <a:pt x="162" y="46"/>
                  </a:lnTo>
                  <a:lnTo>
                    <a:pt x="157" y="47"/>
                  </a:lnTo>
                  <a:lnTo>
                    <a:pt x="154" y="48"/>
                  </a:lnTo>
                  <a:lnTo>
                    <a:pt x="151" y="49"/>
                  </a:lnTo>
                  <a:lnTo>
                    <a:pt x="148" y="51"/>
                  </a:lnTo>
                  <a:lnTo>
                    <a:pt x="145" y="53"/>
                  </a:lnTo>
                  <a:lnTo>
                    <a:pt x="142" y="55"/>
                  </a:lnTo>
                  <a:lnTo>
                    <a:pt x="139" y="57"/>
                  </a:lnTo>
                  <a:lnTo>
                    <a:pt x="136" y="59"/>
                  </a:lnTo>
                  <a:lnTo>
                    <a:pt x="133" y="62"/>
                  </a:lnTo>
                  <a:lnTo>
                    <a:pt x="129" y="64"/>
                  </a:lnTo>
                  <a:lnTo>
                    <a:pt x="126" y="66"/>
                  </a:lnTo>
                  <a:lnTo>
                    <a:pt x="123" y="68"/>
                  </a:lnTo>
                  <a:lnTo>
                    <a:pt x="120" y="70"/>
                  </a:lnTo>
                  <a:lnTo>
                    <a:pt x="132" y="135"/>
                  </a:lnTo>
                  <a:lnTo>
                    <a:pt x="111" y="162"/>
                  </a:lnTo>
                  <a:lnTo>
                    <a:pt x="49" y="153"/>
                  </a:lnTo>
                  <a:lnTo>
                    <a:pt x="21" y="203"/>
                  </a:lnTo>
                  <a:lnTo>
                    <a:pt x="63" y="249"/>
                  </a:lnTo>
                  <a:lnTo>
                    <a:pt x="57" y="293"/>
                  </a:lnTo>
                  <a:lnTo>
                    <a:pt x="0" y="321"/>
                  </a:lnTo>
                  <a:lnTo>
                    <a:pt x="5" y="379"/>
                  </a:lnTo>
                  <a:lnTo>
                    <a:pt x="59" y="391"/>
                  </a:lnTo>
                  <a:lnTo>
                    <a:pt x="76" y="441"/>
                  </a:lnTo>
                  <a:lnTo>
                    <a:pt x="36" y="483"/>
                  </a:lnTo>
                  <a:lnTo>
                    <a:pt x="71" y="535"/>
                  </a:lnTo>
                  <a:lnTo>
                    <a:pt x="132" y="517"/>
                  </a:lnTo>
                  <a:lnTo>
                    <a:pt x="164" y="548"/>
                  </a:lnTo>
                  <a:lnTo>
                    <a:pt x="153" y="605"/>
                  </a:lnTo>
                  <a:lnTo>
                    <a:pt x="195" y="627"/>
                  </a:lnTo>
                  <a:lnTo>
                    <a:pt x="244" y="586"/>
                  </a:lnTo>
                  <a:lnTo>
                    <a:pt x="246" y="586"/>
                  </a:lnTo>
                  <a:lnTo>
                    <a:pt x="248" y="586"/>
                  </a:lnTo>
                  <a:lnTo>
                    <a:pt x="250" y="585"/>
                  </a:lnTo>
                  <a:lnTo>
                    <a:pt x="252" y="585"/>
                  </a:lnTo>
                  <a:lnTo>
                    <a:pt x="254" y="585"/>
                  </a:lnTo>
                  <a:lnTo>
                    <a:pt x="256" y="586"/>
                  </a:lnTo>
                  <a:lnTo>
                    <a:pt x="259" y="586"/>
                  </a:lnTo>
                  <a:lnTo>
                    <a:pt x="261" y="586"/>
                  </a:lnTo>
                  <a:lnTo>
                    <a:pt x="263" y="587"/>
                  </a:lnTo>
                  <a:lnTo>
                    <a:pt x="266" y="587"/>
                  </a:lnTo>
                  <a:lnTo>
                    <a:pt x="268" y="588"/>
                  </a:lnTo>
                  <a:lnTo>
                    <a:pt x="270" y="589"/>
                  </a:lnTo>
                  <a:lnTo>
                    <a:pt x="273" y="589"/>
                  </a:lnTo>
                  <a:lnTo>
                    <a:pt x="275" y="590"/>
                  </a:lnTo>
                  <a:lnTo>
                    <a:pt x="277" y="591"/>
                  </a:lnTo>
                  <a:lnTo>
                    <a:pt x="280" y="592"/>
                  </a:lnTo>
                  <a:lnTo>
                    <a:pt x="312" y="651"/>
                  </a:lnTo>
                  <a:lnTo>
                    <a:pt x="362" y="646"/>
                  </a:lnTo>
                  <a:lnTo>
                    <a:pt x="364" y="645"/>
                  </a:lnTo>
                  <a:lnTo>
                    <a:pt x="365" y="643"/>
                  </a:lnTo>
                  <a:lnTo>
                    <a:pt x="366" y="641"/>
                  </a:lnTo>
                  <a:lnTo>
                    <a:pt x="368" y="639"/>
                  </a:lnTo>
                  <a:lnTo>
                    <a:pt x="369" y="637"/>
                  </a:lnTo>
                  <a:lnTo>
                    <a:pt x="370" y="635"/>
                  </a:lnTo>
                  <a:lnTo>
                    <a:pt x="371" y="633"/>
                  </a:lnTo>
                  <a:lnTo>
                    <a:pt x="371" y="631"/>
                  </a:lnTo>
                  <a:lnTo>
                    <a:pt x="372" y="629"/>
                  </a:lnTo>
                  <a:lnTo>
                    <a:pt x="373" y="626"/>
                  </a:lnTo>
                  <a:lnTo>
                    <a:pt x="374" y="624"/>
                  </a:lnTo>
                  <a:lnTo>
                    <a:pt x="374" y="621"/>
                  </a:lnTo>
                  <a:lnTo>
                    <a:pt x="375" y="619"/>
                  </a:lnTo>
                  <a:lnTo>
                    <a:pt x="376" y="617"/>
                  </a:lnTo>
                  <a:lnTo>
                    <a:pt x="376" y="614"/>
                  </a:lnTo>
                  <a:lnTo>
                    <a:pt x="377" y="612"/>
                  </a:lnTo>
                  <a:lnTo>
                    <a:pt x="377" y="609"/>
                  </a:lnTo>
                  <a:lnTo>
                    <a:pt x="378" y="607"/>
                  </a:lnTo>
                  <a:lnTo>
                    <a:pt x="379" y="604"/>
                  </a:lnTo>
                  <a:lnTo>
                    <a:pt x="380" y="602"/>
                  </a:lnTo>
                  <a:lnTo>
                    <a:pt x="381" y="599"/>
                  </a:lnTo>
                  <a:lnTo>
                    <a:pt x="382" y="597"/>
                  </a:lnTo>
                  <a:lnTo>
                    <a:pt x="382" y="595"/>
                  </a:lnTo>
                  <a:lnTo>
                    <a:pt x="384" y="593"/>
                  </a:lnTo>
                  <a:lnTo>
                    <a:pt x="385" y="591"/>
                  </a:lnTo>
                  <a:lnTo>
                    <a:pt x="386" y="589"/>
                  </a:lnTo>
                  <a:lnTo>
                    <a:pt x="388" y="587"/>
                  </a:lnTo>
                  <a:lnTo>
                    <a:pt x="389" y="585"/>
                  </a:lnTo>
                  <a:lnTo>
                    <a:pt x="391" y="584"/>
                  </a:lnTo>
                  <a:lnTo>
                    <a:pt x="393" y="582"/>
                  </a:lnTo>
                  <a:lnTo>
                    <a:pt x="395" y="581"/>
                  </a:lnTo>
                  <a:lnTo>
                    <a:pt x="398" y="580"/>
                  </a:lnTo>
                  <a:lnTo>
                    <a:pt x="400" y="579"/>
                  </a:lnTo>
                  <a:lnTo>
                    <a:pt x="401" y="579"/>
                  </a:lnTo>
                  <a:lnTo>
                    <a:pt x="403" y="578"/>
                  </a:lnTo>
                  <a:lnTo>
                    <a:pt x="405" y="577"/>
                  </a:lnTo>
                  <a:lnTo>
                    <a:pt x="407" y="577"/>
                  </a:lnTo>
                  <a:lnTo>
                    <a:pt x="408" y="576"/>
                  </a:lnTo>
                  <a:lnTo>
                    <a:pt x="410" y="575"/>
                  </a:lnTo>
                  <a:lnTo>
                    <a:pt x="411" y="575"/>
                  </a:lnTo>
                  <a:lnTo>
                    <a:pt x="413" y="574"/>
                  </a:lnTo>
                  <a:lnTo>
                    <a:pt x="414" y="574"/>
                  </a:lnTo>
                  <a:lnTo>
                    <a:pt x="415" y="573"/>
                  </a:lnTo>
                  <a:lnTo>
                    <a:pt x="416" y="573"/>
                  </a:lnTo>
                  <a:lnTo>
                    <a:pt x="418" y="572"/>
                  </a:lnTo>
                  <a:lnTo>
                    <a:pt x="419" y="572"/>
                  </a:lnTo>
                  <a:lnTo>
                    <a:pt x="420" y="572"/>
                  </a:lnTo>
                  <a:lnTo>
                    <a:pt x="421" y="571"/>
                  </a:lnTo>
                  <a:lnTo>
                    <a:pt x="469" y="605"/>
                  </a:lnTo>
                  <a:lnTo>
                    <a:pt x="520" y="574"/>
                  </a:lnTo>
                  <a:lnTo>
                    <a:pt x="507" y="511"/>
                  </a:lnTo>
                  <a:lnTo>
                    <a:pt x="524" y="491"/>
                  </a:lnTo>
                  <a:lnTo>
                    <a:pt x="526" y="490"/>
                  </a:lnTo>
                  <a:lnTo>
                    <a:pt x="528" y="487"/>
                  </a:lnTo>
                  <a:lnTo>
                    <a:pt x="530" y="487"/>
                  </a:lnTo>
                  <a:lnTo>
                    <a:pt x="532" y="486"/>
                  </a:lnTo>
                  <a:lnTo>
                    <a:pt x="534" y="485"/>
                  </a:lnTo>
                  <a:lnTo>
                    <a:pt x="536" y="484"/>
                  </a:lnTo>
                  <a:lnTo>
                    <a:pt x="538" y="484"/>
                  </a:lnTo>
                  <a:lnTo>
                    <a:pt x="540" y="484"/>
                  </a:lnTo>
                  <a:lnTo>
                    <a:pt x="542" y="484"/>
                  </a:lnTo>
                  <a:lnTo>
                    <a:pt x="544" y="483"/>
                  </a:lnTo>
                  <a:lnTo>
                    <a:pt x="547" y="483"/>
                  </a:lnTo>
                  <a:lnTo>
                    <a:pt x="549" y="484"/>
                  </a:lnTo>
                  <a:lnTo>
                    <a:pt x="551" y="484"/>
                  </a:lnTo>
                  <a:lnTo>
                    <a:pt x="554" y="484"/>
                  </a:lnTo>
                  <a:lnTo>
                    <a:pt x="556" y="484"/>
                  </a:lnTo>
                  <a:lnTo>
                    <a:pt x="559" y="484"/>
                  </a:lnTo>
                  <a:lnTo>
                    <a:pt x="561" y="485"/>
                  </a:lnTo>
                  <a:lnTo>
                    <a:pt x="563" y="485"/>
                  </a:lnTo>
                  <a:lnTo>
                    <a:pt x="566" y="485"/>
                  </a:lnTo>
                  <a:lnTo>
                    <a:pt x="568" y="486"/>
                  </a:lnTo>
                  <a:lnTo>
                    <a:pt x="571" y="486"/>
                  </a:lnTo>
                  <a:lnTo>
                    <a:pt x="573" y="486"/>
                  </a:lnTo>
                  <a:lnTo>
                    <a:pt x="576" y="486"/>
                  </a:lnTo>
                  <a:lnTo>
                    <a:pt x="578" y="487"/>
                  </a:lnTo>
                  <a:lnTo>
                    <a:pt x="581" y="487"/>
                  </a:lnTo>
                  <a:lnTo>
                    <a:pt x="583" y="487"/>
                  </a:lnTo>
                  <a:lnTo>
                    <a:pt x="585" y="487"/>
                  </a:lnTo>
                  <a:lnTo>
                    <a:pt x="588" y="487"/>
                  </a:lnTo>
                  <a:lnTo>
                    <a:pt x="590" y="487"/>
                  </a:lnTo>
                  <a:lnTo>
                    <a:pt x="592" y="486"/>
                  </a:lnTo>
                  <a:lnTo>
                    <a:pt x="595" y="486"/>
                  </a:lnTo>
                  <a:lnTo>
                    <a:pt x="597" y="486"/>
                  </a:lnTo>
                  <a:lnTo>
                    <a:pt x="624" y="438"/>
                  </a:lnTo>
                  <a:close/>
                  <a:moveTo>
                    <a:pt x="115" y="224"/>
                  </a:moveTo>
                  <a:lnTo>
                    <a:pt x="120" y="214"/>
                  </a:lnTo>
                  <a:lnTo>
                    <a:pt x="126" y="204"/>
                  </a:lnTo>
                  <a:lnTo>
                    <a:pt x="132" y="195"/>
                  </a:lnTo>
                  <a:lnTo>
                    <a:pt x="139" y="185"/>
                  </a:lnTo>
                  <a:lnTo>
                    <a:pt x="146" y="177"/>
                  </a:lnTo>
                  <a:lnTo>
                    <a:pt x="153" y="168"/>
                  </a:lnTo>
                  <a:lnTo>
                    <a:pt x="162" y="159"/>
                  </a:lnTo>
                  <a:lnTo>
                    <a:pt x="170" y="152"/>
                  </a:lnTo>
                  <a:lnTo>
                    <a:pt x="178" y="145"/>
                  </a:lnTo>
                  <a:lnTo>
                    <a:pt x="187" y="138"/>
                  </a:lnTo>
                  <a:lnTo>
                    <a:pt x="196" y="132"/>
                  </a:lnTo>
                  <a:lnTo>
                    <a:pt x="205" y="126"/>
                  </a:lnTo>
                  <a:lnTo>
                    <a:pt x="215" y="121"/>
                  </a:lnTo>
                  <a:lnTo>
                    <a:pt x="225" y="116"/>
                  </a:lnTo>
                  <a:lnTo>
                    <a:pt x="235" y="111"/>
                  </a:lnTo>
                  <a:lnTo>
                    <a:pt x="245" y="108"/>
                  </a:lnTo>
                  <a:lnTo>
                    <a:pt x="255" y="104"/>
                  </a:lnTo>
                  <a:lnTo>
                    <a:pt x="265" y="101"/>
                  </a:lnTo>
                  <a:lnTo>
                    <a:pt x="276" y="99"/>
                  </a:lnTo>
                  <a:lnTo>
                    <a:pt x="287" y="97"/>
                  </a:lnTo>
                  <a:lnTo>
                    <a:pt x="298" y="96"/>
                  </a:lnTo>
                  <a:lnTo>
                    <a:pt x="309" y="95"/>
                  </a:lnTo>
                  <a:lnTo>
                    <a:pt x="320" y="94"/>
                  </a:lnTo>
                  <a:lnTo>
                    <a:pt x="331" y="95"/>
                  </a:lnTo>
                  <a:lnTo>
                    <a:pt x="342" y="95"/>
                  </a:lnTo>
                  <a:lnTo>
                    <a:pt x="353" y="97"/>
                  </a:lnTo>
                  <a:lnTo>
                    <a:pt x="364" y="99"/>
                  </a:lnTo>
                  <a:lnTo>
                    <a:pt x="375" y="101"/>
                  </a:lnTo>
                  <a:lnTo>
                    <a:pt x="386" y="104"/>
                  </a:lnTo>
                  <a:lnTo>
                    <a:pt x="396" y="108"/>
                  </a:lnTo>
                  <a:lnTo>
                    <a:pt x="407" y="112"/>
                  </a:lnTo>
                  <a:lnTo>
                    <a:pt x="418" y="116"/>
                  </a:lnTo>
                  <a:lnTo>
                    <a:pt x="428" y="122"/>
                  </a:lnTo>
                  <a:lnTo>
                    <a:pt x="438" y="127"/>
                  </a:lnTo>
                  <a:lnTo>
                    <a:pt x="448" y="134"/>
                  </a:lnTo>
                  <a:lnTo>
                    <a:pt x="457" y="140"/>
                  </a:lnTo>
                  <a:lnTo>
                    <a:pt x="466" y="147"/>
                  </a:lnTo>
                  <a:lnTo>
                    <a:pt x="474" y="155"/>
                  </a:lnTo>
                  <a:lnTo>
                    <a:pt x="483" y="162"/>
                  </a:lnTo>
                  <a:lnTo>
                    <a:pt x="490" y="171"/>
                  </a:lnTo>
                  <a:lnTo>
                    <a:pt x="497" y="180"/>
                  </a:lnTo>
                  <a:lnTo>
                    <a:pt x="504" y="188"/>
                  </a:lnTo>
                  <a:lnTo>
                    <a:pt x="510" y="198"/>
                  </a:lnTo>
                  <a:lnTo>
                    <a:pt x="516" y="207"/>
                  </a:lnTo>
                  <a:lnTo>
                    <a:pt x="521" y="216"/>
                  </a:lnTo>
                  <a:lnTo>
                    <a:pt x="526" y="226"/>
                  </a:lnTo>
                  <a:lnTo>
                    <a:pt x="530" y="236"/>
                  </a:lnTo>
                  <a:lnTo>
                    <a:pt x="534" y="246"/>
                  </a:lnTo>
                  <a:lnTo>
                    <a:pt x="537" y="256"/>
                  </a:lnTo>
                  <a:lnTo>
                    <a:pt x="540" y="267"/>
                  </a:lnTo>
                  <a:lnTo>
                    <a:pt x="543" y="277"/>
                  </a:lnTo>
                  <a:lnTo>
                    <a:pt x="544" y="288"/>
                  </a:lnTo>
                  <a:lnTo>
                    <a:pt x="546" y="299"/>
                  </a:lnTo>
                  <a:lnTo>
                    <a:pt x="547" y="310"/>
                  </a:lnTo>
                  <a:lnTo>
                    <a:pt x="547" y="321"/>
                  </a:lnTo>
                  <a:lnTo>
                    <a:pt x="547" y="332"/>
                  </a:lnTo>
                  <a:lnTo>
                    <a:pt x="546" y="343"/>
                  </a:lnTo>
                  <a:lnTo>
                    <a:pt x="545" y="354"/>
                  </a:lnTo>
                  <a:lnTo>
                    <a:pt x="543" y="365"/>
                  </a:lnTo>
                  <a:lnTo>
                    <a:pt x="540" y="376"/>
                  </a:lnTo>
                  <a:lnTo>
                    <a:pt x="537" y="387"/>
                  </a:lnTo>
                  <a:lnTo>
                    <a:pt x="534" y="397"/>
                  </a:lnTo>
                  <a:lnTo>
                    <a:pt x="530" y="408"/>
                  </a:lnTo>
                  <a:lnTo>
                    <a:pt x="525" y="419"/>
                  </a:lnTo>
                  <a:lnTo>
                    <a:pt x="520" y="429"/>
                  </a:lnTo>
                  <a:lnTo>
                    <a:pt x="514" y="439"/>
                  </a:lnTo>
                  <a:lnTo>
                    <a:pt x="508" y="449"/>
                  </a:lnTo>
                  <a:lnTo>
                    <a:pt x="501" y="458"/>
                  </a:lnTo>
                  <a:lnTo>
                    <a:pt x="494" y="467"/>
                  </a:lnTo>
                  <a:lnTo>
                    <a:pt x="487" y="475"/>
                  </a:lnTo>
                  <a:lnTo>
                    <a:pt x="478" y="483"/>
                  </a:lnTo>
                  <a:lnTo>
                    <a:pt x="470" y="491"/>
                  </a:lnTo>
                  <a:lnTo>
                    <a:pt x="462" y="499"/>
                  </a:lnTo>
                  <a:lnTo>
                    <a:pt x="453" y="505"/>
                  </a:lnTo>
                  <a:lnTo>
                    <a:pt x="444" y="511"/>
                  </a:lnTo>
                  <a:lnTo>
                    <a:pt x="435" y="517"/>
                  </a:lnTo>
                  <a:lnTo>
                    <a:pt x="425" y="522"/>
                  </a:lnTo>
                  <a:lnTo>
                    <a:pt x="416" y="527"/>
                  </a:lnTo>
                  <a:lnTo>
                    <a:pt x="406" y="532"/>
                  </a:lnTo>
                  <a:lnTo>
                    <a:pt x="396" y="536"/>
                  </a:lnTo>
                  <a:lnTo>
                    <a:pt x="385" y="539"/>
                  </a:lnTo>
                  <a:lnTo>
                    <a:pt x="375" y="542"/>
                  </a:lnTo>
                  <a:lnTo>
                    <a:pt x="364" y="544"/>
                  </a:lnTo>
                  <a:lnTo>
                    <a:pt x="353" y="546"/>
                  </a:lnTo>
                  <a:lnTo>
                    <a:pt x="343" y="548"/>
                  </a:lnTo>
                  <a:lnTo>
                    <a:pt x="332" y="548"/>
                  </a:lnTo>
                  <a:lnTo>
                    <a:pt x="321" y="549"/>
                  </a:lnTo>
                  <a:lnTo>
                    <a:pt x="310" y="549"/>
                  </a:lnTo>
                  <a:lnTo>
                    <a:pt x="299" y="548"/>
                  </a:lnTo>
                  <a:lnTo>
                    <a:pt x="288" y="547"/>
                  </a:lnTo>
                  <a:lnTo>
                    <a:pt x="277" y="545"/>
                  </a:lnTo>
                  <a:lnTo>
                    <a:pt x="266" y="542"/>
                  </a:lnTo>
                  <a:lnTo>
                    <a:pt x="255" y="539"/>
                  </a:lnTo>
                  <a:lnTo>
                    <a:pt x="244" y="536"/>
                  </a:lnTo>
                  <a:lnTo>
                    <a:pt x="234" y="532"/>
                  </a:lnTo>
                  <a:lnTo>
                    <a:pt x="223" y="527"/>
                  </a:lnTo>
                  <a:lnTo>
                    <a:pt x="213" y="522"/>
                  </a:lnTo>
                  <a:lnTo>
                    <a:pt x="203" y="516"/>
                  </a:lnTo>
                  <a:lnTo>
                    <a:pt x="193" y="510"/>
                  </a:lnTo>
                  <a:lnTo>
                    <a:pt x="184" y="503"/>
                  </a:lnTo>
                  <a:lnTo>
                    <a:pt x="175" y="496"/>
                  </a:lnTo>
                  <a:lnTo>
                    <a:pt x="167" y="489"/>
                  </a:lnTo>
                  <a:lnTo>
                    <a:pt x="158" y="480"/>
                  </a:lnTo>
                  <a:lnTo>
                    <a:pt x="150" y="472"/>
                  </a:lnTo>
                  <a:lnTo>
                    <a:pt x="143" y="464"/>
                  </a:lnTo>
                  <a:lnTo>
                    <a:pt x="136" y="455"/>
                  </a:lnTo>
                  <a:lnTo>
                    <a:pt x="130" y="446"/>
                  </a:lnTo>
                  <a:lnTo>
                    <a:pt x="124" y="436"/>
                  </a:lnTo>
                  <a:lnTo>
                    <a:pt x="119" y="427"/>
                  </a:lnTo>
                  <a:lnTo>
                    <a:pt x="114" y="417"/>
                  </a:lnTo>
                  <a:lnTo>
                    <a:pt x="110" y="407"/>
                  </a:lnTo>
                  <a:lnTo>
                    <a:pt x="106" y="397"/>
                  </a:lnTo>
                  <a:lnTo>
                    <a:pt x="103" y="387"/>
                  </a:lnTo>
                  <a:lnTo>
                    <a:pt x="100" y="376"/>
                  </a:lnTo>
                  <a:lnTo>
                    <a:pt x="98" y="366"/>
                  </a:lnTo>
                  <a:lnTo>
                    <a:pt x="96" y="355"/>
                  </a:lnTo>
                  <a:lnTo>
                    <a:pt x="94" y="344"/>
                  </a:lnTo>
                  <a:lnTo>
                    <a:pt x="94" y="333"/>
                  </a:lnTo>
                  <a:lnTo>
                    <a:pt x="93" y="322"/>
                  </a:lnTo>
                  <a:lnTo>
                    <a:pt x="93" y="311"/>
                  </a:lnTo>
                  <a:lnTo>
                    <a:pt x="94" y="300"/>
                  </a:lnTo>
                  <a:lnTo>
                    <a:pt x="95" y="289"/>
                  </a:lnTo>
                  <a:lnTo>
                    <a:pt x="97" y="278"/>
                  </a:lnTo>
                  <a:lnTo>
                    <a:pt x="100" y="267"/>
                  </a:lnTo>
                  <a:lnTo>
                    <a:pt x="103" y="256"/>
                  </a:lnTo>
                  <a:lnTo>
                    <a:pt x="106" y="246"/>
                  </a:lnTo>
                  <a:lnTo>
                    <a:pt x="110" y="235"/>
                  </a:lnTo>
                  <a:lnTo>
                    <a:pt x="115" y="224"/>
                  </a:lnTo>
                  <a:close/>
                </a:path>
              </a:pathLst>
            </a:custGeom>
            <a:solidFill>
              <a:srgbClr val="000000"/>
            </a:solidFill>
            <a:ln w="9525">
              <a:noFill/>
              <a:round/>
              <a:headEnd/>
              <a:tailEnd/>
            </a:ln>
          </p:spPr>
          <p:txBody>
            <a:bodyPr/>
            <a:lstStyle/>
            <a:p>
              <a:endParaRPr lang="en-US"/>
            </a:p>
          </p:txBody>
        </p:sp>
        <p:sp>
          <p:nvSpPr>
            <p:cNvPr id="61" name="Text Box 1106"/>
            <p:cNvSpPr txBox="1">
              <a:spLocks noChangeArrowheads="1"/>
            </p:cNvSpPr>
            <p:nvPr/>
          </p:nvSpPr>
          <p:spPr bwMode="auto">
            <a:xfrm>
              <a:off x="271" y="1431"/>
              <a:ext cx="399" cy="368"/>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3200" dirty="0">
                  <a:solidFill>
                    <a:srgbClr val="FFFFFF"/>
                  </a:solidFill>
                </a:rPr>
                <a:t>KBR</a:t>
              </a:r>
            </a:p>
          </p:txBody>
        </p:sp>
      </p:gr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par>
                          <p:cTn id="8" fill="hold">
                            <p:stCondLst>
                              <p:cond delay="500"/>
                            </p:stCondLst>
                            <p:childTnLst>
                              <p:par>
                                <p:cTn id="9" presetID="9" presetClass="entr" presetSubtype="0" fill="hold" nodeType="afterEffect">
                                  <p:stCondLst>
                                    <p:cond delay="200"/>
                                  </p:stCondLst>
                                  <p:childTnLst>
                                    <p:set>
                                      <p:cBhvr>
                                        <p:cTn id="10" dur="1" fill="hold">
                                          <p:stCondLst>
                                            <p:cond delay="0"/>
                                          </p:stCondLst>
                                        </p:cTn>
                                        <p:tgtEl>
                                          <p:spTgt spid="21"/>
                                        </p:tgtEl>
                                        <p:attrNameLst>
                                          <p:attrName>style.visibility</p:attrName>
                                        </p:attrNameLst>
                                      </p:cBhvr>
                                      <p:to>
                                        <p:strVal val="visible"/>
                                      </p:to>
                                    </p:set>
                                    <p:animEffect transition="in" filter="dissolve">
                                      <p:cBhvr>
                                        <p:cTn id="11" dur="500"/>
                                        <p:tgtEl>
                                          <p:spTgt spid="21"/>
                                        </p:tgtEl>
                                      </p:cBhvr>
                                    </p:animEffect>
                                  </p:childTnLst>
                                </p:cTn>
                              </p:par>
                            </p:childTnLst>
                          </p:cTn>
                        </p:par>
                        <p:par>
                          <p:cTn id="12" fill="hold">
                            <p:stCondLst>
                              <p:cond delay="1200"/>
                            </p:stCondLst>
                            <p:childTnLst>
                              <p:par>
                                <p:cTn id="13" presetID="9" presetClass="entr" presetSubtype="0" fill="hold" nodeType="afterEffect">
                                  <p:stCondLst>
                                    <p:cond delay="200"/>
                                  </p:stCondLst>
                                  <p:childTnLst>
                                    <p:set>
                                      <p:cBhvr>
                                        <p:cTn id="14" dur="1" fill="hold">
                                          <p:stCondLst>
                                            <p:cond delay="0"/>
                                          </p:stCondLst>
                                        </p:cTn>
                                        <p:tgtEl>
                                          <p:spTgt spid="24"/>
                                        </p:tgtEl>
                                        <p:attrNameLst>
                                          <p:attrName>style.visibility</p:attrName>
                                        </p:attrNameLst>
                                      </p:cBhvr>
                                      <p:to>
                                        <p:strVal val="visible"/>
                                      </p:to>
                                    </p:set>
                                    <p:animEffect transition="in" filter="dissolve">
                                      <p:cBhvr>
                                        <p:cTn id="15" dur="500"/>
                                        <p:tgtEl>
                                          <p:spTgt spid="24"/>
                                        </p:tgtEl>
                                      </p:cBhvr>
                                    </p:animEffect>
                                  </p:childTnLst>
                                </p:cTn>
                              </p:par>
                            </p:childTnLst>
                          </p:cTn>
                        </p:par>
                        <p:par>
                          <p:cTn id="16" fill="hold">
                            <p:stCondLst>
                              <p:cond delay="1900"/>
                            </p:stCondLst>
                            <p:childTnLst>
                              <p:par>
                                <p:cTn id="17" presetID="9" presetClass="entr" presetSubtype="0" fill="hold" nodeType="afterEffect">
                                  <p:stCondLst>
                                    <p:cond delay="200"/>
                                  </p:stCondLst>
                                  <p:childTnLst>
                                    <p:set>
                                      <p:cBhvr>
                                        <p:cTn id="18" dur="1" fill="hold">
                                          <p:stCondLst>
                                            <p:cond delay="0"/>
                                          </p:stCondLst>
                                        </p:cTn>
                                        <p:tgtEl>
                                          <p:spTgt spid="52"/>
                                        </p:tgtEl>
                                        <p:attrNameLst>
                                          <p:attrName>style.visibility</p:attrName>
                                        </p:attrNameLst>
                                      </p:cBhvr>
                                      <p:to>
                                        <p:strVal val="visible"/>
                                      </p:to>
                                    </p:set>
                                    <p:animEffect transition="in" filter="dissolve">
                                      <p:cBhvr>
                                        <p:cTn id="19" dur="500"/>
                                        <p:tgtEl>
                                          <p:spTgt spid="5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wipe(up)">
                                      <p:cBhvr>
                                        <p:cTn id="24" dur="500"/>
                                        <p:tgtEl>
                                          <p:spTgt spid="43"/>
                                        </p:tgtEl>
                                      </p:cBhvr>
                                    </p:animEffect>
                                  </p:childTnLst>
                                </p:cTn>
                              </p:par>
                            </p:childTnLst>
                          </p:cTn>
                        </p:par>
                        <p:par>
                          <p:cTn id="25" fill="hold">
                            <p:stCondLst>
                              <p:cond delay="500"/>
                            </p:stCondLst>
                            <p:childTnLst>
                              <p:par>
                                <p:cTn id="26" presetID="22" presetClass="entr" presetSubtype="1" fill="hold" nodeType="afterEffect">
                                  <p:stCondLst>
                                    <p:cond delay="200"/>
                                  </p:stCondLst>
                                  <p:childTnLst>
                                    <p:set>
                                      <p:cBhvr>
                                        <p:cTn id="27" dur="1" fill="hold">
                                          <p:stCondLst>
                                            <p:cond delay="0"/>
                                          </p:stCondLst>
                                        </p:cTn>
                                        <p:tgtEl>
                                          <p:spTgt spid="38"/>
                                        </p:tgtEl>
                                        <p:attrNameLst>
                                          <p:attrName>style.visibility</p:attrName>
                                        </p:attrNameLst>
                                      </p:cBhvr>
                                      <p:to>
                                        <p:strVal val="visible"/>
                                      </p:to>
                                    </p:set>
                                    <p:animEffect transition="in" filter="wipe(up)">
                                      <p:cBhvr>
                                        <p:cTn id="28" dur="500"/>
                                        <p:tgtEl>
                                          <p:spTgt spid="38"/>
                                        </p:tgtEl>
                                      </p:cBhvr>
                                    </p:animEffect>
                                  </p:childTnLst>
                                </p:cTn>
                              </p:par>
                            </p:childTnLst>
                          </p:cTn>
                        </p:par>
                        <p:par>
                          <p:cTn id="29" fill="hold">
                            <p:stCondLst>
                              <p:cond delay="1200"/>
                            </p:stCondLst>
                            <p:childTnLst>
                              <p:par>
                                <p:cTn id="30" presetID="22" presetClass="entr" presetSubtype="2" fill="hold" nodeType="afterEffect">
                                  <p:stCondLst>
                                    <p:cond delay="200"/>
                                  </p:stCondLst>
                                  <p:childTnLst>
                                    <p:set>
                                      <p:cBhvr>
                                        <p:cTn id="31" dur="1" fill="hold">
                                          <p:stCondLst>
                                            <p:cond delay="0"/>
                                          </p:stCondLst>
                                        </p:cTn>
                                        <p:tgtEl>
                                          <p:spTgt spid="27"/>
                                        </p:tgtEl>
                                        <p:attrNameLst>
                                          <p:attrName>style.visibility</p:attrName>
                                        </p:attrNameLst>
                                      </p:cBhvr>
                                      <p:to>
                                        <p:strVal val="visible"/>
                                      </p:to>
                                    </p:set>
                                    <p:animEffect transition="in" filter="wipe(right)">
                                      <p:cBhvr>
                                        <p:cTn id="32" dur="500"/>
                                        <p:tgtEl>
                                          <p:spTgt spid="27"/>
                                        </p:tgtEl>
                                      </p:cBhvr>
                                    </p:animEffect>
                                  </p:childTnLst>
                                </p:cTn>
                              </p:par>
                            </p:childTnLst>
                          </p:cTn>
                        </p:par>
                        <p:par>
                          <p:cTn id="33" fill="hold">
                            <p:stCondLst>
                              <p:cond delay="1900"/>
                            </p:stCondLst>
                            <p:childTnLst>
                              <p:par>
                                <p:cTn id="34" presetID="22" presetClass="entr" presetSubtype="1" fill="hold" nodeType="after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wipe(up)">
                                      <p:cBhvr>
                                        <p:cTn id="3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Tactical Pain Details</a:t>
            </a:r>
            <a:endParaRPr lang="en-US" dirty="0"/>
          </a:p>
        </p:txBody>
      </p:sp>
      <p:sp>
        <p:nvSpPr>
          <p:cNvPr id="8" name="Text Placeholder 7"/>
          <p:cNvSpPr>
            <a:spLocks noGrp="1"/>
          </p:cNvSpPr>
          <p:nvPr>
            <p:ph type="body" sz="quarter" idx="13"/>
          </p:nvPr>
        </p:nvSpPr>
        <p:spPr/>
        <p:txBody>
          <a:bodyPr/>
          <a:lstStyle/>
          <a:p>
            <a:r>
              <a:rPr lang="en-US" dirty="0" smtClean="0"/>
              <a:t>What is a Tactical Pain?</a:t>
            </a:r>
            <a:endParaRPr lang="en-US" dirty="0"/>
          </a:p>
        </p:txBody>
      </p:sp>
      <p:sp>
        <p:nvSpPr>
          <p:cNvPr id="6" name="Slide Number Placeholder 5"/>
          <p:cNvSpPr>
            <a:spLocks noGrp="1"/>
          </p:cNvSpPr>
          <p:nvPr>
            <p:ph type="sldNum" sz="quarter" idx="12"/>
          </p:nvPr>
        </p:nvSpPr>
        <p:spPr/>
        <p:txBody>
          <a:bodyPr/>
          <a:lstStyle/>
          <a:p>
            <a:fld id="{C51EAA63-D034-42AE-91FA-B13B9518C7BE}" type="slidenum">
              <a:rPr lang="en-US" smtClean="0"/>
              <a:pPr/>
              <a:t>5</a:t>
            </a:fld>
            <a:endParaRPr lang="en-US" dirty="0"/>
          </a:p>
        </p:txBody>
      </p:sp>
      <p:grpSp>
        <p:nvGrpSpPr>
          <p:cNvPr id="9" name="Group 1049"/>
          <p:cNvGrpSpPr>
            <a:grpSpLocks/>
          </p:cNvGrpSpPr>
          <p:nvPr/>
        </p:nvGrpSpPr>
        <p:grpSpPr bwMode="auto">
          <a:xfrm>
            <a:off x="9194384" y="872940"/>
            <a:ext cx="1358546" cy="1033464"/>
            <a:chOff x="2928" y="2949"/>
            <a:chExt cx="642" cy="651"/>
          </a:xfrm>
        </p:grpSpPr>
        <p:pic>
          <p:nvPicPr>
            <p:cNvPr id="10" name="Picture 1050" descr="FSA05467"/>
            <p:cNvPicPr>
              <a:picLocks noChangeAspect="1" noChangeArrowheads="1"/>
            </p:cNvPicPr>
            <p:nvPr/>
          </p:nvPicPr>
          <p:blipFill>
            <a:blip r:embed="rId3" cstate="print"/>
            <a:srcRect/>
            <a:stretch>
              <a:fillRect/>
            </a:stretch>
          </p:blipFill>
          <p:spPr bwMode="auto">
            <a:xfrm>
              <a:off x="2928" y="2949"/>
              <a:ext cx="642" cy="651"/>
            </a:xfrm>
            <a:prstGeom prst="rect">
              <a:avLst/>
            </a:prstGeom>
            <a:noFill/>
            <a:ln w="9525">
              <a:noFill/>
              <a:miter lim="800000"/>
              <a:headEnd/>
              <a:tailEnd/>
            </a:ln>
          </p:spPr>
        </p:pic>
        <p:sp>
          <p:nvSpPr>
            <p:cNvPr id="11" name="Text Box 1051"/>
            <p:cNvSpPr txBox="1">
              <a:spLocks noChangeArrowheads="1"/>
            </p:cNvSpPr>
            <p:nvPr/>
          </p:nvSpPr>
          <p:spPr bwMode="auto">
            <a:xfrm>
              <a:off x="3065" y="3025"/>
              <a:ext cx="379" cy="523"/>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4800" dirty="0">
                  <a:solidFill>
                    <a:srgbClr val="FFFFFF"/>
                  </a:solidFill>
                </a:rPr>
                <a:t>TP</a:t>
              </a:r>
            </a:p>
          </p:txBody>
        </p:sp>
      </p:grpSp>
      <p:sp>
        <p:nvSpPr>
          <p:cNvPr id="14" name="Content Placeholder 2"/>
          <p:cNvSpPr txBox="1">
            <a:spLocks/>
          </p:cNvSpPr>
          <p:nvPr/>
        </p:nvSpPr>
        <p:spPr>
          <a:xfrm>
            <a:off x="1072183" y="1844423"/>
            <a:ext cx="10969943" cy="1508377"/>
          </a:xfrm>
          <a:prstGeom prst="rect">
            <a:avLst/>
          </a:prstGeom>
        </p:spPr>
        <p:txBody>
          <a:bodyPr vert="horz" wrap="none" lIns="0" tIns="0" rIns="0" bIns="0" rtlCol="0" anchor="ctr"/>
          <a:lstStyle/>
          <a:p>
            <a:pPr marL="0" marR="0" lvl="0" indent="0"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lumMod val="60000"/>
                    <a:lumOff val="40000"/>
                  </a:schemeClr>
                </a:solidFill>
                <a:effectLst/>
                <a:uLnTx/>
                <a:uFillTx/>
                <a:latin typeface="+mn-lt"/>
                <a:ea typeface="+mn-ea"/>
                <a:cs typeface="+mn-cs"/>
              </a:rPr>
              <a:t>Task, Situation or Process</a:t>
            </a:r>
          </a:p>
          <a:p>
            <a:pPr marL="0" marR="0" lvl="0" indent="0"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lumMod val="60000"/>
                    <a:lumOff val="40000"/>
                  </a:schemeClr>
                </a:solidFill>
                <a:effectLst/>
                <a:uLnTx/>
                <a:uFillTx/>
                <a:latin typeface="+mn-lt"/>
                <a:ea typeface="+mn-ea"/>
                <a:cs typeface="+mn-cs"/>
              </a:rPr>
              <a:t>Broken =&gt; Needs to be Fixed</a:t>
            </a:r>
          </a:p>
          <a:p>
            <a:pPr marL="0" marR="0" lvl="0" indent="0"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lumMod val="60000"/>
                    <a:lumOff val="40000"/>
                  </a:schemeClr>
                </a:solidFill>
                <a:effectLst/>
                <a:uLnTx/>
                <a:uFillTx/>
                <a:latin typeface="+mn-lt"/>
                <a:ea typeface="+mn-ea"/>
                <a:cs typeface="+mn-cs"/>
              </a:rPr>
              <a:t>Doesn’t Existing / Active-Dormant =&gt; Needs to be Enabled</a:t>
            </a:r>
            <a:endParaRPr kumimoji="0" lang="en-US" sz="2800" b="0" i="0" u="none" strike="noStrike" kern="1200" cap="none" spc="0" normalizeH="0" baseline="0" noProof="0" dirty="0">
              <a:ln>
                <a:noFill/>
              </a:ln>
              <a:solidFill>
                <a:schemeClr val="tx1">
                  <a:lumMod val="60000"/>
                  <a:lumOff val="40000"/>
                </a:schemeClr>
              </a:solidFill>
              <a:effectLst/>
              <a:uLnTx/>
              <a:uFillTx/>
              <a:latin typeface="+mn-lt"/>
              <a:ea typeface="+mn-ea"/>
              <a:cs typeface="+mn-cs"/>
            </a:endParaRPr>
          </a:p>
        </p:txBody>
      </p:sp>
      <p:sp>
        <p:nvSpPr>
          <p:cNvPr id="15" name="Rectangle 1047"/>
          <p:cNvSpPr>
            <a:spLocks noChangeArrowheads="1"/>
          </p:cNvSpPr>
          <p:nvPr/>
        </p:nvSpPr>
        <p:spPr bwMode="auto">
          <a:xfrm>
            <a:off x="635145" y="3533038"/>
            <a:ext cx="4991303" cy="2639162"/>
          </a:xfrm>
          <a:prstGeom prst="rect">
            <a:avLst/>
          </a:prstGeom>
          <a:noFill/>
          <a:ln w="9525">
            <a:noFill/>
            <a:miter lim="800000"/>
            <a:headEnd/>
            <a:tailEnd/>
          </a:ln>
        </p:spPr>
        <p:txBody>
          <a:bodyPr wrap="square" lIns="121899" tIns="60949" rIns="121899" bIns="60949">
            <a:spAutoFit/>
          </a:bodyPr>
          <a:lstStyle/>
          <a:p>
            <a:pPr marL="634889" indent="-634889">
              <a:spcBef>
                <a:spcPct val="50000"/>
              </a:spcBef>
            </a:pPr>
            <a:r>
              <a:rPr lang="en-US" sz="2700" dirty="0">
                <a:solidFill>
                  <a:srgbClr val="1C1C1C"/>
                </a:solidFill>
              </a:rPr>
              <a:t>Task or </a:t>
            </a:r>
            <a:r>
              <a:rPr lang="en-US" sz="2700" dirty="0" smtClean="0">
                <a:solidFill>
                  <a:srgbClr val="1C1C1C"/>
                </a:solidFill>
              </a:rPr>
              <a:t>Situation</a:t>
            </a:r>
            <a:endParaRPr lang="en-US" sz="2700" dirty="0">
              <a:solidFill>
                <a:srgbClr val="1C1C1C"/>
              </a:solidFill>
            </a:endParaRPr>
          </a:p>
          <a:p>
            <a:pPr marL="634889" indent="-634889">
              <a:lnSpc>
                <a:spcPct val="130000"/>
              </a:lnSpc>
              <a:buFont typeface="Wingdings" pitchFamily="2" charset="2"/>
              <a:buChar char="q"/>
            </a:pPr>
            <a:r>
              <a:rPr lang="en-US" sz="2100" dirty="0">
                <a:solidFill>
                  <a:srgbClr val="000000"/>
                </a:solidFill>
                <a:latin typeface="Tahoma" pitchFamily="34" charset="0"/>
              </a:rPr>
              <a:t>Can’t </a:t>
            </a:r>
            <a:r>
              <a:rPr lang="en-US" sz="2100" dirty="0" smtClean="0">
                <a:solidFill>
                  <a:srgbClr val="000000"/>
                </a:solidFill>
                <a:latin typeface="Tahoma" pitchFamily="34" charset="0"/>
              </a:rPr>
              <a:t>Access Information Easily</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a:solidFill>
                  <a:srgbClr val="000000"/>
                </a:solidFill>
                <a:latin typeface="Tahoma" pitchFamily="34" charset="0"/>
              </a:rPr>
              <a:t>Poor </a:t>
            </a:r>
            <a:r>
              <a:rPr lang="en-US" sz="2100" dirty="0" smtClean="0">
                <a:solidFill>
                  <a:srgbClr val="000000"/>
                </a:solidFill>
                <a:latin typeface="Tahoma" pitchFamily="34" charset="0"/>
              </a:rPr>
              <a:t>System Security</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a:solidFill>
                  <a:srgbClr val="000000"/>
                </a:solidFill>
                <a:latin typeface="Tahoma" pitchFamily="34" charset="0"/>
              </a:rPr>
              <a:t>Several </a:t>
            </a:r>
            <a:r>
              <a:rPr lang="en-US" sz="2100" dirty="0" smtClean="0">
                <a:solidFill>
                  <a:srgbClr val="000000"/>
                </a:solidFill>
                <a:latin typeface="Tahoma" pitchFamily="34" charset="0"/>
              </a:rPr>
              <a:t>Disparate Systems</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a:solidFill>
                  <a:srgbClr val="000000"/>
                </a:solidFill>
                <a:latin typeface="Tahoma" pitchFamily="34" charset="0"/>
              </a:rPr>
              <a:t>Can’t </a:t>
            </a:r>
            <a:r>
              <a:rPr lang="en-US" sz="2100" dirty="0" smtClean="0">
                <a:solidFill>
                  <a:srgbClr val="000000"/>
                </a:solidFill>
                <a:latin typeface="Tahoma" pitchFamily="34" charset="0"/>
              </a:rPr>
              <a:t>Print </a:t>
            </a:r>
            <a:r>
              <a:rPr lang="en-US" sz="2100" dirty="0">
                <a:solidFill>
                  <a:srgbClr val="000000"/>
                </a:solidFill>
                <a:latin typeface="Tahoma" pitchFamily="34" charset="0"/>
              </a:rPr>
              <a:t>an </a:t>
            </a:r>
            <a:r>
              <a:rPr lang="en-US" sz="2100" dirty="0" smtClean="0">
                <a:solidFill>
                  <a:srgbClr val="000000"/>
                </a:solidFill>
                <a:latin typeface="Tahoma" pitchFamily="34" charset="0"/>
              </a:rPr>
              <a:t>Aged Debtors Report</a:t>
            </a:r>
            <a:endParaRPr lang="en-US" sz="2100" dirty="0">
              <a:solidFill>
                <a:srgbClr val="000000"/>
              </a:solidFill>
              <a:latin typeface="Tahoma" pitchFamily="34" charset="0"/>
            </a:endParaRPr>
          </a:p>
        </p:txBody>
      </p:sp>
      <p:sp>
        <p:nvSpPr>
          <p:cNvPr id="16" name="Rectangle 1048"/>
          <p:cNvSpPr>
            <a:spLocks noChangeArrowheads="1"/>
          </p:cNvSpPr>
          <p:nvPr/>
        </p:nvSpPr>
        <p:spPr bwMode="auto">
          <a:xfrm>
            <a:off x="6094412" y="3515319"/>
            <a:ext cx="5800584" cy="2639162"/>
          </a:xfrm>
          <a:prstGeom prst="rect">
            <a:avLst/>
          </a:prstGeom>
          <a:noFill/>
          <a:ln w="9525">
            <a:noFill/>
            <a:miter lim="800000"/>
            <a:headEnd/>
            <a:tailEnd/>
          </a:ln>
        </p:spPr>
        <p:txBody>
          <a:bodyPr wrap="square" lIns="121899" tIns="60949" rIns="121899" bIns="60949">
            <a:spAutoFit/>
          </a:bodyPr>
          <a:lstStyle/>
          <a:p>
            <a:pPr marL="634889" indent="-634889">
              <a:spcBef>
                <a:spcPct val="50000"/>
              </a:spcBef>
            </a:pPr>
            <a:r>
              <a:rPr lang="en-US" sz="2700" dirty="0">
                <a:solidFill>
                  <a:srgbClr val="1C1C1C"/>
                </a:solidFill>
              </a:rPr>
              <a:t>Process</a:t>
            </a:r>
          </a:p>
          <a:p>
            <a:pPr marL="634889" indent="-634889">
              <a:lnSpc>
                <a:spcPct val="130000"/>
              </a:lnSpc>
              <a:buFont typeface="Wingdings" pitchFamily="2" charset="2"/>
              <a:buChar char="q"/>
            </a:pPr>
            <a:r>
              <a:rPr lang="en-US" sz="2100" dirty="0">
                <a:solidFill>
                  <a:srgbClr val="000000"/>
                </a:solidFill>
                <a:latin typeface="Tahoma" pitchFamily="34" charset="0"/>
              </a:rPr>
              <a:t>Can’t </a:t>
            </a:r>
            <a:r>
              <a:rPr lang="en-US" sz="2100" dirty="0" smtClean="0">
                <a:solidFill>
                  <a:srgbClr val="000000"/>
                </a:solidFill>
                <a:latin typeface="Tahoma" pitchFamily="34" charset="0"/>
              </a:rPr>
              <a:t>Calculate Product Line Profitability</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a:solidFill>
                  <a:srgbClr val="000000"/>
                </a:solidFill>
                <a:latin typeface="Tahoma" pitchFamily="34" charset="0"/>
              </a:rPr>
              <a:t>Contracting </a:t>
            </a:r>
            <a:r>
              <a:rPr lang="en-US" sz="2100" dirty="0" smtClean="0">
                <a:solidFill>
                  <a:srgbClr val="000000"/>
                </a:solidFill>
                <a:latin typeface="Tahoma" pitchFamily="34" charset="0"/>
              </a:rPr>
              <a:t>Process </a:t>
            </a:r>
            <a:r>
              <a:rPr lang="en-US" sz="2100" dirty="0">
                <a:solidFill>
                  <a:srgbClr val="000000"/>
                </a:solidFill>
                <a:latin typeface="Tahoma" pitchFamily="34" charset="0"/>
              </a:rPr>
              <a:t>is </a:t>
            </a:r>
            <a:r>
              <a:rPr lang="en-US" sz="2100" dirty="0" smtClean="0">
                <a:solidFill>
                  <a:srgbClr val="000000"/>
                </a:solidFill>
                <a:latin typeface="Tahoma" pitchFamily="34" charset="0"/>
              </a:rPr>
              <a:t>Complex</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a:solidFill>
                  <a:srgbClr val="000000"/>
                </a:solidFill>
                <a:latin typeface="Tahoma" pitchFamily="34" charset="0"/>
              </a:rPr>
              <a:t>Sales </a:t>
            </a:r>
            <a:r>
              <a:rPr lang="en-US" sz="2100" dirty="0" smtClean="0">
                <a:solidFill>
                  <a:srgbClr val="000000"/>
                </a:solidFill>
                <a:latin typeface="Tahoma" pitchFamily="34" charset="0"/>
              </a:rPr>
              <a:t>Forecasting </a:t>
            </a:r>
            <a:r>
              <a:rPr lang="en-US" sz="2100" dirty="0">
                <a:solidFill>
                  <a:srgbClr val="000000"/>
                </a:solidFill>
                <a:latin typeface="Tahoma" pitchFamily="34" charset="0"/>
              </a:rPr>
              <a:t>is </a:t>
            </a:r>
            <a:r>
              <a:rPr lang="en-US" sz="2100" dirty="0" smtClean="0">
                <a:solidFill>
                  <a:srgbClr val="000000"/>
                </a:solidFill>
                <a:latin typeface="Tahoma" pitchFamily="34" charset="0"/>
              </a:rPr>
              <a:t>Inaccurate</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a:solidFill>
                  <a:srgbClr val="000000"/>
                </a:solidFill>
                <a:latin typeface="Tahoma" pitchFamily="34" charset="0"/>
              </a:rPr>
              <a:t>POs are </a:t>
            </a:r>
            <a:r>
              <a:rPr lang="en-US" sz="2100" dirty="0" smtClean="0">
                <a:solidFill>
                  <a:srgbClr val="000000"/>
                </a:solidFill>
                <a:latin typeface="Tahoma" pitchFamily="34" charset="0"/>
              </a:rPr>
              <a:t>Raised Manually </a:t>
            </a:r>
            <a:r>
              <a:rPr lang="en-US" sz="2100" dirty="0">
                <a:solidFill>
                  <a:srgbClr val="000000"/>
                </a:solidFill>
                <a:latin typeface="Tahoma" pitchFamily="34" charset="0"/>
              </a:rPr>
              <a:t>or </a:t>
            </a:r>
            <a:r>
              <a:rPr lang="en-US" sz="2100" dirty="0" smtClean="0">
                <a:solidFill>
                  <a:srgbClr val="000000"/>
                </a:solidFill>
                <a:latin typeface="Tahoma" pitchFamily="34" charset="0"/>
              </a:rPr>
              <a:t>Verbally </a:t>
            </a:r>
            <a:r>
              <a:rPr lang="en-US" sz="2100" dirty="0">
                <a:solidFill>
                  <a:srgbClr val="000000"/>
                </a:solidFill>
                <a:latin typeface="Tahoma" pitchFamily="34" charset="0"/>
              </a:rPr>
              <a:t>– </a:t>
            </a:r>
            <a:r>
              <a:rPr lang="en-US" sz="2100" dirty="0" smtClean="0">
                <a:solidFill>
                  <a:srgbClr val="000000"/>
                </a:solidFill>
                <a:latin typeface="Tahoma" pitchFamily="34" charset="0"/>
              </a:rPr>
              <a:t>There </a:t>
            </a:r>
            <a:r>
              <a:rPr lang="en-US" sz="2100" dirty="0">
                <a:solidFill>
                  <a:srgbClr val="000000"/>
                </a:solidFill>
                <a:latin typeface="Tahoma" pitchFamily="34" charset="0"/>
              </a:rPr>
              <a:t>is </a:t>
            </a:r>
            <a:r>
              <a:rPr lang="en-US" sz="2100" dirty="0" smtClean="0">
                <a:solidFill>
                  <a:srgbClr val="000000"/>
                </a:solidFill>
                <a:latin typeface="Tahoma" pitchFamily="34" charset="0"/>
              </a:rPr>
              <a:t>No System</a:t>
            </a:r>
            <a:endParaRPr lang="en-US" sz="2100" dirty="0">
              <a:solidFill>
                <a:srgbClr val="000000"/>
              </a:solidFill>
              <a:latin typeface="Tahoma"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39"/>
          <p:cNvSpPr>
            <a:spLocks noChangeArrowheads="1"/>
          </p:cNvSpPr>
          <p:nvPr/>
        </p:nvSpPr>
        <p:spPr bwMode="auto">
          <a:xfrm>
            <a:off x="2664191" y="1410475"/>
            <a:ext cx="246243" cy="400087"/>
          </a:xfrm>
          <a:prstGeom prst="rect">
            <a:avLst/>
          </a:prstGeom>
          <a:noFill/>
          <a:ln w="38100">
            <a:solidFill>
              <a:schemeClr val="bg1"/>
            </a:solidFill>
            <a:miter lim="800000"/>
            <a:headEnd/>
            <a:tailEnd/>
          </a:ln>
        </p:spPr>
        <p:txBody>
          <a:bodyPr wrap="none" lIns="121899" tIns="60949" rIns="121899" bIns="60949" anchor="ctr">
            <a:spAutoFit/>
          </a:bodyPr>
          <a:lstStyle/>
          <a:p>
            <a:endParaRPr lang="en-US"/>
          </a:p>
        </p:txBody>
      </p:sp>
      <p:sp>
        <p:nvSpPr>
          <p:cNvPr id="7172" name="Rectangle 1046"/>
          <p:cNvSpPr>
            <a:spLocks noChangeArrowheads="1"/>
          </p:cNvSpPr>
          <p:nvPr/>
        </p:nvSpPr>
        <p:spPr bwMode="auto">
          <a:xfrm>
            <a:off x="7528234" y="4386934"/>
            <a:ext cx="1828324" cy="1035967"/>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a:solidFill>
                  <a:srgbClr val="000000"/>
                </a:solidFill>
                <a:latin typeface="Tahoma" pitchFamily="34" charset="0"/>
              </a:rPr>
              <a:t>Inventory </a:t>
            </a:r>
            <a:r>
              <a:rPr lang="en-US" sz="1700" dirty="0" smtClean="0">
                <a:solidFill>
                  <a:srgbClr val="000000"/>
                </a:solidFill>
                <a:latin typeface="Tahoma" pitchFamily="34" charset="0"/>
              </a:rPr>
              <a:t>Levels</a:t>
            </a:r>
            <a:endParaRPr lang="en-US" sz="1700" dirty="0">
              <a:solidFill>
                <a:srgbClr val="000000"/>
              </a:solidFill>
              <a:latin typeface="Tahoma" pitchFamily="34" charset="0"/>
            </a:endParaRPr>
          </a:p>
          <a:p>
            <a:pPr algn="ctr" eaLnBrk="1" hangingPunct="1"/>
            <a:r>
              <a:rPr lang="en-US" sz="1700" dirty="0" smtClean="0">
                <a:solidFill>
                  <a:srgbClr val="000000"/>
                </a:solidFill>
                <a:latin typeface="Tahoma" pitchFamily="34" charset="0"/>
              </a:rPr>
              <a:t>Inaccurate</a:t>
            </a:r>
            <a:endParaRPr lang="en-US" sz="1300" dirty="0">
              <a:solidFill>
                <a:srgbClr val="000000"/>
              </a:solidFill>
              <a:latin typeface="Tahoma" pitchFamily="34" charset="0"/>
            </a:endParaRPr>
          </a:p>
        </p:txBody>
      </p:sp>
      <p:sp>
        <p:nvSpPr>
          <p:cNvPr id="7173" name="Text Box 1047"/>
          <p:cNvSpPr txBox="1">
            <a:spLocks noChangeArrowheads="1"/>
          </p:cNvSpPr>
          <p:nvPr/>
        </p:nvSpPr>
        <p:spPr bwMode="auto">
          <a:xfrm>
            <a:off x="8958730" y="4299457"/>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7174" name="Rectangle 1048"/>
          <p:cNvSpPr>
            <a:spLocks noChangeArrowheads="1"/>
          </p:cNvSpPr>
          <p:nvPr/>
        </p:nvSpPr>
        <p:spPr bwMode="auto">
          <a:xfrm>
            <a:off x="9985043" y="4375152"/>
            <a:ext cx="1828324" cy="1035048"/>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a:solidFill>
                  <a:srgbClr val="000000"/>
                </a:solidFill>
                <a:latin typeface="Tahoma" pitchFamily="34" charset="0"/>
              </a:rPr>
              <a:t>Suppliers </a:t>
            </a:r>
            <a:r>
              <a:rPr lang="en-US" sz="1700" dirty="0" smtClean="0">
                <a:solidFill>
                  <a:srgbClr val="000000"/>
                </a:solidFill>
                <a:latin typeface="Tahoma" pitchFamily="34" charset="0"/>
              </a:rPr>
              <a:t>Often</a:t>
            </a:r>
            <a:endParaRPr lang="en-US" sz="1700" dirty="0">
              <a:solidFill>
                <a:srgbClr val="000000"/>
              </a:solidFill>
              <a:latin typeface="Tahoma" pitchFamily="34" charset="0"/>
            </a:endParaRPr>
          </a:p>
          <a:p>
            <a:pPr algn="ctr" eaLnBrk="1" hangingPunct="1"/>
            <a:r>
              <a:rPr lang="en-US" sz="1700" dirty="0">
                <a:solidFill>
                  <a:srgbClr val="000000"/>
                </a:solidFill>
                <a:latin typeface="Tahoma" pitchFamily="34" charset="0"/>
              </a:rPr>
              <a:t> </a:t>
            </a:r>
            <a:r>
              <a:rPr lang="en-US" sz="1700" dirty="0" smtClean="0">
                <a:solidFill>
                  <a:srgbClr val="000000"/>
                </a:solidFill>
                <a:latin typeface="Tahoma" pitchFamily="34" charset="0"/>
              </a:rPr>
              <a:t>Deliver Late</a:t>
            </a:r>
            <a:endParaRPr lang="en-US" sz="1700" dirty="0">
              <a:solidFill>
                <a:srgbClr val="000000"/>
              </a:solidFill>
              <a:latin typeface="Tahoma" pitchFamily="34" charset="0"/>
            </a:endParaRPr>
          </a:p>
        </p:txBody>
      </p:sp>
      <p:sp>
        <p:nvSpPr>
          <p:cNvPr id="7175" name="Text Box 1049"/>
          <p:cNvSpPr txBox="1">
            <a:spLocks noChangeArrowheads="1"/>
          </p:cNvSpPr>
          <p:nvPr/>
        </p:nvSpPr>
        <p:spPr bwMode="auto">
          <a:xfrm>
            <a:off x="11402843" y="4293107"/>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7176" name="Rectangle 1050"/>
          <p:cNvSpPr>
            <a:spLocks noChangeArrowheads="1"/>
          </p:cNvSpPr>
          <p:nvPr/>
        </p:nvSpPr>
        <p:spPr bwMode="auto">
          <a:xfrm>
            <a:off x="7528234" y="2863852"/>
            <a:ext cx="1828324" cy="1040307"/>
          </a:xfrm>
          <a:prstGeom prst="rect">
            <a:avLst/>
          </a:prstGeom>
          <a:solidFill>
            <a:srgbClr val="FFFF66"/>
          </a:solidFill>
          <a:ln w="9525">
            <a:solidFill>
              <a:srgbClr val="204658"/>
            </a:solidFill>
            <a:miter lim="800000"/>
            <a:headEnd/>
            <a:tailEnd/>
          </a:ln>
        </p:spPr>
        <p:txBody>
          <a:bodyPr wrap="none" lIns="121888" tIns="60944" rIns="121888" bIns="60944" anchor="ctr"/>
          <a:lstStyle/>
          <a:p>
            <a:pPr eaLnBrk="1" hangingPunct="1"/>
            <a:endParaRPr lang="en-US" sz="1700" dirty="0">
              <a:solidFill>
                <a:srgbClr val="000000"/>
              </a:solidFill>
              <a:latin typeface="Tahoma" pitchFamily="34" charset="0"/>
            </a:endParaRPr>
          </a:p>
        </p:txBody>
      </p:sp>
      <p:sp>
        <p:nvSpPr>
          <p:cNvPr id="7177" name="Text Box 1051"/>
          <p:cNvSpPr txBox="1">
            <a:spLocks noChangeArrowheads="1"/>
          </p:cNvSpPr>
          <p:nvPr/>
        </p:nvSpPr>
        <p:spPr bwMode="auto">
          <a:xfrm>
            <a:off x="8956611" y="2802848"/>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7178" name="Text Box 1052"/>
          <p:cNvSpPr txBox="1">
            <a:spLocks noChangeArrowheads="1"/>
          </p:cNvSpPr>
          <p:nvPr/>
        </p:nvSpPr>
        <p:spPr bwMode="auto">
          <a:xfrm>
            <a:off x="7650969" y="3677145"/>
            <a:ext cx="246243" cy="415476"/>
          </a:xfrm>
          <a:prstGeom prst="rect">
            <a:avLst/>
          </a:prstGeom>
          <a:noFill/>
          <a:ln w="9525">
            <a:noFill/>
            <a:miter lim="800000"/>
            <a:headEnd/>
            <a:tailEnd/>
          </a:ln>
        </p:spPr>
        <p:txBody>
          <a:bodyPr wrap="none" lIns="121899" tIns="60949" rIns="121899" bIns="60949">
            <a:spAutoFit/>
          </a:bodyPr>
          <a:lstStyle/>
          <a:p>
            <a:pPr eaLnBrk="1" hangingPunct="1"/>
            <a:endParaRPr lang="fr-FR" sz="1900" dirty="0">
              <a:solidFill>
                <a:srgbClr val="000000"/>
              </a:solidFill>
              <a:latin typeface="Tahoma" pitchFamily="34" charset="0"/>
            </a:endParaRPr>
          </a:p>
        </p:txBody>
      </p:sp>
      <p:sp>
        <p:nvSpPr>
          <p:cNvPr id="7179" name="Rectangle 1053"/>
          <p:cNvSpPr>
            <a:spLocks noChangeArrowheads="1"/>
          </p:cNvSpPr>
          <p:nvPr/>
        </p:nvSpPr>
        <p:spPr bwMode="auto">
          <a:xfrm>
            <a:off x="1591651" y="2889251"/>
            <a:ext cx="1828324" cy="1011732"/>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a:solidFill>
                  <a:srgbClr val="000000"/>
                </a:solidFill>
                <a:latin typeface="Tahoma" pitchFamily="34" charset="0"/>
              </a:rPr>
              <a:t> </a:t>
            </a:r>
            <a:r>
              <a:rPr lang="en-US" sz="1700" dirty="0" smtClean="0">
                <a:solidFill>
                  <a:srgbClr val="000000"/>
                </a:solidFill>
                <a:latin typeface="Tahoma" pitchFamily="34" charset="0"/>
              </a:rPr>
              <a:t/>
            </a:r>
            <a:br>
              <a:rPr lang="en-US" sz="1700" dirty="0" smtClean="0">
                <a:solidFill>
                  <a:srgbClr val="000000"/>
                </a:solidFill>
                <a:latin typeface="Tahoma" pitchFamily="34" charset="0"/>
              </a:rPr>
            </a:br>
            <a:r>
              <a:rPr lang="en-US" sz="1700" dirty="0" smtClean="0">
                <a:solidFill>
                  <a:srgbClr val="000000"/>
                </a:solidFill>
                <a:latin typeface="Tahoma" pitchFamily="34" charset="0"/>
              </a:rPr>
              <a:t>Month End Takes</a:t>
            </a:r>
            <a:endParaRPr lang="en-US" sz="1700" dirty="0">
              <a:solidFill>
                <a:srgbClr val="000000"/>
              </a:solidFill>
              <a:latin typeface="Tahoma" pitchFamily="34" charset="0"/>
            </a:endParaRPr>
          </a:p>
          <a:p>
            <a:pPr algn="ctr" eaLnBrk="1" hangingPunct="1"/>
            <a:r>
              <a:rPr lang="en-US" sz="1700" dirty="0">
                <a:solidFill>
                  <a:srgbClr val="000000"/>
                </a:solidFill>
                <a:latin typeface="Tahoma" pitchFamily="34" charset="0"/>
              </a:rPr>
              <a:t>3 </a:t>
            </a:r>
            <a:r>
              <a:rPr lang="en-US" sz="1700" dirty="0" smtClean="0">
                <a:solidFill>
                  <a:srgbClr val="000000"/>
                </a:solidFill>
                <a:latin typeface="Tahoma" pitchFamily="34" charset="0"/>
              </a:rPr>
              <a:t>Weeks</a:t>
            </a:r>
            <a:endParaRPr lang="en-US" sz="1700" dirty="0">
              <a:solidFill>
                <a:srgbClr val="000000"/>
              </a:solidFill>
              <a:latin typeface="Tahoma" pitchFamily="34" charset="0"/>
            </a:endParaRPr>
          </a:p>
          <a:p>
            <a:pPr eaLnBrk="1" hangingPunct="1"/>
            <a:endParaRPr lang="en-US" sz="1700" dirty="0">
              <a:solidFill>
                <a:srgbClr val="000000"/>
              </a:solidFill>
              <a:latin typeface="Tahoma" pitchFamily="34" charset="0"/>
            </a:endParaRPr>
          </a:p>
        </p:txBody>
      </p:sp>
      <p:sp>
        <p:nvSpPr>
          <p:cNvPr id="7180" name="Text Box 1054"/>
          <p:cNvSpPr txBox="1">
            <a:spLocks noChangeArrowheads="1"/>
          </p:cNvSpPr>
          <p:nvPr/>
        </p:nvSpPr>
        <p:spPr bwMode="auto">
          <a:xfrm>
            <a:off x="3020028" y="2817301"/>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7181" name="Rectangle 1055"/>
          <p:cNvSpPr>
            <a:spLocks noChangeArrowheads="1"/>
          </p:cNvSpPr>
          <p:nvPr/>
        </p:nvSpPr>
        <p:spPr bwMode="auto">
          <a:xfrm>
            <a:off x="2777554" y="4356100"/>
            <a:ext cx="1828324" cy="1066800"/>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a:solidFill>
                  <a:srgbClr val="000000"/>
                </a:solidFill>
                <a:latin typeface="Tahoma" pitchFamily="34" charset="0"/>
              </a:rPr>
              <a:t>Disparate</a:t>
            </a:r>
          </a:p>
          <a:p>
            <a:pPr algn="ctr" eaLnBrk="1" hangingPunct="1"/>
            <a:r>
              <a:rPr lang="en-US" sz="1700" dirty="0">
                <a:solidFill>
                  <a:srgbClr val="000000"/>
                </a:solidFill>
                <a:latin typeface="Tahoma" pitchFamily="34" charset="0"/>
              </a:rPr>
              <a:t>Systems</a:t>
            </a:r>
          </a:p>
        </p:txBody>
      </p:sp>
      <p:sp>
        <p:nvSpPr>
          <p:cNvPr id="7182" name="Text Box 1056"/>
          <p:cNvSpPr txBox="1">
            <a:spLocks noChangeArrowheads="1"/>
          </p:cNvSpPr>
          <p:nvPr/>
        </p:nvSpPr>
        <p:spPr bwMode="auto">
          <a:xfrm>
            <a:off x="4191119" y="4279427"/>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7183" name="Rectangle 1057"/>
          <p:cNvSpPr>
            <a:spLocks noChangeArrowheads="1"/>
          </p:cNvSpPr>
          <p:nvPr/>
        </p:nvSpPr>
        <p:spPr bwMode="auto">
          <a:xfrm>
            <a:off x="363067" y="4349752"/>
            <a:ext cx="1828324" cy="1060449"/>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smtClean="0">
                <a:solidFill>
                  <a:srgbClr val="000000"/>
                </a:solidFill>
                <a:latin typeface="Tahoma" pitchFamily="34" charset="0"/>
              </a:rPr>
              <a:t>Reporting from  </a:t>
            </a:r>
            <a:br>
              <a:rPr lang="en-US" sz="1700" dirty="0" smtClean="0">
                <a:solidFill>
                  <a:srgbClr val="000000"/>
                </a:solidFill>
                <a:latin typeface="Tahoma" pitchFamily="34" charset="0"/>
              </a:rPr>
            </a:br>
            <a:r>
              <a:rPr lang="en-US" sz="1700" dirty="0" smtClean="0">
                <a:solidFill>
                  <a:srgbClr val="000000"/>
                </a:solidFill>
                <a:latin typeface="Tahoma" pitchFamily="34" charset="0"/>
              </a:rPr>
              <a:t>Excel (manual </a:t>
            </a:r>
            <a:br>
              <a:rPr lang="en-US" sz="1700" dirty="0" smtClean="0">
                <a:solidFill>
                  <a:srgbClr val="000000"/>
                </a:solidFill>
                <a:latin typeface="Tahoma" pitchFamily="34" charset="0"/>
              </a:rPr>
            </a:br>
            <a:r>
              <a:rPr lang="en-US" sz="1700" dirty="0" smtClean="0">
                <a:solidFill>
                  <a:srgbClr val="000000"/>
                </a:solidFill>
                <a:latin typeface="Tahoma" pitchFamily="34" charset="0"/>
              </a:rPr>
              <a:t>keying)</a:t>
            </a:r>
            <a:endParaRPr lang="en-US" sz="1700" dirty="0">
              <a:solidFill>
                <a:srgbClr val="000000"/>
              </a:solidFill>
              <a:latin typeface="Tahoma" pitchFamily="34" charset="0"/>
            </a:endParaRPr>
          </a:p>
        </p:txBody>
      </p:sp>
      <p:sp>
        <p:nvSpPr>
          <p:cNvPr id="7184" name="Text Box 1058"/>
          <p:cNvSpPr txBox="1">
            <a:spLocks noChangeArrowheads="1"/>
          </p:cNvSpPr>
          <p:nvPr/>
        </p:nvSpPr>
        <p:spPr bwMode="auto">
          <a:xfrm>
            <a:off x="1793561" y="4261353"/>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cxnSp>
        <p:nvCxnSpPr>
          <p:cNvPr id="7185" name="AutoShape 1059"/>
          <p:cNvCxnSpPr>
            <a:cxnSpLocks noChangeShapeType="1"/>
            <a:stCxn id="7183" idx="0"/>
            <a:endCxn id="7179" idx="2"/>
          </p:cNvCxnSpPr>
          <p:nvPr/>
        </p:nvCxnSpPr>
        <p:spPr bwMode="auto">
          <a:xfrm rot="5400000" flipH="1" flipV="1">
            <a:off x="1667137" y="3511075"/>
            <a:ext cx="448768" cy="1228584"/>
          </a:xfrm>
          <a:prstGeom prst="bentConnector3">
            <a:avLst>
              <a:gd name="adj1" fmla="val 50000"/>
            </a:avLst>
          </a:prstGeom>
          <a:noFill/>
          <a:ln w="9525">
            <a:solidFill>
              <a:srgbClr val="000000"/>
            </a:solidFill>
            <a:miter lim="800000"/>
            <a:headEnd/>
            <a:tailEnd type="triangle" w="med" len="med"/>
          </a:ln>
        </p:spPr>
      </p:cxnSp>
      <p:cxnSp>
        <p:nvCxnSpPr>
          <p:cNvPr id="7186" name="AutoShape 1060"/>
          <p:cNvCxnSpPr>
            <a:cxnSpLocks noChangeShapeType="1"/>
            <a:stCxn id="7181" idx="0"/>
            <a:endCxn id="7179" idx="2"/>
          </p:cNvCxnSpPr>
          <p:nvPr/>
        </p:nvCxnSpPr>
        <p:spPr bwMode="auto">
          <a:xfrm rot="16200000" flipV="1">
            <a:off x="2871206" y="3535590"/>
            <a:ext cx="455117" cy="1185903"/>
          </a:xfrm>
          <a:prstGeom prst="bentConnector3">
            <a:avLst>
              <a:gd name="adj1" fmla="val 50000"/>
            </a:avLst>
          </a:prstGeom>
          <a:noFill/>
          <a:ln w="9525">
            <a:solidFill>
              <a:srgbClr val="000000"/>
            </a:solidFill>
            <a:miter lim="800000"/>
            <a:headEnd/>
            <a:tailEnd type="triangle" w="med" len="med"/>
          </a:ln>
        </p:spPr>
      </p:cxnSp>
      <p:cxnSp>
        <p:nvCxnSpPr>
          <p:cNvPr id="7187" name="AutoShape 1061"/>
          <p:cNvCxnSpPr>
            <a:cxnSpLocks noChangeShapeType="1"/>
            <a:stCxn id="7192" idx="0"/>
            <a:endCxn id="7176" idx="2"/>
          </p:cNvCxnSpPr>
          <p:nvPr/>
        </p:nvCxnSpPr>
        <p:spPr bwMode="auto">
          <a:xfrm rot="5400000" flipH="1" flipV="1">
            <a:off x="7029890" y="2963544"/>
            <a:ext cx="471891" cy="2353120"/>
          </a:xfrm>
          <a:prstGeom prst="bentConnector3">
            <a:avLst>
              <a:gd name="adj1" fmla="val 50000"/>
            </a:avLst>
          </a:prstGeom>
          <a:noFill/>
          <a:ln w="9525">
            <a:solidFill>
              <a:srgbClr val="000000"/>
            </a:solidFill>
            <a:miter lim="800000"/>
            <a:headEnd/>
            <a:tailEnd type="triangle" w="med" len="med"/>
          </a:ln>
        </p:spPr>
      </p:cxnSp>
      <p:cxnSp>
        <p:nvCxnSpPr>
          <p:cNvPr id="7188" name="AutoShape 1062"/>
          <p:cNvCxnSpPr>
            <a:cxnSpLocks noChangeShapeType="1"/>
            <a:stCxn id="7174" idx="0"/>
            <a:endCxn id="7176" idx="2"/>
          </p:cNvCxnSpPr>
          <p:nvPr/>
        </p:nvCxnSpPr>
        <p:spPr bwMode="auto">
          <a:xfrm rot="16200000" flipV="1">
            <a:off x="9435306" y="2911251"/>
            <a:ext cx="470993" cy="2456809"/>
          </a:xfrm>
          <a:prstGeom prst="bentConnector3">
            <a:avLst>
              <a:gd name="adj1" fmla="val 50000"/>
            </a:avLst>
          </a:prstGeom>
          <a:noFill/>
          <a:ln w="9525">
            <a:solidFill>
              <a:srgbClr val="000000"/>
            </a:solidFill>
            <a:miter lim="800000"/>
            <a:headEnd/>
            <a:tailEnd type="triangle" w="med" len="med"/>
          </a:ln>
        </p:spPr>
      </p:cxnSp>
      <p:cxnSp>
        <p:nvCxnSpPr>
          <p:cNvPr id="7189" name="AutoShape 1063"/>
          <p:cNvCxnSpPr>
            <a:cxnSpLocks noChangeShapeType="1"/>
            <a:stCxn id="7172" idx="0"/>
            <a:endCxn id="7176" idx="2"/>
          </p:cNvCxnSpPr>
          <p:nvPr/>
        </p:nvCxnSpPr>
        <p:spPr bwMode="auto">
          <a:xfrm flipV="1">
            <a:off x="8442396" y="3904159"/>
            <a:ext cx="0" cy="482775"/>
          </a:xfrm>
          <a:prstGeom prst="straightConnector1">
            <a:avLst/>
          </a:prstGeom>
          <a:noFill/>
          <a:ln w="9525">
            <a:solidFill>
              <a:srgbClr val="000000"/>
            </a:solidFill>
            <a:round/>
            <a:headEnd/>
            <a:tailEnd type="triangle" w="med" len="med"/>
          </a:ln>
        </p:spPr>
      </p:cxnSp>
      <p:cxnSp>
        <p:nvCxnSpPr>
          <p:cNvPr id="7190" name="AutoShape 1064"/>
          <p:cNvCxnSpPr>
            <a:cxnSpLocks noChangeShapeType="1"/>
          </p:cNvCxnSpPr>
          <p:nvPr/>
        </p:nvCxnSpPr>
        <p:spPr bwMode="auto">
          <a:xfrm flipV="1">
            <a:off x="4624925" y="3723183"/>
            <a:ext cx="2922355" cy="1192212"/>
          </a:xfrm>
          <a:prstGeom prst="curvedConnector3">
            <a:avLst>
              <a:gd name="adj1" fmla="val 8181"/>
            </a:avLst>
          </a:prstGeom>
          <a:noFill/>
          <a:ln w="9525">
            <a:solidFill>
              <a:srgbClr val="000000"/>
            </a:solidFill>
            <a:round/>
            <a:headEnd/>
            <a:tailEnd type="triangle" w="med" len="med"/>
          </a:ln>
        </p:spPr>
      </p:cxnSp>
      <p:cxnSp>
        <p:nvCxnSpPr>
          <p:cNvPr id="7191" name="AutoShape 1065"/>
          <p:cNvCxnSpPr>
            <a:cxnSpLocks noChangeShapeType="1"/>
            <a:endCxn id="7179" idx="3"/>
          </p:cNvCxnSpPr>
          <p:nvPr/>
        </p:nvCxnSpPr>
        <p:spPr bwMode="auto">
          <a:xfrm rot="10800000">
            <a:off x="3419977" y="3395120"/>
            <a:ext cx="1734888" cy="1062585"/>
          </a:xfrm>
          <a:prstGeom prst="curvedConnector3">
            <a:avLst>
              <a:gd name="adj1" fmla="val 50000"/>
            </a:avLst>
          </a:prstGeom>
          <a:noFill/>
          <a:ln w="9525">
            <a:solidFill>
              <a:srgbClr val="000000"/>
            </a:solidFill>
            <a:prstDash val="lgDash"/>
            <a:round/>
            <a:headEnd/>
            <a:tailEnd type="triangle" w="med" len="med"/>
          </a:ln>
        </p:spPr>
      </p:cxnSp>
      <p:sp>
        <p:nvSpPr>
          <p:cNvPr id="7192" name="Rectangle 1066"/>
          <p:cNvSpPr>
            <a:spLocks noChangeArrowheads="1"/>
          </p:cNvSpPr>
          <p:nvPr/>
        </p:nvSpPr>
        <p:spPr bwMode="auto">
          <a:xfrm>
            <a:off x="5175113" y="4376049"/>
            <a:ext cx="1828324" cy="1046851"/>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a:solidFill>
                  <a:srgbClr val="000000"/>
                </a:solidFill>
                <a:latin typeface="Tahoma" pitchFamily="34" charset="0"/>
              </a:rPr>
              <a:t>No </a:t>
            </a:r>
            <a:r>
              <a:rPr lang="en-US" sz="1700" dirty="0" smtClean="0">
                <a:solidFill>
                  <a:srgbClr val="000000"/>
                </a:solidFill>
                <a:latin typeface="Tahoma" pitchFamily="34" charset="0"/>
              </a:rPr>
              <a:t>Time/Skills to</a:t>
            </a:r>
            <a:br>
              <a:rPr lang="en-US" sz="1700" dirty="0" smtClean="0">
                <a:solidFill>
                  <a:srgbClr val="000000"/>
                </a:solidFill>
                <a:latin typeface="Tahoma" pitchFamily="34" charset="0"/>
              </a:rPr>
            </a:br>
            <a:r>
              <a:rPr lang="en-US" sz="1700" dirty="0" smtClean="0">
                <a:solidFill>
                  <a:srgbClr val="000000"/>
                </a:solidFill>
                <a:latin typeface="Tahoma" pitchFamily="34" charset="0"/>
              </a:rPr>
              <a:t>Install New </a:t>
            </a:r>
            <a:br>
              <a:rPr lang="en-US" sz="1700" dirty="0" smtClean="0">
                <a:solidFill>
                  <a:srgbClr val="000000"/>
                </a:solidFill>
                <a:latin typeface="Tahoma" pitchFamily="34" charset="0"/>
              </a:rPr>
            </a:br>
            <a:r>
              <a:rPr lang="en-US" sz="1700" dirty="0" smtClean="0">
                <a:solidFill>
                  <a:srgbClr val="000000"/>
                </a:solidFill>
                <a:latin typeface="Tahoma" pitchFamily="34" charset="0"/>
              </a:rPr>
              <a:t>System</a:t>
            </a:r>
            <a:endParaRPr lang="en-US" sz="1700" dirty="0">
              <a:solidFill>
                <a:srgbClr val="000000"/>
              </a:solidFill>
              <a:latin typeface="Tahoma" pitchFamily="34" charset="0"/>
            </a:endParaRPr>
          </a:p>
        </p:txBody>
      </p:sp>
      <p:sp>
        <p:nvSpPr>
          <p:cNvPr id="7193" name="Text Box 1067"/>
          <p:cNvSpPr txBox="1">
            <a:spLocks noChangeArrowheads="1"/>
          </p:cNvSpPr>
          <p:nvPr/>
        </p:nvSpPr>
        <p:spPr bwMode="auto">
          <a:xfrm>
            <a:off x="6618304" y="4286756"/>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7194" name="Text Box 1068"/>
          <p:cNvSpPr txBox="1">
            <a:spLocks noChangeArrowheads="1"/>
          </p:cNvSpPr>
          <p:nvPr/>
        </p:nvSpPr>
        <p:spPr bwMode="auto">
          <a:xfrm>
            <a:off x="407505" y="4810620"/>
            <a:ext cx="246243" cy="383160"/>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endParaRPr lang="en-US" sz="1300" dirty="0">
              <a:solidFill>
                <a:srgbClr val="000000"/>
              </a:solidFill>
              <a:latin typeface="Tahoma" pitchFamily="34" charset="0"/>
            </a:endParaRPr>
          </a:p>
        </p:txBody>
      </p:sp>
      <p:sp>
        <p:nvSpPr>
          <p:cNvPr id="7195" name="Text Box 1069"/>
          <p:cNvSpPr txBox="1">
            <a:spLocks noChangeArrowheads="1"/>
          </p:cNvSpPr>
          <p:nvPr/>
        </p:nvSpPr>
        <p:spPr bwMode="auto">
          <a:xfrm>
            <a:off x="1515475" y="3560125"/>
            <a:ext cx="769143"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Tanya</a:t>
            </a:r>
          </a:p>
        </p:txBody>
      </p:sp>
      <p:sp>
        <p:nvSpPr>
          <p:cNvPr id="7196" name="Text Box 1070"/>
          <p:cNvSpPr txBox="1">
            <a:spLocks noChangeArrowheads="1"/>
          </p:cNvSpPr>
          <p:nvPr/>
        </p:nvSpPr>
        <p:spPr bwMode="auto">
          <a:xfrm>
            <a:off x="2674166" y="4985919"/>
            <a:ext cx="507661"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Bill</a:t>
            </a:r>
          </a:p>
        </p:txBody>
      </p:sp>
      <p:sp>
        <p:nvSpPr>
          <p:cNvPr id="7197" name="Text Box 1071"/>
          <p:cNvSpPr txBox="1">
            <a:spLocks noChangeArrowheads="1"/>
          </p:cNvSpPr>
          <p:nvPr/>
        </p:nvSpPr>
        <p:spPr bwMode="auto">
          <a:xfrm>
            <a:off x="5048457" y="5099051"/>
            <a:ext cx="1724126" cy="443176"/>
          </a:xfrm>
          <a:prstGeom prst="rect">
            <a:avLst/>
          </a:prstGeom>
          <a:noFill/>
          <a:ln w="9525" algn="ctr">
            <a:noFill/>
            <a:miter lim="800000"/>
            <a:headEnd/>
            <a:tailEnd/>
          </a:ln>
        </p:spPr>
        <p:txBody>
          <a:bodyPr wrap="square" lIns="121899" tIns="60949" rIns="121899" bIns="60949">
            <a:spAutoFit/>
          </a:bodyPr>
          <a:lstStyle/>
          <a:p>
            <a:pPr algn="ctr" eaLnBrk="1" hangingPunct="1">
              <a:lnSpc>
                <a:spcPct val="130000"/>
              </a:lnSpc>
            </a:pPr>
            <a:r>
              <a:rPr lang="en-US" sz="1600" dirty="0" smtClean="0">
                <a:solidFill>
                  <a:srgbClr val="000000"/>
                </a:solidFill>
                <a:latin typeface="Tahoma" pitchFamily="34" charset="0"/>
              </a:rPr>
              <a:t>Bill/Tanya</a:t>
            </a:r>
            <a:r>
              <a:rPr lang="en-US" sz="1600" dirty="0">
                <a:solidFill>
                  <a:srgbClr val="000000"/>
                </a:solidFill>
                <a:latin typeface="Tahoma" pitchFamily="34" charset="0"/>
              </a:rPr>
              <a:t>/ Mike</a:t>
            </a:r>
            <a:r>
              <a:rPr lang="en-US" sz="1300" dirty="0">
                <a:solidFill>
                  <a:srgbClr val="000000"/>
                </a:solidFill>
                <a:latin typeface="Tahoma" pitchFamily="34" charset="0"/>
              </a:rPr>
              <a:t> </a:t>
            </a:r>
          </a:p>
        </p:txBody>
      </p:sp>
      <p:sp>
        <p:nvSpPr>
          <p:cNvPr id="7198" name="Text Box 1072"/>
          <p:cNvSpPr txBox="1">
            <a:spLocks noChangeArrowheads="1"/>
          </p:cNvSpPr>
          <p:nvPr/>
        </p:nvSpPr>
        <p:spPr bwMode="auto">
          <a:xfrm>
            <a:off x="7455080" y="3578497"/>
            <a:ext cx="659562"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Mike</a:t>
            </a:r>
          </a:p>
        </p:txBody>
      </p:sp>
      <p:sp>
        <p:nvSpPr>
          <p:cNvPr id="7199" name="Text Box 1073"/>
          <p:cNvSpPr txBox="1">
            <a:spLocks noChangeArrowheads="1"/>
          </p:cNvSpPr>
          <p:nvPr/>
        </p:nvSpPr>
        <p:spPr bwMode="auto">
          <a:xfrm>
            <a:off x="9887702" y="5066671"/>
            <a:ext cx="550749"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Jim</a:t>
            </a:r>
          </a:p>
        </p:txBody>
      </p:sp>
      <p:sp>
        <p:nvSpPr>
          <p:cNvPr id="7200" name="Text Box 1074"/>
          <p:cNvSpPr txBox="1">
            <a:spLocks noChangeArrowheads="1"/>
          </p:cNvSpPr>
          <p:nvPr/>
        </p:nvSpPr>
        <p:spPr bwMode="auto">
          <a:xfrm>
            <a:off x="7447813" y="5066238"/>
            <a:ext cx="730286"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Linda</a:t>
            </a:r>
          </a:p>
        </p:txBody>
      </p:sp>
      <p:grpSp>
        <p:nvGrpSpPr>
          <p:cNvPr id="2" name="Group 1076"/>
          <p:cNvGrpSpPr>
            <a:grpSpLocks/>
          </p:cNvGrpSpPr>
          <p:nvPr/>
        </p:nvGrpSpPr>
        <p:grpSpPr bwMode="auto">
          <a:xfrm>
            <a:off x="9464783" y="1227144"/>
            <a:ext cx="1358546" cy="1033464"/>
            <a:chOff x="2928" y="2949"/>
            <a:chExt cx="642" cy="651"/>
          </a:xfrm>
        </p:grpSpPr>
        <p:pic>
          <p:nvPicPr>
            <p:cNvPr id="7204" name="Picture 1077" descr="FSA05467"/>
            <p:cNvPicPr>
              <a:picLocks noChangeAspect="1" noChangeArrowheads="1"/>
            </p:cNvPicPr>
            <p:nvPr/>
          </p:nvPicPr>
          <p:blipFill>
            <a:blip r:embed="rId3" cstate="print"/>
            <a:srcRect/>
            <a:stretch>
              <a:fillRect/>
            </a:stretch>
          </p:blipFill>
          <p:spPr bwMode="auto">
            <a:xfrm>
              <a:off x="2928" y="2949"/>
              <a:ext cx="642" cy="651"/>
            </a:xfrm>
            <a:prstGeom prst="rect">
              <a:avLst/>
            </a:prstGeom>
            <a:noFill/>
            <a:ln w="9525">
              <a:noFill/>
              <a:miter lim="800000"/>
              <a:headEnd/>
              <a:tailEnd/>
            </a:ln>
          </p:spPr>
        </p:pic>
        <p:sp>
          <p:nvSpPr>
            <p:cNvPr id="1345590" name="Text Box 1078"/>
            <p:cNvSpPr txBox="1">
              <a:spLocks noChangeArrowheads="1"/>
            </p:cNvSpPr>
            <p:nvPr/>
          </p:nvSpPr>
          <p:spPr bwMode="auto">
            <a:xfrm>
              <a:off x="3045" y="3025"/>
              <a:ext cx="379" cy="523"/>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4800" dirty="0">
                  <a:solidFill>
                    <a:srgbClr val="FFFFFF"/>
                  </a:solidFill>
                </a:rPr>
                <a:t>TP</a:t>
              </a:r>
            </a:p>
          </p:txBody>
        </p:sp>
      </p:grpSp>
      <p:sp>
        <p:nvSpPr>
          <p:cNvPr id="7202" name="Text Box 1079"/>
          <p:cNvSpPr txBox="1">
            <a:spLocks noChangeArrowheads="1"/>
          </p:cNvSpPr>
          <p:nvPr/>
        </p:nvSpPr>
        <p:spPr bwMode="auto">
          <a:xfrm>
            <a:off x="294794" y="5034226"/>
            <a:ext cx="517086" cy="356999"/>
          </a:xfrm>
          <a:prstGeom prst="rect">
            <a:avLst/>
          </a:prstGeom>
          <a:noFill/>
          <a:ln w="9525">
            <a:noFill/>
            <a:miter lim="800000"/>
            <a:headEnd/>
            <a:tailEnd/>
          </a:ln>
        </p:spPr>
        <p:txBody>
          <a:bodyPr wrap="none" lIns="121899" tIns="60949" rIns="121899" bIns="60949">
            <a:spAutoFit/>
          </a:bodyPr>
          <a:lstStyle/>
          <a:p>
            <a:pPr algn="ctr" eaLnBrk="1" hangingPunct="1">
              <a:lnSpc>
                <a:spcPct val="95000"/>
              </a:lnSpc>
            </a:pPr>
            <a:r>
              <a:rPr lang="en-GB" sz="1600" dirty="0"/>
              <a:t>Jan</a:t>
            </a:r>
          </a:p>
        </p:txBody>
      </p:sp>
      <p:sp>
        <p:nvSpPr>
          <p:cNvPr id="7203" name="Text Box 1080"/>
          <p:cNvSpPr txBox="1">
            <a:spLocks noChangeArrowheads="1"/>
          </p:cNvSpPr>
          <p:nvPr/>
        </p:nvSpPr>
        <p:spPr bwMode="auto">
          <a:xfrm>
            <a:off x="7843536" y="3192958"/>
            <a:ext cx="1240810" cy="356999"/>
          </a:xfrm>
          <a:prstGeom prst="rect">
            <a:avLst/>
          </a:prstGeom>
          <a:noFill/>
          <a:ln w="9525">
            <a:noFill/>
            <a:miter lim="800000"/>
            <a:headEnd/>
            <a:tailEnd/>
          </a:ln>
        </p:spPr>
        <p:txBody>
          <a:bodyPr wrap="none" lIns="121899" tIns="60949" rIns="121899" bIns="60949">
            <a:spAutoFit/>
          </a:bodyPr>
          <a:lstStyle/>
          <a:p>
            <a:pPr eaLnBrk="1" hangingPunct="1">
              <a:lnSpc>
                <a:spcPct val="95000"/>
              </a:lnSpc>
            </a:pPr>
            <a:r>
              <a:rPr lang="en-GB" sz="1600" dirty="0">
                <a:latin typeface="Tahoma" pitchFamily="34" charset="0"/>
              </a:rPr>
              <a:t>Mfg </a:t>
            </a:r>
            <a:r>
              <a:rPr lang="en-GB" sz="1600" dirty="0" smtClean="0">
                <a:latin typeface="Tahoma" pitchFamily="34" charset="0"/>
              </a:rPr>
              <a:t>Delays</a:t>
            </a:r>
            <a:endParaRPr lang="en-GB" sz="1600" dirty="0">
              <a:latin typeface="Tahoma" pitchFamily="34" charset="0"/>
            </a:endParaRPr>
          </a:p>
        </p:txBody>
      </p:sp>
      <p:sp>
        <p:nvSpPr>
          <p:cNvPr id="41" name="Title 40"/>
          <p:cNvSpPr>
            <a:spLocks noGrp="1"/>
          </p:cNvSpPr>
          <p:nvPr>
            <p:ph type="title"/>
          </p:nvPr>
        </p:nvSpPr>
        <p:spPr/>
        <p:txBody>
          <a:bodyPr/>
          <a:lstStyle/>
          <a:p>
            <a:r>
              <a:rPr lang="en-US" dirty="0" smtClean="0"/>
              <a:t>Tactical Pain - Details</a:t>
            </a:r>
            <a:endParaRPr lang="en-US" dirty="0"/>
          </a:p>
        </p:txBody>
      </p:sp>
    </p:spTree>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Consequential Pain - Details</a:t>
            </a:r>
            <a:endParaRPr lang="en-US" dirty="0"/>
          </a:p>
        </p:txBody>
      </p:sp>
      <p:sp>
        <p:nvSpPr>
          <p:cNvPr id="3" name="Text Placeholder 2"/>
          <p:cNvSpPr>
            <a:spLocks noGrp="1"/>
          </p:cNvSpPr>
          <p:nvPr>
            <p:ph type="body" sz="quarter" idx="13"/>
          </p:nvPr>
        </p:nvSpPr>
        <p:spPr/>
        <p:txBody>
          <a:bodyPr/>
          <a:lstStyle/>
          <a:p>
            <a:r>
              <a:rPr lang="en-US" dirty="0" smtClean="0"/>
              <a:t>What is a Consequential Pain?</a:t>
            </a:r>
            <a:endParaRPr lang="en-US" dirty="0"/>
          </a:p>
        </p:txBody>
      </p:sp>
      <p:sp>
        <p:nvSpPr>
          <p:cNvPr id="4" name="Slide Number Placeholder 3"/>
          <p:cNvSpPr>
            <a:spLocks noGrp="1"/>
          </p:cNvSpPr>
          <p:nvPr>
            <p:ph type="sldNum" sz="quarter" idx="12"/>
          </p:nvPr>
        </p:nvSpPr>
        <p:spPr/>
        <p:txBody>
          <a:bodyPr/>
          <a:lstStyle/>
          <a:p>
            <a:fld id="{C51EAA63-D034-42AE-91FA-B13B9518C7BE}" type="slidenum">
              <a:rPr lang="en-US" smtClean="0"/>
              <a:pPr/>
              <a:t>7</a:t>
            </a:fld>
            <a:endParaRPr lang="en-US" dirty="0"/>
          </a:p>
        </p:txBody>
      </p:sp>
      <p:grpSp>
        <p:nvGrpSpPr>
          <p:cNvPr id="5" name="Group 25"/>
          <p:cNvGrpSpPr>
            <a:grpSpLocks/>
          </p:cNvGrpSpPr>
          <p:nvPr/>
        </p:nvGrpSpPr>
        <p:grpSpPr bwMode="auto">
          <a:xfrm>
            <a:off x="10022833" y="732296"/>
            <a:ext cx="1358546" cy="1033464"/>
            <a:chOff x="624" y="2448"/>
            <a:chExt cx="642" cy="651"/>
          </a:xfrm>
        </p:grpSpPr>
        <p:grpSp>
          <p:nvGrpSpPr>
            <p:cNvPr id="6" name="Group 26"/>
            <p:cNvGrpSpPr>
              <a:grpSpLocks/>
            </p:cNvGrpSpPr>
            <p:nvPr/>
          </p:nvGrpSpPr>
          <p:grpSpPr bwMode="auto">
            <a:xfrm>
              <a:off x="624" y="2448"/>
              <a:ext cx="642" cy="651"/>
              <a:chOff x="3024" y="2304"/>
              <a:chExt cx="642" cy="651"/>
            </a:xfrm>
          </p:grpSpPr>
          <p:sp>
            <p:nvSpPr>
              <p:cNvPr id="8" name="Freeform 27"/>
              <p:cNvSpPr>
                <a:spLocks/>
              </p:cNvSpPr>
              <p:nvPr/>
            </p:nvSpPr>
            <p:spPr bwMode="auto">
              <a:xfrm>
                <a:off x="3099" y="2375"/>
                <a:ext cx="503" cy="503"/>
              </a:xfrm>
              <a:custGeom>
                <a:avLst/>
                <a:gdLst>
                  <a:gd name="T0" fmla="*/ 277 w 503"/>
                  <a:gd name="T1" fmla="*/ 1 h 503"/>
                  <a:gd name="T2" fmla="*/ 314 w 503"/>
                  <a:gd name="T3" fmla="*/ 8 h 503"/>
                  <a:gd name="T4" fmla="*/ 349 w 503"/>
                  <a:gd name="T5" fmla="*/ 19 h 503"/>
                  <a:gd name="T6" fmla="*/ 381 w 503"/>
                  <a:gd name="T7" fmla="*/ 36 h 503"/>
                  <a:gd name="T8" fmla="*/ 412 w 503"/>
                  <a:gd name="T9" fmla="*/ 57 h 503"/>
                  <a:gd name="T10" fmla="*/ 438 w 503"/>
                  <a:gd name="T11" fmla="*/ 82 h 503"/>
                  <a:gd name="T12" fmla="*/ 460 w 503"/>
                  <a:gd name="T13" fmla="*/ 111 h 503"/>
                  <a:gd name="T14" fmla="*/ 478 w 503"/>
                  <a:gd name="T15" fmla="*/ 143 h 503"/>
                  <a:gd name="T16" fmla="*/ 492 w 503"/>
                  <a:gd name="T17" fmla="*/ 177 h 503"/>
                  <a:gd name="T18" fmla="*/ 500 w 503"/>
                  <a:gd name="T19" fmla="*/ 213 h 503"/>
                  <a:gd name="T20" fmla="*/ 503 w 503"/>
                  <a:gd name="T21" fmla="*/ 251 h 503"/>
                  <a:gd name="T22" fmla="*/ 500 w 503"/>
                  <a:gd name="T23" fmla="*/ 289 h 503"/>
                  <a:gd name="T24" fmla="*/ 492 w 503"/>
                  <a:gd name="T25" fmla="*/ 326 h 503"/>
                  <a:gd name="T26" fmla="*/ 478 w 503"/>
                  <a:gd name="T27" fmla="*/ 360 h 503"/>
                  <a:gd name="T28" fmla="*/ 460 w 503"/>
                  <a:gd name="T29" fmla="*/ 391 h 503"/>
                  <a:gd name="T30" fmla="*/ 438 w 503"/>
                  <a:gd name="T31" fmla="*/ 421 h 503"/>
                  <a:gd name="T32" fmla="*/ 412 w 503"/>
                  <a:gd name="T33" fmla="*/ 445 h 503"/>
                  <a:gd name="T34" fmla="*/ 381 w 503"/>
                  <a:gd name="T35" fmla="*/ 466 h 503"/>
                  <a:gd name="T36" fmla="*/ 349 w 503"/>
                  <a:gd name="T37" fmla="*/ 483 h 503"/>
                  <a:gd name="T38" fmla="*/ 314 w 503"/>
                  <a:gd name="T39" fmla="*/ 495 h 503"/>
                  <a:gd name="T40" fmla="*/ 277 w 503"/>
                  <a:gd name="T41" fmla="*/ 501 h 503"/>
                  <a:gd name="T42" fmla="*/ 239 w 503"/>
                  <a:gd name="T43" fmla="*/ 503 h 503"/>
                  <a:gd name="T44" fmla="*/ 201 w 503"/>
                  <a:gd name="T45" fmla="*/ 498 h 503"/>
                  <a:gd name="T46" fmla="*/ 166 w 503"/>
                  <a:gd name="T47" fmla="*/ 488 h 503"/>
                  <a:gd name="T48" fmla="*/ 133 w 503"/>
                  <a:gd name="T49" fmla="*/ 472 h 503"/>
                  <a:gd name="T50" fmla="*/ 102 w 503"/>
                  <a:gd name="T51" fmla="*/ 453 h 503"/>
                  <a:gd name="T52" fmla="*/ 74 w 503"/>
                  <a:gd name="T53" fmla="*/ 429 h 503"/>
                  <a:gd name="T54" fmla="*/ 50 w 503"/>
                  <a:gd name="T55" fmla="*/ 401 h 503"/>
                  <a:gd name="T56" fmla="*/ 31 w 503"/>
                  <a:gd name="T57" fmla="*/ 370 h 503"/>
                  <a:gd name="T58" fmla="*/ 15 w 503"/>
                  <a:gd name="T59" fmla="*/ 337 h 503"/>
                  <a:gd name="T60" fmla="*/ 5 w 503"/>
                  <a:gd name="T61" fmla="*/ 302 h 503"/>
                  <a:gd name="T62" fmla="*/ 1 w 503"/>
                  <a:gd name="T63" fmla="*/ 264 h 503"/>
                  <a:gd name="T64" fmla="*/ 2 w 503"/>
                  <a:gd name="T65" fmla="*/ 226 h 503"/>
                  <a:gd name="T66" fmla="*/ 8 w 503"/>
                  <a:gd name="T67" fmla="*/ 189 h 503"/>
                  <a:gd name="T68" fmla="*/ 20 w 503"/>
                  <a:gd name="T69" fmla="*/ 154 h 503"/>
                  <a:gd name="T70" fmla="*/ 37 w 503"/>
                  <a:gd name="T71" fmla="*/ 122 h 503"/>
                  <a:gd name="T72" fmla="*/ 58 w 503"/>
                  <a:gd name="T73" fmla="*/ 91 h 503"/>
                  <a:gd name="T74" fmla="*/ 82 w 503"/>
                  <a:gd name="T75" fmla="*/ 65 h 503"/>
                  <a:gd name="T76" fmla="*/ 112 w 503"/>
                  <a:gd name="T77" fmla="*/ 43 h 503"/>
                  <a:gd name="T78" fmla="*/ 143 w 503"/>
                  <a:gd name="T79" fmla="*/ 24 h 503"/>
                  <a:gd name="T80" fmla="*/ 177 w 503"/>
                  <a:gd name="T81" fmla="*/ 11 h 503"/>
                  <a:gd name="T82" fmla="*/ 214 w 503"/>
                  <a:gd name="T83" fmla="*/ 3 h 503"/>
                  <a:gd name="T84" fmla="*/ 252 w 503"/>
                  <a:gd name="T85" fmla="*/ 0 h 50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03"/>
                  <a:gd name="T130" fmla="*/ 0 h 503"/>
                  <a:gd name="T131" fmla="*/ 503 w 503"/>
                  <a:gd name="T132" fmla="*/ 503 h 50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03" h="503">
                    <a:moveTo>
                      <a:pt x="252" y="0"/>
                    </a:moveTo>
                    <a:lnTo>
                      <a:pt x="265" y="0"/>
                    </a:lnTo>
                    <a:lnTo>
                      <a:pt x="277" y="1"/>
                    </a:lnTo>
                    <a:lnTo>
                      <a:pt x="290" y="3"/>
                    </a:lnTo>
                    <a:lnTo>
                      <a:pt x="302" y="5"/>
                    </a:lnTo>
                    <a:lnTo>
                      <a:pt x="314" y="8"/>
                    </a:lnTo>
                    <a:lnTo>
                      <a:pt x="326" y="11"/>
                    </a:lnTo>
                    <a:lnTo>
                      <a:pt x="338" y="15"/>
                    </a:lnTo>
                    <a:lnTo>
                      <a:pt x="349" y="19"/>
                    </a:lnTo>
                    <a:lnTo>
                      <a:pt x="360" y="24"/>
                    </a:lnTo>
                    <a:lnTo>
                      <a:pt x="371" y="30"/>
                    </a:lnTo>
                    <a:lnTo>
                      <a:pt x="381" y="36"/>
                    </a:lnTo>
                    <a:lnTo>
                      <a:pt x="392" y="43"/>
                    </a:lnTo>
                    <a:lnTo>
                      <a:pt x="401" y="50"/>
                    </a:lnTo>
                    <a:lnTo>
                      <a:pt x="412" y="57"/>
                    </a:lnTo>
                    <a:lnTo>
                      <a:pt x="421" y="65"/>
                    </a:lnTo>
                    <a:lnTo>
                      <a:pt x="430" y="73"/>
                    </a:lnTo>
                    <a:lnTo>
                      <a:pt x="438" y="82"/>
                    </a:lnTo>
                    <a:lnTo>
                      <a:pt x="446" y="91"/>
                    </a:lnTo>
                    <a:lnTo>
                      <a:pt x="453" y="101"/>
                    </a:lnTo>
                    <a:lnTo>
                      <a:pt x="460" y="111"/>
                    </a:lnTo>
                    <a:lnTo>
                      <a:pt x="467" y="122"/>
                    </a:lnTo>
                    <a:lnTo>
                      <a:pt x="473" y="132"/>
                    </a:lnTo>
                    <a:lnTo>
                      <a:pt x="478" y="143"/>
                    </a:lnTo>
                    <a:lnTo>
                      <a:pt x="483" y="154"/>
                    </a:lnTo>
                    <a:lnTo>
                      <a:pt x="488" y="165"/>
                    </a:lnTo>
                    <a:lnTo>
                      <a:pt x="492" y="177"/>
                    </a:lnTo>
                    <a:lnTo>
                      <a:pt x="495" y="189"/>
                    </a:lnTo>
                    <a:lnTo>
                      <a:pt x="498" y="201"/>
                    </a:lnTo>
                    <a:lnTo>
                      <a:pt x="500" y="213"/>
                    </a:lnTo>
                    <a:lnTo>
                      <a:pt x="502" y="226"/>
                    </a:lnTo>
                    <a:lnTo>
                      <a:pt x="503" y="238"/>
                    </a:lnTo>
                    <a:lnTo>
                      <a:pt x="503" y="251"/>
                    </a:lnTo>
                    <a:lnTo>
                      <a:pt x="503" y="264"/>
                    </a:lnTo>
                    <a:lnTo>
                      <a:pt x="502" y="277"/>
                    </a:lnTo>
                    <a:lnTo>
                      <a:pt x="500" y="289"/>
                    </a:lnTo>
                    <a:lnTo>
                      <a:pt x="498" y="302"/>
                    </a:lnTo>
                    <a:lnTo>
                      <a:pt x="495" y="314"/>
                    </a:lnTo>
                    <a:lnTo>
                      <a:pt x="492" y="326"/>
                    </a:lnTo>
                    <a:lnTo>
                      <a:pt x="488" y="337"/>
                    </a:lnTo>
                    <a:lnTo>
                      <a:pt x="483" y="349"/>
                    </a:lnTo>
                    <a:lnTo>
                      <a:pt x="478" y="360"/>
                    </a:lnTo>
                    <a:lnTo>
                      <a:pt x="473" y="370"/>
                    </a:lnTo>
                    <a:lnTo>
                      <a:pt x="467" y="381"/>
                    </a:lnTo>
                    <a:lnTo>
                      <a:pt x="460" y="391"/>
                    </a:lnTo>
                    <a:lnTo>
                      <a:pt x="453" y="401"/>
                    </a:lnTo>
                    <a:lnTo>
                      <a:pt x="446" y="410"/>
                    </a:lnTo>
                    <a:lnTo>
                      <a:pt x="438" y="421"/>
                    </a:lnTo>
                    <a:lnTo>
                      <a:pt x="430" y="429"/>
                    </a:lnTo>
                    <a:lnTo>
                      <a:pt x="421" y="438"/>
                    </a:lnTo>
                    <a:lnTo>
                      <a:pt x="412" y="445"/>
                    </a:lnTo>
                    <a:lnTo>
                      <a:pt x="401" y="453"/>
                    </a:lnTo>
                    <a:lnTo>
                      <a:pt x="392" y="460"/>
                    </a:lnTo>
                    <a:lnTo>
                      <a:pt x="381" y="466"/>
                    </a:lnTo>
                    <a:lnTo>
                      <a:pt x="371" y="472"/>
                    </a:lnTo>
                    <a:lnTo>
                      <a:pt x="360" y="478"/>
                    </a:lnTo>
                    <a:lnTo>
                      <a:pt x="349" y="483"/>
                    </a:lnTo>
                    <a:lnTo>
                      <a:pt x="338" y="488"/>
                    </a:lnTo>
                    <a:lnTo>
                      <a:pt x="326" y="491"/>
                    </a:lnTo>
                    <a:lnTo>
                      <a:pt x="314" y="495"/>
                    </a:lnTo>
                    <a:lnTo>
                      <a:pt x="302" y="498"/>
                    </a:lnTo>
                    <a:lnTo>
                      <a:pt x="290" y="500"/>
                    </a:lnTo>
                    <a:lnTo>
                      <a:pt x="277" y="501"/>
                    </a:lnTo>
                    <a:lnTo>
                      <a:pt x="265" y="503"/>
                    </a:lnTo>
                    <a:lnTo>
                      <a:pt x="252" y="503"/>
                    </a:lnTo>
                    <a:lnTo>
                      <a:pt x="239" y="503"/>
                    </a:lnTo>
                    <a:lnTo>
                      <a:pt x="226" y="501"/>
                    </a:lnTo>
                    <a:lnTo>
                      <a:pt x="214" y="500"/>
                    </a:lnTo>
                    <a:lnTo>
                      <a:pt x="201" y="498"/>
                    </a:lnTo>
                    <a:lnTo>
                      <a:pt x="189" y="495"/>
                    </a:lnTo>
                    <a:lnTo>
                      <a:pt x="177" y="491"/>
                    </a:lnTo>
                    <a:lnTo>
                      <a:pt x="166" y="488"/>
                    </a:lnTo>
                    <a:lnTo>
                      <a:pt x="154" y="483"/>
                    </a:lnTo>
                    <a:lnTo>
                      <a:pt x="143" y="478"/>
                    </a:lnTo>
                    <a:lnTo>
                      <a:pt x="133" y="472"/>
                    </a:lnTo>
                    <a:lnTo>
                      <a:pt x="122" y="466"/>
                    </a:lnTo>
                    <a:lnTo>
                      <a:pt x="112" y="460"/>
                    </a:lnTo>
                    <a:lnTo>
                      <a:pt x="102" y="453"/>
                    </a:lnTo>
                    <a:lnTo>
                      <a:pt x="93" y="445"/>
                    </a:lnTo>
                    <a:lnTo>
                      <a:pt x="82" y="438"/>
                    </a:lnTo>
                    <a:lnTo>
                      <a:pt x="74" y="429"/>
                    </a:lnTo>
                    <a:lnTo>
                      <a:pt x="65" y="421"/>
                    </a:lnTo>
                    <a:lnTo>
                      <a:pt x="58" y="410"/>
                    </a:lnTo>
                    <a:lnTo>
                      <a:pt x="50" y="401"/>
                    </a:lnTo>
                    <a:lnTo>
                      <a:pt x="43" y="391"/>
                    </a:lnTo>
                    <a:lnTo>
                      <a:pt x="37" y="381"/>
                    </a:lnTo>
                    <a:lnTo>
                      <a:pt x="31" y="370"/>
                    </a:lnTo>
                    <a:lnTo>
                      <a:pt x="25" y="360"/>
                    </a:lnTo>
                    <a:lnTo>
                      <a:pt x="20" y="349"/>
                    </a:lnTo>
                    <a:lnTo>
                      <a:pt x="15" y="337"/>
                    </a:lnTo>
                    <a:lnTo>
                      <a:pt x="12" y="326"/>
                    </a:lnTo>
                    <a:lnTo>
                      <a:pt x="8" y="314"/>
                    </a:lnTo>
                    <a:lnTo>
                      <a:pt x="5" y="302"/>
                    </a:lnTo>
                    <a:lnTo>
                      <a:pt x="3" y="289"/>
                    </a:lnTo>
                    <a:lnTo>
                      <a:pt x="2" y="277"/>
                    </a:lnTo>
                    <a:lnTo>
                      <a:pt x="1" y="264"/>
                    </a:lnTo>
                    <a:lnTo>
                      <a:pt x="0" y="251"/>
                    </a:lnTo>
                    <a:lnTo>
                      <a:pt x="1" y="238"/>
                    </a:lnTo>
                    <a:lnTo>
                      <a:pt x="2" y="226"/>
                    </a:lnTo>
                    <a:lnTo>
                      <a:pt x="3" y="213"/>
                    </a:lnTo>
                    <a:lnTo>
                      <a:pt x="5" y="201"/>
                    </a:lnTo>
                    <a:lnTo>
                      <a:pt x="8" y="189"/>
                    </a:lnTo>
                    <a:lnTo>
                      <a:pt x="12" y="177"/>
                    </a:lnTo>
                    <a:lnTo>
                      <a:pt x="15" y="165"/>
                    </a:lnTo>
                    <a:lnTo>
                      <a:pt x="20" y="154"/>
                    </a:lnTo>
                    <a:lnTo>
                      <a:pt x="25" y="143"/>
                    </a:lnTo>
                    <a:lnTo>
                      <a:pt x="31" y="132"/>
                    </a:lnTo>
                    <a:lnTo>
                      <a:pt x="37" y="122"/>
                    </a:lnTo>
                    <a:lnTo>
                      <a:pt x="43" y="111"/>
                    </a:lnTo>
                    <a:lnTo>
                      <a:pt x="50" y="101"/>
                    </a:lnTo>
                    <a:lnTo>
                      <a:pt x="58" y="91"/>
                    </a:lnTo>
                    <a:lnTo>
                      <a:pt x="65" y="82"/>
                    </a:lnTo>
                    <a:lnTo>
                      <a:pt x="74" y="73"/>
                    </a:lnTo>
                    <a:lnTo>
                      <a:pt x="82" y="65"/>
                    </a:lnTo>
                    <a:lnTo>
                      <a:pt x="93" y="57"/>
                    </a:lnTo>
                    <a:lnTo>
                      <a:pt x="102" y="50"/>
                    </a:lnTo>
                    <a:lnTo>
                      <a:pt x="112" y="43"/>
                    </a:lnTo>
                    <a:lnTo>
                      <a:pt x="122" y="36"/>
                    </a:lnTo>
                    <a:lnTo>
                      <a:pt x="133" y="30"/>
                    </a:lnTo>
                    <a:lnTo>
                      <a:pt x="143" y="24"/>
                    </a:lnTo>
                    <a:lnTo>
                      <a:pt x="154" y="19"/>
                    </a:lnTo>
                    <a:lnTo>
                      <a:pt x="166" y="15"/>
                    </a:lnTo>
                    <a:lnTo>
                      <a:pt x="177" y="11"/>
                    </a:lnTo>
                    <a:lnTo>
                      <a:pt x="189" y="8"/>
                    </a:lnTo>
                    <a:lnTo>
                      <a:pt x="201" y="5"/>
                    </a:lnTo>
                    <a:lnTo>
                      <a:pt x="214" y="3"/>
                    </a:lnTo>
                    <a:lnTo>
                      <a:pt x="226" y="1"/>
                    </a:lnTo>
                    <a:lnTo>
                      <a:pt x="239" y="0"/>
                    </a:lnTo>
                    <a:lnTo>
                      <a:pt x="252" y="0"/>
                    </a:lnTo>
                    <a:close/>
                  </a:path>
                </a:pathLst>
              </a:custGeom>
              <a:solidFill>
                <a:srgbClr val="3366FF"/>
              </a:solidFill>
              <a:ln w="9525">
                <a:noFill/>
                <a:round/>
                <a:headEnd/>
                <a:tailEnd/>
              </a:ln>
            </p:spPr>
            <p:txBody>
              <a:bodyPr/>
              <a:lstStyle/>
              <a:p>
                <a:endParaRPr lang="en-US"/>
              </a:p>
            </p:txBody>
          </p:sp>
          <p:sp>
            <p:nvSpPr>
              <p:cNvPr id="9" name="Freeform 28"/>
              <p:cNvSpPr>
                <a:spLocks noEditPoints="1"/>
              </p:cNvSpPr>
              <p:nvPr/>
            </p:nvSpPr>
            <p:spPr bwMode="auto">
              <a:xfrm>
                <a:off x="3024" y="2304"/>
                <a:ext cx="642" cy="651"/>
              </a:xfrm>
              <a:custGeom>
                <a:avLst/>
                <a:gdLst>
                  <a:gd name="T0" fmla="*/ 579 w 642"/>
                  <a:gd name="T1" fmla="*/ 390 h 651"/>
                  <a:gd name="T2" fmla="*/ 579 w 642"/>
                  <a:gd name="T3" fmla="*/ 379 h 651"/>
                  <a:gd name="T4" fmla="*/ 582 w 642"/>
                  <a:gd name="T5" fmla="*/ 366 h 651"/>
                  <a:gd name="T6" fmla="*/ 641 w 642"/>
                  <a:gd name="T7" fmla="*/ 278 h 651"/>
                  <a:gd name="T8" fmla="*/ 505 w 642"/>
                  <a:gd name="T9" fmla="*/ 129 h 651"/>
                  <a:gd name="T10" fmla="*/ 355 w 642"/>
                  <a:gd name="T11" fmla="*/ 58 h 651"/>
                  <a:gd name="T12" fmla="*/ 249 w 642"/>
                  <a:gd name="T13" fmla="*/ 67 h 651"/>
                  <a:gd name="T14" fmla="*/ 236 w 642"/>
                  <a:gd name="T15" fmla="*/ 72 h 651"/>
                  <a:gd name="T16" fmla="*/ 224 w 642"/>
                  <a:gd name="T17" fmla="*/ 76 h 651"/>
                  <a:gd name="T18" fmla="*/ 172 w 642"/>
                  <a:gd name="T19" fmla="*/ 46 h 651"/>
                  <a:gd name="T20" fmla="*/ 154 w 642"/>
                  <a:gd name="T21" fmla="*/ 48 h 651"/>
                  <a:gd name="T22" fmla="*/ 139 w 642"/>
                  <a:gd name="T23" fmla="*/ 57 h 651"/>
                  <a:gd name="T24" fmla="*/ 123 w 642"/>
                  <a:gd name="T25" fmla="*/ 68 h 651"/>
                  <a:gd name="T26" fmla="*/ 21 w 642"/>
                  <a:gd name="T27" fmla="*/ 203 h 651"/>
                  <a:gd name="T28" fmla="*/ 59 w 642"/>
                  <a:gd name="T29" fmla="*/ 391 h 651"/>
                  <a:gd name="T30" fmla="*/ 164 w 642"/>
                  <a:gd name="T31" fmla="*/ 548 h 651"/>
                  <a:gd name="T32" fmla="*/ 248 w 642"/>
                  <a:gd name="T33" fmla="*/ 586 h 651"/>
                  <a:gd name="T34" fmla="*/ 259 w 642"/>
                  <a:gd name="T35" fmla="*/ 586 h 651"/>
                  <a:gd name="T36" fmla="*/ 270 w 642"/>
                  <a:gd name="T37" fmla="*/ 589 h 651"/>
                  <a:gd name="T38" fmla="*/ 312 w 642"/>
                  <a:gd name="T39" fmla="*/ 651 h 651"/>
                  <a:gd name="T40" fmla="*/ 368 w 642"/>
                  <a:gd name="T41" fmla="*/ 639 h 651"/>
                  <a:gd name="T42" fmla="*/ 372 w 642"/>
                  <a:gd name="T43" fmla="*/ 629 h 651"/>
                  <a:gd name="T44" fmla="*/ 376 w 642"/>
                  <a:gd name="T45" fmla="*/ 617 h 651"/>
                  <a:gd name="T46" fmla="*/ 379 w 642"/>
                  <a:gd name="T47" fmla="*/ 604 h 651"/>
                  <a:gd name="T48" fmla="*/ 384 w 642"/>
                  <a:gd name="T49" fmla="*/ 593 h 651"/>
                  <a:gd name="T50" fmla="*/ 391 w 642"/>
                  <a:gd name="T51" fmla="*/ 584 h 651"/>
                  <a:gd name="T52" fmla="*/ 401 w 642"/>
                  <a:gd name="T53" fmla="*/ 579 h 651"/>
                  <a:gd name="T54" fmla="*/ 410 w 642"/>
                  <a:gd name="T55" fmla="*/ 575 h 651"/>
                  <a:gd name="T56" fmla="*/ 416 w 642"/>
                  <a:gd name="T57" fmla="*/ 573 h 651"/>
                  <a:gd name="T58" fmla="*/ 469 w 642"/>
                  <a:gd name="T59" fmla="*/ 605 h 651"/>
                  <a:gd name="T60" fmla="*/ 528 w 642"/>
                  <a:gd name="T61" fmla="*/ 487 h 651"/>
                  <a:gd name="T62" fmla="*/ 538 w 642"/>
                  <a:gd name="T63" fmla="*/ 484 h 651"/>
                  <a:gd name="T64" fmla="*/ 549 w 642"/>
                  <a:gd name="T65" fmla="*/ 484 h 651"/>
                  <a:gd name="T66" fmla="*/ 561 w 642"/>
                  <a:gd name="T67" fmla="*/ 485 h 651"/>
                  <a:gd name="T68" fmla="*/ 573 w 642"/>
                  <a:gd name="T69" fmla="*/ 486 h 651"/>
                  <a:gd name="T70" fmla="*/ 585 w 642"/>
                  <a:gd name="T71" fmla="*/ 487 h 651"/>
                  <a:gd name="T72" fmla="*/ 597 w 642"/>
                  <a:gd name="T73" fmla="*/ 486 h 651"/>
                  <a:gd name="T74" fmla="*/ 132 w 642"/>
                  <a:gd name="T75" fmla="*/ 195 h 651"/>
                  <a:gd name="T76" fmla="*/ 170 w 642"/>
                  <a:gd name="T77" fmla="*/ 152 h 651"/>
                  <a:gd name="T78" fmla="*/ 215 w 642"/>
                  <a:gd name="T79" fmla="*/ 121 h 651"/>
                  <a:gd name="T80" fmla="*/ 265 w 642"/>
                  <a:gd name="T81" fmla="*/ 101 h 651"/>
                  <a:gd name="T82" fmla="*/ 320 w 642"/>
                  <a:gd name="T83" fmla="*/ 94 h 651"/>
                  <a:gd name="T84" fmla="*/ 375 w 642"/>
                  <a:gd name="T85" fmla="*/ 101 h 651"/>
                  <a:gd name="T86" fmla="*/ 428 w 642"/>
                  <a:gd name="T87" fmla="*/ 122 h 651"/>
                  <a:gd name="T88" fmla="*/ 474 w 642"/>
                  <a:gd name="T89" fmla="*/ 155 h 651"/>
                  <a:gd name="T90" fmla="*/ 510 w 642"/>
                  <a:gd name="T91" fmla="*/ 198 h 651"/>
                  <a:gd name="T92" fmla="*/ 534 w 642"/>
                  <a:gd name="T93" fmla="*/ 246 h 651"/>
                  <a:gd name="T94" fmla="*/ 546 w 642"/>
                  <a:gd name="T95" fmla="*/ 299 h 651"/>
                  <a:gd name="T96" fmla="*/ 545 w 642"/>
                  <a:gd name="T97" fmla="*/ 354 h 651"/>
                  <a:gd name="T98" fmla="*/ 530 w 642"/>
                  <a:gd name="T99" fmla="*/ 408 h 651"/>
                  <a:gd name="T100" fmla="*/ 501 w 642"/>
                  <a:gd name="T101" fmla="*/ 458 h 651"/>
                  <a:gd name="T102" fmla="*/ 462 w 642"/>
                  <a:gd name="T103" fmla="*/ 499 h 651"/>
                  <a:gd name="T104" fmla="*/ 416 w 642"/>
                  <a:gd name="T105" fmla="*/ 527 h 651"/>
                  <a:gd name="T106" fmla="*/ 364 w 642"/>
                  <a:gd name="T107" fmla="*/ 544 h 651"/>
                  <a:gd name="T108" fmla="*/ 310 w 642"/>
                  <a:gd name="T109" fmla="*/ 549 h 651"/>
                  <a:gd name="T110" fmla="*/ 255 w 642"/>
                  <a:gd name="T111" fmla="*/ 539 h 651"/>
                  <a:gd name="T112" fmla="*/ 203 w 642"/>
                  <a:gd name="T113" fmla="*/ 516 h 651"/>
                  <a:gd name="T114" fmla="*/ 158 w 642"/>
                  <a:gd name="T115" fmla="*/ 480 h 651"/>
                  <a:gd name="T116" fmla="*/ 124 w 642"/>
                  <a:gd name="T117" fmla="*/ 436 h 651"/>
                  <a:gd name="T118" fmla="*/ 103 w 642"/>
                  <a:gd name="T119" fmla="*/ 387 h 651"/>
                  <a:gd name="T120" fmla="*/ 94 w 642"/>
                  <a:gd name="T121" fmla="*/ 333 h 651"/>
                  <a:gd name="T122" fmla="*/ 97 w 642"/>
                  <a:gd name="T123" fmla="*/ 278 h 651"/>
                  <a:gd name="T124" fmla="*/ 115 w 642"/>
                  <a:gd name="T125" fmla="*/ 224 h 6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642"/>
                  <a:gd name="T190" fmla="*/ 0 h 651"/>
                  <a:gd name="T191" fmla="*/ 642 w 642"/>
                  <a:gd name="T192" fmla="*/ 651 h 65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642" h="651">
                    <a:moveTo>
                      <a:pt x="624" y="438"/>
                    </a:moveTo>
                    <a:lnTo>
                      <a:pt x="582" y="396"/>
                    </a:lnTo>
                    <a:lnTo>
                      <a:pt x="580" y="394"/>
                    </a:lnTo>
                    <a:lnTo>
                      <a:pt x="579" y="392"/>
                    </a:lnTo>
                    <a:lnTo>
                      <a:pt x="579" y="390"/>
                    </a:lnTo>
                    <a:lnTo>
                      <a:pt x="578" y="388"/>
                    </a:lnTo>
                    <a:lnTo>
                      <a:pt x="578" y="386"/>
                    </a:lnTo>
                    <a:lnTo>
                      <a:pt x="578" y="384"/>
                    </a:lnTo>
                    <a:lnTo>
                      <a:pt x="579" y="381"/>
                    </a:lnTo>
                    <a:lnTo>
                      <a:pt x="579" y="379"/>
                    </a:lnTo>
                    <a:lnTo>
                      <a:pt x="580" y="376"/>
                    </a:lnTo>
                    <a:lnTo>
                      <a:pt x="580" y="374"/>
                    </a:lnTo>
                    <a:lnTo>
                      <a:pt x="581" y="371"/>
                    </a:lnTo>
                    <a:lnTo>
                      <a:pt x="582" y="369"/>
                    </a:lnTo>
                    <a:lnTo>
                      <a:pt x="582" y="366"/>
                    </a:lnTo>
                    <a:lnTo>
                      <a:pt x="583" y="364"/>
                    </a:lnTo>
                    <a:lnTo>
                      <a:pt x="583" y="361"/>
                    </a:lnTo>
                    <a:lnTo>
                      <a:pt x="583" y="358"/>
                    </a:lnTo>
                    <a:lnTo>
                      <a:pt x="642" y="327"/>
                    </a:lnTo>
                    <a:lnTo>
                      <a:pt x="641" y="278"/>
                    </a:lnTo>
                    <a:lnTo>
                      <a:pt x="579" y="257"/>
                    </a:lnTo>
                    <a:lnTo>
                      <a:pt x="566" y="210"/>
                    </a:lnTo>
                    <a:lnTo>
                      <a:pt x="600" y="162"/>
                    </a:lnTo>
                    <a:lnTo>
                      <a:pt x="571" y="117"/>
                    </a:lnTo>
                    <a:lnTo>
                      <a:pt x="505" y="129"/>
                    </a:lnTo>
                    <a:lnTo>
                      <a:pt x="485" y="112"/>
                    </a:lnTo>
                    <a:lnTo>
                      <a:pt x="489" y="49"/>
                    </a:lnTo>
                    <a:lnTo>
                      <a:pt x="443" y="23"/>
                    </a:lnTo>
                    <a:lnTo>
                      <a:pt x="394" y="60"/>
                    </a:lnTo>
                    <a:lnTo>
                      <a:pt x="355" y="58"/>
                    </a:lnTo>
                    <a:lnTo>
                      <a:pt x="326" y="0"/>
                    </a:lnTo>
                    <a:lnTo>
                      <a:pt x="276" y="4"/>
                    </a:lnTo>
                    <a:lnTo>
                      <a:pt x="254" y="65"/>
                    </a:lnTo>
                    <a:lnTo>
                      <a:pt x="251" y="66"/>
                    </a:lnTo>
                    <a:lnTo>
                      <a:pt x="249" y="67"/>
                    </a:lnTo>
                    <a:lnTo>
                      <a:pt x="246" y="68"/>
                    </a:lnTo>
                    <a:lnTo>
                      <a:pt x="244" y="69"/>
                    </a:lnTo>
                    <a:lnTo>
                      <a:pt x="241" y="70"/>
                    </a:lnTo>
                    <a:lnTo>
                      <a:pt x="239" y="71"/>
                    </a:lnTo>
                    <a:lnTo>
                      <a:pt x="236" y="72"/>
                    </a:lnTo>
                    <a:lnTo>
                      <a:pt x="234" y="73"/>
                    </a:lnTo>
                    <a:lnTo>
                      <a:pt x="231" y="74"/>
                    </a:lnTo>
                    <a:lnTo>
                      <a:pt x="229" y="74"/>
                    </a:lnTo>
                    <a:lnTo>
                      <a:pt x="226" y="75"/>
                    </a:lnTo>
                    <a:lnTo>
                      <a:pt x="224" y="76"/>
                    </a:lnTo>
                    <a:lnTo>
                      <a:pt x="221" y="76"/>
                    </a:lnTo>
                    <a:lnTo>
                      <a:pt x="218" y="77"/>
                    </a:lnTo>
                    <a:lnTo>
                      <a:pt x="216" y="77"/>
                    </a:lnTo>
                    <a:lnTo>
                      <a:pt x="213" y="77"/>
                    </a:lnTo>
                    <a:lnTo>
                      <a:pt x="172" y="46"/>
                    </a:lnTo>
                    <a:lnTo>
                      <a:pt x="169" y="46"/>
                    </a:lnTo>
                    <a:lnTo>
                      <a:pt x="165" y="46"/>
                    </a:lnTo>
                    <a:lnTo>
                      <a:pt x="162" y="46"/>
                    </a:lnTo>
                    <a:lnTo>
                      <a:pt x="157" y="47"/>
                    </a:lnTo>
                    <a:lnTo>
                      <a:pt x="154" y="48"/>
                    </a:lnTo>
                    <a:lnTo>
                      <a:pt x="151" y="49"/>
                    </a:lnTo>
                    <a:lnTo>
                      <a:pt x="148" y="51"/>
                    </a:lnTo>
                    <a:lnTo>
                      <a:pt x="145" y="53"/>
                    </a:lnTo>
                    <a:lnTo>
                      <a:pt x="142" y="55"/>
                    </a:lnTo>
                    <a:lnTo>
                      <a:pt x="139" y="57"/>
                    </a:lnTo>
                    <a:lnTo>
                      <a:pt x="136" y="59"/>
                    </a:lnTo>
                    <a:lnTo>
                      <a:pt x="133" y="62"/>
                    </a:lnTo>
                    <a:lnTo>
                      <a:pt x="129" y="64"/>
                    </a:lnTo>
                    <a:lnTo>
                      <a:pt x="126" y="66"/>
                    </a:lnTo>
                    <a:lnTo>
                      <a:pt x="123" y="68"/>
                    </a:lnTo>
                    <a:lnTo>
                      <a:pt x="120" y="70"/>
                    </a:lnTo>
                    <a:lnTo>
                      <a:pt x="132" y="135"/>
                    </a:lnTo>
                    <a:lnTo>
                      <a:pt x="111" y="162"/>
                    </a:lnTo>
                    <a:lnTo>
                      <a:pt x="49" y="153"/>
                    </a:lnTo>
                    <a:lnTo>
                      <a:pt x="21" y="203"/>
                    </a:lnTo>
                    <a:lnTo>
                      <a:pt x="63" y="249"/>
                    </a:lnTo>
                    <a:lnTo>
                      <a:pt x="57" y="293"/>
                    </a:lnTo>
                    <a:lnTo>
                      <a:pt x="0" y="321"/>
                    </a:lnTo>
                    <a:lnTo>
                      <a:pt x="5" y="379"/>
                    </a:lnTo>
                    <a:lnTo>
                      <a:pt x="59" y="391"/>
                    </a:lnTo>
                    <a:lnTo>
                      <a:pt x="76" y="441"/>
                    </a:lnTo>
                    <a:lnTo>
                      <a:pt x="36" y="483"/>
                    </a:lnTo>
                    <a:lnTo>
                      <a:pt x="71" y="535"/>
                    </a:lnTo>
                    <a:lnTo>
                      <a:pt x="132" y="517"/>
                    </a:lnTo>
                    <a:lnTo>
                      <a:pt x="164" y="548"/>
                    </a:lnTo>
                    <a:lnTo>
                      <a:pt x="153" y="605"/>
                    </a:lnTo>
                    <a:lnTo>
                      <a:pt x="195" y="627"/>
                    </a:lnTo>
                    <a:lnTo>
                      <a:pt x="244" y="586"/>
                    </a:lnTo>
                    <a:lnTo>
                      <a:pt x="246" y="586"/>
                    </a:lnTo>
                    <a:lnTo>
                      <a:pt x="248" y="586"/>
                    </a:lnTo>
                    <a:lnTo>
                      <a:pt x="250" y="585"/>
                    </a:lnTo>
                    <a:lnTo>
                      <a:pt x="252" y="585"/>
                    </a:lnTo>
                    <a:lnTo>
                      <a:pt x="254" y="585"/>
                    </a:lnTo>
                    <a:lnTo>
                      <a:pt x="256" y="586"/>
                    </a:lnTo>
                    <a:lnTo>
                      <a:pt x="259" y="586"/>
                    </a:lnTo>
                    <a:lnTo>
                      <a:pt x="261" y="586"/>
                    </a:lnTo>
                    <a:lnTo>
                      <a:pt x="263" y="587"/>
                    </a:lnTo>
                    <a:lnTo>
                      <a:pt x="266" y="587"/>
                    </a:lnTo>
                    <a:lnTo>
                      <a:pt x="268" y="588"/>
                    </a:lnTo>
                    <a:lnTo>
                      <a:pt x="270" y="589"/>
                    </a:lnTo>
                    <a:lnTo>
                      <a:pt x="273" y="589"/>
                    </a:lnTo>
                    <a:lnTo>
                      <a:pt x="275" y="590"/>
                    </a:lnTo>
                    <a:lnTo>
                      <a:pt x="277" y="591"/>
                    </a:lnTo>
                    <a:lnTo>
                      <a:pt x="280" y="592"/>
                    </a:lnTo>
                    <a:lnTo>
                      <a:pt x="312" y="651"/>
                    </a:lnTo>
                    <a:lnTo>
                      <a:pt x="362" y="646"/>
                    </a:lnTo>
                    <a:lnTo>
                      <a:pt x="364" y="645"/>
                    </a:lnTo>
                    <a:lnTo>
                      <a:pt x="365" y="643"/>
                    </a:lnTo>
                    <a:lnTo>
                      <a:pt x="366" y="641"/>
                    </a:lnTo>
                    <a:lnTo>
                      <a:pt x="368" y="639"/>
                    </a:lnTo>
                    <a:lnTo>
                      <a:pt x="369" y="637"/>
                    </a:lnTo>
                    <a:lnTo>
                      <a:pt x="370" y="635"/>
                    </a:lnTo>
                    <a:lnTo>
                      <a:pt x="371" y="633"/>
                    </a:lnTo>
                    <a:lnTo>
                      <a:pt x="371" y="631"/>
                    </a:lnTo>
                    <a:lnTo>
                      <a:pt x="372" y="629"/>
                    </a:lnTo>
                    <a:lnTo>
                      <a:pt x="373" y="626"/>
                    </a:lnTo>
                    <a:lnTo>
                      <a:pt x="374" y="624"/>
                    </a:lnTo>
                    <a:lnTo>
                      <a:pt x="374" y="621"/>
                    </a:lnTo>
                    <a:lnTo>
                      <a:pt x="375" y="619"/>
                    </a:lnTo>
                    <a:lnTo>
                      <a:pt x="376" y="617"/>
                    </a:lnTo>
                    <a:lnTo>
                      <a:pt x="376" y="614"/>
                    </a:lnTo>
                    <a:lnTo>
                      <a:pt x="377" y="612"/>
                    </a:lnTo>
                    <a:lnTo>
                      <a:pt x="377" y="609"/>
                    </a:lnTo>
                    <a:lnTo>
                      <a:pt x="378" y="607"/>
                    </a:lnTo>
                    <a:lnTo>
                      <a:pt x="379" y="604"/>
                    </a:lnTo>
                    <a:lnTo>
                      <a:pt x="380" y="602"/>
                    </a:lnTo>
                    <a:lnTo>
                      <a:pt x="381" y="599"/>
                    </a:lnTo>
                    <a:lnTo>
                      <a:pt x="382" y="597"/>
                    </a:lnTo>
                    <a:lnTo>
                      <a:pt x="382" y="595"/>
                    </a:lnTo>
                    <a:lnTo>
                      <a:pt x="384" y="593"/>
                    </a:lnTo>
                    <a:lnTo>
                      <a:pt x="385" y="591"/>
                    </a:lnTo>
                    <a:lnTo>
                      <a:pt x="386" y="589"/>
                    </a:lnTo>
                    <a:lnTo>
                      <a:pt x="388" y="587"/>
                    </a:lnTo>
                    <a:lnTo>
                      <a:pt x="389" y="585"/>
                    </a:lnTo>
                    <a:lnTo>
                      <a:pt x="391" y="584"/>
                    </a:lnTo>
                    <a:lnTo>
                      <a:pt x="393" y="582"/>
                    </a:lnTo>
                    <a:lnTo>
                      <a:pt x="395" y="581"/>
                    </a:lnTo>
                    <a:lnTo>
                      <a:pt x="398" y="580"/>
                    </a:lnTo>
                    <a:lnTo>
                      <a:pt x="400" y="579"/>
                    </a:lnTo>
                    <a:lnTo>
                      <a:pt x="401" y="579"/>
                    </a:lnTo>
                    <a:lnTo>
                      <a:pt x="403" y="578"/>
                    </a:lnTo>
                    <a:lnTo>
                      <a:pt x="405" y="577"/>
                    </a:lnTo>
                    <a:lnTo>
                      <a:pt x="407" y="577"/>
                    </a:lnTo>
                    <a:lnTo>
                      <a:pt x="408" y="576"/>
                    </a:lnTo>
                    <a:lnTo>
                      <a:pt x="410" y="575"/>
                    </a:lnTo>
                    <a:lnTo>
                      <a:pt x="411" y="575"/>
                    </a:lnTo>
                    <a:lnTo>
                      <a:pt x="413" y="574"/>
                    </a:lnTo>
                    <a:lnTo>
                      <a:pt x="414" y="574"/>
                    </a:lnTo>
                    <a:lnTo>
                      <a:pt x="415" y="573"/>
                    </a:lnTo>
                    <a:lnTo>
                      <a:pt x="416" y="573"/>
                    </a:lnTo>
                    <a:lnTo>
                      <a:pt x="418" y="572"/>
                    </a:lnTo>
                    <a:lnTo>
                      <a:pt x="419" y="572"/>
                    </a:lnTo>
                    <a:lnTo>
                      <a:pt x="420" y="572"/>
                    </a:lnTo>
                    <a:lnTo>
                      <a:pt x="421" y="571"/>
                    </a:lnTo>
                    <a:lnTo>
                      <a:pt x="469" y="605"/>
                    </a:lnTo>
                    <a:lnTo>
                      <a:pt x="520" y="574"/>
                    </a:lnTo>
                    <a:lnTo>
                      <a:pt x="507" y="511"/>
                    </a:lnTo>
                    <a:lnTo>
                      <a:pt x="524" y="491"/>
                    </a:lnTo>
                    <a:lnTo>
                      <a:pt x="526" y="490"/>
                    </a:lnTo>
                    <a:lnTo>
                      <a:pt x="528" y="487"/>
                    </a:lnTo>
                    <a:lnTo>
                      <a:pt x="530" y="487"/>
                    </a:lnTo>
                    <a:lnTo>
                      <a:pt x="532" y="486"/>
                    </a:lnTo>
                    <a:lnTo>
                      <a:pt x="534" y="485"/>
                    </a:lnTo>
                    <a:lnTo>
                      <a:pt x="536" y="484"/>
                    </a:lnTo>
                    <a:lnTo>
                      <a:pt x="538" y="484"/>
                    </a:lnTo>
                    <a:lnTo>
                      <a:pt x="540" y="484"/>
                    </a:lnTo>
                    <a:lnTo>
                      <a:pt x="542" y="484"/>
                    </a:lnTo>
                    <a:lnTo>
                      <a:pt x="544" y="483"/>
                    </a:lnTo>
                    <a:lnTo>
                      <a:pt x="547" y="483"/>
                    </a:lnTo>
                    <a:lnTo>
                      <a:pt x="549" y="484"/>
                    </a:lnTo>
                    <a:lnTo>
                      <a:pt x="551" y="484"/>
                    </a:lnTo>
                    <a:lnTo>
                      <a:pt x="554" y="484"/>
                    </a:lnTo>
                    <a:lnTo>
                      <a:pt x="556" y="484"/>
                    </a:lnTo>
                    <a:lnTo>
                      <a:pt x="559" y="484"/>
                    </a:lnTo>
                    <a:lnTo>
                      <a:pt x="561" y="485"/>
                    </a:lnTo>
                    <a:lnTo>
                      <a:pt x="563" y="485"/>
                    </a:lnTo>
                    <a:lnTo>
                      <a:pt x="566" y="485"/>
                    </a:lnTo>
                    <a:lnTo>
                      <a:pt x="568" y="486"/>
                    </a:lnTo>
                    <a:lnTo>
                      <a:pt x="571" y="486"/>
                    </a:lnTo>
                    <a:lnTo>
                      <a:pt x="573" y="486"/>
                    </a:lnTo>
                    <a:lnTo>
                      <a:pt x="576" y="486"/>
                    </a:lnTo>
                    <a:lnTo>
                      <a:pt x="578" y="487"/>
                    </a:lnTo>
                    <a:lnTo>
                      <a:pt x="581" y="487"/>
                    </a:lnTo>
                    <a:lnTo>
                      <a:pt x="583" y="487"/>
                    </a:lnTo>
                    <a:lnTo>
                      <a:pt x="585" y="487"/>
                    </a:lnTo>
                    <a:lnTo>
                      <a:pt x="588" y="487"/>
                    </a:lnTo>
                    <a:lnTo>
                      <a:pt x="590" y="487"/>
                    </a:lnTo>
                    <a:lnTo>
                      <a:pt x="592" y="486"/>
                    </a:lnTo>
                    <a:lnTo>
                      <a:pt x="595" y="486"/>
                    </a:lnTo>
                    <a:lnTo>
                      <a:pt x="597" y="486"/>
                    </a:lnTo>
                    <a:lnTo>
                      <a:pt x="624" y="438"/>
                    </a:lnTo>
                    <a:close/>
                    <a:moveTo>
                      <a:pt x="115" y="224"/>
                    </a:moveTo>
                    <a:lnTo>
                      <a:pt x="120" y="214"/>
                    </a:lnTo>
                    <a:lnTo>
                      <a:pt x="126" y="204"/>
                    </a:lnTo>
                    <a:lnTo>
                      <a:pt x="132" y="195"/>
                    </a:lnTo>
                    <a:lnTo>
                      <a:pt x="139" y="185"/>
                    </a:lnTo>
                    <a:lnTo>
                      <a:pt x="146" y="177"/>
                    </a:lnTo>
                    <a:lnTo>
                      <a:pt x="153" y="168"/>
                    </a:lnTo>
                    <a:lnTo>
                      <a:pt x="162" y="159"/>
                    </a:lnTo>
                    <a:lnTo>
                      <a:pt x="170" y="152"/>
                    </a:lnTo>
                    <a:lnTo>
                      <a:pt x="178" y="145"/>
                    </a:lnTo>
                    <a:lnTo>
                      <a:pt x="187" y="138"/>
                    </a:lnTo>
                    <a:lnTo>
                      <a:pt x="196" y="132"/>
                    </a:lnTo>
                    <a:lnTo>
                      <a:pt x="205" y="126"/>
                    </a:lnTo>
                    <a:lnTo>
                      <a:pt x="215" y="121"/>
                    </a:lnTo>
                    <a:lnTo>
                      <a:pt x="225" y="116"/>
                    </a:lnTo>
                    <a:lnTo>
                      <a:pt x="235" y="111"/>
                    </a:lnTo>
                    <a:lnTo>
                      <a:pt x="245" y="108"/>
                    </a:lnTo>
                    <a:lnTo>
                      <a:pt x="255" y="104"/>
                    </a:lnTo>
                    <a:lnTo>
                      <a:pt x="265" y="101"/>
                    </a:lnTo>
                    <a:lnTo>
                      <a:pt x="276" y="99"/>
                    </a:lnTo>
                    <a:lnTo>
                      <a:pt x="287" y="97"/>
                    </a:lnTo>
                    <a:lnTo>
                      <a:pt x="298" y="96"/>
                    </a:lnTo>
                    <a:lnTo>
                      <a:pt x="309" y="95"/>
                    </a:lnTo>
                    <a:lnTo>
                      <a:pt x="320" y="94"/>
                    </a:lnTo>
                    <a:lnTo>
                      <a:pt x="331" y="95"/>
                    </a:lnTo>
                    <a:lnTo>
                      <a:pt x="342" y="95"/>
                    </a:lnTo>
                    <a:lnTo>
                      <a:pt x="353" y="97"/>
                    </a:lnTo>
                    <a:lnTo>
                      <a:pt x="364" y="99"/>
                    </a:lnTo>
                    <a:lnTo>
                      <a:pt x="375" y="101"/>
                    </a:lnTo>
                    <a:lnTo>
                      <a:pt x="386" y="104"/>
                    </a:lnTo>
                    <a:lnTo>
                      <a:pt x="396" y="108"/>
                    </a:lnTo>
                    <a:lnTo>
                      <a:pt x="407" y="112"/>
                    </a:lnTo>
                    <a:lnTo>
                      <a:pt x="418" y="116"/>
                    </a:lnTo>
                    <a:lnTo>
                      <a:pt x="428" y="122"/>
                    </a:lnTo>
                    <a:lnTo>
                      <a:pt x="438" y="127"/>
                    </a:lnTo>
                    <a:lnTo>
                      <a:pt x="448" y="134"/>
                    </a:lnTo>
                    <a:lnTo>
                      <a:pt x="457" y="140"/>
                    </a:lnTo>
                    <a:lnTo>
                      <a:pt x="466" y="147"/>
                    </a:lnTo>
                    <a:lnTo>
                      <a:pt x="474" y="155"/>
                    </a:lnTo>
                    <a:lnTo>
                      <a:pt x="483" y="162"/>
                    </a:lnTo>
                    <a:lnTo>
                      <a:pt x="490" y="171"/>
                    </a:lnTo>
                    <a:lnTo>
                      <a:pt x="497" y="180"/>
                    </a:lnTo>
                    <a:lnTo>
                      <a:pt x="504" y="188"/>
                    </a:lnTo>
                    <a:lnTo>
                      <a:pt x="510" y="198"/>
                    </a:lnTo>
                    <a:lnTo>
                      <a:pt x="516" y="207"/>
                    </a:lnTo>
                    <a:lnTo>
                      <a:pt x="521" y="216"/>
                    </a:lnTo>
                    <a:lnTo>
                      <a:pt x="526" y="226"/>
                    </a:lnTo>
                    <a:lnTo>
                      <a:pt x="530" y="236"/>
                    </a:lnTo>
                    <a:lnTo>
                      <a:pt x="534" y="246"/>
                    </a:lnTo>
                    <a:lnTo>
                      <a:pt x="537" y="256"/>
                    </a:lnTo>
                    <a:lnTo>
                      <a:pt x="540" y="267"/>
                    </a:lnTo>
                    <a:lnTo>
                      <a:pt x="543" y="277"/>
                    </a:lnTo>
                    <a:lnTo>
                      <a:pt x="544" y="288"/>
                    </a:lnTo>
                    <a:lnTo>
                      <a:pt x="546" y="299"/>
                    </a:lnTo>
                    <a:lnTo>
                      <a:pt x="547" y="310"/>
                    </a:lnTo>
                    <a:lnTo>
                      <a:pt x="547" y="321"/>
                    </a:lnTo>
                    <a:lnTo>
                      <a:pt x="547" y="332"/>
                    </a:lnTo>
                    <a:lnTo>
                      <a:pt x="546" y="343"/>
                    </a:lnTo>
                    <a:lnTo>
                      <a:pt x="545" y="354"/>
                    </a:lnTo>
                    <a:lnTo>
                      <a:pt x="543" y="365"/>
                    </a:lnTo>
                    <a:lnTo>
                      <a:pt x="540" y="376"/>
                    </a:lnTo>
                    <a:lnTo>
                      <a:pt x="537" y="387"/>
                    </a:lnTo>
                    <a:lnTo>
                      <a:pt x="534" y="397"/>
                    </a:lnTo>
                    <a:lnTo>
                      <a:pt x="530" y="408"/>
                    </a:lnTo>
                    <a:lnTo>
                      <a:pt x="525" y="419"/>
                    </a:lnTo>
                    <a:lnTo>
                      <a:pt x="520" y="429"/>
                    </a:lnTo>
                    <a:lnTo>
                      <a:pt x="514" y="439"/>
                    </a:lnTo>
                    <a:lnTo>
                      <a:pt x="508" y="449"/>
                    </a:lnTo>
                    <a:lnTo>
                      <a:pt x="501" y="458"/>
                    </a:lnTo>
                    <a:lnTo>
                      <a:pt x="494" y="467"/>
                    </a:lnTo>
                    <a:lnTo>
                      <a:pt x="487" y="475"/>
                    </a:lnTo>
                    <a:lnTo>
                      <a:pt x="478" y="483"/>
                    </a:lnTo>
                    <a:lnTo>
                      <a:pt x="470" y="491"/>
                    </a:lnTo>
                    <a:lnTo>
                      <a:pt x="462" y="499"/>
                    </a:lnTo>
                    <a:lnTo>
                      <a:pt x="453" y="505"/>
                    </a:lnTo>
                    <a:lnTo>
                      <a:pt x="444" y="511"/>
                    </a:lnTo>
                    <a:lnTo>
                      <a:pt x="435" y="517"/>
                    </a:lnTo>
                    <a:lnTo>
                      <a:pt x="425" y="522"/>
                    </a:lnTo>
                    <a:lnTo>
                      <a:pt x="416" y="527"/>
                    </a:lnTo>
                    <a:lnTo>
                      <a:pt x="406" y="532"/>
                    </a:lnTo>
                    <a:lnTo>
                      <a:pt x="396" y="536"/>
                    </a:lnTo>
                    <a:lnTo>
                      <a:pt x="385" y="539"/>
                    </a:lnTo>
                    <a:lnTo>
                      <a:pt x="375" y="542"/>
                    </a:lnTo>
                    <a:lnTo>
                      <a:pt x="364" y="544"/>
                    </a:lnTo>
                    <a:lnTo>
                      <a:pt x="353" y="546"/>
                    </a:lnTo>
                    <a:lnTo>
                      <a:pt x="343" y="548"/>
                    </a:lnTo>
                    <a:lnTo>
                      <a:pt x="332" y="548"/>
                    </a:lnTo>
                    <a:lnTo>
                      <a:pt x="321" y="549"/>
                    </a:lnTo>
                    <a:lnTo>
                      <a:pt x="310" y="549"/>
                    </a:lnTo>
                    <a:lnTo>
                      <a:pt x="299" y="548"/>
                    </a:lnTo>
                    <a:lnTo>
                      <a:pt x="288" y="547"/>
                    </a:lnTo>
                    <a:lnTo>
                      <a:pt x="277" y="545"/>
                    </a:lnTo>
                    <a:lnTo>
                      <a:pt x="266" y="542"/>
                    </a:lnTo>
                    <a:lnTo>
                      <a:pt x="255" y="539"/>
                    </a:lnTo>
                    <a:lnTo>
                      <a:pt x="244" y="536"/>
                    </a:lnTo>
                    <a:lnTo>
                      <a:pt x="234" y="532"/>
                    </a:lnTo>
                    <a:lnTo>
                      <a:pt x="223" y="527"/>
                    </a:lnTo>
                    <a:lnTo>
                      <a:pt x="213" y="522"/>
                    </a:lnTo>
                    <a:lnTo>
                      <a:pt x="203" y="516"/>
                    </a:lnTo>
                    <a:lnTo>
                      <a:pt x="193" y="510"/>
                    </a:lnTo>
                    <a:lnTo>
                      <a:pt x="184" y="503"/>
                    </a:lnTo>
                    <a:lnTo>
                      <a:pt x="175" y="496"/>
                    </a:lnTo>
                    <a:lnTo>
                      <a:pt x="167" y="489"/>
                    </a:lnTo>
                    <a:lnTo>
                      <a:pt x="158" y="480"/>
                    </a:lnTo>
                    <a:lnTo>
                      <a:pt x="150" y="472"/>
                    </a:lnTo>
                    <a:lnTo>
                      <a:pt x="143" y="464"/>
                    </a:lnTo>
                    <a:lnTo>
                      <a:pt x="136" y="455"/>
                    </a:lnTo>
                    <a:lnTo>
                      <a:pt x="130" y="446"/>
                    </a:lnTo>
                    <a:lnTo>
                      <a:pt x="124" y="436"/>
                    </a:lnTo>
                    <a:lnTo>
                      <a:pt x="119" y="427"/>
                    </a:lnTo>
                    <a:lnTo>
                      <a:pt x="114" y="417"/>
                    </a:lnTo>
                    <a:lnTo>
                      <a:pt x="110" y="407"/>
                    </a:lnTo>
                    <a:lnTo>
                      <a:pt x="106" y="397"/>
                    </a:lnTo>
                    <a:lnTo>
                      <a:pt x="103" y="387"/>
                    </a:lnTo>
                    <a:lnTo>
                      <a:pt x="100" y="376"/>
                    </a:lnTo>
                    <a:lnTo>
                      <a:pt x="98" y="366"/>
                    </a:lnTo>
                    <a:lnTo>
                      <a:pt x="96" y="355"/>
                    </a:lnTo>
                    <a:lnTo>
                      <a:pt x="94" y="344"/>
                    </a:lnTo>
                    <a:lnTo>
                      <a:pt x="94" y="333"/>
                    </a:lnTo>
                    <a:lnTo>
                      <a:pt x="93" y="322"/>
                    </a:lnTo>
                    <a:lnTo>
                      <a:pt x="93" y="311"/>
                    </a:lnTo>
                    <a:lnTo>
                      <a:pt x="94" y="300"/>
                    </a:lnTo>
                    <a:lnTo>
                      <a:pt x="95" y="289"/>
                    </a:lnTo>
                    <a:lnTo>
                      <a:pt x="97" y="278"/>
                    </a:lnTo>
                    <a:lnTo>
                      <a:pt x="100" y="267"/>
                    </a:lnTo>
                    <a:lnTo>
                      <a:pt x="103" y="256"/>
                    </a:lnTo>
                    <a:lnTo>
                      <a:pt x="106" y="246"/>
                    </a:lnTo>
                    <a:lnTo>
                      <a:pt x="110" y="235"/>
                    </a:lnTo>
                    <a:lnTo>
                      <a:pt x="115" y="224"/>
                    </a:lnTo>
                    <a:close/>
                  </a:path>
                </a:pathLst>
              </a:custGeom>
              <a:solidFill>
                <a:srgbClr val="000000"/>
              </a:solidFill>
              <a:ln w="9525">
                <a:noFill/>
                <a:round/>
                <a:headEnd/>
                <a:tailEnd/>
              </a:ln>
            </p:spPr>
            <p:txBody>
              <a:bodyPr/>
              <a:lstStyle/>
              <a:p>
                <a:endParaRPr lang="en-US"/>
              </a:p>
            </p:txBody>
          </p:sp>
        </p:grpSp>
        <p:sp>
          <p:nvSpPr>
            <p:cNvPr id="7" name="Text Box 29"/>
            <p:cNvSpPr txBox="1">
              <a:spLocks noChangeArrowheads="1"/>
            </p:cNvSpPr>
            <p:nvPr/>
          </p:nvSpPr>
          <p:spPr bwMode="auto">
            <a:xfrm>
              <a:off x="751" y="2490"/>
              <a:ext cx="393" cy="523"/>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4800" dirty="0">
                  <a:solidFill>
                    <a:srgbClr val="FFFFFF"/>
                  </a:solidFill>
                </a:rPr>
                <a:t>CP</a:t>
              </a:r>
            </a:p>
          </p:txBody>
        </p:sp>
      </p:grpSp>
      <p:sp>
        <p:nvSpPr>
          <p:cNvPr id="10" name="Content Placeholder 2"/>
          <p:cNvSpPr txBox="1">
            <a:spLocks/>
          </p:cNvSpPr>
          <p:nvPr/>
        </p:nvSpPr>
        <p:spPr>
          <a:xfrm>
            <a:off x="1072183" y="1670260"/>
            <a:ext cx="10969943" cy="1911140"/>
          </a:xfrm>
          <a:prstGeom prst="rect">
            <a:avLst/>
          </a:prstGeom>
        </p:spPr>
        <p:txBody>
          <a:bodyPr vert="horz" wrap="none" lIns="0" tIns="0" rIns="0" bIns="0" rtlCol="0" anchor="ctr"/>
          <a:lstStyle/>
          <a:p>
            <a:pPr marL="0" marR="0" lvl="0" indent="0"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lumMod val="60000"/>
                    <a:lumOff val="40000"/>
                  </a:schemeClr>
                </a:solidFill>
                <a:effectLst/>
                <a:uLnTx/>
                <a:uFillTx/>
                <a:latin typeface="+mn-lt"/>
                <a:ea typeface="+mn-ea"/>
                <a:cs typeface="+mn-cs"/>
              </a:rPr>
              <a:t>Internal:  Negative Impact on Employee Behaviors</a:t>
            </a:r>
          </a:p>
          <a:p>
            <a:pPr marL="0" marR="0" lvl="0" indent="0"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lumMod val="60000"/>
                    <a:lumOff val="40000"/>
                  </a:schemeClr>
                </a:solidFill>
                <a:effectLst/>
                <a:uLnTx/>
                <a:uFillTx/>
                <a:latin typeface="+mn-lt"/>
                <a:ea typeface="+mn-ea"/>
                <a:cs typeface="+mn-cs"/>
              </a:rPr>
              <a:t>Financial:  Erode Profitability or Financial Performance</a:t>
            </a:r>
          </a:p>
          <a:p>
            <a:pPr marL="0" marR="0" lvl="0" indent="0"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lumMod val="60000"/>
                    <a:lumOff val="40000"/>
                  </a:schemeClr>
                </a:solidFill>
                <a:effectLst/>
                <a:uLnTx/>
                <a:uFillTx/>
                <a:latin typeface="+mn-lt"/>
                <a:ea typeface="+mn-ea"/>
                <a:cs typeface="+mn-cs"/>
              </a:rPr>
              <a:t>Strategic:  Impact Organizational Growth or Survival</a:t>
            </a:r>
          </a:p>
          <a:p>
            <a:pPr marL="0" marR="0" lvl="0" indent="0"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lumMod val="60000"/>
                    <a:lumOff val="40000"/>
                  </a:schemeClr>
                </a:solidFill>
                <a:effectLst/>
                <a:uLnTx/>
                <a:uFillTx/>
                <a:latin typeface="+mn-lt"/>
                <a:ea typeface="+mn-ea"/>
                <a:cs typeface="+mn-cs"/>
              </a:rPr>
              <a:t>Political - Personal:  All Pains May Have an Impact</a:t>
            </a:r>
            <a:endParaRPr kumimoji="0" lang="en-US" sz="2800" b="0" i="0" u="none" strike="noStrike" kern="1200" cap="none" spc="0" normalizeH="0" baseline="0" noProof="0" dirty="0">
              <a:ln>
                <a:noFill/>
              </a:ln>
              <a:solidFill>
                <a:schemeClr val="tx1">
                  <a:lumMod val="60000"/>
                  <a:lumOff val="40000"/>
                </a:schemeClr>
              </a:solidFill>
              <a:effectLst/>
              <a:uLnTx/>
              <a:uFillTx/>
              <a:latin typeface="+mn-lt"/>
              <a:ea typeface="+mn-ea"/>
              <a:cs typeface="+mn-cs"/>
            </a:endParaRPr>
          </a:p>
        </p:txBody>
      </p:sp>
      <p:sp>
        <p:nvSpPr>
          <p:cNvPr id="11" name="Rectangle 1047"/>
          <p:cNvSpPr>
            <a:spLocks noChangeArrowheads="1"/>
          </p:cNvSpPr>
          <p:nvPr/>
        </p:nvSpPr>
        <p:spPr bwMode="auto">
          <a:xfrm>
            <a:off x="413550" y="3761638"/>
            <a:ext cx="5452322" cy="2639162"/>
          </a:xfrm>
          <a:prstGeom prst="rect">
            <a:avLst/>
          </a:prstGeom>
          <a:noFill/>
          <a:ln w="9525">
            <a:noFill/>
            <a:miter lim="800000"/>
            <a:headEnd/>
            <a:tailEnd/>
          </a:ln>
        </p:spPr>
        <p:txBody>
          <a:bodyPr wrap="square" lIns="121899" tIns="60949" rIns="121899" bIns="60949">
            <a:spAutoFit/>
          </a:bodyPr>
          <a:lstStyle/>
          <a:p>
            <a:pPr marL="634889" indent="-634889">
              <a:spcBef>
                <a:spcPct val="50000"/>
              </a:spcBef>
            </a:pPr>
            <a:r>
              <a:rPr lang="en-US" sz="2700" dirty="0" smtClean="0">
                <a:solidFill>
                  <a:srgbClr val="1C1C1C"/>
                </a:solidFill>
              </a:rPr>
              <a:t>Internal / Financial</a:t>
            </a:r>
            <a:endParaRPr lang="en-US" sz="2700" dirty="0">
              <a:solidFill>
                <a:srgbClr val="1C1C1C"/>
              </a:solidFill>
            </a:endParaRPr>
          </a:p>
          <a:p>
            <a:pPr marL="634889" indent="-634889">
              <a:lnSpc>
                <a:spcPct val="130000"/>
              </a:lnSpc>
              <a:buFont typeface="Wingdings" pitchFamily="2" charset="2"/>
              <a:buChar char="q"/>
            </a:pPr>
            <a:r>
              <a:rPr lang="en-US" sz="2100" dirty="0" smtClean="0">
                <a:solidFill>
                  <a:srgbClr val="000000"/>
                </a:solidFill>
                <a:latin typeface="Tahoma" pitchFamily="34" charset="0"/>
              </a:rPr>
              <a:t>Poor Departmental Morale</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smtClean="0">
                <a:solidFill>
                  <a:srgbClr val="000000"/>
                </a:solidFill>
                <a:latin typeface="Tahoma" pitchFamily="34" charset="0"/>
              </a:rPr>
              <a:t>Loss of Efficiency – Productivity Down</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smtClean="0">
                <a:solidFill>
                  <a:srgbClr val="000000"/>
                </a:solidFill>
                <a:latin typeface="Tahoma" pitchFamily="34" charset="0"/>
              </a:rPr>
              <a:t>High Staff Turnover</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smtClean="0">
                <a:solidFill>
                  <a:srgbClr val="000000"/>
                </a:solidFill>
                <a:latin typeface="Tahoma" pitchFamily="34" charset="0"/>
              </a:rPr>
              <a:t>Cash Flow Down X%</a:t>
            </a:r>
          </a:p>
          <a:p>
            <a:pPr marL="634889" indent="-634889">
              <a:lnSpc>
                <a:spcPct val="130000"/>
              </a:lnSpc>
              <a:buFont typeface="Wingdings" pitchFamily="2" charset="2"/>
              <a:buChar char="q"/>
            </a:pPr>
            <a:r>
              <a:rPr lang="en-US" sz="2100" dirty="0" smtClean="0">
                <a:solidFill>
                  <a:srgbClr val="000000"/>
                </a:solidFill>
                <a:latin typeface="Tahoma" pitchFamily="34" charset="0"/>
              </a:rPr>
              <a:t>Costs Rising Y%</a:t>
            </a:r>
            <a:endParaRPr lang="en-US" sz="2100" dirty="0">
              <a:solidFill>
                <a:srgbClr val="000000"/>
              </a:solidFill>
              <a:latin typeface="Tahoma" pitchFamily="34" charset="0"/>
            </a:endParaRPr>
          </a:p>
        </p:txBody>
      </p:sp>
      <p:sp>
        <p:nvSpPr>
          <p:cNvPr id="12" name="Rectangle 1048"/>
          <p:cNvSpPr>
            <a:spLocks noChangeArrowheads="1"/>
          </p:cNvSpPr>
          <p:nvPr/>
        </p:nvSpPr>
        <p:spPr bwMode="auto">
          <a:xfrm>
            <a:off x="6127062" y="3743919"/>
            <a:ext cx="5800584" cy="2639162"/>
          </a:xfrm>
          <a:prstGeom prst="rect">
            <a:avLst/>
          </a:prstGeom>
          <a:noFill/>
          <a:ln w="9525">
            <a:noFill/>
            <a:miter lim="800000"/>
            <a:headEnd/>
            <a:tailEnd/>
          </a:ln>
        </p:spPr>
        <p:txBody>
          <a:bodyPr wrap="square" lIns="121899" tIns="60949" rIns="121899" bIns="60949">
            <a:spAutoFit/>
          </a:bodyPr>
          <a:lstStyle/>
          <a:p>
            <a:pPr marL="634889" indent="-634889">
              <a:spcBef>
                <a:spcPct val="50000"/>
              </a:spcBef>
            </a:pPr>
            <a:r>
              <a:rPr lang="en-US" sz="2700" dirty="0" smtClean="0">
                <a:solidFill>
                  <a:srgbClr val="1C1C1C"/>
                </a:solidFill>
              </a:rPr>
              <a:t>Strategic / Political - Personal</a:t>
            </a:r>
            <a:endParaRPr lang="en-US" sz="2700" dirty="0">
              <a:solidFill>
                <a:srgbClr val="1C1C1C"/>
              </a:solidFill>
            </a:endParaRPr>
          </a:p>
          <a:p>
            <a:pPr marL="634889" indent="-634889">
              <a:lnSpc>
                <a:spcPct val="130000"/>
              </a:lnSpc>
              <a:buFont typeface="Wingdings" pitchFamily="2" charset="2"/>
              <a:buChar char="q"/>
            </a:pPr>
            <a:r>
              <a:rPr lang="en-US" sz="2100" dirty="0" smtClean="0">
                <a:solidFill>
                  <a:srgbClr val="000000"/>
                </a:solidFill>
                <a:latin typeface="Tahoma" pitchFamily="34" charset="0"/>
              </a:rPr>
              <a:t>Eroding Market Share</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smtClean="0">
                <a:solidFill>
                  <a:srgbClr val="000000"/>
                </a:solidFill>
                <a:latin typeface="Tahoma" pitchFamily="34" charset="0"/>
              </a:rPr>
              <a:t>Slow Time to Market</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smtClean="0">
                <a:solidFill>
                  <a:srgbClr val="000000"/>
                </a:solidFill>
                <a:latin typeface="Tahoma" pitchFamily="34" charset="0"/>
              </a:rPr>
              <a:t>Inability to Expand into New Markets</a:t>
            </a:r>
            <a:endParaRPr lang="en-US" sz="2100" dirty="0">
              <a:solidFill>
                <a:srgbClr val="000000"/>
              </a:solidFill>
              <a:latin typeface="Tahoma" pitchFamily="34" charset="0"/>
            </a:endParaRPr>
          </a:p>
          <a:p>
            <a:pPr marL="634889" indent="-634889">
              <a:lnSpc>
                <a:spcPct val="130000"/>
              </a:lnSpc>
              <a:buFont typeface="Wingdings" pitchFamily="2" charset="2"/>
              <a:buChar char="q"/>
            </a:pPr>
            <a:r>
              <a:rPr lang="en-US" sz="2100" dirty="0" smtClean="0">
                <a:solidFill>
                  <a:srgbClr val="000000"/>
                </a:solidFill>
                <a:latin typeface="Tahoma" pitchFamily="34" charset="0"/>
              </a:rPr>
              <a:t>Difficulty Raising Finances for Expansion</a:t>
            </a:r>
          </a:p>
          <a:p>
            <a:pPr marL="634889" indent="-634889">
              <a:lnSpc>
                <a:spcPct val="130000"/>
              </a:lnSpc>
              <a:buFont typeface="Wingdings" pitchFamily="2" charset="2"/>
              <a:buChar char="q"/>
            </a:pPr>
            <a:r>
              <a:rPr lang="en-US" sz="2100" dirty="0" smtClean="0">
                <a:solidFill>
                  <a:srgbClr val="000000"/>
                </a:solidFill>
                <a:latin typeface="Tahoma" pitchFamily="34" charset="0"/>
              </a:rPr>
              <a:t>Lack of Skills on CV</a:t>
            </a:r>
            <a:endParaRPr lang="en-US" sz="2100" dirty="0">
              <a:solidFill>
                <a:srgbClr val="000000"/>
              </a:solidFill>
              <a:latin typeface="Tahoma" pitchFamily="34"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4" end="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Discovery Map </a:t>
            </a:r>
            <a:br>
              <a:rPr lang="en-US" dirty="0" smtClean="0"/>
            </a:br>
            <a:r>
              <a:rPr lang="en-US" dirty="0" smtClean="0"/>
              <a:t>(Insert Here)</a:t>
            </a:r>
            <a:endParaRPr lang="en-US" dirty="0"/>
          </a:p>
        </p:txBody>
      </p:sp>
      <p:sp>
        <p:nvSpPr>
          <p:cNvPr id="3" name="Slide Number Placeholder 2"/>
          <p:cNvSpPr>
            <a:spLocks noGrp="1"/>
          </p:cNvSpPr>
          <p:nvPr>
            <p:ph type="sldNum" sz="quarter" idx="12"/>
          </p:nvPr>
        </p:nvSpPr>
        <p:spPr/>
        <p:txBody>
          <a:bodyPr/>
          <a:lstStyle/>
          <a:p>
            <a:fld id="{C51EAA63-D034-42AE-91FA-B13B9518C7BE}" type="slidenum">
              <a:rPr lang="en-US" smtClean="0"/>
              <a:pPr/>
              <a:t>8</a:t>
            </a:fld>
            <a:endParaRPr lang="en-US" dirty="0"/>
          </a:p>
        </p:txBody>
      </p:sp>
      <p:sp>
        <p:nvSpPr>
          <p:cNvPr id="4" name="Rectangle 3"/>
          <p:cNvSpPr>
            <a:spLocks noChangeArrowheads="1"/>
          </p:cNvSpPr>
          <p:nvPr/>
        </p:nvSpPr>
        <p:spPr bwMode="auto">
          <a:xfrm>
            <a:off x="327999" y="2795939"/>
            <a:ext cx="1807163" cy="852488"/>
          </a:xfrm>
          <a:prstGeom prst="rect">
            <a:avLst/>
          </a:prstGeom>
          <a:solidFill>
            <a:srgbClr val="660033"/>
          </a:solidFill>
          <a:ln w="9525" algn="ctr">
            <a:solidFill>
              <a:srgbClr val="000000"/>
            </a:solidFill>
            <a:miter lim="800000"/>
            <a:headEnd/>
            <a:tailEnd/>
          </a:ln>
        </p:spPr>
        <p:txBody>
          <a:bodyPr lIns="121899" tIns="60949" rIns="121899" bIns="60949" anchor="b" anchorCtr="1"/>
          <a:lstStyle/>
          <a:p>
            <a:pPr eaLnBrk="1" hangingPunct="1"/>
            <a:endParaRPr lang="en-US" sz="500" dirty="0">
              <a:solidFill>
                <a:schemeClr val="bg1"/>
              </a:solidFill>
              <a:latin typeface="Tahoma" pitchFamily="34" charset="0"/>
            </a:endParaRPr>
          </a:p>
        </p:txBody>
      </p:sp>
      <p:sp>
        <p:nvSpPr>
          <p:cNvPr id="5" name="Rectangle 4"/>
          <p:cNvSpPr>
            <a:spLocks noChangeArrowheads="1"/>
          </p:cNvSpPr>
          <p:nvPr/>
        </p:nvSpPr>
        <p:spPr bwMode="auto">
          <a:xfrm>
            <a:off x="355509" y="3886552"/>
            <a:ext cx="1851602" cy="890587"/>
          </a:xfrm>
          <a:prstGeom prst="rect">
            <a:avLst/>
          </a:prstGeom>
          <a:solidFill>
            <a:srgbClr val="660033"/>
          </a:solidFill>
          <a:ln w="9525" algn="ctr">
            <a:solidFill>
              <a:srgbClr val="000000"/>
            </a:solidFill>
            <a:miter lim="800000"/>
            <a:headEnd/>
            <a:tailEnd/>
          </a:ln>
        </p:spPr>
        <p:txBody>
          <a:bodyPr lIns="121899" tIns="60949" rIns="121899" bIns="60949" anchor="b" anchorCtr="1"/>
          <a:lstStyle/>
          <a:p>
            <a:pPr eaLnBrk="1" hangingPunct="1"/>
            <a:endParaRPr lang="en-US" sz="500" dirty="0">
              <a:solidFill>
                <a:schemeClr val="bg1"/>
              </a:solidFill>
              <a:latin typeface="Tahoma" pitchFamily="34" charset="0"/>
            </a:endParaRPr>
          </a:p>
        </p:txBody>
      </p:sp>
      <p:sp>
        <p:nvSpPr>
          <p:cNvPr id="6" name="Rectangle 5"/>
          <p:cNvSpPr>
            <a:spLocks noChangeArrowheads="1"/>
          </p:cNvSpPr>
          <p:nvPr/>
        </p:nvSpPr>
        <p:spPr bwMode="auto">
          <a:xfrm>
            <a:off x="357626" y="2162528"/>
            <a:ext cx="1697125" cy="416332"/>
          </a:xfrm>
          <a:prstGeom prst="rect">
            <a:avLst/>
          </a:prstGeom>
          <a:solidFill>
            <a:srgbClr val="660033"/>
          </a:solidFill>
          <a:ln w="9525">
            <a:solidFill>
              <a:schemeClr val="tx1"/>
            </a:solidFill>
            <a:miter lim="800000"/>
            <a:headEnd/>
            <a:tailEnd/>
          </a:ln>
          <a:effectLst/>
        </p:spPr>
        <p:txBody>
          <a:bodyPr lIns="122745" tIns="61373" rIns="122745" bIns="61373">
            <a:spAutoFit/>
          </a:bodyPr>
          <a:lstStyle/>
          <a:p>
            <a:pPr algn="ctr">
              <a:defRPr/>
            </a:pPr>
            <a:r>
              <a:rPr lang="en-US" sz="1900" dirty="0">
                <a:solidFill>
                  <a:schemeClr val="bg1"/>
                </a:solidFill>
                <a:effectLst>
                  <a:outerShdw blurRad="38100" dist="38100" dir="2700000" algn="tl">
                    <a:srgbClr val="000000"/>
                  </a:outerShdw>
                </a:effectLst>
                <a:latin typeface="Tahoma" pitchFamily="34" charset="0"/>
              </a:rPr>
              <a:t>Political</a:t>
            </a:r>
            <a:endParaRPr lang="fr-FR" sz="1900" dirty="0">
              <a:solidFill>
                <a:schemeClr val="bg1"/>
              </a:solidFill>
              <a:effectLst>
                <a:outerShdw blurRad="38100" dist="38100" dir="2700000" algn="tl">
                  <a:srgbClr val="000000"/>
                </a:outerShdw>
              </a:effectLst>
              <a:latin typeface="Tahoma" pitchFamily="34" charset="0"/>
            </a:endParaRPr>
          </a:p>
        </p:txBody>
      </p:sp>
      <p:sp>
        <p:nvSpPr>
          <p:cNvPr id="7" name="Rectangle 6"/>
          <p:cNvSpPr>
            <a:spLocks noChangeArrowheads="1"/>
          </p:cNvSpPr>
          <p:nvPr/>
        </p:nvSpPr>
        <p:spPr bwMode="auto">
          <a:xfrm>
            <a:off x="251818" y="3497613"/>
            <a:ext cx="507868" cy="171451"/>
          </a:xfrm>
          <a:prstGeom prst="rect">
            <a:avLst/>
          </a:prstGeom>
          <a:noFill/>
          <a:ln w="9525" algn="ctr">
            <a:noFill/>
            <a:miter lim="800000"/>
            <a:headEnd/>
            <a:tailEnd/>
          </a:ln>
        </p:spPr>
        <p:txBody>
          <a:bodyPr wrap="none" lIns="121899" tIns="60949" rIns="121899" bIns="60949" anchor="ctr"/>
          <a:lstStyle/>
          <a:p>
            <a:pPr algn="l" eaLnBrk="1" hangingPunct="1"/>
            <a:endParaRPr lang="en-US" sz="1600" dirty="0">
              <a:solidFill>
                <a:schemeClr val="bg1"/>
              </a:solidFill>
              <a:latin typeface="Tahoma" pitchFamily="34" charset="0"/>
            </a:endParaRPr>
          </a:p>
        </p:txBody>
      </p:sp>
      <p:sp>
        <p:nvSpPr>
          <p:cNvPr id="8" name="Rectangle 8"/>
          <p:cNvSpPr>
            <a:spLocks noChangeArrowheads="1"/>
          </p:cNvSpPr>
          <p:nvPr/>
        </p:nvSpPr>
        <p:spPr bwMode="auto">
          <a:xfrm>
            <a:off x="1747307" y="2839483"/>
            <a:ext cx="380901" cy="171451"/>
          </a:xfrm>
          <a:prstGeom prst="rect">
            <a:avLst/>
          </a:prstGeom>
          <a:noFill/>
          <a:ln w="9525" algn="ctr">
            <a:noFill/>
            <a:miter lim="800000"/>
            <a:headEnd/>
            <a:tailEnd/>
          </a:ln>
        </p:spPr>
        <p:txBody>
          <a:bodyPr wrap="none" lIns="121899" tIns="60949" rIns="121899" bIns="60949" anchor="ctr"/>
          <a:lstStyle/>
          <a:p>
            <a:pPr eaLnBrk="1" hangingPunct="1"/>
            <a:r>
              <a:rPr lang="en-US" sz="1700" dirty="0">
                <a:solidFill>
                  <a:schemeClr val="bg1"/>
                </a:solidFill>
                <a:latin typeface="Tahoma" pitchFamily="34" charset="0"/>
              </a:rPr>
              <a:t>CP</a:t>
            </a:r>
          </a:p>
        </p:txBody>
      </p:sp>
      <p:sp>
        <p:nvSpPr>
          <p:cNvPr id="9" name="Rectangle 9"/>
          <p:cNvSpPr>
            <a:spLocks noChangeArrowheads="1"/>
          </p:cNvSpPr>
          <p:nvPr/>
        </p:nvSpPr>
        <p:spPr bwMode="auto">
          <a:xfrm>
            <a:off x="1798698" y="3913312"/>
            <a:ext cx="380901" cy="171451"/>
          </a:xfrm>
          <a:prstGeom prst="rect">
            <a:avLst/>
          </a:prstGeom>
          <a:noFill/>
          <a:ln w="9525" algn="ctr">
            <a:noFill/>
            <a:miter lim="800000"/>
            <a:headEnd/>
            <a:tailEnd/>
          </a:ln>
        </p:spPr>
        <p:txBody>
          <a:bodyPr wrap="none" lIns="121899" tIns="60949" rIns="121899" bIns="60949" anchor="ctr"/>
          <a:lstStyle/>
          <a:p>
            <a:pPr eaLnBrk="1" hangingPunct="1"/>
            <a:r>
              <a:rPr lang="en-US" sz="1700" dirty="0">
                <a:solidFill>
                  <a:schemeClr val="bg1"/>
                </a:solidFill>
                <a:latin typeface="Tahoma" pitchFamily="34" charset="0"/>
              </a:rPr>
              <a:t>CP</a:t>
            </a:r>
          </a:p>
        </p:txBody>
      </p:sp>
      <p:sp>
        <p:nvSpPr>
          <p:cNvPr id="10" name="Rectangle 10"/>
          <p:cNvSpPr>
            <a:spLocks noChangeArrowheads="1"/>
          </p:cNvSpPr>
          <p:nvPr/>
        </p:nvSpPr>
        <p:spPr bwMode="auto">
          <a:xfrm>
            <a:off x="9998646" y="3291240"/>
            <a:ext cx="1828324" cy="868363"/>
          </a:xfrm>
          <a:prstGeom prst="rect">
            <a:avLst/>
          </a:prstGeom>
          <a:solidFill>
            <a:srgbClr val="0066FF"/>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p:txBody>
      </p:sp>
      <p:cxnSp>
        <p:nvCxnSpPr>
          <p:cNvPr id="11" name="AutoShape 11"/>
          <p:cNvCxnSpPr>
            <a:cxnSpLocks noChangeShapeType="1"/>
            <a:endCxn id="10" idx="2"/>
          </p:cNvCxnSpPr>
          <p:nvPr/>
        </p:nvCxnSpPr>
        <p:spPr bwMode="auto">
          <a:xfrm flipV="1">
            <a:off x="9389205" y="4159602"/>
            <a:ext cx="1523603" cy="895351"/>
          </a:xfrm>
          <a:prstGeom prst="bentConnector2">
            <a:avLst/>
          </a:prstGeom>
          <a:noFill/>
          <a:ln w="9525">
            <a:solidFill>
              <a:srgbClr val="000000"/>
            </a:solidFill>
            <a:miter lim="800000"/>
            <a:headEnd/>
            <a:tailEnd type="triangle" w="med" len="med"/>
          </a:ln>
        </p:spPr>
      </p:cxnSp>
      <p:cxnSp>
        <p:nvCxnSpPr>
          <p:cNvPr id="12" name="AutoShape 12"/>
          <p:cNvCxnSpPr>
            <a:cxnSpLocks noChangeShapeType="1"/>
            <a:endCxn id="13" idx="3"/>
          </p:cNvCxnSpPr>
          <p:nvPr/>
        </p:nvCxnSpPr>
        <p:spPr bwMode="auto">
          <a:xfrm rot="10800000">
            <a:off x="4348620" y="3715102"/>
            <a:ext cx="3313837" cy="1333500"/>
          </a:xfrm>
          <a:prstGeom prst="bentConnector3">
            <a:avLst>
              <a:gd name="adj1" fmla="val 50000"/>
            </a:avLst>
          </a:prstGeom>
          <a:noFill/>
          <a:ln w="9525">
            <a:solidFill>
              <a:srgbClr val="000000"/>
            </a:solidFill>
            <a:miter lim="800000"/>
            <a:headEnd/>
            <a:tailEnd type="triangle" w="med" len="med"/>
          </a:ln>
        </p:spPr>
      </p:cxnSp>
      <p:sp>
        <p:nvSpPr>
          <p:cNvPr id="13" name="Rectangle 13"/>
          <p:cNvSpPr>
            <a:spLocks noChangeArrowheads="1"/>
          </p:cNvSpPr>
          <p:nvPr/>
        </p:nvSpPr>
        <p:spPr bwMode="auto">
          <a:xfrm>
            <a:off x="2435650" y="3273776"/>
            <a:ext cx="1912968" cy="881063"/>
          </a:xfrm>
          <a:prstGeom prst="rect">
            <a:avLst/>
          </a:prstGeom>
          <a:solidFill>
            <a:srgbClr val="0066FF"/>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a:p>
            <a:pPr eaLnBrk="1" hangingPunct="1"/>
            <a:endParaRPr lang="en-US" sz="1700" dirty="0">
              <a:solidFill>
                <a:schemeClr val="bg1"/>
              </a:solidFill>
              <a:latin typeface="Tahoma" pitchFamily="34" charset="0"/>
            </a:endParaRPr>
          </a:p>
        </p:txBody>
      </p:sp>
      <p:sp>
        <p:nvSpPr>
          <p:cNvPr id="14" name="Rectangle 14"/>
          <p:cNvSpPr>
            <a:spLocks noChangeArrowheads="1"/>
          </p:cNvSpPr>
          <p:nvPr/>
        </p:nvSpPr>
        <p:spPr bwMode="auto">
          <a:xfrm>
            <a:off x="7560881" y="3289652"/>
            <a:ext cx="1828324" cy="868363"/>
          </a:xfrm>
          <a:prstGeom prst="rect">
            <a:avLst/>
          </a:prstGeom>
          <a:solidFill>
            <a:srgbClr val="0066FF"/>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p:txBody>
      </p:sp>
      <p:cxnSp>
        <p:nvCxnSpPr>
          <p:cNvPr id="15" name="AutoShape 15"/>
          <p:cNvCxnSpPr>
            <a:cxnSpLocks noChangeShapeType="1"/>
            <a:endCxn id="14" idx="2"/>
          </p:cNvCxnSpPr>
          <p:nvPr/>
        </p:nvCxnSpPr>
        <p:spPr bwMode="auto">
          <a:xfrm rot="-5400000">
            <a:off x="8244062" y="4388996"/>
            <a:ext cx="461963" cy="0"/>
          </a:xfrm>
          <a:prstGeom prst="straightConnector1">
            <a:avLst/>
          </a:prstGeom>
          <a:noFill/>
          <a:ln w="9525">
            <a:solidFill>
              <a:srgbClr val="000000"/>
            </a:solidFill>
            <a:round/>
            <a:headEnd/>
            <a:tailEnd type="triangle" w="med" len="med"/>
          </a:ln>
        </p:spPr>
      </p:cxnSp>
      <p:sp>
        <p:nvSpPr>
          <p:cNvPr id="16" name="Rectangle 16"/>
          <p:cNvSpPr>
            <a:spLocks noChangeArrowheads="1"/>
          </p:cNvSpPr>
          <p:nvPr/>
        </p:nvSpPr>
        <p:spPr bwMode="auto">
          <a:xfrm>
            <a:off x="5190834" y="3316639"/>
            <a:ext cx="1697125" cy="314325"/>
          </a:xfrm>
          <a:prstGeom prst="rect">
            <a:avLst/>
          </a:prstGeom>
          <a:solidFill>
            <a:srgbClr val="0066FF"/>
          </a:solidFill>
          <a:ln w="9525">
            <a:solidFill>
              <a:srgbClr val="204658"/>
            </a:solidFill>
            <a:miter lim="800000"/>
            <a:headEnd/>
            <a:tailEnd/>
          </a:ln>
          <a:effectLst/>
        </p:spPr>
        <p:txBody>
          <a:bodyPr wrap="none" lIns="121888" tIns="60944" rIns="121888" bIns="60944" anchor="ctr"/>
          <a:lstStyle/>
          <a:p>
            <a:pPr algn="ctr" eaLnBrk="1" hangingPunct="1">
              <a:defRPr/>
            </a:pPr>
            <a:r>
              <a:rPr lang="en-US" sz="1900" dirty="0">
                <a:solidFill>
                  <a:schemeClr val="bg1"/>
                </a:solidFill>
                <a:effectLst>
                  <a:outerShdw blurRad="38100" dist="38100" dir="2700000" algn="tl">
                    <a:srgbClr val="000000"/>
                  </a:outerShdw>
                </a:effectLst>
                <a:latin typeface="Tahoma" pitchFamily="34" charset="0"/>
              </a:rPr>
              <a:t>Internal</a:t>
            </a:r>
            <a:endParaRPr lang="fr-FR" sz="1900" dirty="0">
              <a:solidFill>
                <a:schemeClr val="bg1"/>
              </a:solidFill>
              <a:effectLst>
                <a:outerShdw blurRad="38100" dist="38100" dir="2700000" algn="tl">
                  <a:srgbClr val="000000"/>
                </a:outerShdw>
              </a:effectLst>
              <a:latin typeface="Tahoma" pitchFamily="34" charset="0"/>
            </a:endParaRPr>
          </a:p>
        </p:txBody>
      </p:sp>
      <p:sp>
        <p:nvSpPr>
          <p:cNvPr id="17" name="Rectangle 17"/>
          <p:cNvSpPr>
            <a:spLocks noChangeArrowheads="1"/>
          </p:cNvSpPr>
          <p:nvPr/>
        </p:nvSpPr>
        <p:spPr bwMode="auto">
          <a:xfrm>
            <a:off x="11449395" y="3311649"/>
            <a:ext cx="380901" cy="171451"/>
          </a:xfrm>
          <a:prstGeom prst="rect">
            <a:avLst/>
          </a:prstGeom>
          <a:noFill/>
          <a:ln w="9525" algn="ctr">
            <a:noFill/>
            <a:miter lim="800000"/>
            <a:headEnd/>
            <a:tailEnd/>
          </a:ln>
        </p:spPr>
        <p:txBody>
          <a:bodyPr wrap="none" lIns="121899" tIns="60949" rIns="121899" bIns="60949" anchor="ctr"/>
          <a:lstStyle/>
          <a:p>
            <a:pPr eaLnBrk="1" hangingPunct="1"/>
            <a:r>
              <a:rPr lang="en-US" sz="1700" dirty="0">
                <a:solidFill>
                  <a:schemeClr val="bg1"/>
                </a:solidFill>
                <a:latin typeface="Tahoma" pitchFamily="34" charset="0"/>
              </a:rPr>
              <a:t>CP</a:t>
            </a:r>
          </a:p>
        </p:txBody>
      </p:sp>
      <p:sp>
        <p:nvSpPr>
          <p:cNvPr id="18" name="Rectangle 18"/>
          <p:cNvSpPr>
            <a:spLocks noChangeArrowheads="1"/>
          </p:cNvSpPr>
          <p:nvPr/>
        </p:nvSpPr>
        <p:spPr bwMode="auto">
          <a:xfrm>
            <a:off x="9005282" y="3306887"/>
            <a:ext cx="380901" cy="171451"/>
          </a:xfrm>
          <a:prstGeom prst="rect">
            <a:avLst/>
          </a:prstGeom>
          <a:noFill/>
          <a:ln w="9525" algn="ctr">
            <a:noFill/>
            <a:miter lim="800000"/>
            <a:headEnd/>
            <a:tailEnd/>
          </a:ln>
        </p:spPr>
        <p:txBody>
          <a:bodyPr wrap="none" lIns="121899" tIns="60949" rIns="121899" bIns="60949" anchor="ctr"/>
          <a:lstStyle/>
          <a:p>
            <a:pPr eaLnBrk="1" hangingPunct="1"/>
            <a:r>
              <a:rPr lang="en-US" sz="1700" dirty="0">
                <a:solidFill>
                  <a:schemeClr val="bg1"/>
                </a:solidFill>
                <a:latin typeface="Tahoma" pitchFamily="34" charset="0"/>
              </a:rPr>
              <a:t>CP</a:t>
            </a:r>
          </a:p>
        </p:txBody>
      </p:sp>
      <p:sp>
        <p:nvSpPr>
          <p:cNvPr id="19" name="Rectangle 19"/>
          <p:cNvSpPr>
            <a:spLocks noChangeArrowheads="1"/>
          </p:cNvSpPr>
          <p:nvPr/>
        </p:nvSpPr>
        <p:spPr bwMode="auto">
          <a:xfrm>
            <a:off x="3969832" y="3330927"/>
            <a:ext cx="380901" cy="171451"/>
          </a:xfrm>
          <a:prstGeom prst="rect">
            <a:avLst/>
          </a:prstGeom>
          <a:noFill/>
          <a:ln w="9525" algn="ctr">
            <a:noFill/>
            <a:miter lim="800000"/>
            <a:headEnd/>
            <a:tailEnd/>
          </a:ln>
        </p:spPr>
        <p:txBody>
          <a:bodyPr wrap="none" lIns="121899" tIns="60949" rIns="121899" bIns="60949" anchor="ctr"/>
          <a:lstStyle/>
          <a:p>
            <a:pPr eaLnBrk="1" hangingPunct="1"/>
            <a:r>
              <a:rPr lang="en-US" sz="1700" dirty="0">
                <a:solidFill>
                  <a:schemeClr val="bg1"/>
                </a:solidFill>
                <a:latin typeface="Tahoma" pitchFamily="34" charset="0"/>
              </a:rPr>
              <a:t>CP</a:t>
            </a:r>
          </a:p>
        </p:txBody>
      </p:sp>
      <p:sp>
        <p:nvSpPr>
          <p:cNvPr id="20" name="Text Box 21"/>
          <p:cNvSpPr txBox="1">
            <a:spLocks noChangeArrowheads="1"/>
          </p:cNvSpPr>
          <p:nvPr/>
        </p:nvSpPr>
        <p:spPr bwMode="auto">
          <a:xfrm>
            <a:off x="7522791" y="3889727"/>
            <a:ext cx="310299" cy="443176"/>
          </a:xfrm>
          <a:prstGeom prst="rect">
            <a:avLst/>
          </a:prstGeom>
          <a:noFill/>
          <a:ln w="9525" algn="ctr">
            <a:noFill/>
            <a:miter lim="800000"/>
            <a:headEnd/>
            <a:tailEnd/>
          </a:ln>
        </p:spPr>
        <p:txBody>
          <a:bodyPr wrap="none" lIns="121899" tIns="60949" rIns="121899" bIns="60949">
            <a:spAutoFit/>
          </a:bodyPr>
          <a:lstStyle/>
          <a:p>
            <a:pPr algn="l" eaLnBrk="1" hangingPunct="1">
              <a:lnSpc>
                <a:spcPct val="130000"/>
              </a:lnSpc>
            </a:pPr>
            <a:r>
              <a:rPr lang="en-US" sz="1600" dirty="0">
                <a:solidFill>
                  <a:schemeClr val="bg1"/>
                </a:solidFill>
                <a:latin typeface="Tahoma" pitchFamily="34" charset="0"/>
              </a:rPr>
              <a:t> </a:t>
            </a:r>
          </a:p>
        </p:txBody>
      </p:sp>
      <p:cxnSp>
        <p:nvCxnSpPr>
          <p:cNvPr id="21" name="AutoShape 23"/>
          <p:cNvCxnSpPr>
            <a:cxnSpLocks noChangeShapeType="1"/>
          </p:cNvCxnSpPr>
          <p:nvPr/>
        </p:nvCxnSpPr>
        <p:spPr bwMode="auto">
          <a:xfrm rot="-5400000">
            <a:off x="4537440" y="1742724"/>
            <a:ext cx="327025" cy="2731906"/>
          </a:xfrm>
          <a:prstGeom prst="bentConnector3">
            <a:avLst>
              <a:gd name="adj1" fmla="val 50000"/>
            </a:avLst>
          </a:prstGeom>
          <a:noFill/>
          <a:ln w="9525">
            <a:solidFill>
              <a:srgbClr val="000000"/>
            </a:solidFill>
            <a:miter lim="800000"/>
            <a:headEnd/>
            <a:tailEnd type="triangle" w="med" len="med"/>
          </a:ln>
        </p:spPr>
      </p:cxnSp>
      <p:cxnSp>
        <p:nvCxnSpPr>
          <p:cNvPr id="22" name="AutoShape 24"/>
          <p:cNvCxnSpPr>
            <a:cxnSpLocks noChangeShapeType="1"/>
            <a:endCxn id="23" idx="2"/>
          </p:cNvCxnSpPr>
          <p:nvPr/>
        </p:nvCxnSpPr>
        <p:spPr bwMode="auto">
          <a:xfrm rot="-5400000">
            <a:off x="7943232" y="2757840"/>
            <a:ext cx="1063625" cy="0"/>
          </a:xfrm>
          <a:prstGeom prst="straightConnector1">
            <a:avLst/>
          </a:prstGeom>
          <a:noFill/>
          <a:ln w="9525">
            <a:solidFill>
              <a:srgbClr val="000000"/>
            </a:solidFill>
            <a:round/>
            <a:headEnd/>
            <a:tailEnd type="triangle" w="med" len="med"/>
          </a:ln>
        </p:spPr>
      </p:cxnSp>
      <p:sp>
        <p:nvSpPr>
          <p:cNvPr id="23" name="Rectangle 25"/>
          <p:cNvSpPr>
            <a:spLocks noChangeArrowheads="1"/>
          </p:cNvSpPr>
          <p:nvPr/>
        </p:nvSpPr>
        <p:spPr bwMode="auto">
          <a:xfrm>
            <a:off x="7560881" y="1357664"/>
            <a:ext cx="1828324" cy="868363"/>
          </a:xfrm>
          <a:prstGeom prst="rect">
            <a:avLst/>
          </a:prstGeom>
          <a:solidFill>
            <a:srgbClr val="000099"/>
          </a:solidFill>
          <a:ln w="9525">
            <a:solidFill>
              <a:srgbClr val="204658"/>
            </a:solidFill>
            <a:miter lim="800000"/>
            <a:headEnd/>
            <a:tailEnd/>
          </a:ln>
        </p:spPr>
        <p:txBody>
          <a:bodyPr wrap="none" lIns="121888" tIns="60944" rIns="121888" bIns="60944" anchor="ctr"/>
          <a:lstStyle/>
          <a:p>
            <a:pPr eaLnBrk="1" hangingPunct="1"/>
            <a:r>
              <a:rPr lang="en-US" sz="1700" dirty="0">
                <a:solidFill>
                  <a:schemeClr val="bg1"/>
                </a:solidFill>
                <a:latin typeface="Tahoma" pitchFamily="34" charset="0"/>
              </a:rPr>
              <a:t> </a:t>
            </a:r>
          </a:p>
        </p:txBody>
      </p:sp>
      <p:sp>
        <p:nvSpPr>
          <p:cNvPr id="24" name="Rectangle 26"/>
          <p:cNvSpPr>
            <a:spLocks noChangeArrowheads="1"/>
          </p:cNvSpPr>
          <p:nvPr/>
        </p:nvSpPr>
        <p:spPr bwMode="auto">
          <a:xfrm>
            <a:off x="4966524" y="2076801"/>
            <a:ext cx="2014542" cy="868363"/>
          </a:xfrm>
          <a:prstGeom prst="rect">
            <a:avLst/>
          </a:prstGeom>
          <a:solidFill>
            <a:srgbClr val="000099"/>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p:txBody>
      </p:sp>
      <p:cxnSp>
        <p:nvCxnSpPr>
          <p:cNvPr id="25" name="AutoShape 27"/>
          <p:cNvCxnSpPr>
            <a:cxnSpLocks noChangeShapeType="1"/>
            <a:stCxn id="24" idx="0"/>
            <a:endCxn id="23" idx="1"/>
          </p:cNvCxnSpPr>
          <p:nvPr/>
        </p:nvCxnSpPr>
        <p:spPr bwMode="auto">
          <a:xfrm rot="-5400000">
            <a:off x="6625257" y="1141178"/>
            <a:ext cx="284163" cy="1587087"/>
          </a:xfrm>
          <a:prstGeom prst="bentConnector2">
            <a:avLst/>
          </a:prstGeom>
          <a:noFill/>
          <a:ln w="9525">
            <a:solidFill>
              <a:srgbClr val="000000"/>
            </a:solidFill>
            <a:miter lim="800000"/>
            <a:headEnd/>
            <a:tailEnd type="triangle" w="med" len="med"/>
          </a:ln>
        </p:spPr>
      </p:cxnSp>
      <p:sp>
        <p:nvSpPr>
          <p:cNvPr id="26" name="Rectangle 28"/>
          <p:cNvSpPr>
            <a:spLocks noChangeArrowheads="1"/>
          </p:cNvSpPr>
          <p:nvPr/>
        </p:nvSpPr>
        <p:spPr bwMode="auto">
          <a:xfrm>
            <a:off x="8610476" y="2508604"/>
            <a:ext cx="1697125" cy="416332"/>
          </a:xfrm>
          <a:prstGeom prst="rect">
            <a:avLst/>
          </a:prstGeom>
          <a:solidFill>
            <a:srgbClr val="000099"/>
          </a:solidFill>
          <a:ln w="9525">
            <a:solidFill>
              <a:schemeClr val="tx1"/>
            </a:solidFill>
            <a:miter lim="800000"/>
            <a:headEnd/>
            <a:tailEnd/>
          </a:ln>
          <a:effectLst/>
        </p:spPr>
        <p:txBody>
          <a:bodyPr lIns="122745" tIns="61373" rIns="122745" bIns="61373">
            <a:spAutoFit/>
          </a:bodyPr>
          <a:lstStyle/>
          <a:p>
            <a:pPr algn="ctr">
              <a:defRPr/>
            </a:pPr>
            <a:r>
              <a:rPr lang="en-US" sz="1900" dirty="0">
                <a:solidFill>
                  <a:schemeClr val="bg1"/>
                </a:solidFill>
                <a:effectLst>
                  <a:outerShdw blurRad="38100" dist="38100" dir="2700000" algn="tl">
                    <a:srgbClr val="000000"/>
                  </a:outerShdw>
                </a:effectLst>
                <a:latin typeface="Tahoma" pitchFamily="34" charset="0"/>
              </a:rPr>
              <a:t>Financial</a:t>
            </a:r>
            <a:endParaRPr lang="fr-FR" sz="1900" dirty="0">
              <a:solidFill>
                <a:schemeClr val="bg1"/>
              </a:solidFill>
              <a:effectLst>
                <a:outerShdw blurRad="38100" dist="38100" dir="2700000" algn="tl">
                  <a:srgbClr val="000000"/>
                </a:outerShdw>
              </a:effectLst>
              <a:latin typeface="Tahoma" pitchFamily="34" charset="0"/>
            </a:endParaRPr>
          </a:p>
        </p:txBody>
      </p:sp>
      <p:sp>
        <p:nvSpPr>
          <p:cNvPr id="27" name="Rectangle 29"/>
          <p:cNvSpPr>
            <a:spLocks noChangeArrowheads="1"/>
          </p:cNvSpPr>
          <p:nvPr/>
        </p:nvSpPr>
        <p:spPr bwMode="auto">
          <a:xfrm>
            <a:off x="9008608" y="1381249"/>
            <a:ext cx="380901" cy="171451"/>
          </a:xfrm>
          <a:prstGeom prst="rect">
            <a:avLst/>
          </a:prstGeom>
          <a:noFill/>
          <a:ln w="9525" algn="ctr">
            <a:noFill/>
            <a:miter lim="800000"/>
            <a:headEnd/>
            <a:tailEnd/>
          </a:ln>
        </p:spPr>
        <p:txBody>
          <a:bodyPr wrap="none" lIns="121899" tIns="60949" rIns="121899" bIns="60949" anchor="ctr"/>
          <a:lstStyle/>
          <a:p>
            <a:pPr eaLnBrk="1" hangingPunct="1"/>
            <a:r>
              <a:rPr lang="en-US" sz="1700" dirty="0">
                <a:solidFill>
                  <a:schemeClr val="bg1"/>
                </a:solidFill>
                <a:latin typeface="Tahoma" pitchFamily="34" charset="0"/>
              </a:rPr>
              <a:t>CP</a:t>
            </a:r>
          </a:p>
        </p:txBody>
      </p:sp>
      <p:sp>
        <p:nvSpPr>
          <p:cNvPr id="28" name="Rectangle 30"/>
          <p:cNvSpPr>
            <a:spLocks noChangeArrowheads="1"/>
          </p:cNvSpPr>
          <p:nvPr/>
        </p:nvSpPr>
        <p:spPr bwMode="auto">
          <a:xfrm>
            <a:off x="6587471" y="2104468"/>
            <a:ext cx="380901" cy="171451"/>
          </a:xfrm>
          <a:prstGeom prst="rect">
            <a:avLst/>
          </a:prstGeom>
          <a:noFill/>
          <a:ln w="9525" algn="ctr">
            <a:noFill/>
            <a:miter lim="800000"/>
            <a:headEnd/>
            <a:tailEnd/>
          </a:ln>
        </p:spPr>
        <p:txBody>
          <a:bodyPr wrap="none" lIns="121899" tIns="60949" rIns="121899" bIns="60949" anchor="ctr"/>
          <a:lstStyle/>
          <a:p>
            <a:pPr eaLnBrk="1" hangingPunct="1"/>
            <a:r>
              <a:rPr lang="en-US" sz="1700" dirty="0">
                <a:solidFill>
                  <a:schemeClr val="bg1"/>
                </a:solidFill>
                <a:latin typeface="Tahoma" pitchFamily="34" charset="0"/>
              </a:rPr>
              <a:t>CP</a:t>
            </a:r>
          </a:p>
        </p:txBody>
      </p:sp>
      <p:sp>
        <p:nvSpPr>
          <p:cNvPr id="29" name="Rectangle 33"/>
          <p:cNvSpPr>
            <a:spLocks noChangeArrowheads="1"/>
          </p:cNvSpPr>
          <p:nvPr/>
        </p:nvSpPr>
        <p:spPr bwMode="auto">
          <a:xfrm>
            <a:off x="10030387" y="655989"/>
            <a:ext cx="1828324" cy="868363"/>
          </a:xfrm>
          <a:prstGeom prst="rect">
            <a:avLst/>
          </a:prstGeom>
          <a:solidFill>
            <a:srgbClr val="CC9900"/>
          </a:solidFill>
          <a:ln w="9525">
            <a:solidFill>
              <a:srgbClr val="204658"/>
            </a:solidFill>
            <a:miter lim="800000"/>
            <a:headEnd/>
            <a:tailEnd/>
          </a:ln>
        </p:spPr>
        <p:txBody>
          <a:bodyPr wrap="none" lIns="121888" tIns="60944" rIns="121888" bIns="60944" anchor="ctr"/>
          <a:lstStyle/>
          <a:p>
            <a:pPr eaLnBrk="1" hangingPunct="1"/>
            <a:r>
              <a:rPr lang="en-US" sz="1700" dirty="0">
                <a:solidFill>
                  <a:schemeClr val="bg1"/>
                </a:solidFill>
                <a:latin typeface="Tahoma" pitchFamily="34" charset="0"/>
              </a:rPr>
              <a:t> </a:t>
            </a:r>
          </a:p>
        </p:txBody>
      </p:sp>
      <p:sp>
        <p:nvSpPr>
          <p:cNvPr id="30" name="Rectangle 34"/>
          <p:cNvSpPr>
            <a:spLocks noChangeArrowheads="1"/>
          </p:cNvSpPr>
          <p:nvPr/>
        </p:nvSpPr>
        <p:spPr bwMode="auto">
          <a:xfrm>
            <a:off x="4443842" y="649640"/>
            <a:ext cx="1828324" cy="868363"/>
          </a:xfrm>
          <a:prstGeom prst="rect">
            <a:avLst/>
          </a:prstGeom>
          <a:solidFill>
            <a:srgbClr val="CC9900"/>
          </a:solidFill>
          <a:ln w="9525">
            <a:solidFill>
              <a:srgbClr val="204658"/>
            </a:solidFill>
            <a:miter lim="800000"/>
            <a:headEnd/>
            <a:tailEnd/>
          </a:ln>
        </p:spPr>
        <p:txBody>
          <a:bodyPr wrap="none" lIns="121888" tIns="60944" rIns="121888" bIns="60944" anchor="ctr"/>
          <a:lstStyle/>
          <a:p>
            <a:pPr eaLnBrk="1" hangingPunct="1"/>
            <a:r>
              <a:rPr lang="en-US" sz="1700" dirty="0">
                <a:solidFill>
                  <a:schemeClr val="bg1"/>
                </a:solidFill>
                <a:latin typeface="Tahoma" pitchFamily="34" charset="0"/>
              </a:rPr>
              <a:t> </a:t>
            </a:r>
          </a:p>
        </p:txBody>
      </p:sp>
      <p:sp>
        <p:nvSpPr>
          <p:cNvPr id="31" name="Rectangle 35"/>
          <p:cNvSpPr>
            <a:spLocks noChangeArrowheads="1"/>
          </p:cNvSpPr>
          <p:nvPr/>
        </p:nvSpPr>
        <p:spPr bwMode="auto">
          <a:xfrm>
            <a:off x="2425068" y="1775176"/>
            <a:ext cx="1828324" cy="868363"/>
          </a:xfrm>
          <a:prstGeom prst="rect">
            <a:avLst/>
          </a:prstGeom>
          <a:solidFill>
            <a:srgbClr val="CC9900"/>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p:txBody>
      </p:sp>
      <p:cxnSp>
        <p:nvCxnSpPr>
          <p:cNvPr id="32" name="AutoShape 36"/>
          <p:cNvCxnSpPr>
            <a:cxnSpLocks noChangeShapeType="1"/>
          </p:cNvCxnSpPr>
          <p:nvPr/>
        </p:nvCxnSpPr>
        <p:spPr bwMode="auto">
          <a:xfrm rot="-5400000">
            <a:off x="4220032" y="624504"/>
            <a:ext cx="257175" cy="2018774"/>
          </a:xfrm>
          <a:prstGeom prst="bentConnector3">
            <a:avLst>
              <a:gd name="adj1" fmla="val 50000"/>
            </a:avLst>
          </a:prstGeom>
          <a:noFill/>
          <a:ln w="9525">
            <a:solidFill>
              <a:srgbClr val="000000"/>
            </a:solidFill>
            <a:miter lim="800000"/>
            <a:headEnd/>
            <a:tailEnd type="triangle" w="med" len="med"/>
          </a:ln>
        </p:spPr>
      </p:cxnSp>
      <p:cxnSp>
        <p:nvCxnSpPr>
          <p:cNvPr id="33" name="AutoShape 37"/>
          <p:cNvCxnSpPr>
            <a:cxnSpLocks noChangeShapeType="1"/>
            <a:stCxn id="23" idx="3"/>
            <a:endCxn id="29" idx="2"/>
          </p:cNvCxnSpPr>
          <p:nvPr/>
        </p:nvCxnSpPr>
        <p:spPr bwMode="auto">
          <a:xfrm flipV="1">
            <a:off x="9389205" y="1524353"/>
            <a:ext cx="1555344" cy="268287"/>
          </a:xfrm>
          <a:prstGeom prst="bentConnector2">
            <a:avLst/>
          </a:prstGeom>
          <a:noFill/>
          <a:ln w="9525">
            <a:solidFill>
              <a:srgbClr val="000000"/>
            </a:solidFill>
            <a:miter lim="800000"/>
            <a:headEnd/>
            <a:tailEnd type="triangle" w="med" len="med"/>
          </a:ln>
        </p:spPr>
      </p:cxnSp>
      <p:sp>
        <p:nvSpPr>
          <p:cNvPr id="34" name="Line 38"/>
          <p:cNvSpPr>
            <a:spLocks noChangeShapeType="1"/>
          </p:cNvSpPr>
          <p:nvPr/>
        </p:nvSpPr>
        <p:spPr bwMode="auto">
          <a:xfrm flipH="1">
            <a:off x="3320188" y="2643541"/>
            <a:ext cx="2115" cy="627063"/>
          </a:xfrm>
          <a:prstGeom prst="line">
            <a:avLst/>
          </a:prstGeom>
          <a:noFill/>
          <a:ln w="9525">
            <a:solidFill>
              <a:srgbClr val="000000"/>
            </a:solidFill>
            <a:round/>
            <a:headEnd type="triangle" w="med" len="med"/>
            <a:tailEnd/>
          </a:ln>
        </p:spPr>
        <p:txBody>
          <a:bodyPr lIns="121899" tIns="60949" rIns="121899" bIns="60949" anchor="ctr"/>
          <a:lstStyle/>
          <a:p>
            <a:endParaRPr lang="en-US"/>
          </a:p>
        </p:txBody>
      </p:sp>
      <p:sp>
        <p:nvSpPr>
          <p:cNvPr id="35" name="Rectangle 39"/>
          <p:cNvSpPr>
            <a:spLocks noChangeArrowheads="1"/>
          </p:cNvSpPr>
          <p:nvPr/>
        </p:nvSpPr>
        <p:spPr bwMode="auto">
          <a:xfrm>
            <a:off x="10110801" y="1910112"/>
            <a:ext cx="1697125" cy="314325"/>
          </a:xfrm>
          <a:prstGeom prst="rect">
            <a:avLst/>
          </a:prstGeom>
          <a:solidFill>
            <a:srgbClr val="CC9900"/>
          </a:solidFill>
          <a:ln w="9525">
            <a:solidFill>
              <a:srgbClr val="204658"/>
            </a:solidFill>
            <a:miter lim="800000"/>
            <a:headEnd/>
            <a:tailEnd/>
          </a:ln>
          <a:effectLst/>
        </p:spPr>
        <p:txBody>
          <a:bodyPr wrap="none" lIns="121888" tIns="60944" rIns="121888" bIns="60944" anchor="ctr"/>
          <a:lstStyle/>
          <a:p>
            <a:pPr algn="ctr" eaLnBrk="1" hangingPunct="1">
              <a:defRPr/>
            </a:pPr>
            <a:r>
              <a:rPr lang="en-US" sz="1900" dirty="0">
                <a:solidFill>
                  <a:schemeClr val="bg1"/>
                </a:solidFill>
                <a:effectLst>
                  <a:outerShdw blurRad="38100" dist="38100" dir="2700000" algn="tl">
                    <a:srgbClr val="000000"/>
                  </a:outerShdw>
                </a:effectLst>
                <a:latin typeface="Tahoma" pitchFamily="34" charset="0"/>
              </a:rPr>
              <a:t>Strategic</a:t>
            </a:r>
            <a:endParaRPr lang="fr-FR" sz="1900" dirty="0">
              <a:solidFill>
                <a:schemeClr val="bg1"/>
              </a:solidFill>
              <a:effectLst>
                <a:outerShdw blurRad="38100" dist="38100" dir="2700000" algn="tl">
                  <a:srgbClr val="000000"/>
                </a:outerShdw>
              </a:effectLst>
              <a:latin typeface="Tahoma" pitchFamily="34" charset="0"/>
            </a:endParaRPr>
          </a:p>
        </p:txBody>
      </p:sp>
      <p:sp>
        <p:nvSpPr>
          <p:cNvPr id="36" name="Rectangle 40"/>
          <p:cNvSpPr>
            <a:spLocks noChangeArrowheads="1"/>
          </p:cNvSpPr>
          <p:nvPr/>
        </p:nvSpPr>
        <p:spPr bwMode="auto">
          <a:xfrm>
            <a:off x="3880654" y="1784473"/>
            <a:ext cx="380901" cy="171451"/>
          </a:xfrm>
          <a:prstGeom prst="rect">
            <a:avLst/>
          </a:prstGeom>
          <a:noFill/>
          <a:ln w="9525" algn="ctr">
            <a:noFill/>
            <a:miter lim="800000"/>
            <a:headEnd/>
            <a:tailEnd/>
          </a:ln>
        </p:spPr>
        <p:txBody>
          <a:bodyPr wrap="none" lIns="121899" tIns="60949" rIns="121899" bIns="60949" anchor="ctr"/>
          <a:lstStyle/>
          <a:p>
            <a:pPr eaLnBrk="1" hangingPunct="1"/>
            <a:r>
              <a:rPr lang="en-US" sz="1700" dirty="0">
                <a:solidFill>
                  <a:schemeClr val="bg1"/>
                </a:solidFill>
                <a:latin typeface="Tahoma" pitchFamily="34" charset="0"/>
              </a:rPr>
              <a:t>CP</a:t>
            </a:r>
          </a:p>
        </p:txBody>
      </p:sp>
      <p:sp>
        <p:nvSpPr>
          <p:cNvPr id="37" name="Rectangle 41"/>
          <p:cNvSpPr>
            <a:spLocks noChangeArrowheads="1"/>
          </p:cNvSpPr>
          <p:nvPr/>
        </p:nvSpPr>
        <p:spPr bwMode="auto">
          <a:xfrm>
            <a:off x="5890661" y="669595"/>
            <a:ext cx="380901" cy="171451"/>
          </a:xfrm>
          <a:prstGeom prst="rect">
            <a:avLst/>
          </a:prstGeom>
          <a:noFill/>
          <a:ln w="9525" algn="ctr">
            <a:noFill/>
            <a:miter lim="800000"/>
            <a:headEnd/>
            <a:tailEnd/>
          </a:ln>
        </p:spPr>
        <p:txBody>
          <a:bodyPr wrap="none" lIns="121899" tIns="60949" rIns="121899" bIns="60949" anchor="ctr"/>
          <a:lstStyle/>
          <a:p>
            <a:pPr eaLnBrk="1" hangingPunct="1"/>
            <a:r>
              <a:rPr lang="en-US" sz="1700" dirty="0">
                <a:solidFill>
                  <a:schemeClr val="bg1"/>
                </a:solidFill>
                <a:latin typeface="Tahoma" pitchFamily="34" charset="0"/>
              </a:rPr>
              <a:t>CP</a:t>
            </a:r>
          </a:p>
        </p:txBody>
      </p:sp>
      <p:sp>
        <p:nvSpPr>
          <p:cNvPr id="38" name="Rectangle 42"/>
          <p:cNvSpPr>
            <a:spLocks noChangeArrowheads="1"/>
          </p:cNvSpPr>
          <p:nvPr/>
        </p:nvSpPr>
        <p:spPr bwMode="auto">
          <a:xfrm>
            <a:off x="11473277" y="669595"/>
            <a:ext cx="380901" cy="171451"/>
          </a:xfrm>
          <a:prstGeom prst="rect">
            <a:avLst/>
          </a:prstGeom>
          <a:noFill/>
          <a:ln w="9525" algn="ctr">
            <a:noFill/>
            <a:miter lim="800000"/>
            <a:headEnd/>
            <a:tailEnd/>
          </a:ln>
        </p:spPr>
        <p:txBody>
          <a:bodyPr wrap="none" lIns="121899" tIns="60949" rIns="121899" bIns="60949" anchor="ctr"/>
          <a:lstStyle/>
          <a:p>
            <a:pPr eaLnBrk="1" hangingPunct="1"/>
            <a:r>
              <a:rPr lang="en-US" sz="1700" dirty="0">
                <a:solidFill>
                  <a:schemeClr val="bg1"/>
                </a:solidFill>
                <a:latin typeface="Tahoma" pitchFamily="34" charset="0"/>
              </a:rPr>
              <a:t>CP</a:t>
            </a:r>
          </a:p>
        </p:txBody>
      </p:sp>
      <p:sp>
        <p:nvSpPr>
          <p:cNvPr id="39" name="Text Box 45"/>
          <p:cNvSpPr txBox="1">
            <a:spLocks noChangeArrowheads="1"/>
          </p:cNvSpPr>
          <p:nvPr/>
        </p:nvSpPr>
        <p:spPr bwMode="auto">
          <a:xfrm>
            <a:off x="4378244" y="1249714"/>
            <a:ext cx="246243" cy="443176"/>
          </a:xfrm>
          <a:prstGeom prst="rect">
            <a:avLst/>
          </a:prstGeom>
          <a:noFill/>
          <a:ln w="9525" algn="ctr">
            <a:noFill/>
            <a:miter lim="800000"/>
            <a:headEnd/>
            <a:tailEnd/>
          </a:ln>
        </p:spPr>
        <p:txBody>
          <a:bodyPr wrap="none" lIns="121899" tIns="60949" rIns="121899" bIns="60949">
            <a:spAutoFit/>
          </a:bodyPr>
          <a:lstStyle/>
          <a:p>
            <a:pPr algn="l" eaLnBrk="1" hangingPunct="1">
              <a:lnSpc>
                <a:spcPct val="130000"/>
              </a:lnSpc>
            </a:pPr>
            <a:endParaRPr lang="en-US" sz="1600" dirty="0">
              <a:solidFill>
                <a:schemeClr val="bg1"/>
              </a:solidFill>
              <a:latin typeface="Tahoma" pitchFamily="34" charset="0"/>
            </a:endParaRPr>
          </a:p>
        </p:txBody>
      </p:sp>
      <p:sp>
        <p:nvSpPr>
          <p:cNvPr id="40" name="Rectangle 46"/>
          <p:cNvSpPr>
            <a:spLocks noChangeArrowheads="1"/>
          </p:cNvSpPr>
          <p:nvPr/>
        </p:nvSpPr>
        <p:spPr bwMode="auto">
          <a:xfrm>
            <a:off x="7560881" y="5813776"/>
            <a:ext cx="1828324" cy="868363"/>
          </a:xfrm>
          <a:prstGeom prst="rect">
            <a:avLst/>
          </a:prstGeom>
          <a:solidFill>
            <a:schemeClr val="hlink"/>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p:txBody>
      </p:sp>
      <p:sp>
        <p:nvSpPr>
          <p:cNvPr id="41" name="Text Box 47"/>
          <p:cNvSpPr txBox="1">
            <a:spLocks noChangeArrowheads="1"/>
          </p:cNvSpPr>
          <p:nvPr/>
        </p:nvSpPr>
        <p:spPr bwMode="auto">
          <a:xfrm>
            <a:off x="8959633" y="5764564"/>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chemeClr val="bg1"/>
                </a:solidFill>
                <a:latin typeface="Tahoma" pitchFamily="34" charset="0"/>
              </a:rPr>
              <a:t>TP</a:t>
            </a:r>
            <a:endParaRPr lang="en-US" sz="1700" dirty="0">
              <a:solidFill>
                <a:schemeClr val="bg1"/>
              </a:solidFill>
              <a:latin typeface="Times New Roman" charset="0"/>
            </a:endParaRPr>
          </a:p>
        </p:txBody>
      </p:sp>
      <p:sp>
        <p:nvSpPr>
          <p:cNvPr id="42" name="Rectangle 48"/>
          <p:cNvSpPr>
            <a:spLocks noChangeArrowheads="1"/>
          </p:cNvSpPr>
          <p:nvPr/>
        </p:nvSpPr>
        <p:spPr bwMode="auto">
          <a:xfrm>
            <a:off x="10017690" y="5813776"/>
            <a:ext cx="1828324" cy="868363"/>
          </a:xfrm>
          <a:prstGeom prst="rect">
            <a:avLst/>
          </a:prstGeom>
          <a:solidFill>
            <a:schemeClr val="hlink"/>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a:p>
            <a:pPr eaLnBrk="1" hangingPunct="1"/>
            <a:endParaRPr lang="en-US" sz="1700" dirty="0">
              <a:solidFill>
                <a:schemeClr val="bg1"/>
              </a:solidFill>
              <a:latin typeface="Tahoma" pitchFamily="34" charset="0"/>
            </a:endParaRPr>
          </a:p>
        </p:txBody>
      </p:sp>
      <p:sp>
        <p:nvSpPr>
          <p:cNvPr id="43" name="Text Box 49"/>
          <p:cNvSpPr txBox="1">
            <a:spLocks noChangeArrowheads="1"/>
          </p:cNvSpPr>
          <p:nvPr/>
        </p:nvSpPr>
        <p:spPr bwMode="auto">
          <a:xfrm>
            <a:off x="11410094" y="5764564"/>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chemeClr val="bg1"/>
                </a:solidFill>
                <a:latin typeface="Tahoma" pitchFamily="34" charset="0"/>
              </a:rPr>
              <a:t>TP</a:t>
            </a:r>
            <a:endParaRPr lang="en-US" sz="1700" dirty="0">
              <a:solidFill>
                <a:schemeClr val="bg1"/>
              </a:solidFill>
              <a:latin typeface="Times New Roman" charset="0"/>
            </a:endParaRPr>
          </a:p>
        </p:txBody>
      </p:sp>
      <p:sp>
        <p:nvSpPr>
          <p:cNvPr id="44" name="Rectangle 50"/>
          <p:cNvSpPr>
            <a:spLocks noChangeArrowheads="1"/>
          </p:cNvSpPr>
          <p:nvPr/>
        </p:nvSpPr>
        <p:spPr bwMode="auto">
          <a:xfrm>
            <a:off x="7560881" y="4621564"/>
            <a:ext cx="1828324" cy="868363"/>
          </a:xfrm>
          <a:prstGeom prst="rect">
            <a:avLst/>
          </a:prstGeom>
          <a:solidFill>
            <a:schemeClr val="hlink"/>
          </a:solidFill>
          <a:ln w="9525">
            <a:solidFill>
              <a:srgbClr val="204658"/>
            </a:solidFill>
            <a:miter lim="800000"/>
            <a:headEnd/>
            <a:tailEnd/>
          </a:ln>
        </p:spPr>
        <p:txBody>
          <a:bodyPr wrap="none" lIns="121888" tIns="60944" rIns="121888" bIns="60944" anchor="ctr"/>
          <a:lstStyle/>
          <a:p>
            <a:pPr eaLnBrk="1" hangingPunct="1">
              <a:lnSpc>
                <a:spcPct val="95000"/>
              </a:lnSpc>
            </a:pPr>
            <a:endParaRPr lang="en-US" sz="1600" dirty="0">
              <a:solidFill>
                <a:schemeClr val="bg1"/>
              </a:solidFill>
              <a:latin typeface="Tahoma" pitchFamily="34" charset="0"/>
            </a:endParaRPr>
          </a:p>
        </p:txBody>
      </p:sp>
      <p:sp>
        <p:nvSpPr>
          <p:cNvPr id="45" name="Text Box 51"/>
          <p:cNvSpPr txBox="1">
            <a:spLocks noChangeArrowheads="1"/>
          </p:cNvSpPr>
          <p:nvPr/>
        </p:nvSpPr>
        <p:spPr bwMode="auto">
          <a:xfrm>
            <a:off x="8989258" y="4572352"/>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chemeClr val="bg1"/>
                </a:solidFill>
                <a:latin typeface="Tahoma" pitchFamily="34" charset="0"/>
              </a:rPr>
              <a:t>TP</a:t>
            </a:r>
            <a:endParaRPr lang="en-US" sz="1700" dirty="0">
              <a:solidFill>
                <a:schemeClr val="bg1"/>
              </a:solidFill>
              <a:latin typeface="Times New Roman" charset="0"/>
            </a:endParaRPr>
          </a:p>
        </p:txBody>
      </p:sp>
      <p:sp>
        <p:nvSpPr>
          <p:cNvPr id="46" name="Text Box 52"/>
          <p:cNvSpPr txBox="1">
            <a:spLocks noChangeArrowheads="1"/>
          </p:cNvSpPr>
          <p:nvPr/>
        </p:nvSpPr>
        <p:spPr bwMode="auto">
          <a:xfrm>
            <a:off x="7683616" y="5262914"/>
            <a:ext cx="246243" cy="415476"/>
          </a:xfrm>
          <a:prstGeom prst="rect">
            <a:avLst/>
          </a:prstGeom>
          <a:noFill/>
          <a:ln w="9525">
            <a:noFill/>
            <a:miter lim="800000"/>
            <a:headEnd/>
            <a:tailEnd/>
          </a:ln>
        </p:spPr>
        <p:txBody>
          <a:bodyPr wrap="none" lIns="121899" tIns="60949" rIns="121899" bIns="60949">
            <a:spAutoFit/>
          </a:bodyPr>
          <a:lstStyle/>
          <a:p>
            <a:pPr eaLnBrk="1" hangingPunct="1"/>
            <a:endParaRPr lang="fr-FR" sz="1900" dirty="0">
              <a:solidFill>
                <a:schemeClr val="bg1"/>
              </a:solidFill>
              <a:latin typeface="Tahoma" pitchFamily="34" charset="0"/>
            </a:endParaRPr>
          </a:p>
        </p:txBody>
      </p:sp>
      <p:sp>
        <p:nvSpPr>
          <p:cNvPr id="47" name="Rectangle 53"/>
          <p:cNvSpPr>
            <a:spLocks noChangeArrowheads="1"/>
          </p:cNvSpPr>
          <p:nvPr/>
        </p:nvSpPr>
        <p:spPr bwMode="auto">
          <a:xfrm>
            <a:off x="2367934" y="4605689"/>
            <a:ext cx="1828324" cy="868363"/>
          </a:xfrm>
          <a:prstGeom prst="rect">
            <a:avLst/>
          </a:prstGeom>
          <a:solidFill>
            <a:schemeClr val="hlink"/>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a:p>
            <a:pPr eaLnBrk="1" hangingPunct="1"/>
            <a:endParaRPr lang="en-US" sz="1700" dirty="0">
              <a:solidFill>
                <a:schemeClr val="bg1"/>
              </a:solidFill>
              <a:latin typeface="Tahoma" pitchFamily="34" charset="0"/>
            </a:endParaRPr>
          </a:p>
          <a:p>
            <a:pPr eaLnBrk="1" hangingPunct="1"/>
            <a:endParaRPr lang="en-US" sz="1700" dirty="0">
              <a:solidFill>
                <a:schemeClr val="bg1"/>
              </a:solidFill>
              <a:latin typeface="Tahoma" pitchFamily="34" charset="0"/>
            </a:endParaRPr>
          </a:p>
        </p:txBody>
      </p:sp>
      <p:sp>
        <p:nvSpPr>
          <p:cNvPr id="48" name="Text Box 54"/>
          <p:cNvSpPr txBox="1">
            <a:spLocks noChangeArrowheads="1"/>
          </p:cNvSpPr>
          <p:nvPr/>
        </p:nvSpPr>
        <p:spPr bwMode="auto">
          <a:xfrm>
            <a:off x="3814450" y="4559652"/>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chemeClr val="bg1"/>
                </a:solidFill>
                <a:latin typeface="Tahoma" pitchFamily="34" charset="0"/>
              </a:rPr>
              <a:t>TP</a:t>
            </a:r>
            <a:endParaRPr lang="en-US" sz="1700" dirty="0">
              <a:solidFill>
                <a:schemeClr val="bg1"/>
              </a:solidFill>
              <a:latin typeface="Times New Roman" charset="0"/>
            </a:endParaRPr>
          </a:p>
        </p:txBody>
      </p:sp>
      <p:sp>
        <p:nvSpPr>
          <p:cNvPr id="49" name="Rectangle 55"/>
          <p:cNvSpPr>
            <a:spLocks noChangeArrowheads="1"/>
          </p:cNvSpPr>
          <p:nvPr/>
        </p:nvSpPr>
        <p:spPr bwMode="auto">
          <a:xfrm>
            <a:off x="2810201" y="5813776"/>
            <a:ext cx="1828324" cy="868363"/>
          </a:xfrm>
          <a:prstGeom prst="rect">
            <a:avLst/>
          </a:prstGeom>
          <a:solidFill>
            <a:schemeClr val="hlink"/>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p:txBody>
      </p:sp>
      <p:sp>
        <p:nvSpPr>
          <p:cNvPr id="50" name="Text Box 56"/>
          <p:cNvSpPr txBox="1">
            <a:spLocks noChangeArrowheads="1"/>
          </p:cNvSpPr>
          <p:nvPr/>
        </p:nvSpPr>
        <p:spPr bwMode="auto">
          <a:xfrm>
            <a:off x="4223766" y="5764564"/>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chemeClr val="bg1"/>
                </a:solidFill>
                <a:latin typeface="Tahoma" pitchFamily="34" charset="0"/>
              </a:rPr>
              <a:t>TP</a:t>
            </a:r>
            <a:endParaRPr lang="en-US" sz="1700" dirty="0">
              <a:solidFill>
                <a:schemeClr val="bg1"/>
              </a:solidFill>
              <a:latin typeface="Times New Roman" charset="0"/>
            </a:endParaRPr>
          </a:p>
        </p:txBody>
      </p:sp>
      <p:sp>
        <p:nvSpPr>
          <p:cNvPr id="51" name="Rectangle 57"/>
          <p:cNvSpPr>
            <a:spLocks noChangeArrowheads="1"/>
          </p:cNvSpPr>
          <p:nvPr/>
        </p:nvSpPr>
        <p:spPr bwMode="auto">
          <a:xfrm>
            <a:off x="412643" y="5813776"/>
            <a:ext cx="1828324" cy="868363"/>
          </a:xfrm>
          <a:prstGeom prst="rect">
            <a:avLst/>
          </a:prstGeom>
          <a:solidFill>
            <a:schemeClr val="hlink"/>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p:txBody>
      </p:sp>
      <p:sp>
        <p:nvSpPr>
          <p:cNvPr id="52" name="Text Box 58"/>
          <p:cNvSpPr txBox="1">
            <a:spLocks noChangeArrowheads="1"/>
          </p:cNvSpPr>
          <p:nvPr/>
        </p:nvSpPr>
        <p:spPr bwMode="auto">
          <a:xfrm>
            <a:off x="1826208" y="5764564"/>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chemeClr val="bg1"/>
                </a:solidFill>
                <a:latin typeface="Tahoma" pitchFamily="34" charset="0"/>
              </a:rPr>
              <a:t>TP</a:t>
            </a:r>
            <a:endParaRPr lang="en-US" sz="1700" dirty="0">
              <a:solidFill>
                <a:schemeClr val="bg1"/>
              </a:solidFill>
              <a:latin typeface="Times New Roman" charset="0"/>
            </a:endParaRPr>
          </a:p>
        </p:txBody>
      </p:sp>
      <p:cxnSp>
        <p:nvCxnSpPr>
          <p:cNvPr id="53" name="AutoShape 59"/>
          <p:cNvCxnSpPr>
            <a:cxnSpLocks noChangeShapeType="1"/>
            <a:stCxn id="51" idx="0"/>
            <a:endCxn id="47" idx="2"/>
          </p:cNvCxnSpPr>
          <p:nvPr/>
        </p:nvCxnSpPr>
        <p:spPr bwMode="auto">
          <a:xfrm rot="-5400000">
            <a:off x="2134588" y="4666269"/>
            <a:ext cx="339725" cy="1955291"/>
          </a:xfrm>
          <a:prstGeom prst="bentConnector3">
            <a:avLst>
              <a:gd name="adj1" fmla="val 50000"/>
            </a:avLst>
          </a:prstGeom>
          <a:noFill/>
          <a:ln w="9525">
            <a:solidFill>
              <a:srgbClr val="000000"/>
            </a:solidFill>
            <a:miter lim="800000"/>
            <a:headEnd/>
            <a:tailEnd type="triangle" w="med" len="med"/>
          </a:ln>
        </p:spPr>
      </p:cxnSp>
      <p:cxnSp>
        <p:nvCxnSpPr>
          <p:cNvPr id="54" name="AutoShape 60"/>
          <p:cNvCxnSpPr>
            <a:cxnSpLocks noChangeShapeType="1"/>
            <a:stCxn id="49" idx="0"/>
            <a:endCxn id="47" idx="2"/>
          </p:cNvCxnSpPr>
          <p:nvPr/>
        </p:nvCxnSpPr>
        <p:spPr bwMode="auto">
          <a:xfrm rot="5400000" flipH="1">
            <a:off x="3333368" y="5422781"/>
            <a:ext cx="339725" cy="442267"/>
          </a:xfrm>
          <a:prstGeom prst="bentConnector3">
            <a:avLst>
              <a:gd name="adj1" fmla="val 50000"/>
            </a:avLst>
          </a:prstGeom>
          <a:noFill/>
          <a:ln w="9525">
            <a:solidFill>
              <a:srgbClr val="000000"/>
            </a:solidFill>
            <a:miter lim="800000"/>
            <a:headEnd/>
            <a:tailEnd type="triangle" w="med" len="med"/>
          </a:ln>
        </p:spPr>
      </p:cxnSp>
      <p:cxnSp>
        <p:nvCxnSpPr>
          <p:cNvPr id="55" name="AutoShape 61"/>
          <p:cNvCxnSpPr>
            <a:cxnSpLocks noChangeShapeType="1"/>
            <a:stCxn id="60" idx="0"/>
            <a:endCxn id="44" idx="2"/>
          </p:cNvCxnSpPr>
          <p:nvPr/>
        </p:nvCxnSpPr>
        <p:spPr bwMode="auto">
          <a:xfrm rot="-5400000">
            <a:off x="7128093" y="4466828"/>
            <a:ext cx="323851" cy="2370049"/>
          </a:xfrm>
          <a:prstGeom prst="bentConnector3">
            <a:avLst>
              <a:gd name="adj1" fmla="val 50000"/>
            </a:avLst>
          </a:prstGeom>
          <a:noFill/>
          <a:ln w="9525">
            <a:solidFill>
              <a:srgbClr val="000000"/>
            </a:solidFill>
            <a:miter lim="800000"/>
            <a:headEnd/>
            <a:tailEnd type="triangle" w="med" len="med"/>
          </a:ln>
        </p:spPr>
      </p:cxnSp>
      <p:cxnSp>
        <p:nvCxnSpPr>
          <p:cNvPr id="56" name="AutoShape 62"/>
          <p:cNvCxnSpPr>
            <a:cxnSpLocks noChangeShapeType="1"/>
            <a:stCxn id="42" idx="0"/>
            <a:endCxn id="44" idx="2"/>
          </p:cNvCxnSpPr>
          <p:nvPr/>
        </p:nvCxnSpPr>
        <p:spPr bwMode="auto">
          <a:xfrm rot="5400000" flipH="1">
            <a:off x="9541523" y="4423448"/>
            <a:ext cx="323851" cy="2456809"/>
          </a:xfrm>
          <a:prstGeom prst="bentConnector3">
            <a:avLst>
              <a:gd name="adj1" fmla="val 50000"/>
            </a:avLst>
          </a:prstGeom>
          <a:noFill/>
          <a:ln w="9525">
            <a:solidFill>
              <a:srgbClr val="000000"/>
            </a:solidFill>
            <a:miter lim="800000"/>
            <a:headEnd/>
            <a:tailEnd type="triangle" w="med" len="med"/>
          </a:ln>
        </p:spPr>
      </p:cxnSp>
      <p:cxnSp>
        <p:nvCxnSpPr>
          <p:cNvPr id="57" name="AutoShape 63"/>
          <p:cNvCxnSpPr>
            <a:cxnSpLocks noChangeShapeType="1"/>
            <a:stCxn id="40" idx="0"/>
            <a:endCxn id="44" idx="2"/>
          </p:cNvCxnSpPr>
          <p:nvPr/>
        </p:nvCxnSpPr>
        <p:spPr bwMode="auto">
          <a:xfrm rot="-5400000">
            <a:off x="8313118" y="5651852"/>
            <a:ext cx="323851" cy="0"/>
          </a:xfrm>
          <a:prstGeom prst="straightConnector1">
            <a:avLst/>
          </a:prstGeom>
          <a:noFill/>
          <a:ln w="9525">
            <a:solidFill>
              <a:srgbClr val="000000"/>
            </a:solidFill>
            <a:round/>
            <a:headEnd/>
            <a:tailEnd type="triangle" w="med" len="med"/>
          </a:ln>
        </p:spPr>
      </p:cxnSp>
      <p:cxnSp>
        <p:nvCxnSpPr>
          <p:cNvPr id="58" name="AutoShape 64"/>
          <p:cNvCxnSpPr>
            <a:cxnSpLocks noChangeShapeType="1"/>
          </p:cNvCxnSpPr>
          <p:nvPr/>
        </p:nvCxnSpPr>
        <p:spPr bwMode="auto">
          <a:xfrm flipV="1">
            <a:off x="4657573" y="5308953"/>
            <a:ext cx="2922355" cy="1192212"/>
          </a:xfrm>
          <a:prstGeom prst="curvedConnector3">
            <a:avLst>
              <a:gd name="adj1" fmla="val 8181"/>
            </a:avLst>
          </a:prstGeom>
          <a:noFill/>
          <a:ln w="9525">
            <a:solidFill>
              <a:srgbClr val="000000"/>
            </a:solidFill>
            <a:round/>
            <a:headEnd/>
            <a:tailEnd type="triangle" w="med" len="med"/>
          </a:ln>
        </p:spPr>
      </p:cxnSp>
      <p:cxnSp>
        <p:nvCxnSpPr>
          <p:cNvPr id="59" name="AutoShape 65"/>
          <p:cNvCxnSpPr>
            <a:cxnSpLocks noChangeShapeType="1"/>
            <a:stCxn id="60" idx="1"/>
            <a:endCxn id="47" idx="3"/>
          </p:cNvCxnSpPr>
          <p:nvPr/>
        </p:nvCxnSpPr>
        <p:spPr bwMode="auto">
          <a:xfrm rot="10800000">
            <a:off x="4196260" y="5040664"/>
            <a:ext cx="994574" cy="1208088"/>
          </a:xfrm>
          <a:prstGeom prst="curvedConnector3">
            <a:avLst>
              <a:gd name="adj1" fmla="val 50000"/>
            </a:avLst>
          </a:prstGeom>
          <a:noFill/>
          <a:ln w="9525">
            <a:solidFill>
              <a:srgbClr val="000000"/>
            </a:solidFill>
            <a:prstDash val="lgDash"/>
            <a:round/>
            <a:headEnd/>
            <a:tailEnd type="triangle" w="med" len="med"/>
          </a:ln>
        </p:spPr>
      </p:cxnSp>
      <p:sp>
        <p:nvSpPr>
          <p:cNvPr id="60" name="Rectangle 66"/>
          <p:cNvSpPr>
            <a:spLocks noChangeArrowheads="1"/>
          </p:cNvSpPr>
          <p:nvPr/>
        </p:nvSpPr>
        <p:spPr bwMode="auto">
          <a:xfrm>
            <a:off x="5190832" y="5813776"/>
            <a:ext cx="1828324" cy="868363"/>
          </a:xfrm>
          <a:prstGeom prst="rect">
            <a:avLst/>
          </a:prstGeom>
          <a:solidFill>
            <a:schemeClr val="hlink"/>
          </a:solidFill>
          <a:ln w="9525">
            <a:solidFill>
              <a:srgbClr val="204658"/>
            </a:solidFill>
            <a:miter lim="800000"/>
            <a:headEnd/>
            <a:tailEnd/>
          </a:ln>
        </p:spPr>
        <p:txBody>
          <a:bodyPr wrap="none" lIns="121888" tIns="60944" rIns="121888" bIns="60944" anchor="ctr"/>
          <a:lstStyle/>
          <a:p>
            <a:pPr eaLnBrk="1" hangingPunct="1"/>
            <a:endParaRPr lang="en-US" sz="1700" dirty="0">
              <a:solidFill>
                <a:schemeClr val="bg1"/>
              </a:solidFill>
              <a:latin typeface="Tahoma" pitchFamily="34" charset="0"/>
            </a:endParaRPr>
          </a:p>
        </p:txBody>
      </p:sp>
      <p:sp>
        <p:nvSpPr>
          <p:cNvPr id="61" name="Text Box 67"/>
          <p:cNvSpPr txBox="1">
            <a:spLocks noChangeArrowheads="1"/>
          </p:cNvSpPr>
          <p:nvPr/>
        </p:nvSpPr>
        <p:spPr bwMode="auto">
          <a:xfrm>
            <a:off x="6640069" y="5764564"/>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chemeClr val="bg1"/>
                </a:solidFill>
                <a:latin typeface="Tahoma" pitchFamily="34" charset="0"/>
              </a:rPr>
              <a:t>TP</a:t>
            </a:r>
            <a:endParaRPr lang="en-US" sz="1700" dirty="0">
              <a:solidFill>
                <a:schemeClr val="bg1"/>
              </a:solidFill>
              <a:latin typeface="Times New Roman" charset="0"/>
            </a:endParaRPr>
          </a:p>
        </p:txBody>
      </p:sp>
      <p:pic>
        <p:nvPicPr>
          <p:cNvPr id="62" name="Picture 75"/>
          <p:cNvPicPr>
            <a:picLocks noChangeAspect="1" noChangeArrowheads="1"/>
          </p:cNvPicPr>
          <p:nvPr/>
        </p:nvPicPr>
        <p:blipFill>
          <a:blip r:embed="rId2" cstate="print"/>
          <a:srcRect/>
          <a:stretch>
            <a:fillRect/>
          </a:stretch>
        </p:blipFill>
        <p:spPr bwMode="auto">
          <a:xfrm>
            <a:off x="11164625" y="5031139"/>
            <a:ext cx="763918" cy="577851"/>
          </a:xfrm>
          <a:prstGeom prst="rect">
            <a:avLst/>
          </a:prstGeom>
          <a:noFill/>
          <a:ln w="9525">
            <a:noFill/>
            <a:miter lim="800000"/>
            <a:headEnd/>
            <a:tailEnd/>
          </a:ln>
        </p:spPr>
      </p:pic>
      <p:pic>
        <p:nvPicPr>
          <p:cNvPr id="63" name="Picture 76"/>
          <p:cNvPicPr>
            <a:picLocks noChangeAspect="1" noChangeArrowheads="1"/>
          </p:cNvPicPr>
          <p:nvPr/>
        </p:nvPicPr>
        <p:blipFill>
          <a:blip r:embed="rId3" cstate="print"/>
          <a:srcRect/>
          <a:stretch>
            <a:fillRect/>
          </a:stretch>
        </p:blipFill>
        <p:spPr bwMode="auto">
          <a:xfrm>
            <a:off x="11170976" y="2522888"/>
            <a:ext cx="755453" cy="577851"/>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Discovery Map – Quantify the Pains</a:t>
            </a:r>
            <a:endParaRPr lang="en-US" dirty="0"/>
          </a:p>
        </p:txBody>
      </p:sp>
      <p:sp>
        <p:nvSpPr>
          <p:cNvPr id="3" name="Slide Number Placeholder 2"/>
          <p:cNvSpPr>
            <a:spLocks noGrp="1"/>
          </p:cNvSpPr>
          <p:nvPr>
            <p:ph type="sldNum" sz="quarter" idx="12"/>
          </p:nvPr>
        </p:nvSpPr>
        <p:spPr/>
        <p:txBody>
          <a:bodyPr/>
          <a:lstStyle/>
          <a:p>
            <a:fld id="{C51EAA63-D034-42AE-91FA-B13B9518C7BE}" type="slidenum">
              <a:rPr lang="en-US" smtClean="0"/>
              <a:pPr/>
              <a:t>9</a:t>
            </a:fld>
            <a:endParaRPr lang="en-US" dirty="0"/>
          </a:p>
        </p:txBody>
      </p:sp>
      <p:grpSp>
        <p:nvGrpSpPr>
          <p:cNvPr id="4" name="Group 23"/>
          <p:cNvGrpSpPr>
            <a:grpSpLocks/>
          </p:cNvGrpSpPr>
          <p:nvPr/>
        </p:nvGrpSpPr>
        <p:grpSpPr bwMode="auto">
          <a:xfrm>
            <a:off x="9904412" y="1600200"/>
            <a:ext cx="1358546" cy="1033463"/>
            <a:chOff x="2928" y="2949"/>
            <a:chExt cx="642" cy="651"/>
          </a:xfrm>
        </p:grpSpPr>
        <p:pic>
          <p:nvPicPr>
            <p:cNvPr id="5" name="Picture 24" descr="FSA05467"/>
            <p:cNvPicPr>
              <a:picLocks noChangeAspect="1" noChangeArrowheads="1"/>
            </p:cNvPicPr>
            <p:nvPr/>
          </p:nvPicPr>
          <p:blipFill>
            <a:blip r:embed="rId3" cstate="print"/>
            <a:srcRect/>
            <a:stretch>
              <a:fillRect/>
            </a:stretch>
          </p:blipFill>
          <p:spPr bwMode="auto">
            <a:xfrm>
              <a:off x="2928" y="2949"/>
              <a:ext cx="642" cy="651"/>
            </a:xfrm>
            <a:prstGeom prst="rect">
              <a:avLst/>
            </a:prstGeom>
            <a:noFill/>
            <a:ln w="9525">
              <a:noFill/>
              <a:miter lim="800000"/>
              <a:headEnd/>
              <a:tailEnd/>
            </a:ln>
          </p:spPr>
        </p:pic>
        <p:sp>
          <p:nvSpPr>
            <p:cNvPr id="6" name="Text Box 25"/>
            <p:cNvSpPr txBox="1">
              <a:spLocks noChangeArrowheads="1"/>
            </p:cNvSpPr>
            <p:nvPr/>
          </p:nvSpPr>
          <p:spPr bwMode="auto">
            <a:xfrm>
              <a:off x="3053" y="3014"/>
              <a:ext cx="379" cy="523"/>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4800" dirty="0">
                  <a:solidFill>
                    <a:srgbClr val="FFFFFF"/>
                  </a:solidFill>
                </a:rPr>
                <a:t>TP</a:t>
              </a:r>
            </a:p>
          </p:txBody>
        </p:sp>
      </p:grpSp>
      <p:sp>
        <p:nvSpPr>
          <p:cNvPr id="7" name="Rectangle 26"/>
          <p:cNvSpPr>
            <a:spLocks noChangeArrowheads="1"/>
          </p:cNvSpPr>
          <p:nvPr/>
        </p:nvSpPr>
        <p:spPr bwMode="auto">
          <a:xfrm>
            <a:off x="816821" y="1674954"/>
            <a:ext cx="3673576" cy="2908300"/>
          </a:xfrm>
          <a:prstGeom prst="rect">
            <a:avLst/>
          </a:prstGeom>
          <a:noFill/>
          <a:ln w="9525">
            <a:noFill/>
            <a:miter lim="800000"/>
            <a:headEnd/>
            <a:tailEnd/>
          </a:ln>
        </p:spPr>
        <p:txBody>
          <a:bodyPr lIns="121899" tIns="60949" rIns="121899" bIns="60949"/>
          <a:lstStyle/>
          <a:p>
            <a:pPr marL="609493" indent="-609493">
              <a:lnSpc>
                <a:spcPct val="90000"/>
              </a:lnSpc>
              <a:spcBef>
                <a:spcPct val="40000"/>
              </a:spcBef>
              <a:buClr>
                <a:srgbClr val="CC0000"/>
              </a:buClr>
            </a:pPr>
            <a:r>
              <a:rPr lang="en-US" sz="2700" dirty="0"/>
              <a:t> </a:t>
            </a:r>
          </a:p>
          <a:p>
            <a:pPr marL="609493" indent="-609493">
              <a:lnSpc>
                <a:spcPct val="90000"/>
              </a:lnSpc>
              <a:spcBef>
                <a:spcPct val="40000"/>
              </a:spcBef>
              <a:buClr>
                <a:srgbClr val="CC0000"/>
              </a:buClr>
            </a:pPr>
            <a:endParaRPr lang="en-US" sz="2700" dirty="0"/>
          </a:p>
          <a:p>
            <a:pPr marL="609493" indent="-609493">
              <a:lnSpc>
                <a:spcPct val="90000"/>
              </a:lnSpc>
              <a:spcBef>
                <a:spcPct val="40000"/>
              </a:spcBef>
              <a:buClr>
                <a:srgbClr val="CC0000"/>
              </a:buClr>
            </a:pPr>
            <a:r>
              <a:rPr lang="en-US" sz="2700" dirty="0"/>
              <a:t>Sometimes</a:t>
            </a:r>
          </a:p>
          <a:p>
            <a:pPr marL="609493" indent="-609493">
              <a:lnSpc>
                <a:spcPct val="90000"/>
              </a:lnSpc>
              <a:spcBef>
                <a:spcPct val="40000"/>
              </a:spcBef>
              <a:buClr>
                <a:srgbClr val="CC0000"/>
              </a:buClr>
            </a:pPr>
            <a:endParaRPr lang="en-US" sz="2700" dirty="0"/>
          </a:p>
          <a:p>
            <a:pPr marL="609493" indent="-609493">
              <a:lnSpc>
                <a:spcPct val="90000"/>
              </a:lnSpc>
              <a:spcBef>
                <a:spcPct val="40000"/>
              </a:spcBef>
              <a:buClr>
                <a:srgbClr val="CC0000"/>
              </a:buClr>
            </a:pPr>
            <a:r>
              <a:rPr lang="en-US" sz="2700" dirty="0"/>
              <a:t>Often</a:t>
            </a:r>
          </a:p>
          <a:p>
            <a:pPr marL="609493" indent="-609493">
              <a:lnSpc>
                <a:spcPct val="90000"/>
              </a:lnSpc>
              <a:spcBef>
                <a:spcPct val="40000"/>
              </a:spcBef>
              <a:buClr>
                <a:srgbClr val="CC0000"/>
              </a:buClr>
            </a:pPr>
            <a:endParaRPr lang="en-US" sz="2700" dirty="0" smtClean="0"/>
          </a:p>
          <a:p>
            <a:pPr marL="609493" indent="-609493">
              <a:lnSpc>
                <a:spcPct val="90000"/>
              </a:lnSpc>
              <a:spcBef>
                <a:spcPct val="40000"/>
              </a:spcBef>
              <a:buClr>
                <a:srgbClr val="CC0000"/>
              </a:buClr>
            </a:pPr>
            <a:r>
              <a:rPr lang="en-US" sz="2700" dirty="0" smtClean="0"/>
              <a:t>Frequently</a:t>
            </a:r>
            <a:endParaRPr lang="en-US" sz="2700" dirty="0"/>
          </a:p>
          <a:p>
            <a:pPr marL="609493" indent="-609493">
              <a:lnSpc>
                <a:spcPct val="90000"/>
              </a:lnSpc>
              <a:spcBef>
                <a:spcPct val="40000"/>
              </a:spcBef>
              <a:buClr>
                <a:srgbClr val="CC0000"/>
              </a:buClr>
            </a:pPr>
            <a:endParaRPr lang="en-US" sz="2700" dirty="0"/>
          </a:p>
          <a:p>
            <a:pPr marL="609493" indent="-609493">
              <a:lnSpc>
                <a:spcPct val="90000"/>
              </a:lnSpc>
              <a:spcBef>
                <a:spcPct val="40000"/>
              </a:spcBef>
              <a:buClr>
                <a:srgbClr val="CC0000"/>
              </a:buClr>
            </a:pPr>
            <a:r>
              <a:rPr lang="en-US" sz="2700" dirty="0"/>
              <a:t> </a:t>
            </a:r>
          </a:p>
        </p:txBody>
      </p:sp>
      <p:sp>
        <p:nvSpPr>
          <p:cNvPr id="8" name="Rectangle 27"/>
          <p:cNvSpPr>
            <a:spLocks noChangeArrowheads="1"/>
          </p:cNvSpPr>
          <p:nvPr/>
        </p:nvSpPr>
        <p:spPr bwMode="auto">
          <a:xfrm>
            <a:off x="4261857" y="1674953"/>
            <a:ext cx="3673576" cy="4338985"/>
          </a:xfrm>
          <a:prstGeom prst="rect">
            <a:avLst/>
          </a:prstGeom>
          <a:noFill/>
          <a:ln w="9525">
            <a:noFill/>
            <a:miter lim="800000"/>
            <a:headEnd/>
            <a:tailEnd/>
          </a:ln>
        </p:spPr>
        <p:txBody>
          <a:bodyPr lIns="121899" tIns="60949" rIns="121899" bIns="60949"/>
          <a:lstStyle/>
          <a:p>
            <a:pPr marL="457120" indent="-457120">
              <a:lnSpc>
                <a:spcPct val="90000"/>
              </a:lnSpc>
              <a:spcBef>
                <a:spcPct val="40000"/>
              </a:spcBef>
              <a:buClr>
                <a:srgbClr val="CC0000"/>
              </a:buClr>
            </a:pPr>
            <a:r>
              <a:rPr lang="en-US" sz="2700" dirty="0"/>
              <a:t>100%</a:t>
            </a:r>
          </a:p>
          <a:p>
            <a:pPr marL="457120" indent="-457120">
              <a:lnSpc>
                <a:spcPct val="90000"/>
              </a:lnSpc>
              <a:spcBef>
                <a:spcPct val="40000"/>
              </a:spcBef>
              <a:buClr>
                <a:srgbClr val="CC0000"/>
              </a:buClr>
            </a:pPr>
            <a:endParaRPr lang="en-US" sz="2700" dirty="0"/>
          </a:p>
          <a:p>
            <a:pPr marL="457120" indent="-457120">
              <a:lnSpc>
                <a:spcPct val="90000"/>
              </a:lnSpc>
              <a:spcBef>
                <a:spcPct val="40000"/>
              </a:spcBef>
              <a:buClr>
                <a:srgbClr val="CC0000"/>
              </a:buClr>
            </a:pPr>
            <a:endParaRPr lang="en-US" sz="2700" dirty="0"/>
          </a:p>
          <a:p>
            <a:pPr marL="457120" indent="-457120">
              <a:lnSpc>
                <a:spcPct val="90000"/>
              </a:lnSpc>
              <a:spcBef>
                <a:spcPct val="40000"/>
              </a:spcBef>
              <a:buClr>
                <a:srgbClr val="CC0000"/>
              </a:buClr>
            </a:pPr>
            <a:endParaRPr lang="en-US" sz="2700" dirty="0"/>
          </a:p>
          <a:p>
            <a:pPr marL="457120" indent="-457120">
              <a:lnSpc>
                <a:spcPct val="90000"/>
              </a:lnSpc>
              <a:spcBef>
                <a:spcPct val="40000"/>
              </a:spcBef>
              <a:buClr>
                <a:srgbClr val="CC0000"/>
              </a:buClr>
            </a:pPr>
            <a:endParaRPr lang="en-US" sz="2700" dirty="0" smtClean="0"/>
          </a:p>
          <a:p>
            <a:pPr marL="457120" indent="-457120">
              <a:lnSpc>
                <a:spcPct val="90000"/>
              </a:lnSpc>
              <a:spcBef>
                <a:spcPct val="40000"/>
              </a:spcBef>
              <a:buClr>
                <a:srgbClr val="CC0000"/>
              </a:buClr>
            </a:pPr>
            <a:endParaRPr lang="en-US" sz="2700" dirty="0"/>
          </a:p>
          <a:p>
            <a:pPr marL="457120" indent="-457120">
              <a:lnSpc>
                <a:spcPct val="90000"/>
              </a:lnSpc>
              <a:spcBef>
                <a:spcPct val="40000"/>
              </a:spcBef>
              <a:buClr>
                <a:srgbClr val="CC0000"/>
              </a:buClr>
            </a:pPr>
            <a:endParaRPr lang="en-US" sz="2700" dirty="0"/>
          </a:p>
          <a:p>
            <a:pPr marL="457120" indent="-457120">
              <a:lnSpc>
                <a:spcPct val="90000"/>
              </a:lnSpc>
              <a:spcBef>
                <a:spcPct val="40000"/>
              </a:spcBef>
              <a:buClr>
                <a:srgbClr val="CC0000"/>
              </a:buClr>
            </a:pPr>
            <a:r>
              <a:rPr lang="en-US" sz="2700" dirty="0" smtClean="0"/>
              <a:t>0</a:t>
            </a:r>
            <a:r>
              <a:rPr lang="en-US" sz="2700" dirty="0"/>
              <a:t>%</a:t>
            </a:r>
          </a:p>
        </p:txBody>
      </p:sp>
      <p:sp>
        <p:nvSpPr>
          <p:cNvPr id="9" name="Rectangle 28"/>
          <p:cNvSpPr>
            <a:spLocks noChangeArrowheads="1"/>
          </p:cNvSpPr>
          <p:nvPr/>
        </p:nvSpPr>
        <p:spPr bwMode="auto">
          <a:xfrm>
            <a:off x="848563" y="1684479"/>
            <a:ext cx="3673576" cy="608013"/>
          </a:xfrm>
          <a:prstGeom prst="rect">
            <a:avLst/>
          </a:prstGeom>
          <a:noFill/>
          <a:ln w="9525">
            <a:noFill/>
            <a:miter lim="800000"/>
            <a:headEnd/>
            <a:tailEnd/>
          </a:ln>
        </p:spPr>
        <p:txBody>
          <a:bodyPr lIns="121899" tIns="60949" rIns="121899" bIns="60949"/>
          <a:lstStyle/>
          <a:p>
            <a:pPr marL="609493" indent="-609493">
              <a:lnSpc>
                <a:spcPct val="90000"/>
              </a:lnSpc>
              <a:spcBef>
                <a:spcPct val="40000"/>
              </a:spcBef>
              <a:buClr>
                <a:srgbClr val="CC0000"/>
              </a:buClr>
            </a:pPr>
            <a:r>
              <a:rPr lang="en-US" sz="2700" dirty="0"/>
              <a:t>Always</a:t>
            </a:r>
          </a:p>
        </p:txBody>
      </p:sp>
      <p:sp>
        <p:nvSpPr>
          <p:cNvPr id="10" name="Rectangle 29"/>
          <p:cNvSpPr>
            <a:spLocks noChangeArrowheads="1"/>
          </p:cNvSpPr>
          <p:nvPr/>
        </p:nvSpPr>
        <p:spPr bwMode="auto">
          <a:xfrm>
            <a:off x="829517" y="4906844"/>
            <a:ext cx="3673576" cy="1116013"/>
          </a:xfrm>
          <a:prstGeom prst="rect">
            <a:avLst/>
          </a:prstGeom>
          <a:noFill/>
          <a:ln w="9525">
            <a:noFill/>
            <a:miter lim="800000"/>
            <a:headEnd/>
            <a:tailEnd/>
          </a:ln>
        </p:spPr>
        <p:txBody>
          <a:bodyPr lIns="121899" tIns="60949" rIns="121899" bIns="60949"/>
          <a:lstStyle/>
          <a:p>
            <a:pPr marL="609493" indent="-609493">
              <a:lnSpc>
                <a:spcPct val="90000"/>
              </a:lnSpc>
              <a:spcBef>
                <a:spcPct val="40000"/>
              </a:spcBef>
              <a:buClr>
                <a:srgbClr val="CC0000"/>
              </a:buClr>
            </a:pPr>
            <a:endParaRPr lang="en-US" sz="2700" dirty="0"/>
          </a:p>
          <a:p>
            <a:pPr marL="609493" indent="-609493">
              <a:lnSpc>
                <a:spcPct val="90000"/>
              </a:lnSpc>
              <a:spcBef>
                <a:spcPct val="40000"/>
              </a:spcBef>
              <a:buClr>
                <a:srgbClr val="CC0000"/>
              </a:buClr>
            </a:pPr>
            <a:r>
              <a:rPr lang="en-US" sz="2700" dirty="0"/>
              <a:t>Never</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9" grpId="0" autoUpdateAnimBg="0"/>
      <p:bldP spid="1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Discovery Map – Quantify the Pains</a:t>
            </a:r>
            <a:endParaRPr lang="en-US" dirty="0"/>
          </a:p>
        </p:txBody>
      </p:sp>
      <p:sp>
        <p:nvSpPr>
          <p:cNvPr id="3" name="Slide Number Placeholder 2"/>
          <p:cNvSpPr>
            <a:spLocks noGrp="1"/>
          </p:cNvSpPr>
          <p:nvPr>
            <p:ph type="sldNum" sz="quarter" idx="12"/>
          </p:nvPr>
        </p:nvSpPr>
        <p:spPr>
          <a:xfrm>
            <a:off x="11276011" y="6675120"/>
            <a:ext cx="381661" cy="182880"/>
          </a:xfrm>
        </p:spPr>
        <p:txBody>
          <a:bodyPr/>
          <a:lstStyle/>
          <a:p>
            <a:fld id="{C51EAA63-D034-42AE-91FA-B13B9518C7BE}" type="slidenum">
              <a:rPr lang="en-US" smtClean="0"/>
              <a:pPr/>
              <a:t>10</a:t>
            </a:fld>
            <a:endParaRPr lang="en-US" dirty="0"/>
          </a:p>
        </p:txBody>
      </p:sp>
      <p:grpSp>
        <p:nvGrpSpPr>
          <p:cNvPr id="4" name="Group 23"/>
          <p:cNvGrpSpPr>
            <a:grpSpLocks/>
          </p:cNvGrpSpPr>
          <p:nvPr/>
        </p:nvGrpSpPr>
        <p:grpSpPr bwMode="auto">
          <a:xfrm>
            <a:off x="10553070" y="1871354"/>
            <a:ext cx="1358546" cy="1033463"/>
            <a:chOff x="2928" y="2949"/>
            <a:chExt cx="642" cy="651"/>
          </a:xfrm>
        </p:grpSpPr>
        <p:pic>
          <p:nvPicPr>
            <p:cNvPr id="5" name="Picture 24" descr="FSA05467"/>
            <p:cNvPicPr>
              <a:picLocks noChangeAspect="1" noChangeArrowheads="1"/>
            </p:cNvPicPr>
            <p:nvPr/>
          </p:nvPicPr>
          <p:blipFill>
            <a:blip r:embed="rId2" cstate="print"/>
            <a:srcRect/>
            <a:stretch>
              <a:fillRect/>
            </a:stretch>
          </p:blipFill>
          <p:spPr bwMode="auto">
            <a:xfrm>
              <a:off x="2928" y="2949"/>
              <a:ext cx="642" cy="651"/>
            </a:xfrm>
            <a:prstGeom prst="rect">
              <a:avLst/>
            </a:prstGeom>
            <a:noFill/>
            <a:ln w="9525">
              <a:noFill/>
              <a:miter lim="800000"/>
              <a:headEnd/>
              <a:tailEnd/>
            </a:ln>
          </p:spPr>
        </p:pic>
        <p:sp>
          <p:nvSpPr>
            <p:cNvPr id="6" name="Text Box 25"/>
            <p:cNvSpPr txBox="1">
              <a:spLocks noChangeArrowheads="1"/>
            </p:cNvSpPr>
            <p:nvPr/>
          </p:nvSpPr>
          <p:spPr bwMode="auto">
            <a:xfrm>
              <a:off x="3071" y="3014"/>
              <a:ext cx="379" cy="523"/>
            </a:xfrm>
            <a:prstGeom prst="rect">
              <a:avLst/>
            </a:prstGeom>
            <a:noFill/>
            <a:ln w="9525">
              <a:noFill/>
              <a:miter lim="800000"/>
              <a:headEnd/>
              <a:tailEnd/>
            </a:ln>
            <a:effectLst>
              <a:outerShdw dist="35921" dir="2700000" algn="ctr" rotWithShape="0">
                <a:schemeClr val="tx2"/>
              </a:outerShdw>
            </a:effectLst>
          </p:spPr>
          <p:txBody>
            <a:bodyPr wrap="none">
              <a:spAutoFit/>
            </a:bodyPr>
            <a:lstStyle/>
            <a:p>
              <a:pPr algn="l">
                <a:spcBef>
                  <a:spcPct val="20000"/>
                </a:spcBef>
                <a:buClr>
                  <a:srgbClr val="FFCC00"/>
                </a:buClr>
                <a:buSzPct val="90000"/>
                <a:buFont typeface="Monotype Sorts" pitchFamily="2" charset="2"/>
                <a:buNone/>
                <a:defRPr/>
              </a:pPr>
              <a:r>
                <a:rPr lang="en-US" sz="4800" dirty="0">
                  <a:solidFill>
                    <a:srgbClr val="FFFFFF"/>
                  </a:solidFill>
                </a:rPr>
                <a:t>TP</a:t>
              </a:r>
            </a:p>
          </p:txBody>
        </p:sp>
      </p:grpSp>
      <p:sp>
        <p:nvSpPr>
          <p:cNvPr id="7" name="Rectangle 26"/>
          <p:cNvSpPr>
            <a:spLocks noChangeArrowheads="1"/>
          </p:cNvSpPr>
          <p:nvPr/>
        </p:nvSpPr>
        <p:spPr bwMode="auto">
          <a:xfrm>
            <a:off x="484593" y="1903239"/>
            <a:ext cx="9313023" cy="428625"/>
          </a:xfrm>
          <a:prstGeom prst="rect">
            <a:avLst/>
          </a:prstGeom>
          <a:noFill/>
          <a:ln w="9525">
            <a:noFill/>
            <a:miter lim="800000"/>
            <a:headEnd/>
            <a:tailEnd/>
          </a:ln>
        </p:spPr>
        <p:txBody>
          <a:bodyPr lIns="121867" tIns="60933" rIns="121867" bIns="60933" anchor="ctr"/>
          <a:lstStyle/>
          <a:p>
            <a:pPr defTabSz="1153382"/>
            <a:endParaRPr lang="en-US" sz="2900" dirty="0">
              <a:solidFill>
                <a:schemeClr val="accent2"/>
              </a:solidFill>
              <a:latin typeface="Tahoma" pitchFamily="34" charset="0"/>
            </a:endParaRPr>
          </a:p>
          <a:p>
            <a:pPr marL="533307" lvl="4" indent="-533307" defTabSz="1153382">
              <a:buClr>
                <a:schemeClr val="tx1"/>
              </a:buClr>
              <a:buFont typeface="Wingdings" pitchFamily="2" charset="2"/>
              <a:buChar char="q"/>
            </a:pPr>
            <a:r>
              <a:rPr lang="en-US" sz="2300" dirty="0">
                <a:latin typeface="Tahoma" pitchFamily="34" charset="0"/>
              </a:rPr>
              <a:t>Excessive Overtime –</a:t>
            </a:r>
            <a:r>
              <a:rPr lang="en-US" sz="2300" dirty="0">
                <a:solidFill>
                  <a:schemeClr val="bg2"/>
                </a:solidFill>
                <a:latin typeface="Tahoma" pitchFamily="34" charset="0"/>
              </a:rPr>
              <a:t> </a:t>
            </a:r>
            <a:r>
              <a:rPr lang="en-US" sz="2300" u="sng" dirty="0">
                <a:solidFill>
                  <a:srgbClr val="FF0000"/>
                </a:solidFill>
                <a:latin typeface="Tahoma" pitchFamily="34" charset="0"/>
              </a:rPr>
              <a:t>save $100,000 per annum</a:t>
            </a:r>
            <a:endParaRPr lang="en-US" sz="2300" dirty="0">
              <a:solidFill>
                <a:schemeClr val="bg2"/>
              </a:solidFill>
              <a:latin typeface="Tahoma" pitchFamily="34" charset="0"/>
            </a:endParaRPr>
          </a:p>
          <a:p>
            <a:pPr marL="533307" lvl="4" indent="-533307" defTabSz="1153382">
              <a:buClr>
                <a:schemeClr val="tx1"/>
              </a:buClr>
              <a:buFont typeface="Wingdings" pitchFamily="2" charset="2"/>
              <a:buChar char="q"/>
            </a:pPr>
            <a:r>
              <a:rPr lang="en-US" sz="2300" dirty="0">
                <a:latin typeface="Tahoma" pitchFamily="34" charset="0"/>
              </a:rPr>
              <a:t>Reduce maintenance from many vendors –</a:t>
            </a:r>
            <a:r>
              <a:rPr lang="en-US" sz="2300" dirty="0">
                <a:solidFill>
                  <a:schemeClr val="bg2"/>
                </a:solidFill>
                <a:latin typeface="Tahoma" pitchFamily="34" charset="0"/>
              </a:rPr>
              <a:t> </a:t>
            </a:r>
            <a:r>
              <a:rPr lang="en-US" sz="2300" u="sng" dirty="0">
                <a:solidFill>
                  <a:srgbClr val="FF0000"/>
                </a:solidFill>
                <a:latin typeface="Tahoma" pitchFamily="34" charset="0"/>
              </a:rPr>
              <a:t>save $50,000 p.a.</a:t>
            </a:r>
            <a:endParaRPr lang="en-US" sz="2300" dirty="0">
              <a:solidFill>
                <a:schemeClr val="bg2"/>
              </a:solidFill>
              <a:latin typeface="Tahoma" pitchFamily="34" charset="0"/>
            </a:endParaRPr>
          </a:p>
          <a:p>
            <a:pPr marL="533307" lvl="4" indent="-533307" defTabSz="1153382">
              <a:buClr>
                <a:schemeClr val="tx1"/>
              </a:buClr>
              <a:buFont typeface="Wingdings" pitchFamily="2" charset="2"/>
              <a:buChar char="q"/>
            </a:pPr>
            <a:r>
              <a:rPr lang="en-US" sz="2300" dirty="0">
                <a:latin typeface="Tahoma" pitchFamily="34" charset="0"/>
              </a:rPr>
              <a:t>Automatic reporting from system –</a:t>
            </a:r>
            <a:r>
              <a:rPr lang="en-US" sz="2300" dirty="0">
                <a:solidFill>
                  <a:schemeClr val="bg2"/>
                </a:solidFill>
                <a:latin typeface="Tahoma" pitchFamily="34" charset="0"/>
              </a:rPr>
              <a:t> </a:t>
            </a:r>
            <a:r>
              <a:rPr lang="en-US" sz="2300" u="sng" dirty="0">
                <a:solidFill>
                  <a:srgbClr val="FF0000"/>
                </a:solidFill>
                <a:latin typeface="Tahoma" pitchFamily="34" charset="0"/>
              </a:rPr>
              <a:t>save 72 hrs per month</a:t>
            </a:r>
          </a:p>
          <a:p>
            <a:pPr marL="533307" lvl="4" indent="-533307" defTabSz="1153382">
              <a:buClr>
                <a:schemeClr val="tx1"/>
              </a:buClr>
              <a:buFont typeface="Wingdings" pitchFamily="2" charset="2"/>
              <a:buChar char="q"/>
            </a:pPr>
            <a:r>
              <a:rPr lang="en-US" sz="2300" dirty="0">
                <a:latin typeface="Tahoma" pitchFamily="34" charset="0"/>
              </a:rPr>
              <a:t>Free up IT to develop new “customer” solutions –</a:t>
            </a:r>
            <a:r>
              <a:rPr lang="en-US" sz="2300" u="sng" dirty="0">
                <a:latin typeface="Tahoma" pitchFamily="34" charset="0"/>
              </a:rPr>
              <a:t> </a:t>
            </a:r>
            <a:r>
              <a:rPr lang="en-US" sz="2300" u="sng" dirty="0" smtClean="0">
                <a:solidFill>
                  <a:srgbClr val="FF0000"/>
                </a:solidFill>
                <a:latin typeface="Tahoma" pitchFamily="34" charset="0"/>
              </a:rPr>
              <a:t/>
            </a:r>
            <a:br>
              <a:rPr lang="en-US" sz="2300" u="sng" dirty="0" smtClean="0">
                <a:solidFill>
                  <a:srgbClr val="FF0000"/>
                </a:solidFill>
                <a:latin typeface="Tahoma" pitchFamily="34" charset="0"/>
              </a:rPr>
            </a:br>
            <a:r>
              <a:rPr lang="en-US" sz="2300" u="sng" dirty="0" smtClean="0">
                <a:solidFill>
                  <a:srgbClr val="FF0000"/>
                </a:solidFill>
                <a:latin typeface="Tahoma" pitchFamily="34" charset="0"/>
              </a:rPr>
              <a:t>generate </a:t>
            </a:r>
            <a:r>
              <a:rPr lang="en-US" sz="2300" u="sng" dirty="0">
                <a:solidFill>
                  <a:srgbClr val="FF0000"/>
                </a:solidFill>
                <a:latin typeface="Tahoma" pitchFamily="34" charset="0"/>
              </a:rPr>
              <a:t>a Full Time Equivalent availability</a:t>
            </a:r>
          </a:p>
        </p:txBody>
      </p:sp>
      <p:sp>
        <p:nvSpPr>
          <p:cNvPr id="8" name="Rectangle 1046"/>
          <p:cNvSpPr>
            <a:spLocks noChangeArrowheads="1"/>
          </p:cNvSpPr>
          <p:nvPr/>
        </p:nvSpPr>
        <p:spPr bwMode="auto">
          <a:xfrm>
            <a:off x="7742535" y="5440579"/>
            <a:ext cx="1828324" cy="1035967"/>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a:solidFill>
                  <a:srgbClr val="000000"/>
                </a:solidFill>
                <a:latin typeface="Tahoma" pitchFamily="34" charset="0"/>
              </a:rPr>
              <a:t>Inventory </a:t>
            </a:r>
            <a:r>
              <a:rPr lang="en-US" sz="1700" dirty="0" smtClean="0">
                <a:solidFill>
                  <a:srgbClr val="000000"/>
                </a:solidFill>
                <a:latin typeface="Tahoma" pitchFamily="34" charset="0"/>
              </a:rPr>
              <a:t>Levels</a:t>
            </a:r>
            <a:endParaRPr lang="en-US" sz="1700" dirty="0">
              <a:solidFill>
                <a:srgbClr val="000000"/>
              </a:solidFill>
              <a:latin typeface="Tahoma" pitchFamily="34" charset="0"/>
            </a:endParaRPr>
          </a:p>
          <a:p>
            <a:pPr algn="ctr" eaLnBrk="1" hangingPunct="1"/>
            <a:r>
              <a:rPr lang="en-US" sz="1700" dirty="0" smtClean="0">
                <a:solidFill>
                  <a:srgbClr val="000000"/>
                </a:solidFill>
                <a:latin typeface="Tahoma" pitchFamily="34" charset="0"/>
              </a:rPr>
              <a:t>Inaccurate</a:t>
            </a:r>
            <a:endParaRPr lang="en-US" sz="1300" dirty="0">
              <a:solidFill>
                <a:srgbClr val="000000"/>
              </a:solidFill>
              <a:latin typeface="Tahoma" pitchFamily="34" charset="0"/>
            </a:endParaRPr>
          </a:p>
        </p:txBody>
      </p:sp>
      <p:sp>
        <p:nvSpPr>
          <p:cNvPr id="9" name="Text Box 1047"/>
          <p:cNvSpPr txBox="1">
            <a:spLocks noChangeArrowheads="1"/>
          </p:cNvSpPr>
          <p:nvPr/>
        </p:nvSpPr>
        <p:spPr bwMode="auto">
          <a:xfrm>
            <a:off x="9173032" y="5353102"/>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10" name="Rectangle 1048"/>
          <p:cNvSpPr>
            <a:spLocks noChangeArrowheads="1"/>
          </p:cNvSpPr>
          <p:nvPr/>
        </p:nvSpPr>
        <p:spPr bwMode="auto">
          <a:xfrm>
            <a:off x="10199344" y="5428797"/>
            <a:ext cx="1828324" cy="1035048"/>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a:solidFill>
                  <a:srgbClr val="000000"/>
                </a:solidFill>
                <a:latin typeface="Tahoma" pitchFamily="34" charset="0"/>
              </a:rPr>
              <a:t>Suppliers </a:t>
            </a:r>
            <a:r>
              <a:rPr lang="en-US" sz="1700" dirty="0" smtClean="0">
                <a:solidFill>
                  <a:srgbClr val="000000"/>
                </a:solidFill>
                <a:latin typeface="Tahoma" pitchFamily="34" charset="0"/>
              </a:rPr>
              <a:t>Often</a:t>
            </a:r>
            <a:endParaRPr lang="en-US" sz="1700" dirty="0">
              <a:solidFill>
                <a:srgbClr val="000000"/>
              </a:solidFill>
              <a:latin typeface="Tahoma" pitchFamily="34" charset="0"/>
            </a:endParaRPr>
          </a:p>
          <a:p>
            <a:pPr algn="ctr" eaLnBrk="1" hangingPunct="1"/>
            <a:r>
              <a:rPr lang="en-US" sz="1700" dirty="0">
                <a:solidFill>
                  <a:srgbClr val="000000"/>
                </a:solidFill>
                <a:latin typeface="Tahoma" pitchFamily="34" charset="0"/>
              </a:rPr>
              <a:t> </a:t>
            </a:r>
            <a:r>
              <a:rPr lang="en-US" sz="1700" dirty="0" smtClean="0">
                <a:solidFill>
                  <a:srgbClr val="000000"/>
                </a:solidFill>
                <a:latin typeface="Tahoma" pitchFamily="34" charset="0"/>
              </a:rPr>
              <a:t>Deliver Late</a:t>
            </a:r>
            <a:endParaRPr lang="en-US" sz="1700" dirty="0">
              <a:solidFill>
                <a:srgbClr val="000000"/>
              </a:solidFill>
              <a:latin typeface="Tahoma" pitchFamily="34" charset="0"/>
            </a:endParaRPr>
          </a:p>
        </p:txBody>
      </p:sp>
      <p:sp>
        <p:nvSpPr>
          <p:cNvPr id="11" name="Text Box 1049"/>
          <p:cNvSpPr txBox="1">
            <a:spLocks noChangeArrowheads="1"/>
          </p:cNvSpPr>
          <p:nvPr/>
        </p:nvSpPr>
        <p:spPr bwMode="auto">
          <a:xfrm>
            <a:off x="11617144" y="5346752"/>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12" name="Rectangle 1050"/>
          <p:cNvSpPr>
            <a:spLocks noChangeArrowheads="1"/>
          </p:cNvSpPr>
          <p:nvPr/>
        </p:nvSpPr>
        <p:spPr bwMode="auto">
          <a:xfrm>
            <a:off x="7742535" y="3917497"/>
            <a:ext cx="1828324" cy="1040307"/>
          </a:xfrm>
          <a:prstGeom prst="rect">
            <a:avLst/>
          </a:prstGeom>
          <a:solidFill>
            <a:srgbClr val="FFFF66"/>
          </a:solidFill>
          <a:ln w="9525">
            <a:solidFill>
              <a:srgbClr val="204658"/>
            </a:solidFill>
            <a:miter lim="800000"/>
            <a:headEnd/>
            <a:tailEnd/>
          </a:ln>
        </p:spPr>
        <p:txBody>
          <a:bodyPr wrap="none" lIns="121888" tIns="60944" rIns="121888" bIns="60944" anchor="ctr"/>
          <a:lstStyle/>
          <a:p>
            <a:pPr eaLnBrk="1" hangingPunct="1"/>
            <a:endParaRPr lang="en-US" sz="1700" dirty="0">
              <a:solidFill>
                <a:srgbClr val="000000"/>
              </a:solidFill>
              <a:latin typeface="Tahoma" pitchFamily="34" charset="0"/>
            </a:endParaRPr>
          </a:p>
        </p:txBody>
      </p:sp>
      <p:sp>
        <p:nvSpPr>
          <p:cNvPr id="13" name="Text Box 1051"/>
          <p:cNvSpPr txBox="1">
            <a:spLocks noChangeArrowheads="1"/>
          </p:cNvSpPr>
          <p:nvPr/>
        </p:nvSpPr>
        <p:spPr bwMode="auto">
          <a:xfrm>
            <a:off x="9170912" y="3856493"/>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14" name="Text Box 1052"/>
          <p:cNvSpPr txBox="1">
            <a:spLocks noChangeArrowheads="1"/>
          </p:cNvSpPr>
          <p:nvPr/>
        </p:nvSpPr>
        <p:spPr bwMode="auto">
          <a:xfrm>
            <a:off x="7865270" y="4730790"/>
            <a:ext cx="246243" cy="415476"/>
          </a:xfrm>
          <a:prstGeom prst="rect">
            <a:avLst/>
          </a:prstGeom>
          <a:noFill/>
          <a:ln w="9525">
            <a:noFill/>
            <a:miter lim="800000"/>
            <a:headEnd/>
            <a:tailEnd/>
          </a:ln>
        </p:spPr>
        <p:txBody>
          <a:bodyPr wrap="none" lIns="121899" tIns="60949" rIns="121899" bIns="60949">
            <a:spAutoFit/>
          </a:bodyPr>
          <a:lstStyle/>
          <a:p>
            <a:pPr eaLnBrk="1" hangingPunct="1"/>
            <a:endParaRPr lang="fr-FR" sz="1900" dirty="0">
              <a:solidFill>
                <a:srgbClr val="000000"/>
              </a:solidFill>
              <a:latin typeface="Tahoma" pitchFamily="34" charset="0"/>
            </a:endParaRPr>
          </a:p>
        </p:txBody>
      </p:sp>
      <p:sp>
        <p:nvSpPr>
          <p:cNvPr id="15" name="Rectangle 1053"/>
          <p:cNvSpPr>
            <a:spLocks noChangeArrowheads="1"/>
          </p:cNvSpPr>
          <p:nvPr/>
        </p:nvSpPr>
        <p:spPr bwMode="auto">
          <a:xfrm>
            <a:off x="1395766" y="3942896"/>
            <a:ext cx="1828324" cy="1011732"/>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a:solidFill>
                  <a:srgbClr val="000000"/>
                </a:solidFill>
                <a:latin typeface="Tahoma" pitchFamily="34" charset="0"/>
              </a:rPr>
              <a:t> </a:t>
            </a:r>
            <a:r>
              <a:rPr lang="en-US" sz="1700" dirty="0" smtClean="0">
                <a:solidFill>
                  <a:srgbClr val="000000"/>
                </a:solidFill>
                <a:latin typeface="Tahoma" pitchFamily="34" charset="0"/>
              </a:rPr>
              <a:t/>
            </a:r>
            <a:br>
              <a:rPr lang="en-US" sz="1700" dirty="0" smtClean="0">
                <a:solidFill>
                  <a:srgbClr val="000000"/>
                </a:solidFill>
                <a:latin typeface="Tahoma" pitchFamily="34" charset="0"/>
              </a:rPr>
            </a:br>
            <a:r>
              <a:rPr lang="en-US" sz="1700" dirty="0" smtClean="0">
                <a:solidFill>
                  <a:srgbClr val="000000"/>
                </a:solidFill>
                <a:latin typeface="Tahoma" pitchFamily="34" charset="0"/>
              </a:rPr>
              <a:t>Month End Takes</a:t>
            </a:r>
            <a:endParaRPr lang="en-US" sz="1700" dirty="0">
              <a:solidFill>
                <a:srgbClr val="000000"/>
              </a:solidFill>
              <a:latin typeface="Tahoma" pitchFamily="34" charset="0"/>
            </a:endParaRPr>
          </a:p>
          <a:p>
            <a:pPr algn="ctr" eaLnBrk="1" hangingPunct="1"/>
            <a:r>
              <a:rPr lang="en-US" sz="1700" dirty="0">
                <a:solidFill>
                  <a:srgbClr val="000000"/>
                </a:solidFill>
                <a:latin typeface="Tahoma" pitchFamily="34" charset="0"/>
              </a:rPr>
              <a:t>3 </a:t>
            </a:r>
            <a:r>
              <a:rPr lang="en-US" sz="1700" dirty="0" smtClean="0">
                <a:solidFill>
                  <a:srgbClr val="000000"/>
                </a:solidFill>
                <a:latin typeface="Tahoma" pitchFamily="34" charset="0"/>
              </a:rPr>
              <a:t>Weeks</a:t>
            </a:r>
            <a:endParaRPr lang="en-US" sz="1700" dirty="0">
              <a:solidFill>
                <a:srgbClr val="000000"/>
              </a:solidFill>
              <a:latin typeface="Tahoma" pitchFamily="34" charset="0"/>
            </a:endParaRPr>
          </a:p>
          <a:p>
            <a:pPr eaLnBrk="1" hangingPunct="1"/>
            <a:endParaRPr lang="en-US" sz="1700" dirty="0">
              <a:solidFill>
                <a:srgbClr val="000000"/>
              </a:solidFill>
              <a:latin typeface="Tahoma" pitchFamily="34" charset="0"/>
            </a:endParaRPr>
          </a:p>
        </p:txBody>
      </p:sp>
      <p:sp>
        <p:nvSpPr>
          <p:cNvPr id="16" name="Text Box 1054"/>
          <p:cNvSpPr txBox="1">
            <a:spLocks noChangeArrowheads="1"/>
          </p:cNvSpPr>
          <p:nvPr/>
        </p:nvSpPr>
        <p:spPr bwMode="auto">
          <a:xfrm>
            <a:off x="2824143" y="3870946"/>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17" name="Rectangle 1055"/>
          <p:cNvSpPr>
            <a:spLocks noChangeArrowheads="1"/>
          </p:cNvSpPr>
          <p:nvPr/>
        </p:nvSpPr>
        <p:spPr bwMode="auto">
          <a:xfrm>
            <a:off x="2581669" y="5409745"/>
            <a:ext cx="1828324" cy="1066800"/>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a:solidFill>
                  <a:srgbClr val="000000"/>
                </a:solidFill>
                <a:latin typeface="Tahoma" pitchFamily="34" charset="0"/>
              </a:rPr>
              <a:t>Disparate</a:t>
            </a:r>
          </a:p>
          <a:p>
            <a:pPr algn="ctr" eaLnBrk="1" hangingPunct="1"/>
            <a:r>
              <a:rPr lang="en-US" sz="1700" dirty="0">
                <a:solidFill>
                  <a:srgbClr val="000000"/>
                </a:solidFill>
                <a:latin typeface="Tahoma" pitchFamily="34" charset="0"/>
              </a:rPr>
              <a:t>Systems</a:t>
            </a:r>
          </a:p>
        </p:txBody>
      </p:sp>
      <p:sp>
        <p:nvSpPr>
          <p:cNvPr id="18" name="Text Box 1056"/>
          <p:cNvSpPr txBox="1">
            <a:spLocks noChangeArrowheads="1"/>
          </p:cNvSpPr>
          <p:nvPr/>
        </p:nvSpPr>
        <p:spPr bwMode="auto">
          <a:xfrm>
            <a:off x="3995234" y="5333072"/>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19" name="Rectangle 1057"/>
          <p:cNvSpPr>
            <a:spLocks noChangeArrowheads="1"/>
          </p:cNvSpPr>
          <p:nvPr/>
        </p:nvSpPr>
        <p:spPr bwMode="auto">
          <a:xfrm>
            <a:off x="167182" y="5403397"/>
            <a:ext cx="1828324" cy="1060449"/>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smtClean="0">
                <a:solidFill>
                  <a:srgbClr val="000000"/>
                </a:solidFill>
                <a:latin typeface="Tahoma" pitchFamily="34" charset="0"/>
              </a:rPr>
              <a:t>Reporting from  </a:t>
            </a:r>
            <a:br>
              <a:rPr lang="en-US" sz="1700" dirty="0" smtClean="0">
                <a:solidFill>
                  <a:srgbClr val="000000"/>
                </a:solidFill>
                <a:latin typeface="Tahoma" pitchFamily="34" charset="0"/>
              </a:rPr>
            </a:br>
            <a:r>
              <a:rPr lang="en-US" sz="1700" dirty="0" smtClean="0">
                <a:solidFill>
                  <a:srgbClr val="000000"/>
                </a:solidFill>
                <a:latin typeface="Tahoma" pitchFamily="34" charset="0"/>
              </a:rPr>
              <a:t>Excel (manual </a:t>
            </a:r>
            <a:br>
              <a:rPr lang="en-US" sz="1700" dirty="0" smtClean="0">
                <a:solidFill>
                  <a:srgbClr val="000000"/>
                </a:solidFill>
                <a:latin typeface="Tahoma" pitchFamily="34" charset="0"/>
              </a:rPr>
            </a:br>
            <a:r>
              <a:rPr lang="en-US" sz="1700" dirty="0" smtClean="0">
                <a:solidFill>
                  <a:srgbClr val="000000"/>
                </a:solidFill>
                <a:latin typeface="Tahoma" pitchFamily="34" charset="0"/>
              </a:rPr>
              <a:t>keying)</a:t>
            </a:r>
            <a:endParaRPr lang="en-US" sz="1700" dirty="0">
              <a:solidFill>
                <a:srgbClr val="000000"/>
              </a:solidFill>
              <a:latin typeface="Tahoma" pitchFamily="34" charset="0"/>
            </a:endParaRPr>
          </a:p>
        </p:txBody>
      </p:sp>
      <p:sp>
        <p:nvSpPr>
          <p:cNvPr id="20" name="Text Box 1058"/>
          <p:cNvSpPr txBox="1">
            <a:spLocks noChangeArrowheads="1"/>
          </p:cNvSpPr>
          <p:nvPr/>
        </p:nvSpPr>
        <p:spPr bwMode="auto">
          <a:xfrm>
            <a:off x="1597676" y="5314998"/>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cxnSp>
        <p:nvCxnSpPr>
          <p:cNvPr id="21" name="AutoShape 1059"/>
          <p:cNvCxnSpPr>
            <a:cxnSpLocks noChangeShapeType="1"/>
            <a:stCxn id="19" idx="0"/>
            <a:endCxn id="15" idx="2"/>
          </p:cNvCxnSpPr>
          <p:nvPr/>
        </p:nvCxnSpPr>
        <p:spPr bwMode="auto">
          <a:xfrm rot="5400000" flipH="1" flipV="1">
            <a:off x="1471252" y="4564720"/>
            <a:ext cx="448768" cy="1228584"/>
          </a:xfrm>
          <a:prstGeom prst="bentConnector3">
            <a:avLst>
              <a:gd name="adj1" fmla="val 50000"/>
            </a:avLst>
          </a:prstGeom>
          <a:noFill/>
          <a:ln w="9525">
            <a:solidFill>
              <a:srgbClr val="000000"/>
            </a:solidFill>
            <a:miter lim="800000"/>
            <a:headEnd/>
            <a:tailEnd type="triangle" w="med" len="med"/>
          </a:ln>
        </p:spPr>
      </p:cxnSp>
      <p:cxnSp>
        <p:nvCxnSpPr>
          <p:cNvPr id="22" name="AutoShape 1060"/>
          <p:cNvCxnSpPr>
            <a:cxnSpLocks noChangeShapeType="1"/>
            <a:stCxn id="17" idx="0"/>
            <a:endCxn id="15" idx="2"/>
          </p:cNvCxnSpPr>
          <p:nvPr/>
        </p:nvCxnSpPr>
        <p:spPr bwMode="auto">
          <a:xfrm rot="16200000" flipV="1">
            <a:off x="2675321" y="4589235"/>
            <a:ext cx="455117" cy="1185903"/>
          </a:xfrm>
          <a:prstGeom prst="bentConnector3">
            <a:avLst>
              <a:gd name="adj1" fmla="val 50000"/>
            </a:avLst>
          </a:prstGeom>
          <a:noFill/>
          <a:ln w="9525">
            <a:solidFill>
              <a:srgbClr val="000000"/>
            </a:solidFill>
            <a:miter lim="800000"/>
            <a:headEnd/>
            <a:tailEnd type="triangle" w="med" len="med"/>
          </a:ln>
        </p:spPr>
      </p:cxnSp>
      <p:cxnSp>
        <p:nvCxnSpPr>
          <p:cNvPr id="23" name="AutoShape 1061"/>
          <p:cNvCxnSpPr>
            <a:cxnSpLocks noChangeShapeType="1"/>
            <a:stCxn id="28" idx="0"/>
            <a:endCxn id="12" idx="2"/>
          </p:cNvCxnSpPr>
          <p:nvPr/>
        </p:nvCxnSpPr>
        <p:spPr bwMode="auto">
          <a:xfrm rot="5400000" flipH="1" flipV="1">
            <a:off x="7244191" y="4017189"/>
            <a:ext cx="471891" cy="2353120"/>
          </a:xfrm>
          <a:prstGeom prst="bentConnector3">
            <a:avLst>
              <a:gd name="adj1" fmla="val 50000"/>
            </a:avLst>
          </a:prstGeom>
          <a:noFill/>
          <a:ln w="9525">
            <a:solidFill>
              <a:srgbClr val="000000"/>
            </a:solidFill>
            <a:miter lim="800000"/>
            <a:headEnd/>
            <a:tailEnd type="triangle" w="med" len="med"/>
          </a:ln>
        </p:spPr>
      </p:cxnSp>
      <p:cxnSp>
        <p:nvCxnSpPr>
          <p:cNvPr id="24" name="AutoShape 1062"/>
          <p:cNvCxnSpPr>
            <a:cxnSpLocks noChangeShapeType="1"/>
            <a:stCxn id="10" idx="0"/>
            <a:endCxn id="12" idx="2"/>
          </p:cNvCxnSpPr>
          <p:nvPr/>
        </p:nvCxnSpPr>
        <p:spPr bwMode="auto">
          <a:xfrm rot="16200000" flipV="1">
            <a:off x="9649607" y="3964897"/>
            <a:ext cx="470993" cy="2456809"/>
          </a:xfrm>
          <a:prstGeom prst="bentConnector3">
            <a:avLst>
              <a:gd name="adj1" fmla="val 50000"/>
            </a:avLst>
          </a:prstGeom>
          <a:noFill/>
          <a:ln w="9525">
            <a:solidFill>
              <a:srgbClr val="000000"/>
            </a:solidFill>
            <a:miter lim="800000"/>
            <a:headEnd/>
            <a:tailEnd type="triangle" w="med" len="med"/>
          </a:ln>
        </p:spPr>
      </p:cxnSp>
      <p:cxnSp>
        <p:nvCxnSpPr>
          <p:cNvPr id="25" name="AutoShape 1063"/>
          <p:cNvCxnSpPr>
            <a:cxnSpLocks noChangeShapeType="1"/>
            <a:stCxn id="8" idx="0"/>
            <a:endCxn id="12" idx="2"/>
          </p:cNvCxnSpPr>
          <p:nvPr/>
        </p:nvCxnSpPr>
        <p:spPr bwMode="auto">
          <a:xfrm flipV="1">
            <a:off x="8656697" y="4957804"/>
            <a:ext cx="0" cy="482775"/>
          </a:xfrm>
          <a:prstGeom prst="straightConnector1">
            <a:avLst/>
          </a:prstGeom>
          <a:noFill/>
          <a:ln w="9525">
            <a:solidFill>
              <a:srgbClr val="000000"/>
            </a:solidFill>
            <a:round/>
            <a:headEnd/>
            <a:tailEnd type="triangle" w="med" len="med"/>
          </a:ln>
        </p:spPr>
      </p:cxnSp>
      <p:cxnSp>
        <p:nvCxnSpPr>
          <p:cNvPr id="26" name="AutoShape 1064"/>
          <p:cNvCxnSpPr>
            <a:cxnSpLocks noChangeShapeType="1"/>
          </p:cNvCxnSpPr>
          <p:nvPr/>
        </p:nvCxnSpPr>
        <p:spPr bwMode="auto">
          <a:xfrm flipV="1">
            <a:off x="4429040" y="4617478"/>
            <a:ext cx="3274371" cy="1351563"/>
          </a:xfrm>
          <a:prstGeom prst="curvedConnector3">
            <a:avLst>
              <a:gd name="adj1" fmla="val 18144"/>
            </a:avLst>
          </a:prstGeom>
          <a:noFill/>
          <a:ln w="9525">
            <a:solidFill>
              <a:srgbClr val="000000"/>
            </a:solidFill>
            <a:round/>
            <a:headEnd/>
            <a:tailEnd type="triangle" w="med" len="med"/>
          </a:ln>
        </p:spPr>
      </p:cxnSp>
      <p:cxnSp>
        <p:nvCxnSpPr>
          <p:cNvPr id="27" name="AutoShape 1065"/>
          <p:cNvCxnSpPr>
            <a:cxnSpLocks noChangeShapeType="1"/>
            <a:endCxn id="15" idx="3"/>
          </p:cNvCxnSpPr>
          <p:nvPr/>
        </p:nvCxnSpPr>
        <p:spPr bwMode="auto">
          <a:xfrm rot="10800000">
            <a:off x="3224092" y="4448762"/>
            <a:ext cx="2205637" cy="1141731"/>
          </a:xfrm>
          <a:prstGeom prst="curvedConnector3">
            <a:avLst>
              <a:gd name="adj1" fmla="val 50000"/>
            </a:avLst>
          </a:prstGeom>
          <a:noFill/>
          <a:ln w="9525">
            <a:solidFill>
              <a:srgbClr val="000000"/>
            </a:solidFill>
            <a:prstDash val="lgDash"/>
            <a:round/>
            <a:headEnd/>
            <a:tailEnd type="triangle" w="med" len="med"/>
          </a:ln>
        </p:spPr>
      </p:cxnSp>
      <p:sp>
        <p:nvSpPr>
          <p:cNvPr id="28" name="Rectangle 1066"/>
          <p:cNvSpPr>
            <a:spLocks noChangeArrowheads="1"/>
          </p:cNvSpPr>
          <p:nvPr/>
        </p:nvSpPr>
        <p:spPr bwMode="auto">
          <a:xfrm>
            <a:off x="5389415" y="5429694"/>
            <a:ext cx="1828324" cy="1046851"/>
          </a:xfrm>
          <a:prstGeom prst="rect">
            <a:avLst/>
          </a:prstGeom>
          <a:solidFill>
            <a:srgbClr val="FFFF66"/>
          </a:solidFill>
          <a:ln w="9525">
            <a:solidFill>
              <a:srgbClr val="204658"/>
            </a:solidFill>
            <a:miter lim="800000"/>
            <a:headEnd/>
            <a:tailEnd/>
          </a:ln>
        </p:spPr>
        <p:txBody>
          <a:bodyPr wrap="none" lIns="121888" tIns="60944" rIns="121888" bIns="60944" anchor="ctr"/>
          <a:lstStyle/>
          <a:p>
            <a:pPr algn="ctr" eaLnBrk="1" hangingPunct="1"/>
            <a:r>
              <a:rPr lang="en-US" sz="1700" dirty="0">
                <a:solidFill>
                  <a:srgbClr val="000000"/>
                </a:solidFill>
                <a:latin typeface="Tahoma" pitchFamily="34" charset="0"/>
              </a:rPr>
              <a:t>No </a:t>
            </a:r>
            <a:r>
              <a:rPr lang="en-US" sz="1700" dirty="0" smtClean="0">
                <a:solidFill>
                  <a:srgbClr val="000000"/>
                </a:solidFill>
                <a:latin typeface="Tahoma" pitchFamily="34" charset="0"/>
              </a:rPr>
              <a:t>Time/Skills to</a:t>
            </a:r>
            <a:br>
              <a:rPr lang="en-US" sz="1700" dirty="0" smtClean="0">
                <a:solidFill>
                  <a:srgbClr val="000000"/>
                </a:solidFill>
                <a:latin typeface="Tahoma" pitchFamily="34" charset="0"/>
              </a:rPr>
            </a:br>
            <a:r>
              <a:rPr lang="en-US" sz="1700" dirty="0" smtClean="0">
                <a:solidFill>
                  <a:srgbClr val="000000"/>
                </a:solidFill>
                <a:latin typeface="Tahoma" pitchFamily="34" charset="0"/>
              </a:rPr>
              <a:t>Install New </a:t>
            </a:r>
            <a:br>
              <a:rPr lang="en-US" sz="1700" dirty="0" smtClean="0">
                <a:solidFill>
                  <a:srgbClr val="000000"/>
                </a:solidFill>
                <a:latin typeface="Tahoma" pitchFamily="34" charset="0"/>
              </a:rPr>
            </a:br>
            <a:r>
              <a:rPr lang="en-US" sz="1700" dirty="0" smtClean="0">
                <a:solidFill>
                  <a:srgbClr val="000000"/>
                </a:solidFill>
                <a:latin typeface="Tahoma" pitchFamily="34" charset="0"/>
              </a:rPr>
              <a:t>System</a:t>
            </a:r>
            <a:endParaRPr lang="en-US" sz="1700" dirty="0">
              <a:solidFill>
                <a:srgbClr val="000000"/>
              </a:solidFill>
              <a:latin typeface="Tahoma" pitchFamily="34" charset="0"/>
            </a:endParaRPr>
          </a:p>
        </p:txBody>
      </p:sp>
      <p:sp>
        <p:nvSpPr>
          <p:cNvPr id="29" name="Text Box 1067"/>
          <p:cNvSpPr txBox="1">
            <a:spLocks noChangeArrowheads="1"/>
          </p:cNvSpPr>
          <p:nvPr/>
        </p:nvSpPr>
        <p:spPr bwMode="auto">
          <a:xfrm>
            <a:off x="6832605" y="5340401"/>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30" name="Text Box 1068"/>
          <p:cNvSpPr txBox="1">
            <a:spLocks noChangeArrowheads="1"/>
          </p:cNvSpPr>
          <p:nvPr/>
        </p:nvSpPr>
        <p:spPr bwMode="auto">
          <a:xfrm>
            <a:off x="211620" y="5864265"/>
            <a:ext cx="246243" cy="383160"/>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endParaRPr lang="en-US" sz="1300" dirty="0">
              <a:solidFill>
                <a:srgbClr val="000000"/>
              </a:solidFill>
              <a:latin typeface="Tahoma" pitchFamily="34" charset="0"/>
            </a:endParaRPr>
          </a:p>
        </p:txBody>
      </p:sp>
      <p:sp>
        <p:nvSpPr>
          <p:cNvPr id="31" name="Text Box 1069"/>
          <p:cNvSpPr txBox="1">
            <a:spLocks noChangeArrowheads="1"/>
          </p:cNvSpPr>
          <p:nvPr/>
        </p:nvSpPr>
        <p:spPr bwMode="auto">
          <a:xfrm>
            <a:off x="1319590" y="4613770"/>
            <a:ext cx="769143"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Tanya</a:t>
            </a:r>
          </a:p>
        </p:txBody>
      </p:sp>
      <p:sp>
        <p:nvSpPr>
          <p:cNvPr id="32" name="Text Box 1070"/>
          <p:cNvSpPr txBox="1">
            <a:spLocks noChangeArrowheads="1"/>
          </p:cNvSpPr>
          <p:nvPr/>
        </p:nvSpPr>
        <p:spPr bwMode="auto">
          <a:xfrm>
            <a:off x="2478281" y="6039564"/>
            <a:ext cx="507661"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Bill</a:t>
            </a:r>
          </a:p>
        </p:txBody>
      </p:sp>
      <p:sp>
        <p:nvSpPr>
          <p:cNvPr id="33" name="Text Box 1071"/>
          <p:cNvSpPr txBox="1">
            <a:spLocks noChangeArrowheads="1"/>
          </p:cNvSpPr>
          <p:nvPr/>
        </p:nvSpPr>
        <p:spPr bwMode="auto">
          <a:xfrm>
            <a:off x="5262759" y="6152696"/>
            <a:ext cx="1724126" cy="443176"/>
          </a:xfrm>
          <a:prstGeom prst="rect">
            <a:avLst/>
          </a:prstGeom>
          <a:noFill/>
          <a:ln w="9525" algn="ctr">
            <a:noFill/>
            <a:miter lim="800000"/>
            <a:headEnd/>
            <a:tailEnd/>
          </a:ln>
        </p:spPr>
        <p:txBody>
          <a:bodyPr wrap="square" lIns="121899" tIns="60949" rIns="121899" bIns="60949">
            <a:spAutoFit/>
          </a:bodyPr>
          <a:lstStyle/>
          <a:p>
            <a:pPr algn="ctr" eaLnBrk="1" hangingPunct="1">
              <a:lnSpc>
                <a:spcPct val="130000"/>
              </a:lnSpc>
            </a:pPr>
            <a:r>
              <a:rPr lang="en-US" sz="1600" dirty="0" smtClean="0">
                <a:solidFill>
                  <a:srgbClr val="000000"/>
                </a:solidFill>
                <a:latin typeface="Tahoma" pitchFamily="34" charset="0"/>
              </a:rPr>
              <a:t>Bill/Tanya</a:t>
            </a:r>
            <a:r>
              <a:rPr lang="en-US" sz="1600" dirty="0">
                <a:solidFill>
                  <a:srgbClr val="000000"/>
                </a:solidFill>
                <a:latin typeface="Tahoma" pitchFamily="34" charset="0"/>
              </a:rPr>
              <a:t>/ Mike</a:t>
            </a:r>
            <a:r>
              <a:rPr lang="en-US" sz="1300" dirty="0">
                <a:solidFill>
                  <a:srgbClr val="000000"/>
                </a:solidFill>
                <a:latin typeface="Tahoma" pitchFamily="34" charset="0"/>
              </a:rPr>
              <a:t> </a:t>
            </a:r>
          </a:p>
        </p:txBody>
      </p:sp>
      <p:sp>
        <p:nvSpPr>
          <p:cNvPr id="34" name="Text Box 1072"/>
          <p:cNvSpPr txBox="1">
            <a:spLocks noChangeArrowheads="1"/>
          </p:cNvSpPr>
          <p:nvPr/>
        </p:nvSpPr>
        <p:spPr bwMode="auto">
          <a:xfrm>
            <a:off x="7669382" y="4632142"/>
            <a:ext cx="659562"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Mike</a:t>
            </a:r>
          </a:p>
        </p:txBody>
      </p:sp>
      <p:sp>
        <p:nvSpPr>
          <p:cNvPr id="35" name="Text Box 1073"/>
          <p:cNvSpPr txBox="1">
            <a:spLocks noChangeArrowheads="1"/>
          </p:cNvSpPr>
          <p:nvPr/>
        </p:nvSpPr>
        <p:spPr bwMode="auto">
          <a:xfrm>
            <a:off x="10102003" y="6120316"/>
            <a:ext cx="550749"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Jim</a:t>
            </a:r>
          </a:p>
        </p:txBody>
      </p:sp>
      <p:sp>
        <p:nvSpPr>
          <p:cNvPr id="36" name="Text Box 1074"/>
          <p:cNvSpPr txBox="1">
            <a:spLocks noChangeArrowheads="1"/>
          </p:cNvSpPr>
          <p:nvPr/>
        </p:nvSpPr>
        <p:spPr bwMode="auto">
          <a:xfrm>
            <a:off x="7662115" y="6119883"/>
            <a:ext cx="730286"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Linda</a:t>
            </a:r>
          </a:p>
        </p:txBody>
      </p:sp>
      <p:sp>
        <p:nvSpPr>
          <p:cNvPr id="37" name="Text Box 1079"/>
          <p:cNvSpPr txBox="1">
            <a:spLocks noChangeArrowheads="1"/>
          </p:cNvSpPr>
          <p:nvPr/>
        </p:nvSpPr>
        <p:spPr bwMode="auto">
          <a:xfrm>
            <a:off x="98909" y="6087871"/>
            <a:ext cx="517086" cy="356999"/>
          </a:xfrm>
          <a:prstGeom prst="rect">
            <a:avLst/>
          </a:prstGeom>
          <a:noFill/>
          <a:ln w="9525">
            <a:noFill/>
            <a:miter lim="800000"/>
            <a:headEnd/>
            <a:tailEnd/>
          </a:ln>
        </p:spPr>
        <p:txBody>
          <a:bodyPr wrap="none" lIns="121899" tIns="60949" rIns="121899" bIns="60949">
            <a:spAutoFit/>
          </a:bodyPr>
          <a:lstStyle/>
          <a:p>
            <a:pPr algn="ctr" eaLnBrk="1" hangingPunct="1">
              <a:lnSpc>
                <a:spcPct val="95000"/>
              </a:lnSpc>
            </a:pPr>
            <a:r>
              <a:rPr lang="en-GB" sz="1600" dirty="0"/>
              <a:t>Jan</a:t>
            </a:r>
          </a:p>
        </p:txBody>
      </p:sp>
      <p:sp>
        <p:nvSpPr>
          <p:cNvPr id="38" name="Text Box 1080"/>
          <p:cNvSpPr txBox="1">
            <a:spLocks noChangeArrowheads="1"/>
          </p:cNvSpPr>
          <p:nvPr/>
        </p:nvSpPr>
        <p:spPr bwMode="auto">
          <a:xfrm>
            <a:off x="8057838" y="4246603"/>
            <a:ext cx="1240810" cy="356999"/>
          </a:xfrm>
          <a:prstGeom prst="rect">
            <a:avLst/>
          </a:prstGeom>
          <a:noFill/>
          <a:ln w="9525">
            <a:noFill/>
            <a:miter lim="800000"/>
            <a:headEnd/>
            <a:tailEnd/>
          </a:ln>
        </p:spPr>
        <p:txBody>
          <a:bodyPr wrap="none" lIns="121899" tIns="60949" rIns="121899" bIns="60949">
            <a:spAutoFit/>
          </a:bodyPr>
          <a:lstStyle/>
          <a:p>
            <a:pPr eaLnBrk="1" hangingPunct="1">
              <a:lnSpc>
                <a:spcPct val="95000"/>
              </a:lnSpc>
            </a:pPr>
            <a:r>
              <a:rPr lang="en-GB" sz="1600" dirty="0">
                <a:latin typeface="Tahoma" pitchFamily="34" charset="0"/>
              </a:rPr>
              <a:t>Mfg </a:t>
            </a:r>
            <a:r>
              <a:rPr lang="en-GB" sz="1600" dirty="0" smtClean="0">
                <a:latin typeface="Tahoma" pitchFamily="34" charset="0"/>
              </a:rPr>
              <a:t>Delays</a:t>
            </a:r>
            <a:endParaRPr lang="en-GB" sz="1600" dirty="0">
              <a:latin typeface="Tahoma" pitchFamily="34" charset="0"/>
            </a:endParaRPr>
          </a:p>
        </p:txBody>
      </p:sp>
      <p:sp>
        <p:nvSpPr>
          <p:cNvPr id="39" name="Rectangle 1050"/>
          <p:cNvSpPr>
            <a:spLocks noChangeArrowheads="1"/>
          </p:cNvSpPr>
          <p:nvPr/>
        </p:nvSpPr>
        <p:spPr bwMode="auto">
          <a:xfrm>
            <a:off x="7745722" y="2631868"/>
            <a:ext cx="1828324" cy="1040307"/>
          </a:xfrm>
          <a:prstGeom prst="rect">
            <a:avLst/>
          </a:prstGeom>
          <a:solidFill>
            <a:srgbClr val="FFFF66"/>
          </a:solidFill>
          <a:ln w="9525">
            <a:solidFill>
              <a:srgbClr val="204658"/>
            </a:solidFill>
            <a:miter lim="800000"/>
            <a:headEnd/>
            <a:tailEnd/>
          </a:ln>
        </p:spPr>
        <p:txBody>
          <a:bodyPr wrap="none" lIns="121888" tIns="60944" rIns="121888" bIns="60944" anchor="ctr"/>
          <a:lstStyle/>
          <a:p>
            <a:pPr eaLnBrk="1" hangingPunct="1"/>
            <a:endParaRPr lang="en-US" sz="1700" dirty="0">
              <a:solidFill>
                <a:srgbClr val="000000"/>
              </a:solidFill>
              <a:latin typeface="Tahoma" pitchFamily="34" charset="0"/>
            </a:endParaRPr>
          </a:p>
        </p:txBody>
      </p:sp>
      <p:sp>
        <p:nvSpPr>
          <p:cNvPr id="40" name="Text Box 1051"/>
          <p:cNvSpPr txBox="1">
            <a:spLocks noChangeArrowheads="1"/>
          </p:cNvSpPr>
          <p:nvPr/>
        </p:nvSpPr>
        <p:spPr bwMode="auto">
          <a:xfrm>
            <a:off x="9174099" y="2570864"/>
            <a:ext cx="498276" cy="389840"/>
          </a:xfrm>
          <a:prstGeom prst="rect">
            <a:avLst/>
          </a:prstGeom>
          <a:noFill/>
          <a:ln w="9525">
            <a:noFill/>
            <a:miter lim="800000"/>
            <a:headEnd/>
            <a:tailEnd/>
          </a:ln>
        </p:spPr>
        <p:txBody>
          <a:bodyPr wrap="none" lIns="121888" tIns="60944" rIns="121888" bIns="60944">
            <a:spAutoFit/>
          </a:bodyPr>
          <a:lstStyle/>
          <a:p>
            <a:pPr algn="l" eaLnBrk="1" hangingPunct="1"/>
            <a:r>
              <a:rPr lang="en-US" sz="1700" dirty="0">
                <a:solidFill>
                  <a:srgbClr val="FF0000"/>
                </a:solidFill>
                <a:latin typeface="Tahoma" pitchFamily="34" charset="0"/>
              </a:rPr>
              <a:t>TP</a:t>
            </a:r>
            <a:endParaRPr lang="en-US" sz="1700" dirty="0">
              <a:solidFill>
                <a:srgbClr val="FF0000"/>
              </a:solidFill>
              <a:latin typeface="Times New Roman" charset="0"/>
            </a:endParaRPr>
          </a:p>
        </p:txBody>
      </p:sp>
      <p:sp>
        <p:nvSpPr>
          <p:cNvPr id="41" name="Text Box 1080"/>
          <p:cNvSpPr txBox="1">
            <a:spLocks noChangeArrowheads="1"/>
          </p:cNvSpPr>
          <p:nvPr/>
        </p:nvSpPr>
        <p:spPr bwMode="auto">
          <a:xfrm>
            <a:off x="8061024" y="2960973"/>
            <a:ext cx="1105997" cy="590931"/>
          </a:xfrm>
          <a:prstGeom prst="rect">
            <a:avLst/>
          </a:prstGeom>
          <a:noFill/>
          <a:ln w="9525">
            <a:noFill/>
            <a:miter lim="800000"/>
            <a:headEnd/>
            <a:tailEnd/>
          </a:ln>
        </p:spPr>
        <p:txBody>
          <a:bodyPr wrap="none" lIns="121899" tIns="60949" rIns="121899" bIns="60949">
            <a:spAutoFit/>
          </a:bodyPr>
          <a:lstStyle/>
          <a:p>
            <a:pPr eaLnBrk="1" hangingPunct="1">
              <a:lnSpc>
                <a:spcPct val="95000"/>
              </a:lnSpc>
            </a:pPr>
            <a:r>
              <a:rPr lang="en-GB" sz="1600" dirty="0" smtClean="0">
                <a:latin typeface="Tahoma" pitchFamily="34" charset="0"/>
              </a:rPr>
              <a:t>Excessive</a:t>
            </a:r>
            <a:br>
              <a:rPr lang="en-GB" sz="1600" dirty="0" smtClean="0">
                <a:latin typeface="Tahoma" pitchFamily="34" charset="0"/>
              </a:rPr>
            </a:br>
            <a:r>
              <a:rPr lang="en-GB" sz="1600" dirty="0" smtClean="0">
                <a:latin typeface="Tahoma" pitchFamily="34" charset="0"/>
              </a:rPr>
              <a:t>Overtime</a:t>
            </a:r>
            <a:endParaRPr lang="en-GB" sz="1600" dirty="0">
              <a:latin typeface="Tahoma" pitchFamily="34" charset="0"/>
            </a:endParaRPr>
          </a:p>
        </p:txBody>
      </p:sp>
      <p:sp>
        <p:nvSpPr>
          <p:cNvPr id="42" name="Text Box 1072"/>
          <p:cNvSpPr txBox="1">
            <a:spLocks noChangeArrowheads="1"/>
          </p:cNvSpPr>
          <p:nvPr/>
        </p:nvSpPr>
        <p:spPr bwMode="auto">
          <a:xfrm>
            <a:off x="7654871" y="3333114"/>
            <a:ext cx="659562" cy="443176"/>
          </a:xfrm>
          <a:prstGeom prst="rect">
            <a:avLst/>
          </a:prstGeom>
          <a:noFill/>
          <a:ln w="9525" algn="ctr">
            <a:noFill/>
            <a:miter lim="800000"/>
            <a:headEnd/>
            <a:tailEnd/>
          </a:ln>
        </p:spPr>
        <p:txBody>
          <a:bodyPr wrap="none" lIns="121899" tIns="60949" rIns="121899" bIns="60949">
            <a:spAutoFit/>
          </a:bodyPr>
          <a:lstStyle/>
          <a:p>
            <a:pPr eaLnBrk="1" hangingPunct="1">
              <a:lnSpc>
                <a:spcPct val="130000"/>
              </a:lnSpc>
            </a:pPr>
            <a:r>
              <a:rPr lang="en-US" sz="1600" dirty="0">
                <a:solidFill>
                  <a:srgbClr val="000000"/>
                </a:solidFill>
                <a:latin typeface="Tahoma" pitchFamily="34" charset="0"/>
              </a:rPr>
              <a:t>Mike</a:t>
            </a:r>
          </a:p>
        </p:txBody>
      </p:sp>
      <p:cxnSp>
        <p:nvCxnSpPr>
          <p:cNvPr id="43" name="AutoShape 1063"/>
          <p:cNvCxnSpPr>
            <a:cxnSpLocks noChangeShapeType="1"/>
            <a:stCxn id="12" idx="0"/>
            <a:endCxn id="39" idx="2"/>
          </p:cNvCxnSpPr>
          <p:nvPr/>
        </p:nvCxnSpPr>
        <p:spPr bwMode="auto">
          <a:xfrm flipV="1">
            <a:off x="8656698" y="3672174"/>
            <a:ext cx="3187" cy="245323"/>
          </a:xfrm>
          <a:prstGeom prst="straightConnector1">
            <a:avLst/>
          </a:prstGeom>
          <a:noFill/>
          <a:ln w="9525">
            <a:solidFill>
              <a:srgbClr val="000000"/>
            </a:solidFill>
            <a:round/>
            <a:headEnd/>
            <a:tailEnd type="triangle" w="med" len="med"/>
          </a:ln>
        </p:spPr>
      </p:cxn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 the TP, CP and KBR</a:t>
            </a:r>
            <a:endParaRPr lang="en-US" dirty="0"/>
          </a:p>
        </p:txBody>
      </p:sp>
      <p:sp>
        <p:nvSpPr>
          <p:cNvPr id="3" name="Slide Number Placeholder 2"/>
          <p:cNvSpPr>
            <a:spLocks noGrp="1"/>
          </p:cNvSpPr>
          <p:nvPr>
            <p:ph type="sldNum" sz="quarter" idx="12"/>
          </p:nvPr>
        </p:nvSpPr>
        <p:spPr/>
        <p:txBody>
          <a:bodyPr/>
          <a:lstStyle/>
          <a:p>
            <a:fld id="{C51EAA63-D034-42AE-91FA-B13B9518C7BE}" type="slidenum">
              <a:rPr lang="en-US" smtClean="0"/>
              <a:pPr/>
              <a:t>11</a:t>
            </a:fld>
            <a:endParaRPr lang="en-US" dirty="0"/>
          </a:p>
        </p:txBody>
      </p:sp>
      <p:sp>
        <p:nvSpPr>
          <p:cNvPr id="4" name="Rectangle 1027"/>
          <p:cNvSpPr>
            <a:spLocks noChangeArrowheads="1"/>
          </p:cNvSpPr>
          <p:nvPr/>
        </p:nvSpPr>
        <p:spPr bwMode="auto">
          <a:xfrm>
            <a:off x="5978043" y="5316539"/>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No self</a:t>
            </a:r>
          </a:p>
          <a:p>
            <a:pPr eaLnBrk="1" hangingPunct="1"/>
            <a:r>
              <a:rPr lang="en-US" sz="1700" dirty="0">
                <a:latin typeface="Tahoma" pitchFamily="34" charset="0"/>
                <a:cs typeface="Times New Roman" charset="0"/>
              </a:rPr>
              <a:t>service for </a:t>
            </a:r>
          </a:p>
          <a:p>
            <a:pPr eaLnBrk="1" hangingPunct="1"/>
            <a:r>
              <a:rPr lang="en-US" sz="1700" dirty="0">
                <a:latin typeface="Tahoma" pitchFamily="34" charset="0"/>
                <a:cs typeface="Times New Roman" charset="0"/>
              </a:rPr>
              <a:t>employees</a:t>
            </a:r>
          </a:p>
        </p:txBody>
      </p:sp>
      <p:sp>
        <p:nvSpPr>
          <p:cNvPr id="5" name="Rectangle 1028"/>
          <p:cNvSpPr>
            <a:spLocks noChangeArrowheads="1"/>
          </p:cNvSpPr>
          <p:nvPr/>
        </p:nvSpPr>
        <p:spPr bwMode="auto">
          <a:xfrm>
            <a:off x="1104630" y="5329239"/>
            <a:ext cx="1978569"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smtClean="0">
                <a:latin typeface="Tahoma" pitchFamily="34" charset="0"/>
                <a:cs typeface="Times New Roman" charset="0"/>
              </a:rPr>
              <a:t>Customer </a:t>
            </a:r>
            <a:endParaRPr lang="en-US" sz="1700" dirty="0">
              <a:latin typeface="Tahoma" pitchFamily="34" charset="0"/>
              <a:cs typeface="Times New Roman" charset="0"/>
            </a:endParaRPr>
          </a:p>
          <a:p>
            <a:pPr eaLnBrk="1" hangingPunct="1"/>
            <a:r>
              <a:rPr lang="en-US" sz="1700" dirty="0">
                <a:latin typeface="Tahoma" pitchFamily="34" charset="0"/>
                <a:cs typeface="Times New Roman" charset="0"/>
              </a:rPr>
              <a:t>dissatisfaction</a:t>
            </a:r>
          </a:p>
        </p:txBody>
      </p:sp>
      <p:sp>
        <p:nvSpPr>
          <p:cNvPr id="6" name="Rectangle 1029"/>
          <p:cNvSpPr>
            <a:spLocks noChangeArrowheads="1"/>
          </p:cNvSpPr>
          <p:nvPr/>
        </p:nvSpPr>
        <p:spPr bwMode="auto">
          <a:xfrm>
            <a:off x="3478912" y="5322888"/>
            <a:ext cx="1978569"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Too many </a:t>
            </a:r>
          </a:p>
          <a:p>
            <a:pPr eaLnBrk="1" hangingPunct="1"/>
            <a:r>
              <a:rPr lang="en-US" sz="1700" dirty="0">
                <a:latin typeface="Tahoma" pitchFamily="34" charset="0"/>
                <a:cs typeface="Times New Roman" charset="0"/>
              </a:rPr>
              <a:t>systems </a:t>
            </a:r>
          </a:p>
          <a:p>
            <a:pPr eaLnBrk="1" hangingPunct="1"/>
            <a:r>
              <a:rPr lang="en-US" sz="1700" dirty="0">
                <a:latin typeface="Tahoma" pitchFamily="34" charset="0"/>
                <a:cs typeface="Times New Roman" charset="0"/>
              </a:rPr>
              <a:t>to manage</a:t>
            </a:r>
          </a:p>
        </p:txBody>
      </p:sp>
      <p:sp>
        <p:nvSpPr>
          <p:cNvPr id="7" name="Rectangle 1030"/>
          <p:cNvSpPr>
            <a:spLocks noChangeArrowheads="1"/>
          </p:cNvSpPr>
          <p:nvPr/>
        </p:nvSpPr>
        <p:spPr bwMode="auto">
          <a:xfrm>
            <a:off x="8576633" y="5313363"/>
            <a:ext cx="1978567"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Free up 25%</a:t>
            </a:r>
          </a:p>
          <a:p>
            <a:pPr eaLnBrk="1" hangingPunct="1"/>
            <a:r>
              <a:rPr lang="en-US" sz="1700" dirty="0">
                <a:latin typeface="Tahoma" pitchFamily="34" charset="0"/>
                <a:cs typeface="Times New Roman" charset="0"/>
              </a:rPr>
              <a:t>more Working</a:t>
            </a:r>
          </a:p>
          <a:p>
            <a:pPr eaLnBrk="1" hangingPunct="1"/>
            <a:r>
              <a:rPr lang="en-US" sz="1700" dirty="0">
                <a:latin typeface="Tahoma" pitchFamily="34" charset="0"/>
                <a:cs typeface="Times New Roman" charset="0"/>
              </a:rPr>
              <a:t>Capital</a:t>
            </a:r>
          </a:p>
        </p:txBody>
      </p:sp>
      <p:sp>
        <p:nvSpPr>
          <p:cNvPr id="8" name="Rectangle 1031"/>
          <p:cNvSpPr>
            <a:spLocks noChangeArrowheads="1"/>
          </p:cNvSpPr>
          <p:nvPr/>
        </p:nvSpPr>
        <p:spPr bwMode="auto">
          <a:xfrm>
            <a:off x="5980158" y="4137025"/>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Wrong/ late </a:t>
            </a:r>
          </a:p>
          <a:p>
            <a:pPr eaLnBrk="1" hangingPunct="1"/>
            <a:r>
              <a:rPr lang="en-US" sz="1700" dirty="0">
                <a:latin typeface="Tahoma" pitchFamily="34" charset="0"/>
                <a:cs typeface="Times New Roman" charset="0"/>
              </a:rPr>
              <a:t>decisions</a:t>
            </a:r>
          </a:p>
        </p:txBody>
      </p:sp>
      <p:sp>
        <p:nvSpPr>
          <p:cNvPr id="9" name="Rectangle 1032"/>
          <p:cNvSpPr>
            <a:spLocks noChangeArrowheads="1"/>
          </p:cNvSpPr>
          <p:nvPr/>
        </p:nvSpPr>
        <p:spPr bwMode="auto">
          <a:xfrm>
            <a:off x="3504303" y="4137025"/>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Reduce staff</a:t>
            </a:r>
          </a:p>
          <a:p>
            <a:pPr eaLnBrk="1" hangingPunct="1"/>
            <a:r>
              <a:rPr lang="en-US" sz="1700" dirty="0">
                <a:latin typeface="Tahoma" pitchFamily="34" charset="0"/>
                <a:cs typeface="Times New Roman" charset="0"/>
              </a:rPr>
              <a:t> churn</a:t>
            </a:r>
          </a:p>
          <a:p>
            <a:pPr eaLnBrk="1" hangingPunct="1"/>
            <a:r>
              <a:rPr lang="en-US" sz="1700" dirty="0">
                <a:latin typeface="Tahoma" pitchFamily="34" charset="0"/>
                <a:cs typeface="Times New Roman" charset="0"/>
              </a:rPr>
              <a:t> By 10%</a:t>
            </a:r>
          </a:p>
        </p:txBody>
      </p:sp>
      <p:sp>
        <p:nvSpPr>
          <p:cNvPr id="10" name="Rectangle 1033"/>
          <p:cNvSpPr>
            <a:spLocks noChangeArrowheads="1"/>
          </p:cNvSpPr>
          <p:nvPr/>
        </p:nvSpPr>
        <p:spPr bwMode="auto">
          <a:xfrm>
            <a:off x="8582980" y="4132263"/>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Multiple </a:t>
            </a:r>
          </a:p>
          <a:p>
            <a:pPr eaLnBrk="1" hangingPunct="1"/>
            <a:r>
              <a:rPr lang="en-US" sz="1700" dirty="0">
                <a:latin typeface="Tahoma" pitchFamily="34" charset="0"/>
                <a:cs typeface="Times New Roman" charset="0"/>
              </a:rPr>
              <a:t>reporting</a:t>
            </a:r>
          </a:p>
          <a:p>
            <a:pPr eaLnBrk="1" hangingPunct="1"/>
            <a:r>
              <a:rPr lang="en-US" sz="1700" dirty="0">
                <a:latin typeface="Tahoma" pitchFamily="34" charset="0"/>
                <a:cs typeface="Times New Roman" charset="0"/>
              </a:rPr>
              <a:t>tools</a:t>
            </a:r>
          </a:p>
        </p:txBody>
      </p:sp>
      <p:sp>
        <p:nvSpPr>
          <p:cNvPr id="11" name="Rectangle 1034"/>
          <p:cNvSpPr>
            <a:spLocks noChangeArrowheads="1"/>
          </p:cNvSpPr>
          <p:nvPr/>
        </p:nvSpPr>
        <p:spPr bwMode="auto">
          <a:xfrm>
            <a:off x="5973811" y="2860675"/>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Reduce IT costs</a:t>
            </a:r>
          </a:p>
          <a:p>
            <a:pPr eaLnBrk="1" hangingPunct="1"/>
            <a:r>
              <a:rPr lang="en-US" sz="1700" dirty="0">
                <a:latin typeface="Tahoma" pitchFamily="34" charset="0"/>
                <a:cs typeface="Times New Roman" charset="0"/>
              </a:rPr>
              <a:t>By 10%</a:t>
            </a:r>
          </a:p>
        </p:txBody>
      </p:sp>
      <p:sp>
        <p:nvSpPr>
          <p:cNvPr id="12" name="Rectangle 1035"/>
          <p:cNvSpPr>
            <a:spLocks noChangeArrowheads="1"/>
          </p:cNvSpPr>
          <p:nvPr/>
        </p:nvSpPr>
        <p:spPr bwMode="auto">
          <a:xfrm>
            <a:off x="3497956" y="2860675"/>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Employee</a:t>
            </a:r>
          </a:p>
          <a:p>
            <a:pPr eaLnBrk="1" hangingPunct="1"/>
            <a:r>
              <a:rPr lang="en-US" sz="1700" dirty="0">
                <a:latin typeface="Tahoma" pitchFamily="34" charset="0"/>
                <a:cs typeface="Times New Roman" charset="0"/>
              </a:rPr>
              <a:t>Productivity </a:t>
            </a:r>
          </a:p>
          <a:p>
            <a:pPr eaLnBrk="1" hangingPunct="1"/>
            <a:r>
              <a:rPr lang="en-US" sz="1700" dirty="0">
                <a:latin typeface="Tahoma" pitchFamily="34" charset="0"/>
                <a:cs typeface="Times New Roman" charset="0"/>
              </a:rPr>
              <a:t>is down</a:t>
            </a:r>
          </a:p>
        </p:txBody>
      </p:sp>
      <p:sp>
        <p:nvSpPr>
          <p:cNvPr id="13" name="Rectangle 1036"/>
          <p:cNvSpPr>
            <a:spLocks noChangeArrowheads="1"/>
          </p:cNvSpPr>
          <p:nvPr/>
        </p:nvSpPr>
        <p:spPr bwMode="auto">
          <a:xfrm>
            <a:off x="8576633" y="2855913"/>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Align workforce</a:t>
            </a:r>
          </a:p>
          <a:p>
            <a:pPr eaLnBrk="1" hangingPunct="1"/>
            <a:r>
              <a:rPr lang="en-US" sz="1700" dirty="0">
                <a:latin typeface="Tahoma" pitchFamily="34" charset="0"/>
                <a:cs typeface="Times New Roman" charset="0"/>
              </a:rPr>
              <a:t>with objectives</a:t>
            </a:r>
          </a:p>
        </p:txBody>
      </p:sp>
      <p:sp>
        <p:nvSpPr>
          <p:cNvPr id="14" name="Rectangle 1037"/>
          <p:cNvSpPr>
            <a:spLocks noChangeArrowheads="1"/>
          </p:cNvSpPr>
          <p:nvPr/>
        </p:nvSpPr>
        <p:spPr bwMode="auto">
          <a:xfrm>
            <a:off x="5986507" y="1527174"/>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Excess</a:t>
            </a:r>
          </a:p>
          <a:p>
            <a:pPr eaLnBrk="1" hangingPunct="1"/>
            <a:r>
              <a:rPr lang="en-US" sz="1700" dirty="0">
                <a:latin typeface="Tahoma" pitchFamily="34" charset="0"/>
                <a:cs typeface="Times New Roman" charset="0"/>
              </a:rPr>
              <a:t>Training cost</a:t>
            </a:r>
          </a:p>
        </p:txBody>
      </p:sp>
      <p:sp>
        <p:nvSpPr>
          <p:cNvPr id="15" name="Rectangle 1038"/>
          <p:cNvSpPr>
            <a:spLocks noChangeArrowheads="1"/>
          </p:cNvSpPr>
          <p:nvPr/>
        </p:nvSpPr>
        <p:spPr bwMode="auto">
          <a:xfrm>
            <a:off x="3510652" y="1527174"/>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Reduce </a:t>
            </a:r>
          </a:p>
          <a:p>
            <a:pPr eaLnBrk="1" hangingPunct="1"/>
            <a:r>
              <a:rPr lang="en-US" sz="1700" dirty="0">
                <a:latin typeface="Tahoma" pitchFamily="34" charset="0"/>
                <a:cs typeface="Times New Roman" charset="0"/>
              </a:rPr>
              <a:t>operating </a:t>
            </a:r>
          </a:p>
          <a:p>
            <a:pPr eaLnBrk="1" hangingPunct="1"/>
            <a:r>
              <a:rPr lang="en-US" sz="1700" dirty="0">
                <a:latin typeface="Tahoma" pitchFamily="34" charset="0"/>
                <a:cs typeface="Times New Roman" charset="0"/>
              </a:rPr>
              <a:t>costs by 8%</a:t>
            </a:r>
          </a:p>
        </p:txBody>
      </p:sp>
      <p:sp>
        <p:nvSpPr>
          <p:cNvPr id="16" name="Rectangle 1039"/>
          <p:cNvSpPr>
            <a:spLocks noChangeArrowheads="1"/>
          </p:cNvSpPr>
          <p:nvPr/>
        </p:nvSpPr>
        <p:spPr bwMode="auto">
          <a:xfrm>
            <a:off x="8589329" y="1522413"/>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Compliance </a:t>
            </a:r>
          </a:p>
          <a:p>
            <a:pPr eaLnBrk="1" hangingPunct="1"/>
            <a:r>
              <a:rPr lang="en-US" sz="1700" dirty="0">
                <a:latin typeface="Tahoma" pitchFamily="34" charset="0"/>
                <a:cs typeface="Times New Roman" charset="0"/>
              </a:rPr>
              <a:t>issues</a:t>
            </a:r>
          </a:p>
        </p:txBody>
      </p:sp>
      <p:sp>
        <p:nvSpPr>
          <p:cNvPr id="17" name="Rectangle 1040"/>
          <p:cNvSpPr>
            <a:spLocks noChangeArrowheads="1"/>
          </p:cNvSpPr>
          <p:nvPr/>
        </p:nvSpPr>
        <p:spPr bwMode="auto">
          <a:xfrm>
            <a:off x="1117325" y="4132263"/>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Performance </a:t>
            </a:r>
          </a:p>
          <a:p>
            <a:pPr eaLnBrk="1" hangingPunct="1"/>
            <a:r>
              <a:rPr lang="en-US" sz="1700" dirty="0">
                <a:latin typeface="Tahoma" pitchFamily="34" charset="0"/>
                <a:cs typeface="Times New Roman" charset="0"/>
              </a:rPr>
              <a:t>management</a:t>
            </a:r>
          </a:p>
          <a:p>
            <a:pPr eaLnBrk="1" hangingPunct="1"/>
            <a:r>
              <a:rPr lang="en-US" sz="1700" dirty="0">
                <a:latin typeface="Tahoma" pitchFamily="34" charset="0"/>
                <a:cs typeface="Times New Roman" charset="0"/>
              </a:rPr>
              <a:t> not effective</a:t>
            </a:r>
          </a:p>
        </p:txBody>
      </p:sp>
      <p:sp>
        <p:nvSpPr>
          <p:cNvPr id="18" name="Rectangle 1041"/>
          <p:cNvSpPr>
            <a:spLocks noChangeArrowheads="1"/>
          </p:cNvSpPr>
          <p:nvPr/>
        </p:nvSpPr>
        <p:spPr bwMode="auto">
          <a:xfrm>
            <a:off x="1110977" y="2855913"/>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Can’t diagnose</a:t>
            </a:r>
          </a:p>
          <a:p>
            <a:pPr eaLnBrk="1" hangingPunct="1"/>
            <a:r>
              <a:rPr lang="en-US" sz="1700" dirty="0">
                <a:latin typeface="Tahoma" pitchFamily="34" charset="0"/>
                <a:cs typeface="Times New Roman" charset="0"/>
              </a:rPr>
              <a:t>performance </a:t>
            </a:r>
          </a:p>
          <a:p>
            <a:pPr eaLnBrk="1" hangingPunct="1"/>
            <a:r>
              <a:rPr lang="en-US" sz="1700" dirty="0">
                <a:latin typeface="Tahoma" pitchFamily="34" charset="0"/>
                <a:cs typeface="Times New Roman" charset="0"/>
              </a:rPr>
              <a:t>issue quickly</a:t>
            </a:r>
          </a:p>
        </p:txBody>
      </p:sp>
      <p:sp>
        <p:nvSpPr>
          <p:cNvPr id="19" name="Rectangle 1042"/>
          <p:cNvSpPr>
            <a:spLocks noChangeArrowheads="1"/>
          </p:cNvSpPr>
          <p:nvPr/>
        </p:nvSpPr>
        <p:spPr bwMode="auto">
          <a:xfrm>
            <a:off x="1123674" y="1522413"/>
            <a:ext cx="1980684" cy="868363"/>
          </a:xfrm>
          <a:prstGeom prst="rect">
            <a:avLst/>
          </a:prstGeom>
          <a:solidFill>
            <a:schemeClr val="bg1"/>
          </a:solidFill>
          <a:ln w="28575">
            <a:solidFill>
              <a:srgbClr val="0066FF"/>
            </a:solidFill>
            <a:miter lim="800000"/>
            <a:headEnd/>
            <a:tailEnd/>
          </a:ln>
        </p:spPr>
        <p:txBody>
          <a:bodyPr wrap="none" lIns="121888" tIns="60944" rIns="121888" bIns="60944" anchor="ctr"/>
          <a:lstStyle/>
          <a:p>
            <a:pPr eaLnBrk="1" hangingPunct="1"/>
            <a:r>
              <a:rPr lang="en-US" sz="1700" dirty="0">
                <a:latin typeface="Tahoma" pitchFamily="34" charset="0"/>
                <a:cs typeface="Times New Roman" charset="0"/>
              </a:rPr>
              <a:t>Wasted </a:t>
            </a:r>
          </a:p>
          <a:p>
            <a:pPr eaLnBrk="1" hangingPunct="1"/>
            <a:r>
              <a:rPr lang="en-US" sz="1700" dirty="0">
                <a:latin typeface="Tahoma" pitchFamily="34" charset="0"/>
                <a:cs typeface="Times New Roman" charset="0"/>
              </a:rPr>
              <a:t>end user time</a:t>
            </a:r>
          </a:p>
        </p:txBody>
      </p:sp>
      <p:pic>
        <p:nvPicPr>
          <p:cNvPr id="20" name="Picture 1043"/>
          <p:cNvPicPr>
            <a:picLocks noChangeAspect="1" noChangeArrowheads="1"/>
          </p:cNvPicPr>
          <p:nvPr/>
        </p:nvPicPr>
        <p:blipFill>
          <a:blip r:embed="rId3" cstate="print"/>
          <a:srcRect/>
          <a:stretch>
            <a:fillRect/>
          </a:stretch>
        </p:blipFill>
        <p:spPr bwMode="auto">
          <a:xfrm>
            <a:off x="2664206" y="1219200"/>
            <a:ext cx="755453" cy="577851"/>
          </a:xfrm>
          <a:prstGeom prst="rect">
            <a:avLst/>
          </a:prstGeom>
          <a:noFill/>
          <a:ln w="9525">
            <a:noFill/>
            <a:miter lim="800000"/>
            <a:headEnd/>
            <a:tailEnd/>
          </a:ln>
        </p:spPr>
      </p:pic>
      <p:pic>
        <p:nvPicPr>
          <p:cNvPr id="21" name="Picture 1044"/>
          <p:cNvPicPr>
            <a:picLocks noChangeAspect="1" noChangeArrowheads="1"/>
          </p:cNvPicPr>
          <p:nvPr/>
        </p:nvPicPr>
        <p:blipFill>
          <a:blip r:embed="rId3" cstate="print"/>
          <a:srcRect/>
          <a:stretch>
            <a:fillRect/>
          </a:stretch>
        </p:blipFill>
        <p:spPr bwMode="auto">
          <a:xfrm>
            <a:off x="7529155" y="3865563"/>
            <a:ext cx="755454" cy="577851"/>
          </a:xfrm>
          <a:prstGeom prst="rect">
            <a:avLst/>
          </a:prstGeom>
          <a:noFill/>
          <a:ln w="9525">
            <a:noFill/>
            <a:miter lim="800000"/>
            <a:headEnd/>
            <a:tailEnd/>
          </a:ln>
        </p:spPr>
      </p:pic>
      <p:pic>
        <p:nvPicPr>
          <p:cNvPr id="22" name="Picture 1045"/>
          <p:cNvPicPr>
            <a:picLocks noChangeAspect="1" noChangeArrowheads="1"/>
          </p:cNvPicPr>
          <p:nvPr/>
        </p:nvPicPr>
        <p:blipFill>
          <a:blip r:embed="rId4" cstate="print"/>
          <a:srcRect/>
          <a:stretch>
            <a:fillRect/>
          </a:stretch>
        </p:blipFill>
        <p:spPr bwMode="auto">
          <a:xfrm>
            <a:off x="5036373" y="1223963"/>
            <a:ext cx="793544" cy="600075"/>
          </a:xfrm>
          <a:prstGeom prst="rect">
            <a:avLst/>
          </a:prstGeom>
          <a:noFill/>
          <a:ln w="9525">
            <a:noFill/>
            <a:miter lim="800000"/>
            <a:headEnd/>
            <a:tailEnd/>
          </a:ln>
        </p:spPr>
      </p:pic>
      <p:pic>
        <p:nvPicPr>
          <p:cNvPr id="23" name="Picture 1046"/>
          <p:cNvPicPr>
            <a:picLocks noChangeAspect="1" noChangeArrowheads="1"/>
          </p:cNvPicPr>
          <p:nvPr/>
        </p:nvPicPr>
        <p:blipFill>
          <a:blip r:embed="rId3" cstate="print"/>
          <a:srcRect/>
          <a:stretch>
            <a:fillRect/>
          </a:stretch>
        </p:blipFill>
        <p:spPr bwMode="auto">
          <a:xfrm>
            <a:off x="7590525" y="1228725"/>
            <a:ext cx="755453" cy="577851"/>
          </a:xfrm>
          <a:prstGeom prst="rect">
            <a:avLst/>
          </a:prstGeom>
          <a:noFill/>
          <a:ln w="9525">
            <a:noFill/>
            <a:miter lim="800000"/>
            <a:headEnd/>
            <a:tailEnd/>
          </a:ln>
        </p:spPr>
      </p:pic>
      <p:pic>
        <p:nvPicPr>
          <p:cNvPr id="24" name="Picture 1047"/>
          <p:cNvPicPr>
            <a:picLocks noChangeAspect="1" noChangeArrowheads="1"/>
          </p:cNvPicPr>
          <p:nvPr/>
        </p:nvPicPr>
        <p:blipFill>
          <a:blip r:embed="rId5" cstate="print"/>
          <a:srcRect/>
          <a:stretch>
            <a:fillRect/>
          </a:stretch>
        </p:blipFill>
        <p:spPr bwMode="auto">
          <a:xfrm>
            <a:off x="10159489" y="1220789"/>
            <a:ext cx="808356" cy="611188"/>
          </a:xfrm>
          <a:prstGeom prst="rect">
            <a:avLst/>
          </a:prstGeom>
          <a:noFill/>
          <a:ln w="9525">
            <a:noFill/>
            <a:miter lim="800000"/>
            <a:headEnd/>
            <a:tailEnd/>
          </a:ln>
        </p:spPr>
      </p:pic>
      <p:pic>
        <p:nvPicPr>
          <p:cNvPr id="25" name="Picture 1048"/>
          <p:cNvPicPr>
            <a:picLocks noChangeAspect="1" noChangeArrowheads="1"/>
          </p:cNvPicPr>
          <p:nvPr/>
        </p:nvPicPr>
        <p:blipFill>
          <a:blip r:embed="rId5" cstate="print"/>
          <a:srcRect/>
          <a:stretch>
            <a:fillRect/>
          </a:stretch>
        </p:blipFill>
        <p:spPr bwMode="auto">
          <a:xfrm>
            <a:off x="2643047" y="2533651"/>
            <a:ext cx="808356" cy="611187"/>
          </a:xfrm>
          <a:prstGeom prst="rect">
            <a:avLst/>
          </a:prstGeom>
          <a:noFill/>
          <a:ln w="9525">
            <a:noFill/>
            <a:miter lim="800000"/>
            <a:headEnd/>
            <a:tailEnd/>
          </a:ln>
        </p:spPr>
      </p:pic>
      <p:pic>
        <p:nvPicPr>
          <p:cNvPr id="26" name="Picture 1049"/>
          <p:cNvPicPr>
            <a:picLocks noChangeAspect="1" noChangeArrowheads="1"/>
          </p:cNvPicPr>
          <p:nvPr/>
        </p:nvPicPr>
        <p:blipFill>
          <a:blip r:embed="rId4" cstate="print"/>
          <a:srcRect/>
          <a:stretch>
            <a:fillRect/>
          </a:stretch>
        </p:blipFill>
        <p:spPr bwMode="auto">
          <a:xfrm>
            <a:off x="7541853" y="2579688"/>
            <a:ext cx="793544" cy="600075"/>
          </a:xfrm>
          <a:prstGeom prst="rect">
            <a:avLst/>
          </a:prstGeom>
          <a:noFill/>
          <a:ln w="9525">
            <a:noFill/>
            <a:miter lim="800000"/>
            <a:headEnd/>
            <a:tailEnd/>
          </a:ln>
        </p:spPr>
      </p:pic>
      <p:pic>
        <p:nvPicPr>
          <p:cNvPr id="27" name="Picture 1050"/>
          <p:cNvPicPr>
            <a:picLocks noChangeAspect="1" noChangeArrowheads="1"/>
          </p:cNvPicPr>
          <p:nvPr/>
        </p:nvPicPr>
        <p:blipFill>
          <a:blip r:embed="rId4" cstate="print"/>
          <a:srcRect/>
          <a:stretch>
            <a:fillRect/>
          </a:stretch>
        </p:blipFill>
        <p:spPr bwMode="auto">
          <a:xfrm>
            <a:off x="5076577" y="3849688"/>
            <a:ext cx="793543" cy="600075"/>
          </a:xfrm>
          <a:prstGeom prst="rect">
            <a:avLst/>
          </a:prstGeom>
          <a:noFill/>
          <a:ln w="9525">
            <a:noFill/>
            <a:miter lim="800000"/>
            <a:headEnd/>
            <a:tailEnd/>
          </a:ln>
        </p:spPr>
      </p:pic>
      <p:pic>
        <p:nvPicPr>
          <p:cNvPr id="28" name="Picture 1051"/>
          <p:cNvPicPr>
            <a:picLocks noChangeAspect="1" noChangeArrowheads="1"/>
          </p:cNvPicPr>
          <p:nvPr/>
        </p:nvPicPr>
        <p:blipFill>
          <a:blip r:embed="rId4" cstate="print"/>
          <a:srcRect/>
          <a:stretch>
            <a:fillRect/>
          </a:stretch>
        </p:blipFill>
        <p:spPr bwMode="auto">
          <a:xfrm>
            <a:off x="10144675" y="2589213"/>
            <a:ext cx="793544" cy="600075"/>
          </a:xfrm>
          <a:prstGeom prst="rect">
            <a:avLst/>
          </a:prstGeom>
          <a:noFill/>
          <a:ln w="9525">
            <a:noFill/>
            <a:miter lim="800000"/>
            <a:headEnd/>
            <a:tailEnd/>
          </a:ln>
        </p:spPr>
      </p:pic>
      <p:pic>
        <p:nvPicPr>
          <p:cNvPr id="29" name="Picture 1052"/>
          <p:cNvPicPr>
            <a:picLocks noChangeAspect="1" noChangeArrowheads="1"/>
          </p:cNvPicPr>
          <p:nvPr/>
        </p:nvPicPr>
        <p:blipFill>
          <a:blip r:embed="rId3" cstate="print"/>
          <a:srcRect/>
          <a:stretch>
            <a:fillRect/>
          </a:stretch>
        </p:blipFill>
        <p:spPr bwMode="auto">
          <a:xfrm>
            <a:off x="2657857" y="3871912"/>
            <a:ext cx="755454" cy="577851"/>
          </a:xfrm>
          <a:prstGeom prst="rect">
            <a:avLst/>
          </a:prstGeom>
          <a:noFill/>
          <a:ln w="9525">
            <a:noFill/>
            <a:miter lim="800000"/>
            <a:headEnd/>
            <a:tailEnd/>
          </a:ln>
        </p:spPr>
      </p:pic>
      <p:pic>
        <p:nvPicPr>
          <p:cNvPr id="30" name="Picture 1053"/>
          <p:cNvPicPr>
            <a:picLocks noChangeAspect="1" noChangeArrowheads="1"/>
          </p:cNvPicPr>
          <p:nvPr/>
        </p:nvPicPr>
        <p:blipFill>
          <a:blip r:embed="rId5" cstate="print"/>
          <a:srcRect/>
          <a:stretch>
            <a:fillRect/>
          </a:stretch>
        </p:blipFill>
        <p:spPr bwMode="auto">
          <a:xfrm>
            <a:off x="10153140" y="3841751"/>
            <a:ext cx="808356" cy="611187"/>
          </a:xfrm>
          <a:prstGeom prst="rect">
            <a:avLst/>
          </a:prstGeom>
          <a:noFill/>
          <a:ln w="9525">
            <a:noFill/>
            <a:miter lim="800000"/>
            <a:headEnd/>
            <a:tailEnd/>
          </a:ln>
        </p:spPr>
      </p:pic>
      <p:pic>
        <p:nvPicPr>
          <p:cNvPr id="31" name="Picture 1054"/>
          <p:cNvPicPr>
            <a:picLocks noChangeAspect="1" noChangeArrowheads="1"/>
          </p:cNvPicPr>
          <p:nvPr/>
        </p:nvPicPr>
        <p:blipFill>
          <a:blip r:embed="rId3" cstate="print"/>
          <a:srcRect/>
          <a:stretch>
            <a:fillRect/>
          </a:stretch>
        </p:blipFill>
        <p:spPr bwMode="auto">
          <a:xfrm>
            <a:off x="2670554" y="5038725"/>
            <a:ext cx="755454" cy="577851"/>
          </a:xfrm>
          <a:prstGeom prst="rect">
            <a:avLst/>
          </a:prstGeom>
          <a:noFill/>
          <a:ln w="9525">
            <a:noFill/>
            <a:miter lim="800000"/>
            <a:headEnd/>
            <a:tailEnd/>
          </a:ln>
        </p:spPr>
      </p:pic>
      <p:pic>
        <p:nvPicPr>
          <p:cNvPr id="32" name="Picture 1055"/>
          <p:cNvPicPr>
            <a:picLocks noChangeAspect="1" noChangeArrowheads="1"/>
          </p:cNvPicPr>
          <p:nvPr/>
        </p:nvPicPr>
        <p:blipFill>
          <a:blip r:embed="rId3" cstate="print"/>
          <a:srcRect/>
          <a:stretch>
            <a:fillRect/>
          </a:stretch>
        </p:blipFill>
        <p:spPr bwMode="auto">
          <a:xfrm>
            <a:off x="5063883" y="5033963"/>
            <a:ext cx="755453" cy="577851"/>
          </a:xfrm>
          <a:prstGeom prst="rect">
            <a:avLst/>
          </a:prstGeom>
          <a:noFill/>
          <a:ln w="9525">
            <a:noFill/>
            <a:miter lim="800000"/>
            <a:headEnd/>
            <a:tailEnd/>
          </a:ln>
        </p:spPr>
      </p:pic>
      <p:pic>
        <p:nvPicPr>
          <p:cNvPr id="33" name="Picture 1056"/>
          <p:cNvPicPr>
            <a:picLocks noChangeAspect="1" noChangeArrowheads="1"/>
          </p:cNvPicPr>
          <p:nvPr/>
        </p:nvPicPr>
        <p:blipFill>
          <a:blip r:embed="rId5" cstate="print"/>
          <a:srcRect/>
          <a:stretch>
            <a:fillRect/>
          </a:stretch>
        </p:blipFill>
        <p:spPr bwMode="auto">
          <a:xfrm>
            <a:off x="7518577" y="5037138"/>
            <a:ext cx="808356" cy="611188"/>
          </a:xfrm>
          <a:prstGeom prst="rect">
            <a:avLst/>
          </a:prstGeom>
          <a:noFill/>
          <a:ln w="9525">
            <a:noFill/>
            <a:miter lim="800000"/>
            <a:headEnd/>
            <a:tailEnd/>
          </a:ln>
        </p:spPr>
      </p:pic>
      <p:pic>
        <p:nvPicPr>
          <p:cNvPr id="34" name="Picture 1057"/>
          <p:cNvPicPr>
            <a:picLocks noChangeAspect="1" noChangeArrowheads="1"/>
          </p:cNvPicPr>
          <p:nvPr/>
        </p:nvPicPr>
        <p:blipFill>
          <a:blip r:embed="rId4" cstate="print"/>
          <a:srcRect/>
          <a:stretch>
            <a:fillRect/>
          </a:stretch>
        </p:blipFill>
        <p:spPr bwMode="auto">
          <a:xfrm>
            <a:off x="10157372" y="5041901"/>
            <a:ext cx="793544" cy="600075"/>
          </a:xfrm>
          <a:prstGeom prst="rect">
            <a:avLst/>
          </a:prstGeom>
          <a:noFill/>
          <a:ln w="9525">
            <a:noFill/>
            <a:miter lim="800000"/>
            <a:headEnd/>
            <a:tailEnd/>
          </a:ln>
        </p:spPr>
      </p:pic>
      <p:pic>
        <p:nvPicPr>
          <p:cNvPr id="35" name="Picture 1058"/>
          <p:cNvPicPr>
            <a:picLocks noChangeAspect="1" noChangeArrowheads="1"/>
          </p:cNvPicPr>
          <p:nvPr/>
        </p:nvPicPr>
        <p:blipFill>
          <a:blip r:embed="rId3" cstate="print"/>
          <a:srcRect/>
          <a:stretch>
            <a:fillRect/>
          </a:stretch>
        </p:blipFill>
        <p:spPr bwMode="auto">
          <a:xfrm>
            <a:off x="5068115" y="2562225"/>
            <a:ext cx="755453" cy="577851"/>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dissolv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dissolv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dissolve">
                                      <p:cBhvr>
                                        <p:cTn id="32" dur="5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dissolve">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dissolve">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dissolve">
                                      <p:cBhvr>
                                        <p:cTn id="52" dur="500"/>
                                        <p:tgtEl>
                                          <p:spTgt spid="2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dissolve">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dissolve">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dissolve">
                                      <p:cBhvr>
                                        <p:cTn id="67" dur="500"/>
                                        <p:tgtEl>
                                          <p:spTgt spid="31"/>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dissolve">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dissolve">
                                      <p:cBhvr>
                                        <p:cTn id="77" dur="500"/>
                                        <p:tgtEl>
                                          <p:spTgt spid="33"/>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nodeType="click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dissolve">
                                      <p:cBhvr>
                                        <p:cTn id="8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Discovery – Quick Recap</a:t>
            </a:r>
            <a:endParaRPr lang="en-US" dirty="0"/>
          </a:p>
        </p:txBody>
      </p:sp>
      <p:sp>
        <p:nvSpPr>
          <p:cNvPr id="7" name="Content Placeholder 6"/>
          <p:cNvSpPr>
            <a:spLocks noGrp="1"/>
          </p:cNvSpPr>
          <p:nvPr>
            <p:ph idx="1"/>
          </p:nvPr>
        </p:nvSpPr>
        <p:spPr/>
        <p:txBody>
          <a:bodyPr/>
          <a:lstStyle/>
          <a:p>
            <a:r>
              <a:rPr lang="en-US" dirty="0" smtClean="0"/>
              <a:t>Enable Solution Definition by Scoping:</a:t>
            </a:r>
          </a:p>
          <a:p>
            <a:pPr lvl="1"/>
            <a:r>
              <a:rPr lang="en-US" dirty="0" smtClean="0"/>
              <a:t>Enterprise Key Business Requirements (KBR)</a:t>
            </a:r>
          </a:p>
          <a:p>
            <a:pPr lvl="2"/>
            <a:r>
              <a:rPr lang="en-US" dirty="0" smtClean="0"/>
              <a:t>Tactical Problems &amp; Their Consequences =&gt; KBRs</a:t>
            </a:r>
          </a:p>
          <a:p>
            <a:pPr lvl="1"/>
            <a:r>
              <a:rPr lang="en-US" dirty="0" smtClean="0"/>
              <a:t>Discover ‘Hot Buttons’ of Prospect’s Key Personnel</a:t>
            </a:r>
          </a:p>
          <a:p>
            <a:r>
              <a:rPr lang="en-US" dirty="0" smtClean="0"/>
              <a:t>Further the Envisioning Process by:</a:t>
            </a:r>
          </a:p>
          <a:p>
            <a:pPr lvl="1"/>
            <a:r>
              <a:rPr lang="en-US" dirty="0" smtClean="0"/>
              <a:t>Create Credibility, Confidence &amp; Rapport</a:t>
            </a:r>
          </a:p>
          <a:p>
            <a:pPr lvl="1"/>
            <a:r>
              <a:rPr lang="en-US" dirty="0" smtClean="0"/>
              <a:t>Contribute to Qualification-Based Information Gained</a:t>
            </a:r>
          </a:p>
          <a:p>
            <a:r>
              <a:rPr lang="en-US" dirty="0" smtClean="0"/>
              <a:t>Prepare for a </a:t>
            </a:r>
            <a:r>
              <a:rPr lang="en-US" u="sng" dirty="0" smtClean="0"/>
              <a:t>Relevant</a:t>
            </a:r>
            <a:r>
              <a:rPr lang="en-US" dirty="0" smtClean="0"/>
              <a:t> Demonstration by:</a:t>
            </a:r>
          </a:p>
          <a:p>
            <a:pPr lvl="1"/>
            <a:r>
              <a:rPr lang="en-US" dirty="0" smtClean="0"/>
              <a:t>Understand Key Processes Information Needs</a:t>
            </a:r>
          </a:p>
          <a:p>
            <a:pPr lvl="1"/>
            <a:endParaRPr lang="en-US" dirty="0"/>
          </a:p>
        </p:txBody>
      </p:sp>
    </p:spTree>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GB" dirty="0" smtClean="0"/>
              <a:t>Going About It</a:t>
            </a:r>
          </a:p>
        </p:txBody>
      </p:sp>
      <p:sp>
        <p:nvSpPr>
          <p:cNvPr id="1358851" name="Rectangle 3"/>
          <p:cNvSpPr>
            <a:spLocks noGrp="1" noChangeArrowheads="1"/>
          </p:cNvSpPr>
          <p:nvPr>
            <p:ph idx="1"/>
          </p:nvPr>
        </p:nvSpPr>
        <p:spPr>
          <a:xfrm>
            <a:off x="531151" y="1447800"/>
            <a:ext cx="11126522" cy="4419600"/>
          </a:xfrm>
        </p:spPr>
        <p:txBody>
          <a:bodyPr/>
          <a:lstStyle/>
          <a:p>
            <a:pPr>
              <a:lnSpc>
                <a:spcPct val="80000"/>
              </a:lnSpc>
              <a:spcBef>
                <a:spcPts val="0"/>
              </a:spcBef>
              <a:spcAft>
                <a:spcPts val="600"/>
              </a:spcAft>
            </a:pPr>
            <a:r>
              <a:rPr lang="en-GB" sz="2000" dirty="0" smtClean="0"/>
              <a:t>Agree on a Discovery Agenda </a:t>
            </a:r>
          </a:p>
          <a:p>
            <a:pPr lvl="1">
              <a:lnSpc>
                <a:spcPct val="80000"/>
              </a:lnSpc>
              <a:spcBef>
                <a:spcPts val="0"/>
              </a:spcBef>
              <a:spcAft>
                <a:spcPts val="600"/>
              </a:spcAft>
            </a:pPr>
            <a:r>
              <a:rPr lang="en-GB" sz="1800" dirty="0" smtClean="0"/>
              <a:t>Decide Who you Need to Meet</a:t>
            </a:r>
          </a:p>
          <a:p>
            <a:pPr lvl="1">
              <a:lnSpc>
                <a:spcPct val="80000"/>
              </a:lnSpc>
              <a:spcBef>
                <a:spcPts val="0"/>
              </a:spcBef>
              <a:spcAft>
                <a:spcPts val="600"/>
              </a:spcAft>
            </a:pPr>
            <a:r>
              <a:rPr lang="en-GB" sz="1800" dirty="0" smtClean="0"/>
              <a:t>Agree on Timings / Locations, etc. – Get as Much Time as You Can</a:t>
            </a:r>
          </a:p>
          <a:p>
            <a:pPr>
              <a:lnSpc>
                <a:spcPct val="80000"/>
              </a:lnSpc>
              <a:spcBef>
                <a:spcPts val="0"/>
              </a:spcBef>
              <a:spcAft>
                <a:spcPts val="600"/>
              </a:spcAft>
            </a:pPr>
            <a:r>
              <a:rPr lang="en-GB" sz="2000" dirty="0" smtClean="0"/>
              <a:t>You Need to Earn the Right to Question</a:t>
            </a:r>
          </a:p>
          <a:p>
            <a:pPr lvl="1">
              <a:lnSpc>
                <a:spcPct val="80000"/>
              </a:lnSpc>
              <a:spcBef>
                <a:spcPts val="0"/>
              </a:spcBef>
              <a:spcAft>
                <a:spcPts val="600"/>
              </a:spcAft>
            </a:pPr>
            <a:r>
              <a:rPr lang="en-GB" sz="1800" dirty="0" smtClean="0"/>
              <a:t>Get Briefed Beforehand – Read Opportunity Summary</a:t>
            </a:r>
          </a:p>
          <a:p>
            <a:pPr lvl="1">
              <a:lnSpc>
                <a:spcPct val="80000"/>
              </a:lnSpc>
              <a:spcBef>
                <a:spcPts val="0"/>
              </a:spcBef>
              <a:spcAft>
                <a:spcPts val="600"/>
              </a:spcAft>
            </a:pPr>
            <a:r>
              <a:rPr lang="en-GB" sz="1800" dirty="0" smtClean="0"/>
              <a:t>Study Enterprise Website/ SOR/ ITT, etc.</a:t>
            </a:r>
          </a:p>
          <a:p>
            <a:pPr>
              <a:lnSpc>
                <a:spcPct val="80000"/>
              </a:lnSpc>
              <a:spcBef>
                <a:spcPts val="0"/>
              </a:spcBef>
              <a:spcAft>
                <a:spcPts val="600"/>
              </a:spcAft>
            </a:pPr>
            <a:r>
              <a:rPr lang="en-GB" sz="2000" b="1" dirty="0" smtClean="0"/>
              <a:t>Enterprise</a:t>
            </a:r>
            <a:r>
              <a:rPr lang="en-GB" sz="2000" dirty="0" smtClean="0"/>
              <a:t> on a Site Tour</a:t>
            </a:r>
          </a:p>
          <a:p>
            <a:pPr lvl="1">
              <a:lnSpc>
                <a:spcPct val="80000"/>
              </a:lnSpc>
              <a:spcBef>
                <a:spcPts val="0"/>
              </a:spcBef>
              <a:spcAft>
                <a:spcPts val="600"/>
              </a:spcAft>
            </a:pPr>
            <a:r>
              <a:rPr lang="en-GB" sz="1800" dirty="0" smtClean="0"/>
              <a:t>Commitment, Interest</a:t>
            </a:r>
          </a:p>
          <a:p>
            <a:pPr lvl="1">
              <a:lnSpc>
                <a:spcPct val="80000"/>
              </a:lnSpc>
              <a:spcBef>
                <a:spcPts val="0"/>
              </a:spcBef>
              <a:spcAft>
                <a:spcPts val="600"/>
              </a:spcAft>
            </a:pPr>
            <a:r>
              <a:rPr lang="en-GB" sz="1800" dirty="0" smtClean="0"/>
              <a:t>Understand Enterprise  </a:t>
            </a:r>
          </a:p>
          <a:p>
            <a:pPr lvl="1">
              <a:lnSpc>
                <a:spcPct val="80000"/>
              </a:lnSpc>
              <a:spcBef>
                <a:spcPts val="0"/>
              </a:spcBef>
              <a:spcAft>
                <a:spcPts val="600"/>
              </a:spcAft>
            </a:pPr>
            <a:r>
              <a:rPr lang="en-GB" sz="1800" dirty="0" smtClean="0"/>
              <a:t>Shared Information  </a:t>
            </a:r>
          </a:p>
          <a:p>
            <a:pPr>
              <a:lnSpc>
                <a:spcPct val="80000"/>
              </a:lnSpc>
              <a:spcBef>
                <a:spcPts val="0"/>
              </a:spcBef>
              <a:spcAft>
                <a:spcPts val="600"/>
              </a:spcAft>
            </a:pPr>
            <a:r>
              <a:rPr lang="en-GB" sz="2000" dirty="0" smtClean="0"/>
              <a:t>Discovery Time is Short – Go in Well-Prepared</a:t>
            </a:r>
          </a:p>
          <a:p>
            <a:pPr lvl="1">
              <a:lnSpc>
                <a:spcPct val="80000"/>
              </a:lnSpc>
              <a:spcBef>
                <a:spcPts val="0"/>
              </a:spcBef>
              <a:spcAft>
                <a:spcPts val="600"/>
              </a:spcAft>
            </a:pPr>
            <a:r>
              <a:rPr lang="en-GB" sz="1800" dirty="0" smtClean="0"/>
              <a:t>Information-Gathering Mode</a:t>
            </a:r>
          </a:p>
          <a:p>
            <a:pPr lvl="1">
              <a:lnSpc>
                <a:spcPct val="80000"/>
              </a:lnSpc>
              <a:spcBef>
                <a:spcPts val="0"/>
              </a:spcBef>
              <a:spcAft>
                <a:spcPts val="600"/>
              </a:spcAft>
            </a:pPr>
            <a:r>
              <a:rPr lang="en-GB" sz="1800" dirty="0" smtClean="0"/>
              <a:t>High-Yield Questions Pre-Prepared – Elicit Pains / ‘Hot Buttons’</a:t>
            </a:r>
          </a:p>
          <a:p>
            <a:pPr lvl="2">
              <a:lnSpc>
                <a:spcPct val="80000"/>
              </a:lnSpc>
              <a:spcBef>
                <a:spcPts val="0"/>
              </a:spcBef>
              <a:spcAft>
                <a:spcPts val="600"/>
              </a:spcAft>
            </a:pPr>
            <a:r>
              <a:rPr lang="en-GB" sz="1600" dirty="0" smtClean="0"/>
              <a:t>What/Where/When/How…  What Effect Does This Have…</a:t>
            </a:r>
          </a:p>
          <a:p>
            <a:pPr lvl="1">
              <a:lnSpc>
                <a:spcPct val="80000"/>
              </a:lnSpc>
              <a:spcBef>
                <a:spcPts val="0"/>
              </a:spcBef>
              <a:spcAft>
                <a:spcPts val="600"/>
              </a:spcAft>
            </a:pPr>
            <a:r>
              <a:rPr lang="en-GB" sz="1800" dirty="0" smtClean="0"/>
              <a:t>Decide ‘Must Knows’ from ‘Nice to Knows’</a:t>
            </a:r>
          </a:p>
          <a:p>
            <a:pPr lvl="2">
              <a:lnSpc>
                <a:spcPct val="80000"/>
              </a:lnSpc>
              <a:spcBef>
                <a:spcPts val="0"/>
              </a:spcBef>
              <a:spcAft>
                <a:spcPts val="600"/>
              </a:spcAft>
            </a:pPr>
            <a:r>
              <a:rPr lang="en-GB" sz="1600" dirty="0" smtClean="0"/>
              <a:t>Find the Issues / Requirements that Matter to </a:t>
            </a:r>
            <a:r>
              <a:rPr lang="en-GB" sz="1600" b="1" i="1" dirty="0" smtClean="0"/>
              <a:t>the Enterprise</a:t>
            </a:r>
            <a:endParaRPr lang="en-GB" sz="1600" dirty="0" smtClean="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8851">
                                            <p:txEl>
                                              <p:pRg st="0" end="0"/>
                                            </p:txEl>
                                          </p:spTgt>
                                        </p:tgtEl>
                                        <p:attrNameLst>
                                          <p:attrName>style.visibility</p:attrName>
                                        </p:attrNameLst>
                                      </p:cBhvr>
                                      <p:to>
                                        <p:strVal val="visible"/>
                                      </p:to>
                                    </p:set>
                                    <p:animEffect transition="in" filter="wipe(left)">
                                      <p:cBhvr>
                                        <p:cTn id="7" dur="500"/>
                                        <p:tgtEl>
                                          <p:spTgt spid="135885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58851">
                                            <p:txEl>
                                              <p:pRg st="1" end="1"/>
                                            </p:txEl>
                                          </p:spTgt>
                                        </p:tgtEl>
                                        <p:attrNameLst>
                                          <p:attrName>style.visibility</p:attrName>
                                        </p:attrNameLst>
                                      </p:cBhvr>
                                      <p:to>
                                        <p:strVal val="visible"/>
                                      </p:to>
                                    </p:set>
                                    <p:animEffect transition="in" filter="wipe(left)">
                                      <p:cBhvr>
                                        <p:cTn id="10" dur="500"/>
                                        <p:tgtEl>
                                          <p:spTgt spid="1358851">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58851">
                                            <p:txEl>
                                              <p:pRg st="2" end="2"/>
                                            </p:txEl>
                                          </p:spTgt>
                                        </p:tgtEl>
                                        <p:attrNameLst>
                                          <p:attrName>style.visibility</p:attrName>
                                        </p:attrNameLst>
                                      </p:cBhvr>
                                      <p:to>
                                        <p:strVal val="visible"/>
                                      </p:to>
                                    </p:set>
                                    <p:animEffect transition="in" filter="wipe(left)">
                                      <p:cBhvr>
                                        <p:cTn id="13" dur="500"/>
                                        <p:tgtEl>
                                          <p:spTgt spid="135885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58851">
                                            <p:txEl>
                                              <p:pRg st="3" end="3"/>
                                            </p:txEl>
                                          </p:spTgt>
                                        </p:tgtEl>
                                        <p:attrNameLst>
                                          <p:attrName>style.visibility</p:attrName>
                                        </p:attrNameLst>
                                      </p:cBhvr>
                                      <p:to>
                                        <p:strVal val="visible"/>
                                      </p:to>
                                    </p:set>
                                    <p:animEffect transition="in" filter="wipe(left)">
                                      <p:cBhvr>
                                        <p:cTn id="18" dur="500"/>
                                        <p:tgtEl>
                                          <p:spTgt spid="1358851">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358851">
                                            <p:txEl>
                                              <p:pRg st="4" end="4"/>
                                            </p:txEl>
                                          </p:spTgt>
                                        </p:tgtEl>
                                        <p:attrNameLst>
                                          <p:attrName>style.visibility</p:attrName>
                                        </p:attrNameLst>
                                      </p:cBhvr>
                                      <p:to>
                                        <p:strVal val="visible"/>
                                      </p:to>
                                    </p:set>
                                    <p:animEffect transition="in" filter="wipe(left)">
                                      <p:cBhvr>
                                        <p:cTn id="21" dur="500"/>
                                        <p:tgtEl>
                                          <p:spTgt spid="1358851">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358851">
                                            <p:txEl>
                                              <p:pRg st="5" end="5"/>
                                            </p:txEl>
                                          </p:spTgt>
                                        </p:tgtEl>
                                        <p:attrNameLst>
                                          <p:attrName>style.visibility</p:attrName>
                                        </p:attrNameLst>
                                      </p:cBhvr>
                                      <p:to>
                                        <p:strVal val="visible"/>
                                      </p:to>
                                    </p:set>
                                    <p:animEffect transition="in" filter="wipe(left)">
                                      <p:cBhvr>
                                        <p:cTn id="24" dur="500"/>
                                        <p:tgtEl>
                                          <p:spTgt spid="1358851">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58851">
                                            <p:txEl>
                                              <p:pRg st="6" end="6"/>
                                            </p:txEl>
                                          </p:spTgt>
                                        </p:tgtEl>
                                        <p:attrNameLst>
                                          <p:attrName>style.visibility</p:attrName>
                                        </p:attrNameLst>
                                      </p:cBhvr>
                                      <p:to>
                                        <p:strVal val="visible"/>
                                      </p:to>
                                    </p:set>
                                    <p:animEffect transition="in" filter="wipe(left)">
                                      <p:cBhvr>
                                        <p:cTn id="29" dur="500"/>
                                        <p:tgtEl>
                                          <p:spTgt spid="1358851">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358851">
                                            <p:txEl>
                                              <p:pRg st="7" end="7"/>
                                            </p:txEl>
                                          </p:spTgt>
                                        </p:tgtEl>
                                        <p:attrNameLst>
                                          <p:attrName>style.visibility</p:attrName>
                                        </p:attrNameLst>
                                      </p:cBhvr>
                                      <p:to>
                                        <p:strVal val="visible"/>
                                      </p:to>
                                    </p:set>
                                    <p:animEffect transition="in" filter="wipe(left)">
                                      <p:cBhvr>
                                        <p:cTn id="32" dur="500"/>
                                        <p:tgtEl>
                                          <p:spTgt spid="1358851">
                                            <p:txEl>
                                              <p:pRg st="7" end="7"/>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358851">
                                            <p:txEl>
                                              <p:pRg st="8" end="8"/>
                                            </p:txEl>
                                          </p:spTgt>
                                        </p:tgtEl>
                                        <p:attrNameLst>
                                          <p:attrName>style.visibility</p:attrName>
                                        </p:attrNameLst>
                                      </p:cBhvr>
                                      <p:to>
                                        <p:strVal val="visible"/>
                                      </p:to>
                                    </p:set>
                                    <p:animEffect transition="in" filter="wipe(left)">
                                      <p:cBhvr>
                                        <p:cTn id="35" dur="500"/>
                                        <p:tgtEl>
                                          <p:spTgt spid="1358851">
                                            <p:txEl>
                                              <p:pRg st="8" end="8"/>
                                            </p:txEl>
                                          </p:spTgt>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358851">
                                            <p:txEl>
                                              <p:pRg st="9" end="9"/>
                                            </p:txEl>
                                          </p:spTgt>
                                        </p:tgtEl>
                                        <p:attrNameLst>
                                          <p:attrName>style.visibility</p:attrName>
                                        </p:attrNameLst>
                                      </p:cBhvr>
                                      <p:to>
                                        <p:strVal val="visible"/>
                                      </p:to>
                                    </p:set>
                                    <p:animEffect transition="in" filter="wipe(left)">
                                      <p:cBhvr>
                                        <p:cTn id="38" dur="500"/>
                                        <p:tgtEl>
                                          <p:spTgt spid="1358851">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58851">
                                            <p:txEl>
                                              <p:pRg st="10" end="10"/>
                                            </p:txEl>
                                          </p:spTgt>
                                        </p:tgtEl>
                                        <p:attrNameLst>
                                          <p:attrName>style.visibility</p:attrName>
                                        </p:attrNameLst>
                                      </p:cBhvr>
                                      <p:to>
                                        <p:strVal val="visible"/>
                                      </p:to>
                                    </p:set>
                                    <p:animEffect transition="in" filter="wipe(left)">
                                      <p:cBhvr>
                                        <p:cTn id="43" dur="500"/>
                                        <p:tgtEl>
                                          <p:spTgt spid="1358851">
                                            <p:txEl>
                                              <p:pRg st="10" end="10"/>
                                            </p:txEl>
                                          </p:spTgt>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358851">
                                            <p:txEl>
                                              <p:pRg st="11" end="11"/>
                                            </p:txEl>
                                          </p:spTgt>
                                        </p:tgtEl>
                                        <p:attrNameLst>
                                          <p:attrName>style.visibility</p:attrName>
                                        </p:attrNameLst>
                                      </p:cBhvr>
                                      <p:to>
                                        <p:strVal val="visible"/>
                                      </p:to>
                                    </p:set>
                                    <p:animEffect transition="in" filter="wipe(left)">
                                      <p:cBhvr>
                                        <p:cTn id="46" dur="500"/>
                                        <p:tgtEl>
                                          <p:spTgt spid="1358851">
                                            <p:txEl>
                                              <p:pRg st="11" end="11"/>
                                            </p:txEl>
                                          </p:spTgt>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358851">
                                            <p:txEl>
                                              <p:pRg st="12" end="12"/>
                                            </p:txEl>
                                          </p:spTgt>
                                        </p:tgtEl>
                                        <p:attrNameLst>
                                          <p:attrName>style.visibility</p:attrName>
                                        </p:attrNameLst>
                                      </p:cBhvr>
                                      <p:to>
                                        <p:strVal val="visible"/>
                                      </p:to>
                                    </p:set>
                                    <p:animEffect transition="in" filter="wipe(left)">
                                      <p:cBhvr>
                                        <p:cTn id="49" dur="500"/>
                                        <p:tgtEl>
                                          <p:spTgt spid="1358851">
                                            <p:txEl>
                                              <p:pRg st="12" end="12"/>
                                            </p:txEl>
                                          </p:spTgt>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358851">
                                            <p:txEl>
                                              <p:pRg st="13" end="13"/>
                                            </p:txEl>
                                          </p:spTgt>
                                        </p:tgtEl>
                                        <p:attrNameLst>
                                          <p:attrName>style.visibility</p:attrName>
                                        </p:attrNameLst>
                                      </p:cBhvr>
                                      <p:to>
                                        <p:strVal val="visible"/>
                                      </p:to>
                                    </p:set>
                                    <p:animEffect transition="in" filter="wipe(left)">
                                      <p:cBhvr>
                                        <p:cTn id="52" dur="500"/>
                                        <p:tgtEl>
                                          <p:spTgt spid="1358851">
                                            <p:txEl>
                                              <p:pRg st="13" end="13"/>
                                            </p:txEl>
                                          </p:spTgt>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358851">
                                            <p:txEl>
                                              <p:pRg st="14" end="14"/>
                                            </p:txEl>
                                          </p:spTgt>
                                        </p:tgtEl>
                                        <p:attrNameLst>
                                          <p:attrName>style.visibility</p:attrName>
                                        </p:attrNameLst>
                                      </p:cBhvr>
                                      <p:to>
                                        <p:strVal val="visible"/>
                                      </p:to>
                                    </p:set>
                                    <p:animEffect transition="in" filter="wipe(left)">
                                      <p:cBhvr>
                                        <p:cTn id="55" dur="500"/>
                                        <p:tgtEl>
                                          <p:spTgt spid="1358851">
                                            <p:txEl>
                                              <p:pRg st="14" end="14"/>
                                            </p:txEl>
                                          </p:spTgt>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358851">
                                            <p:txEl>
                                              <p:pRg st="15" end="15"/>
                                            </p:txEl>
                                          </p:spTgt>
                                        </p:tgtEl>
                                        <p:attrNameLst>
                                          <p:attrName>style.visibility</p:attrName>
                                        </p:attrNameLst>
                                      </p:cBhvr>
                                      <p:to>
                                        <p:strVal val="visible"/>
                                      </p:to>
                                    </p:set>
                                    <p:animEffect transition="in" filter="wipe(left)">
                                      <p:cBhvr>
                                        <p:cTn id="58" dur="500"/>
                                        <p:tgtEl>
                                          <p:spTgt spid="1358851">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8851"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dirty="0" smtClean="0"/>
              <a:t>Going About It - 2</a:t>
            </a:r>
          </a:p>
        </p:txBody>
      </p:sp>
      <p:sp>
        <p:nvSpPr>
          <p:cNvPr id="1359875" name="Rectangle 3"/>
          <p:cNvSpPr>
            <a:spLocks noGrp="1" noChangeArrowheads="1"/>
          </p:cNvSpPr>
          <p:nvPr>
            <p:ph idx="1"/>
          </p:nvPr>
        </p:nvSpPr>
        <p:spPr/>
        <p:txBody>
          <a:bodyPr/>
          <a:lstStyle/>
          <a:p>
            <a:pPr>
              <a:lnSpc>
                <a:spcPct val="80000"/>
              </a:lnSpc>
            </a:pPr>
            <a:r>
              <a:rPr lang="en-GB" sz="3200" dirty="0" smtClean="0"/>
              <a:t>Time Management – Control, Prioritize</a:t>
            </a:r>
          </a:p>
          <a:p>
            <a:pPr>
              <a:lnSpc>
                <a:spcPct val="80000"/>
              </a:lnSpc>
            </a:pPr>
            <a:r>
              <a:rPr lang="en-GB" sz="3200" dirty="0" smtClean="0"/>
              <a:t>Add Value – Give Something Back</a:t>
            </a:r>
          </a:p>
          <a:p>
            <a:pPr lvl="1">
              <a:lnSpc>
                <a:spcPct val="80000"/>
              </a:lnSpc>
            </a:pPr>
            <a:r>
              <a:rPr lang="en-GB" sz="2700" dirty="0" smtClean="0"/>
              <a:t>Industry Knowledge, Reference Story</a:t>
            </a:r>
          </a:p>
          <a:p>
            <a:pPr lvl="1">
              <a:lnSpc>
                <a:spcPct val="80000"/>
              </a:lnSpc>
            </a:pPr>
            <a:r>
              <a:rPr lang="en-GB" sz="2700" dirty="0" smtClean="0"/>
              <a:t>Keep it Short – Info-Gathering Mode</a:t>
            </a:r>
          </a:p>
          <a:p>
            <a:pPr>
              <a:lnSpc>
                <a:spcPct val="80000"/>
              </a:lnSpc>
            </a:pPr>
            <a:r>
              <a:rPr lang="en-GB" sz="3200" dirty="0" smtClean="0"/>
              <a:t>Ask Them What They Don’t Like in Current System(s), What They Want in Future.</a:t>
            </a:r>
          </a:p>
          <a:p>
            <a:pPr lvl="1">
              <a:lnSpc>
                <a:spcPct val="80000"/>
              </a:lnSpc>
            </a:pPr>
            <a:r>
              <a:rPr lang="en-GB" sz="2700" dirty="0" smtClean="0"/>
              <a:t>‘What are the 3 most important things would you improve / like to see in a new system?’</a:t>
            </a:r>
          </a:p>
          <a:p>
            <a:pPr>
              <a:lnSpc>
                <a:spcPct val="80000"/>
              </a:lnSpc>
            </a:pPr>
            <a:r>
              <a:rPr lang="en-GB" sz="3200" dirty="0" smtClean="0"/>
              <a:t>Ask Them What They Personally Want to See in Demo.</a:t>
            </a:r>
          </a:p>
          <a:p>
            <a:pPr>
              <a:buFont typeface="Wingdings" pitchFamily="2" charset="2"/>
              <a:buNone/>
            </a:pPr>
            <a:endParaRPr lang="en-GB" dirty="0" smtClean="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9875">
                                            <p:txEl>
                                              <p:pRg st="0" end="0"/>
                                            </p:txEl>
                                          </p:spTgt>
                                        </p:tgtEl>
                                        <p:attrNameLst>
                                          <p:attrName>style.visibility</p:attrName>
                                        </p:attrNameLst>
                                      </p:cBhvr>
                                      <p:to>
                                        <p:strVal val="visible"/>
                                      </p:to>
                                    </p:set>
                                    <p:animEffect transition="in" filter="wipe(left)">
                                      <p:cBhvr>
                                        <p:cTn id="7" dur="500"/>
                                        <p:tgtEl>
                                          <p:spTgt spid="13598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59875">
                                            <p:txEl>
                                              <p:pRg st="1" end="1"/>
                                            </p:txEl>
                                          </p:spTgt>
                                        </p:tgtEl>
                                        <p:attrNameLst>
                                          <p:attrName>style.visibility</p:attrName>
                                        </p:attrNameLst>
                                      </p:cBhvr>
                                      <p:to>
                                        <p:strVal val="visible"/>
                                      </p:to>
                                    </p:set>
                                    <p:animEffect transition="in" filter="wipe(left)">
                                      <p:cBhvr>
                                        <p:cTn id="12" dur="500"/>
                                        <p:tgtEl>
                                          <p:spTgt spid="1359875">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359875">
                                            <p:txEl>
                                              <p:pRg st="2" end="2"/>
                                            </p:txEl>
                                          </p:spTgt>
                                        </p:tgtEl>
                                        <p:attrNameLst>
                                          <p:attrName>style.visibility</p:attrName>
                                        </p:attrNameLst>
                                      </p:cBhvr>
                                      <p:to>
                                        <p:strVal val="visible"/>
                                      </p:to>
                                    </p:set>
                                    <p:animEffect transition="in" filter="wipe(left)">
                                      <p:cBhvr>
                                        <p:cTn id="15" dur="500"/>
                                        <p:tgtEl>
                                          <p:spTgt spid="1359875">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359875">
                                            <p:txEl>
                                              <p:pRg st="3" end="3"/>
                                            </p:txEl>
                                          </p:spTgt>
                                        </p:tgtEl>
                                        <p:attrNameLst>
                                          <p:attrName>style.visibility</p:attrName>
                                        </p:attrNameLst>
                                      </p:cBhvr>
                                      <p:to>
                                        <p:strVal val="visible"/>
                                      </p:to>
                                    </p:set>
                                    <p:animEffect transition="in" filter="wipe(left)">
                                      <p:cBhvr>
                                        <p:cTn id="18" dur="500"/>
                                        <p:tgtEl>
                                          <p:spTgt spid="135987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59875">
                                            <p:txEl>
                                              <p:pRg st="4" end="4"/>
                                            </p:txEl>
                                          </p:spTgt>
                                        </p:tgtEl>
                                        <p:attrNameLst>
                                          <p:attrName>style.visibility</p:attrName>
                                        </p:attrNameLst>
                                      </p:cBhvr>
                                      <p:to>
                                        <p:strVal val="visible"/>
                                      </p:to>
                                    </p:set>
                                    <p:animEffect transition="in" filter="wipe(left)">
                                      <p:cBhvr>
                                        <p:cTn id="23" dur="500"/>
                                        <p:tgtEl>
                                          <p:spTgt spid="1359875">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359875">
                                            <p:txEl>
                                              <p:pRg st="5" end="5"/>
                                            </p:txEl>
                                          </p:spTgt>
                                        </p:tgtEl>
                                        <p:attrNameLst>
                                          <p:attrName>style.visibility</p:attrName>
                                        </p:attrNameLst>
                                      </p:cBhvr>
                                      <p:to>
                                        <p:strVal val="visible"/>
                                      </p:to>
                                    </p:set>
                                    <p:animEffect transition="in" filter="wipe(left)">
                                      <p:cBhvr>
                                        <p:cTn id="26" dur="500"/>
                                        <p:tgtEl>
                                          <p:spTgt spid="135987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59875">
                                            <p:txEl>
                                              <p:pRg st="6" end="6"/>
                                            </p:txEl>
                                          </p:spTgt>
                                        </p:tgtEl>
                                        <p:attrNameLst>
                                          <p:attrName>style.visibility</p:attrName>
                                        </p:attrNameLst>
                                      </p:cBhvr>
                                      <p:to>
                                        <p:strVal val="visible"/>
                                      </p:to>
                                    </p:set>
                                    <p:animEffect transition="in" filter="wipe(left)">
                                      <p:cBhvr>
                                        <p:cTn id="31" dur="500"/>
                                        <p:tgtEl>
                                          <p:spTgt spid="13598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9875"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5373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46</TotalTime>
  <Words>1036</Words>
  <Application>Microsoft Office PowerPoint</Application>
  <PresentationFormat>Custom</PresentationFormat>
  <Paragraphs>290</Paragraphs>
  <Slides>15</Slides>
  <Notes>8</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blank</vt:lpstr>
      <vt:lpstr>Slide 1</vt:lpstr>
      <vt:lpstr>Discovery Map</vt:lpstr>
      <vt:lpstr>Speaker</vt:lpstr>
      <vt:lpstr>Discovery Map</vt:lpstr>
      <vt:lpstr>Tactical Pain Details</vt:lpstr>
      <vt:lpstr>Tactical Pain - Details</vt:lpstr>
      <vt:lpstr>Consequential Pain - Details</vt:lpstr>
      <vt:lpstr>Discovery Map  (Insert Here)</vt:lpstr>
      <vt:lpstr>Discovery Map – Quantify the Pains</vt:lpstr>
      <vt:lpstr>Discovery Map – Quantify the Pains</vt:lpstr>
      <vt:lpstr>Find the TP, CP and KBR</vt:lpstr>
      <vt:lpstr>Discovery – Quick Recap</vt:lpstr>
      <vt:lpstr>Going About It</vt:lpstr>
      <vt:lpstr>Going About It - 2</vt:lpstr>
      <vt:lpstr>Slide 15</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ER.040 Discovery Map</dc:title>
  <dc:creator>Oracle Global Methods</dc:creator>
  <cp:keywords>OUM</cp:keywords>
  <dc:description>Copyright © 2016 Oracle and/or its affiliates.  All rights reserved.</dc:description>
  <cp:lastModifiedBy>masander</cp:lastModifiedBy>
  <cp:revision>8</cp:revision>
  <dcterms:created xsi:type="dcterms:W3CDTF">2014-06-17T16:24:26Z</dcterms:created>
  <dcterms:modified xsi:type="dcterms:W3CDTF">2016-01-12T18:37:35Z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