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354" r:id="rId2"/>
    <p:sldId id="258" r:id="rId3"/>
    <p:sldId id="370" r:id="rId4"/>
    <p:sldId id="371" r:id="rId5"/>
    <p:sldId id="372" r:id="rId6"/>
    <p:sldId id="373" r:id="rId7"/>
    <p:sldId id="374" r:id="rId8"/>
    <p:sldId id="375" r:id="rId9"/>
    <p:sldId id="376" r:id="rId10"/>
    <p:sldId id="377" r:id="rId11"/>
    <p:sldId id="378" r:id="rId12"/>
    <p:sldId id="379" r:id="rId13"/>
    <p:sldId id="380" r:id="rId14"/>
    <p:sldId id="288" r:id="rId15"/>
    <p:sldId id="289" r:id="rId16"/>
  </p:sldIdLst>
  <p:sldSz cx="12188825"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559" autoAdjust="0"/>
  </p:normalViewPr>
  <p:slideViewPr>
    <p:cSldViewPr>
      <p:cViewPr varScale="1">
        <p:scale>
          <a:sx n="71" d="100"/>
          <a:sy n="71" d="100"/>
        </p:scale>
        <p:origin x="-1296" y="-102"/>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8/15/2014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14</a:t>
            </a:fld>
            <a:endParaRPr lang="en-US" dirty="0"/>
          </a:p>
        </p:txBody>
      </p:sp>
    </p:spTree>
    <p:extLst>
      <p:ext uri="{BB962C8B-B14F-4D97-AF65-F5344CB8AC3E}">
        <p14:creationId xmlns:p14="http://schemas.microsoft.com/office/powerpoint/2010/main" xmlns="" val="3991295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15</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D970F2A-3147-4C61-9879-9E6D2838E0DE}"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5EF6BDC5-B075-48F7-80F4-BC414FAB9626}"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2F86770A-2E8C-4CFC-9BBB-3DFC9B3E2F8C}"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7BD332E-B79B-45A1-A27B-56EAA326588B}"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07F61288-DAFF-4F26-90B1-87133FB2F173}"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608DAF9-6384-495D-AC8A-BF5A5CBBA320}"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B881F4A-2D78-4FFA-9680-236022582ABC}"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D0E10E74-6839-41BE-9225-9F5008CB6117}" type="datetime1">
              <a:rPr lang="en-US" smtClean="0"/>
              <a:pPr/>
              <a:t>8/15/2014</a:t>
            </a:fld>
            <a:endParaRPr dirty="0"/>
          </a:p>
        </p:txBody>
      </p:sp>
      <p:sp>
        <p:nvSpPr>
          <p:cNvPr id="5" name="Footer Placeholder 4"/>
          <p:cNvSpPr>
            <a:spLocks noGrp="1"/>
          </p:cNvSpPr>
          <p:nvPr>
            <p:ph type="ftr" sz="quarter" idx="11"/>
          </p:nvPr>
        </p:nvSpPr>
        <p:spPr/>
        <p:txBody>
          <a:bodyPr>
            <a:noAutofit/>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48225C-8443-4F00-8E8A-7485D10C2FE4}"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0FFA0E16-3E98-44E2-AFF4-56F4A6C4D256}" type="datetime1">
              <a:rPr lang="en-US" smtClean="0"/>
              <a:pPr/>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0EBA37CA-BA7C-4C80-9545-E127C1D31836}"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63CCC0-C02D-4AD2-9C2B-49DDDB603678}" type="datetime1">
              <a:rPr lang="en-US" smtClean="0"/>
              <a:pPr/>
              <a:t>8/15/2014</a:t>
            </a:fld>
            <a:endParaRPr lang="en-US" dirty="0"/>
          </a:p>
        </p:txBody>
      </p:sp>
      <p:sp>
        <p:nvSpPr>
          <p:cNvPr id="4" name="Footer Placeholder 3"/>
          <p:cNvSpPr>
            <a:spLocks noGrp="1"/>
          </p:cNvSpPr>
          <p:nvPr>
            <p:ph type="ftr" sz="quarter" idx="11"/>
          </p:nvPr>
        </p:nvSpPr>
        <p:spPr/>
        <p:txBody>
          <a:bodyPr/>
          <a:lstStyle/>
          <a:p>
            <a:r>
              <a:rPr lang="en-US" smtClean="0"/>
              <a:t>Oracle Confidential –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06655D30-2768-4ADE-A695-A9EEABD8D4E9}"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9E6EA4C9-F742-4C2F-9526-D18C9901EDEF}"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9F1F066-C49E-4672-8661-ACA558265904}"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FD1F071-8A8D-4D5B-BFC1-BBFC78E309C1}"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7635783-3379-4D63-9011-200500171B7C}"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F2A800-B366-4BA2-8AEB-7B8E2F8014C8}"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CFF424-8E46-41FC-B649-5B8657CB54A6}"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6329985-D499-441E-8CB2-35D1A7859D0A}" type="datetime1">
              <a:rPr lang="en-US" smtClean="0"/>
              <a:pPr/>
              <a:t>8/15/2014</a:t>
            </a:fld>
            <a:endParaRPr dirty="0"/>
          </a:p>
        </p:txBody>
      </p:sp>
      <p:sp>
        <p:nvSpPr>
          <p:cNvPr id="8" name="Footer Placeholder 7"/>
          <p:cNvSpPr>
            <a:spLocks noGrp="1"/>
          </p:cNvSpPr>
          <p:nvPr>
            <p:ph type="ftr" sz="quarter" idx="11"/>
          </p:nvPr>
        </p:nvSpPr>
        <p:spPr/>
        <p:txBody>
          <a:bodyPr>
            <a:noAutofit/>
          </a:bodyPr>
          <a:lstStyle/>
          <a:p>
            <a:r>
              <a:rPr lang="en-US" smtClean="0"/>
              <a:t>Oracle Confidential – Restricted</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C61D695-6A33-47F5-849D-C72C597AFC68}" type="datetime1">
              <a:rPr lang="en-US" smtClean="0"/>
              <a:pPr/>
              <a:t>8/15/2014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2CD6E76A-F2CA-4A2D-B3B8-92936F4DD11C}" type="datetime1">
              <a:rPr lang="en-US" smtClean="0"/>
              <a:pPr/>
              <a:t>8/15/2014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A7D49-6771-4D4A-AA31-63289927F118}" type="datetime1">
              <a:rPr lang="en-US" smtClean="0"/>
              <a:pPr/>
              <a:t>8/15/2014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BC2207-753B-40DD-91D5-228A7162D067}"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47D4FC-6BB4-4393-ACFF-2E6E71E2A78D}"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F971EF-0651-4949-A9FF-E3F50CD09F86}"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A8C6D8-3003-4F01-921F-E5CC5EFD6EDF}"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072C9BE-26D8-4772-A045-FED6D7AC8561}"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99D84376-D245-4DE0-9774-AB03E39E5435}"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2E509ADC-284F-4081-B671-0316EA1AC289}"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9846DC0B-12E4-4F45-9D4D-2AE1936DAFDE}" type="datetime1">
              <a:rPr lang="en-US" smtClean="0"/>
              <a:pPr/>
              <a:t>8/15/2014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FE8D0F3-2CEA-45A5-B4E8-6C817D174F6F}" type="datetime1">
              <a:rPr lang="en-US" smtClean="0"/>
              <a:pPr/>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4FCE27D-D849-414C-B144-DFC5257FE44B}" type="datetime1">
              <a:rPr lang="en-US" smtClean="0"/>
              <a:pPr/>
              <a:t>8/15/2014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DAEC00B0-3BF6-4826-A484-0E1473D2DDD3}" type="datetime1">
              <a:rPr lang="en-US" smtClean="0"/>
              <a:pPr/>
              <a:t>8/15/2014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27676-77B8-4168-B627-864211E9F79C}" type="datetime1">
              <a:rPr lang="en-US" smtClean="0"/>
              <a:pPr/>
              <a:t>8/15/2014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8A9A655F-BC6E-4362-B146-7E39435F3F3F}" type="datetime1">
              <a:rPr lang="en-US" smtClean="0"/>
              <a:pPr/>
              <a:t>8/15/2014</a:t>
            </a:fld>
            <a:endParaRPr lang="en-US"/>
          </a:p>
        </p:txBody>
      </p:sp>
      <p:sp>
        <p:nvSpPr>
          <p:cNvPr id="5" name="Footer Placeholder 4"/>
          <p:cNvSpPr>
            <a:spLocks noGrp="1"/>
          </p:cNvSpPr>
          <p:nvPr>
            <p:ph type="ftr" sz="quarter" idx="11"/>
          </p:nvPr>
        </p:nvSpPr>
        <p:spPr/>
        <p:txBody>
          <a:bodyPr>
            <a:noAutofit/>
          </a:bodyPr>
          <a:lstStyle/>
          <a:p>
            <a:r>
              <a:rPr lang="en-US" smtClean="0"/>
              <a:t>Oracle Confidential –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F834698-55C4-43A6-AB41-21B76F01A408}" type="datetime1">
              <a:rPr lang="en-US" smtClean="0"/>
              <a:pPr/>
              <a:t>8/15/2014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D85CF178-13B4-4699-87A5-4E1CB4AA78A4}" type="datetime1">
              <a:rPr lang="en-US" smtClean="0"/>
              <a:pPr/>
              <a:t>8/15/2014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Executive Alignment Workshop</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57134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8"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Executive Alignment Workshop Agenda</a:t>
            </a:r>
            <a:endParaRPr lang="en-US" dirty="0"/>
          </a:p>
        </p:txBody>
      </p:sp>
      <p:sp>
        <p:nvSpPr>
          <p:cNvPr id="3" name="Text Placeholder 2"/>
          <p:cNvSpPr>
            <a:spLocks noGrp="1"/>
          </p:cNvSpPr>
          <p:nvPr>
            <p:ph type="body" sz="quarter" idx="13"/>
          </p:nvPr>
        </p:nvSpPr>
        <p:spPr/>
        <p:txBody>
          <a:bodyPr/>
          <a:lstStyle/>
          <a:p>
            <a:r>
              <a:rPr lang="en-US" dirty="0" smtClean="0"/>
              <a:t>Welcome and Objectives of the Workshop</a:t>
            </a:r>
          </a:p>
          <a:p>
            <a:r>
              <a:rPr lang="en-US" dirty="0" smtClean="0"/>
              <a:t>The Project Vision and Goals</a:t>
            </a:r>
          </a:p>
          <a:p>
            <a:r>
              <a:rPr lang="en-US" dirty="0" smtClean="0"/>
              <a:t>Organizational Risks</a:t>
            </a:r>
          </a:p>
          <a:p>
            <a:r>
              <a:rPr lang="en-US" dirty="0" smtClean="0"/>
              <a:t>Project Risks</a:t>
            </a:r>
          </a:p>
          <a:p>
            <a:r>
              <a:rPr lang="en-US" dirty="0" smtClean="0"/>
              <a:t>Sponsorship Program &amp; Reporting Structure</a:t>
            </a:r>
          </a:p>
        </p:txBody>
      </p:sp>
    </p:spTree>
    <p:extLst>
      <p:ext uri="{BB962C8B-B14F-4D97-AF65-F5344CB8AC3E}">
        <p14:creationId xmlns:p14="http://schemas.microsoft.com/office/powerpoint/2010/main" xmlns="" val="7224187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Executive Alignment Workshop Agenda</a:t>
            </a:r>
            <a:endParaRPr lang="en-US" dirty="0"/>
          </a:p>
        </p:txBody>
      </p:sp>
      <p:sp>
        <p:nvSpPr>
          <p:cNvPr id="3" name="Text Placeholder 2"/>
          <p:cNvSpPr>
            <a:spLocks noGrp="1"/>
          </p:cNvSpPr>
          <p:nvPr>
            <p:ph type="body" sz="quarter" idx="13"/>
          </p:nvPr>
        </p:nvSpPr>
        <p:spPr/>
        <p:txBody>
          <a:bodyPr/>
          <a:lstStyle/>
          <a:p>
            <a:r>
              <a:rPr lang="en-US" dirty="0" smtClean="0"/>
              <a:t>Project Roles</a:t>
            </a:r>
          </a:p>
          <a:p>
            <a:r>
              <a:rPr lang="en-US" dirty="0" smtClean="0"/>
              <a:t>Steering Committee Roles</a:t>
            </a:r>
          </a:p>
          <a:p>
            <a:r>
              <a:rPr lang="en-US" dirty="0" smtClean="0"/>
              <a:t>Steering Committee – Rules of Engagement</a:t>
            </a:r>
          </a:p>
          <a:p>
            <a:r>
              <a:rPr lang="en-US" dirty="0" smtClean="0"/>
              <a:t>Next Steps – Discussion</a:t>
            </a:r>
            <a:endParaRPr lang="en-US" dirty="0"/>
          </a:p>
        </p:txBody>
      </p:sp>
    </p:spTree>
    <p:extLst>
      <p:ext uri="{BB962C8B-B14F-4D97-AF65-F5344CB8AC3E}">
        <p14:creationId xmlns:p14="http://schemas.microsoft.com/office/powerpoint/2010/main" xmlns="" val="7224187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Vision and Goals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Risks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Risks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Sponsorship Program</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Reporting Structure</a:t>
            </a:r>
            <a:endParaRPr lang="en-US" dirty="0"/>
          </a:p>
        </p:txBody>
      </p:sp>
      <p:pic>
        <p:nvPicPr>
          <p:cNvPr id="6" name="Content Placeholder 4" descr="Reporting Structure.png"/>
          <p:cNvPicPr>
            <a:picLocks noGrp="1" noChangeAspect="1"/>
          </p:cNvPicPr>
          <p:nvPr>
            <p:ph idx="1"/>
          </p:nvPr>
        </p:nvPicPr>
        <p:blipFill>
          <a:blip r:embed="rId2" cstate="print"/>
          <a:stretch>
            <a:fillRect/>
          </a:stretch>
        </p:blipFill>
        <p:spPr>
          <a:xfrm>
            <a:off x="3097488" y="1524000"/>
            <a:ext cx="5993850" cy="4419600"/>
          </a:xfr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Project Roles</a:t>
            </a:r>
            <a:endParaRPr lang="en-US" dirty="0"/>
          </a:p>
        </p:txBody>
      </p:sp>
      <p:sp>
        <p:nvSpPr>
          <p:cNvPr id="3" name="Content Placeholder 2"/>
          <p:cNvSpPr>
            <a:spLocks noGrp="1"/>
          </p:cNvSpPr>
          <p:nvPr>
            <p:ph idx="1"/>
          </p:nvPr>
        </p:nvSpPr>
        <p:spPr/>
        <p:txBody>
          <a:bodyPr/>
          <a:lstStyle/>
          <a:p>
            <a:r>
              <a:rPr lang="en-US" dirty="0" smtClean="0"/>
              <a:t>Sponsorship Roles (for executives and Steering Committee members)</a:t>
            </a:r>
          </a:p>
          <a:p>
            <a:r>
              <a:rPr lang="en-US" dirty="0" smtClean="0"/>
              <a:t>Steering Committee Charter Roles (for Executives and Steering Committee Members)</a:t>
            </a:r>
          </a:p>
          <a:p>
            <a:r>
              <a:rPr lang="en-US" dirty="0" smtClean="0"/>
              <a:t>Steering Committee Group Operating Norms (for Steering Committee Members Only)</a:t>
            </a:r>
          </a:p>
          <a:p>
            <a:r>
              <a:rPr lang="en-US" dirty="0" smtClean="0"/>
              <a:t>Project Team Environment (for Steering Committee Members Only)</a:t>
            </a:r>
          </a:p>
          <a:p>
            <a:r>
              <a:rPr lang="en-US" dirty="0" smtClean="0"/>
              <a:t>Project Environment (for Steering Committee Members Only)</a:t>
            </a:r>
          </a:p>
          <a:p>
            <a:r>
              <a:rPr lang="en-US" dirty="0" smtClean="0"/>
              <a:t>Communication Roles (for Executives and Steering Committee Members)</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Steering Committee Roles</a:t>
            </a:r>
            <a:endParaRPr lang="en-US" dirty="0"/>
          </a:p>
        </p:txBody>
      </p:sp>
      <p:sp>
        <p:nvSpPr>
          <p:cNvPr id="3" name="Content Placeholder 2"/>
          <p:cNvSpPr>
            <a:spLocks noGrp="1"/>
          </p:cNvSpPr>
          <p:nvPr>
            <p:ph idx="1"/>
          </p:nvPr>
        </p:nvSpPr>
        <p:spPr/>
        <p:txBody>
          <a:bodyPr/>
          <a:lstStyle/>
          <a:p>
            <a:r>
              <a:rPr lang="en-US" dirty="0" smtClean="0"/>
              <a:t>Work with their groups to support the implementation</a:t>
            </a:r>
          </a:p>
          <a:p>
            <a:r>
              <a:rPr lang="en-US" dirty="0" smtClean="0"/>
              <a:t>Make major project decisions</a:t>
            </a:r>
          </a:p>
          <a:p>
            <a:r>
              <a:rPr lang="en-US" dirty="0" smtClean="0"/>
              <a:t>Implement decisions made by the Steering Committee</a:t>
            </a:r>
          </a:p>
          <a:p>
            <a:r>
              <a:rPr lang="en-US" dirty="0" smtClean="0"/>
              <a:t>Set expectations</a:t>
            </a:r>
          </a:p>
          <a:p>
            <a:r>
              <a:rPr lang="en-US" dirty="0" smtClean="0"/>
              <a:t>Build confidence</a:t>
            </a:r>
          </a:p>
          <a:p>
            <a:r>
              <a:rPr lang="en-US" dirty="0" smtClean="0"/>
              <a:t>Push, if required</a:t>
            </a:r>
          </a:p>
          <a:p>
            <a:r>
              <a:rPr lang="en-US" dirty="0" smtClean="0"/>
              <a:t>Raise project risks</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Steering Committee – Rules of Engagement</a:t>
            </a:r>
            <a:endParaRPr lang="en-US" dirty="0"/>
          </a:p>
        </p:txBody>
      </p:sp>
      <p:sp>
        <p:nvSpPr>
          <p:cNvPr id="3" name="Content Placeholder 2"/>
          <p:cNvSpPr>
            <a:spLocks noGrp="1"/>
          </p:cNvSpPr>
          <p:nvPr>
            <p:ph idx="1"/>
          </p:nvPr>
        </p:nvSpPr>
        <p:spPr/>
        <p:txBody>
          <a:bodyPr/>
          <a:lstStyle/>
          <a:p>
            <a:r>
              <a:rPr lang="en-US" smtClean="0"/>
              <a:t>Participate actively in the process</a:t>
            </a:r>
          </a:p>
          <a:p>
            <a:r>
              <a:rPr lang="en-US" smtClean="0"/>
              <a:t>Facilitate open and regular communication</a:t>
            </a:r>
          </a:p>
          <a:p>
            <a:r>
              <a:rPr lang="en-US" smtClean="0"/>
              <a:t>Demonstrate personal commitment</a:t>
            </a:r>
          </a:p>
          <a:p>
            <a:r>
              <a:rPr lang="en-US" smtClean="0"/>
              <a:t>Address issues in an open and timely way</a:t>
            </a:r>
          </a:p>
          <a:p>
            <a:r>
              <a:rPr lang="en-US" smtClean="0"/>
              <a:t>Support those involved in the implementation process</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3" name="Text Placeholder 2"/>
          <p:cNvSpPr>
            <a:spLocks noGrp="1"/>
          </p:cNvSpPr>
          <p:nvPr>
            <p:ph type="body" sz="quarter" idx="13"/>
          </p:nvPr>
        </p:nvSpPr>
        <p:spPr/>
        <p:txBody>
          <a:bodyPr/>
          <a:lstStyle/>
          <a:p>
            <a:r>
              <a:rPr lang="en-US" dirty="0" smtClean="0"/>
              <a:t>Discussion</a:t>
            </a:r>
            <a:endParaRPr lang="en-US" dirty="0"/>
          </a:p>
        </p:txBody>
      </p:sp>
      <p:sp>
        <p:nvSpPr>
          <p:cNvPr id="4" name="Content Placeholder 3"/>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417598904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23</TotalTime>
  <Words>322</Words>
  <Application>Microsoft Office PowerPoint</Application>
  <PresentationFormat>Custom</PresentationFormat>
  <Paragraphs>57</Paragraphs>
  <Slides>15</Slides>
  <Notes>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blank</vt:lpstr>
      <vt:lpstr>Slide 1</vt:lpstr>
      <vt:lpstr>Executive Alignment Workshop</vt:lpstr>
      <vt:lpstr>Executive Alignment Workshop Agenda</vt:lpstr>
      <vt:lpstr>Executive Alignment Workshop Agenda</vt:lpstr>
      <vt:lpstr>Project Vision and Goals</vt:lpstr>
      <vt:lpstr>Organizational Risks</vt:lpstr>
      <vt:lpstr>Project Risks</vt:lpstr>
      <vt:lpstr>Sponsorship Program</vt:lpstr>
      <vt:lpstr>Reporting Structure</vt:lpstr>
      <vt:lpstr>Project Roles</vt:lpstr>
      <vt:lpstr>Steering Committee Roles</vt:lpstr>
      <vt:lpstr>Steering Committee – Rules of Engagement</vt:lpstr>
      <vt:lpstr>Next Steps</vt:lpstr>
      <vt:lpstr>Slide 14</vt:lpstr>
      <vt:lpstr>Slide 15</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EOCM.020 Executive Alignment Workshop</dc:title>
  <dc:creator>Oracle Global Methods</dc:creator>
  <cp:keywords>OUM</cp:keywords>
  <dc:description>Copyright © 2014 Oracle and/or its affiliates.  All rights reserved.</dc:description>
  <cp:lastModifiedBy>masander</cp:lastModifiedBy>
  <cp:revision>6</cp:revision>
  <dcterms:created xsi:type="dcterms:W3CDTF">2014-06-16T21:16:48Z</dcterms:created>
  <dcterms:modified xsi:type="dcterms:W3CDTF">2014-08-15T16:18:01Z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