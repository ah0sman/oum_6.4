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354" r:id="rId2"/>
    <p:sldId id="258" r:id="rId3"/>
    <p:sldId id="344" r:id="rId4"/>
    <p:sldId id="371" r:id="rId5"/>
    <p:sldId id="372" r:id="rId6"/>
    <p:sldId id="373" r:id="rId7"/>
    <p:sldId id="374" r:id="rId8"/>
    <p:sldId id="375" r:id="rId9"/>
    <p:sldId id="376" r:id="rId10"/>
    <p:sldId id="377" r:id="rId11"/>
    <p:sldId id="378" r:id="rId12"/>
    <p:sldId id="379" r:id="rId13"/>
    <p:sldId id="380" r:id="rId14"/>
    <p:sldId id="381" r:id="rId15"/>
    <p:sldId id="382" r:id="rId16"/>
    <p:sldId id="383" r:id="rId17"/>
    <p:sldId id="384" r:id="rId18"/>
    <p:sldId id="385" r:id="rId19"/>
    <p:sldId id="386" r:id="rId20"/>
    <p:sldId id="387" r:id="rId21"/>
    <p:sldId id="388" r:id="rId22"/>
    <p:sldId id="389" r:id="rId23"/>
    <p:sldId id="390" r:id="rId24"/>
    <p:sldId id="391" r:id="rId25"/>
    <p:sldId id="392" r:id="rId26"/>
    <p:sldId id="393" r:id="rId27"/>
    <p:sldId id="394" r:id="rId28"/>
    <p:sldId id="395" r:id="rId29"/>
    <p:sldId id="396" r:id="rId30"/>
    <p:sldId id="397" r:id="rId31"/>
    <p:sldId id="398" r:id="rId32"/>
    <p:sldId id="399" r:id="rId33"/>
    <p:sldId id="400" r:id="rId34"/>
    <p:sldId id="401" r:id="rId35"/>
    <p:sldId id="402" r:id="rId36"/>
    <p:sldId id="403" r:id="rId37"/>
    <p:sldId id="404" r:id="rId38"/>
    <p:sldId id="405" r:id="rId39"/>
    <p:sldId id="406" r:id="rId40"/>
    <p:sldId id="407" r:id="rId41"/>
    <p:sldId id="408" r:id="rId42"/>
    <p:sldId id="409" r:id="rId43"/>
    <p:sldId id="410" r:id="rId44"/>
    <p:sldId id="411" r:id="rId45"/>
    <p:sldId id="412" r:id="rId46"/>
    <p:sldId id="289" r:id="rId47"/>
  </p:sldIdLst>
  <p:sldSz cx="12188825" cy="6858000"/>
  <p:notesSz cx="6858000" cy="91440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8/15/2014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3</a:t>
            </a:fld>
            <a:endParaRPr lang="en-US" dirty="0"/>
          </a:p>
        </p:txBody>
      </p:sp>
    </p:spTree>
    <p:extLst>
      <p:ext uri="{BB962C8B-B14F-4D97-AF65-F5344CB8AC3E}">
        <p14:creationId xmlns:p14="http://schemas.microsoft.com/office/powerpoint/2010/main" xmlns="" val="2994716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31</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35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40</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46</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25FE6EF-6B00-4D3C-8D02-13C286705B1C}"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435CF75B-E0A1-45D5-B80E-C0F5BBD55164}"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CB7C4315-9BFA-4FCB-97A1-C9BD2E79A4B4}"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4F8B7C8E-E3BE-49DF-8D5B-0FC28417EC4C}"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F5034C6-0144-4A7B-A541-871C0C78F935}" type="datetime1">
              <a:rPr lang="en-US" smtClean="0"/>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3A1B76E9-336D-4FD6-A57D-8CB318F54188}" type="datetime1">
              <a:rPr lang="en-US" smtClean="0"/>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0A91994-BDF9-4EE0-A3FA-94AAB74EA7AD}" type="datetime1">
              <a:rPr lang="en-US" smtClean="0"/>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FC02119E-4D68-4BB3-BF94-54D294B04E1A}" type="datetime1">
              <a:rPr lang="en-US" smtClean="0"/>
              <a:t>8/15/2014</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32BDC5-B6A8-4F26-B3E9-88F9B1F79F81}" type="datetime1">
              <a:rPr lang="en-US" smtClean="0"/>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01B39A45-FDA1-4187-A31E-CE208985C2F7}" type="datetime1">
              <a:rPr lang="en-US" smtClean="0"/>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5DED066D-BD37-4529-A4E0-4E4DDE267319}"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7C05C7-B25B-4C46-B189-98BCEB8DF36B}" type="datetime1">
              <a:rPr lang="en-US" smtClean="0"/>
              <a:t>8/15/2014</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909BEC38-2D12-4374-9710-5DF455323D5F}"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8192078B-0E89-41F6-B0A0-63B301087E94}"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8C7A99C3-103A-4421-868B-3225F594E5C1}"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B9EAD63A-BF8A-4944-AD58-7529509AAE6B}"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D9D2312-1288-447D-BD4E-E459303CB9D1}"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57C327-0712-4893-A39D-3B52B7C5FE87}"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DA68E9-5B36-4460-92E9-CE8FB6F48344}"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20B2DE51-9984-488E-8547-D1F4AA89B946}" type="datetime1">
              <a:rPr lang="en-US" smtClean="0"/>
              <a:t>8/15/2014</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BC63EB6-8091-431D-BD77-BDCE1798CC7D}" type="datetime1">
              <a:rPr lang="en-US" smtClean="0"/>
              <a:t>8/15/2014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25D149C2-B236-44E9-8122-D19AC803AB51}" type="datetime1">
              <a:rPr lang="en-US" smtClean="0"/>
              <a:t>8/15/2014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A31856-A916-4EDF-9767-3A0794EFABFC}" type="datetime1">
              <a:rPr lang="en-US" smtClean="0"/>
              <a:t>8/15/2014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0BB316-F78E-4C54-9C3C-F4980A760AF8}"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90E887-0175-4FF8-A093-42F6C8495B88}"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2DBC0E-A849-45A8-8DEB-C1530DD02B26}"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90D3A1-3682-472A-B509-6EB4DF3929BD}"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4B9A3624-E9B1-43FB-94A4-06DA81FA4356}"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2D147480-E4F4-43E2-AFB3-9F4A50DEDDCD}"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B204DDA4-7730-4835-8D6B-E8FE25E49156}"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349FB12-FDA5-460E-AB2D-D41C47F35949}" type="datetime1">
              <a:rPr lang="en-US" smtClean="0"/>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D5EE50B-3B15-40B4-B493-F5ABEDAABFFA}" type="datetime1">
              <a:rPr lang="en-US" smtClean="0"/>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FBEA727-64BC-415C-906A-73E7663CB686}" type="datetime1">
              <a:rPr lang="en-US" smtClean="0"/>
              <a:t>8/15/2014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B43EB748-3655-4FEC-AB17-AFCC916D8709}" type="datetime1">
              <a:rPr lang="en-US" smtClean="0"/>
              <a:t>8/15/2014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99783E-AFA6-49FE-9A71-4F2BBFA612FF}" type="datetime1">
              <a:rPr lang="en-US" smtClean="0"/>
              <a:t>8/15/2014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A1AE672E-C088-42DE-8B3D-D9858C3EB770}" type="datetime1">
              <a:rPr lang="en-US" smtClean="0"/>
              <a:t>8/15/2014</a:t>
            </a:fld>
            <a:endParaRPr lang="en-US"/>
          </a:p>
        </p:txBody>
      </p:sp>
      <p:sp>
        <p:nvSpPr>
          <p:cNvPr id="5" name="Footer Placeholder 4"/>
          <p:cNvSpPr>
            <a:spLocks noGrp="1"/>
          </p:cNvSpPr>
          <p:nvPr>
            <p:ph type="ftr" sz="quarter" idx="11"/>
          </p:nvPr>
        </p:nvSpPr>
        <p:spPr/>
        <p:txBody>
          <a:bodyPr>
            <a:noAutofit/>
          </a:bodyPr>
          <a:lstStyle/>
          <a:p>
            <a:r>
              <a:rPr lang="en-US" smtClean="0"/>
              <a:t>Oracle Confidential – Internal/Restricted/Highly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D0AC5FB-F66A-499A-8EFE-8A8334208418}" type="datetime1">
              <a:rPr lang="en-US" smtClean="0"/>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DA836B66-1F41-4EC0-AF22-26F79D4B52A5}" type="datetime1">
              <a:rPr lang="en-US" smtClean="0"/>
              <a:t>8/15/2014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Change Readiness Assessment Analysis and Recommendations</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7" name="TextBox 6"/>
          <p:cNvSpPr txBox="1"/>
          <p:nvPr/>
        </p:nvSpPr>
        <p:spPr>
          <a:xfrm>
            <a:off x="60182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9"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6" name="Pentagon 5"/>
          <p:cNvSpPr/>
          <p:nvPr/>
        </p:nvSpPr>
        <p:spPr>
          <a:xfrm>
            <a:off x="2186329" y="1981200"/>
            <a:ext cx="457200" cy="320040"/>
          </a:xfrm>
          <a:prstGeom prst="homePlate">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1600" b="1" dirty="0" smtClean="0">
                <a:solidFill>
                  <a:schemeClr val="bg1"/>
                </a:solidFill>
              </a:rPr>
              <a:t>1</a:t>
            </a:r>
          </a:p>
        </p:txBody>
      </p:sp>
      <p:sp>
        <p:nvSpPr>
          <p:cNvPr id="16" name="Pentagon 15"/>
          <p:cNvSpPr/>
          <p:nvPr/>
        </p:nvSpPr>
        <p:spPr>
          <a:xfrm>
            <a:off x="2186329" y="2677477"/>
            <a:ext cx="457200" cy="320040"/>
          </a:xfrm>
          <a:prstGeom prst="homePlate">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1600" b="1" dirty="0" smtClean="0">
                <a:solidFill>
                  <a:schemeClr val="bg1"/>
                </a:solidFill>
              </a:rPr>
              <a:t>2</a:t>
            </a:r>
          </a:p>
        </p:txBody>
      </p:sp>
      <p:sp>
        <p:nvSpPr>
          <p:cNvPr id="17" name="Pentagon 16"/>
          <p:cNvSpPr/>
          <p:nvPr/>
        </p:nvSpPr>
        <p:spPr>
          <a:xfrm>
            <a:off x="2186329" y="3373754"/>
            <a:ext cx="457200" cy="320040"/>
          </a:xfrm>
          <a:prstGeom prst="homePlate">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1600" b="1" dirty="0" smtClean="0">
                <a:solidFill>
                  <a:schemeClr val="bg1"/>
                </a:solidFill>
              </a:rPr>
              <a:t>3</a:t>
            </a:r>
          </a:p>
        </p:txBody>
      </p:sp>
      <p:sp>
        <p:nvSpPr>
          <p:cNvPr id="3" name="Content Placeholder 2"/>
          <p:cNvSpPr>
            <a:spLocks noGrp="1"/>
          </p:cNvSpPr>
          <p:nvPr>
            <p:ph idx="13"/>
          </p:nvPr>
        </p:nvSpPr>
        <p:spPr/>
        <p:txBody>
          <a:bodyPr/>
          <a:lstStyle/>
          <a:p>
            <a:r>
              <a:rPr lang="en-US" dirty="0" smtClean="0"/>
              <a:t>Data Gathering Approach</a:t>
            </a:r>
          </a:p>
          <a:p>
            <a:r>
              <a:rPr lang="en-US" dirty="0" smtClean="0"/>
              <a:t>Assessment Conclusions</a:t>
            </a:r>
          </a:p>
          <a:p>
            <a:r>
              <a:rPr lang="en-US" dirty="0" smtClean="0"/>
              <a:t>Change Management Recommendations</a:t>
            </a:r>
          </a:p>
          <a:p>
            <a:endParaRPr lang="en-US" dirty="0" smtClean="0"/>
          </a:p>
        </p:txBody>
      </p:sp>
    </p:spTree>
    <p:extLst>
      <p:ext uri="{BB962C8B-B14F-4D97-AF65-F5344CB8AC3E}">
        <p14:creationId xmlns:p14="http://schemas.microsoft.com/office/powerpoint/2010/main" xmlns="" val="153172332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p:txBody>
          <a:bodyPr/>
          <a:lstStyle/>
          <a:p>
            <a:pPr eaLnBrk="1" hangingPunct="1"/>
            <a:r>
              <a:rPr lang="en-US" dirty="0" smtClean="0"/>
              <a:t>Disclosure</a:t>
            </a:r>
          </a:p>
        </p:txBody>
      </p:sp>
      <p:sp>
        <p:nvSpPr>
          <p:cNvPr id="5123" name="Rectangle 1027"/>
          <p:cNvSpPr>
            <a:spLocks noGrp="1" noChangeArrowheads="1"/>
          </p:cNvSpPr>
          <p:nvPr>
            <p:ph idx="1"/>
          </p:nvPr>
        </p:nvSpPr>
        <p:spPr/>
        <p:txBody>
          <a:bodyPr/>
          <a:lstStyle/>
          <a:p>
            <a:r>
              <a:rPr lang="en-US" dirty="0" smtClean="0"/>
              <a:t>The results presented are only the initial Change Readiness Assessment findings and are oriented towards human and organizational risks</a:t>
            </a:r>
          </a:p>
          <a:p>
            <a:r>
              <a:rPr lang="en-US" dirty="0" smtClean="0"/>
              <a:t>Technology and project risks are not included in this analysis.</a:t>
            </a:r>
          </a:p>
          <a:p>
            <a:r>
              <a:rPr lang="en-US" dirty="0" smtClean="0"/>
              <a:t>The risk identification process was conducted under the direction of  &lt;Organization Name&gt; Change Management</a:t>
            </a:r>
          </a:p>
          <a:p>
            <a:pPr>
              <a:buFontTx/>
              <a:buNone/>
            </a:pPr>
            <a:endParaRPr lang="en-US" dirty="0" smtClean="0"/>
          </a:p>
          <a:p>
            <a:pPr eaLnBrk="1" hangingPunct="1"/>
            <a:endParaRPr lang="en-US" dirty="0" smtClean="0"/>
          </a:p>
        </p:txBody>
      </p:sp>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Data Gathering Approach</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p:txBody>
          <a:bodyPr/>
          <a:lstStyle/>
          <a:p>
            <a:r>
              <a:rPr lang="en-US" smtClean="0"/>
              <a:t>Data Gathering Methods</a:t>
            </a:r>
            <a:endParaRPr lang="en-US" dirty="0" smtClean="0"/>
          </a:p>
        </p:txBody>
      </p:sp>
      <p:sp>
        <p:nvSpPr>
          <p:cNvPr id="7171" name="Rectangle 1027"/>
          <p:cNvSpPr>
            <a:spLocks noGrp="1" noChangeArrowheads="1"/>
          </p:cNvSpPr>
          <p:nvPr>
            <p:ph idx="1"/>
          </p:nvPr>
        </p:nvSpPr>
        <p:spPr/>
        <p:txBody>
          <a:bodyPr/>
          <a:lstStyle/>
          <a:p>
            <a:r>
              <a:rPr lang="en-US" smtClean="0"/>
              <a:t>Selection of Themes to Evaluate During the Change Readiness Assessment Process Based On:</a:t>
            </a:r>
          </a:p>
          <a:p>
            <a:pPr lvl="1"/>
            <a:r>
              <a:rPr lang="en-US" smtClean="0"/>
              <a:t>Interviews with Executives and PMO</a:t>
            </a:r>
          </a:p>
          <a:p>
            <a:pPr lvl="1"/>
            <a:r>
              <a:rPr lang="en-US" smtClean="0"/>
              <a:t>Meetings with PMO</a:t>
            </a:r>
          </a:p>
          <a:p>
            <a:pPr lvl="1"/>
            <a:r>
              <a:rPr lang="en-US" smtClean="0"/>
              <a:t>Assessment Survey Review</a:t>
            </a:r>
          </a:p>
          <a:p>
            <a:pPr lvl="1"/>
            <a:r>
              <a:rPr lang="en-US" smtClean="0"/>
              <a:t>Focus Group Question Review</a:t>
            </a:r>
          </a:p>
          <a:p>
            <a:r>
              <a:rPr lang="en-US" smtClean="0"/>
              <a:t>Target Populations:</a:t>
            </a:r>
          </a:p>
          <a:p>
            <a:pPr lvl="1"/>
            <a:r>
              <a:rPr lang="en-US" smtClean="0"/>
              <a:t>Identified with the PMO and the Change Readiness Assessment Team</a:t>
            </a:r>
          </a:p>
          <a:p>
            <a:pPr lvl="1"/>
            <a:r>
              <a:rPr lang="en-US" smtClean="0"/>
              <a:t>Validation of the Tools with the Change Readiness Assessment Team</a:t>
            </a:r>
            <a:endParaRPr lang="en-US" dirty="0" smtClean="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mtClean="0"/>
              <a:t>Data Gathering Methods</a:t>
            </a:r>
            <a:endParaRPr lang="en-CA" dirty="0" smtClean="0"/>
          </a:p>
        </p:txBody>
      </p:sp>
      <p:sp>
        <p:nvSpPr>
          <p:cNvPr id="8195" name="Rectangle 3"/>
          <p:cNvSpPr>
            <a:spLocks noGrp="1" noChangeArrowheads="1"/>
          </p:cNvSpPr>
          <p:nvPr>
            <p:ph idx="1"/>
          </p:nvPr>
        </p:nvSpPr>
        <p:spPr/>
        <p:txBody>
          <a:bodyPr/>
          <a:lstStyle/>
          <a:p>
            <a:r>
              <a:rPr lang="en-US" smtClean="0"/>
              <a:t>&lt;NN&gt; Focus Groups involving &lt;NN&gt; People Conducted over a Three Week Period</a:t>
            </a:r>
          </a:p>
          <a:p>
            <a:r>
              <a:rPr lang="en-US" smtClean="0"/>
              <a:t>Focus Groups Conducted at X-1, X-2, X-3, X-4, and X-5</a:t>
            </a:r>
          </a:p>
          <a:p>
            <a:r>
              <a:rPr lang="en-US" smtClean="0"/>
              <a:t>Anonymous Surveys Completed by &lt;NN&gt; Participants</a:t>
            </a:r>
          </a:p>
          <a:p>
            <a:endParaRPr lang="en-US" smtClean="0"/>
          </a:p>
          <a:p>
            <a:endParaRPr lang="en-CA"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Assessment Focus Areas</a:t>
            </a:r>
            <a:endParaRPr lang="en-US" dirty="0"/>
          </a:p>
        </p:txBody>
      </p:sp>
      <p:sp>
        <p:nvSpPr>
          <p:cNvPr id="6" name="Text Placeholder 5"/>
          <p:cNvSpPr>
            <a:spLocks noGrp="1"/>
          </p:cNvSpPr>
          <p:nvPr>
            <p:ph type="body" sz="quarter" idx="13"/>
          </p:nvPr>
        </p:nvSpPr>
        <p:spPr/>
        <p:txBody>
          <a:bodyPr/>
          <a:lstStyle/>
          <a:p>
            <a:r>
              <a:rPr lang="en-US" smtClean="0"/>
              <a:t>Survey Focus Ares</a:t>
            </a:r>
            <a:endParaRPr lang="en-US" dirty="0"/>
          </a:p>
        </p:txBody>
      </p:sp>
      <p:sp>
        <p:nvSpPr>
          <p:cNvPr id="5" name="Content Placeholder 4"/>
          <p:cNvSpPr>
            <a:spLocks noGrp="1"/>
          </p:cNvSpPr>
          <p:nvPr>
            <p:ph idx="1"/>
          </p:nvPr>
        </p:nvSpPr>
        <p:spPr/>
        <p:txBody>
          <a:bodyPr/>
          <a:lstStyle/>
          <a:p>
            <a:r>
              <a:rPr lang="en-US" smtClean="0"/>
              <a:t>Leadership</a:t>
            </a:r>
          </a:p>
          <a:p>
            <a:r>
              <a:rPr lang="en-US" smtClean="0"/>
              <a:t>Change Experience</a:t>
            </a:r>
          </a:p>
          <a:p>
            <a:r>
              <a:rPr lang="en-US" smtClean="0"/>
              <a:t>Reactions to Change</a:t>
            </a:r>
          </a:p>
          <a:p>
            <a:r>
              <a:rPr lang="en-US" smtClean="0"/>
              <a:t>Work and Environment</a:t>
            </a:r>
          </a:p>
          <a:p>
            <a:r>
              <a:rPr lang="en-US" smtClean="0"/>
              <a:t>Training</a:t>
            </a:r>
          </a:p>
          <a:p>
            <a:r>
              <a:rPr lang="en-US" smtClean="0"/>
              <a:t>Communication</a:t>
            </a:r>
            <a:endParaRPr lang="en-US"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smtClean="0"/>
              <a:t>Survey Question Formulation</a:t>
            </a:r>
          </a:p>
        </p:txBody>
      </p:sp>
      <p:sp>
        <p:nvSpPr>
          <p:cNvPr id="10243" name="Rectangle 3"/>
          <p:cNvSpPr>
            <a:spLocks noGrp="1" noChangeArrowheads="1"/>
          </p:cNvSpPr>
          <p:nvPr>
            <p:ph idx="1"/>
          </p:nvPr>
        </p:nvSpPr>
        <p:spPr/>
        <p:txBody>
          <a:bodyPr/>
          <a:lstStyle/>
          <a:p>
            <a:pPr eaLnBrk="1" hangingPunct="1"/>
            <a:r>
              <a:rPr lang="en-US" dirty="0" smtClean="0"/>
              <a:t>Responses based on a 1 to 5 Likert scale:</a:t>
            </a:r>
          </a:p>
          <a:p>
            <a:pPr lvl="1" eaLnBrk="1" hangingPunct="1">
              <a:lnSpc>
                <a:spcPct val="80000"/>
              </a:lnSpc>
            </a:pPr>
            <a:r>
              <a:rPr lang="en-US" dirty="0" smtClean="0"/>
              <a:t>1 corresponds with “strongly disagree”</a:t>
            </a:r>
          </a:p>
          <a:p>
            <a:pPr lvl="1" eaLnBrk="1" hangingPunct="1">
              <a:lnSpc>
                <a:spcPct val="80000"/>
              </a:lnSpc>
            </a:pPr>
            <a:r>
              <a:rPr lang="en-US" dirty="0" smtClean="0"/>
              <a:t>5 corresponds with “strongly agree”</a:t>
            </a:r>
          </a:p>
          <a:p>
            <a:pPr lvl="1" eaLnBrk="1" hangingPunct="1">
              <a:lnSpc>
                <a:spcPct val="80000"/>
              </a:lnSpc>
              <a:buFont typeface="Times" pitchFamily="18" charset="0"/>
              <a:buNone/>
            </a:pPr>
            <a:endParaRPr lang="en-US" dirty="0" smtClean="0"/>
          </a:p>
          <a:p>
            <a:pPr eaLnBrk="1" hangingPunct="1"/>
            <a:r>
              <a:rPr lang="en-US" dirty="0" smtClean="0"/>
              <a:t>For questions with a negative connotation, the scale is inverted during the analysis (1 would then correspond with “strongly agree” and 5 with “strongly disagree”)  This is notably the case with the following questions: </a:t>
            </a:r>
          </a:p>
          <a:p>
            <a:pPr lvl="1" eaLnBrk="1" hangingPunct="1"/>
            <a:r>
              <a:rPr lang="en-US" dirty="0" smtClean="0"/>
              <a:t>“</a:t>
            </a:r>
            <a:r>
              <a:rPr lang="en-US" dirty="0" smtClean="0">
                <a:cs typeface="Times New Roman" charset="0"/>
              </a:rPr>
              <a:t>Change is always a painful process in my personal experience.</a:t>
            </a:r>
            <a:r>
              <a:rPr lang="en-US" dirty="0" smtClean="0"/>
              <a:t>”</a:t>
            </a:r>
          </a:p>
          <a:p>
            <a:pPr eaLnBrk="1" hangingPunct="1">
              <a:buFont typeface="Times" pitchFamily="18" charset="0"/>
              <a:buNone/>
            </a:pPr>
            <a:endParaRPr lang="en-US" dirty="0" smtClean="0"/>
          </a:p>
          <a:p>
            <a:pPr lvl="1" eaLnBrk="1" hangingPunct="1"/>
            <a:endParaRPr lang="en-US" dirty="0" smtClean="0"/>
          </a:p>
          <a:p>
            <a:pPr eaLnBrk="1" hangingPunct="1"/>
            <a:endParaRPr lang="en-US" dirty="0" smtClean="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p:txBody>
          <a:bodyPr/>
          <a:lstStyle/>
          <a:p>
            <a:pPr eaLnBrk="1" hangingPunct="1"/>
            <a:r>
              <a:rPr lang="en-US" dirty="0" smtClean="0"/>
              <a:t>Presentation of the Data</a:t>
            </a:r>
          </a:p>
        </p:txBody>
      </p:sp>
      <p:sp>
        <p:nvSpPr>
          <p:cNvPr id="11267" name="Rectangle 1027"/>
          <p:cNvSpPr>
            <a:spLocks noGrp="1" noChangeArrowheads="1"/>
          </p:cNvSpPr>
          <p:nvPr>
            <p:ph idx="1"/>
          </p:nvPr>
        </p:nvSpPr>
        <p:spPr/>
        <p:txBody>
          <a:bodyPr/>
          <a:lstStyle/>
          <a:p>
            <a:pPr marL="0" indent="0">
              <a:spcBef>
                <a:spcPts val="800"/>
              </a:spcBef>
              <a:buNone/>
            </a:pPr>
            <a:r>
              <a:rPr lang="en-US" dirty="0" smtClean="0"/>
              <a:t>Within the presentation, the symbol:</a:t>
            </a:r>
            <a:br>
              <a:rPr lang="en-US" dirty="0" smtClean="0"/>
            </a:br>
            <a:r>
              <a:rPr lang="en-US" dirty="0" smtClean="0"/>
              <a:t>refers to a diagnosis based on change theory and on the leading practices in change management.</a:t>
            </a:r>
          </a:p>
          <a:p>
            <a:pPr marL="0" indent="0">
              <a:lnSpc>
                <a:spcPct val="80000"/>
              </a:lnSpc>
              <a:buNone/>
            </a:pPr>
            <a:endParaRPr lang="en-US" dirty="0" smtClean="0"/>
          </a:p>
          <a:p>
            <a:pPr marL="0" indent="0">
              <a:lnSpc>
                <a:spcPct val="80000"/>
              </a:lnSpc>
              <a:buNone/>
            </a:pPr>
            <a:r>
              <a:rPr lang="en-US" dirty="0" smtClean="0"/>
              <a:t>In the presentation, gray rectangles: </a:t>
            </a:r>
            <a:br>
              <a:rPr lang="en-US" dirty="0" smtClean="0"/>
            </a:br>
            <a:r>
              <a:rPr lang="en-US" dirty="0" smtClean="0"/>
              <a:t>represent a conclusion of the analysis.</a:t>
            </a:r>
          </a:p>
          <a:p>
            <a:pPr marL="0" indent="0">
              <a:lnSpc>
                <a:spcPct val="80000"/>
              </a:lnSpc>
              <a:buNone/>
            </a:pPr>
            <a:endParaRPr lang="en-US" dirty="0" smtClean="0"/>
          </a:p>
          <a:p>
            <a:pPr marL="0" indent="0">
              <a:buNone/>
            </a:pPr>
            <a:r>
              <a:rPr lang="en-US" dirty="0" smtClean="0"/>
              <a:t>Comments found on the Quotation slides are representative of those collected.</a:t>
            </a:r>
          </a:p>
          <a:p>
            <a:pPr marL="0" indent="0">
              <a:spcBef>
                <a:spcPct val="50000"/>
              </a:spcBef>
              <a:buNone/>
            </a:pPr>
            <a:r>
              <a:rPr lang="en-US" dirty="0" smtClean="0"/>
              <a:t>Results of focus groups and interviews are integrated in the findings.</a:t>
            </a:r>
          </a:p>
          <a:p>
            <a:pPr eaLnBrk="1" hangingPunct="1">
              <a:lnSpc>
                <a:spcPct val="90000"/>
              </a:lnSpc>
            </a:pPr>
            <a:endParaRPr lang="en-US" sz="2700" dirty="0" smtClean="0"/>
          </a:p>
        </p:txBody>
      </p:sp>
      <p:sp>
        <p:nvSpPr>
          <p:cNvPr id="11268" name="AutoShape 1028"/>
          <p:cNvSpPr>
            <a:spLocks noChangeArrowheads="1"/>
          </p:cNvSpPr>
          <p:nvPr/>
        </p:nvSpPr>
        <p:spPr bwMode="auto">
          <a:xfrm>
            <a:off x="5999404" y="1522412"/>
            <a:ext cx="933208" cy="306388"/>
          </a:xfrm>
          <a:prstGeom prst="rightArrow">
            <a:avLst>
              <a:gd name="adj1" fmla="val 56472"/>
              <a:gd name="adj2" fmla="val 69427"/>
            </a:avLst>
          </a:prstGeom>
          <a:solidFill>
            <a:schemeClr val="accent1"/>
          </a:solidFill>
          <a:ln w="9525" algn="ctr">
            <a:solidFill>
              <a:schemeClr val="accent1"/>
            </a:solidFill>
            <a:miter lim="800000"/>
            <a:headEnd/>
            <a:tailEnd/>
          </a:ln>
        </p:spPr>
        <p:txBody>
          <a:bodyPr wrap="none" lIns="0" tIns="0" rIns="0" bIns="0" anchor="ctr"/>
          <a:lstStyle/>
          <a:p>
            <a:endParaRPr lang="en-US" dirty="0">
              <a:solidFill>
                <a:srgbClr val="FF0000"/>
              </a:solidFill>
            </a:endParaRPr>
          </a:p>
        </p:txBody>
      </p:sp>
      <p:sp>
        <p:nvSpPr>
          <p:cNvPr id="11269" name="Rectangle 1029"/>
          <p:cNvSpPr>
            <a:spLocks noChangeArrowheads="1"/>
          </p:cNvSpPr>
          <p:nvPr/>
        </p:nvSpPr>
        <p:spPr bwMode="auto">
          <a:xfrm>
            <a:off x="5942012" y="3256656"/>
            <a:ext cx="247952" cy="400944"/>
          </a:xfrm>
          <a:prstGeom prst="rect">
            <a:avLst/>
          </a:prstGeom>
          <a:solidFill>
            <a:schemeClr val="bg2"/>
          </a:solidFill>
          <a:ln w="9525">
            <a:noFill/>
            <a:miter lim="800000"/>
            <a:headEnd/>
            <a:tailEnd/>
          </a:ln>
        </p:spPr>
        <p:txBody>
          <a:bodyPr wrap="none" lIns="122745" tIns="61373" rIns="122745" bIns="61373" anchor="ctr">
            <a:spAutoFit/>
          </a:bodyPr>
          <a:lstStyle/>
          <a:p>
            <a:endParaRPr lang="en-US"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p:txBody>
          <a:bodyPr/>
          <a:lstStyle/>
          <a:p>
            <a:pPr eaLnBrk="1" hangingPunct="1"/>
            <a:r>
              <a:rPr lang="en-US" dirty="0" smtClean="0"/>
              <a:t>Analysis Approach </a:t>
            </a:r>
          </a:p>
        </p:txBody>
      </p:sp>
      <p:sp>
        <p:nvSpPr>
          <p:cNvPr id="12291" name="Rectangle 1027"/>
          <p:cNvSpPr>
            <a:spLocks noGrp="1" noChangeArrowheads="1"/>
          </p:cNvSpPr>
          <p:nvPr>
            <p:ph idx="1"/>
          </p:nvPr>
        </p:nvSpPr>
        <p:spPr/>
        <p:txBody>
          <a:bodyPr/>
          <a:lstStyle/>
          <a:p>
            <a:pPr eaLnBrk="1" hangingPunct="1"/>
            <a:r>
              <a:rPr lang="en-US" dirty="0" smtClean="0"/>
              <a:t>The data was analyzed using the statistical functions of:</a:t>
            </a:r>
          </a:p>
          <a:p>
            <a:pPr lvl="1" eaLnBrk="1" hangingPunct="1"/>
            <a:r>
              <a:rPr lang="en-US" dirty="0" smtClean="0"/>
              <a:t>Average:   The value obtained by dividing the total by the number of respondents.</a:t>
            </a:r>
          </a:p>
          <a:p>
            <a:pPr lvl="1" eaLnBrk="1" hangingPunct="1"/>
            <a:r>
              <a:rPr lang="en-US" dirty="0" smtClean="0"/>
              <a:t>Polarities:  Combining the Strongly Agree, Agree responses and combining the Strongly Disagree/Disagree responses.</a:t>
            </a:r>
          </a:p>
          <a:p>
            <a:pPr eaLnBrk="1" hangingPunct="1"/>
            <a:r>
              <a:rPr lang="en-US" dirty="0" smtClean="0"/>
              <a:t>A response of 4 is considered as a strong agreement.</a:t>
            </a:r>
          </a:p>
          <a:p>
            <a:pPr eaLnBrk="1" hangingPunct="1"/>
            <a:r>
              <a:rPr lang="en-US" dirty="0" smtClean="0"/>
              <a:t>A response of 2 is considered as strong disagreement.</a:t>
            </a:r>
          </a:p>
          <a:p>
            <a:pPr eaLnBrk="1" hangingPunct="1"/>
            <a:endParaRPr lang="en-US" dirty="0" smtClean="0"/>
          </a:p>
          <a:p>
            <a:pPr eaLnBrk="1" hangingPunct="1"/>
            <a:endParaRPr lang="en-US" dirty="0" smtClean="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Demographic Data</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Demographic Data</a:t>
            </a:r>
            <a:endParaRPr lang="en-US" dirty="0"/>
          </a:p>
        </p:txBody>
      </p:sp>
      <p:sp>
        <p:nvSpPr>
          <p:cNvPr id="4" name="Content Placeholder 3"/>
          <p:cNvSpPr>
            <a:spLocks noGrp="1"/>
          </p:cNvSpPr>
          <p:nvPr>
            <p:ph idx="1"/>
          </p:nvPr>
        </p:nvSpPr>
        <p:spPr/>
        <p:txBody>
          <a:bodyPr/>
          <a:lstStyle/>
          <a:p>
            <a:r>
              <a:rPr lang="en-US" dirty="0" smtClean="0"/>
              <a:t>&lt;Add demographic data from the assessment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Conclusions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Conclusions</a:t>
            </a:r>
            <a:endParaRPr lang="en-US" dirty="0"/>
          </a:p>
        </p:txBody>
      </p:sp>
      <p:sp>
        <p:nvSpPr>
          <p:cNvPr id="6" name="Text Placeholder 5"/>
          <p:cNvSpPr>
            <a:spLocks noGrp="1"/>
          </p:cNvSpPr>
          <p:nvPr>
            <p:ph type="body" idx="1"/>
          </p:nvPr>
        </p:nvSpPr>
        <p:spPr/>
        <p:txBody>
          <a:bodyPr/>
          <a:lstStyle/>
          <a:p>
            <a:r>
              <a:rPr lang="en-US" dirty="0" smtClean="0"/>
              <a:t>Leadership</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Leadership</a:t>
            </a:r>
            <a:endParaRPr lang="en-US" dirty="0"/>
          </a:p>
        </p:txBody>
      </p:sp>
      <p:sp>
        <p:nvSpPr>
          <p:cNvPr id="4" name="Content Placeholder 3"/>
          <p:cNvSpPr>
            <a:spLocks noGrp="1"/>
          </p:cNvSpPr>
          <p:nvPr>
            <p:ph idx="1"/>
          </p:nvPr>
        </p:nvSpPr>
        <p:spPr/>
        <p:txBody>
          <a:bodyPr/>
          <a:lstStyle/>
          <a:p>
            <a:r>
              <a:rPr lang="en-US" dirty="0" smtClean="0"/>
              <a:t>&lt;Add qualitative and quantitative analysis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Survey Comment Quotes</a:t>
            </a:r>
            <a:endParaRPr lang="en-US" dirty="0"/>
          </a:p>
        </p:txBody>
      </p:sp>
      <p:sp>
        <p:nvSpPr>
          <p:cNvPr id="4" name="Content Placeholder 3"/>
          <p:cNvSpPr>
            <a:spLocks noGrp="1"/>
          </p:cNvSpPr>
          <p:nvPr>
            <p:ph idx="1"/>
          </p:nvPr>
        </p:nvSpPr>
        <p:spPr/>
        <p:txBody>
          <a:bodyPr/>
          <a:lstStyle/>
          <a:p>
            <a:r>
              <a:rPr lang="en-US" dirty="0" smtClean="0"/>
              <a:t>&lt;Add survey comment quotes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Leadership – Potential Risks</a:t>
            </a:r>
            <a:endParaRPr lang="en-US" dirty="0"/>
          </a:p>
        </p:txBody>
      </p:sp>
      <p:sp>
        <p:nvSpPr>
          <p:cNvPr id="4" name="Content Placeholder 3"/>
          <p:cNvSpPr>
            <a:spLocks noGrp="1"/>
          </p:cNvSpPr>
          <p:nvPr>
            <p:ph sz="quarter" idx="4294967295"/>
          </p:nvPr>
        </p:nvSpPr>
        <p:spPr>
          <a:xfrm>
            <a:off x="1219201" y="1577975"/>
            <a:ext cx="9218612" cy="4491038"/>
          </a:xfrm>
        </p:spPr>
        <p:txBody>
          <a:bodyPr/>
          <a:lstStyle/>
          <a:p>
            <a:pPr>
              <a:buNone/>
            </a:pPr>
            <a:r>
              <a:rPr lang="en-US" dirty="0" smtClean="0"/>
              <a:t>Risk #1</a:t>
            </a:r>
          </a:p>
          <a:p>
            <a:r>
              <a:rPr lang="en-US" dirty="0" smtClean="0"/>
              <a:t>&lt;Add diagnosis based on assessment here.&gt;</a:t>
            </a:r>
          </a:p>
          <a:p>
            <a:pPr>
              <a:buNone/>
            </a:pPr>
            <a:r>
              <a:rPr lang="en-US" dirty="0" smtClean="0"/>
              <a:t>Risk #2</a:t>
            </a:r>
          </a:p>
          <a:p>
            <a:r>
              <a:rPr lang="en-US" dirty="0" smtClean="0"/>
              <a:t>&lt;Add diagnosis based on assessment here.&gt;</a:t>
            </a:r>
          </a:p>
          <a:p>
            <a:pPr>
              <a:buNone/>
            </a:pPr>
            <a:r>
              <a:rPr lang="en-US" dirty="0" smtClean="0"/>
              <a:t>Risk #3</a:t>
            </a:r>
          </a:p>
          <a:p>
            <a:r>
              <a:rPr lang="en-US" dirty="0" smtClean="0"/>
              <a:t>&lt;Add diagnosis based on assessment here.&gt;</a:t>
            </a:r>
          </a:p>
          <a:p>
            <a:pPr>
              <a:buNone/>
            </a:pPr>
            <a:r>
              <a:rPr lang="en-US" dirty="0" smtClean="0"/>
              <a:t>Risk #4</a:t>
            </a:r>
          </a:p>
          <a:p>
            <a:r>
              <a:rPr lang="en-US" dirty="0" smtClean="0"/>
              <a:t>&lt;Add diagnosis based on assessment here.&gt;</a:t>
            </a:r>
          </a:p>
        </p:txBody>
      </p:sp>
      <p:sp>
        <p:nvSpPr>
          <p:cNvPr id="5" name="AutoShape 1028"/>
          <p:cNvSpPr>
            <a:spLocks noChangeArrowheads="1"/>
          </p:cNvSpPr>
          <p:nvPr/>
        </p:nvSpPr>
        <p:spPr bwMode="auto">
          <a:xfrm>
            <a:off x="190450" y="1652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6" name="AutoShape 1028"/>
          <p:cNvSpPr>
            <a:spLocks noChangeArrowheads="1"/>
          </p:cNvSpPr>
          <p:nvPr/>
        </p:nvSpPr>
        <p:spPr bwMode="auto">
          <a:xfrm>
            <a:off x="230354" y="2606904"/>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7" name="AutoShape 1028"/>
          <p:cNvSpPr>
            <a:spLocks noChangeArrowheads="1"/>
          </p:cNvSpPr>
          <p:nvPr/>
        </p:nvSpPr>
        <p:spPr bwMode="auto">
          <a:xfrm>
            <a:off x="241237" y="3684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8" name="AutoShape 1028"/>
          <p:cNvSpPr>
            <a:spLocks noChangeArrowheads="1"/>
          </p:cNvSpPr>
          <p:nvPr/>
        </p:nvSpPr>
        <p:spPr bwMode="auto">
          <a:xfrm>
            <a:off x="208588" y="4686075"/>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Conclusions</a:t>
            </a:r>
            <a:endParaRPr lang="en-US" dirty="0"/>
          </a:p>
        </p:txBody>
      </p:sp>
      <p:sp>
        <p:nvSpPr>
          <p:cNvPr id="6" name="Text Placeholder 5"/>
          <p:cNvSpPr>
            <a:spLocks noGrp="1"/>
          </p:cNvSpPr>
          <p:nvPr>
            <p:ph type="body" idx="1"/>
          </p:nvPr>
        </p:nvSpPr>
        <p:spPr/>
        <p:txBody>
          <a:bodyPr/>
          <a:lstStyle/>
          <a:p>
            <a:r>
              <a:rPr lang="en-US" dirty="0" smtClean="0"/>
              <a:t>Change Experience</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Change Experience</a:t>
            </a:r>
            <a:endParaRPr lang="en-US" dirty="0"/>
          </a:p>
        </p:txBody>
      </p:sp>
      <p:sp>
        <p:nvSpPr>
          <p:cNvPr id="4" name="Content Placeholder 3"/>
          <p:cNvSpPr>
            <a:spLocks noGrp="1"/>
          </p:cNvSpPr>
          <p:nvPr>
            <p:ph idx="1"/>
          </p:nvPr>
        </p:nvSpPr>
        <p:spPr/>
        <p:txBody>
          <a:bodyPr/>
          <a:lstStyle/>
          <a:p>
            <a:r>
              <a:rPr lang="en-US" dirty="0" smtClean="0"/>
              <a:t>&lt;Add qualitative and quantitative analysis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Survey Comment Quotes</a:t>
            </a:r>
            <a:endParaRPr lang="en-US" dirty="0"/>
          </a:p>
        </p:txBody>
      </p:sp>
      <p:sp>
        <p:nvSpPr>
          <p:cNvPr id="4" name="Content Placeholder 3"/>
          <p:cNvSpPr>
            <a:spLocks noGrp="1"/>
          </p:cNvSpPr>
          <p:nvPr>
            <p:ph idx="1"/>
          </p:nvPr>
        </p:nvSpPr>
        <p:spPr/>
        <p:txBody>
          <a:bodyPr/>
          <a:lstStyle/>
          <a:p>
            <a:r>
              <a:rPr lang="en-US" dirty="0" smtClean="0"/>
              <a:t>&lt;Add survey comment quotes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Change Experience – Potential Risks</a:t>
            </a:r>
            <a:endParaRPr lang="en-US" dirty="0"/>
          </a:p>
        </p:txBody>
      </p:sp>
      <p:sp>
        <p:nvSpPr>
          <p:cNvPr id="4" name="Content Placeholder 3"/>
          <p:cNvSpPr>
            <a:spLocks noGrp="1"/>
          </p:cNvSpPr>
          <p:nvPr>
            <p:ph sz="quarter" idx="4294967295"/>
          </p:nvPr>
        </p:nvSpPr>
        <p:spPr>
          <a:xfrm>
            <a:off x="1219201" y="1577975"/>
            <a:ext cx="10133012" cy="4491038"/>
          </a:xfrm>
        </p:spPr>
        <p:txBody>
          <a:bodyPr/>
          <a:lstStyle/>
          <a:p>
            <a:pPr>
              <a:buNone/>
            </a:pPr>
            <a:r>
              <a:rPr lang="en-US" dirty="0" smtClean="0"/>
              <a:t>Risk #1</a:t>
            </a:r>
          </a:p>
          <a:p>
            <a:r>
              <a:rPr lang="en-US" dirty="0" smtClean="0"/>
              <a:t>&lt;Add diagnosis based on assessment here.&gt;</a:t>
            </a:r>
          </a:p>
          <a:p>
            <a:pPr>
              <a:buNone/>
            </a:pPr>
            <a:r>
              <a:rPr lang="en-US" dirty="0" smtClean="0"/>
              <a:t>Risk #2</a:t>
            </a:r>
          </a:p>
          <a:p>
            <a:r>
              <a:rPr lang="en-US" dirty="0" smtClean="0"/>
              <a:t>&lt;Add diagnosis based on assessment here.&gt;</a:t>
            </a:r>
          </a:p>
          <a:p>
            <a:pPr>
              <a:buNone/>
            </a:pPr>
            <a:r>
              <a:rPr lang="en-US" dirty="0" smtClean="0"/>
              <a:t>Risk #3</a:t>
            </a:r>
          </a:p>
          <a:p>
            <a:r>
              <a:rPr lang="en-US" dirty="0" smtClean="0"/>
              <a:t>&lt;Add diagnosis based on assessment here.&gt;</a:t>
            </a:r>
          </a:p>
          <a:p>
            <a:pPr>
              <a:buNone/>
            </a:pPr>
            <a:r>
              <a:rPr lang="en-US" dirty="0" smtClean="0"/>
              <a:t>Risk #4</a:t>
            </a:r>
          </a:p>
          <a:p>
            <a:r>
              <a:rPr lang="en-US" dirty="0" smtClean="0"/>
              <a:t>&lt;Add diagnosis based on assessment here.&gt;</a:t>
            </a:r>
          </a:p>
        </p:txBody>
      </p:sp>
      <p:sp>
        <p:nvSpPr>
          <p:cNvPr id="5" name="AutoShape 1028"/>
          <p:cNvSpPr>
            <a:spLocks noChangeArrowheads="1"/>
          </p:cNvSpPr>
          <p:nvPr/>
        </p:nvSpPr>
        <p:spPr bwMode="auto">
          <a:xfrm>
            <a:off x="190450" y="1652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6" name="AutoShape 1028"/>
          <p:cNvSpPr>
            <a:spLocks noChangeArrowheads="1"/>
          </p:cNvSpPr>
          <p:nvPr/>
        </p:nvSpPr>
        <p:spPr bwMode="auto">
          <a:xfrm>
            <a:off x="230354" y="2606904"/>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7" name="AutoShape 1028"/>
          <p:cNvSpPr>
            <a:spLocks noChangeArrowheads="1"/>
          </p:cNvSpPr>
          <p:nvPr/>
        </p:nvSpPr>
        <p:spPr bwMode="auto">
          <a:xfrm>
            <a:off x="241237" y="3684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8" name="AutoShape 1028"/>
          <p:cNvSpPr>
            <a:spLocks noChangeArrowheads="1"/>
          </p:cNvSpPr>
          <p:nvPr/>
        </p:nvSpPr>
        <p:spPr bwMode="auto">
          <a:xfrm>
            <a:off x="208588" y="4686075"/>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Conclusions</a:t>
            </a:r>
            <a:endParaRPr lang="en-US" dirty="0"/>
          </a:p>
        </p:txBody>
      </p:sp>
      <p:sp>
        <p:nvSpPr>
          <p:cNvPr id="6" name="Text Placeholder 5"/>
          <p:cNvSpPr>
            <a:spLocks noGrp="1"/>
          </p:cNvSpPr>
          <p:nvPr>
            <p:ph type="body" idx="1"/>
          </p:nvPr>
        </p:nvSpPr>
        <p:spPr/>
        <p:txBody>
          <a:bodyPr/>
          <a:lstStyle/>
          <a:p>
            <a:r>
              <a:rPr lang="en-US" dirty="0" smtClean="0"/>
              <a:t>Reactions to Change</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Reactions to Change</a:t>
            </a:r>
            <a:endParaRPr lang="en-US" dirty="0"/>
          </a:p>
        </p:txBody>
      </p:sp>
      <p:sp>
        <p:nvSpPr>
          <p:cNvPr id="4" name="Content Placeholder 3"/>
          <p:cNvSpPr>
            <a:spLocks noGrp="1"/>
          </p:cNvSpPr>
          <p:nvPr>
            <p:ph idx="1"/>
          </p:nvPr>
        </p:nvSpPr>
        <p:spPr/>
        <p:txBody>
          <a:bodyPr/>
          <a:lstStyle/>
          <a:p>
            <a:r>
              <a:rPr lang="en-US" dirty="0" smtClean="0"/>
              <a:t>&lt;Add qualitative and quantitative analysis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Survey Comment Quotes</a:t>
            </a:r>
            <a:endParaRPr lang="en-US" dirty="0"/>
          </a:p>
        </p:txBody>
      </p:sp>
      <p:sp>
        <p:nvSpPr>
          <p:cNvPr id="4" name="Content Placeholder 3"/>
          <p:cNvSpPr>
            <a:spLocks noGrp="1"/>
          </p:cNvSpPr>
          <p:nvPr>
            <p:ph idx="1"/>
          </p:nvPr>
        </p:nvSpPr>
        <p:spPr/>
        <p:txBody>
          <a:bodyPr/>
          <a:lstStyle/>
          <a:p>
            <a:r>
              <a:rPr lang="en-US" dirty="0" smtClean="0"/>
              <a:t>&lt;Add survey comment quotes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Reactions to Change – Potential Risks</a:t>
            </a:r>
            <a:endParaRPr lang="en-US" dirty="0"/>
          </a:p>
        </p:txBody>
      </p:sp>
      <p:sp>
        <p:nvSpPr>
          <p:cNvPr id="4" name="Content Placeholder 3"/>
          <p:cNvSpPr>
            <a:spLocks noGrp="1"/>
          </p:cNvSpPr>
          <p:nvPr>
            <p:ph sz="quarter" idx="4294967295"/>
          </p:nvPr>
        </p:nvSpPr>
        <p:spPr>
          <a:xfrm>
            <a:off x="1219201" y="1577975"/>
            <a:ext cx="10056812" cy="4491038"/>
          </a:xfrm>
        </p:spPr>
        <p:txBody>
          <a:bodyPr/>
          <a:lstStyle/>
          <a:p>
            <a:pPr>
              <a:buNone/>
            </a:pPr>
            <a:r>
              <a:rPr lang="en-US" dirty="0" smtClean="0"/>
              <a:t>Risk #1</a:t>
            </a:r>
          </a:p>
          <a:p>
            <a:r>
              <a:rPr lang="en-US" dirty="0" smtClean="0"/>
              <a:t>&lt;Add diagnosis based on assessment here.&gt;</a:t>
            </a:r>
          </a:p>
          <a:p>
            <a:pPr>
              <a:buNone/>
            </a:pPr>
            <a:r>
              <a:rPr lang="en-US" dirty="0" smtClean="0"/>
              <a:t>Risk #2</a:t>
            </a:r>
          </a:p>
          <a:p>
            <a:r>
              <a:rPr lang="en-US" dirty="0" smtClean="0"/>
              <a:t>&lt;Add diagnosis based on assessment here.&gt;</a:t>
            </a:r>
          </a:p>
          <a:p>
            <a:pPr>
              <a:buNone/>
            </a:pPr>
            <a:r>
              <a:rPr lang="en-US" dirty="0" smtClean="0"/>
              <a:t>Risk #3</a:t>
            </a:r>
          </a:p>
          <a:p>
            <a:r>
              <a:rPr lang="en-US" dirty="0" smtClean="0"/>
              <a:t>&lt;Add diagnosis based on assessment here.&gt;</a:t>
            </a:r>
          </a:p>
          <a:p>
            <a:pPr>
              <a:buNone/>
            </a:pPr>
            <a:r>
              <a:rPr lang="en-US" dirty="0" smtClean="0"/>
              <a:t>Risk #4</a:t>
            </a:r>
          </a:p>
          <a:p>
            <a:r>
              <a:rPr lang="en-US" dirty="0" smtClean="0"/>
              <a:t>&lt;Add diagnosis based on assessment here.&gt;</a:t>
            </a:r>
          </a:p>
        </p:txBody>
      </p:sp>
      <p:sp>
        <p:nvSpPr>
          <p:cNvPr id="5" name="AutoShape 1028"/>
          <p:cNvSpPr>
            <a:spLocks noChangeArrowheads="1"/>
          </p:cNvSpPr>
          <p:nvPr/>
        </p:nvSpPr>
        <p:spPr bwMode="auto">
          <a:xfrm>
            <a:off x="190450" y="1652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6" name="AutoShape 1028"/>
          <p:cNvSpPr>
            <a:spLocks noChangeArrowheads="1"/>
          </p:cNvSpPr>
          <p:nvPr/>
        </p:nvSpPr>
        <p:spPr bwMode="auto">
          <a:xfrm>
            <a:off x="230354" y="2606904"/>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7" name="AutoShape 1028"/>
          <p:cNvSpPr>
            <a:spLocks noChangeArrowheads="1"/>
          </p:cNvSpPr>
          <p:nvPr/>
        </p:nvSpPr>
        <p:spPr bwMode="auto">
          <a:xfrm>
            <a:off x="241237" y="3684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8" name="AutoShape 1028"/>
          <p:cNvSpPr>
            <a:spLocks noChangeArrowheads="1"/>
          </p:cNvSpPr>
          <p:nvPr/>
        </p:nvSpPr>
        <p:spPr bwMode="auto">
          <a:xfrm>
            <a:off x="208588" y="4686075"/>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Conclusions</a:t>
            </a:r>
            <a:endParaRPr lang="en-US" dirty="0"/>
          </a:p>
        </p:txBody>
      </p:sp>
      <p:sp>
        <p:nvSpPr>
          <p:cNvPr id="6" name="Text Placeholder 5"/>
          <p:cNvSpPr>
            <a:spLocks noGrp="1"/>
          </p:cNvSpPr>
          <p:nvPr>
            <p:ph type="body" idx="1"/>
          </p:nvPr>
        </p:nvSpPr>
        <p:spPr/>
        <p:txBody>
          <a:bodyPr/>
          <a:lstStyle/>
          <a:p>
            <a:r>
              <a:rPr lang="en-US" dirty="0" smtClean="0"/>
              <a:t>Work and Environment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Work and Environment</a:t>
            </a:r>
            <a:endParaRPr lang="en-US" dirty="0"/>
          </a:p>
        </p:txBody>
      </p:sp>
      <p:sp>
        <p:nvSpPr>
          <p:cNvPr id="4" name="Content Placeholder 3"/>
          <p:cNvSpPr>
            <a:spLocks noGrp="1"/>
          </p:cNvSpPr>
          <p:nvPr>
            <p:ph idx="1"/>
          </p:nvPr>
        </p:nvSpPr>
        <p:spPr/>
        <p:txBody>
          <a:bodyPr/>
          <a:lstStyle/>
          <a:p>
            <a:r>
              <a:rPr lang="en-US" dirty="0" smtClean="0"/>
              <a:t>&lt;Add qualitative and quantitative analysis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Survey Comment Quotes</a:t>
            </a:r>
            <a:endParaRPr lang="en-US" dirty="0"/>
          </a:p>
        </p:txBody>
      </p:sp>
      <p:sp>
        <p:nvSpPr>
          <p:cNvPr id="4" name="Content Placeholder 3"/>
          <p:cNvSpPr>
            <a:spLocks noGrp="1"/>
          </p:cNvSpPr>
          <p:nvPr>
            <p:ph idx="1"/>
          </p:nvPr>
        </p:nvSpPr>
        <p:spPr/>
        <p:txBody>
          <a:bodyPr/>
          <a:lstStyle/>
          <a:p>
            <a:r>
              <a:rPr lang="en-US" dirty="0" smtClean="0"/>
              <a:t>&lt;Add survey comment quotes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Work and Environment – Potential Risks</a:t>
            </a:r>
            <a:endParaRPr lang="en-US" dirty="0"/>
          </a:p>
        </p:txBody>
      </p:sp>
      <p:sp>
        <p:nvSpPr>
          <p:cNvPr id="4" name="Content Placeholder 3"/>
          <p:cNvSpPr>
            <a:spLocks noGrp="1"/>
          </p:cNvSpPr>
          <p:nvPr>
            <p:ph sz="quarter" idx="4294967295"/>
          </p:nvPr>
        </p:nvSpPr>
        <p:spPr>
          <a:xfrm>
            <a:off x="1219201" y="1577975"/>
            <a:ext cx="10209212" cy="4491038"/>
          </a:xfrm>
        </p:spPr>
        <p:txBody>
          <a:bodyPr/>
          <a:lstStyle/>
          <a:p>
            <a:pPr>
              <a:buNone/>
            </a:pPr>
            <a:r>
              <a:rPr lang="en-US" dirty="0" smtClean="0"/>
              <a:t>Risk #1</a:t>
            </a:r>
          </a:p>
          <a:p>
            <a:r>
              <a:rPr lang="en-US" dirty="0" smtClean="0"/>
              <a:t>&lt;Add diagnosis based on assessment here.&gt;</a:t>
            </a:r>
          </a:p>
          <a:p>
            <a:pPr>
              <a:buNone/>
            </a:pPr>
            <a:r>
              <a:rPr lang="en-US" dirty="0" smtClean="0"/>
              <a:t>Risk #2</a:t>
            </a:r>
          </a:p>
          <a:p>
            <a:r>
              <a:rPr lang="en-US" dirty="0" smtClean="0"/>
              <a:t>&lt;Add diagnosis based on assessment here.&gt;</a:t>
            </a:r>
          </a:p>
          <a:p>
            <a:pPr>
              <a:buNone/>
            </a:pPr>
            <a:r>
              <a:rPr lang="en-US" dirty="0" smtClean="0"/>
              <a:t>Risk #3</a:t>
            </a:r>
          </a:p>
          <a:p>
            <a:r>
              <a:rPr lang="en-US" dirty="0" smtClean="0"/>
              <a:t>&lt;Add diagnosis based on assessment here.&gt;</a:t>
            </a:r>
          </a:p>
          <a:p>
            <a:pPr>
              <a:buNone/>
            </a:pPr>
            <a:r>
              <a:rPr lang="en-US" dirty="0" smtClean="0"/>
              <a:t>Risk #4</a:t>
            </a:r>
          </a:p>
          <a:p>
            <a:r>
              <a:rPr lang="en-US" dirty="0" smtClean="0"/>
              <a:t>&lt;Add diagnosis based on assessment here.&gt;</a:t>
            </a:r>
          </a:p>
        </p:txBody>
      </p:sp>
      <p:sp>
        <p:nvSpPr>
          <p:cNvPr id="5" name="AutoShape 1028"/>
          <p:cNvSpPr>
            <a:spLocks noChangeArrowheads="1"/>
          </p:cNvSpPr>
          <p:nvPr/>
        </p:nvSpPr>
        <p:spPr bwMode="auto">
          <a:xfrm>
            <a:off x="190450" y="1652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6" name="AutoShape 1028"/>
          <p:cNvSpPr>
            <a:spLocks noChangeArrowheads="1"/>
          </p:cNvSpPr>
          <p:nvPr/>
        </p:nvSpPr>
        <p:spPr bwMode="auto">
          <a:xfrm>
            <a:off x="230354" y="2606904"/>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7" name="AutoShape 1028"/>
          <p:cNvSpPr>
            <a:spLocks noChangeArrowheads="1"/>
          </p:cNvSpPr>
          <p:nvPr/>
        </p:nvSpPr>
        <p:spPr bwMode="auto">
          <a:xfrm>
            <a:off x="241237" y="3684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8" name="AutoShape 1028"/>
          <p:cNvSpPr>
            <a:spLocks noChangeArrowheads="1"/>
          </p:cNvSpPr>
          <p:nvPr/>
        </p:nvSpPr>
        <p:spPr bwMode="auto">
          <a:xfrm>
            <a:off x="208588" y="4686075"/>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Conclusions</a:t>
            </a:r>
            <a:endParaRPr lang="en-US" dirty="0"/>
          </a:p>
        </p:txBody>
      </p:sp>
      <p:sp>
        <p:nvSpPr>
          <p:cNvPr id="6" name="Text Placeholder 5"/>
          <p:cNvSpPr>
            <a:spLocks noGrp="1"/>
          </p:cNvSpPr>
          <p:nvPr>
            <p:ph type="body" idx="1"/>
          </p:nvPr>
        </p:nvSpPr>
        <p:spPr/>
        <p:txBody>
          <a:bodyPr/>
          <a:lstStyle/>
          <a:p>
            <a:r>
              <a:rPr lang="en-US" dirty="0" smtClean="0"/>
              <a:t>Communication</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Communication</a:t>
            </a:r>
            <a:endParaRPr lang="en-US" dirty="0"/>
          </a:p>
        </p:txBody>
      </p:sp>
      <p:sp>
        <p:nvSpPr>
          <p:cNvPr id="4" name="Content Placeholder 3"/>
          <p:cNvSpPr>
            <a:spLocks noGrp="1"/>
          </p:cNvSpPr>
          <p:nvPr>
            <p:ph idx="1"/>
          </p:nvPr>
        </p:nvSpPr>
        <p:spPr/>
        <p:txBody>
          <a:bodyPr/>
          <a:lstStyle/>
          <a:p>
            <a:r>
              <a:rPr lang="en-US" dirty="0" smtClean="0"/>
              <a:t>&lt;Add qualitative and quantitative analysis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Survey Comment Quotes</a:t>
            </a:r>
            <a:endParaRPr lang="en-US" dirty="0"/>
          </a:p>
        </p:txBody>
      </p:sp>
      <p:sp>
        <p:nvSpPr>
          <p:cNvPr id="4" name="Content Placeholder 3"/>
          <p:cNvSpPr>
            <a:spLocks noGrp="1"/>
          </p:cNvSpPr>
          <p:nvPr>
            <p:ph idx="1"/>
          </p:nvPr>
        </p:nvSpPr>
        <p:spPr/>
        <p:txBody>
          <a:bodyPr/>
          <a:lstStyle/>
          <a:p>
            <a:r>
              <a:rPr lang="en-US" dirty="0" smtClean="0"/>
              <a:t>&lt;Add survey comment quotes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Communication – Potential Risks</a:t>
            </a:r>
            <a:endParaRPr lang="en-US" dirty="0"/>
          </a:p>
        </p:txBody>
      </p:sp>
      <p:sp>
        <p:nvSpPr>
          <p:cNvPr id="4" name="Content Placeholder 3"/>
          <p:cNvSpPr>
            <a:spLocks noGrp="1"/>
          </p:cNvSpPr>
          <p:nvPr>
            <p:ph sz="quarter" idx="4294967295"/>
          </p:nvPr>
        </p:nvSpPr>
        <p:spPr>
          <a:xfrm>
            <a:off x="1219201" y="1577975"/>
            <a:ext cx="9904412" cy="4491038"/>
          </a:xfrm>
        </p:spPr>
        <p:txBody>
          <a:bodyPr/>
          <a:lstStyle/>
          <a:p>
            <a:pPr>
              <a:buNone/>
            </a:pPr>
            <a:r>
              <a:rPr lang="en-US" dirty="0" smtClean="0"/>
              <a:t>Risk #1</a:t>
            </a:r>
          </a:p>
          <a:p>
            <a:r>
              <a:rPr lang="en-US" dirty="0" smtClean="0"/>
              <a:t>&lt;Add diagnosis based on assessment here.&gt;</a:t>
            </a:r>
          </a:p>
          <a:p>
            <a:pPr>
              <a:buNone/>
            </a:pPr>
            <a:r>
              <a:rPr lang="en-US" dirty="0" smtClean="0"/>
              <a:t>Risk #2</a:t>
            </a:r>
          </a:p>
          <a:p>
            <a:r>
              <a:rPr lang="en-US" dirty="0" smtClean="0"/>
              <a:t>&lt;Add diagnosis based on assessment here.&gt;</a:t>
            </a:r>
          </a:p>
          <a:p>
            <a:pPr>
              <a:buNone/>
            </a:pPr>
            <a:r>
              <a:rPr lang="en-US" dirty="0" smtClean="0"/>
              <a:t>Risk #3</a:t>
            </a:r>
          </a:p>
          <a:p>
            <a:r>
              <a:rPr lang="en-US" dirty="0" smtClean="0"/>
              <a:t>&lt;Add diagnosis based on assessment here.&gt;</a:t>
            </a:r>
          </a:p>
          <a:p>
            <a:pPr>
              <a:buNone/>
            </a:pPr>
            <a:r>
              <a:rPr lang="en-US" dirty="0" smtClean="0"/>
              <a:t>Risk #4</a:t>
            </a:r>
          </a:p>
          <a:p>
            <a:r>
              <a:rPr lang="en-US" dirty="0" smtClean="0"/>
              <a:t>&lt;Add diagnosis based on assessment here.&gt;</a:t>
            </a:r>
          </a:p>
        </p:txBody>
      </p:sp>
      <p:sp>
        <p:nvSpPr>
          <p:cNvPr id="5" name="AutoShape 1028"/>
          <p:cNvSpPr>
            <a:spLocks noChangeArrowheads="1"/>
          </p:cNvSpPr>
          <p:nvPr/>
        </p:nvSpPr>
        <p:spPr bwMode="auto">
          <a:xfrm>
            <a:off x="190450" y="1652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6" name="AutoShape 1028"/>
          <p:cNvSpPr>
            <a:spLocks noChangeArrowheads="1"/>
          </p:cNvSpPr>
          <p:nvPr/>
        </p:nvSpPr>
        <p:spPr bwMode="auto">
          <a:xfrm>
            <a:off x="230354" y="2606904"/>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7" name="AutoShape 1028"/>
          <p:cNvSpPr>
            <a:spLocks noChangeArrowheads="1"/>
          </p:cNvSpPr>
          <p:nvPr/>
        </p:nvSpPr>
        <p:spPr bwMode="auto">
          <a:xfrm>
            <a:off x="241237" y="3684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8" name="AutoShape 1028"/>
          <p:cNvSpPr>
            <a:spLocks noChangeArrowheads="1"/>
          </p:cNvSpPr>
          <p:nvPr/>
        </p:nvSpPr>
        <p:spPr bwMode="auto">
          <a:xfrm>
            <a:off x="208588" y="4686075"/>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Conclusions</a:t>
            </a:r>
            <a:endParaRPr lang="en-US" dirty="0"/>
          </a:p>
        </p:txBody>
      </p:sp>
      <p:sp>
        <p:nvSpPr>
          <p:cNvPr id="6" name="Text Placeholder 5"/>
          <p:cNvSpPr>
            <a:spLocks noGrp="1"/>
          </p:cNvSpPr>
          <p:nvPr>
            <p:ph type="body" idx="1"/>
          </p:nvPr>
        </p:nvSpPr>
        <p:spPr/>
        <p:txBody>
          <a:bodyPr/>
          <a:lstStyle/>
          <a:p>
            <a:r>
              <a:rPr lang="en-US" dirty="0" smtClean="0"/>
              <a:t>Training</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Training</a:t>
            </a:r>
            <a:endParaRPr lang="en-US" dirty="0"/>
          </a:p>
        </p:txBody>
      </p:sp>
      <p:sp>
        <p:nvSpPr>
          <p:cNvPr id="4" name="Content Placeholder 3"/>
          <p:cNvSpPr>
            <a:spLocks noGrp="1"/>
          </p:cNvSpPr>
          <p:nvPr>
            <p:ph idx="1"/>
          </p:nvPr>
        </p:nvSpPr>
        <p:spPr/>
        <p:txBody>
          <a:bodyPr/>
          <a:lstStyle/>
          <a:p>
            <a:r>
              <a:rPr lang="en-US" dirty="0" smtClean="0"/>
              <a:t>&lt;Add qualitative and quantitative analysis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Survey Comment Quotes</a:t>
            </a:r>
            <a:endParaRPr lang="en-US" dirty="0"/>
          </a:p>
        </p:txBody>
      </p:sp>
      <p:sp>
        <p:nvSpPr>
          <p:cNvPr id="4" name="Content Placeholder 3"/>
          <p:cNvSpPr>
            <a:spLocks noGrp="1"/>
          </p:cNvSpPr>
          <p:nvPr>
            <p:ph idx="1"/>
          </p:nvPr>
        </p:nvSpPr>
        <p:spPr/>
        <p:txBody>
          <a:bodyPr/>
          <a:lstStyle/>
          <a:p>
            <a:r>
              <a:rPr lang="en-US" dirty="0" smtClean="0"/>
              <a:t>&lt;Add survey comment quotes for this assessment topic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Training – Potential Risks</a:t>
            </a:r>
            <a:endParaRPr lang="en-US" dirty="0"/>
          </a:p>
        </p:txBody>
      </p:sp>
      <p:sp>
        <p:nvSpPr>
          <p:cNvPr id="4" name="Content Placeholder 3"/>
          <p:cNvSpPr>
            <a:spLocks noGrp="1"/>
          </p:cNvSpPr>
          <p:nvPr>
            <p:ph sz="quarter" idx="4294967295"/>
          </p:nvPr>
        </p:nvSpPr>
        <p:spPr>
          <a:xfrm>
            <a:off x="1219201" y="1577975"/>
            <a:ext cx="9904412" cy="4491038"/>
          </a:xfrm>
        </p:spPr>
        <p:txBody>
          <a:bodyPr/>
          <a:lstStyle/>
          <a:p>
            <a:pPr>
              <a:buNone/>
            </a:pPr>
            <a:r>
              <a:rPr lang="en-US" dirty="0" smtClean="0"/>
              <a:t>Risk #1</a:t>
            </a:r>
          </a:p>
          <a:p>
            <a:r>
              <a:rPr lang="en-US" dirty="0" smtClean="0"/>
              <a:t>&lt;Add diagnosis based on assessment here.&gt;</a:t>
            </a:r>
          </a:p>
          <a:p>
            <a:pPr>
              <a:buNone/>
            </a:pPr>
            <a:r>
              <a:rPr lang="en-US" dirty="0" smtClean="0"/>
              <a:t>Risk #2</a:t>
            </a:r>
          </a:p>
          <a:p>
            <a:r>
              <a:rPr lang="en-US" dirty="0" smtClean="0"/>
              <a:t>&lt;Add diagnosis based on assessment here.&gt;</a:t>
            </a:r>
          </a:p>
          <a:p>
            <a:pPr>
              <a:buNone/>
            </a:pPr>
            <a:r>
              <a:rPr lang="en-US" dirty="0" smtClean="0"/>
              <a:t>Risk #3</a:t>
            </a:r>
          </a:p>
          <a:p>
            <a:r>
              <a:rPr lang="en-US" dirty="0" smtClean="0"/>
              <a:t>&lt;Add diagnosis based on assessment here.&gt;</a:t>
            </a:r>
          </a:p>
          <a:p>
            <a:pPr>
              <a:buNone/>
            </a:pPr>
            <a:r>
              <a:rPr lang="en-US" dirty="0" smtClean="0"/>
              <a:t>Risk #4</a:t>
            </a:r>
          </a:p>
          <a:p>
            <a:r>
              <a:rPr lang="en-US" dirty="0" smtClean="0"/>
              <a:t>&lt;Add diagnosis based on assessment here.&gt;</a:t>
            </a:r>
          </a:p>
        </p:txBody>
      </p:sp>
      <p:sp>
        <p:nvSpPr>
          <p:cNvPr id="5" name="AutoShape 1028"/>
          <p:cNvSpPr>
            <a:spLocks noChangeArrowheads="1"/>
          </p:cNvSpPr>
          <p:nvPr/>
        </p:nvSpPr>
        <p:spPr bwMode="auto">
          <a:xfrm>
            <a:off x="190450" y="1652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6" name="AutoShape 1028"/>
          <p:cNvSpPr>
            <a:spLocks noChangeArrowheads="1"/>
          </p:cNvSpPr>
          <p:nvPr/>
        </p:nvSpPr>
        <p:spPr bwMode="auto">
          <a:xfrm>
            <a:off x="230354" y="2606904"/>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7" name="AutoShape 1028"/>
          <p:cNvSpPr>
            <a:spLocks noChangeArrowheads="1"/>
          </p:cNvSpPr>
          <p:nvPr/>
        </p:nvSpPr>
        <p:spPr bwMode="auto">
          <a:xfrm>
            <a:off x="241237" y="3684589"/>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
        <p:nvSpPr>
          <p:cNvPr id="8" name="AutoShape 1028"/>
          <p:cNvSpPr>
            <a:spLocks noChangeArrowheads="1"/>
          </p:cNvSpPr>
          <p:nvPr/>
        </p:nvSpPr>
        <p:spPr bwMode="auto">
          <a:xfrm>
            <a:off x="208588" y="4686075"/>
            <a:ext cx="933208" cy="306387"/>
          </a:xfrm>
          <a:prstGeom prst="rightArrow">
            <a:avLst>
              <a:gd name="adj1" fmla="val 56472"/>
              <a:gd name="adj2" fmla="val 69427"/>
            </a:avLst>
          </a:prstGeom>
          <a:solidFill>
            <a:schemeClr val="accent1"/>
          </a:solidFill>
          <a:ln w="9525" algn="ctr">
            <a:noFill/>
            <a:miter lim="800000"/>
            <a:headEnd/>
            <a:tailEnd/>
          </a:ln>
        </p:spPr>
        <p:txBody>
          <a:bodyPr wrap="none" lIns="0" tIns="0" rIns="0" bIns="0" anchor="ct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Summary</a:t>
            </a:r>
            <a:endParaRPr lang="en-US" dirty="0"/>
          </a:p>
        </p:txBody>
      </p:sp>
      <p:sp>
        <p:nvSpPr>
          <p:cNvPr id="4" name="Content Placeholder 3"/>
          <p:cNvSpPr>
            <a:spLocks noGrp="1"/>
          </p:cNvSpPr>
          <p:nvPr>
            <p:ph idx="1"/>
          </p:nvPr>
        </p:nvSpPr>
        <p:spPr/>
        <p:txBody>
          <a:bodyPr/>
          <a:lstStyle/>
          <a:p>
            <a:r>
              <a:rPr lang="en-US" dirty="0" smtClean="0"/>
              <a:t>&lt;Add summary conclusions derived from the assessment here.&gt;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Recommendations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dirty="0" smtClean="0">
                <a:cs typeface="Times New Roman" charset="0"/>
              </a:rPr>
              <a:t>Recommendations:  Change Management Program</a:t>
            </a:r>
          </a:p>
        </p:txBody>
      </p:sp>
      <p:sp>
        <p:nvSpPr>
          <p:cNvPr id="43011" name="Rectangle 3"/>
          <p:cNvSpPr>
            <a:spLocks noGrp="1" noChangeArrowheads="1"/>
          </p:cNvSpPr>
          <p:nvPr>
            <p:ph idx="1"/>
          </p:nvPr>
        </p:nvSpPr>
        <p:spPr/>
        <p:txBody>
          <a:bodyPr/>
          <a:lstStyle/>
          <a:p>
            <a:pPr marL="457120" indent="-457120"/>
            <a:r>
              <a:rPr lang="en-GB" sz="2700" dirty="0" smtClean="0"/>
              <a:t>&lt;Add Change Management Program recommendations here.&gt;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dirty="0" smtClean="0"/>
              <a:t>Recommendations:  Change Management Roadmap</a:t>
            </a:r>
          </a:p>
        </p:txBody>
      </p:sp>
      <p:sp>
        <p:nvSpPr>
          <p:cNvPr id="44035" name="Rectangle 3"/>
          <p:cNvSpPr>
            <a:spLocks noGrp="1" noChangeArrowheads="1"/>
          </p:cNvSpPr>
          <p:nvPr>
            <p:ph idx="1"/>
          </p:nvPr>
        </p:nvSpPr>
        <p:spPr/>
        <p:txBody>
          <a:bodyPr/>
          <a:lstStyle/>
          <a:p>
            <a:pPr marL="457120" indent="-457120"/>
            <a:r>
              <a:rPr lang="en-GB" sz="2700" dirty="0" smtClean="0"/>
              <a:t>&lt;Add Change Management Roadmap </a:t>
            </a:r>
            <a:r>
              <a:rPr lang="en-GB" dirty="0" smtClean="0"/>
              <a:t>r</a:t>
            </a:r>
            <a:r>
              <a:rPr lang="en-GB" sz="2700" dirty="0" smtClean="0"/>
              <a:t>ecommendations here.&gt;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dirty="0" smtClean="0"/>
              <a:t>Recommendations:  Communication Campaign</a:t>
            </a:r>
          </a:p>
        </p:txBody>
      </p:sp>
      <p:sp>
        <p:nvSpPr>
          <p:cNvPr id="45059" name="Rectangle 3"/>
          <p:cNvSpPr>
            <a:spLocks noGrp="1" noChangeArrowheads="1"/>
          </p:cNvSpPr>
          <p:nvPr>
            <p:ph idx="1"/>
          </p:nvPr>
        </p:nvSpPr>
        <p:spPr/>
        <p:txBody>
          <a:bodyPr/>
          <a:lstStyle/>
          <a:p>
            <a:pPr marL="457120" indent="-457120"/>
            <a:r>
              <a:rPr lang="en-GB" sz="2700" dirty="0" smtClean="0"/>
              <a:t>&lt;Add Communication Campaign recommendations here.&gt;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dirty="0" smtClean="0"/>
              <a:t>Recommendations:  Training</a:t>
            </a:r>
          </a:p>
        </p:txBody>
      </p:sp>
      <p:sp>
        <p:nvSpPr>
          <p:cNvPr id="46083" name="Rectangle 3"/>
          <p:cNvSpPr>
            <a:spLocks noGrp="1" noChangeArrowheads="1"/>
          </p:cNvSpPr>
          <p:nvPr>
            <p:ph idx="1"/>
          </p:nvPr>
        </p:nvSpPr>
        <p:spPr/>
        <p:txBody>
          <a:bodyPr/>
          <a:lstStyle/>
          <a:p>
            <a:pPr marL="457120" indent="-457120"/>
            <a:r>
              <a:rPr lang="en-GB" sz="2700" dirty="0" smtClean="0"/>
              <a:t>&lt;Add Training recommendations </a:t>
            </a:r>
            <a:r>
              <a:rPr lang="en-GB" dirty="0" smtClean="0"/>
              <a:t>h</a:t>
            </a:r>
            <a:r>
              <a:rPr lang="en-GB" sz="2700" dirty="0" smtClean="0"/>
              <a:t>ere.&gt;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graphicFrame>
        <p:nvGraphicFramePr>
          <p:cNvPr id="6" name="Group 44"/>
          <p:cNvGraphicFramePr>
            <a:graphicFrameLocks/>
          </p:cNvGraphicFramePr>
          <p:nvPr/>
        </p:nvGraphicFramePr>
        <p:xfrm>
          <a:off x="1674812" y="2057400"/>
          <a:ext cx="8781147" cy="2656374"/>
        </p:xfrm>
        <a:graphic>
          <a:graphicData uri="http://schemas.openxmlformats.org/drawingml/2006/table">
            <a:tbl>
              <a:tblPr/>
              <a:tblGrid>
                <a:gridCol w="7794175"/>
                <a:gridCol w="986972"/>
              </a:tblGrid>
              <a:tr h="268604">
                <a:tc>
                  <a:txBody>
                    <a:bodyPr/>
                    <a:lstStyle/>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pPr>
                      <a:r>
                        <a:rPr kumimoji="0" lang="en-GB" sz="1300" b="1" i="0" u="none" strike="noStrike" cap="none" normalizeH="0" baseline="0" dirty="0" smtClean="0">
                          <a:ln>
                            <a:noFill/>
                          </a:ln>
                          <a:solidFill>
                            <a:schemeClr val="tx1"/>
                          </a:solidFill>
                          <a:effectLst/>
                          <a:latin typeface="+mn-lt"/>
                        </a:rPr>
                        <a:t>Challenges</a:t>
                      </a: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pPr>
                      <a:r>
                        <a:rPr kumimoji="0" lang="en-GB" sz="1300" b="1" i="0" u="none" strike="noStrike" cap="none" normalizeH="0" baseline="0" dirty="0" smtClean="0">
                          <a:ln>
                            <a:noFill/>
                          </a:ln>
                          <a:solidFill>
                            <a:schemeClr val="tx1"/>
                          </a:solidFill>
                          <a:effectLst/>
                          <a:latin typeface="+mn-lt"/>
                        </a:rPr>
                        <a:t>Value</a:t>
                      </a: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40000"/>
                        <a:lumOff val="60000"/>
                      </a:schemeClr>
                    </a:solidFill>
                  </a:tcPr>
                </a:tc>
              </a:tr>
              <a:tr h="476792">
                <a:tc>
                  <a:txBody>
                    <a:bodyPr/>
                    <a:lstStyle/>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defRPr/>
                      </a:pPr>
                      <a:r>
                        <a:rPr kumimoji="0" lang="en-US" sz="1100" b="1" i="0" u="none" strike="noStrike" cap="none" normalizeH="0" baseline="0" dirty="0" smtClean="0">
                          <a:ln>
                            <a:noFill/>
                          </a:ln>
                          <a:solidFill>
                            <a:schemeClr val="tx1"/>
                          </a:solidFill>
                          <a:effectLst/>
                          <a:latin typeface="Arial" charset="0"/>
                        </a:rPr>
                        <a:t>Identify and prioritize key project challenges identified via the assessment in this table.</a:t>
                      </a:r>
                    </a:p>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pPr>
                      <a:endParaRPr kumimoji="0" lang="en-GB" sz="1000" b="1" i="0" u="none" strike="noStrike" cap="none" normalizeH="0" baseline="0" dirty="0" smtClean="0">
                        <a:ln>
                          <a:noFill/>
                        </a:ln>
                        <a:solidFill>
                          <a:schemeClr val="tx1"/>
                        </a:solidFill>
                        <a:effectLst/>
                        <a:latin typeface="+mn-lt"/>
                      </a:endParaRP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63600" rtl="0" eaLnBrk="1" fontAlgn="base" latinLnBrk="0" hangingPunct="1">
                        <a:lnSpc>
                          <a:spcPct val="100000"/>
                        </a:lnSpc>
                        <a:spcBef>
                          <a:spcPct val="20000"/>
                        </a:spcBef>
                        <a:spcAft>
                          <a:spcPct val="0"/>
                        </a:spcAft>
                        <a:buClrTx/>
                        <a:buSzPct val="80000"/>
                        <a:buFont typeface="Webdings" pitchFamily="18" charset="2"/>
                        <a:buNone/>
                        <a:tabLst/>
                      </a:pPr>
                      <a:r>
                        <a:rPr kumimoji="0" lang="en-GB" sz="1800" b="0" i="0" u="none" strike="noStrike" cap="none" normalizeH="0" baseline="0" dirty="0" smtClean="0">
                          <a:ln>
                            <a:noFill/>
                          </a:ln>
                          <a:solidFill>
                            <a:schemeClr val="tx1"/>
                          </a:solidFill>
                          <a:effectLst/>
                          <a:latin typeface="+mn-lt"/>
                        </a:rPr>
                        <a:t>1</a:t>
                      </a: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40000"/>
                        <a:lumOff val="60000"/>
                      </a:schemeClr>
                    </a:solidFill>
                  </a:tcPr>
                </a:tc>
              </a:tr>
              <a:tr h="476792">
                <a:tc>
                  <a:txBody>
                    <a:bodyPr/>
                    <a:lstStyle/>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pPr>
                      <a:endParaRPr kumimoji="0" lang="en-GB" sz="1000" b="1" i="0" u="none" strike="noStrike" cap="none" normalizeH="0" baseline="0" dirty="0" smtClean="0">
                        <a:ln>
                          <a:noFill/>
                        </a:ln>
                        <a:solidFill>
                          <a:schemeClr val="tx1"/>
                        </a:solidFill>
                        <a:effectLst/>
                        <a:latin typeface="+mn-lt"/>
                      </a:endParaRP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63600" rtl="0" eaLnBrk="1" fontAlgn="base" latinLnBrk="0" hangingPunct="1">
                        <a:lnSpc>
                          <a:spcPct val="100000"/>
                        </a:lnSpc>
                        <a:spcBef>
                          <a:spcPct val="20000"/>
                        </a:spcBef>
                        <a:spcAft>
                          <a:spcPct val="0"/>
                        </a:spcAft>
                        <a:buClrTx/>
                        <a:buSzPct val="80000"/>
                        <a:buFont typeface="Webdings" pitchFamily="18" charset="2"/>
                        <a:buNone/>
                        <a:tabLst/>
                      </a:pPr>
                      <a:r>
                        <a:rPr kumimoji="0" lang="en-GB" sz="1800" b="0" i="0" u="none" strike="noStrike" cap="none" normalizeH="0" baseline="0" dirty="0" smtClean="0">
                          <a:ln>
                            <a:noFill/>
                          </a:ln>
                          <a:solidFill>
                            <a:schemeClr val="tx1"/>
                          </a:solidFill>
                          <a:effectLst/>
                          <a:latin typeface="+mn-lt"/>
                        </a:rPr>
                        <a:t>2</a:t>
                      </a: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40000"/>
                        <a:lumOff val="60000"/>
                      </a:schemeClr>
                    </a:solidFill>
                  </a:tcPr>
                </a:tc>
              </a:tr>
              <a:tr h="476792">
                <a:tc>
                  <a:txBody>
                    <a:bodyPr/>
                    <a:lstStyle/>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pPr>
                      <a:endParaRPr kumimoji="0" lang="en-GB" sz="1000" b="1" i="0" u="none" strike="noStrike" cap="none" normalizeH="0" baseline="0" dirty="0" smtClean="0">
                        <a:ln>
                          <a:noFill/>
                        </a:ln>
                        <a:solidFill>
                          <a:schemeClr val="tx1"/>
                        </a:solidFill>
                        <a:effectLst/>
                        <a:latin typeface="+mn-lt"/>
                      </a:endParaRP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63600" rtl="0" eaLnBrk="1" fontAlgn="base" latinLnBrk="0" hangingPunct="1">
                        <a:lnSpc>
                          <a:spcPct val="100000"/>
                        </a:lnSpc>
                        <a:spcBef>
                          <a:spcPct val="20000"/>
                        </a:spcBef>
                        <a:spcAft>
                          <a:spcPct val="0"/>
                        </a:spcAft>
                        <a:buClrTx/>
                        <a:buSzPct val="80000"/>
                        <a:buFont typeface="Webdings" pitchFamily="18" charset="2"/>
                        <a:buNone/>
                        <a:tabLst/>
                      </a:pPr>
                      <a:r>
                        <a:rPr kumimoji="0" lang="en-GB" sz="1800" b="0" i="0" u="none" strike="noStrike" cap="none" normalizeH="0" baseline="0" dirty="0" smtClean="0">
                          <a:ln>
                            <a:noFill/>
                          </a:ln>
                          <a:solidFill>
                            <a:schemeClr val="tx1"/>
                          </a:solidFill>
                          <a:effectLst/>
                          <a:latin typeface="+mn-lt"/>
                        </a:rPr>
                        <a:t>3</a:t>
                      </a: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40000"/>
                        <a:lumOff val="60000"/>
                      </a:schemeClr>
                    </a:solidFill>
                  </a:tcPr>
                </a:tc>
              </a:tr>
              <a:tr h="476792">
                <a:tc>
                  <a:txBody>
                    <a:bodyPr/>
                    <a:lstStyle/>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pPr>
                      <a:endParaRPr kumimoji="0" lang="en-GB" sz="1000" b="1" i="0" u="none" strike="noStrike" cap="none" normalizeH="0" baseline="0" dirty="0" smtClean="0">
                        <a:ln>
                          <a:noFill/>
                        </a:ln>
                        <a:solidFill>
                          <a:schemeClr val="tx1"/>
                        </a:solidFill>
                        <a:effectLst/>
                        <a:latin typeface="+mn-lt"/>
                      </a:endParaRP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63600" rtl="0" eaLnBrk="1" fontAlgn="base" latinLnBrk="0" hangingPunct="1">
                        <a:lnSpc>
                          <a:spcPct val="100000"/>
                        </a:lnSpc>
                        <a:spcBef>
                          <a:spcPct val="20000"/>
                        </a:spcBef>
                        <a:spcAft>
                          <a:spcPct val="0"/>
                        </a:spcAft>
                        <a:buClrTx/>
                        <a:buSzPct val="80000"/>
                        <a:buFont typeface="Webdings" pitchFamily="18" charset="2"/>
                        <a:buNone/>
                        <a:tabLst/>
                      </a:pPr>
                      <a:r>
                        <a:rPr kumimoji="0" lang="en-GB" sz="1800" b="0" i="0" u="none" strike="noStrike" cap="none" normalizeH="0" baseline="0" dirty="0" smtClean="0">
                          <a:ln>
                            <a:noFill/>
                          </a:ln>
                          <a:solidFill>
                            <a:schemeClr val="tx1"/>
                          </a:solidFill>
                          <a:effectLst/>
                          <a:latin typeface="+mn-lt"/>
                        </a:rPr>
                        <a:t>4</a:t>
                      </a: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40000"/>
                        <a:lumOff val="60000"/>
                      </a:schemeClr>
                    </a:solidFill>
                  </a:tcPr>
                </a:tc>
              </a:tr>
              <a:tr h="476792">
                <a:tc>
                  <a:txBody>
                    <a:bodyPr/>
                    <a:lstStyle/>
                    <a:p>
                      <a:pPr marL="0" marR="0" lvl="0" indent="0" algn="l" defTabSz="863600" rtl="0" eaLnBrk="1" fontAlgn="base" latinLnBrk="0" hangingPunct="1">
                        <a:lnSpc>
                          <a:spcPct val="100000"/>
                        </a:lnSpc>
                        <a:spcBef>
                          <a:spcPct val="20000"/>
                        </a:spcBef>
                        <a:spcAft>
                          <a:spcPct val="0"/>
                        </a:spcAft>
                        <a:buClrTx/>
                        <a:buSzPct val="80000"/>
                        <a:buFont typeface="Webdings" pitchFamily="18" charset="2"/>
                        <a:buNone/>
                        <a:tabLst/>
                      </a:pPr>
                      <a:endParaRPr kumimoji="0" lang="en-GB" sz="1000" b="1" i="0" u="none" strike="noStrike" cap="none" normalizeH="0" baseline="0" dirty="0" smtClean="0">
                        <a:ln>
                          <a:noFill/>
                        </a:ln>
                        <a:solidFill>
                          <a:schemeClr val="tx1"/>
                        </a:solidFill>
                        <a:effectLst/>
                        <a:latin typeface="+mn-lt"/>
                      </a:endParaRP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63600" rtl="0" eaLnBrk="1" fontAlgn="base" latinLnBrk="0" hangingPunct="1">
                        <a:lnSpc>
                          <a:spcPct val="100000"/>
                        </a:lnSpc>
                        <a:spcBef>
                          <a:spcPct val="20000"/>
                        </a:spcBef>
                        <a:spcAft>
                          <a:spcPct val="0"/>
                        </a:spcAft>
                        <a:buClrTx/>
                        <a:buSzPct val="80000"/>
                        <a:buFont typeface="Webdings" pitchFamily="18" charset="2"/>
                        <a:buNone/>
                        <a:tabLst/>
                      </a:pPr>
                      <a:r>
                        <a:rPr kumimoji="0" lang="en-GB" sz="1800" b="0" i="0" u="none" strike="noStrike" cap="none" normalizeH="0" baseline="0" dirty="0" smtClean="0">
                          <a:ln>
                            <a:noFill/>
                          </a:ln>
                          <a:solidFill>
                            <a:schemeClr val="tx1"/>
                          </a:solidFill>
                          <a:effectLst/>
                          <a:latin typeface="+mn-lt"/>
                        </a:rPr>
                        <a:t>5</a:t>
                      </a:r>
                    </a:p>
                  </a:txBody>
                  <a:tcPr marL="95242" marR="95242" marT="37147" marB="3714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40000"/>
                        <a:lumOff val="60000"/>
                      </a:schemeClr>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26</TotalTime>
  <Words>1047</Words>
  <Application>Microsoft Office PowerPoint</Application>
  <PresentationFormat>Custom</PresentationFormat>
  <Paragraphs>189</Paragraphs>
  <Slides>46</Slides>
  <Notes>7</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blank</vt:lpstr>
      <vt:lpstr>Slide 1</vt:lpstr>
      <vt:lpstr>Change Readiness Assessment Analysis and Recommendations</vt:lpstr>
      <vt:lpstr>Agenda</vt:lpstr>
      <vt:lpstr>Disclosure</vt:lpstr>
      <vt:lpstr>Data Gathering Approach</vt:lpstr>
      <vt:lpstr>Data Gathering Methods</vt:lpstr>
      <vt:lpstr>Data Gathering Methods</vt:lpstr>
      <vt:lpstr>Assessment Focus Areas</vt:lpstr>
      <vt:lpstr>Survey Question Formulation</vt:lpstr>
      <vt:lpstr>Presentation of the Data</vt:lpstr>
      <vt:lpstr>Analysis Approach </vt:lpstr>
      <vt:lpstr>Demographic Data</vt:lpstr>
      <vt:lpstr>Demographic Data</vt:lpstr>
      <vt:lpstr>Assessment Conclusions</vt:lpstr>
      <vt:lpstr>Assessment Conclusions</vt:lpstr>
      <vt:lpstr>Leadership</vt:lpstr>
      <vt:lpstr>Survey Comment Quotes</vt:lpstr>
      <vt:lpstr>Leadership – Potential Risks</vt:lpstr>
      <vt:lpstr>Assessment Conclusions</vt:lpstr>
      <vt:lpstr>Change Experience</vt:lpstr>
      <vt:lpstr>Survey Comment Quotes</vt:lpstr>
      <vt:lpstr>Change Experience – Potential Risks</vt:lpstr>
      <vt:lpstr>Assessment Conclusions</vt:lpstr>
      <vt:lpstr>Reactions to Change</vt:lpstr>
      <vt:lpstr>Survey Comment Quotes</vt:lpstr>
      <vt:lpstr>Reactions to Change – Potential Risks</vt:lpstr>
      <vt:lpstr>Assessment Conclusions</vt:lpstr>
      <vt:lpstr>Work and Environment</vt:lpstr>
      <vt:lpstr>Survey Comment Quotes</vt:lpstr>
      <vt:lpstr>Work and Environment – Potential Risks</vt:lpstr>
      <vt:lpstr>Assessment Conclusions</vt:lpstr>
      <vt:lpstr>Communication</vt:lpstr>
      <vt:lpstr>Survey Comment Quotes</vt:lpstr>
      <vt:lpstr>Communication – Potential Risks</vt:lpstr>
      <vt:lpstr>Assessment Conclusions</vt:lpstr>
      <vt:lpstr>Training</vt:lpstr>
      <vt:lpstr>Survey Comment Quotes</vt:lpstr>
      <vt:lpstr>Training – Potential Risks</vt:lpstr>
      <vt:lpstr>Summary</vt:lpstr>
      <vt:lpstr>Assessment Recommendations</vt:lpstr>
      <vt:lpstr>Recommendations:  Change Management Program</vt:lpstr>
      <vt:lpstr>Recommendations:  Change Management Roadmap</vt:lpstr>
      <vt:lpstr>Recommendations:  Communication Campaign</vt:lpstr>
      <vt:lpstr>Recommendations:  Training</vt:lpstr>
      <vt:lpstr>Summary</vt:lpstr>
      <vt:lpstr>Slide 46</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OCM.120 CR Assessment Analysis and Recommendations</dc:title>
  <dc:creator>Oracle Global Methods</dc:creator>
  <cp:keywords>OUM</cp:keywords>
  <dc:description>Copyright © 2014 Oracle and/or its affiliates.  All rights reserved.</dc:description>
  <cp:lastModifiedBy>masander</cp:lastModifiedBy>
  <cp:revision>6</cp:revision>
  <dcterms:created xsi:type="dcterms:W3CDTF">2014-06-17T17:25:52Z</dcterms:created>
  <dcterms:modified xsi:type="dcterms:W3CDTF">2014-08-15T16:57:13Z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