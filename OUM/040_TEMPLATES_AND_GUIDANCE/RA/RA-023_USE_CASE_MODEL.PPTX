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presentation.xml" ContentType="application/vnd.openxmlformats-officedocument.presentationml.presentation.main+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handoutMasterIdLst>
    <p:handoutMasterId r:id="rId9"/>
  </p:handoutMasterIdLst>
  <p:sldIdLst>
    <p:sldId id="370" r:id="rId2"/>
    <p:sldId id="371" r:id="rId3"/>
    <p:sldId id="372" r:id="rId4"/>
    <p:sldId id="373" r:id="rId5"/>
    <p:sldId id="374" r:id="rId6"/>
    <p:sldId id="375" r:id="rId7"/>
  </p:sldIdLst>
  <p:sldSz cx="12188825" cy="6858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7" pos="335">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7F7F7F"/>
    <a:srgbClr val="0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07" autoAdjust="0"/>
    <p:restoredTop sz="74213" autoAdjust="0"/>
  </p:normalViewPr>
  <p:slideViewPr>
    <p:cSldViewPr>
      <p:cViewPr varScale="1">
        <p:scale>
          <a:sx n="64" d="100"/>
          <a:sy n="64" d="100"/>
        </p:scale>
        <p:origin x="-1566" y="-108"/>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6/18/2014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xmlns=""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xmlns=""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p>
            <a:fld id="{F76A8369-2082-45F7-A47B-97E94A7D5379}" type="slidenum">
              <a:rPr lang="en-US" smtClean="0">
                <a:latin typeface="Times" pitchFamily="18" charset="0"/>
              </a:rPr>
              <a:pPr/>
              <a:t>1</a:t>
            </a:fld>
            <a:endParaRPr lang="en-US" smtClean="0">
              <a:latin typeface="Times" pitchFamily="18" charset="0"/>
            </a:endParaRPr>
          </a:p>
        </p:txBody>
      </p:sp>
      <p:sp>
        <p:nvSpPr>
          <p:cNvPr id="10243" name="Rectangle 2"/>
          <p:cNvSpPr>
            <a:spLocks noGrp="1" noRot="1" noChangeAspect="1" noChangeArrowheads="1" noTextEdit="1"/>
          </p:cNvSpPr>
          <p:nvPr>
            <p:ph type="sldImg"/>
          </p:nvPr>
        </p:nvSpPr>
        <p:spPr>
          <a:xfrm>
            <a:off x="382588" y="381000"/>
            <a:ext cx="4572000" cy="2573338"/>
          </a:xfrm>
          <a:ln/>
        </p:spPr>
      </p:sp>
      <p:sp>
        <p:nvSpPr>
          <p:cNvPr id="1024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dirty="0" smtClean="0"/>
              <a:t>A list of actors owned by the package, including the name and brief description (role involved) of each actor in this package.</a:t>
            </a:r>
          </a:p>
        </p:txBody>
      </p:sp>
      <p:sp>
        <p:nvSpPr>
          <p:cNvPr id="4" name="Slide Number Placeholder 3"/>
          <p:cNvSpPr>
            <a:spLocks noGrp="1"/>
          </p:cNvSpPr>
          <p:nvPr>
            <p:ph type="sldNum" sz="quarter" idx="10"/>
          </p:nvPr>
        </p:nvSpPr>
        <p:spPr/>
        <p:txBody>
          <a:bodyPr/>
          <a:lstStyle/>
          <a:p>
            <a:fld id="{8C72D9AE-7182-4680-8F79-479C4181FF08}" type="slidenum">
              <a:rPr lang="en-US" smtClean="0"/>
              <a:pPr/>
              <a:t>3</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en-US" dirty="0" smtClean="0"/>
              <a:t>A brief description summarizes the purpose of the Use Case to help with understanding and scoping the system.  This brief description or  is initially done in the RA.023 Develop Use Case Model task.  It is further refined in the RA.024 Develop Use Case details by explaining the frequency and usage in the Context of Use section.</a:t>
            </a:r>
          </a:p>
          <a:p>
            <a:r>
              <a:rPr lang="en-US" dirty="0" smtClean="0"/>
              <a:t>·It is all that is needed to scope the system at this early stage</a:t>
            </a:r>
          </a:p>
          <a:p>
            <a:r>
              <a:rPr lang="en-US" dirty="0" smtClean="0"/>
              <a:t>·It can be written as a 2-3 sentence paragraph or a 3-step process</a:t>
            </a:r>
          </a:p>
        </p:txBody>
      </p:sp>
      <p:sp>
        <p:nvSpPr>
          <p:cNvPr id="4" name="Slide Number Placeholder 3"/>
          <p:cNvSpPr>
            <a:spLocks noGrp="1"/>
          </p:cNvSpPr>
          <p:nvPr>
            <p:ph type="sldNum" sz="quarter" idx="10"/>
          </p:nvPr>
        </p:nvSpPr>
        <p:spPr/>
        <p:txBody>
          <a:bodyPr/>
          <a:lstStyle/>
          <a:p>
            <a:fld id="{8C72D9AE-7182-4680-8F79-479C4181FF08}" type="slidenum">
              <a:rPr lang="en-US" smtClean="0"/>
              <a:pPr/>
              <a:t>4</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body" idx="1"/>
          </p:nvPr>
        </p:nvSpPr>
        <p:spPr>
          <a:noFill/>
          <a:ln/>
        </p:spPr>
        <p:txBody>
          <a:bodyPr/>
          <a:lstStyle/>
          <a:p>
            <a:r>
              <a:rPr lang="en-US" sz="1000" b="0" smtClean="0"/>
              <a:t>This is an example of a use case diagram which indicates that one use case Process Financial Entries is dependent upon two other Use Cases: Apply GL Validations and Transform Entries to GL</a:t>
            </a:r>
          </a:p>
          <a:p>
            <a:endParaRPr lang="en-US" sz="1000" b="0" smtClean="0"/>
          </a:p>
          <a:p>
            <a:r>
              <a:rPr lang="en-US" sz="1000" b="0" smtClean="0"/>
              <a:t>It is important to consider this dependent Use Cases when implementing Apply GL Validations and Transform entries to GL</a:t>
            </a:r>
          </a:p>
          <a:p>
            <a:endParaRPr lang="en-US" sz="1000" b="0" smtClean="0"/>
          </a:p>
          <a:p>
            <a:r>
              <a:rPr lang="en-US" sz="1000" b="0" smtClean="0"/>
              <a:t/>
            </a:r>
            <a:br>
              <a:rPr lang="en-US" sz="1000" b="0" smtClean="0"/>
            </a:br>
            <a:r>
              <a:rPr lang="en-US" sz="1000" b="0" smtClean="0"/>
              <a:t>The Arrowhead is always aligned with the dependency. For example, on the current slide, “Process Financial Entries" is dependant on “Apply GL Validations" therefore the arrowhead points to “Apply GL Validations”.</a:t>
            </a:r>
          </a:p>
          <a:p>
            <a:endParaRPr lang="en-US" sz="1000" b="0" smtClean="0"/>
          </a:p>
          <a:p>
            <a:r>
              <a:rPr lang="en-US" sz="1000" b="0" smtClean="0"/>
              <a:t>The “includes notation”  is important to designate.</a:t>
            </a:r>
          </a:p>
          <a:p>
            <a:endParaRPr lang="en-US" sz="1000" b="0" smtClean="0"/>
          </a:p>
        </p:txBody>
      </p:sp>
      <p:sp>
        <p:nvSpPr>
          <p:cNvPr id="13315" name="Slide Image Placeholder 4"/>
          <p:cNvSpPr>
            <a:spLocks noGrp="1" noRot="1" noChangeAspect="1" noTextEdit="1"/>
          </p:cNvSpPr>
          <p:nvPr>
            <p:ph type="sldImg"/>
          </p:nvPr>
        </p:nvSpPr>
        <p:spPr>
          <a:xfrm>
            <a:off x="758825" y="696913"/>
            <a:ext cx="5340350" cy="3005137"/>
          </a:xfr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body" idx="1"/>
          </p:nvPr>
        </p:nvSpPr>
        <p:spPr>
          <a:noFill/>
          <a:ln/>
        </p:spPr>
        <p:txBody>
          <a:bodyPr/>
          <a:lstStyle/>
          <a:p>
            <a:endParaRPr lang="en-US" smtClean="0">
              <a:cs typeface="Arial" charset="0"/>
            </a:endParaRPr>
          </a:p>
        </p:txBody>
      </p:sp>
      <p:sp>
        <p:nvSpPr>
          <p:cNvPr id="14339" name="Slide Image Placeholder 4"/>
          <p:cNvSpPr>
            <a:spLocks noGrp="1" noRot="1" noChangeAspect="1" noTextEdit="1"/>
          </p:cNvSpPr>
          <p:nvPr>
            <p:ph type="sldImg"/>
          </p:nvPr>
        </p:nvSpPr>
        <p:spPr>
          <a:xfrm>
            <a:off x="758825" y="696913"/>
            <a:ext cx="5340350" cy="3005137"/>
          </a:xfr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1AB1A54-131B-434B-AAD1-AD1F7D7DAA2B}" type="datetime1">
              <a:rPr lang="en-US"/>
              <a:pPr/>
              <a:t>6/18/2014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9932002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BCD2CDC6-9352-4ED5-B272-74DDB6DCFEAF}" type="datetime1">
              <a:rPr lang="en-US"/>
              <a:pPr/>
              <a:t>6/18/2014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4041574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7C7481E7-6827-45FD-8717-13B961EEBD99}" type="datetime1">
              <a:rPr lang="en-US"/>
              <a:pPr/>
              <a:t>6/18/2014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85FCE51-BA3E-43B9-8C27-47617E4B4FE5}" type="datetime1">
              <a:rPr lang="en-US"/>
              <a:pPr/>
              <a:t>6/18/2014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85FCE51-BA3E-43B9-8C27-47617E4B4FE5}" type="datetime1">
              <a:rPr lang="en-US"/>
              <a:pPr/>
              <a:t>6/18/2014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p14="http://schemas.microsoft.com/office/powerpoint/2010/main" xmlns=""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CECCD66E-6DF0-4B16-8ACA-D0D93A7B1DC8}" type="datetime1">
              <a:rPr lang="en-US"/>
              <a:pPr/>
              <a:t>6/18/2014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07523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E248A2DF-98E5-4437-B842-E0DCD9A6A408}" type="datetime1">
              <a:rPr lang="en-US"/>
              <a:pPr/>
              <a:t>6/18/2014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717683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CECCD66E-6DF0-4B16-8ACA-D0D93A7B1DC8}" type="datetime1">
              <a:rPr lang="en-US"/>
              <a:pPr/>
              <a:t>6/18/2014</a:t>
            </a:fld>
            <a:endParaRPr dirty="0"/>
          </a:p>
        </p:txBody>
      </p:sp>
      <p:sp>
        <p:nvSpPr>
          <p:cNvPr id="5" name="Footer Placeholder 4"/>
          <p:cNvSpPr>
            <a:spLocks noGrp="1"/>
          </p:cNvSpPr>
          <p:nvPr>
            <p:ph type="ftr" sz="quarter" idx="11"/>
          </p:nvPr>
        </p:nvSpPr>
        <p:spPr/>
        <p:txBody>
          <a:bodyPr>
            <a:noAutofit/>
          </a:body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68122964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C35900-9CAD-4F88-ADA2-63803E0474C8}" type="datetime1">
              <a:rPr lang="en-US"/>
              <a:pPr/>
              <a:t>6/18/2014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5138533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19816439-F3A6-4E53-9E59-0015DD1FA257}" type="datetime1">
              <a:rPr lang="en-US"/>
              <a:pPr/>
              <a:t>6/18/2014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CFF0A86-8A92-4FBC-80CD-36517BAA55B7}"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6703705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E11BFD-AD4C-4A98-9D38-1958507EA4E5}" type="datetime1">
              <a:rPr lang="en-US" smtClean="0"/>
              <a:pPr/>
              <a:t>6/18/2014</a:t>
            </a:fld>
            <a:endParaRPr lang="en-US" dirty="0"/>
          </a:p>
        </p:txBody>
      </p:sp>
      <p:sp>
        <p:nvSpPr>
          <p:cNvPr id="4" name="Footer Placeholder 3"/>
          <p:cNvSpPr>
            <a:spLocks noGrp="1"/>
          </p:cNvSpPr>
          <p:nvPr>
            <p:ph type="ftr" sz="quarter" idx="11"/>
          </p:nvPr>
        </p:nvSpPr>
        <p:spPr/>
        <p:txBody>
          <a:bodyPr/>
          <a:lstStyle/>
          <a:p>
            <a:r>
              <a:rPr lang="en-US"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159625631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FFFBC65A-03AE-423D-B3EC-68D1D32BF9D6}"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450984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FFFBC65A-03AE-423D-B3EC-68D1D32BF9D6}"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0277668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F189F9BA-FB97-45D5-8F27-56629FBBC98C}"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20166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AA91E92C-9068-4C32-AE92-C97502324FE4}"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337141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5EDC5EE-48A0-4FB5-B27F-88FDBE6F1684}"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12263345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A3CED5-6656-4A7A-BB77-071ABD96C5A2}"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4281250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A3CED5-6656-4A7A-BB77-071ABD96C5A2}"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73938650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35287FB7-DD26-4AD5-8D24-298016D86790}" type="datetime1">
              <a:rPr lang="en-US"/>
              <a:pPr/>
              <a:t>6/18/2014</a:t>
            </a:fld>
            <a:endParaRPr dirty="0"/>
          </a:p>
        </p:txBody>
      </p:sp>
      <p:sp>
        <p:nvSpPr>
          <p:cNvPr id="8" name="Footer Placeholder 7"/>
          <p:cNvSpPr>
            <a:spLocks noGrp="1"/>
          </p:cNvSpPr>
          <p:nvPr>
            <p:ph type="ftr" sz="quarter" idx="11"/>
          </p:nvPr>
        </p:nvSpPr>
        <p:spPr/>
        <p:txBody>
          <a:bodyPr>
            <a:noAutofit/>
          </a:bodyPr>
          <a:lstStyle/>
          <a:p>
            <a:r>
              <a:rPr dirty="0"/>
              <a:t>Oracle Confidential – Internal/Restricted/Highly Restricted</a:t>
            </a:r>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37870018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52D99EC-ABE5-42A5-B15B-B8C044BE7365}" type="datetime1">
              <a:rPr lang="en-US"/>
              <a:pPr/>
              <a:t>6/18/2014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376993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CD2D53DD-9B43-42E6-B664-927F3AEBDA21}" type="datetime1">
              <a:rPr lang="en-US"/>
              <a:pPr/>
              <a:t>6/18/2014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4163620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53D265-744D-4F8C-A86B-A5B53F14B0D6}" type="datetime1">
              <a:rPr lang="en-US"/>
              <a:pPr/>
              <a:t>6/18/2014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608229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2C216A-5BF3-4B4A-AA09-367DB23952FA}"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45785070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3E2FA5-E451-48BD-84C5-AAF06D19CB12}"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058274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B64933-8490-48F1-856F-778E124FF883}"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0898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6F5346-BDDE-46E4-B222-C487F9E706DD}"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908547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A15AD86-CD0E-461B-AA18-D070A5CB2CAA}"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7454445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a14="http://schemas.microsoft.com/office/drawing/2010/main" xmlns=""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xmlns=""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A15AD86-CD0E-461B-AA18-D070A5CB2CAA}"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206340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6A15AD86-CD0E-461B-AA18-D070A5CB2CAA}"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a14="http://schemas.microsoft.com/office/drawing/2010/main" xmlns=""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86081927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6A15AD86-CD0E-461B-AA18-D070A5CB2CAA}"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a14="http://schemas.microsoft.com/office/drawing/2010/main" xmlns=""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18766017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43D5EDE7-61B4-4C98-ADE6-D86346041BA3}" type="datetime1">
              <a:rPr lang="en-US"/>
              <a:pPr/>
              <a:t>6/18/2014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93A56FF2-64EC-4614-951E-8B8E4681BF2B}" type="datetime1">
              <a:rPr lang="en-US"/>
              <a:pPr/>
              <a:t>6/18/2014</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59788944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AD051CE8-BCD3-4683-83D4-D0AC55C5EB15}" type="datetime1">
              <a:rPr lang="en-US"/>
              <a:pPr/>
              <a:t>6/18/2014</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3588719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A9802F-4D43-4C32-8177-0644B387545A}" type="datetime1">
              <a:rPr lang="en-US"/>
              <a:pPr/>
              <a:t>6/18/2014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2820860" y="2313432"/>
            <a:ext cx="6547104" cy="1832339"/>
          </a:xfrm>
          <a:prstGeom prst="rect">
            <a:avLst/>
          </a:prstGeom>
        </p:spPr>
      </p:pic>
    </p:spTree>
    <p:extLst>
      <p:ext uri="{BB962C8B-B14F-4D97-AF65-F5344CB8AC3E}">
        <p14:creationId xmlns:p14="http://schemas.microsoft.com/office/powerpoint/2010/main" xmlns="" val="370913749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a14="http://schemas.microsoft.com/office/drawing/2010/main" xmlns="" val="0"/>
              </a:ext>
            </a:extLst>
          </a:blip>
          <a:stretch>
            <a:fillRect/>
          </a:stretch>
        </p:blipFill>
        <p:spPr bwMode="black">
          <a:xfrm>
            <a:off x="3822128" y="2843826"/>
            <a:ext cx="4544568" cy="569547"/>
          </a:xfrm>
          <a:prstGeom prst="rect">
            <a:avLst/>
          </a:prstGeom>
        </p:spPr>
      </p:pic>
    </p:spTree>
    <p:extLst>
      <p:ext uri="{BB962C8B-B14F-4D97-AF65-F5344CB8AC3E}">
        <p14:creationId xmlns:p14="http://schemas.microsoft.com/office/powerpoint/2010/main" xmlns="" val="10657555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21991926-9D37-40E7-80C4-EC5F27AFCB67}" type="datetimeFigureOut">
              <a:rPr lang="en-US" smtClean="0"/>
              <a:pPr/>
              <a:t>6/18/2014</a:t>
            </a:fld>
            <a:endParaRPr lang="en-US"/>
          </a:p>
        </p:txBody>
      </p:sp>
      <p:sp>
        <p:nvSpPr>
          <p:cNvPr id="5" name="Footer Placeholder 4"/>
          <p:cNvSpPr>
            <a:spLocks noGrp="1"/>
          </p:cNvSpPr>
          <p:nvPr>
            <p:ph type="ftr" sz="quarter" idx="11"/>
          </p:nvPr>
        </p:nvSpPr>
        <p:spPr/>
        <p:txBody>
          <a:bodyPr>
            <a:noAutofit/>
          </a:bodyPr>
          <a:lstStyle/>
          <a:p>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p14="http://schemas.microsoft.com/office/powerpoint/2010/main" xmlns="" val="38621871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D3D3DC0-E8DA-4DFB-93A6-6089D43271B1}" type="datetime1">
              <a:rPr lang="en-US"/>
              <a:pPr/>
              <a:t>6/18/2014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1734545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1EE11BFD-AD4C-4A98-9D38-1958507EA4E5}" type="datetime1">
              <a:rPr lang="en-US"/>
              <a:pPr/>
              <a:t>6/18/2014</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p14="http://schemas.microsoft.com/office/powerpoint/2010/main" xmlns=""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Grp="1" noChangeArrowheads="1"/>
          </p:cNvSpPr>
          <p:nvPr>
            <p:ph type="title"/>
          </p:nvPr>
        </p:nvSpPr>
        <p:spPr/>
        <p:txBody>
          <a:bodyPr/>
          <a:lstStyle/>
          <a:p>
            <a:r>
              <a:rPr lang="en-US" smtClean="0"/>
              <a:t>Use Case Model Template</a:t>
            </a:r>
            <a:endParaRPr lang="en-US" dirty="0" smtClean="0"/>
          </a:p>
        </p:txBody>
      </p:sp>
      <p:sp>
        <p:nvSpPr>
          <p:cNvPr id="3076" name="Rectangle 66"/>
          <p:cNvSpPr>
            <a:spLocks noChangeArrowheads="1"/>
          </p:cNvSpPr>
          <p:nvPr/>
        </p:nvSpPr>
        <p:spPr bwMode="auto">
          <a:xfrm>
            <a:off x="3021124" y="1295400"/>
            <a:ext cx="5366469" cy="4953000"/>
          </a:xfrm>
          <a:prstGeom prst="rect">
            <a:avLst/>
          </a:prstGeom>
          <a:noFill/>
          <a:ln w="12700" algn="ctr">
            <a:solidFill>
              <a:schemeClr val="bg2"/>
            </a:solidFill>
            <a:miter lim="800000"/>
            <a:headEnd/>
            <a:tailEnd/>
          </a:ln>
        </p:spPr>
        <p:txBody>
          <a:bodyPr lIns="121899" tIns="60949" rIns="121899" bIns="60949" anchorCtr="1"/>
          <a:lstStyle/>
          <a:p>
            <a:pPr eaLnBrk="0" hangingPunct="0"/>
            <a:r>
              <a:rPr lang="nl-NL" sz="2400" dirty="0"/>
              <a:t>System Name</a:t>
            </a:r>
          </a:p>
        </p:txBody>
      </p:sp>
      <p:grpSp>
        <p:nvGrpSpPr>
          <p:cNvPr id="2" name="Group 3"/>
          <p:cNvGrpSpPr>
            <a:grpSpLocks/>
          </p:cNvGrpSpPr>
          <p:nvPr/>
        </p:nvGrpSpPr>
        <p:grpSpPr bwMode="auto">
          <a:xfrm>
            <a:off x="1448851" y="2293937"/>
            <a:ext cx="446501" cy="588963"/>
            <a:chOff x="984" y="1198"/>
            <a:chExt cx="211" cy="371"/>
          </a:xfrm>
        </p:grpSpPr>
        <p:sp>
          <p:nvSpPr>
            <p:cNvPr id="3111" name="Oval 4"/>
            <p:cNvSpPr>
              <a:spLocks noChangeArrowheads="1"/>
            </p:cNvSpPr>
            <p:nvPr/>
          </p:nvSpPr>
          <p:spPr bwMode="auto">
            <a:xfrm>
              <a:off x="1043" y="1198"/>
              <a:ext cx="104" cy="109"/>
            </a:xfrm>
            <a:prstGeom prst="ellipse">
              <a:avLst/>
            </a:prstGeom>
            <a:noFill/>
            <a:ln w="28575">
              <a:solidFill>
                <a:schemeClr val="tx1"/>
              </a:solidFill>
              <a:round/>
              <a:headEnd/>
              <a:tailEnd/>
            </a:ln>
          </p:spPr>
          <p:txBody>
            <a:bodyPr/>
            <a:lstStyle/>
            <a:p>
              <a:pPr eaLnBrk="0" hangingPunct="0"/>
              <a:endParaRPr lang="nl-NL"/>
            </a:p>
          </p:txBody>
        </p:sp>
        <p:sp>
          <p:nvSpPr>
            <p:cNvPr id="3112" name="Line 5"/>
            <p:cNvSpPr>
              <a:spLocks noChangeShapeType="1"/>
            </p:cNvSpPr>
            <p:nvPr/>
          </p:nvSpPr>
          <p:spPr bwMode="auto">
            <a:xfrm>
              <a:off x="1094" y="1305"/>
              <a:ext cx="0" cy="154"/>
            </a:xfrm>
            <a:prstGeom prst="line">
              <a:avLst/>
            </a:prstGeom>
            <a:noFill/>
            <a:ln w="28575">
              <a:solidFill>
                <a:schemeClr val="tx1"/>
              </a:solidFill>
              <a:round/>
              <a:headEnd/>
              <a:tailEnd/>
            </a:ln>
          </p:spPr>
          <p:txBody>
            <a:bodyPr/>
            <a:lstStyle/>
            <a:p>
              <a:endParaRPr lang="en-US"/>
            </a:p>
          </p:txBody>
        </p:sp>
        <p:sp>
          <p:nvSpPr>
            <p:cNvPr id="3113" name="Line 6"/>
            <p:cNvSpPr>
              <a:spLocks noChangeShapeType="1"/>
            </p:cNvSpPr>
            <p:nvPr/>
          </p:nvSpPr>
          <p:spPr bwMode="auto">
            <a:xfrm flipH="1">
              <a:off x="984" y="1463"/>
              <a:ext cx="104" cy="106"/>
            </a:xfrm>
            <a:prstGeom prst="line">
              <a:avLst/>
            </a:prstGeom>
            <a:noFill/>
            <a:ln w="28575">
              <a:solidFill>
                <a:schemeClr val="tx1"/>
              </a:solidFill>
              <a:round/>
              <a:headEnd/>
              <a:tailEnd/>
            </a:ln>
          </p:spPr>
          <p:txBody>
            <a:bodyPr/>
            <a:lstStyle/>
            <a:p>
              <a:endParaRPr lang="en-US"/>
            </a:p>
          </p:txBody>
        </p:sp>
        <p:sp>
          <p:nvSpPr>
            <p:cNvPr id="3114" name="Line 7"/>
            <p:cNvSpPr>
              <a:spLocks noChangeShapeType="1"/>
            </p:cNvSpPr>
            <p:nvPr/>
          </p:nvSpPr>
          <p:spPr bwMode="auto">
            <a:xfrm>
              <a:off x="998" y="1378"/>
              <a:ext cx="194" cy="0"/>
            </a:xfrm>
            <a:prstGeom prst="line">
              <a:avLst/>
            </a:prstGeom>
            <a:noFill/>
            <a:ln w="28575">
              <a:solidFill>
                <a:schemeClr val="tx1"/>
              </a:solidFill>
              <a:round/>
              <a:headEnd/>
              <a:tailEnd/>
            </a:ln>
          </p:spPr>
          <p:txBody>
            <a:bodyPr/>
            <a:lstStyle/>
            <a:p>
              <a:endParaRPr lang="en-US"/>
            </a:p>
          </p:txBody>
        </p:sp>
        <p:sp>
          <p:nvSpPr>
            <p:cNvPr id="3115" name="Line 8"/>
            <p:cNvSpPr>
              <a:spLocks noChangeShapeType="1"/>
            </p:cNvSpPr>
            <p:nvPr/>
          </p:nvSpPr>
          <p:spPr bwMode="auto">
            <a:xfrm>
              <a:off x="1091" y="1460"/>
              <a:ext cx="104" cy="106"/>
            </a:xfrm>
            <a:prstGeom prst="line">
              <a:avLst/>
            </a:prstGeom>
            <a:noFill/>
            <a:ln w="28575">
              <a:solidFill>
                <a:schemeClr val="tx1"/>
              </a:solidFill>
              <a:round/>
              <a:headEnd/>
              <a:tailEnd/>
            </a:ln>
          </p:spPr>
          <p:txBody>
            <a:bodyPr/>
            <a:lstStyle/>
            <a:p>
              <a:endParaRPr lang="en-US"/>
            </a:p>
          </p:txBody>
        </p:sp>
      </p:grpSp>
      <p:sp>
        <p:nvSpPr>
          <p:cNvPr id="3078" name="Text Box 9"/>
          <p:cNvSpPr txBox="1">
            <a:spLocks noChangeArrowheads="1"/>
          </p:cNvSpPr>
          <p:nvPr/>
        </p:nvSpPr>
        <p:spPr bwMode="auto">
          <a:xfrm>
            <a:off x="782275" y="3051176"/>
            <a:ext cx="1551601" cy="284671"/>
          </a:xfrm>
          <a:prstGeom prst="rect">
            <a:avLst/>
          </a:prstGeom>
          <a:noFill/>
          <a:ln w="12700" algn="ctr">
            <a:noFill/>
            <a:miter lim="800000"/>
            <a:headEnd/>
            <a:tailEnd/>
          </a:ln>
        </p:spPr>
        <p:txBody>
          <a:bodyPr wrap="none" lIns="121899" tIns="60949" rIns="121899" bIns="60949">
            <a:spAutoFit/>
          </a:bodyPr>
          <a:lstStyle/>
          <a:p>
            <a:pPr eaLnBrk="0" hangingPunct="0">
              <a:lnSpc>
                <a:spcPct val="50000"/>
              </a:lnSpc>
            </a:pPr>
            <a:r>
              <a:rPr lang="en-US" sz="2100" dirty="0"/>
              <a:t>Actor Name</a:t>
            </a:r>
          </a:p>
        </p:txBody>
      </p:sp>
      <p:sp>
        <p:nvSpPr>
          <p:cNvPr id="3079" name="Line 10"/>
          <p:cNvSpPr>
            <a:spLocks noChangeShapeType="1"/>
          </p:cNvSpPr>
          <p:nvPr/>
        </p:nvSpPr>
        <p:spPr bwMode="auto">
          <a:xfrm>
            <a:off x="2138703" y="2667000"/>
            <a:ext cx="3318069" cy="228600"/>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3080" name="Line 44"/>
          <p:cNvSpPr>
            <a:spLocks noChangeShapeType="1"/>
          </p:cNvSpPr>
          <p:nvPr/>
        </p:nvSpPr>
        <p:spPr bwMode="auto">
          <a:xfrm flipV="1">
            <a:off x="7170827" y="1905000"/>
            <a:ext cx="2543571" cy="1000125"/>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3081" name="Line 57"/>
          <p:cNvSpPr>
            <a:spLocks noChangeShapeType="1"/>
          </p:cNvSpPr>
          <p:nvPr/>
        </p:nvSpPr>
        <p:spPr bwMode="auto">
          <a:xfrm>
            <a:off x="2128123" y="2719389"/>
            <a:ext cx="3595279" cy="1090612"/>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3082" name="Line 58"/>
          <p:cNvSpPr>
            <a:spLocks noChangeShapeType="1"/>
          </p:cNvSpPr>
          <p:nvPr/>
        </p:nvSpPr>
        <p:spPr bwMode="auto">
          <a:xfrm>
            <a:off x="7424762" y="3846513"/>
            <a:ext cx="2300218" cy="147637"/>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3083" name="Oval 61"/>
          <p:cNvSpPr>
            <a:spLocks noChangeArrowheads="1"/>
          </p:cNvSpPr>
          <p:nvPr/>
        </p:nvSpPr>
        <p:spPr bwMode="auto">
          <a:xfrm>
            <a:off x="3416837" y="1690689"/>
            <a:ext cx="1720403" cy="615951"/>
          </a:xfrm>
          <a:prstGeom prst="ellipse">
            <a:avLst/>
          </a:prstGeom>
          <a:solidFill>
            <a:srgbClr val="FFFFFF"/>
          </a:solidFill>
          <a:ln w="28575">
            <a:solidFill>
              <a:schemeClr val="tx1"/>
            </a:solidFill>
            <a:round/>
            <a:headEnd/>
            <a:tailEnd/>
          </a:ln>
        </p:spPr>
        <p:txBody>
          <a:bodyPr lIns="121899" tIns="36570" rIns="121899" bIns="60949"/>
          <a:lstStyle/>
          <a:p>
            <a:pPr eaLnBrk="0" hangingPunct="0">
              <a:lnSpc>
                <a:spcPts val="1600"/>
              </a:lnSpc>
            </a:pPr>
            <a:r>
              <a:rPr lang="en-US" sz="1600" dirty="0"/>
              <a:t>UC0001</a:t>
            </a:r>
            <a:br>
              <a:rPr lang="en-US" sz="1600" dirty="0"/>
            </a:br>
            <a:r>
              <a:rPr lang="en-US" sz="1300" dirty="0"/>
              <a:t>Verb-Noun (2-4 words)</a:t>
            </a:r>
          </a:p>
        </p:txBody>
      </p:sp>
      <p:sp>
        <p:nvSpPr>
          <p:cNvPr id="3084" name="Line 63"/>
          <p:cNvSpPr>
            <a:spLocks noChangeShapeType="1"/>
          </p:cNvSpPr>
          <p:nvPr/>
        </p:nvSpPr>
        <p:spPr bwMode="auto">
          <a:xfrm flipV="1">
            <a:off x="2147167" y="2154239"/>
            <a:ext cx="1371243" cy="484187"/>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3085" name="Line 64"/>
          <p:cNvSpPr>
            <a:spLocks noChangeShapeType="1"/>
          </p:cNvSpPr>
          <p:nvPr/>
        </p:nvSpPr>
        <p:spPr bwMode="auto">
          <a:xfrm flipV="1">
            <a:off x="5042013" y="1814514"/>
            <a:ext cx="4672383" cy="46037"/>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3086" name="Rectangle 67"/>
          <p:cNvSpPr>
            <a:spLocks noChangeArrowheads="1"/>
          </p:cNvSpPr>
          <p:nvPr/>
        </p:nvSpPr>
        <p:spPr bwMode="auto">
          <a:xfrm>
            <a:off x="9710164" y="1498600"/>
            <a:ext cx="1828324" cy="822325"/>
          </a:xfrm>
          <a:prstGeom prst="rect">
            <a:avLst/>
          </a:prstGeom>
          <a:noFill/>
          <a:ln w="28575" algn="ctr">
            <a:solidFill>
              <a:schemeClr val="bg2"/>
            </a:solidFill>
            <a:miter lim="800000"/>
            <a:headEnd/>
            <a:tailEnd/>
          </a:ln>
        </p:spPr>
        <p:txBody>
          <a:bodyPr lIns="121899" tIns="60949" rIns="121899" bIns="60949" anchor="ctr"/>
          <a:lstStyle/>
          <a:p>
            <a:pPr eaLnBrk="0" hangingPunct="0"/>
            <a:r>
              <a:rPr lang="en-US" sz="2100" dirty="0"/>
              <a:t>&lt;&lt;actor&gt;&gt;</a:t>
            </a:r>
            <a:br>
              <a:rPr lang="en-US" sz="2100" dirty="0"/>
            </a:br>
            <a:r>
              <a:rPr lang="en-US" sz="2100" dirty="0"/>
              <a:t>System </a:t>
            </a:r>
            <a:br>
              <a:rPr lang="en-US" sz="2100" dirty="0"/>
            </a:br>
            <a:r>
              <a:rPr lang="en-US" sz="2100" dirty="0"/>
              <a:t>Name</a:t>
            </a:r>
          </a:p>
        </p:txBody>
      </p:sp>
      <p:sp>
        <p:nvSpPr>
          <p:cNvPr id="3087" name="Rectangle 68"/>
          <p:cNvSpPr>
            <a:spLocks noChangeArrowheads="1"/>
          </p:cNvSpPr>
          <p:nvPr/>
        </p:nvSpPr>
        <p:spPr bwMode="auto">
          <a:xfrm>
            <a:off x="9710164" y="3438566"/>
            <a:ext cx="1828324" cy="1107996"/>
          </a:xfrm>
          <a:prstGeom prst="rect">
            <a:avLst/>
          </a:prstGeom>
          <a:noFill/>
          <a:ln w="28575" algn="ctr">
            <a:solidFill>
              <a:schemeClr val="bg2"/>
            </a:solidFill>
            <a:miter lim="800000"/>
            <a:headEnd/>
            <a:tailEnd/>
          </a:ln>
        </p:spPr>
        <p:txBody>
          <a:bodyPr lIns="121899" tIns="60949" rIns="121899" bIns="60949" anchor="ctr" anchorCtr="1">
            <a:spAutoFit/>
          </a:bodyPr>
          <a:lstStyle/>
          <a:p>
            <a:pPr eaLnBrk="0" hangingPunct="0"/>
            <a:r>
              <a:rPr lang="en-US" sz="2100" dirty="0"/>
              <a:t>&lt;&lt;actor&gt;&gt;</a:t>
            </a:r>
            <a:br>
              <a:rPr lang="en-US" sz="2100" dirty="0"/>
            </a:br>
            <a:r>
              <a:rPr lang="en-US" sz="2100" dirty="0"/>
              <a:t>System</a:t>
            </a:r>
            <a:br>
              <a:rPr lang="en-US" sz="2100" dirty="0"/>
            </a:br>
            <a:r>
              <a:rPr lang="en-US" sz="2100" dirty="0"/>
              <a:t>Name</a:t>
            </a:r>
          </a:p>
        </p:txBody>
      </p:sp>
      <p:sp>
        <p:nvSpPr>
          <p:cNvPr id="3088" name="Oval 61"/>
          <p:cNvSpPr>
            <a:spLocks noChangeArrowheads="1"/>
          </p:cNvSpPr>
          <p:nvPr/>
        </p:nvSpPr>
        <p:spPr bwMode="auto">
          <a:xfrm>
            <a:off x="5431379" y="2620963"/>
            <a:ext cx="1718286" cy="615951"/>
          </a:xfrm>
          <a:prstGeom prst="ellipse">
            <a:avLst/>
          </a:prstGeom>
          <a:solidFill>
            <a:srgbClr val="FFFFFF"/>
          </a:solidFill>
          <a:ln w="28575">
            <a:solidFill>
              <a:schemeClr val="tx1"/>
            </a:solidFill>
            <a:round/>
            <a:headEnd/>
            <a:tailEnd/>
          </a:ln>
        </p:spPr>
        <p:txBody>
          <a:bodyPr lIns="121899" tIns="60949" rIns="121899" bIns="60949" anchor="ctr" anchorCtr="1"/>
          <a:lstStyle/>
          <a:p>
            <a:pPr eaLnBrk="0" hangingPunct="0">
              <a:lnSpc>
                <a:spcPts val="1600"/>
              </a:lnSpc>
            </a:pPr>
            <a:endParaRPr lang="en-US" sz="1900" dirty="0"/>
          </a:p>
        </p:txBody>
      </p:sp>
      <p:sp>
        <p:nvSpPr>
          <p:cNvPr id="3089" name="Oval 61"/>
          <p:cNvSpPr>
            <a:spLocks noChangeArrowheads="1"/>
          </p:cNvSpPr>
          <p:nvPr/>
        </p:nvSpPr>
        <p:spPr bwMode="auto">
          <a:xfrm>
            <a:off x="5708590" y="3509963"/>
            <a:ext cx="1718286" cy="615951"/>
          </a:xfrm>
          <a:prstGeom prst="ellipse">
            <a:avLst/>
          </a:prstGeom>
          <a:solidFill>
            <a:srgbClr val="FFFFFF"/>
          </a:solidFill>
          <a:ln w="28575">
            <a:solidFill>
              <a:schemeClr val="tx1"/>
            </a:solidFill>
            <a:round/>
            <a:headEnd/>
            <a:tailEnd/>
          </a:ln>
        </p:spPr>
        <p:txBody>
          <a:bodyPr lIns="121899" tIns="60949" rIns="121899" bIns="60949" anchor="ctr" anchorCtr="1"/>
          <a:lstStyle/>
          <a:p>
            <a:pPr eaLnBrk="0" hangingPunct="0">
              <a:lnSpc>
                <a:spcPts val="1600"/>
              </a:lnSpc>
            </a:pPr>
            <a:endParaRPr lang="en-US" sz="1900" dirty="0"/>
          </a:p>
        </p:txBody>
      </p:sp>
      <p:grpSp>
        <p:nvGrpSpPr>
          <p:cNvPr id="3" name="Group 11"/>
          <p:cNvGrpSpPr>
            <a:grpSpLocks/>
          </p:cNvGrpSpPr>
          <p:nvPr/>
        </p:nvGrpSpPr>
        <p:grpSpPr bwMode="auto">
          <a:xfrm>
            <a:off x="1298606" y="5292725"/>
            <a:ext cx="446500" cy="588963"/>
            <a:chOff x="984" y="1198"/>
            <a:chExt cx="211" cy="371"/>
          </a:xfrm>
        </p:grpSpPr>
        <p:sp>
          <p:nvSpPr>
            <p:cNvPr id="3106" name="Oval 12"/>
            <p:cNvSpPr>
              <a:spLocks noChangeArrowheads="1"/>
            </p:cNvSpPr>
            <p:nvPr/>
          </p:nvSpPr>
          <p:spPr bwMode="auto">
            <a:xfrm>
              <a:off x="1043" y="1198"/>
              <a:ext cx="104" cy="109"/>
            </a:xfrm>
            <a:prstGeom prst="ellipse">
              <a:avLst/>
            </a:prstGeom>
            <a:noFill/>
            <a:ln w="28575">
              <a:solidFill>
                <a:schemeClr val="tx1"/>
              </a:solidFill>
              <a:round/>
              <a:headEnd/>
              <a:tailEnd/>
            </a:ln>
          </p:spPr>
          <p:txBody>
            <a:bodyPr/>
            <a:lstStyle/>
            <a:p>
              <a:pPr eaLnBrk="0" hangingPunct="0"/>
              <a:endParaRPr lang="nl-NL"/>
            </a:p>
          </p:txBody>
        </p:sp>
        <p:sp>
          <p:nvSpPr>
            <p:cNvPr id="3107" name="Line 13"/>
            <p:cNvSpPr>
              <a:spLocks noChangeShapeType="1"/>
            </p:cNvSpPr>
            <p:nvPr/>
          </p:nvSpPr>
          <p:spPr bwMode="auto">
            <a:xfrm>
              <a:off x="1094" y="1305"/>
              <a:ext cx="0" cy="154"/>
            </a:xfrm>
            <a:prstGeom prst="line">
              <a:avLst/>
            </a:prstGeom>
            <a:noFill/>
            <a:ln w="28575">
              <a:solidFill>
                <a:schemeClr val="tx1"/>
              </a:solidFill>
              <a:round/>
              <a:headEnd/>
              <a:tailEnd/>
            </a:ln>
          </p:spPr>
          <p:txBody>
            <a:bodyPr/>
            <a:lstStyle/>
            <a:p>
              <a:endParaRPr lang="en-US"/>
            </a:p>
          </p:txBody>
        </p:sp>
        <p:sp>
          <p:nvSpPr>
            <p:cNvPr id="3108" name="Line 14"/>
            <p:cNvSpPr>
              <a:spLocks noChangeShapeType="1"/>
            </p:cNvSpPr>
            <p:nvPr/>
          </p:nvSpPr>
          <p:spPr bwMode="auto">
            <a:xfrm flipH="1">
              <a:off x="984" y="1463"/>
              <a:ext cx="104" cy="106"/>
            </a:xfrm>
            <a:prstGeom prst="line">
              <a:avLst/>
            </a:prstGeom>
            <a:noFill/>
            <a:ln w="28575">
              <a:solidFill>
                <a:schemeClr val="tx1"/>
              </a:solidFill>
              <a:round/>
              <a:headEnd/>
              <a:tailEnd/>
            </a:ln>
          </p:spPr>
          <p:txBody>
            <a:bodyPr/>
            <a:lstStyle/>
            <a:p>
              <a:endParaRPr lang="en-US"/>
            </a:p>
          </p:txBody>
        </p:sp>
        <p:sp>
          <p:nvSpPr>
            <p:cNvPr id="3109" name="Line 15"/>
            <p:cNvSpPr>
              <a:spLocks noChangeShapeType="1"/>
            </p:cNvSpPr>
            <p:nvPr/>
          </p:nvSpPr>
          <p:spPr bwMode="auto">
            <a:xfrm>
              <a:off x="998" y="1378"/>
              <a:ext cx="194" cy="0"/>
            </a:xfrm>
            <a:prstGeom prst="line">
              <a:avLst/>
            </a:prstGeom>
            <a:noFill/>
            <a:ln w="28575">
              <a:solidFill>
                <a:schemeClr val="tx1"/>
              </a:solidFill>
              <a:round/>
              <a:headEnd/>
              <a:tailEnd/>
            </a:ln>
          </p:spPr>
          <p:txBody>
            <a:bodyPr/>
            <a:lstStyle/>
            <a:p>
              <a:endParaRPr lang="en-US"/>
            </a:p>
          </p:txBody>
        </p:sp>
        <p:sp>
          <p:nvSpPr>
            <p:cNvPr id="3110" name="Line 16"/>
            <p:cNvSpPr>
              <a:spLocks noChangeShapeType="1"/>
            </p:cNvSpPr>
            <p:nvPr/>
          </p:nvSpPr>
          <p:spPr bwMode="auto">
            <a:xfrm>
              <a:off x="1091" y="1460"/>
              <a:ext cx="104" cy="106"/>
            </a:xfrm>
            <a:prstGeom prst="line">
              <a:avLst/>
            </a:prstGeom>
            <a:noFill/>
            <a:ln w="28575">
              <a:solidFill>
                <a:schemeClr val="tx1"/>
              </a:solidFill>
              <a:round/>
              <a:headEnd/>
              <a:tailEnd/>
            </a:ln>
          </p:spPr>
          <p:txBody>
            <a:bodyPr/>
            <a:lstStyle/>
            <a:p>
              <a:endParaRPr lang="en-US"/>
            </a:p>
          </p:txBody>
        </p:sp>
      </p:grpSp>
      <p:grpSp>
        <p:nvGrpSpPr>
          <p:cNvPr id="4" name="Group 31"/>
          <p:cNvGrpSpPr>
            <a:grpSpLocks/>
          </p:cNvGrpSpPr>
          <p:nvPr/>
        </p:nvGrpSpPr>
        <p:grpSpPr bwMode="auto">
          <a:xfrm>
            <a:off x="9949286" y="5002213"/>
            <a:ext cx="446500" cy="588963"/>
            <a:chOff x="984" y="1198"/>
            <a:chExt cx="211" cy="371"/>
          </a:xfrm>
        </p:grpSpPr>
        <p:sp>
          <p:nvSpPr>
            <p:cNvPr id="3101" name="Oval 32"/>
            <p:cNvSpPr>
              <a:spLocks noChangeArrowheads="1"/>
            </p:cNvSpPr>
            <p:nvPr/>
          </p:nvSpPr>
          <p:spPr bwMode="auto">
            <a:xfrm>
              <a:off x="1043" y="1198"/>
              <a:ext cx="104" cy="109"/>
            </a:xfrm>
            <a:prstGeom prst="ellipse">
              <a:avLst/>
            </a:prstGeom>
            <a:noFill/>
            <a:ln w="28575">
              <a:solidFill>
                <a:schemeClr val="tx1"/>
              </a:solidFill>
              <a:round/>
              <a:headEnd/>
              <a:tailEnd/>
            </a:ln>
          </p:spPr>
          <p:txBody>
            <a:bodyPr/>
            <a:lstStyle/>
            <a:p>
              <a:pPr eaLnBrk="0" hangingPunct="0"/>
              <a:endParaRPr lang="nl-NL"/>
            </a:p>
          </p:txBody>
        </p:sp>
        <p:sp>
          <p:nvSpPr>
            <p:cNvPr id="3102" name="Line 33"/>
            <p:cNvSpPr>
              <a:spLocks noChangeShapeType="1"/>
            </p:cNvSpPr>
            <p:nvPr/>
          </p:nvSpPr>
          <p:spPr bwMode="auto">
            <a:xfrm>
              <a:off x="1094" y="1305"/>
              <a:ext cx="0" cy="154"/>
            </a:xfrm>
            <a:prstGeom prst="line">
              <a:avLst/>
            </a:prstGeom>
            <a:noFill/>
            <a:ln w="28575">
              <a:solidFill>
                <a:schemeClr val="tx1"/>
              </a:solidFill>
              <a:round/>
              <a:headEnd/>
              <a:tailEnd/>
            </a:ln>
          </p:spPr>
          <p:txBody>
            <a:bodyPr/>
            <a:lstStyle/>
            <a:p>
              <a:endParaRPr lang="en-US"/>
            </a:p>
          </p:txBody>
        </p:sp>
        <p:sp>
          <p:nvSpPr>
            <p:cNvPr id="3103" name="Line 34"/>
            <p:cNvSpPr>
              <a:spLocks noChangeShapeType="1"/>
            </p:cNvSpPr>
            <p:nvPr/>
          </p:nvSpPr>
          <p:spPr bwMode="auto">
            <a:xfrm flipH="1">
              <a:off x="984" y="1463"/>
              <a:ext cx="104" cy="106"/>
            </a:xfrm>
            <a:prstGeom prst="line">
              <a:avLst/>
            </a:prstGeom>
            <a:noFill/>
            <a:ln w="28575">
              <a:solidFill>
                <a:schemeClr val="tx1"/>
              </a:solidFill>
              <a:round/>
              <a:headEnd/>
              <a:tailEnd/>
            </a:ln>
          </p:spPr>
          <p:txBody>
            <a:bodyPr/>
            <a:lstStyle/>
            <a:p>
              <a:endParaRPr lang="en-US"/>
            </a:p>
          </p:txBody>
        </p:sp>
        <p:sp>
          <p:nvSpPr>
            <p:cNvPr id="3104" name="Line 35"/>
            <p:cNvSpPr>
              <a:spLocks noChangeShapeType="1"/>
            </p:cNvSpPr>
            <p:nvPr/>
          </p:nvSpPr>
          <p:spPr bwMode="auto">
            <a:xfrm>
              <a:off x="998" y="1378"/>
              <a:ext cx="194" cy="0"/>
            </a:xfrm>
            <a:prstGeom prst="line">
              <a:avLst/>
            </a:prstGeom>
            <a:noFill/>
            <a:ln w="28575">
              <a:solidFill>
                <a:schemeClr val="tx1"/>
              </a:solidFill>
              <a:round/>
              <a:headEnd/>
              <a:tailEnd/>
            </a:ln>
          </p:spPr>
          <p:txBody>
            <a:bodyPr/>
            <a:lstStyle/>
            <a:p>
              <a:endParaRPr lang="en-US"/>
            </a:p>
          </p:txBody>
        </p:sp>
        <p:sp>
          <p:nvSpPr>
            <p:cNvPr id="3105" name="Line 36"/>
            <p:cNvSpPr>
              <a:spLocks noChangeShapeType="1"/>
            </p:cNvSpPr>
            <p:nvPr/>
          </p:nvSpPr>
          <p:spPr bwMode="auto">
            <a:xfrm>
              <a:off x="1091" y="1460"/>
              <a:ext cx="104" cy="106"/>
            </a:xfrm>
            <a:prstGeom prst="line">
              <a:avLst/>
            </a:prstGeom>
            <a:noFill/>
            <a:ln w="28575">
              <a:solidFill>
                <a:schemeClr val="tx1"/>
              </a:solidFill>
              <a:round/>
              <a:headEnd/>
              <a:tailEnd/>
            </a:ln>
          </p:spPr>
          <p:txBody>
            <a:bodyPr/>
            <a:lstStyle/>
            <a:p>
              <a:endParaRPr lang="en-US"/>
            </a:p>
          </p:txBody>
        </p:sp>
      </p:grpSp>
      <p:sp>
        <p:nvSpPr>
          <p:cNvPr id="3092" name="Text Box 37"/>
          <p:cNvSpPr txBox="1">
            <a:spLocks noChangeArrowheads="1"/>
          </p:cNvSpPr>
          <p:nvPr/>
        </p:nvSpPr>
        <p:spPr bwMode="auto">
          <a:xfrm>
            <a:off x="8760031" y="5651501"/>
            <a:ext cx="2820781" cy="284671"/>
          </a:xfrm>
          <a:prstGeom prst="rect">
            <a:avLst/>
          </a:prstGeom>
          <a:noFill/>
          <a:ln w="12700" algn="ctr">
            <a:noFill/>
            <a:miter lim="800000"/>
            <a:headEnd/>
            <a:tailEnd/>
          </a:ln>
        </p:spPr>
        <p:txBody>
          <a:bodyPr lIns="121899" tIns="60949" rIns="121899" bIns="60949">
            <a:spAutoFit/>
          </a:bodyPr>
          <a:lstStyle/>
          <a:p>
            <a:pPr eaLnBrk="0" hangingPunct="0">
              <a:lnSpc>
                <a:spcPct val="50000"/>
              </a:lnSpc>
            </a:pPr>
            <a:r>
              <a:rPr lang="en-US" sz="2100" dirty="0"/>
              <a:t>Actor Name</a:t>
            </a:r>
          </a:p>
        </p:txBody>
      </p:sp>
      <p:sp>
        <p:nvSpPr>
          <p:cNvPr id="3093" name="Text Box 38"/>
          <p:cNvSpPr txBox="1">
            <a:spLocks noChangeArrowheads="1"/>
          </p:cNvSpPr>
          <p:nvPr/>
        </p:nvSpPr>
        <p:spPr bwMode="auto">
          <a:xfrm>
            <a:off x="511411" y="5916613"/>
            <a:ext cx="2020890" cy="284671"/>
          </a:xfrm>
          <a:prstGeom prst="rect">
            <a:avLst/>
          </a:prstGeom>
          <a:noFill/>
          <a:ln w="12700" algn="ctr">
            <a:noFill/>
            <a:miter lim="800000"/>
            <a:headEnd/>
            <a:tailEnd/>
          </a:ln>
        </p:spPr>
        <p:txBody>
          <a:bodyPr lIns="121899" tIns="60949" rIns="121899" bIns="60949">
            <a:spAutoFit/>
          </a:bodyPr>
          <a:lstStyle/>
          <a:p>
            <a:pPr eaLnBrk="0" hangingPunct="0">
              <a:lnSpc>
                <a:spcPct val="50000"/>
              </a:lnSpc>
            </a:pPr>
            <a:r>
              <a:rPr lang="en-US" sz="2100" dirty="0"/>
              <a:t>Actor Name</a:t>
            </a:r>
          </a:p>
        </p:txBody>
      </p:sp>
      <p:sp>
        <p:nvSpPr>
          <p:cNvPr id="3094" name="Line 59"/>
          <p:cNvSpPr>
            <a:spLocks noChangeShapeType="1"/>
          </p:cNvSpPr>
          <p:nvPr/>
        </p:nvSpPr>
        <p:spPr bwMode="auto">
          <a:xfrm>
            <a:off x="1886886" y="5686426"/>
            <a:ext cx="1733098" cy="49213"/>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3095" name="Line 60"/>
          <p:cNvSpPr>
            <a:spLocks noChangeShapeType="1"/>
          </p:cNvSpPr>
          <p:nvPr/>
        </p:nvSpPr>
        <p:spPr bwMode="auto">
          <a:xfrm flipH="1">
            <a:off x="7682928" y="5311777"/>
            <a:ext cx="2097071" cy="250825"/>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3096" name="Line 65"/>
          <p:cNvSpPr>
            <a:spLocks noChangeShapeType="1"/>
          </p:cNvSpPr>
          <p:nvPr/>
        </p:nvSpPr>
        <p:spPr bwMode="auto">
          <a:xfrm>
            <a:off x="2138705" y="2733676"/>
            <a:ext cx="2763647" cy="1782763"/>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3097" name="Line 60"/>
          <p:cNvSpPr>
            <a:spLocks noChangeShapeType="1"/>
          </p:cNvSpPr>
          <p:nvPr/>
        </p:nvSpPr>
        <p:spPr bwMode="auto">
          <a:xfrm flipH="1" flipV="1">
            <a:off x="2145054" y="3281364"/>
            <a:ext cx="1678079" cy="2205037"/>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3098" name="Oval 61"/>
          <p:cNvSpPr>
            <a:spLocks noChangeArrowheads="1"/>
          </p:cNvSpPr>
          <p:nvPr/>
        </p:nvSpPr>
        <p:spPr bwMode="auto">
          <a:xfrm>
            <a:off x="5854602" y="5327650"/>
            <a:ext cx="1828324" cy="615951"/>
          </a:xfrm>
          <a:prstGeom prst="ellipse">
            <a:avLst/>
          </a:prstGeom>
          <a:solidFill>
            <a:srgbClr val="FFFFFF"/>
          </a:solidFill>
          <a:ln w="28575">
            <a:solidFill>
              <a:schemeClr val="tx1"/>
            </a:solidFill>
            <a:round/>
            <a:headEnd/>
            <a:tailEnd/>
          </a:ln>
        </p:spPr>
        <p:txBody>
          <a:bodyPr lIns="0" tIns="0" rIns="0" bIns="0" anchor="ctr" anchorCtr="1"/>
          <a:lstStyle/>
          <a:p>
            <a:pPr eaLnBrk="0" hangingPunct="0">
              <a:lnSpc>
                <a:spcPts val="1600"/>
              </a:lnSpc>
            </a:pPr>
            <a:endParaRPr lang="en-US" sz="1900" dirty="0"/>
          </a:p>
        </p:txBody>
      </p:sp>
      <p:sp>
        <p:nvSpPr>
          <p:cNvPr id="3099" name="Oval 61"/>
          <p:cNvSpPr>
            <a:spLocks noChangeArrowheads="1"/>
          </p:cNvSpPr>
          <p:nvPr/>
        </p:nvSpPr>
        <p:spPr bwMode="auto">
          <a:xfrm>
            <a:off x="3619984" y="5410201"/>
            <a:ext cx="1828324" cy="615951"/>
          </a:xfrm>
          <a:prstGeom prst="ellipse">
            <a:avLst/>
          </a:prstGeom>
          <a:solidFill>
            <a:srgbClr val="FFFFFF"/>
          </a:solidFill>
          <a:ln w="28575">
            <a:solidFill>
              <a:schemeClr val="tx1"/>
            </a:solidFill>
            <a:round/>
            <a:headEnd/>
            <a:tailEnd/>
          </a:ln>
        </p:spPr>
        <p:txBody>
          <a:bodyPr lIns="0" tIns="0" rIns="0" bIns="0" anchor="ctr" anchorCtr="1"/>
          <a:lstStyle/>
          <a:p>
            <a:pPr eaLnBrk="0" hangingPunct="0">
              <a:lnSpc>
                <a:spcPts val="1600"/>
              </a:lnSpc>
            </a:pPr>
            <a:endParaRPr lang="en-US" sz="1900" dirty="0"/>
          </a:p>
        </p:txBody>
      </p:sp>
      <p:sp>
        <p:nvSpPr>
          <p:cNvPr id="3100" name="Oval 61"/>
          <p:cNvSpPr>
            <a:spLocks noChangeArrowheads="1"/>
          </p:cNvSpPr>
          <p:nvPr/>
        </p:nvSpPr>
        <p:spPr bwMode="auto">
          <a:xfrm>
            <a:off x="4766918" y="4332289"/>
            <a:ext cx="1828324" cy="615951"/>
          </a:xfrm>
          <a:prstGeom prst="ellipse">
            <a:avLst/>
          </a:prstGeom>
          <a:solidFill>
            <a:srgbClr val="FFFFFF"/>
          </a:solidFill>
          <a:ln w="28575">
            <a:solidFill>
              <a:schemeClr val="tx1"/>
            </a:solidFill>
            <a:round/>
            <a:headEnd/>
            <a:tailEnd/>
          </a:ln>
        </p:spPr>
        <p:txBody>
          <a:bodyPr lIns="0" tIns="0" rIns="0" bIns="0" anchor="ctr" anchorCtr="1"/>
          <a:lstStyle/>
          <a:p>
            <a:pPr eaLnBrk="0" hangingPunct="0">
              <a:lnSpc>
                <a:spcPts val="1600"/>
              </a:lnSpc>
            </a:pPr>
            <a:endParaRPr lang="en-US" sz="1900" dirty="0"/>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smtClean="0"/>
              <a:t>Use Case Template</a:t>
            </a:r>
            <a:endParaRPr lang="en-US" dirty="0" smtClean="0"/>
          </a:p>
        </p:txBody>
      </p:sp>
      <p:sp>
        <p:nvSpPr>
          <p:cNvPr id="14" name="Text Placeholder 13"/>
          <p:cNvSpPr>
            <a:spLocks noGrp="1"/>
          </p:cNvSpPr>
          <p:nvPr>
            <p:ph type="body" sz="quarter" idx="13"/>
          </p:nvPr>
        </p:nvSpPr>
        <p:spPr/>
        <p:txBody>
          <a:bodyPr/>
          <a:lstStyle/>
          <a:p>
            <a:r>
              <a:rPr lang="en-US" smtClean="0"/>
              <a:t>Additional Options</a:t>
            </a:r>
            <a:endParaRPr lang="en-US" dirty="0"/>
          </a:p>
        </p:txBody>
      </p:sp>
      <p:sp>
        <p:nvSpPr>
          <p:cNvPr id="4100" name="Rectangle 66"/>
          <p:cNvSpPr>
            <a:spLocks noChangeArrowheads="1"/>
          </p:cNvSpPr>
          <p:nvPr/>
        </p:nvSpPr>
        <p:spPr bwMode="auto">
          <a:xfrm>
            <a:off x="3318743" y="1657350"/>
            <a:ext cx="5366469" cy="3492500"/>
          </a:xfrm>
          <a:prstGeom prst="rect">
            <a:avLst/>
          </a:prstGeom>
          <a:noFill/>
          <a:ln w="12700" algn="ctr">
            <a:solidFill>
              <a:schemeClr val="bg2"/>
            </a:solidFill>
            <a:miter lim="800000"/>
            <a:headEnd/>
            <a:tailEnd/>
          </a:ln>
        </p:spPr>
        <p:txBody>
          <a:bodyPr lIns="121899" tIns="60949" rIns="121899" bIns="60949" anchorCtr="1"/>
          <a:lstStyle/>
          <a:p>
            <a:pPr eaLnBrk="0" hangingPunct="0"/>
            <a:r>
              <a:rPr lang="nl-NL" sz="2400" dirty="0"/>
              <a:t>System Name</a:t>
            </a:r>
          </a:p>
        </p:txBody>
      </p:sp>
      <p:sp>
        <p:nvSpPr>
          <p:cNvPr id="4101" name="Oval 61"/>
          <p:cNvSpPr>
            <a:spLocks noChangeArrowheads="1"/>
          </p:cNvSpPr>
          <p:nvPr/>
        </p:nvSpPr>
        <p:spPr bwMode="auto">
          <a:xfrm>
            <a:off x="3479568" y="2636838"/>
            <a:ext cx="1718286" cy="615951"/>
          </a:xfrm>
          <a:prstGeom prst="ellipse">
            <a:avLst/>
          </a:prstGeom>
          <a:solidFill>
            <a:srgbClr val="FFFFFF"/>
          </a:solidFill>
          <a:ln w="28575">
            <a:solidFill>
              <a:schemeClr val="tx1"/>
            </a:solidFill>
            <a:round/>
            <a:headEnd/>
            <a:tailEnd/>
          </a:ln>
        </p:spPr>
        <p:txBody>
          <a:bodyPr lIns="121899" tIns="60949" rIns="121899" bIns="60949" anchor="ctr" anchorCtr="1"/>
          <a:lstStyle/>
          <a:p>
            <a:pPr eaLnBrk="0" hangingPunct="0">
              <a:lnSpc>
                <a:spcPts val="1600"/>
              </a:lnSpc>
            </a:pPr>
            <a:endParaRPr lang="en-US" sz="1900" dirty="0"/>
          </a:p>
        </p:txBody>
      </p:sp>
      <p:pic>
        <p:nvPicPr>
          <p:cNvPr id="4102" name="Picture 10" descr="C:\Documents and Settings\acaselno\Local Settings\Temporary Internet Files\Content.IE5\Y6UD4BM7\MC900441468[1].png"/>
          <p:cNvPicPr>
            <a:picLocks noChangeAspect="1" noChangeArrowheads="1"/>
          </p:cNvPicPr>
          <p:nvPr/>
        </p:nvPicPr>
        <p:blipFill>
          <a:blip r:embed="rId2" cstate="print"/>
          <a:srcRect/>
          <a:stretch>
            <a:fillRect/>
          </a:stretch>
        </p:blipFill>
        <p:spPr bwMode="auto">
          <a:xfrm>
            <a:off x="3511311" y="5349875"/>
            <a:ext cx="1705589" cy="1279525"/>
          </a:xfrm>
          <a:prstGeom prst="rect">
            <a:avLst/>
          </a:prstGeom>
          <a:noFill/>
          <a:ln w="9525">
            <a:noFill/>
            <a:miter lim="800000"/>
            <a:headEnd/>
            <a:tailEnd/>
          </a:ln>
        </p:spPr>
      </p:pic>
      <p:sp>
        <p:nvSpPr>
          <p:cNvPr id="4103" name="Line 13"/>
          <p:cNvSpPr>
            <a:spLocks noChangeShapeType="1"/>
          </p:cNvSpPr>
          <p:nvPr/>
        </p:nvSpPr>
        <p:spPr bwMode="auto">
          <a:xfrm flipV="1">
            <a:off x="4355639" y="3252788"/>
            <a:ext cx="0" cy="2212975"/>
          </a:xfrm>
          <a:prstGeom prst="line">
            <a:avLst/>
          </a:prstGeom>
          <a:noFill/>
          <a:ln w="38100">
            <a:solidFill>
              <a:schemeClr val="tx1"/>
            </a:solidFill>
            <a:round/>
            <a:headEnd/>
            <a:tailEnd type="arrow" w="med" len="lg"/>
          </a:ln>
        </p:spPr>
        <p:txBody>
          <a:bodyPr wrap="none" lIns="121899" tIns="60949" rIns="121899" bIns="60949" anchor="ctr"/>
          <a:lstStyle/>
          <a:p>
            <a:endParaRPr lang="en-US"/>
          </a:p>
        </p:txBody>
      </p:sp>
      <p:sp>
        <p:nvSpPr>
          <p:cNvPr id="4104" name="Oval 61"/>
          <p:cNvSpPr>
            <a:spLocks noChangeArrowheads="1"/>
          </p:cNvSpPr>
          <p:nvPr/>
        </p:nvSpPr>
        <p:spPr bwMode="auto">
          <a:xfrm>
            <a:off x="6814565" y="2316163"/>
            <a:ext cx="1718286" cy="615951"/>
          </a:xfrm>
          <a:prstGeom prst="ellipse">
            <a:avLst/>
          </a:prstGeom>
          <a:solidFill>
            <a:srgbClr val="FFFFFF"/>
          </a:solidFill>
          <a:ln w="28575">
            <a:solidFill>
              <a:schemeClr val="tx1"/>
            </a:solidFill>
            <a:round/>
            <a:headEnd/>
            <a:tailEnd/>
          </a:ln>
        </p:spPr>
        <p:txBody>
          <a:bodyPr lIns="121899" tIns="60949" rIns="121899" bIns="60949" anchor="ctr" anchorCtr="1"/>
          <a:lstStyle/>
          <a:p>
            <a:pPr eaLnBrk="0" hangingPunct="0">
              <a:lnSpc>
                <a:spcPts val="1600"/>
              </a:lnSpc>
            </a:pPr>
            <a:endParaRPr lang="en-US" sz="1900" dirty="0"/>
          </a:p>
        </p:txBody>
      </p:sp>
      <p:sp>
        <p:nvSpPr>
          <p:cNvPr id="4105" name="Oval 61"/>
          <p:cNvSpPr>
            <a:spLocks noChangeArrowheads="1"/>
          </p:cNvSpPr>
          <p:nvPr/>
        </p:nvSpPr>
        <p:spPr bwMode="auto">
          <a:xfrm>
            <a:off x="6751082" y="4160838"/>
            <a:ext cx="1718286" cy="615951"/>
          </a:xfrm>
          <a:prstGeom prst="ellipse">
            <a:avLst/>
          </a:prstGeom>
          <a:solidFill>
            <a:srgbClr val="FFFFFF"/>
          </a:solidFill>
          <a:ln w="28575">
            <a:solidFill>
              <a:schemeClr val="tx1"/>
            </a:solidFill>
            <a:round/>
            <a:headEnd/>
            <a:tailEnd/>
          </a:ln>
        </p:spPr>
        <p:txBody>
          <a:bodyPr lIns="121899" tIns="60949" rIns="121899" bIns="60949" anchor="ctr" anchorCtr="1"/>
          <a:lstStyle/>
          <a:p>
            <a:pPr eaLnBrk="0" hangingPunct="0">
              <a:lnSpc>
                <a:spcPts val="1600"/>
              </a:lnSpc>
            </a:pPr>
            <a:endParaRPr lang="en-US" sz="1900" dirty="0"/>
          </a:p>
        </p:txBody>
      </p:sp>
      <p:sp>
        <p:nvSpPr>
          <p:cNvPr id="4106" name="Line 40"/>
          <p:cNvSpPr>
            <a:spLocks noChangeShapeType="1"/>
          </p:cNvSpPr>
          <p:nvPr/>
        </p:nvSpPr>
        <p:spPr bwMode="auto">
          <a:xfrm>
            <a:off x="5020102" y="3162300"/>
            <a:ext cx="1728866" cy="1195388"/>
          </a:xfrm>
          <a:prstGeom prst="line">
            <a:avLst/>
          </a:prstGeom>
          <a:noFill/>
          <a:ln w="28575">
            <a:solidFill>
              <a:schemeClr val="tx1"/>
            </a:solidFill>
            <a:prstDash val="dash"/>
            <a:round/>
            <a:headEnd type="none" w="sm" len="sm"/>
            <a:tailEnd type="stealth" w="med" len="lg"/>
          </a:ln>
        </p:spPr>
        <p:txBody>
          <a:bodyPr lIns="122745" tIns="61373" rIns="122745" bIns="61373" anchor="ctr"/>
          <a:lstStyle/>
          <a:p>
            <a:endParaRPr lang="en-US"/>
          </a:p>
        </p:txBody>
      </p:sp>
      <p:sp>
        <p:nvSpPr>
          <p:cNvPr id="4107" name="Text Box 22"/>
          <p:cNvSpPr txBox="1">
            <a:spLocks noChangeArrowheads="1"/>
          </p:cNvSpPr>
          <p:nvPr/>
        </p:nvSpPr>
        <p:spPr bwMode="auto">
          <a:xfrm rot="13332516" flipV="1">
            <a:off x="5282500" y="3418480"/>
            <a:ext cx="1553229" cy="416332"/>
          </a:xfrm>
          <a:prstGeom prst="rect">
            <a:avLst/>
          </a:prstGeom>
          <a:noFill/>
          <a:ln w="12700">
            <a:noFill/>
            <a:miter lim="800000"/>
            <a:headEnd type="none" w="sm" len="sm"/>
            <a:tailEnd type="none" w="med" len="lg"/>
          </a:ln>
        </p:spPr>
        <p:txBody>
          <a:bodyPr lIns="122745" tIns="61373" rIns="122745" bIns="61373">
            <a:spAutoFit/>
          </a:bodyPr>
          <a:lstStyle/>
          <a:p>
            <a:pPr>
              <a:spcBef>
                <a:spcPct val="0"/>
              </a:spcBef>
            </a:pPr>
            <a:r>
              <a:rPr lang="en-US" sz="1900" dirty="0">
                <a:cs typeface="Arial" charset="0"/>
              </a:rPr>
              <a:t>«</a:t>
            </a:r>
            <a:r>
              <a:rPr lang="en-US" sz="1900" dirty="0"/>
              <a:t>include</a:t>
            </a:r>
            <a:r>
              <a:rPr lang="en-US" sz="1900" dirty="0">
                <a:cs typeface="Times New Roman" pitchFamily="18" charset="0"/>
              </a:rPr>
              <a:t>»</a:t>
            </a:r>
          </a:p>
        </p:txBody>
      </p:sp>
      <p:sp>
        <p:nvSpPr>
          <p:cNvPr id="4108" name="Line 40"/>
          <p:cNvSpPr>
            <a:spLocks noChangeShapeType="1"/>
          </p:cNvSpPr>
          <p:nvPr/>
        </p:nvSpPr>
        <p:spPr bwMode="auto">
          <a:xfrm flipH="1">
            <a:off x="5210552" y="2705100"/>
            <a:ext cx="1576505" cy="206375"/>
          </a:xfrm>
          <a:prstGeom prst="line">
            <a:avLst/>
          </a:prstGeom>
          <a:noFill/>
          <a:ln w="28575">
            <a:solidFill>
              <a:schemeClr val="tx1"/>
            </a:solidFill>
            <a:prstDash val="dash"/>
            <a:round/>
            <a:headEnd type="none" w="sm" len="sm"/>
            <a:tailEnd type="stealth" w="med" len="lg"/>
          </a:ln>
        </p:spPr>
        <p:txBody>
          <a:bodyPr lIns="122745" tIns="61373" rIns="122745" bIns="61373" anchor="ctr"/>
          <a:lstStyle/>
          <a:p>
            <a:endParaRPr lang="en-US"/>
          </a:p>
        </p:txBody>
      </p:sp>
      <p:sp>
        <p:nvSpPr>
          <p:cNvPr id="4109" name="Text Box 22"/>
          <p:cNvSpPr txBox="1">
            <a:spLocks noChangeArrowheads="1"/>
          </p:cNvSpPr>
          <p:nvPr/>
        </p:nvSpPr>
        <p:spPr bwMode="auto">
          <a:xfrm rot="10059129" flipV="1">
            <a:off x="5212667" y="2373109"/>
            <a:ext cx="1553229" cy="416332"/>
          </a:xfrm>
          <a:prstGeom prst="rect">
            <a:avLst/>
          </a:prstGeom>
          <a:noFill/>
          <a:ln w="12700">
            <a:noFill/>
            <a:miter lim="800000"/>
            <a:headEnd type="none" w="sm" len="sm"/>
            <a:tailEnd type="none" w="med" len="lg"/>
          </a:ln>
        </p:spPr>
        <p:txBody>
          <a:bodyPr lIns="122745" tIns="61373" rIns="122745" bIns="61373">
            <a:spAutoFit/>
          </a:bodyPr>
          <a:lstStyle/>
          <a:p>
            <a:pPr>
              <a:spcBef>
                <a:spcPct val="0"/>
              </a:spcBef>
            </a:pPr>
            <a:r>
              <a:rPr lang="en-US" sz="1900" dirty="0">
                <a:cs typeface="Arial" charset="0"/>
              </a:rPr>
              <a:t>«</a:t>
            </a:r>
            <a:r>
              <a:rPr lang="en-US" sz="1900" dirty="0"/>
              <a:t>extends</a:t>
            </a:r>
            <a:r>
              <a:rPr lang="en-US" sz="1900" dirty="0">
                <a:cs typeface="Times New Roman" pitchFamily="18" charset="0"/>
              </a:rPr>
              <a:t>»</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Actors</a:t>
            </a:r>
            <a:endParaRPr lang="en-US" dirty="0"/>
          </a:p>
        </p:txBody>
      </p:sp>
      <p:graphicFrame>
        <p:nvGraphicFramePr>
          <p:cNvPr id="6" name="Content Placeholder 5"/>
          <p:cNvGraphicFramePr>
            <a:graphicFrameLocks noGrp="1"/>
          </p:cNvGraphicFramePr>
          <p:nvPr>
            <p:ph idx="1"/>
          </p:nvPr>
        </p:nvGraphicFramePr>
        <p:xfrm>
          <a:off x="531813" y="1524000"/>
          <a:ext cx="11125200" cy="2966720"/>
        </p:xfrm>
        <a:graphic>
          <a:graphicData uri="http://schemas.openxmlformats.org/drawingml/2006/table">
            <a:tbl>
              <a:tblPr firstRow="1" bandRow="1">
                <a:tableStyleId>{5FD0F851-EC5A-4D38-B0AD-8093EC10F338}</a:tableStyleId>
              </a:tblPr>
              <a:tblGrid>
                <a:gridCol w="5562600"/>
                <a:gridCol w="5562600"/>
              </a:tblGrid>
              <a:tr h="370840">
                <a:tc>
                  <a:txBody>
                    <a:bodyPr/>
                    <a:lstStyle/>
                    <a:p>
                      <a:r>
                        <a:rPr lang="en-US" dirty="0" smtClean="0"/>
                        <a:t>Name</a:t>
                      </a:r>
                      <a:endParaRPr lang="en-US" dirty="0"/>
                    </a:p>
                  </a:txBody>
                  <a:tcPr/>
                </a:tc>
                <a:tc>
                  <a:txBody>
                    <a:bodyPr/>
                    <a:lstStyle/>
                    <a:p>
                      <a:r>
                        <a:rPr lang="en-US" dirty="0" smtClean="0"/>
                        <a:t>Description</a:t>
                      </a:r>
                      <a:endParaRPr lang="en-US" dirty="0"/>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bl>
          </a:graphicData>
        </a:graphic>
      </p:graphicFrame>
      <p:sp>
        <p:nvSpPr>
          <p:cNvPr id="4" name="Footer Placeholder 3"/>
          <p:cNvSpPr>
            <a:spLocks noGrp="1"/>
          </p:cNvSpPr>
          <p:nvPr>
            <p:ph type="ftr" sz="quarter" idx="11"/>
          </p:nvPr>
        </p:nvSpPr>
        <p:spPr/>
        <p:txBody>
          <a:bodyPr/>
          <a:lstStyle/>
          <a:p>
            <a:r>
              <a:rPr lang="en-US"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3</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Brief Descriptions</a:t>
            </a:r>
            <a:endParaRPr lang="en-US" dirty="0"/>
          </a:p>
        </p:txBody>
      </p:sp>
      <p:graphicFrame>
        <p:nvGraphicFramePr>
          <p:cNvPr id="6" name="Content Placeholder 5"/>
          <p:cNvGraphicFramePr>
            <a:graphicFrameLocks noGrp="1"/>
          </p:cNvGraphicFramePr>
          <p:nvPr>
            <p:ph idx="1"/>
          </p:nvPr>
        </p:nvGraphicFramePr>
        <p:xfrm>
          <a:off x="531813" y="1524000"/>
          <a:ext cx="11125200" cy="3784600"/>
        </p:xfrm>
        <a:graphic>
          <a:graphicData uri="http://schemas.openxmlformats.org/drawingml/2006/table">
            <a:tbl>
              <a:tblPr firstRow="1" bandRow="1">
                <a:tableStyleId>{5FD0F851-EC5A-4D38-B0AD-8093EC10F338}</a:tableStyleId>
              </a:tblPr>
              <a:tblGrid>
                <a:gridCol w="5562600"/>
                <a:gridCol w="5562600"/>
              </a:tblGrid>
              <a:tr h="370840">
                <a:tc>
                  <a:txBody>
                    <a:bodyPr/>
                    <a:lstStyle/>
                    <a:p>
                      <a:r>
                        <a:rPr lang="en-US" dirty="0" smtClean="0"/>
                        <a:t>Use Case Name</a:t>
                      </a:r>
                      <a:endParaRPr lang="en-US" dirty="0"/>
                    </a:p>
                  </a:txBody>
                  <a:tcPr/>
                </a:tc>
                <a:tc>
                  <a:txBody>
                    <a:bodyPr/>
                    <a:lstStyle/>
                    <a:p>
                      <a:r>
                        <a:rPr lang="en-US" dirty="0" smtClean="0"/>
                        <a:t>Description</a:t>
                      </a:r>
                      <a:endParaRPr lang="en-US" dirty="0"/>
                    </a:p>
                  </a:txBody>
                  <a:tcPr/>
                </a:tc>
              </a:tr>
              <a:tr h="370840">
                <a:tc>
                  <a:txBody>
                    <a:bodyPr/>
                    <a:lstStyle/>
                    <a:p>
                      <a:r>
                        <a:rPr lang="en-US" dirty="0" err="1" smtClean="0"/>
                        <a:t>UCnnn</a:t>
                      </a:r>
                      <a:r>
                        <a:rPr lang="en-US" baseline="0" dirty="0" smtClean="0"/>
                        <a:t> &lt;Verb-Noun&gt;</a:t>
                      </a:r>
                      <a:endParaRPr lang="en-US" dirty="0"/>
                    </a:p>
                  </a:txBody>
                  <a:tcPr/>
                </a:tc>
                <a:tc>
                  <a:txBody>
                    <a:bodyPr/>
                    <a:lstStyle/>
                    <a:p>
                      <a:r>
                        <a:rPr lang="en-US" dirty="0" smtClean="0"/>
                        <a:t>This use case begins when the &lt;primary</a:t>
                      </a:r>
                      <a:r>
                        <a:rPr lang="en-US" baseline="0" dirty="0" smtClean="0"/>
                        <a:t> actor&gt; &lt;does something&gt;.</a:t>
                      </a:r>
                    </a:p>
                    <a:p>
                      <a:r>
                        <a:rPr lang="en-US" baseline="0" dirty="0" smtClean="0"/>
                        <a:t>The system responds by &lt;doing something&gt;.</a:t>
                      </a:r>
                    </a:p>
                    <a:p>
                      <a:r>
                        <a:rPr lang="en-US" baseline="0" dirty="0" smtClean="0"/>
                        <a:t>This use case ends when &lt;something happens</a:t>
                      </a:r>
                      <a:endParaRPr lang="en-US" dirty="0"/>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dirty="0"/>
                    </a:p>
                  </a:txBody>
                  <a:tcPr/>
                </a:tc>
              </a:tr>
            </a:tbl>
          </a:graphicData>
        </a:graphic>
      </p:graphicFrame>
      <p:sp>
        <p:nvSpPr>
          <p:cNvPr id="4" name="Footer Placeholder 3"/>
          <p:cNvSpPr>
            <a:spLocks noGrp="1"/>
          </p:cNvSpPr>
          <p:nvPr>
            <p:ph type="ftr" sz="quarter" idx="11"/>
          </p:nvPr>
        </p:nvSpPr>
        <p:spPr/>
        <p:txBody>
          <a:bodyPr/>
          <a:lstStyle/>
          <a:p>
            <a:r>
              <a:rPr lang="en-US"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4</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dirty="0" smtClean="0"/>
              <a:t>Use Case</a:t>
            </a:r>
            <a:endParaRPr lang="en-US" sz="2400" dirty="0" smtClean="0"/>
          </a:p>
        </p:txBody>
      </p:sp>
      <p:sp>
        <p:nvSpPr>
          <p:cNvPr id="42" name="Text Placeholder 41"/>
          <p:cNvSpPr>
            <a:spLocks noGrp="1"/>
          </p:cNvSpPr>
          <p:nvPr>
            <p:ph type="body" sz="quarter" idx="13"/>
          </p:nvPr>
        </p:nvSpPr>
        <p:spPr/>
        <p:txBody>
          <a:bodyPr/>
          <a:lstStyle/>
          <a:p>
            <a:r>
              <a:rPr lang="en-US" dirty="0" smtClean="0"/>
              <a:t>Example</a:t>
            </a:r>
            <a:endParaRPr lang="en-US" dirty="0"/>
          </a:p>
        </p:txBody>
      </p:sp>
      <p:sp>
        <p:nvSpPr>
          <p:cNvPr id="7171" name="Line 57"/>
          <p:cNvSpPr>
            <a:spLocks noChangeShapeType="1"/>
          </p:cNvSpPr>
          <p:nvPr/>
        </p:nvSpPr>
        <p:spPr bwMode="auto">
          <a:xfrm flipV="1">
            <a:off x="4822628" y="2278065"/>
            <a:ext cx="1362778" cy="3175"/>
          </a:xfrm>
          <a:prstGeom prst="line">
            <a:avLst/>
          </a:prstGeom>
          <a:noFill/>
          <a:ln w="19050">
            <a:solidFill>
              <a:schemeClr val="tx1"/>
            </a:solidFill>
            <a:prstDash val="dash"/>
            <a:round/>
            <a:headEnd type="none" w="sm" len="sm"/>
            <a:tailEnd type="stealth" w="med" len="lg"/>
          </a:ln>
        </p:spPr>
        <p:txBody>
          <a:bodyPr lIns="122745" tIns="61373" rIns="122745" bIns="61373" anchor="ctr"/>
          <a:lstStyle/>
          <a:p>
            <a:endParaRPr lang="en-US"/>
          </a:p>
        </p:txBody>
      </p:sp>
      <p:sp>
        <p:nvSpPr>
          <p:cNvPr id="7172" name="Text Box 58"/>
          <p:cNvSpPr txBox="1">
            <a:spLocks noChangeArrowheads="1"/>
          </p:cNvSpPr>
          <p:nvPr/>
        </p:nvSpPr>
        <p:spPr bwMode="auto">
          <a:xfrm>
            <a:off x="4917854" y="1955801"/>
            <a:ext cx="1139157" cy="416332"/>
          </a:xfrm>
          <a:prstGeom prst="rect">
            <a:avLst/>
          </a:prstGeom>
          <a:noFill/>
          <a:ln w="12700">
            <a:noFill/>
            <a:miter lim="800000"/>
            <a:headEnd type="none" w="sm" len="sm"/>
            <a:tailEnd type="none" w="med" len="lg"/>
          </a:ln>
        </p:spPr>
        <p:txBody>
          <a:bodyPr wrap="none" lIns="122745" tIns="61373" rIns="122745" bIns="61373">
            <a:spAutoFit/>
          </a:bodyPr>
          <a:lstStyle/>
          <a:p>
            <a:pPr>
              <a:spcBef>
                <a:spcPct val="0"/>
              </a:spcBef>
            </a:pPr>
            <a:r>
              <a:rPr lang="en-US" sz="1300" dirty="0">
                <a:cs typeface="Arial" charset="0"/>
              </a:rPr>
              <a:t>«</a:t>
            </a:r>
            <a:r>
              <a:rPr lang="en-US" sz="1900" dirty="0"/>
              <a:t>include</a:t>
            </a:r>
            <a:r>
              <a:rPr lang="en-US" sz="1300" dirty="0">
                <a:cs typeface="Times New Roman" pitchFamily="18" charset="0"/>
              </a:rPr>
              <a:t>»</a:t>
            </a:r>
          </a:p>
        </p:txBody>
      </p:sp>
      <p:sp>
        <p:nvSpPr>
          <p:cNvPr id="7174" name="Oval 12"/>
          <p:cNvSpPr>
            <a:spLocks noChangeArrowheads="1"/>
          </p:cNvSpPr>
          <p:nvPr/>
        </p:nvSpPr>
        <p:spPr bwMode="auto">
          <a:xfrm>
            <a:off x="3083183" y="2144714"/>
            <a:ext cx="1841020" cy="917575"/>
          </a:xfrm>
          <a:prstGeom prst="ellipse">
            <a:avLst/>
          </a:prstGeom>
          <a:noFill/>
          <a:ln w="28575">
            <a:solidFill>
              <a:schemeClr val="tx1"/>
            </a:solidFill>
            <a:round/>
            <a:headEnd/>
            <a:tailEnd/>
          </a:ln>
        </p:spPr>
        <p:txBody>
          <a:bodyPr wrap="none" lIns="121899" tIns="60949" rIns="121899" bIns="60949" anchor="ctr"/>
          <a:lstStyle/>
          <a:p>
            <a:pPr algn="ctr">
              <a:spcBef>
                <a:spcPct val="0"/>
              </a:spcBef>
            </a:pPr>
            <a:r>
              <a:rPr lang="en-US" sz="1300" b="1" dirty="0" smtClean="0"/>
              <a:t/>
            </a:r>
            <a:br>
              <a:rPr lang="en-US" sz="1300" b="1" dirty="0" smtClean="0"/>
            </a:br>
            <a:r>
              <a:rPr lang="en-US" sz="1300" b="1" dirty="0" smtClean="0"/>
              <a:t>UC002</a:t>
            </a:r>
          </a:p>
          <a:p>
            <a:pPr algn="ctr">
              <a:spcBef>
                <a:spcPct val="0"/>
              </a:spcBef>
            </a:pPr>
            <a:r>
              <a:rPr lang="en-US" sz="1300" b="1" dirty="0" smtClean="0"/>
              <a:t>Process </a:t>
            </a:r>
            <a:endParaRPr lang="en-US" sz="1300" b="1" dirty="0"/>
          </a:p>
          <a:p>
            <a:pPr algn="ctr">
              <a:spcBef>
                <a:spcPct val="0"/>
              </a:spcBef>
            </a:pPr>
            <a:r>
              <a:rPr lang="en-US" sz="1300" b="1" i="1" dirty="0" smtClean="0"/>
              <a:t>Financial Entries</a:t>
            </a:r>
            <a:r>
              <a:rPr lang="en-US" sz="1300" i="1" dirty="0" smtClean="0"/>
              <a:t> </a:t>
            </a:r>
            <a:endParaRPr lang="en-US" sz="1300" dirty="0"/>
          </a:p>
          <a:p>
            <a:pPr>
              <a:spcBef>
                <a:spcPct val="0"/>
              </a:spcBef>
            </a:pPr>
            <a:r>
              <a:rPr lang="en-US" sz="2100" i="1" dirty="0"/>
              <a:t> </a:t>
            </a:r>
          </a:p>
        </p:txBody>
      </p:sp>
      <p:sp>
        <p:nvSpPr>
          <p:cNvPr id="7175" name="Line 13"/>
          <p:cNvSpPr>
            <a:spLocks noChangeShapeType="1"/>
          </p:cNvSpPr>
          <p:nvPr/>
        </p:nvSpPr>
        <p:spPr bwMode="auto">
          <a:xfrm>
            <a:off x="1426264" y="2463800"/>
            <a:ext cx="1656919" cy="0"/>
          </a:xfrm>
          <a:prstGeom prst="line">
            <a:avLst/>
          </a:prstGeom>
          <a:noFill/>
          <a:ln w="38100">
            <a:solidFill>
              <a:schemeClr val="tx1"/>
            </a:solidFill>
            <a:round/>
            <a:headEnd/>
            <a:tailEnd type="arrow" w="med" len="lg"/>
          </a:ln>
        </p:spPr>
        <p:txBody>
          <a:bodyPr wrap="none" lIns="121899" tIns="60949" rIns="121899" bIns="60949" anchor="ctr"/>
          <a:lstStyle/>
          <a:p>
            <a:endParaRPr lang="en-US"/>
          </a:p>
        </p:txBody>
      </p:sp>
      <p:sp>
        <p:nvSpPr>
          <p:cNvPr id="7176" name="Rectangle 14"/>
          <p:cNvSpPr>
            <a:spLocks noChangeArrowheads="1"/>
          </p:cNvSpPr>
          <p:nvPr/>
        </p:nvSpPr>
        <p:spPr bwMode="auto">
          <a:xfrm>
            <a:off x="9124690" y="2108201"/>
            <a:ext cx="1737331" cy="773113"/>
          </a:xfrm>
          <a:prstGeom prst="rect">
            <a:avLst/>
          </a:prstGeom>
          <a:noFill/>
          <a:ln w="25400">
            <a:solidFill>
              <a:schemeClr val="bg2"/>
            </a:solidFill>
            <a:miter lim="800000"/>
            <a:headEnd/>
            <a:tailEnd/>
          </a:ln>
        </p:spPr>
        <p:txBody>
          <a:bodyPr wrap="none" lIns="122745" tIns="61373" rIns="122745" bIns="61373" anchor="ctr"/>
          <a:lstStyle/>
          <a:p>
            <a:pPr algn="ctr">
              <a:spcBef>
                <a:spcPct val="0"/>
              </a:spcBef>
            </a:pPr>
            <a:r>
              <a:rPr lang="en-US" sz="1900" dirty="0"/>
              <a:t>&lt;&lt;actor&gt;&gt;</a:t>
            </a:r>
            <a:br>
              <a:rPr lang="en-US" sz="1900" dirty="0"/>
            </a:br>
            <a:r>
              <a:rPr lang="en-US" sz="1900" dirty="0"/>
              <a:t>XYZ System</a:t>
            </a:r>
          </a:p>
        </p:txBody>
      </p:sp>
      <p:sp>
        <p:nvSpPr>
          <p:cNvPr id="7177" name="Rectangle 15"/>
          <p:cNvSpPr>
            <a:spLocks noChangeArrowheads="1"/>
          </p:cNvSpPr>
          <p:nvPr/>
        </p:nvSpPr>
        <p:spPr bwMode="auto">
          <a:xfrm>
            <a:off x="9124692" y="3070226"/>
            <a:ext cx="1775422" cy="819151"/>
          </a:xfrm>
          <a:prstGeom prst="rect">
            <a:avLst/>
          </a:prstGeom>
          <a:noFill/>
          <a:ln w="25400">
            <a:solidFill>
              <a:schemeClr val="bg2"/>
            </a:solidFill>
            <a:miter lim="800000"/>
            <a:headEnd/>
            <a:tailEnd/>
          </a:ln>
        </p:spPr>
        <p:txBody>
          <a:bodyPr wrap="none" lIns="122745" tIns="61373" rIns="122745" bIns="61373" anchor="ctr"/>
          <a:lstStyle/>
          <a:p>
            <a:pPr algn="ctr">
              <a:spcBef>
                <a:spcPct val="0"/>
              </a:spcBef>
            </a:pPr>
            <a:r>
              <a:rPr lang="en-US" sz="1900" dirty="0"/>
              <a:t>&lt;&lt;actor&gt;&gt;</a:t>
            </a:r>
          </a:p>
          <a:p>
            <a:pPr algn="ctr">
              <a:spcBef>
                <a:spcPct val="0"/>
              </a:spcBef>
            </a:pPr>
            <a:r>
              <a:rPr lang="en-US" sz="1900" dirty="0"/>
              <a:t>Legacy</a:t>
            </a:r>
          </a:p>
          <a:p>
            <a:pPr algn="ctr">
              <a:spcBef>
                <a:spcPct val="0"/>
              </a:spcBef>
            </a:pPr>
            <a:r>
              <a:rPr lang="en-US" sz="1900" dirty="0"/>
              <a:t> Financials</a:t>
            </a:r>
          </a:p>
        </p:txBody>
      </p:sp>
      <p:sp>
        <p:nvSpPr>
          <p:cNvPr id="7178" name="Oval 16"/>
          <p:cNvSpPr>
            <a:spLocks noChangeArrowheads="1"/>
          </p:cNvSpPr>
          <p:nvPr/>
        </p:nvSpPr>
        <p:spPr bwMode="auto">
          <a:xfrm>
            <a:off x="6217147" y="2000251"/>
            <a:ext cx="1796583" cy="698500"/>
          </a:xfrm>
          <a:prstGeom prst="ellipse">
            <a:avLst/>
          </a:prstGeom>
          <a:noFill/>
          <a:ln w="28575">
            <a:solidFill>
              <a:schemeClr val="tx1"/>
            </a:solidFill>
            <a:round/>
            <a:headEnd/>
            <a:tailEnd/>
          </a:ln>
        </p:spPr>
        <p:txBody>
          <a:bodyPr wrap="none" lIns="121899" tIns="60949" rIns="121899" bIns="60949" anchor="ctr"/>
          <a:lstStyle/>
          <a:p>
            <a:pPr algn="ctr">
              <a:spcBef>
                <a:spcPct val="0"/>
              </a:spcBef>
            </a:pPr>
            <a:r>
              <a:rPr lang="en-US" sz="1300" b="1" dirty="0" smtClean="0"/>
              <a:t>UC006</a:t>
            </a:r>
          </a:p>
          <a:p>
            <a:pPr algn="ctr">
              <a:spcBef>
                <a:spcPct val="0"/>
              </a:spcBef>
            </a:pPr>
            <a:r>
              <a:rPr lang="en-US" sz="1300" b="1" dirty="0" smtClean="0"/>
              <a:t>Apply </a:t>
            </a:r>
            <a:r>
              <a:rPr lang="en-US" sz="1300" b="1" dirty="0"/>
              <a:t>GL</a:t>
            </a:r>
          </a:p>
          <a:p>
            <a:pPr algn="ctr">
              <a:spcBef>
                <a:spcPct val="0"/>
              </a:spcBef>
            </a:pPr>
            <a:r>
              <a:rPr lang="en-US" sz="1300" b="1" dirty="0"/>
              <a:t> Validations</a:t>
            </a:r>
            <a:endParaRPr lang="en-US" sz="1300" b="1" i="1" dirty="0"/>
          </a:p>
        </p:txBody>
      </p:sp>
      <p:sp>
        <p:nvSpPr>
          <p:cNvPr id="7179" name="Line 17"/>
          <p:cNvSpPr>
            <a:spLocks noChangeShapeType="1"/>
          </p:cNvSpPr>
          <p:nvPr/>
        </p:nvSpPr>
        <p:spPr bwMode="auto">
          <a:xfrm flipV="1">
            <a:off x="7984104" y="2276475"/>
            <a:ext cx="1140586" cy="0"/>
          </a:xfrm>
          <a:prstGeom prst="line">
            <a:avLst/>
          </a:prstGeom>
          <a:noFill/>
          <a:ln w="38100">
            <a:solidFill>
              <a:schemeClr val="tx1"/>
            </a:solidFill>
            <a:round/>
            <a:headEnd/>
            <a:tailEnd type="arrow" w="med" len="lg"/>
          </a:ln>
        </p:spPr>
        <p:txBody>
          <a:bodyPr wrap="none" lIns="121899" tIns="60949" rIns="121899" bIns="60949" anchor="ctr"/>
          <a:lstStyle/>
          <a:p>
            <a:endParaRPr lang="en-US"/>
          </a:p>
        </p:txBody>
      </p:sp>
      <p:sp>
        <p:nvSpPr>
          <p:cNvPr id="7180" name="Oval 20"/>
          <p:cNvSpPr>
            <a:spLocks noChangeArrowheads="1"/>
          </p:cNvSpPr>
          <p:nvPr/>
        </p:nvSpPr>
        <p:spPr bwMode="auto">
          <a:xfrm>
            <a:off x="5891268" y="3984626"/>
            <a:ext cx="2122464" cy="731839"/>
          </a:xfrm>
          <a:prstGeom prst="ellipse">
            <a:avLst/>
          </a:prstGeom>
          <a:noFill/>
          <a:ln w="28575">
            <a:solidFill>
              <a:schemeClr val="tx1"/>
            </a:solidFill>
            <a:round/>
            <a:headEnd/>
            <a:tailEnd/>
          </a:ln>
        </p:spPr>
        <p:txBody>
          <a:bodyPr wrap="none" lIns="121899" tIns="60949" rIns="121899" bIns="60949" anchor="ctr"/>
          <a:lstStyle/>
          <a:p>
            <a:pPr algn="ctr">
              <a:spcBef>
                <a:spcPct val="0"/>
              </a:spcBef>
            </a:pPr>
            <a:r>
              <a:rPr lang="en-US" sz="1300" b="1" dirty="0"/>
              <a:t>White box</a:t>
            </a:r>
          </a:p>
          <a:p>
            <a:pPr algn="ctr">
              <a:spcBef>
                <a:spcPct val="0"/>
              </a:spcBef>
            </a:pPr>
            <a:r>
              <a:rPr lang="en-US" sz="1300" b="1" dirty="0"/>
              <a:t>Transform</a:t>
            </a:r>
          </a:p>
          <a:p>
            <a:pPr algn="ctr">
              <a:spcBef>
                <a:spcPct val="0"/>
              </a:spcBef>
            </a:pPr>
            <a:r>
              <a:rPr lang="en-US" sz="1300" b="1" dirty="0" smtClean="0"/>
              <a:t>Entries </a:t>
            </a:r>
            <a:r>
              <a:rPr lang="en-US" sz="1300" b="1" dirty="0"/>
              <a:t>to GL</a:t>
            </a:r>
          </a:p>
        </p:txBody>
      </p:sp>
      <p:sp>
        <p:nvSpPr>
          <p:cNvPr id="7181" name="Text Box 22"/>
          <p:cNvSpPr txBox="1">
            <a:spLocks noChangeArrowheads="1"/>
          </p:cNvSpPr>
          <p:nvPr/>
        </p:nvSpPr>
        <p:spPr bwMode="auto">
          <a:xfrm rot="13185283" flipV="1">
            <a:off x="5094888" y="3087956"/>
            <a:ext cx="1228725" cy="416332"/>
          </a:xfrm>
          <a:prstGeom prst="rect">
            <a:avLst/>
          </a:prstGeom>
          <a:noFill/>
          <a:ln w="12700">
            <a:noFill/>
            <a:miter lim="800000"/>
            <a:headEnd type="none" w="sm" len="sm"/>
            <a:tailEnd type="none" w="med" len="lg"/>
          </a:ln>
        </p:spPr>
        <p:txBody>
          <a:bodyPr lIns="122745" tIns="61373" rIns="122745" bIns="61373">
            <a:spAutoFit/>
          </a:bodyPr>
          <a:lstStyle/>
          <a:p>
            <a:pPr>
              <a:spcBef>
                <a:spcPct val="0"/>
              </a:spcBef>
            </a:pPr>
            <a:r>
              <a:rPr lang="en-US" sz="1900" dirty="0">
                <a:cs typeface="Arial" charset="0"/>
              </a:rPr>
              <a:t>«</a:t>
            </a:r>
            <a:r>
              <a:rPr lang="en-US" sz="1900" dirty="0"/>
              <a:t>include</a:t>
            </a:r>
            <a:r>
              <a:rPr lang="en-US" sz="1900" dirty="0">
                <a:cs typeface="Times New Roman" pitchFamily="18" charset="0"/>
              </a:rPr>
              <a:t>»</a:t>
            </a:r>
          </a:p>
        </p:txBody>
      </p:sp>
      <p:sp>
        <p:nvSpPr>
          <p:cNvPr id="7182" name="Line 23"/>
          <p:cNvSpPr>
            <a:spLocks noChangeShapeType="1"/>
          </p:cNvSpPr>
          <p:nvPr/>
        </p:nvSpPr>
        <p:spPr bwMode="auto">
          <a:xfrm flipV="1">
            <a:off x="7842326" y="3586163"/>
            <a:ext cx="1259089" cy="709612"/>
          </a:xfrm>
          <a:prstGeom prst="line">
            <a:avLst/>
          </a:prstGeom>
          <a:noFill/>
          <a:ln w="38100">
            <a:solidFill>
              <a:schemeClr val="tx1"/>
            </a:solidFill>
            <a:round/>
            <a:headEnd/>
            <a:tailEnd type="arrow" w="med" len="lg"/>
          </a:ln>
        </p:spPr>
        <p:txBody>
          <a:bodyPr wrap="none" lIns="121899" tIns="60949" rIns="121899" bIns="60949" anchor="ctr"/>
          <a:lstStyle/>
          <a:p>
            <a:endParaRPr lang="en-US"/>
          </a:p>
        </p:txBody>
      </p:sp>
      <p:sp>
        <p:nvSpPr>
          <p:cNvPr id="7183" name="Rectangle 27"/>
          <p:cNvSpPr>
            <a:spLocks noChangeArrowheads="1"/>
          </p:cNvSpPr>
          <p:nvPr/>
        </p:nvSpPr>
        <p:spPr bwMode="auto">
          <a:xfrm>
            <a:off x="2623983" y="1547813"/>
            <a:ext cx="5992839" cy="3633787"/>
          </a:xfrm>
          <a:prstGeom prst="rect">
            <a:avLst/>
          </a:prstGeom>
          <a:noFill/>
          <a:ln w="38100">
            <a:solidFill>
              <a:schemeClr val="bg2"/>
            </a:solidFill>
            <a:miter lim="800000"/>
            <a:headEnd/>
            <a:tailEnd/>
          </a:ln>
        </p:spPr>
        <p:txBody>
          <a:bodyPr wrap="none" lIns="122745" tIns="61373" rIns="122745" bIns="61373"/>
          <a:lstStyle/>
          <a:p>
            <a:pPr>
              <a:spcBef>
                <a:spcPct val="0"/>
              </a:spcBef>
            </a:pPr>
            <a:r>
              <a:rPr lang="en-US" dirty="0"/>
              <a:t>Ski Now  Financial </a:t>
            </a:r>
            <a:r>
              <a:rPr lang="en-US" dirty="0" smtClean="0"/>
              <a:t>Systems </a:t>
            </a:r>
            <a:endParaRPr lang="en-US" dirty="0"/>
          </a:p>
        </p:txBody>
      </p:sp>
      <p:sp>
        <p:nvSpPr>
          <p:cNvPr id="7184" name="Line 40"/>
          <p:cNvSpPr>
            <a:spLocks noChangeShapeType="1"/>
          </p:cNvSpPr>
          <p:nvPr/>
        </p:nvSpPr>
        <p:spPr bwMode="auto">
          <a:xfrm>
            <a:off x="4822628" y="2819402"/>
            <a:ext cx="1548997" cy="1196975"/>
          </a:xfrm>
          <a:prstGeom prst="line">
            <a:avLst/>
          </a:prstGeom>
          <a:noFill/>
          <a:ln w="19050">
            <a:solidFill>
              <a:schemeClr val="tx1"/>
            </a:solidFill>
            <a:prstDash val="dash"/>
            <a:round/>
            <a:headEnd type="none" w="sm" len="sm"/>
            <a:tailEnd type="stealth" w="med" len="lg"/>
          </a:ln>
        </p:spPr>
        <p:txBody>
          <a:bodyPr lIns="122745" tIns="61373" rIns="122745" bIns="61373" anchor="ctr"/>
          <a:lstStyle/>
          <a:p>
            <a:endParaRPr lang="en-US"/>
          </a:p>
        </p:txBody>
      </p:sp>
      <p:pic>
        <p:nvPicPr>
          <p:cNvPr id="7185" name="Picture 10" descr="C:\Documents and Settings\acaselno\Local Settings\Temporary Internet Files\Content.IE5\Y6UD4BM7\MC900441468[1].png"/>
          <p:cNvPicPr>
            <a:picLocks noChangeAspect="1" noChangeArrowheads="1"/>
          </p:cNvPicPr>
          <p:nvPr/>
        </p:nvPicPr>
        <p:blipFill>
          <a:blip r:embed="rId3" cstate="print"/>
          <a:srcRect/>
          <a:stretch>
            <a:fillRect/>
          </a:stretch>
        </p:blipFill>
        <p:spPr bwMode="auto">
          <a:xfrm>
            <a:off x="3218614" y="5181600"/>
            <a:ext cx="1705589" cy="1279525"/>
          </a:xfrm>
          <a:prstGeom prst="rect">
            <a:avLst/>
          </a:prstGeom>
          <a:noFill/>
          <a:ln w="9525">
            <a:noFill/>
            <a:miter lim="800000"/>
            <a:headEnd/>
            <a:tailEnd/>
          </a:ln>
        </p:spPr>
      </p:pic>
      <p:sp>
        <p:nvSpPr>
          <p:cNvPr id="7186" name="Line 13"/>
          <p:cNvSpPr>
            <a:spLocks noChangeShapeType="1"/>
          </p:cNvSpPr>
          <p:nvPr/>
        </p:nvSpPr>
        <p:spPr bwMode="auto">
          <a:xfrm flipV="1">
            <a:off x="4062942" y="3070226"/>
            <a:ext cx="0" cy="2212975"/>
          </a:xfrm>
          <a:prstGeom prst="line">
            <a:avLst/>
          </a:prstGeom>
          <a:noFill/>
          <a:ln w="38100">
            <a:solidFill>
              <a:schemeClr val="tx1"/>
            </a:solidFill>
            <a:round/>
            <a:headEnd/>
            <a:tailEnd type="arrow" w="med" len="lg"/>
          </a:ln>
        </p:spPr>
        <p:txBody>
          <a:bodyPr wrap="none" lIns="121899" tIns="60949" rIns="121899" bIns="60949" anchor="ctr"/>
          <a:lstStyle/>
          <a:p>
            <a:endParaRPr lang="en-US"/>
          </a:p>
        </p:txBody>
      </p:sp>
      <p:sp>
        <p:nvSpPr>
          <p:cNvPr id="7187" name="TextBox 33"/>
          <p:cNvSpPr txBox="1">
            <a:spLocks noChangeArrowheads="1"/>
          </p:cNvSpPr>
          <p:nvPr/>
        </p:nvSpPr>
        <p:spPr bwMode="auto">
          <a:xfrm>
            <a:off x="2623984" y="3889375"/>
            <a:ext cx="246243" cy="400087"/>
          </a:xfrm>
          <a:prstGeom prst="rect">
            <a:avLst/>
          </a:prstGeom>
          <a:noFill/>
          <a:ln w="9525">
            <a:noFill/>
            <a:miter lim="800000"/>
            <a:headEnd/>
            <a:tailEnd/>
          </a:ln>
        </p:spPr>
        <p:txBody>
          <a:bodyPr wrap="none" lIns="121899" tIns="60949" rIns="121899" bIns="60949">
            <a:spAutoFit/>
          </a:bodyPr>
          <a:lstStyle/>
          <a:p>
            <a:endParaRPr lang="en-US"/>
          </a:p>
        </p:txBody>
      </p:sp>
      <p:sp>
        <p:nvSpPr>
          <p:cNvPr id="36" name="TextBox 35"/>
          <p:cNvSpPr txBox="1"/>
          <p:nvPr/>
        </p:nvSpPr>
        <p:spPr>
          <a:xfrm>
            <a:off x="1881227" y="5372100"/>
            <a:ext cx="2003961" cy="707864"/>
          </a:xfrm>
          <a:prstGeom prst="rect">
            <a:avLst/>
          </a:prstGeom>
          <a:noFill/>
        </p:spPr>
        <p:txBody>
          <a:bodyPr lIns="121899" tIns="60949" rIns="121899" bIns="60949">
            <a:spAutoFit/>
          </a:bodyPr>
          <a:lstStyle/>
          <a:p>
            <a:pPr>
              <a:defRPr/>
            </a:pPr>
            <a:r>
              <a:rPr lang="en-US" sz="1900" dirty="0">
                <a:solidFill>
                  <a:schemeClr val="tx1">
                    <a:lumMod val="95000"/>
                    <a:lumOff val="5000"/>
                  </a:schemeClr>
                </a:solidFill>
                <a:latin typeface="Arial" pitchFamily="34" charset="0"/>
              </a:rPr>
              <a:t>Scheduled </a:t>
            </a:r>
            <a:r>
              <a:rPr lang="en-US" sz="1900" dirty="0" smtClean="0">
                <a:solidFill>
                  <a:schemeClr val="tx1">
                    <a:lumMod val="95000"/>
                    <a:lumOff val="5000"/>
                  </a:schemeClr>
                </a:solidFill>
                <a:latin typeface="Arial" pitchFamily="34" charset="0"/>
              </a:rPr>
              <a:t>Submission</a:t>
            </a:r>
            <a:endParaRPr lang="en-US" dirty="0">
              <a:solidFill>
                <a:schemeClr val="tx1">
                  <a:lumMod val="95000"/>
                  <a:lumOff val="5000"/>
                </a:schemeClr>
              </a:solidFill>
              <a:latin typeface="Arial" pitchFamily="34" charset="0"/>
            </a:endParaRPr>
          </a:p>
        </p:txBody>
      </p:sp>
      <p:grpSp>
        <p:nvGrpSpPr>
          <p:cNvPr id="34" name="Group 3"/>
          <p:cNvGrpSpPr>
            <a:grpSpLocks/>
          </p:cNvGrpSpPr>
          <p:nvPr/>
        </p:nvGrpSpPr>
        <p:grpSpPr bwMode="auto">
          <a:xfrm>
            <a:off x="893588" y="2158490"/>
            <a:ext cx="446501" cy="588963"/>
            <a:chOff x="984" y="1198"/>
            <a:chExt cx="211" cy="371"/>
          </a:xfrm>
        </p:grpSpPr>
        <p:sp>
          <p:nvSpPr>
            <p:cNvPr id="35" name="Oval 4"/>
            <p:cNvSpPr>
              <a:spLocks noChangeArrowheads="1"/>
            </p:cNvSpPr>
            <p:nvPr/>
          </p:nvSpPr>
          <p:spPr bwMode="auto">
            <a:xfrm>
              <a:off x="1043" y="1198"/>
              <a:ext cx="104" cy="109"/>
            </a:xfrm>
            <a:prstGeom prst="ellipse">
              <a:avLst/>
            </a:prstGeom>
            <a:noFill/>
            <a:ln w="28575">
              <a:solidFill>
                <a:schemeClr val="tx1"/>
              </a:solidFill>
              <a:round/>
              <a:headEnd/>
              <a:tailEnd/>
            </a:ln>
          </p:spPr>
          <p:txBody>
            <a:bodyPr/>
            <a:lstStyle/>
            <a:p>
              <a:pPr eaLnBrk="0" hangingPunct="0"/>
              <a:endParaRPr lang="nl-NL"/>
            </a:p>
          </p:txBody>
        </p:sp>
        <p:sp>
          <p:nvSpPr>
            <p:cNvPr id="37" name="Line 5"/>
            <p:cNvSpPr>
              <a:spLocks noChangeShapeType="1"/>
            </p:cNvSpPr>
            <p:nvPr/>
          </p:nvSpPr>
          <p:spPr bwMode="auto">
            <a:xfrm>
              <a:off x="1094" y="1305"/>
              <a:ext cx="0" cy="154"/>
            </a:xfrm>
            <a:prstGeom prst="line">
              <a:avLst/>
            </a:prstGeom>
            <a:noFill/>
            <a:ln w="28575">
              <a:solidFill>
                <a:schemeClr val="tx1"/>
              </a:solidFill>
              <a:round/>
              <a:headEnd/>
              <a:tailEnd/>
            </a:ln>
          </p:spPr>
          <p:txBody>
            <a:bodyPr/>
            <a:lstStyle/>
            <a:p>
              <a:endParaRPr lang="en-US"/>
            </a:p>
          </p:txBody>
        </p:sp>
        <p:sp>
          <p:nvSpPr>
            <p:cNvPr id="38" name="Line 6"/>
            <p:cNvSpPr>
              <a:spLocks noChangeShapeType="1"/>
            </p:cNvSpPr>
            <p:nvPr/>
          </p:nvSpPr>
          <p:spPr bwMode="auto">
            <a:xfrm flipH="1">
              <a:off x="984" y="1463"/>
              <a:ext cx="104" cy="106"/>
            </a:xfrm>
            <a:prstGeom prst="line">
              <a:avLst/>
            </a:prstGeom>
            <a:noFill/>
            <a:ln w="28575">
              <a:solidFill>
                <a:schemeClr val="tx1"/>
              </a:solidFill>
              <a:round/>
              <a:headEnd/>
              <a:tailEnd/>
            </a:ln>
          </p:spPr>
          <p:txBody>
            <a:bodyPr/>
            <a:lstStyle/>
            <a:p>
              <a:endParaRPr lang="en-US"/>
            </a:p>
          </p:txBody>
        </p:sp>
        <p:sp>
          <p:nvSpPr>
            <p:cNvPr id="39" name="Line 7"/>
            <p:cNvSpPr>
              <a:spLocks noChangeShapeType="1"/>
            </p:cNvSpPr>
            <p:nvPr/>
          </p:nvSpPr>
          <p:spPr bwMode="auto">
            <a:xfrm>
              <a:off x="998" y="1378"/>
              <a:ext cx="194" cy="0"/>
            </a:xfrm>
            <a:prstGeom prst="line">
              <a:avLst/>
            </a:prstGeom>
            <a:noFill/>
            <a:ln w="28575">
              <a:solidFill>
                <a:schemeClr val="tx1"/>
              </a:solidFill>
              <a:round/>
              <a:headEnd/>
              <a:tailEnd/>
            </a:ln>
          </p:spPr>
          <p:txBody>
            <a:bodyPr/>
            <a:lstStyle/>
            <a:p>
              <a:endParaRPr lang="en-US"/>
            </a:p>
          </p:txBody>
        </p:sp>
        <p:sp>
          <p:nvSpPr>
            <p:cNvPr id="40" name="Line 8"/>
            <p:cNvSpPr>
              <a:spLocks noChangeShapeType="1"/>
            </p:cNvSpPr>
            <p:nvPr/>
          </p:nvSpPr>
          <p:spPr bwMode="auto">
            <a:xfrm>
              <a:off x="1091" y="1460"/>
              <a:ext cx="104" cy="106"/>
            </a:xfrm>
            <a:prstGeom prst="line">
              <a:avLst/>
            </a:prstGeom>
            <a:noFill/>
            <a:ln w="28575">
              <a:solidFill>
                <a:schemeClr val="tx1"/>
              </a:solidFill>
              <a:round/>
              <a:headEnd/>
              <a:tailEnd/>
            </a:ln>
          </p:spPr>
          <p:txBody>
            <a:bodyPr/>
            <a:lstStyle/>
            <a:p>
              <a:endParaRPr lang="en-US"/>
            </a:p>
          </p:txBody>
        </p:sp>
      </p:grpSp>
      <p:sp>
        <p:nvSpPr>
          <p:cNvPr id="41" name="Text Box 9"/>
          <p:cNvSpPr txBox="1">
            <a:spLocks noChangeArrowheads="1"/>
          </p:cNvSpPr>
          <p:nvPr/>
        </p:nvSpPr>
        <p:spPr bwMode="auto">
          <a:xfrm>
            <a:off x="455612" y="2915729"/>
            <a:ext cx="1308136" cy="315385"/>
          </a:xfrm>
          <a:prstGeom prst="rect">
            <a:avLst/>
          </a:prstGeom>
          <a:noFill/>
          <a:ln w="12700" algn="ctr">
            <a:noFill/>
            <a:miter lim="800000"/>
            <a:headEnd/>
            <a:tailEnd/>
          </a:ln>
        </p:spPr>
        <p:txBody>
          <a:bodyPr wrap="none" lIns="121899" tIns="60949" rIns="121899" bIns="60949">
            <a:spAutoFit/>
          </a:bodyPr>
          <a:lstStyle/>
          <a:p>
            <a:pPr eaLnBrk="0" hangingPunct="0">
              <a:lnSpc>
                <a:spcPct val="50000"/>
              </a:lnSpc>
            </a:pPr>
            <a:r>
              <a:rPr lang="en-US" sz="2100" dirty="0" smtClean="0"/>
              <a:t>Customer</a:t>
            </a:r>
            <a:endParaRPr lang="en-US" sz="2100" dirty="0"/>
          </a:p>
        </p:txBody>
      </p:sp>
    </p:spTree>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p:cNvSpPr>
            <a:spLocks noGrp="1"/>
          </p:cNvSpPr>
          <p:nvPr>
            <p:ph type="title"/>
          </p:nvPr>
        </p:nvSpPr>
        <p:spPr/>
        <p:txBody>
          <a:bodyPr/>
          <a:lstStyle/>
          <a:p>
            <a:r>
              <a:rPr lang="en-US" dirty="0" smtClean="0"/>
              <a:t>Use Case Model</a:t>
            </a:r>
            <a:endParaRPr lang="en-US" sz="2400" dirty="0" smtClean="0"/>
          </a:p>
        </p:txBody>
      </p:sp>
      <p:sp>
        <p:nvSpPr>
          <p:cNvPr id="4" name="Text Placeholder 3"/>
          <p:cNvSpPr>
            <a:spLocks noGrp="1"/>
          </p:cNvSpPr>
          <p:nvPr>
            <p:ph type="body" sz="quarter" idx="13"/>
          </p:nvPr>
        </p:nvSpPr>
        <p:spPr/>
        <p:txBody>
          <a:bodyPr/>
          <a:lstStyle/>
          <a:p>
            <a:r>
              <a:rPr lang="en-US" dirty="0" smtClean="0"/>
              <a:t>Example</a:t>
            </a:r>
            <a:endParaRPr lang="en-US" dirty="0"/>
          </a:p>
        </p:txBody>
      </p:sp>
      <p:pic>
        <p:nvPicPr>
          <p:cNvPr id="8195" name="Picture 14"/>
          <p:cNvPicPr>
            <a:picLocks noChangeAspect="1" noChangeArrowheads="1"/>
          </p:cNvPicPr>
          <p:nvPr/>
        </p:nvPicPr>
        <p:blipFill>
          <a:blip r:embed="rId3" cstate="print"/>
          <a:srcRect/>
          <a:stretch>
            <a:fillRect/>
          </a:stretch>
        </p:blipFill>
        <p:spPr bwMode="auto">
          <a:xfrm>
            <a:off x="3198812" y="1219200"/>
            <a:ext cx="6502822" cy="5083175"/>
          </a:xfrm>
          <a:prstGeom prst="rect">
            <a:avLst/>
          </a:prstGeom>
          <a:noFill/>
          <a:ln w="25400">
            <a:noFill/>
            <a:miter lim="800000"/>
            <a:headEnd/>
            <a:tailEnd/>
          </a:ln>
        </p:spPr>
      </p:pic>
    </p:spTree>
  </p:cSld>
  <p:clrMapOvr>
    <a:masterClrMapping/>
  </p:clrMapOvr>
  <p:transition spd="med">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thm15="http://schemas.microsoft.com/office/thememl/2012/main" xmlns=""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10</TotalTime>
  <Words>299</Words>
  <Application>Microsoft Office PowerPoint</Application>
  <PresentationFormat>Custom</PresentationFormat>
  <Paragraphs>64</Paragraphs>
  <Slides>6</Slides>
  <Notes>5</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blank</vt:lpstr>
      <vt:lpstr>Use Case Model Template</vt:lpstr>
      <vt:lpstr>Use Case Template</vt:lpstr>
      <vt:lpstr>Actors</vt:lpstr>
      <vt:lpstr>Use Case Brief Descriptions</vt:lpstr>
      <vt:lpstr>Use Case</vt:lpstr>
      <vt:lpstr>Use Case Model</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RA.023 Use Case Model</dc:title>
  <dc:creator>Oracle Global Methods</dc:creator>
  <cp:keywords>OUM</cp:keywords>
  <dc:description>Copyright © 2014 Oracle and/or its affiliates.  All rights reserved.</dc:description>
  <cp:lastModifiedBy>masander</cp:lastModifiedBy>
  <cp:revision>2</cp:revision>
  <dcterms:created xsi:type="dcterms:W3CDTF">2014-06-17T19:24:55Z</dcterms:created>
  <dcterms:modified xsi:type="dcterms:W3CDTF">2014-06-18T14:22:15Z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