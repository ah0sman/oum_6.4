
<file path=[Content_Types].xml><?xml version="1.0" encoding="utf-8"?>
<Types xmlns="http://schemas.openxmlformats.org/package/2006/content-types">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handoutMasterIdLst>
    <p:handoutMasterId r:id="rId5"/>
  </p:handoutMasterIdLst>
  <p:sldIdLst>
    <p:sldId id="380" r:id="rId2"/>
    <p:sldId id="381" r:id="rId3"/>
  </p:sldIdLst>
  <p:sldSz cx="12188825" cy="6858000"/>
  <p:notesSz cx="6858000" cy="9144000"/>
  <p:custDataLst>
    <p:tags r:id="rId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7" pos="335">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7F7F7F"/>
    <a:srgbClr val="0000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213" autoAdjust="0"/>
  </p:normalViewPr>
  <p:slideViewPr>
    <p:cSldViewPr>
      <p:cViewPr varScale="1">
        <p:scale>
          <a:sx n="64" d="100"/>
          <a:sy n="64" d="100"/>
        </p:scale>
        <p:origin x="-1578" y="-108"/>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gs" Target="tags/tag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6/18/2014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 xmlns:p14="http://schemas.microsoft.com/office/powerpoint/2010/main"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 xmlns:p14="http://schemas.microsoft.com/office/powerpoint/2010/main"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noChangeArrowheads="1"/>
          </p:cNvSpPr>
          <p:nvPr>
            <p:ph type="body" idx="1"/>
          </p:nvPr>
        </p:nvSpPr>
        <p:spPr>
          <a:noFill/>
          <a:ln/>
        </p:spPr>
        <p:txBody>
          <a:bodyPr/>
          <a:lstStyle/>
          <a:p>
            <a:pPr>
              <a:lnSpc>
                <a:spcPct val="80000"/>
              </a:lnSpc>
            </a:pPr>
            <a:r>
              <a:rPr lang="en-US" sz="800" smtClean="0">
                <a:latin typeface="Arial" charset="0"/>
                <a:cs typeface="Arial" charset="0"/>
              </a:rPr>
              <a:t>Once you have the boundary box and the system actors, you need to add the high-level information flows.</a:t>
            </a:r>
          </a:p>
          <a:p>
            <a:pPr>
              <a:lnSpc>
                <a:spcPct val="80000"/>
              </a:lnSpc>
            </a:pPr>
            <a:endParaRPr lang="en-US" sz="800" smtClean="0">
              <a:latin typeface="Arial" charset="0"/>
              <a:cs typeface="Arial" charset="0"/>
            </a:endParaRPr>
          </a:p>
          <a:p>
            <a:pPr>
              <a:lnSpc>
                <a:spcPct val="80000"/>
              </a:lnSpc>
            </a:pPr>
            <a:r>
              <a:rPr lang="en-US" sz="800" smtClean="0">
                <a:latin typeface="Arial" charset="0"/>
                <a:cs typeface="Arial" charset="0"/>
              </a:rPr>
              <a:t>The key information is data sent into or out of the system as noted on the information flow lines.</a:t>
            </a:r>
          </a:p>
          <a:p>
            <a:pPr>
              <a:lnSpc>
                <a:spcPct val="80000"/>
              </a:lnSpc>
            </a:pPr>
            <a:endParaRPr lang="en-US" sz="800" smtClean="0">
              <a:latin typeface="Arial" charset="0"/>
              <a:cs typeface="Arial" charset="0"/>
            </a:endParaRPr>
          </a:p>
          <a:p>
            <a:pPr>
              <a:lnSpc>
                <a:spcPct val="80000"/>
              </a:lnSpc>
            </a:pPr>
            <a:r>
              <a:rPr lang="en-US" sz="800" smtClean="0">
                <a:latin typeface="Arial" charset="0"/>
                <a:cs typeface="Arial" charset="0"/>
              </a:rPr>
              <a:t>Key information is specified at a summary level, and may be defined in more detail in subsequent artifacts. At this point in the project – and in an effort to keep the system context diagram as readable as possible – your intent should be to capture a summary of the data that the actor provides the system, and that the system provides back to the actor.  </a:t>
            </a:r>
          </a:p>
          <a:p>
            <a:pPr>
              <a:lnSpc>
                <a:spcPct val="80000"/>
              </a:lnSpc>
            </a:pPr>
            <a:endParaRPr lang="en-US" sz="800" smtClean="0">
              <a:latin typeface="Arial" charset="0"/>
              <a:cs typeface="Arial" charset="0"/>
            </a:endParaRPr>
          </a:p>
          <a:p>
            <a:pPr>
              <a:lnSpc>
                <a:spcPct val="80000"/>
              </a:lnSpc>
            </a:pPr>
            <a:r>
              <a:rPr lang="en-US" sz="800" smtClean="0">
                <a:latin typeface="Arial" charset="0"/>
                <a:cs typeface="Arial" charset="0"/>
              </a:rPr>
              <a:t>Arrows are drawn from the Actor to the system on the top of the line. Data going from the actor to the system is recorded on the top of the line. </a:t>
            </a:r>
          </a:p>
          <a:p>
            <a:pPr>
              <a:lnSpc>
                <a:spcPct val="80000"/>
              </a:lnSpc>
            </a:pPr>
            <a:r>
              <a:rPr lang="en-US" sz="800" smtClean="0">
                <a:latin typeface="Arial" charset="0"/>
                <a:cs typeface="Arial" charset="0"/>
              </a:rPr>
              <a:t>And conversely…Arrows are drawn from the system back to the actor on the bottom of the line. </a:t>
            </a:r>
          </a:p>
          <a:p>
            <a:pPr>
              <a:lnSpc>
                <a:spcPct val="80000"/>
              </a:lnSpc>
            </a:pPr>
            <a:r>
              <a:rPr lang="en-US" sz="800" smtClean="0">
                <a:latin typeface="Arial" charset="0"/>
                <a:cs typeface="Arial" charset="0"/>
              </a:rPr>
              <a:t>Data coming out of the system back to the Actor is recorded on the bottom of the line. </a:t>
            </a:r>
          </a:p>
          <a:p>
            <a:pPr>
              <a:lnSpc>
                <a:spcPct val="80000"/>
              </a:lnSpc>
            </a:pPr>
            <a:endParaRPr lang="en-US" sz="800" smtClean="0">
              <a:latin typeface="Arial" charset="0"/>
              <a:cs typeface="Arial" charset="0"/>
            </a:endParaRPr>
          </a:p>
          <a:p>
            <a:pPr>
              <a:lnSpc>
                <a:spcPct val="80000"/>
              </a:lnSpc>
            </a:pPr>
            <a:r>
              <a:rPr lang="en-US" sz="800" smtClean="0">
                <a:latin typeface="Arial" charset="0"/>
                <a:cs typeface="Arial" charset="0"/>
              </a:rPr>
              <a:t>Finally, although we are still trying to stay at a fairly high level in identifying the data exchanges, we might drill down into a little more detail.  We can usually be a little more specific about what data is either needed or provided by the actors now that we are beginning to discuss a specific solution, and not just the scope of a business.</a:t>
            </a:r>
          </a:p>
        </p:txBody>
      </p:sp>
      <p:sp>
        <p:nvSpPr>
          <p:cNvPr id="6147" name="Slide Image Placeholder 4"/>
          <p:cNvSpPr>
            <a:spLocks noGrp="1" noRot="1" noChangeAspect="1" noTextEdit="1"/>
          </p:cNvSpPr>
          <p:nvPr>
            <p:ph type="sldImg"/>
          </p:nvPr>
        </p:nvSpPr>
        <p:spPr>
          <a:xfrm>
            <a:off x="871538" y="696913"/>
            <a:ext cx="5113337" cy="2878137"/>
          </a:xfr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1AB1A54-131B-434B-AAD1-AD1F7D7DAA2B}" type="datetime1">
              <a:rPr lang="en-US"/>
              <a:pPr/>
              <a:t>6/18/2014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99320028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BCD2CDC6-9352-4ED5-B272-74DDB6DCFEAF}" type="datetime1">
              <a:rPr lang="en-US"/>
              <a:pPr/>
              <a:t>6/18/2014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40415743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7C7481E7-6827-45FD-8717-13B961EEBD99}" type="datetime1">
              <a:rPr lang="en-US"/>
              <a:pPr/>
              <a:t>6/18/2014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85FCE51-BA3E-43B9-8C27-47617E4B4FE5}" type="datetime1">
              <a:rPr lang="en-US"/>
              <a:pPr/>
              <a:t>6/18/2014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85FCE51-BA3E-43B9-8C27-47617E4B4FE5}" type="datetime1">
              <a:rPr lang="en-US"/>
              <a:pPr/>
              <a:t>6/18/2014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 xmlns:p14="http://schemas.microsoft.com/office/powerpoint/2010/main"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CECCD66E-6DF0-4B16-8ACA-D0D93A7B1DC8}" type="datetime1">
              <a:rPr lang="en-US"/>
              <a:pPr/>
              <a:t>6/18/2014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075238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E248A2DF-98E5-4437-B842-E0DCD9A6A408}" type="datetime1">
              <a:rPr lang="en-US"/>
              <a:pPr/>
              <a:t>6/18/2014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7176835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CECCD66E-6DF0-4B16-8ACA-D0D93A7B1DC8}" type="datetime1">
              <a:rPr lang="en-US"/>
              <a:pPr/>
              <a:t>6/18/2014</a:t>
            </a:fld>
            <a:endParaRPr dirty="0"/>
          </a:p>
        </p:txBody>
      </p:sp>
      <p:sp>
        <p:nvSpPr>
          <p:cNvPr id="5" name="Footer Placeholder 4"/>
          <p:cNvSpPr>
            <a:spLocks noGrp="1"/>
          </p:cNvSpPr>
          <p:nvPr>
            <p:ph type="ftr" sz="quarter" idx="11"/>
          </p:nvPr>
        </p:nvSpPr>
        <p:spPr/>
        <p:txBody>
          <a:bodyPr>
            <a:noAutofit/>
          </a:body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68122964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C35900-9CAD-4F88-ADA2-63803E0474C8}" type="datetime1">
              <a:rPr lang="en-US"/>
              <a:pPr/>
              <a:t>6/18/2014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51385333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19816439-F3A6-4E53-9E59-0015DD1FA257}" type="datetime1">
              <a:rPr lang="en-US"/>
              <a:pPr/>
              <a:t>6/18/2014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CFF0A86-8A92-4FBC-80CD-36517BAA55B7}"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67037058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EE11BFD-AD4C-4A98-9D38-1958507EA4E5}" type="datetime1">
              <a:rPr lang="en-US" smtClean="0"/>
              <a:pPr/>
              <a:t>6/18/2014</a:t>
            </a:fld>
            <a:endParaRPr lang="en-US" dirty="0"/>
          </a:p>
        </p:txBody>
      </p:sp>
      <p:sp>
        <p:nvSpPr>
          <p:cNvPr id="4" name="Footer Placeholder 3"/>
          <p:cNvSpPr>
            <a:spLocks noGrp="1"/>
          </p:cNvSpPr>
          <p:nvPr>
            <p:ph type="ftr" sz="quarter" idx="11"/>
          </p:nvPr>
        </p:nvSpPr>
        <p:spPr/>
        <p:txBody>
          <a:bodyPr/>
          <a:lstStyle/>
          <a:p>
            <a:r>
              <a:rPr lang="en-US"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 xmlns:p14="http://schemas.microsoft.com/office/powerpoint/2010/main" val="159625631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FFFBC65A-03AE-423D-B3EC-68D1D32BF9D6}"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4509846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FFFBC65A-03AE-423D-B3EC-68D1D32BF9D6}"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02776685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F189F9BA-FB97-45D5-8F27-56629FBBC98C}"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2016615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AA91E92C-9068-4C32-AE92-C97502324FE4}"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337141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5EDC5EE-48A0-4FB5-B27F-88FDBE6F1684}"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12263345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A3CED5-6656-4A7A-BB77-071ABD96C5A2}"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42812501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A3CED5-6656-4A7A-BB77-071ABD96C5A2}"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73938650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35287FB7-DD26-4AD5-8D24-298016D86790}" type="datetime1">
              <a:rPr lang="en-US"/>
              <a:pPr/>
              <a:t>6/18/2014</a:t>
            </a:fld>
            <a:endParaRPr dirty="0"/>
          </a:p>
        </p:txBody>
      </p:sp>
      <p:sp>
        <p:nvSpPr>
          <p:cNvPr id="8" name="Footer Placeholder 7"/>
          <p:cNvSpPr>
            <a:spLocks noGrp="1"/>
          </p:cNvSpPr>
          <p:nvPr>
            <p:ph type="ftr" sz="quarter" idx="11"/>
          </p:nvPr>
        </p:nvSpPr>
        <p:spPr/>
        <p:txBody>
          <a:bodyPr>
            <a:noAutofit/>
          </a:bodyPr>
          <a:lstStyle/>
          <a:p>
            <a:r>
              <a:rPr dirty="0"/>
              <a:t>Oracle Confidential – Internal/Restricted/Highly Restricted</a:t>
            </a:r>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37870018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52D99EC-ABE5-42A5-B15B-B8C044BE7365}" type="datetime1">
              <a:rPr lang="en-US"/>
              <a:pPr/>
              <a:t>6/18/2014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376993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CD2D53DD-9B43-42E6-B664-927F3AEBDA21}" type="datetime1">
              <a:rPr lang="en-US"/>
              <a:pPr/>
              <a:t>6/18/2014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4163620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53D265-744D-4F8C-A86B-A5B53F14B0D6}" type="datetime1">
              <a:rPr lang="en-US"/>
              <a:pPr/>
              <a:t>6/18/2014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60822934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22C216A-5BF3-4B4A-AA09-367DB23952FA}"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45785070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3E2FA5-E451-48BD-84C5-AAF06D19CB12}"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0582747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B64933-8490-48F1-856F-778E124FF883}"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0898225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E6F5346-BDDE-46E4-B222-C487F9E706DD}"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9085471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A15AD86-CD0E-461B-AA18-D070A5CB2CAA}"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74544451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 xmlns:a14="http://schemas.microsoft.com/office/drawing/2010/main"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 xmlns:a14="http://schemas.microsoft.com/office/drawing/2010/main"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A15AD86-CD0E-461B-AA18-D070A5CB2CAA}"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206340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6A15AD86-CD0E-461B-AA18-D070A5CB2CAA}"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 xmlns:a14="http://schemas.microsoft.com/office/drawing/2010/main"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86081927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6A15AD86-CD0E-461B-AA18-D070A5CB2CAA}" type="datetime1">
              <a:rPr lang="en-US"/>
              <a:pPr/>
              <a:t>6/18/2014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 xmlns:a14="http://schemas.microsoft.com/office/drawing/2010/main"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18766017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43D5EDE7-61B4-4C98-ADE6-D86346041BA3}" type="datetime1">
              <a:rPr lang="en-US"/>
              <a:pPr/>
              <a:t>6/18/2014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93A56FF2-64EC-4614-951E-8B8E4681BF2B}" type="datetime1">
              <a:rPr lang="en-US"/>
              <a:pPr/>
              <a:t>6/18/2014</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59788944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AD051CE8-BCD3-4683-83D4-D0AC55C5EB15}" type="datetime1">
              <a:rPr lang="en-US"/>
              <a:pPr/>
              <a:t>6/18/2014</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35887190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A9802F-4D43-4C32-8177-0644B387545A}" type="datetime1">
              <a:rPr lang="en-US"/>
              <a:pPr/>
              <a:t>6/18/2014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2820860" y="2313432"/>
            <a:ext cx="6547104" cy="1832339"/>
          </a:xfrm>
          <a:prstGeom prst="rect">
            <a:avLst/>
          </a:prstGeom>
        </p:spPr>
      </p:pic>
    </p:spTree>
    <p:extLst>
      <p:ext uri="{BB962C8B-B14F-4D97-AF65-F5344CB8AC3E}">
        <p14:creationId xmlns="" xmlns:p14="http://schemas.microsoft.com/office/powerpoint/2010/main" val="370913749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 xmlns:a14="http://schemas.microsoft.com/office/drawing/2010/main" val="0"/>
              </a:ext>
            </a:extLst>
          </a:blip>
          <a:stretch>
            <a:fillRect/>
          </a:stretch>
        </p:blipFill>
        <p:spPr bwMode="black">
          <a:xfrm>
            <a:off x="3822128" y="2843826"/>
            <a:ext cx="4544568" cy="569547"/>
          </a:xfrm>
          <a:prstGeom prst="rect">
            <a:avLst/>
          </a:prstGeom>
        </p:spPr>
      </p:pic>
    </p:spTree>
    <p:extLst>
      <p:ext uri="{BB962C8B-B14F-4D97-AF65-F5344CB8AC3E}">
        <p14:creationId xmlns="" xmlns:p14="http://schemas.microsoft.com/office/powerpoint/2010/main" val="106575552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21991926-9D37-40E7-80C4-EC5F27AFCB67}" type="datetimeFigureOut">
              <a:rPr lang="en-US" smtClean="0"/>
              <a:pPr/>
              <a:t>6/18/2014</a:t>
            </a:fld>
            <a:endParaRPr lang="en-US"/>
          </a:p>
        </p:txBody>
      </p:sp>
      <p:sp>
        <p:nvSpPr>
          <p:cNvPr id="5" name="Footer Placeholder 4"/>
          <p:cNvSpPr>
            <a:spLocks noGrp="1"/>
          </p:cNvSpPr>
          <p:nvPr>
            <p:ph type="ftr" sz="quarter" idx="11"/>
          </p:nvPr>
        </p:nvSpPr>
        <p:spPr/>
        <p:txBody>
          <a:bodyPr>
            <a:noAutofit/>
          </a:bodyPr>
          <a:lstStyle/>
          <a:p>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 xmlns:p14="http://schemas.microsoft.com/office/powerpoint/2010/main" val="386218712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D3D3DC0-E8DA-4DFB-93A6-6089D43271B1}" type="datetime1">
              <a:rPr lang="en-US"/>
              <a:pPr/>
              <a:t>6/18/2014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1734545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0"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1EE11BFD-AD4C-4A98-9D38-1958507EA4E5}" type="datetime1">
              <a:rPr lang="en-US"/>
              <a:pPr/>
              <a:t>6/18/2014</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 xmlns:p14="http://schemas.microsoft.com/office/powerpoint/2010/main"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hd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13"/>
          <p:cNvGrpSpPr>
            <a:grpSpLocks/>
          </p:cNvGrpSpPr>
          <p:nvPr/>
        </p:nvGrpSpPr>
        <p:grpSpPr bwMode="auto">
          <a:xfrm>
            <a:off x="10714854" y="3787774"/>
            <a:ext cx="1024191" cy="1667945"/>
            <a:chOff x="7354470" y="3429000"/>
            <a:chExt cx="767966" cy="1669650"/>
          </a:xfrm>
        </p:grpSpPr>
        <p:grpSp>
          <p:nvGrpSpPr>
            <p:cNvPr id="3" name="Group 68"/>
            <p:cNvGrpSpPr>
              <a:grpSpLocks/>
            </p:cNvGrpSpPr>
            <p:nvPr/>
          </p:nvGrpSpPr>
          <p:grpSpPr bwMode="auto">
            <a:xfrm>
              <a:off x="7504720" y="3429000"/>
              <a:ext cx="374346" cy="637047"/>
              <a:chOff x="8050212" y="4384675"/>
              <a:chExt cx="595315" cy="1013083"/>
            </a:xfrm>
          </p:grpSpPr>
          <p:sp>
            <p:nvSpPr>
              <p:cNvPr id="3119" name="Oval 66"/>
              <p:cNvSpPr>
                <a:spLocks noChangeArrowheads="1"/>
              </p:cNvSpPr>
              <p:nvPr/>
            </p:nvSpPr>
            <p:spPr bwMode="auto">
              <a:xfrm>
                <a:off x="8215313" y="4384675"/>
                <a:ext cx="295276" cy="298526"/>
              </a:xfrm>
              <a:prstGeom prst="ellipse">
                <a:avLst/>
              </a:prstGeom>
              <a:noFill/>
              <a:ln w="28575">
                <a:solidFill>
                  <a:srgbClr val="000000"/>
                </a:solidFill>
                <a:round/>
                <a:headEnd/>
                <a:tailEnd/>
              </a:ln>
            </p:spPr>
            <p:txBody>
              <a:bodyPr/>
              <a:lstStyle/>
              <a:p>
                <a:endParaRPr lang="en-US" sz="2100" dirty="0"/>
              </a:p>
            </p:txBody>
          </p:sp>
          <p:sp>
            <p:nvSpPr>
              <p:cNvPr id="3120" name="Line 67"/>
              <p:cNvSpPr>
                <a:spLocks noChangeShapeType="1"/>
              </p:cNvSpPr>
              <p:nvPr/>
            </p:nvSpPr>
            <p:spPr bwMode="auto">
              <a:xfrm>
                <a:off x="8359777" y="4675261"/>
                <a:ext cx="0" cy="422383"/>
              </a:xfrm>
              <a:prstGeom prst="line">
                <a:avLst/>
              </a:prstGeom>
              <a:noFill/>
              <a:ln w="28575">
                <a:solidFill>
                  <a:srgbClr val="000000"/>
                </a:solidFill>
                <a:round/>
                <a:headEnd/>
                <a:tailEnd/>
              </a:ln>
            </p:spPr>
            <p:txBody>
              <a:bodyPr/>
              <a:lstStyle/>
              <a:p>
                <a:endParaRPr lang="en-US"/>
              </a:p>
            </p:txBody>
          </p:sp>
          <p:sp>
            <p:nvSpPr>
              <p:cNvPr id="3121" name="Line 68"/>
              <p:cNvSpPr>
                <a:spLocks noChangeShapeType="1"/>
              </p:cNvSpPr>
              <p:nvPr/>
            </p:nvSpPr>
            <p:spPr bwMode="auto">
              <a:xfrm flipH="1">
                <a:off x="8050212" y="5107172"/>
                <a:ext cx="293688" cy="290586"/>
              </a:xfrm>
              <a:prstGeom prst="line">
                <a:avLst/>
              </a:prstGeom>
              <a:noFill/>
              <a:ln w="28575">
                <a:solidFill>
                  <a:srgbClr val="000000"/>
                </a:solidFill>
                <a:round/>
                <a:headEnd/>
                <a:tailEnd/>
              </a:ln>
            </p:spPr>
            <p:txBody>
              <a:bodyPr/>
              <a:lstStyle/>
              <a:p>
                <a:endParaRPr lang="en-US"/>
              </a:p>
            </p:txBody>
          </p:sp>
          <p:sp>
            <p:nvSpPr>
              <p:cNvPr id="3122" name="Line 69"/>
              <p:cNvSpPr>
                <a:spLocks noChangeShapeType="1"/>
              </p:cNvSpPr>
              <p:nvPr/>
            </p:nvSpPr>
            <p:spPr bwMode="auto">
              <a:xfrm>
                <a:off x="8088313" y="4875338"/>
                <a:ext cx="549277" cy="0"/>
              </a:xfrm>
              <a:prstGeom prst="line">
                <a:avLst/>
              </a:prstGeom>
              <a:noFill/>
              <a:ln w="28575">
                <a:solidFill>
                  <a:srgbClr val="000000"/>
                </a:solidFill>
                <a:round/>
                <a:headEnd/>
                <a:tailEnd/>
              </a:ln>
            </p:spPr>
            <p:txBody>
              <a:bodyPr/>
              <a:lstStyle/>
              <a:p>
                <a:endParaRPr lang="en-US"/>
              </a:p>
            </p:txBody>
          </p:sp>
          <p:sp>
            <p:nvSpPr>
              <p:cNvPr id="3123" name="Line 70"/>
              <p:cNvSpPr>
                <a:spLocks noChangeShapeType="1"/>
              </p:cNvSpPr>
              <p:nvPr/>
            </p:nvSpPr>
            <p:spPr bwMode="auto">
              <a:xfrm>
                <a:off x="8351839" y="5099233"/>
                <a:ext cx="293688" cy="290586"/>
              </a:xfrm>
              <a:prstGeom prst="line">
                <a:avLst/>
              </a:prstGeom>
              <a:noFill/>
              <a:ln w="28575">
                <a:solidFill>
                  <a:srgbClr val="000000"/>
                </a:solidFill>
                <a:round/>
                <a:headEnd/>
                <a:tailEnd/>
              </a:ln>
            </p:spPr>
            <p:txBody>
              <a:bodyPr/>
              <a:lstStyle/>
              <a:p>
                <a:endParaRPr lang="en-US"/>
              </a:p>
            </p:txBody>
          </p:sp>
        </p:grpSp>
        <p:sp>
          <p:nvSpPr>
            <p:cNvPr id="3118" name="Text Box 72"/>
            <p:cNvSpPr txBox="1">
              <a:spLocks noChangeArrowheads="1"/>
            </p:cNvSpPr>
            <p:nvPr/>
          </p:nvSpPr>
          <p:spPr bwMode="auto">
            <a:xfrm>
              <a:off x="7354470" y="4035735"/>
              <a:ext cx="767966" cy="1062915"/>
            </a:xfrm>
            <a:prstGeom prst="rect">
              <a:avLst/>
            </a:prstGeom>
            <a:noFill/>
            <a:ln w="12700" algn="ctr">
              <a:noFill/>
              <a:miter lim="800000"/>
              <a:headEnd/>
              <a:tailEnd/>
            </a:ln>
          </p:spPr>
          <p:txBody>
            <a:bodyPr wrap="none">
              <a:spAutoFit/>
            </a:bodyPr>
            <a:lstStyle/>
            <a:p>
              <a:r>
                <a:rPr lang="en-US" sz="2100" dirty="0"/>
                <a:t>System </a:t>
              </a:r>
              <a:r>
                <a:rPr lang="en-US" sz="2100" dirty="0" smtClean="0"/>
                <a:t/>
              </a:r>
              <a:br>
                <a:rPr lang="en-US" sz="2100" dirty="0" smtClean="0"/>
              </a:br>
              <a:r>
                <a:rPr lang="en-US" sz="2100" dirty="0" smtClean="0"/>
                <a:t>Actor </a:t>
              </a:r>
              <a:br>
                <a:rPr lang="en-US" sz="2100" dirty="0" smtClean="0"/>
              </a:br>
              <a:r>
                <a:rPr lang="en-US" sz="2100" dirty="0" smtClean="0"/>
                <a:t>Name</a:t>
              </a:r>
              <a:endParaRPr lang="en-US" sz="2100" dirty="0"/>
            </a:p>
          </p:txBody>
        </p:sp>
      </p:grpSp>
      <p:grpSp>
        <p:nvGrpSpPr>
          <p:cNvPr id="4" name="Group 23"/>
          <p:cNvGrpSpPr>
            <a:grpSpLocks/>
          </p:cNvGrpSpPr>
          <p:nvPr/>
        </p:nvGrpSpPr>
        <p:grpSpPr bwMode="auto">
          <a:xfrm>
            <a:off x="398042" y="1951038"/>
            <a:ext cx="1617879" cy="1373098"/>
            <a:chOff x="6978657" y="3429004"/>
            <a:chExt cx="1214977" cy="1374067"/>
          </a:xfrm>
        </p:grpSpPr>
        <p:grpSp>
          <p:nvGrpSpPr>
            <p:cNvPr id="5" name="Group 68"/>
            <p:cNvGrpSpPr>
              <a:grpSpLocks/>
            </p:cNvGrpSpPr>
            <p:nvPr/>
          </p:nvGrpSpPr>
          <p:grpSpPr bwMode="auto">
            <a:xfrm>
              <a:off x="7504720" y="3429004"/>
              <a:ext cx="374346" cy="637047"/>
              <a:chOff x="8050212" y="4384675"/>
              <a:chExt cx="595315" cy="1013083"/>
            </a:xfrm>
          </p:grpSpPr>
          <p:sp>
            <p:nvSpPr>
              <p:cNvPr id="3105" name="Oval 66"/>
              <p:cNvSpPr>
                <a:spLocks noChangeArrowheads="1"/>
              </p:cNvSpPr>
              <p:nvPr/>
            </p:nvSpPr>
            <p:spPr bwMode="auto">
              <a:xfrm>
                <a:off x="8215313" y="4384675"/>
                <a:ext cx="295276" cy="298526"/>
              </a:xfrm>
              <a:prstGeom prst="ellipse">
                <a:avLst/>
              </a:prstGeom>
              <a:noFill/>
              <a:ln w="28575">
                <a:solidFill>
                  <a:srgbClr val="000000"/>
                </a:solidFill>
                <a:round/>
                <a:headEnd/>
                <a:tailEnd/>
              </a:ln>
            </p:spPr>
            <p:txBody>
              <a:bodyPr/>
              <a:lstStyle/>
              <a:p>
                <a:endParaRPr lang="en-US" sz="2100" dirty="0"/>
              </a:p>
            </p:txBody>
          </p:sp>
          <p:sp>
            <p:nvSpPr>
              <p:cNvPr id="3106" name="Line 67"/>
              <p:cNvSpPr>
                <a:spLocks noChangeShapeType="1"/>
              </p:cNvSpPr>
              <p:nvPr/>
            </p:nvSpPr>
            <p:spPr bwMode="auto">
              <a:xfrm>
                <a:off x="8359777" y="4675261"/>
                <a:ext cx="0" cy="422383"/>
              </a:xfrm>
              <a:prstGeom prst="line">
                <a:avLst/>
              </a:prstGeom>
              <a:noFill/>
              <a:ln w="28575">
                <a:solidFill>
                  <a:srgbClr val="000000"/>
                </a:solidFill>
                <a:round/>
                <a:headEnd/>
                <a:tailEnd/>
              </a:ln>
            </p:spPr>
            <p:txBody>
              <a:bodyPr/>
              <a:lstStyle/>
              <a:p>
                <a:endParaRPr lang="en-US"/>
              </a:p>
            </p:txBody>
          </p:sp>
          <p:sp>
            <p:nvSpPr>
              <p:cNvPr id="3107" name="Line 68"/>
              <p:cNvSpPr>
                <a:spLocks noChangeShapeType="1"/>
              </p:cNvSpPr>
              <p:nvPr/>
            </p:nvSpPr>
            <p:spPr bwMode="auto">
              <a:xfrm flipH="1">
                <a:off x="8050212" y="5107172"/>
                <a:ext cx="293688" cy="290586"/>
              </a:xfrm>
              <a:prstGeom prst="line">
                <a:avLst/>
              </a:prstGeom>
              <a:noFill/>
              <a:ln w="28575">
                <a:solidFill>
                  <a:srgbClr val="000000"/>
                </a:solidFill>
                <a:round/>
                <a:headEnd/>
                <a:tailEnd/>
              </a:ln>
            </p:spPr>
            <p:txBody>
              <a:bodyPr/>
              <a:lstStyle/>
              <a:p>
                <a:endParaRPr lang="en-US"/>
              </a:p>
            </p:txBody>
          </p:sp>
          <p:sp>
            <p:nvSpPr>
              <p:cNvPr id="3108" name="Line 69"/>
              <p:cNvSpPr>
                <a:spLocks noChangeShapeType="1"/>
              </p:cNvSpPr>
              <p:nvPr/>
            </p:nvSpPr>
            <p:spPr bwMode="auto">
              <a:xfrm>
                <a:off x="8088313" y="4875338"/>
                <a:ext cx="549277" cy="0"/>
              </a:xfrm>
              <a:prstGeom prst="line">
                <a:avLst/>
              </a:prstGeom>
              <a:noFill/>
              <a:ln w="28575">
                <a:solidFill>
                  <a:srgbClr val="000000"/>
                </a:solidFill>
                <a:round/>
                <a:headEnd/>
                <a:tailEnd/>
              </a:ln>
            </p:spPr>
            <p:txBody>
              <a:bodyPr/>
              <a:lstStyle/>
              <a:p>
                <a:endParaRPr lang="en-US"/>
              </a:p>
            </p:txBody>
          </p:sp>
          <p:sp>
            <p:nvSpPr>
              <p:cNvPr id="3109" name="Line 70"/>
              <p:cNvSpPr>
                <a:spLocks noChangeShapeType="1"/>
              </p:cNvSpPr>
              <p:nvPr/>
            </p:nvSpPr>
            <p:spPr bwMode="auto">
              <a:xfrm>
                <a:off x="8351839" y="5099233"/>
                <a:ext cx="293688" cy="290586"/>
              </a:xfrm>
              <a:prstGeom prst="line">
                <a:avLst/>
              </a:prstGeom>
              <a:noFill/>
              <a:ln w="28575">
                <a:solidFill>
                  <a:srgbClr val="000000"/>
                </a:solidFill>
                <a:round/>
                <a:headEnd/>
                <a:tailEnd/>
              </a:ln>
            </p:spPr>
            <p:txBody>
              <a:bodyPr/>
              <a:lstStyle/>
              <a:p>
                <a:endParaRPr lang="en-US"/>
              </a:p>
            </p:txBody>
          </p:sp>
        </p:grpSp>
        <p:sp>
          <p:nvSpPr>
            <p:cNvPr id="3104" name="Text Box 72"/>
            <p:cNvSpPr txBox="1">
              <a:spLocks noChangeArrowheads="1"/>
            </p:cNvSpPr>
            <p:nvPr/>
          </p:nvSpPr>
          <p:spPr bwMode="auto">
            <a:xfrm>
              <a:off x="6978657" y="4063886"/>
              <a:ext cx="1214977" cy="739185"/>
            </a:xfrm>
            <a:prstGeom prst="rect">
              <a:avLst/>
            </a:prstGeom>
            <a:noFill/>
            <a:ln w="12700" algn="ctr">
              <a:noFill/>
              <a:miter lim="800000"/>
              <a:headEnd/>
              <a:tailEnd/>
            </a:ln>
          </p:spPr>
          <p:txBody>
            <a:bodyPr wrap="none">
              <a:spAutoFit/>
            </a:bodyPr>
            <a:lstStyle/>
            <a:p>
              <a:pPr algn="ctr"/>
              <a:r>
                <a:rPr lang="en-US" sz="2100" dirty="0"/>
                <a:t>System </a:t>
              </a:r>
              <a:r>
                <a:rPr lang="en-US" sz="2100" dirty="0" smtClean="0"/>
                <a:t>Actor</a:t>
              </a:r>
              <a:br>
                <a:rPr lang="en-US" sz="2100" dirty="0" smtClean="0"/>
              </a:br>
              <a:r>
                <a:rPr lang="en-US" sz="2100" dirty="0" smtClean="0"/>
                <a:t>Name</a:t>
              </a:r>
              <a:endParaRPr lang="en-US" sz="2100" dirty="0"/>
            </a:p>
          </p:txBody>
        </p:sp>
      </p:grpSp>
      <p:cxnSp>
        <p:nvCxnSpPr>
          <p:cNvPr id="3078" name="Straight Connector 47"/>
          <p:cNvCxnSpPr>
            <a:cxnSpLocks noChangeShapeType="1"/>
          </p:cNvCxnSpPr>
          <p:nvPr/>
        </p:nvCxnSpPr>
        <p:spPr bwMode="auto">
          <a:xfrm flipV="1">
            <a:off x="1776372" y="2222499"/>
            <a:ext cx="8633751" cy="33339"/>
          </a:xfrm>
          <a:prstGeom prst="line">
            <a:avLst/>
          </a:prstGeom>
          <a:noFill/>
          <a:ln w="25400" algn="ctr">
            <a:solidFill>
              <a:schemeClr val="tx1"/>
            </a:solidFill>
            <a:round/>
            <a:headEnd/>
            <a:tailEnd/>
          </a:ln>
        </p:spPr>
      </p:cxnSp>
      <p:cxnSp>
        <p:nvCxnSpPr>
          <p:cNvPr id="3079" name="Straight Connector 48"/>
          <p:cNvCxnSpPr>
            <a:cxnSpLocks noChangeShapeType="1"/>
          </p:cNvCxnSpPr>
          <p:nvPr/>
        </p:nvCxnSpPr>
        <p:spPr bwMode="auto">
          <a:xfrm>
            <a:off x="1776372" y="4084638"/>
            <a:ext cx="9040045" cy="0"/>
          </a:xfrm>
          <a:prstGeom prst="line">
            <a:avLst/>
          </a:prstGeom>
          <a:noFill/>
          <a:ln w="25400" algn="ctr">
            <a:solidFill>
              <a:schemeClr val="tx1"/>
            </a:solidFill>
            <a:round/>
            <a:headEnd/>
            <a:tailEnd/>
          </a:ln>
        </p:spPr>
      </p:cxnSp>
      <p:sp>
        <p:nvSpPr>
          <p:cNvPr id="3080" name="Rectangle 41"/>
          <p:cNvSpPr>
            <a:spLocks noChangeArrowheads="1"/>
          </p:cNvSpPr>
          <p:nvPr/>
        </p:nvSpPr>
        <p:spPr bwMode="auto">
          <a:xfrm>
            <a:off x="5024612" y="1433513"/>
            <a:ext cx="2645144" cy="3489325"/>
          </a:xfrm>
          <a:prstGeom prst="rect">
            <a:avLst/>
          </a:prstGeom>
          <a:solidFill>
            <a:schemeClr val="bg1"/>
          </a:solidFill>
          <a:ln w="12700" algn="ctr">
            <a:solidFill>
              <a:schemeClr val="tx1"/>
            </a:solidFill>
            <a:round/>
            <a:headEnd/>
            <a:tailEnd type="triangle" w="lg" len="lg"/>
          </a:ln>
        </p:spPr>
        <p:txBody>
          <a:bodyPr lIns="121899" tIns="60949" rIns="121899" bIns="60949" anchor="ctr" anchorCtr="1"/>
          <a:lstStyle/>
          <a:p>
            <a:pPr algn="ctr"/>
            <a:r>
              <a:rPr lang="en-US" sz="3200" dirty="0">
                <a:solidFill>
                  <a:schemeClr val="tx2"/>
                </a:solidFill>
              </a:rPr>
              <a:t>NAME </a:t>
            </a:r>
          </a:p>
          <a:p>
            <a:pPr algn="ctr"/>
            <a:r>
              <a:rPr lang="en-US" sz="3200" dirty="0">
                <a:solidFill>
                  <a:schemeClr val="tx2"/>
                </a:solidFill>
              </a:rPr>
              <a:t>OF </a:t>
            </a:r>
          </a:p>
          <a:p>
            <a:pPr algn="ctr"/>
            <a:r>
              <a:rPr lang="en-US" sz="3200" dirty="0">
                <a:solidFill>
                  <a:schemeClr val="tx2"/>
                </a:solidFill>
              </a:rPr>
              <a:t>System </a:t>
            </a:r>
          </a:p>
          <a:p>
            <a:pPr algn="ctr"/>
            <a:r>
              <a:rPr lang="en-US" sz="3200" dirty="0">
                <a:solidFill>
                  <a:schemeClr val="tx2"/>
                </a:solidFill>
              </a:rPr>
              <a:t>(</a:t>
            </a:r>
            <a:r>
              <a:rPr lang="en-US" sz="3200" dirty="0" err="1">
                <a:solidFill>
                  <a:schemeClr val="tx2"/>
                </a:solidFill>
              </a:rPr>
              <a:t>SuD</a:t>
            </a:r>
            <a:r>
              <a:rPr lang="en-US" sz="3200" dirty="0">
                <a:solidFill>
                  <a:schemeClr val="tx2"/>
                </a:solidFill>
              </a:rPr>
              <a:t>)</a:t>
            </a:r>
          </a:p>
        </p:txBody>
      </p:sp>
      <p:cxnSp>
        <p:nvCxnSpPr>
          <p:cNvPr id="3081" name="Straight Arrow Connector 50"/>
          <p:cNvCxnSpPr>
            <a:cxnSpLocks noChangeShapeType="1"/>
          </p:cNvCxnSpPr>
          <p:nvPr/>
        </p:nvCxnSpPr>
        <p:spPr bwMode="auto">
          <a:xfrm>
            <a:off x="2944468" y="2076450"/>
            <a:ext cx="1218883" cy="1588"/>
          </a:xfrm>
          <a:prstGeom prst="straightConnector1">
            <a:avLst/>
          </a:prstGeom>
          <a:noFill/>
          <a:ln w="25400" algn="ctr">
            <a:solidFill>
              <a:schemeClr val="tx1"/>
            </a:solidFill>
            <a:round/>
            <a:headEnd/>
            <a:tailEnd type="arrow" w="lg" len="lg"/>
          </a:ln>
        </p:spPr>
      </p:cxnSp>
      <p:cxnSp>
        <p:nvCxnSpPr>
          <p:cNvPr id="3082" name="Straight Arrow Connector 51"/>
          <p:cNvCxnSpPr>
            <a:cxnSpLocks noChangeShapeType="1"/>
          </p:cNvCxnSpPr>
          <p:nvPr/>
        </p:nvCxnSpPr>
        <p:spPr bwMode="auto">
          <a:xfrm flipH="1">
            <a:off x="2944468" y="2408238"/>
            <a:ext cx="1218883" cy="1587"/>
          </a:xfrm>
          <a:prstGeom prst="straightConnector1">
            <a:avLst/>
          </a:prstGeom>
          <a:noFill/>
          <a:ln w="25400" algn="ctr">
            <a:solidFill>
              <a:schemeClr val="tx1"/>
            </a:solidFill>
            <a:round/>
            <a:headEnd/>
            <a:tailEnd type="arrow" w="lg" len="lg"/>
          </a:ln>
        </p:spPr>
      </p:cxnSp>
      <p:cxnSp>
        <p:nvCxnSpPr>
          <p:cNvPr id="3083" name="Straight Arrow Connector 56"/>
          <p:cNvCxnSpPr>
            <a:cxnSpLocks noChangeShapeType="1"/>
          </p:cNvCxnSpPr>
          <p:nvPr/>
        </p:nvCxnSpPr>
        <p:spPr bwMode="auto">
          <a:xfrm flipH="1">
            <a:off x="8683373" y="2025650"/>
            <a:ext cx="1218883" cy="1588"/>
          </a:xfrm>
          <a:prstGeom prst="straightConnector1">
            <a:avLst/>
          </a:prstGeom>
          <a:noFill/>
          <a:ln w="25400" algn="ctr">
            <a:solidFill>
              <a:schemeClr val="tx1"/>
            </a:solidFill>
            <a:round/>
            <a:headEnd/>
            <a:tailEnd type="arrow" w="lg" len="lg"/>
          </a:ln>
        </p:spPr>
      </p:cxnSp>
      <p:cxnSp>
        <p:nvCxnSpPr>
          <p:cNvPr id="3084" name="Straight Arrow Connector 57"/>
          <p:cNvCxnSpPr>
            <a:cxnSpLocks noChangeShapeType="1"/>
          </p:cNvCxnSpPr>
          <p:nvPr/>
        </p:nvCxnSpPr>
        <p:spPr bwMode="auto">
          <a:xfrm>
            <a:off x="8683373" y="2408238"/>
            <a:ext cx="1218883" cy="1587"/>
          </a:xfrm>
          <a:prstGeom prst="straightConnector1">
            <a:avLst/>
          </a:prstGeom>
          <a:noFill/>
          <a:ln w="25400" algn="ctr">
            <a:solidFill>
              <a:schemeClr val="tx1"/>
            </a:solidFill>
            <a:round/>
            <a:headEnd/>
            <a:tailEnd type="arrow" w="lg" len="lg"/>
          </a:ln>
        </p:spPr>
      </p:cxnSp>
      <p:sp>
        <p:nvSpPr>
          <p:cNvPr id="3085" name="TextBox 58"/>
          <p:cNvSpPr txBox="1">
            <a:spLocks noChangeArrowheads="1"/>
          </p:cNvSpPr>
          <p:nvPr/>
        </p:nvSpPr>
        <p:spPr bwMode="auto">
          <a:xfrm>
            <a:off x="2246149" y="1193800"/>
            <a:ext cx="2653609" cy="769419"/>
          </a:xfrm>
          <a:prstGeom prst="rect">
            <a:avLst/>
          </a:prstGeom>
          <a:noFill/>
          <a:ln w="9525">
            <a:noFill/>
            <a:miter lim="800000"/>
            <a:headEnd/>
            <a:tailEnd/>
          </a:ln>
        </p:spPr>
        <p:txBody>
          <a:bodyPr wrap="square" lIns="121899" tIns="60949" rIns="121899" bIns="60949">
            <a:spAutoFit/>
          </a:bodyPr>
          <a:lstStyle/>
          <a:p>
            <a:r>
              <a:rPr lang="en-US" sz="2100" dirty="0"/>
              <a:t>Inbound Info Name</a:t>
            </a:r>
          </a:p>
          <a:p>
            <a:r>
              <a:rPr lang="en-US" sz="2100" dirty="0"/>
              <a:t>Inbound Info Name</a:t>
            </a:r>
          </a:p>
        </p:txBody>
      </p:sp>
      <p:sp>
        <p:nvSpPr>
          <p:cNvPr id="3086" name="TextBox 59"/>
          <p:cNvSpPr txBox="1">
            <a:spLocks noChangeArrowheads="1"/>
          </p:cNvSpPr>
          <p:nvPr/>
        </p:nvSpPr>
        <p:spPr bwMode="auto">
          <a:xfrm>
            <a:off x="2081093" y="2501899"/>
            <a:ext cx="2844059" cy="451405"/>
          </a:xfrm>
          <a:prstGeom prst="rect">
            <a:avLst/>
          </a:prstGeom>
          <a:noFill/>
          <a:ln w="9525">
            <a:noFill/>
            <a:miter lim="800000"/>
            <a:headEnd/>
            <a:tailEnd/>
          </a:ln>
        </p:spPr>
        <p:txBody>
          <a:bodyPr wrap="square" lIns="121899" tIns="60949" rIns="121899" bIns="60949">
            <a:spAutoFit/>
          </a:bodyPr>
          <a:lstStyle/>
          <a:p>
            <a:r>
              <a:rPr lang="en-US" sz="2100" dirty="0"/>
              <a:t>Outbound Info Name</a:t>
            </a:r>
          </a:p>
        </p:txBody>
      </p:sp>
      <p:sp>
        <p:nvSpPr>
          <p:cNvPr id="3087" name="TextBox 60"/>
          <p:cNvSpPr txBox="1">
            <a:spLocks noChangeArrowheads="1"/>
          </p:cNvSpPr>
          <p:nvPr/>
        </p:nvSpPr>
        <p:spPr bwMode="auto">
          <a:xfrm>
            <a:off x="7845391" y="1482725"/>
            <a:ext cx="2653609" cy="451405"/>
          </a:xfrm>
          <a:prstGeom prst="rect">
            <a:avLst/>
          </a:prstGeom>
          <a:noFill/>
          <a:ln w="9525">
            <a:noFill/>
            <a:miter lim="800000"/>
            <a:headEnd/>
            <a:tailEnd/>
          </a:ln>
        </p:spPr>
        <p:txBody>
          <a:bodyPr wrap="square" lIns="121899" tIns="60949" rIns="121899" bIns="60949">
            <a:spAutoFit/>
          </a:bodyPr>
          <a:lstStyle/>
          <a:p>
            <a:r>
              <a:rPr lang="en-US" sz="2100" dirty="0"/>
              <a:t>Inbound Info Name</a:t>
            </a:r>
          </a:p>
        </p:txBody>
      </p:sp>
      <p:cxnSp>
        <p:nvCxnSpPr>
          <p:cNvPr id="3088" name="Straight Arrow Connector 62"/>
          <p:cNvCxnSpPr>
            <a:cxnSpLocks noChangeShapeType="1"/>
          </p:cNvCxnSpPr>
          <p:nvPr/>
        </p:nvCxnSpPr>
        <p:spPr bwMode="auto">
          <a:xfrm>
            <a:off x="2944468" y="3900487"/>
            <a:ext cx="1218883" cy="1587"/>
          </a:xfrm>
          <a:prstGeom prst="straightConnector1">
            <a:avLst/>
          </a:prstGeom>
          <a:noFill/>
          <a:ln w="25400" algn="ctr">
            <a:solidFill>
              <a:schemeClr val="tx1"/>
            </a:solidFill>
            <a:round/>
            <a:headEnd/>
            <a:tailEnd type="arrow" w="lg" len="lg"/>
          </a:ln>
        </p:spPr>
      </p:cxnSp>
      <p:cxnSp>
        <p:nvCxnSpPr>
          <p:cNvPr id="3089" name="Straight Arrow Connector 63"/>
          <p:cNvCxnSpPr>
            <a:cxnSpLocks noChangeShapeType="1"/>
          </p:cNvCxnSpPr>
          <p:nvPr/>
        </p:nvCxnSpPr>
        <p:spPr bwMode="auto">
          <a:xfrm flipH="1">
            <a:off x="2944468" y="4257674"/>
            <a:ext cx="1218883" cy="1588"/>
          </a:xfrm>
          <a:prstGeom prst="straightConnector1">
            <a:avLst/>
          </a:prstGeom>
          <a:noFill/>
          <a:ln w="25400" algn="ctr">
            <a:solidFill>
              <a:schemeClr val="tx1"/>
            </a:solidFill>
            <a:round/>
            <a:headEnd/>
            <a:tailEnd type="arrow" w="lg" len="lg"/>
          </a:ln>
        </p:spPr>
      </p:cxnSp>
      <p:cxnSp>
        <p:nvCxnSpPr>
          <p:cNvPr id="3090" name="Straight Arrow Connector 64"/>
          <p:cNvCxnSpPr>
            <a:cxnSpLocks noChangeShapeType="1"/>
          </p:cNvCxnSpPr>
          <p:nvPr/>
        </p:nvCxnSpPr>
        <p:spPr bwMode="auto">
          <a:xfrm flipH="1">
            <a:off x="8683373" y="3900487"/>
            <a:ext cx="1218883" cy="1587"/>
          </a:xfrm>
          <a:prstGeom prst="straightConnector1">
            <a:avLst/>
          </a:prstGeom>
          <a:noFill/>
          <a:ln w="25400" algn="ctr">
            <a:solidFill>
              <a:schemeClr val="tx1"/>
            </a:solidFill>
            <a:round/>
            <a:headEnd/>
            <a:tailEnd type="arrow" w="lg" len="lg"/>
          </a:ln>
        </p:spPr>
      </p:cxnSp>
      <p:cxnSp>
        <p:nvCxnSpPr>
          <p:cNvPr id="3091" name="Straight Arrow Connector 65"/>
          <p:cNvCxnSpPr>
            <a:cxnSpLocks noChangeShapeType="1"/>
          </p:cNvCxnSpPr>
          <p:nvPr/>
        </p:nvCxnSpPr>
        <p:spPr bwMode="auto">
          <a:xfrm>
            <a:off x="8683373" y="4257674"/>
            <a:ext cx="1218883" cy="1588"/>
          </a:xfrm>
          <a:prstGeom prst="straightConnector1">
            <a:avLst/>
          </a:prstGeom>
          <a:noFill/>
          <a:ln w="25400" algn="ctr">
            <a:solidFill>
              <a:schemeClr val="tx1"/>
            </a:solidFill>
            <a:round/>
            <a:headEnd/>
            <a:tailEnd type="arrow" w="lg" len="lg"/>
          </a:ln>
        </p:spPr>
      </p:cxnSp>
      <p:sp>
        <p:nvSpPr>
          <p:cNvPr id="3092" name="TextBox 66"/>
          <p:cNvSpPr txBox="1">
            <a:spLocks noChangeArrowheads="1"/>
          </p:cNvSpPr>
          <p:nvPr/>
        </p:nvSpPr>
        <p:spPr bwMode="auto">
          <a:xfrm>
            <a:off x="2169969" y="3301999"/>
            <a:ext cx="2628215" cy="451405"/>
          </a:xfrm>
          <a:prstGeom prst="rect">
            <a:avLst/>
          </a:prstGeom>
          <a:noFill/>
          <a:ln w="9525">
            <a:noFill/>
            <a:miter lim="800000"/>
            <a:headEnd/>
            <a:tailEnd/>
          </a:ln>
        </p:spPr>
        <p:txBody>
          <a:bodyPr wrap="square" lIns="121899" tIns="60949" rIns="121899" bIns="60949">
            <a:spAutoFit/>
          </a:bodyPr>
          <a:lstStyle/>
          <a:p>
            <a:r>
              <a:rPr lang="en-US" sz="2100" dirty="0"/>
              <a:t>Inbound  Info Name</a:t>
            </a:r>
          </a:p>
        </p:txBody>
      </p:sp>
      <p:sp>
        <p:nvSpPr>
          <p:cNvPr id="3093" name="TextBox 67"/>
          <p:cNvSpPr txBox="1">
            <a:spLocks noChangeArrowheads="1"/>
          </p:cNvSpPr>
          <p:nvPr/>
        </p:nvSpPr>
        <p:spPr bwMode="auto">
          <a:xfrm>
            <a:off x="2030306" y="4279900"/>
            <a:ext cx="2818666" cy="769419"/>
          </a:xfrm>
          <a:prstGeom prst="rect">
            <a:avLst/>
          </a:prstGeom>
          <a:noFill/>
          <a:ln w="9525">
            <a:noFill/>
            <a:miter lim="800000"/>
            <a:headEnd/>
            <a:tailEnd/>
          </a:ln>
        </p:spPr>
        <p:txBody>
          <a:bodyPr lIns="121899" tIns="60949" rIns="121899" bIns="60949">
            <a:spAutoFit/>
          </a:bodyPr>
          <a:lstStyle/>
          <a:p>
            <a:r>
              <a:rPr lang="en-US" sz="2100" dirty="0"/>
              <a:t>Outbound Info Name</a:t>
            </a:r>
          </a:p>
          <a:p>
            <a:r>
              <a:rPr lang="en-US" sz="2100" dirty="0"/>
              <a:t>Outbound Info Name</a:t>
            </a:r>
          </a:p>
        </p:txBody>
      </p:sp>
      <p:sp>
        <p:nvSpPr>
          <p:cNvPr id="3094" name="TextBox 68"/>
          <p:cNvSpPr txBox="1">
            <a:spLocks noChangeArrowheads="1"/>
          </p:cNvSpPr>
          <p:nvPr/>
        </p:nvSpPr>
        <p:spPr bwMode="auto">
          <a:xfrm>
            <a:off x="7832695" y="3368674"/>
            <a:ext cx="2683234" cy="451405"/>
          </a:xfrm>
          <a:prstGeom prst="rect">
            <a:avLst/>
          </a:prstGeom>
          <a:noFill/>
          <a:ln w="9525">
            <a:noFill/>
            <a:miter lim="800000"/>
            <a:headEnd/>
            <a:tailEnd/>
          </a:ln>
        </p:spPr>
        <p:txBody>
          <a:bodyPr lIns="121899" tIns="60949" rIns="121899" bIns="60949">
            <a:spAutoFit/>
          </a:bodyPr>
          <a:lstStyle/>
          <a:p>
            <a:r>
              <a:rPr lang="en-US" sz="2100" dirty="0"/>
              <a:t>Inbound Info Name</a:t>
            </a:r>
          </a:p>
        </p:txBody>
      </p:sp>
      <p:sp>
        <p:nvSpPr>
          <p:cNvPr id="3095" name="TextBox 69"/>
          <p:cNvSpPr txBox="1">
            <a:spLocks noChangeArrowheads="1"/>
          </p:cNvSpPr>
          <p:nvPr/>
        </p:nvSpPr>
        <p:spPr bwMode="auto">
          <a:xfrm>
            <a:off x="7972358" y="4279899"/>
            <a:ext cx="2894846" cy="451405"/>
          </a:xfrm>
          <a:prstGeom prst="rect">
            <a:avLst/>
          </a:prstGeom>
          <a:noFill/>
          <a:ln w="9525">
            <a:noFill/>
            <a:miter lim="800000"/>
            <a:headEnd/>
            <a:tailEnd/>
          </a:ln>
        </p:spPr>
        <p:txBody>
          <a:bodyPr lIns="121899" tIns="60949" rIns="121899" bIns="60949">
            <a:spAutoFit/>
          </a:bodyPr>
          <a:lstStyle/>
          <a:p>
            <a:r>
              <a:rPr lang="en-US" sz="2100" dirty="0"/>
              <a:t>Outbound Info Name</a:t>
            </a:r>
          </a:p>
        </p:txBody>
      </p:sp>
      <p:sp>
        <p:nvSpPr>
          <p:cNvPr id="3096" name="TextBox 60"/>
          <p:cNvSpPr txBox="1">
            <a:spLocks noChangeArrowheads="1"/>
          </p:cNvSpPr>
          <p:nvPr/>
        </p:nvSpPr>
        <p:spPr bwMode="auto">
          <a:xfrm>
            <a:off x="7819998" y="2509838"/>
            <a:ext cx="2894846" cy="451405"/>
          </a:xfrm>
          <a:prstGeom prst="rect">
            <a:avLst/>
          </a:prstGeom>
          <a:noFill/>
          <a:ln w="9525">
            <a:noFill/>
            <a:miter lim="800000"/>
            <a:headEnd/>
            <a:tailEnd/>
          </a:ln>
        </p:spPr>
        <p:txBody>
          <a:bodyPr lIns="121899" tIns="60949" rIns="121899" bIns="60949">
            <a:spAutoFit/>
          </a:bodyPr>
          <a:lstStyle/>
          <a:p>
            <a:r>
              <a:rPr lang="en-US" sz="2100" dirty="0"/>
              <a:t>Outbound data</a:t>
            </a:r>
          </a:p>
        </p:txBody>
      </p:sp>
      <p:sp>
        <p:nvSpPr>
          <p:cNvPr id="61" name="Rounded Rectangle 60"/>
          <p:cNvSpPr/>
          <p:nvPr/>
        </p:nvSpPr>
        <p:spPr bwMode="auto">
          <a:xfrm>
            <a:off x="1166931" y="5537199"/>
            <a:ext cx="10462075" cy="1244601"/>
          </a:xfrm>
          <a:prstGeom prst="roundRect">
            <a:avLst/>
          </a:prstGeom>
          <a:solidFill>
            <a:srgbClr val="FF0000"/>
          </a:solidFill>
          <a:ln w="12700" cap="flat" cmpd="sng" algn="ctr">
            <a:solidFill>
              <a:schemeClr val="tx1"/>
            </a:solidFill>
            <a:prstDash val="solid"/>
            <a:round/>
            <a:headEnd type="none" w="med" len="med"/>
            <a:tailEnd type="triangle" w="lg" len="lg"/>
          </a:ln>
          <a:effectLst/>
          <a:scene3d>
            <a:camera prst="orthographicFront"/>
            <a:lightRig rig="threePt" dir="t"/>
          </a:scene3d>
          <a:sp3d prstMaterial="dkEdge">
            <a:bevelT w="127000" h="127000"/>
          </a:sp3d>
        </p:spPr>
        <p:txBody>
          <a:bodyPr lIns="121899" tIns="60949" rIns="121899" bIns="60949"/>
          <a:lstStyle/>
          <a:p>
            <a:pPr algn="ctr">
              <a:defRPr/>
            </a:pPr>
            <a:r>
              <a:rPr lang="en-US" sz="2100" b="1" dirty="0">
                <a:solidFill>
                  <a:schemeClr val="bg1"/>
                </a:solidFill>
              </a:rPr>
              <a:t>Simple picture of system and the actors (both human and non-human) who interact directly with the system and the information exchanged</a:t>
            </a:r>
          </a:p>
          <a:p>
            <a:pPr algn="ctr">
              <a:defRPr/>
            </a:pPr>
            <a:r>
              <a:rPr lang="en-US" sz="2100" i="1" dirty="0">
                <a:solidFill>
                  <a:schemeClr val="bg1"/>
                </a:solidFill>
                <a:cs typeface="Arial" pitchFamily="34" charset="0"/>
              </a:rPr>
              <a:t>Note: Names of information flows should be nouns or noun phrases</a:t>
            </a:r>
          </a:p>
          <a:p>
            <a:pPr algn="ctr">
              <a:defRPr/>
            </a:pPr>
            <a:endParaRPr lang="en-US" sz="2100" b="1" dirty="0">
              <a:solidFill>
                <a:schemeClr val="bg1"/>
              </a:solidFill>
            </a:endParaRPr>
          </a:p>
        </p:txBody>
      </p:sp>
      <p:sp>
        <p:nvSpPr>
          <p:cNvPr id="3101" name="Text Box 18"/>
          <p:cNvSpPr txBox="1">
            <a:spLocks noChangeArrowheads="1"/>
          </p:cNvSpPr>
          <p:nvPr/>
        </p:nvSpPr>
        <p:spPr bwMode="auto">
          <a:xfrm>
            <a:off x="10410123" y="1650999"/>
            <a:ext cx="1475489" cy="1068137"/>
          </a:xfrm>
          <a:prstGeom prst="rect">
            <a:avLst/>
          </a:prstGeom>
          <a:noFill/>
          <a:ln w="12700" algn="ctr">
            <a:solidFill>
              <a:schemeClr val="tx1"/>
            </a:solidFill>
            <a:miter lim="800000"/>
            <a:headEnd/>
            <a:tailEnd/>
          </a:ln>
        </p:spPr>
        <p:txBody>
          <a:bodyPr wrap="none" lIns="121899" tIns="60949" rIns="121899" bIns="60949"/>
          <a:lstStyle/>
          <a:p>
            <a:pPr algn="ctr" eaLnBrk="0" hangingPunct="0"/>
            <a:r>
              <a:rPr lang="en-US" sz="2100" dirty="0">
                <a:cs typeface="Tahoma" pitchFamily="34" charset="0"/>
              </a:rPr>
              <a:t>«</a:t>
            </a:r>
            <a:r>
              <a:rPr lang="en-US" sz="2100" dirty="0" smtClean="0">
                <a:cs typeface="Tahoma" pitchFamily="34" charset="0"/>
              </a:rPr>
              <a:t>actor» </a:t>
            </a:r>
            <a:br>
              <a:rPr lang="en-US" sz="2100" dirty="0" smtClean="0">
                <a:cs typeface="Tahoma" pitchFamily="34" charset="0"/>
              </a:rPr>
            </a:br>
            <a:r>
              <a:rPr lang="en-US" sz="2100" dirty="0" smtClean="0">
                <a:cs typeface="Tahoma" pitchFamily="34" charset="0"/>
              </a:rPr>
              <a:t>system</a:t>
            </a:r>
            <a:endParaRPr lang="en-US" sz="2100" dirty="0">
              <a:cs typeface="Tahoma" pitchFamily="34" charset="0"/>
            </a:endParaRPr>
          </a:p>
          <a:p>
            <a:pPr algn="ctr" eaLnBrk="0" hangingPunct="0"/>
            <a:r>
              <a:rPr lang="en-US" sz="2100" dirty="0">
                <a:cs typeface="Tahoma" pitchFamily="34" charset="0"/>
              </a:rPr>
              <a:t>name</a:t>
            </a:r>
            <a:endParaRPr lang="en-US" sz="2100" dirty="0"/>
          </a:p>
        </p:txBody>
      </p:sp>
      <p:sp>
        <p:nvSpPr>
          <p:cNvPr id="3102" name="Rectangle 63"/>
          <p:cNvSpPr>
            <a:spLocks noChangeArrowheads="1"/>
          </p:cNvSpPr>
          <p:nvPr/>
        </p:nvSpPr>
        <p:spPr bwMode="auto">
          <a:xfrm>
            <a:off x="10562483" y="2755900"/>
            <a:ext cx="1218883" cy="1092585"/>
          </a:xfrm>
          <a:prstGeom prst="rect">
            <a:avLst/>
          </a:prstGeom>
          <a:noFill/>
          <a:ln w="9525">
            <a:noFill/>
            <a:miter lim="800000"/>
            <a:headEnd/>
            <a:tailEnd/>
          </a:ln>
        </p:spPr>
        <p:txBody>
          <a:bodyPr wrap="square" lIns="121899" tIns="60949" rIns="121899" bIns="60949">
            <a:spAutoFit/>
          </a:bodyPr>
          <a:lstStyle/>
          <a:p>
            <a:pPr algn="ctr"/>
            <a:r>
              <a:rPr lang="en-US" sz="2100" dirty="0" smtClean="0"/>
              <a:t>System</a:t>
            </a:r>
            <a:br>
              <a:rPr lang="en-US" sz="2100" dirty="0" smtClean="0"/>
            </a:br>
            <a:r>
              <a:rPr lang="en-US" sz="2100" dirty="0" smtClean="0"/>
              <a:t>Actor</a:t>
            </a:r>
            <a:endParaRPr lang="en-US" sz="2100" dirty="0"/>
          </a:p>
          <a:p>
            <a:endParaRPr lang="en-US" sz="2100" dirty="0"/>
          </a:p>
        </p:txBody>
      </p:sp>
      <p:sp>
        <p:nvSpPr>
          <p:cNvPr id="50" name="Title 1"/>
          <p:cNvSpPr>
            <a:spLocks noGrp="1"/>
          </p:cNvSpPr>
          <p:nvPr>
            <p:ph type="title"/>
          </p:nvPr>
        </p:nvSpPr>
        <p:spPr>
          <a:xfrm>
            <a:off x="531812" y="76200"/>
            <a:ext cx="11125200" cy="889000"/>
          </a:xfrm>
        </p:spPr>
        <p:txBody>
          <a:bodyPr/>
          <a:lstStyle/>
          <a:p>
            <a:r>
              <a:rPr lang="en-US" dirty="0" smtClean="0"/>
              <a:t>System Context Diagram Template</a:t>
            </a:r>
          </a:p>
        </p:txBody>
      </p:sp>
      <p:grpSp>
        <p:nvGrpSpPr>
          <p:cNvPr id="6" name="Group 14"/>
          <p:cNvGrpSpPr>
            <a:grpSpLocks/>
          </p:cNvGrpSpPr>
          <p:nvPr/>
        </p:nvGrpSpPr>
        <p:grpSpPr bwMode="auto">
          <a:xfrm>
            <a:off x="645605" y="3779840"/>
            <a:ext cx="1084656" cy="2019345"/>
            <a:chOff x="7175649" y="3429002"/>
            <a:chExt cx="811650" cy="2021037"/>
          </a:xfrm>
        </p:grpSpPr>
        <p:grpSp>
          <p:nvGrpSpPr>
            <p:cNvPr id="7" name="Group 68"/>
            <p:cNvGrpSpPr>
              <a:grpSpLocks/>
            </p:cNvGrpSpPr>
            <p:nvPr/>
          </p:nvGrpSpPr>
          <p:grpSpPr bwMode="auto">
            <a:xfrm>
              <a:off x="7504720" y="3429002"/>
              <a:ext cx="374346" cy="637047"/>
              <a:chOff x="8050212" y="4384675"/>
              <a:chExt cx="595315" cy="1013083"/>
            </a:xfrm>
          </p:grpSpPr>
          <p:sp>
            <p:nvSpPr>
              <p:cNvPr id="3112" name="Oval 66"/>
              <p:cNvSpPr>
                <a:spLocks noChangeArrowheads="1"/>
              </p:cNvSpPr>
              <p:nvPr/>
            </p:nvSpPr>
            <p:spPr bwMode="auto">
              <a:xfrm>
                <a:off x="8215313" y="4384675"/>
                <a:ext cx="295276" cy="298526"/>
              </a:xfrm>
              <a:prstGeom prst="ellipse">
                <a:avLst/>
              </a:prstGeom>
              <a:noFill/>
              <a:ln w="28575">
                <a:solidFill>
                  <a:srgbClr val="000000"/>
                </a:solidFill>
                <a:round/>
                <a:headEnd/>
                <a:tailEnd/>
              </a:ln>
            </p:spPr>
            <p:txBody>
              <a:bodyPr/>
              <a:lstStyle/>
              <a:p>
                <a:endParaRPr lang="en-US" sz="2100" dirty="0"/>
              </a:p>
            </p:txBody>
          </p:sp>
          <p:sp>
            <p:nvSpPr>
              <p:cNvPr id="3113" name="Line 67"/>
              <p:cNvSpPr>
                <a:spLocks noChangeShapeType="1"/>
              </p:cNvSpPr>
              <p:nvPr/>
            </p:nvSpPr>
            <p:spPr bwMode="auto">
              <a:xfrm>
                <a:off x="8359777" y="4675261"/>
                <a:ext cx="0" cy="422383"/>
              </a:xfrm>
              <a:prstGeom prst="line">
                <a:avLst/>
              </a:prstGeom>
              <a:noFill/>
              <a:ln w="28575">
                <a:solidFill>
                  <a:srgbClr val="000000"/>
                </a:solidFill>
                <a:round/>
                <a:headEnd/>
                <a:tailEnd/>
              </a:ln>
            </p:spPr>
            <p:txBody>
              <a:bodyPr/>
              <a:lstStyle/>
              <a:p>
                <a:endParaRPr lang="en-US"/>
              </a:p>
            </p:txBody>
          </p:sp>
          <p:sp>
            <p:nvSpPr>
              <p:cNvPr id="3114" name="Line 68"/>
              <p:cNvSpPr>
                <a:spLocks noChangeShapeType="1"/>
              </p:cNvSpPr>
              <p:nvPr/>
            </p:nvSpPr>
            <p:spPr bwMode="auto">
              <a:xfrm flipH="1">
                <a:off x="8050212" y="5107172"/>
                <a:ext cx="293688" cy="290586"/>
              </a:xfrm>
              <a:prstGeom prst="line">
                <a:avLst/>
              </a:prstGeom>
              <a:noFill/>
              <a:ln w="28575">
                <a:solidFill>
                  <a:srgbClr val="000000"/>
                </a:solidFill>
                <a:round/>
                <a:headEnd/>
                <a:tailEnd/>
              </a:ln>
            </p:spPr>
            <p:txBody>
              <a:bodyPr/>
              <a:lstStyle/>
              <a:p>
                <a:endParaRPr lang="en-US"/>
              </a:p>
            </p:txBody>
          </p:sp>
          <p:sp>
            <p:nvSpPr>
              <p:cNvPr id="3115" name="Line 69"/>
              <p:cNvSpPr>
                <a:spLocks noChangeShapeType="1"/>
              </p:cNvSpPr>
              <p:nvPr/>
            </p:nvSpPr>
            <p:spPr bwMode="auto">
              <a:xfrm>
                <a:off x="8088313" y="4875338"/>
                <a:ext cx="549277" cy="0"/>
              </a:xfrm>
              <a:prstGeom prst="line">
                <a:avLst/>
              </a:prstGeom>
              <a:noFill/>
              <a:ln w="28575">
                <a:solidFill>
                  <a:srgbClr val="000000"/>
                </a:solidFill>
                <a:round/>
                <a:headEnd/>
                <a:tailEnd/>
              </a:ln>
            </p:spPr>
            <p:txBody>
              <a:bodyPr/>
              <a:lstStyle/>
              <a:p>
                <a:endParaRPr lang="en-US"/>
              </a:p>
            </p:txBody>
          </p:sp>
          <p:sp>
            <p:nvSpPr>
              <p:cNvPr id="3116" name="Line 70"/>
              <p:cNvSpPr>
                <a:spLocks noChangeShapeType="1"/>
              </p:cNvSpPr>
              <p:nvPr/>
            </p:nvSpPr>
            <p:spPr bwMode="auto">
              <a:xfrm>
                <a:off x="8351839" y="5099233"/>
                <a:ext cx="293688" cy="290586"/>
              </a:xfrm>
              <a:prstGeom prst="line">
                <a:avLst/>
              </a:prstGeom>
              <a:noFill/>
              <a:ln w="28575">
                <a:solidFill>
                  <a:srgbClr val="000000"/>
                </a:solidFill>
                <a:round/>
                <a:headEnd/>
                <a:tailEnd/>
              </a:ln>
            </p:spPr>
            <p:txBody>
              <a:bodyPr/>
              <a:lstStyle/>
              <a:p>
                <a:endParaRPr lang="en-US"/>
              </a:p>
            </p:txBody>
          </p:sp>
        </p:grpSp>
        <p:sp>
          <p:nvSpPr>
            <p:cNvPr id="3111" name="Text Box 72"/>
            <p:cNvSpPr txBox="1">
              <a:spLocks noChangeArrowheads="1"/>
            </p:cNvSpPr>
            <p:nvPr/>
          </p:nvSpPr>
          <p:spPr bwMode="auto">
            <a:xfrm>
              <a:off x="7175649" y="4063884"/>
              <a:ext cx="811650" cy="1386155"/>
            </a:xfrm>
            <a:prstGeom prst="rect">
              <a:avLst/>
            </a:prstGeom>
            <a:noFill/>
            <a:ln w="12700" algn="ctr">
              <a:noFill/>
              <a:miter lim="800000"/>
              <a:headEnd/>
              <a:tailEnd/>
            </a:ln>
          </p:spPr>
          <p:txBody>
            <a:bodyPr wrap="none">
              <a:spAutoFit/>
            </a:bodyPr>
            <a:lstStyle/>
            <a:p>
              <a:pPr algn="ctr"/>
              <a:r>
                <a:rPr lang="en-US" sz="2100" dirty="0" smtClean="0"/>
                <a:t>System </a:t>
              </a:r>
              <a:br>
                <a:rPr lang="en-US" sz="2100" dirty="0" smtClean="0"/>
              </a:br>
              <a:r>
                <a:rPr lang="en-US" sz="2100" dirty="0" smtClean="0"/>
                <a:t>Actor</a:t>
              </a:r>
              <a:br>
                <a:rPr lang="en-US" sz="2100" dirty="0" smtClean="0"/>
              </a:br>
              <a:r>
                <a:rPr lang="en-US" sz="2100" dirty="0" smtClean="0"/>
                <a:t>Name</a:t>
              </a:r>
            </a:p>
            <a:p>
              <a:endParaRPr lang="en-US" sz="2100" dirty="0"/>
            </a:p>
          </p:txBody>
        </p:sp>
      </p:gr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r>
              <a:rPr lang="en-US" smtClean="0"/>
              <a:t>System Context Diagram - Example</a:t>
            </a:r>
            <a:endParaRPr lang="en-US" dirty="0" smtClean="0"/>
          </a:p>
        </p:txBody>
      </p:sp>
      <p:sp>
        <p:nvSpPr>
          <p:cNvPr id="55" name="Text Placeholder 54"/>
          <p:cNvSpPr>
            <a:spLocks noGrp="1"/>
          </p:cNvSpPr>
          <p:nvPr>
            <p:ph type="body" sz="quarter" idx="13"/>
          </p:nvPr>
        </p:nvSpPr>
        <p:spPr/>
        <p:txBody>
          <a:bodyPr/>
          <a:lstStyle/>
          <a:p>
            <a:r>
              <a:rPr lang="en-US" smtClean="0"/>
              <a:t>Add High-Level Information Flows</a:t>
            </a:r>
            <a:endParaRPr lang="en-US" dirty="0"/>
          </a:p>
        </p:txBody>
      </p:sp>
      <p:sp>
        <p:nvSpPr>
          <p:cNvPr id="4100" name="Rectangle 59"/>
          <p:cNvSpPr>
            <a:spLocks noChangeArrowheads="1"/>
          </p:cNvSpPr>
          <p:nvPr/>
        </p:nvSpPr>
        <p:spPr bwMode="auto">
          <a:xfrm>
            <a:off x="4900292" y="2256170"/>
            <a:ext cx="2262128" cy="3276600"/>
          </a:xfrm>
          <a:prstGeom prst="rect">
            <a:avLst/>
          </a:prstGeom>
          <a:noFill/>
          <a:ln w="12700">
            <a:solidFill>
              <a:schemeClr val="tx1"/>
            </a:solidFill>
            <a:miter lim="800000"/>
            <a:headEnd type="none" w="sm" len="sm"/>
            <a:tailEnd type="none" w="med" len="lg"/>
          </a:ln>
        </p:spPr>
        <p:txBody>
          <a:bodyPr lIns="122745" tIns="61373" rIns="122745" bIns="61373" anchor="ctr" anchorCtr="1"/>
          <a:lstStyle/>
          <a:p>
            <a:pPr algn="ctr" eaLnBrk="0" hangingPunct="0"/>
            <a:r>
              <a:rPr lang="en-US" b="1">
                <a:solidFill>
                  <a:schemeClr val="tx1"/>
                </a:solidFill>
                <a:latin typeface="Arial" charset="0"/>
              </a:rPr>
              <a:t>Online Banking System</a:t>
            </a:r>
          </a:p>
        </p:txBody>
      </p:sp>
      <p:grpSp>
        <p:nvGrpSpPr>
          <p:cNvPr id="2" name="Group 3"/>
          <p:cNvGrpSpPr>
            <a:grpSpLocks/>
          </p:cNvGrpSpPr>
          <p:nvPr/>
        </p:nvGrpSpPr>
        <p:grpSpPr bwMode="auto">
          <a:xfrm>
            <a:off x="1207671" y="2595896"/>
            <a:ext cx="446500" cy="588963"/>
            <a:chOff x="984" y="1198"/>
            <a:chExt cx="211" cy="371"/>
          </a:xfrm>
        </p:grpSpPr>
        <p:sp>
          <p:nvSpPr>
            <p:cNvPr id="4147" name="Oval 4"/>
            <p:cNvSpPr>
              <a:spLocks noChangeArrowheads="1"/>
            </p:cNvSpPr>
            <p:nvPr/>
          </p:nvSpPr>
          <p:spPr bwMode="auto">
            <a:xfrm>
              <a:off x="1043" y="1198"/>
              <a:ext cx="104" cy="109"/>
            </a:xfrm>
            <a:prstGeom prst="ellipse">
              <a:avLst/>
            </a:prstGeom>
            <a:noFill/>
            <a:ln w="28575">
              <a:solidFill>
                <a:srgbClr val="000000"/>
              </a:solidFill>
              <a:round/>
              <a:headEnd/>
              <a:tailEnd/>
            </a:ln>
          </p:spPr>
          <p:txBody>
            <a:bodyPr/>
            <a:lstStyle/>
            <a:p>
              <a:pPr eaLnBrk="0" hangingPunct="0">
                <a:spcBef>
                  <a:spcPct val="50000"/>
                </a:spcBef>
              </a:pPr>
              <a:endParaRPr lang="en-US">
                <a:solidFill>
                  <a:schemeClr val="tx1"/>
                </a:solidFill>
              </a:endParaRPr>
            </a:p>
          </p:txBody>
        </p:sp>
        <p:sp>
          <p:nvSpPr>
            <p:cNvPr id="4148" name="Line 5"/>
            <p:cNvSpPr>
              <a:spLocks noChangeShapeType="1"/>
            </p:cNvSpPr>
            <p:nvPr/>
          </p:nvSpPr>
          <p:spPr bwMode="auto">
            <a:xfrm>
              <a:off x="1094" y="1305"/>
              <a:ext cx="0" cy="154"/>
            </a:xfrm>
            <a:prstGeom prst="line">
              <a:avLst/>
            </a:prstGeom>
            <a:noFill/>
            <a:ln w="28575">
              <a:solidFill>
                <a:srgbClr val="000000"/>
              </a:solidFill>
              <a:round/>
              <a:headEnd/>
              <a:tailEnd/>
            </a:ln>
          </p:spPr>
          <p:txBody>
            <a:bodyPr/>
            <a:lstStyle/>
            <a:p>
              <a:endParaRPr lang="en-US"/>
            </a:p>
          </p:txBody>
        </p:sp>
        <p:sp>
          <p:nvSpPr>
            <p:cNvPr id="4149" name="Line 6"/>
            <p:cNvSpPr>
              <a:spLocks noChangeShapeType="1"/>
            </p:cNvSpPr>
            <p:nvPr/>
          </p:nvSpPr>
          <p:spPr bwMode="auto">
            <a:xfrm flipH="1">
              <a:off x="984" y="1463"/>
              <a:ext cx="104" cy="106"/>
            </a:xfrm>
            <a:prstGeom prst="line">
              <a:avLst/>
            </a:prstGeom>
            <a:noFill/>
            <a:ln w="28575">
              <a:solidFill>
                <a:srgbClr val="000000"/>
              </a:solidFill>
              <a:round/>
              <a:headEnd/>
              <a:tailEnd/>
            </a:ln>
          </p:spPr>
          <p:txBody>
            <a:bodyPr/>
            <a:lstStyle/>
            <a:p>
              <a:endParaRPr lang="en-US"/>
            </a:p>
          </p:txBody>
        </p:sp>
        <p:sp>
          <p:nvSpPr>
            <p:cNvPr id="4150" name="Line 7"/>
            <p:cNvSpPr>
              <a:spLocks noChangeShapeType="1"/>
            </p:cNvSpPr>
            <p:nvPr/>
          </p:nvSpPr>
          <p:spPr bwMode="auto">
            <a:xfrm>
              <a:off x="998" y="1378"/>
              <a:ext cx="194" cy="0"/>
            </a:xfrm>
            <a:prstGeom prst="line">
              <a:avLst/>
            </a:prstGeom>
            <a:noFill/>
            <a:ln w="28575">
              <a:solidFill>
                <a:srgbClr val="000000"/>
              </a:solidFill>
              <a:round/>
              <a:headEnd/>
              <a:tailEnd/>
            </a:ln>
          </p:spPr>
          <p:txBody>
            <a:bodyPr/>
            <a:lstStyle/>
            <a:p>
              <a:endParaRPr lang="en-US"/>
            </a:p>
          </p:txBody>
        </p:sp>
        <p:sp>
          <p:nvSpPr>
            <p:cNvPr id="4151" name="Line 8"/>
            <p:cNvSpPr>
              <a:spLocks noChangeShapeType="1"/>
            </p:cNvSpPr>
            <p:nvPr/>
          </p:nvSpPr>
          <p:spPr bwMode="auto">
            <a:xfrm>
              <a:off x="1091" y="1460"/>
              <a:ext cx="104" cy="106"/>
            </a:xfrm>
            <a:prstGeom prst="line">
              <a:avLst/>
            </a:prstGeom>
            <a:noFill/>
            <a:ln w="28575">
              <a:solidFill>
                <a:srgbClr val="000000"/>
              </a:solidFill>
              <a:round/>
              <a:headEnd/>
              <a:tailEnd/>
            </a:ln>
          </p:spPr>
          <p:txBody>
            <a:bodyPr/>
            <a:lstStyle/>
            <a:p>
              <a:endParaRPr lang="en-US"/>
            </a:p>
          </p:txBody>
        </p:sp>
      </p:grpSp>
      <p:sp>
        <p:nvSpPr>
          <p:cNvPr id="4102" name="Text Box 9"/>
          <p:cNvSpPr txBox="1">
            <a:spLocks noChangeArrowheads="1"/>
          </p:cNvSpPr>
          <p:nvPr/>
        </p:nvSpPr>
        <p:spPr bwMode="auto">
          <a:xfrm>
            <a:off x="819177" y="3299158"/>
            <a:ext cx="1308136" cy="284671"/>
          </a:xfrm>
          <a:prstGeom prst="rect">
            <a:avLst/>
          </a:prstGeom>
          <a:noFill/>
          <a:ln w="12700" algn="ctr">
            <a:noFill/>
            <a:miter lim="800000"/>
            <a:headEnd/>
            <a:tailEnd/>
          </a:ln>
        </p:spPr>
        <p:txBody>
          <a:bodyPr wrap="none" lIns="121899" tIns="60949" rIns="121899" bIns="60949">
            <a:spAutoFit/>
          </a:bodyPr>
          <a:lstStyle/>
          <a:p>
            <a:pPr algn="ctr" eaLnBrk="0" hangingPunct="0">
              <a:lnSpc>
                <a:spcPct val="50000"/>
              </a:lnSpc>
              <a:spcBef>
                <a:spcPct val="50000"/>
              </a:spcBef>
            </a:pPr>
            <a:r>
              <a:rPr lang="en-US" sz="2100" dirty="0"/>
              <a:t>Customer</a:t>
            </a:r>
          </a:p>
        </p:txBody>
      </p:sp>
      <p:sp>
        <p:nvSpPr>
          <p:cNvPr id="4103" name="Line 70"/>
          <p:cNvSpPr>
            <a:spLocks noChangeShapeType="1"/>
          </p:cNvSpPr>
          <p:nvPr/>
        </p:nvSpPr>
        <p:spPr bwMode="auto">
          <a:xfrm>
            <a:off x="1965241" y="2988009"/>
            <a:ext cx="2962562" cy="1587"/>
          </a:xfrm>
          <a:prstGeom prst="line">
            <a:avLst/>
          </a:prstGeom>
          <a:noFill/>
          <a:ln w="28575">
            <a:solidFill>
              <a:schemeClr val="tx1"/>
            </a:solidFill>
            <a:round/>
            <a:headEnd/>
            <a:tailEnd/>
          </a:ln>
        </p:spPr>
        <p:txBody>
          <a:bodyPr lIns="121899" tIns="60949" rIns="121899" bIns="60949">
            <a:spAutoFit/>
          </a:bodyPr>
          <a:lstStyle/>
          <a:p>
            <a:endParaRPr lang="en-US"/>
          </a:p>
        </p:txBody>
      </p:sp>
      <p:grpSp>
        <p:nvGrpSpPr>
          <p:cNvPr id="3" name="Group 30"/>
          <p:cNvGrpSpPr>
            <a:grpSpLocks/>
          </p:cNvGrpSpPr>
          <p:nvPr/>
        </p:nvGrpSpPr>
        <p:grpSpPr bwMode="auto">
          <a:xfrm>
            <a:off x="10609574" y="4846970"/>
            <a:ext cx="446501" cy="588963"/>
            <a:chOff x="984" y="1198"/>
            <a:chExt cx="211" cy="371"/>
          </a:xfrm>
        </p:grpSpPr>
        <p:sp>
          <p:nvSpPr>
            <p:cNvPr id="4142" name="Oval 31"/>
            <p:cNvSpPr>
              <a:spLocks noChangeArrowheads="1"/>
            </p:cNvSpPr>
            <p:nvPr/>
          </p:nvSpPr>
          <p:spPr bwMode="auto">
            <a:xfrm>
              <a:off x="1043" y="1198"/>
              <a:ext cx="104" cy="109"/>
            </a:xfrm>
            <a:prstGeom prst="ellipse">
              <a:avLst/>
            </a:prstGeom>
            <a:noFill/>
            <a:ln w="28575">
              <a:solidFill>
                <a:srgbClr val="000000"/>
              </a:solidFill>
              <a:round/>
              <a:headEnd/>
              <a:tailEnd/>
            </a:ln>
          </p:spPr>
          <p:txBody>
            <a:bodyPr/>
            <a:lstStyle/>
            <a:p>
              <a:pPr eaLnBrk="0" hangingPunct="0">
                <a:spcBef>
                  <a:spcPct val="50000"/>
                </a:spcBef>
              </a:pPr>
              <a:endParaRPr lang="en-US">
                <a:solidFill>
                  <a:schemeClr val="tx1"/>
                </a:solidFill>
              </a:endParaRPr>
            </a:p>
          </p:txBody>
        </p:sp>
        <p:sp>
          <p:nvSpPr>
            <p:cNvPr id="4143" name="Line 32"/>
            <p:cNvSpPr>
              <a:spLocks noChangeShapeType="1"/>
            </p:cNvSpPr>
            <p:nvPr/>
          </p:nvSpPr>
          <p:spPr bwMode="auto">
            <a:xfrm>
              <a:off x="1094" y="1305"/>
              <a:ext cx="0" cy="154"/>
            </a:xfrm>
            <a:prstGeom prst="line">
              <a:avLst/>
            </a:prstGeom>
            <a:noFill/>
            <a:ln w="28575">
              <a:solidFill>
                <a:srgbClr val="000000"/>
              </a:solidFill>
              <a:round/>
              <a:headEnd/>
              <a:tailEnd/>
            </a:ln>
          </p:spPr>
          <p:txBody>
            <a:bodyPr/>
            <a:lstStyle/>
            <a:p>
              <a:endParaRPr lang="en-US"/>
            </a:p>
          </p:txBody>
        </p:sp>
        <p:sp>
          <p:nvSpPr>
            <p:cNvPr id="4144" name="Line 33"/>
            <p:cNvSpPr>
              <a:spLocks noChangeShapeType="1"/>
            </p:cNvSpPr>
            <p:nvPr/>
          </p:nvSpPr>
          <p:spPr bwMode="auto">
            <a:xfrm flipH="1">
              <a:off x="984" y="1463"/>
              <a:ext cx="104" cy="106"/>
            </a:xfrm>
            <a:prstGeom prst="line">
              <a:avLst/>
            </a:prstGeom>
            <a:noFill/>
            <a:ln w="28575">
              <a:solidFill>
                <a:srgbClr val="000000"/>
              </a:solidFill>
              <a:round/>
              <a:headEnd/>
              <a:tailEnd/>
            </a:ln>
          </p:spPr>
          <p:txBody>
            <a:bodyPr/>
            <a:lstStyle/>
            <a:p>
              <a:endParaRPr lang="en-US"/>
            </a:p>
          </p:txBody>
        </p:sp>
        <p:sp>
          <p:nvSpPr>
            <p:cNvPr id="4145" name="Line 34"/>
            <p:cNvSpPr>
              <a:spLocks noChangeShapeType="1"/>
            </p:cNvSpPr>
            <p:nvPr/>
          </p:nvSpPr>
          <p:spPr bwMode="auto">
            <a:xfrm>
              <a:off x="998" y="1378"/>
              <a:ext cx="194" cy="0"/>
            </a:xfrm>
            <a:prstGeom prst="line">
              <a:avLst/>
            </a:prstGeom>
            <a:noFill/>
            <a:ln w="28575">
              <a:solidFill>
                <a:srgbClr val="000000"/>
              </a:solidFill>
              <a:round/>
              <a:headEnd/>
              <a:tailEnd/>
            </a:ln>
          </p:spPr>
          <p:txBody>
            <a:bodyPr/>
            <a:lstStyle/>
            <a:p>
              <a:endParaRPr lang="en-US"/>
            </a:p>
          </p:txBody>
        </p:sp>
        <p:sp>
          <p:nvSpPr>
            <p:cNvPr id="4146" name="Line 35"/>
            <p:cNvSpPr>
              <a:spLocks noChangeShapeType="1"/>
            </p:cNvSpPr>
            <p:nvPr/>
          </p:nvSpPr>
          <p:spPr bwMode="auto">
            <a:xfrm>
              <a:off x="1091" y="1460"/>
              <a:ext cx="104" cy="106"/>
            </a:xfrm>
            <a:prstGeom prst="line">
              <a:avLst/>
            </a:prstGeom>
            <a:noFill/>
            <a:ln w="28575">
              <a:solidFill>
                <a:srgbClr val="000000"/>
              </a:solidFill>
              <a:round/>
              <a:headEnd/>
              <a:tailEnd/>
            </a:ln>
          </p:spPr>
          <p:txBody>
            <a:bodyPr/>
            <a:lstStyle/>
            <a:p>
              <a:endParaRPr lang="en-US"/>
            </a:p>
          </p:txBody>
        </p:sp>
      </p:grpSp>
      <p:sp>
        <p:nvSpPr>
          <p:cNvPr id="4105" name="Line 61"/>
          <p:cNvSpPr>
            <a:spLocks noChangeShapeType="1"/>
          </p:cNvSpPr>
          <p:nvPr/>
        </p:nvSpPr>
        <p:spPr bwMode="auto">
          <a:xfrm>
            <a:off x="7198394" y="2621295"/>
            <a:ext cx="2683234" cy="1588"/>
          </a:xfrm>
          <a:prstGeom prst="line">
            <a:avLst/>
          </a:prstGeom>
          <a:noFill/>
          <a:ln w="28575">
            <a:solidFill>
              <a:schemeClr val="bg2"/>
            </a:solidFill>
            <a:round/>
            <a:headEnd/>
            <a:tailEnd/>
          </a:ln>
        </p:spPr>
        <p:txBody>
          <a:bodyPr lIns="121899" tIns="60949" rIns="121899" bIns="60949">
            <a:spAutoFit/>
          </a:bodyPr>
          <a:lstStyle/>
          <a:p>
            <a:endParaRPr lang="en-US"/>
          </a:p>
        </p:txBody>
      </p:sp>
      <p:sp>
        <p:nvSpPr>
          <p:cNvPr id="4106" name="Line 64"/>
          <p:cNvSpPr>
            <a:spLocks noChangeShapeType="1"/>
          </p:cNvSpPr>
          <p:nvPr/>
        </p:nvSpPr>
        <p:spPr bwMode="auto">
          <a:xfrm>
            <a:off x="7196280" y="3935746"/>
            <a:ext cx="2702279" cy="1588"/>
          </a:xfrm>
          <a:prstGeom prst="line">
            <a:avLst/>
          </a:prstGeom>
          <a:noFill/>
          <a:ln w="28575">
            <a:solidFill>
              <a:schemeClr val="bg2"/>
            </a:solidFill>
            <a:round/>
            <a:headEnd/>
            <a:tailEnd/>
          </a:ln>
        </p:spPr>
        <p:txBody>
          <a:bodyPr lIns="121899" tIns="60949" rIns="121899" bIns="60949">
            <a:spAutoFit/>
          </a:bodyPr>
          <a:lstStyle/>
          <a:p>
            <a:endParaRPr lang="en-US"/>
          </a:p>
        </p:txBody>
      </p:sp>
      <p:sp>
        <p:nvSpPr>
          <p:cNvPr id="4107" name="Line 67"/>
          <p:cNvSpPr>
            <a:spLocks noChangeShapeType="1"/>
          </p:cNvSpPr>
          <p:nvPr/>
        </p:nvSpPr>
        <p:spPr bwMode="auto">
          <a:xfrm>
            <a:off x="7187816" y="5170820"/>
            <a:ext cx="2795388" cy="1588"/>
          </a:xfrm>
          <a:prstGeom prst="line">
            <a:avLst/>
          </a:prstGeom>
          <a:noFill/>
          <a:ln w="28575">
            <a:solidFill>
              <a:schemeClr val="bg2"/>
            </a:solidFill>
            <a:round/>
            <a:headEnd/>
            <a:tailEnd/>
          </a:ln>
        </p:spPr>
        <p:txBody>
          <a:bodyPr lIns="121899" tIns="60949" rIns="121899" bIns="60949">
            <a:spAutoFit/>
          </a:bodyPr>
          <a:lstStyle/>
          <a:p>
            <a:endParaRPr lang="en-US"/>
          </a:p>
        </p:txBody>
      </p:sp>
      <p:sp>
        <p:nvSpPr>
          <p:cNvPr id="4108" name="Text Box 18"/>
          <p:cNvSpPr txBox="1">
            <a:spLocks noChangeArrowheads="1"/>
          </p:cNvSpPr>
          <p:nvPr/>
        </p:nvSpPr>
        <p:spPr bwMode="auto">
          <a:xfrm>
            <a:off x="10000025" y="3507120"/>
            <a:ext cx="1752360" cy="1000252"/>
          </a:xfrm>
          <a:prstGeom prst="rect">
            <a:avLst/>
          </a:prstGeom>
          <a:noFill/>
          <a:ln w="12700" algn="ctr">
            <a:solidFill>
              <a:schemeClr val="tx1"/>
            </a:solidFill>
            <a:miter lim="800000"/>
            <a:headEnd/>
            <a:tailEnd/>
          </a:ln>
        </p:spPr>
        <p:txBody>
          <a:bodyPr wrap="none" lIns="121899" tIns="60949" rIns="121899" bIns="60949">
            <a:spAutoFit/>
          </a:bodyPr>
          <a:lstStyle/>
          <a:p>
            <a:pPr algn="ctr" eaLnBrk="0" hangingPunct="0"/>
            <a:r>
              <a:rPr lang="en-US" dirty="0">
                <a:solidFill>
                  <a:schemeClr val="tx1"/>
                </a:solidFill>
                <a:cs typeface="Tahoma" pitchFamily="34" charset="0"/>
              </a:rPr>
              <a:t>«actor»</a:t>
            </a:r>
            <a:br>
              <a:rPr lang="en-US" dirty="0">
                <a:solidFill>
                  <a:schemeClr val="tx1"/>
                </a:solidFill>
                <a:cs typeface="Tahoma" pitchFamily="34" charset="0"/>
              </a:rPr>
            </a:br>
            <a:r>
              <a:rPr lang="en-US" dirty="0">
                <a:solidFill>
                  <a:schemeClr val="tx1"/>
                </a:solidFill>
                <a:cs typeface="Tahoma" pitchFamily="34" charset="0"/>
              </a:rPr>
              <a:t>XYZ</a:t>
            </a:r>
            <a:br>
              <a:rPr lang="en-US" dirty="0">
                <a:solidFill>
                  <a:schemeClr val="tx1"/>
                </a:solidFill>
                <a:cs typeface="Tahoma" pitchFamily="34" charset="0"/>
              </a:rPr>
            </a:br>
            <a:r>
              <a:rPr lang="en-US" sz="2100" dirty="0">
                <a:cs typeface="Tahoma" pitchFamily="34" charset="0"/>
              </a:rPr>
              <a:t>Credit Bureau</a:t>
            </a:r>
            <a:endParaRPr lang="en-US" sz="2100" dirty="0"/>
          </a:p>
        </p:txBody>
      </p:sp>
      <p:sp>
        <p:nvSpPr>
          <p:cNvPr id="4109" name="Text Box 18"/>
          <p:cNvSpPr txBox="1">
            <a:spLocks noChangeArrowheads="1"/>
          </p:cNvSpPr>
          <p:nvPr/>
        </p:nvSpPr>
        <p:spPr bwMode="auto">
          <a:xfrm>
            <a:off x="9917605" y="2135520"/>
            <a:ext cx="1891807" cy="958851"/>
          </a:xfrm>
          <a:prstGeom prst="rect">
            <a:avLst/>
          </a:prstGeom>
          <a:noFill/>
          <a:ln w="12700" algn="ctr">
            <a:solidFill>
              <a:schemeClr val="tx1"/>
            </a:solidFill>
            <a:miter lim="800000"/>
            <a:headEnd/>
            <a:tailEnd/>
          </a:ln>
        </p:spPr>
        <p:txBody>
          <a:bodyPr wrap="none" lIns="121899" tIns="60949" rIns="121899" bIns="60949"/>
          <a:lstStyle/>
          <a:p>
            <a:pPr algn="ctr" eaLnBrk="0" hangingPunct="0"/>
            <a:r>
              <a:rPr lang="en-US" dirty="0">
                <a:solidFill>
                  <a:schemeClr val="tx1"/>
                </a:solidFill>
                <a:cs typeface="Tahoma" pitchFamily="34" charset="0"/>
              </a:rPr>
              <a:t>«actor»</a:t>
            </a:r>
            <a:br>
              <a:rPr lang="en-US" dirty="0">
                <a:solidFill>
                  <a:schemeClr val="tx1"/>
                </a:solidFill>
                <a:cs typeface="Tahoma" pitchFamily="34" charset="0"/>
              </a:rPr>
            </a:br>
            <a:r>
              <a:rPr lang="en-US" dirty="0">
                <a:solidFill>
                  <a:schemeClr val="tx1"/>
                </a:solidFill>
                <a:cs typeface="Tahoma" pitchFamily="34" charset="0"/>
              </a:rPr>
              <a:t>CPS</a:t>
            </a:r>
            <a:endParaRPr lang="en-US" sz="2100" dirty="0"/>
          </a:p>
        </p:txBody>
      </p:sp>
      <p:sp>
        <p:nvSpPr>
          <p:cNvPr id="4110" name="Text Box 36"/>
          <p:cNvSpPr txBox="1">
            <a:spLocks noChangeArrowheads="1"/>
          </p:cNvSpPr>
          <p:nvPr/>
        </p:nvSpPr>
        <p:spPr bwMode="auto">
          <a:xfrm>
            <a:off x="9930302" y="5534359"/>
            <a:ext cx="1857949" cy="714041"/>
          </a:xfrm>
          <a:prstGeom prst="rect">
            <a:avLst/>
          </a:prstGeom>
          <a:noFill/>
          <a:ln w="12700" algn="ctr">
            <a:noFill/>
            <a:miter lim="800000"/>
            <a:headEnd/>
            <a:tailEnd/>
          </a:ln>
        </p:spPr>
        <p:txBody>
          <a:bodyPr lIns="121899" tIns="60949" rIns="121899" bIns="60949">
            <a:spAutoFit/>
          </a:bodyPr>
          <a:lstStyle/>
          <a:p>
            <a:pPr algn="ctr" eaLnBrk="0" hangingPunct="0">
              <a:lnSpc>
                <a:spcPct val="90000"/>
              </a:lnSpc>
              <a:spcBef>
                <a:spcPct val="50000"/>
              </a:spcBef>
            </a:pPr>
            <a:r>
              <a:rPr lang="en-US" sz="2100" dirty="0"/>
              <a:t>System Administrator</a:t>
            </a:r>
          </a:p>
        </p:txBody>
      </p:sp>
      <p:grpSp>
        <p:nvGrpSpPr>
          <p:cNvPr id="4" name="Group 10"/>
          <p:cNvGrpSpPr>
            <a:grpSpLocks/>
          </p:cNvGrpSpPr>
          <p:nvPr/>
        </p:nvGrpSpPr>
        <p:grpSpPr bwMode="auto">
          <a:xfrm>
            <a:off x="1216136" y="4415170"/>
            <a:ext cx="446500" cy="588963"/>
            <a:chOff x="984" y="1198"/>
            <a:chExt cx="211" cy="371"/>
          </a:xfrm>
        </p:grpSpPr>
        <p:sp>
          <p:nvSpPr>
            <p:cNvPr id="4137" name="Oval 11"/>
            <p:cNvSpPr>
              <a:spLocks noChangeArrowheads="1"/>
            </p:cNvSpPr>
            <p:nvPr/>
          </p:nvSpPr>
          <p:spPr bwMode="auto">
            <a:xfrm>
              <a:off x="1043" y="1198"/>
              <a:ext cx="104" cy="109"/>
            </a:xfrm>
            <a:prstGeom prst="ellipse">
              <a:avLst/>
            </a:prstGeom>
            <a:noFill/>
            <a:ln w="28575">
              <a:solidFill>
                <a:srgbClr val="000000"/>
              </a:solidFill>
              <a:round/>
              <a:headEnd/>
              <a:tailEnd/>
            </a:ln>
          </p:spPr>
          <p:txBody>
            <a:bodyPr/>
            <a:lstStyle/>
            <a:p>
              <a:pPr eaLnBrk="0" hangingPunct="0">
                <a:spcBef>
                  <a:spcPct val="50000"/>
                </a:spcBef>
              </a:pPr>
              <a:endParaRPr lang="en-US">
                <a:solidFill>
                  <a:schemeClr val="tx1"/>
                </a:solidFill>
              </a:endParaRPr>
            </a:p>
          </p:txBody>
        </p:sp>
        <p:sp>
          <p:nvSpPr>
            <p:cNvPr id="4138" name="Line 12"/>
            <p:cNvSpPr>
              <a:spLocks noChangeShapeType="1"/>
            </p:cNvSpPr>
            <p:nvPr/>
          </p:nvSpPr>
          <p:spPr bwMode="auto">
            <a:xfrm>
              <a:off x="1094" y="1305"/>
              <a:ext cx="0" cy="154"/>
            </a:xfrm>
            <a:prstGeom prst="line">
              <a:avLst/>
            </a:prstGeom>
            <a:noFill/>
            <a:ln w="28575">
              <a:solidFill>
                <a:srgbClr val="000000"/>
              </a:solidFill>
              <a:round/>
              <a:headEnd/>
              <a:tailEnd/>
            </a:ln>
          </p:spPr>
          <p:txBody>
            <a:bodyPr/>
            <a:lstStyle/>
            <a:p>
              <a:endParaRPr lang="en-US"/>
            </a:p>
          </p:txBody>
        </p:sp>
        <p:sp>
          <p:nvSpPr>
            <p:cNvPr id="4139" name="Line 13"/>
            <p:cNvSpPr>
              <a:spLocks noChangeShapeType="1"/>
            </p:cNvSpPr>
            <p:nvPr/>
          </p:nvSpPr>
          <p:spPr bwMode="auto">
            <a:xfrm flipH="1">
              <a:off x="984" y="1463"/>
              <a:ext cx="104" cy="106"/>
            </a:xfrm>
            <a:prstGeom prst="line">
              <a:avLst/>
            </a:prstGeom>
            <a:noFill/>
            <a:ln w="28575">
              <a:solidFill>
                <a:srgbClr val="000000"/>
              </a:solidFill>
              <a:round/>
              <a:headEnd/>
              <a:tailEnd/>
            </a:ln>
          </p:spPr>
          <p:txBody>
            <a:bodyPr/>
            <a:lstStyle/>
            <a:p>
              <a:endParaRPr lang="en-US"/>
            </a:p>
          </p:txBody>
        </p:sp>
        <p:sp>
          <p:nvSpPr>
            <p:cNvPr id="4140" name="Line 14"/>
            <p:cNvSpPr>
              <a:spLocks noChangeShapeType="1"/>
            </p:cNvSpPr>
            <p:nvPr/>
          </p:nvSpPr>
          <p:spPr bwMode="auto">
            <a:xfrm>
              <a:off x="998" y="1378"/>
              <a:ext cx="194" cy="0"/>
            </a:xfrm>
            <a:prstGeom prst="line">
              <a:avLst/>
            </a:prstGeom>
            <a:noFill/>
            <a:ln w="28575">
              <a:solidFill>
                <a:srgbClr val="000000"/>
              </a:solidFill>
              <a:round/>
              <a:headEnd/>
              <a:tailEnd/>
            </a:ln>
          </p:spPr>
          <p:txBody>
            <a:bodyPr/>
            <a:lstStyle/>
            <a:p>
              <a:endParaRPr lang="en-US"/>
            </a:p>
          </p:txBody>
        </p:sp>
        <p:sp>
          <p:nvSpPr>
            <p:cNvPr id="4141" name="Line 15"/>
            <p:cNvSpPr>
              <a:spLocks noChangeShapeType="1"/>
            </p:cNvSpPr>
            <p:nvPr/>
          </p:nvSpPr>
          <p:spPr bwMode="auto">
            <a:xfrm>
              <a:off x="1091" y="1460"/>
              <a:ext cx="104" cy="106"/>
            </a:xfrm>
            <a:prstGeom prst="line">
              <a:avLst/>
            </a:prstGeom>
            <a:noFill/>
            <a:ln w="28575">
              <a:solidFill>
                <a:srgbClr val="000000"/>
              </a:solidFill>
              <a:round/>
              <a:headEnd/>
              <a:tailEnd/>
            </a:ln>
          </p:spPr>
          <p:txBody>
            <a:bodyPr/>
            <a:lstStyle/>
            <a:p>
              <a:endParaRPr lang="en-US"/>
            </a:p>
          </p:txBody>
        </p:sp>
      </p:grpSp>
      <p:sp>
        <p:nvSpPr>
          <p:cNvPr id="4112" name="Text Box 37"/>
          <p:cNvSpPr txBox="1">
            <a:spLocks noChangeArrowheads="1"/>
          </p:cNvSpPr>
          <p:nvPr/>
        </p:nvSpPr>
        <p:spPr bwMode="auto">
          <a:xfrm>
            <a:off x="431058" y="5147010"/>
            <a:ext cx="2020891" cy="413937"/>
          </a:xfrm>
          <a:prstGeom prst="rect">
            <a:avLst/>
          </a:prstGeom>
          <a:noFill/>
          <a:ln w="12700" algn="ctr">
            <a:noFill/>
            <a:miter lim="800000"/>
            <a:headEnd/>
            <a:tailEnd/>
          </a:ln>
        </p:spPr>
        <p:txBody>
          <a:bodyPr lIns="121899" tIns="60949" rIns="121899" bIns="60949">
            <a:spAutoFit/>
          </a:bodyPr>
          <a:lstStyle/>
          <a:p>
            <a:pPr algn="ctr" eaLnBrk="0" hangingPunct="0">
              <a:lnSpc>
                <a:spcPct val="90000"/>
              </a:lnSpc>
              <a:spcBef>
                <a:spcPct val="50000"/>
              </a:spcBef>
            </a:pPr>
            <a:r>
              <a:rPr lang="en-US" sz="2100" dirty="0"/>
              <a:t>Data Entry Clerk</a:t>
            </a:r>
          </a:p>
        </p:txBody>
      </p:sp>
      <p:sp>
        <p:nvSpPr>
          <p:cNvPr id="4113" name="Line 73"/>
          <p:cNvSpPr>
            <a:spLocks noChangeShapeType="1"/>
          </p:cNvSpPr>
          <p:nvPr/>
        </p:nvSpPr>
        <p:spPr bwMode="auto">
          <a:xfrm>
            <a:off x="2022375" y="4767595"/>
            <a:ext cx="2888498" cy="1588"/>
          </a:xfrm>
          <a:prstGeom prst="line">
            <a:avLst/>
          </a:prstGeom>
          <a:noFill/>
          <a:ln w="28575">
            <a:solidFill>
              <a:schemeClr val="tx1"/>
            </a:solidFill>
            <a:round/>
            <a:headEnd/>
            <a:tailEnd/>
          </a:ln>
        </p:spPr>
        <p:txBody>
          <a:bodyPr lIns="121899" tIns="60949" rIns="121899" bIns="60949">
            <a:spAutoFit/>
          </a:bodyPr>
          <a:lstStyle/>
          <a:p>
            <a:endParaRPr lang="en-US"/>
          </a:p>
        </p:txBody>
      </p:sp>
      <p:sp>
        <p:nvSpPr>
          <p:cNvPr id="4114" name="Line 61"/>
          <p:cNvSpPr>
            <a:spLocks noChangeShapeType="1"/>
          </p:cNvSpPr>
          <p:nvPr/>
        </p:nvSpPr>
        <p:spPr bwMode="auto">
          <a:xfrm>
            <a:off x="7198394" y="2621295"/>
            <a:ext cx="2683234" cy="1588"/>
          </a:xfrm>
          <a:prstGeom prst="line">
            <a:avLst/>
          </a:prstGeom>
          <a:noFill/>
          <a:ln w="28575">
            <a:solidFill>
              <a:schemeClr val="tx1"/>
            </a:solidFill>
            <a:round/>
            <a:headEnd/>
            <a:tailEnd/>
          </a:ln>
        </p:spPr>
        <p:txBody>
          <a:bodyPr lIns="121899" tIns="60949" rIns="121899" bIns="60949">
            <a:spAutoFit/>
          </a:bodyPr>
          <a:lstStyle/>
          <a:p>
            <a:endParaRPr lang="en-US"/>
          </a:p>
        </p:txBody>
      </p:sp>
      <p:sp>
        <p:nvSpPr>
          <p:cNvPr id="4115" name="Line 64"/>
          <p:cNvSpPr>
            <a:spLocks noChangeShapeType="1"/>
          </p:cNvSpPr>
          <p:nvPr/>
        </p:nvSpPr>
        <p:spPr bwMode="auto">
          <a:xfrm>
            <a:off x="7196280" y="3935746"/>
            <a:ext cx="2702279" cy="1588"/>
          </a:xfrm>
          <a:prstGeom prst="line">
            <a:avLst/>
          </a:prstGeom>
          <a:noFill/>
          <a:ln w="28575">
            <a:solidFill>
              <a:schemeClr val="tx1"/>
            </a:solidFill>
            <a:round/>
            <a:headEnd/>
            <a:tailEnd/>
          </a:ln>
        </p:spPr>
        <p:txBody>
          <a:bodyPr lIns="121899" tIns="60949" rIns="121899" bIns="60949">
            <a:spAutoFit/>
          </a:bodyPr>
          <a:lstStyle/>
          <a:p>
            <a:endParaRPr lang="en-US"/>
          </a:p>
        </p:txBody>
      </p:sp>
      <p:sp>
        <p:nvSpPr>
          <p:cNvPr id="4116" name="Line 67"/>
          <p:cNvSpPr>
            <a:spLocks noChangeShapeType="1"/>
          </p:cNvSpPr>
          <p:nvPr/>
        </p:nvSpPr>
        <p:spPr bwMode="auto">
          <a:xfrm>
            <a:off x="7187816" y="5170820"/>
            <a:ext cx="2795388" cy="1588"/>
          </a:xfrm>
          <a:prstGeom prst="line">
            <a:avLst/>
          </a:prstGeom>
          <a:noFill/>
          <a:ln w="28575">
            <a:solidFill>
              <a:schemeClr val="tx1"/>
            </a:solidFill>
            <a:round/>
            <a:headEnd/>
            <a:tailEnd/>
          </a:ln>
        </p:spPr>
        <p:txBody>
          <a:bodyPr lIns="121899" tIns="60949" rIns="121899" bIns="60949">
            <a:spAutoFit/>
          </a:bodyPr>
          <a:lstStyle/>
          <a:p>
            <a:endParaRPr lang="en-US"/>
          </a:p>
        </p:txBody>
      </p:sp>
      <p:sp>
        <p:nvSpPr>
          <p:cNvPr id="4117" name="Line 41"/>
          <p:cNvSpPr>
            <a:spLocks noChangeShapeType="1"/>
          </p:cNvSpPr>
          <p:nvPr/>
        </p:nvSpPr>
        <p:spPr bwMode="auto">
          <a:xfrm flipH="1">
            <a:off x="8108324" y="2484770"/>
            <a:ext cx="653880" cy="0"/>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4118" name="Line 47"/>
          <p:cNvSpPr>
            <a:spLocks noChangeShapeType="1"/>
          </p:cNvSpPr>
          <p:nvPr/>
        </p:nvSpPr>
        <p:spPr bwMode="auto">
          <a:xfrm>
            <a:off x="8108324" y="2789571"/>
            <a:ext cx="653880" cy="1588"/>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4119" name="Text Box 48"/>
          <p:cNvSpPr txBox="1">
            <a:spLocks noChangeArrowheads="1"/>
          </p:cNvSpPr>
          <p:nvPr/>
        </p:nvSpPr>
        <p:spPr bwMode="auto">
          <a:xfrm>
            <a:off x="7691451" y="2865770"/>
            <a:ext cx="1229951" cy="370166"/>
          </a:xfrm>
          <a:prstGeom prst="rect">
            <a:avLst/>
          </a:prstGeom>
          <a:noFill/>
          <a:ln w="12700">
            <a:noFill/>
            <a:miter lim="800000"/>
            <a:headEnd type="none" w="sm" len="sm"/>
            <a:tailEnd type="none" w="med" len="lg"/>
          </a:ln>
        </p:spPr>
        <p:txBody>
          <a:bodyPr wrap="none" lIns="122745" tIns="61373" rIns="122745" bIns="61373">
            <a:spAutoFit/>
          </a:bodyPr>
          <a:lstStyle/>
          <a:p>
            <a:pPr eaLnBrk="0" hangingPunct="0"/>
            <a:r>
              <a:rPr lang="en-US" sz="1600" b="1" dirty="0"/>
              <a:t>Transaction</a:t>
            </a:r>
          </a:p>
        </p:txBody>
      </p:sp>
      <p:sp>
        <p:nvSpPr>
          <p:cNvPr id="4120" name="Text Box 50"/>
          <p:cNvSpPr txBox="1">
            <a:spLocks noChangeArrowheads="1"/>
          </p:cNvSpPr>
          <p:nvPr/>
        </p:nvSpPr>
        <p:spPr bwMode="auto">
          <a:xfrm>
            <a:off x="7692824" y="1981200"/>
            <a:ext cx="1373388" cy="370166"/>
          </a:xfrm>
          <a:prstGeom prst="rect">
            <a:avLst/>
          </a:prstGeom>
          <a:noFill/>
          <a:ln w="12700">
            <a:noFill/>
            <a:miter lim="800000"/>
            <a:headEnd type="none" w="sm" len="sm"/>
            <a:tailEnd type="none" w="med" len="lg"/>
          </a:ln>
        </p:spPr>
        <p:txBody>
          <a:bodyPr wrap="none" lIns="122745" tIns="61373" rIns="122745" bIns="61373">
            <a:spAutoFit/>
          </a:bodyPr>
          <a:lstStyle/>
          <a:p>
            <a:pPr eaLnBrk="0" hangingPunct="0"/>
            <a:r>
              <a:rPr lang="en-US" sz="1600" b="1" dirty="0"/>
              <a:t>Confirmation</a:t>
            </a:r>
          </a:p>
        </p:txBody>
      </p:sp>
      <p:sp>
        <p:nvSpPr>
          <p:cNvPr id="4121" name="Text Box 52"/>
          <p:cNvSpPr txBox="1">
            <a:spLocks noChangeArrowheads="1"/>
          </p:cNvSpPr>
          <p:nvPr/>
        </p:nvSpPr>
        <p:spPr bwMode="auto">
          <a:xfrm>
            <a:off x="7799371" y="4146884"/>
            <a:ext cx="1069138" cy="370166"/>
          </a:xfrm>
          <a:prstGeom prst="rect">
            <a:avLst/>
          </a:prstGeom>
          <a:noFill/>
          <a:ln w="12700">
            <a:noFill/>
            <a:miter lim="800000"/>
            <a:headEnd type="none" w="sm" len="sm"/>
            <a:tailEnd type="none" w="med" len="lg"/>
          </a:ln>
        </p:spPr>
        <p:txBody>
          <a:bodyPr wrap="none" lIns="122745" tIns="61373" rIns="122745" bIns="61373">
            <a:spAutoFit/>
          </a:bodyPr>
          <a:lstStyle/>
          <a:p>
            <a:pPr eaLnBrk="0" hangingPunct="0"/>
            <a:r>
              <a:rPr lang="en-US" sz="1600" b="1" dirty="0"/>
              <a:t>Customer</a:t>
            </a:r>
          </a:p>
        </p:txBody>
      </p:sp>
      <p:sp>
        <p:nvSpPr>
          <p:cNvPr id="4122" name="Text Box 54"/>
          <p:cNvSpPr txBox="1">
            <a:spLocks noChangeArrowheads="1"/>
          </p:cNvSpPr>
          <p:nvPr/>
        </p:nvSpPr>
        <p:spPr bwMode="auto">
          <a:xfrm>
            <a:off x="7678755" y="3461084"/>
            <a:ext cx="1260152" cy="370166"/>
          </a:xfrm>
          <a:prstGeom prst="rect">
            <a:avLst/>
          </a:prstGeom>
          <a:noFill/>
          <a:ln w="12700">
            <a:noFill/>
            <a:miter lim="800000"/>
            <a:headEnd type="none" w="sm" len="sm"/>
            <a:tailEnd type="none" w="med" len="lg"/>
          </a:ln>
        </p:spPr>
        <p:txBody>
          <a:bodyPr wrap="none" lIns="122745" tIns="61373" rIns="122745" bIns="61373">
            <a:spAutoFit/>
          </a:bodyPr>
          <a:lstStyle/>
          <a:p>
            <a:pPr eaLnBrk="0" hangingPunct="0"/>
            <a:r>
              <a:rPr lang="en-US" sz="1600" b="1" dirty="0"/>
              <a:t>Credit score</a:t>
            </a:r>
          </a:p>
        </p:txBody>
      </p:sp>
      <p:sp>
        <p:nvSpPr>
          <p:cNvPr id="4123" name="Line 62"/>
          <p:cNvSpPr>
            <a:spLocks noChangeShapeType="1"/>
          </p:cNvSpPr>
          <p:nvPr/>
        </p:nvSpPr>
        <p:spPr bwMode="auto">
          <a:xfrm flipH="1">
            <a:off x="8108324" y="3842082"/>
            <a:ext cx="653880" cy="0"/>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4124" name="Line 63"/>
          <p:cNvSpPr>
            <a:spLocks noChangeShapeType="1"/>
          </p:cNvSpPr>
          <p:nvPr/>
        </p:nvSpPr>
        <p:spPr bwMode="auto">
          <a:xfrm>
            <a:off x="8108324" y="4070684"/>
            <a:ext cx="653880" cy="1587"/>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4125" name="Text Box 56"/>
          <p:cNvSpPr txBox="1">
            <a:spLocks noChangeArrowheads="1"/>
          </p:cNvSpPr>
          <p:nvPr/>
        </p:nvSpPr>
        <p:spPr bwMode="auto">
          <a:xfrm>
            <a:off x="7623735" y="5304170"/>
            <a:ext cx="1674175" cy="370166"/>
          </a:xfrm>
          <a:prstGeom prst="rect">
            <a:avLst/>
          </a:prstGeom>
          <a:noFill/>
          <a:ln w="12700">
            <a:noFill/>
            <a:miter lim="800000"/>
            <a:headEnd type="none" w="sm" len="sm"/>
            <a:tailEnd type="none" w="med" len="lg"/>
          </a:ln>
        </p:spPr>
        <p:txBody>
          <a:bodyPr wrap="none" lIns="122745" tIns="61373" rIns="122745" bIns="61373">
            <a:spAutoFit/>
          </a:bodyPr>
          <a:lstStyle/>
          <a:p>
            <a:pPr eaLnBrk="0" hangingPunct="0"/>
            <a:r>
              <a:rPr lang="en-US" sz="1600" b="1" dirty="0"/>
              <a:t>Customer </a:t>
            </a:r>
            <a:r>
              <a:rPr lang="en-US" sz="1600" b="1" dirty="0" smtClean="0"/>
              <a:t>Profile</a:t>
            </a:r>
            <a:endParaRPr lang="en-US" sz="1600" b="1" dirty="0"/>
          </a:p>
        </p:txBody>
      </p:sp>
      <p:sp>
        <p:nvSpPr>
          <p:cNvPr id="4126" name="Text Box 58"/>
          <p:cNvSpPr txBox="1">
            <a:spLocks noChangeArrowheads="1"/>
          </p:cNvSpPr>
          <p:nvPr/>
        </p:nvSpPr>
        <p:spPr bwMode="auto">
          <a:xfrm>
            <a:off x="7219555" y="4646442"/>
            <a:ext cx="2657458" cy="370166"/>
          </a:xfrm>
          <a:prstGeom prst="rect">
            <a:avLst/>
          </a:prstGeom>
          <a:noFill/>
          <a:ln w="12700">
            <a:noFill/>
            <a:miter lim="800000"/>
            <a:headEnd type="none" w="sm" len="sm"/>
            <a:tailEnd type="none" w="med" len="lg"/>
          </a:ln>
        </p:spPr>
        <p:txBody>
          <a:bodyPr wrap="none" lIns="122745" tIns="61373" rIns="122745" bIns="61373">
            <a:spAutoFit/>
          </a:bodyPr>
          <a:lstStyle/>
          <a:p>
            <a:pPr eaLnBrk="0" hangingPunct="0"/>
            <a:r>
              <a:rPr lang="en-US" sz="1600" b="1" dirty="0"/>
              <a:t>Changes to Customer </a:t>
            </a:r>
            <a:r>
              <a:rPr lang="en-US" sz="1600" b="1" dirty="0" smtClean="0"/>
              <a:t>Profile</a:t>
            </a:r>
            <a:endParaRPr lang="en-US" sz="1600" b="1" dirty="0"/>
          </a:p>
        </p:txBody>
      </p:sp>
      <p:sp>
        <p:nvSpPr>
          <p:cNvPr id="4127" name="Line 65"/>
          <p:cNvSpPr>
            <a:spLocks noChangeShapeType="1"/>
          </p:cNvSpPr>
          <p:nvPr/>
        </p:nvSpPr>
        <p:spPr bwMode="auto">
          <a:xfrm flipH="1">
            <a:off x="8108324" y="4999370"/>
            <a:ext cx="653880" cy="0"/>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4128" name="Line 66"/>
          <p:cNvSpPr>
            <a:spLocks noChangeShapeType="1"/>
          </p:cNvSpPr>
          <p:nvPr/>
        </p:nvSpPr>
        <p:spPr bwMode="auto">
          <a:xfrm>
            <a:off x="8108324" y="5304171"/>
            <a:ext cx="653880" cy="1588"/>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4129" name="Text Box 44"/>
          <p:cNvSpPr txBox="1">
            <a:spLocks noChangeArrowheads="1"/>
          </p:cNvSpPr>
          <p:nvPr/>
        </p:nvSpPr>
        <p:spPr bwMode="auto">
          <a:xfrm>
            <a:off x="2826499" y="4264359"/>
            <a:ext cx="1229951" cy="370166"/>
          </a:xfrm>
          <a:prstGeom prst="rect">
            <a:avLst/>
          </a:prstGeom>
          <a:noFill/>
          <a:ln w="12700">
            <a:noFill/>
            <a:miter lim="800000"/>
            <a:headEnd type="none" w="sm" len="sm"/>
            <a:tailEnd type="none" w="med" len="lg"/>
          </a:ln>
        </p:spPr>
        <p:txBody>
          <a:bodyPr wrap="none" lIns="122745" tIns="61373" rIns="122745" bIns="61373">
            <a:spAutoFit/>
          </a:bodyPr>
          <a:lstStyle/>
          <a:p>
            <a:pPr eaLnBrk="0" hangingPunct="0"/>
            <a:r>
              <a:rPr lang="en-US" sz="1600" b="1" dirty="0"/>
              <a:t>Transaction</a:t>
            </a:r>
          </a:p>
        </p:txBody>
      </p:sp>
      <p:sp>
        <p:nvSpPr>
          <p:cNvPr id="4130" name="Text Box 46"/>
          <p:cNvSpPr txBox="1">
            <a:spLocks noChangeArrowheads="1"/>
          </p:cNvSpPr>
          <p:nvPr/>
        </p:nvSpPr>
        <p:spPr bwMode="auto">
          <a:xfrm>
            <a:off x="2824385" y="4924758"/>
            <a:ext cx="1373388" cy="370166"/>
          </a:xfrm>
          <a:prstGeom prst="rect">
            <a:avLst/>
          </a:prstGeom>
          <a:noFill/>
          <a:ln w="12700">
            <a:noFill/>
            <a:miter lim="800000"/>
            <a:headEnd type="none" w="sm" len="sm"/>
            <a:tailEnd type="none" w="med" len="lg"/>
          </a:ln>
        </p:spPr>
        <p:txBody>
          <a:bodyPr wrap="none" lIns="122745" tIns="61373" rIns="122745" bIns="61373">
            <a:spAutoFit/>
          </a:bodyPr>
          <a:lstStyle/>
          <a:p>
            <a:pPr eaLnBrk="0" hangingPunct="0"/>
            <a:r>
              <a:rPr lang="en-US" sz="1600" b="1" dirty="0"/>
              <a:t>Confirmation</a:t>
            </a:r>
          </a:p>
        </p:txBody>
      </p:sp>
      <p:sp>
        <p:nvSpPr>
          <p:cNvPr id="4131" name="Line 71"/>
          <p:cNvSpPr>
            <a:spLocks noChangeShapeType="1"/>
          </p:cNvSpPr>
          <p:nvPr/>
        </p:nvSpPr>
        <p:spPr bwMode="auto">
          <a:xfrm flipH="1">
            <a:off x="3243377" y="4891420"/>
            <a:ext cx="653879" cy="0"/>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4132" name="Line 72"/>
          <p:cNvSpPr>
            <a:spLocks noChangeShapeType="1"/>
          </p:cNvSpPr>
          <p:nvPr/>
        </p:nvSpPr>
        <p:spPr bwMode="auto">
          <a:xfrm>
            <a:off x="3243377" y="4646946"/>
            <a:ext cx="653879" cy="1588"/>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4133" name="Text Box 40"/>
          <p:cNvSpPr txBox="1">
            <a:spLocks noChangeArrowheads="1"/>
          </p:cNvSpPr>
          <p:nvPr/>
        </p:nvSpPr>
        <p:spPr bwMode="auto">
          <a:xfrm>
            <a:off x="2826499" y="2245058"/>
            <a:ext cx="1769522" cy="616387"/>
          </a:xfrm>
          <a:prstGeom prst="rect">
            <a:avLst/>
          </a:prstGeom>
          <a:noFill/>
          <a:ln w="12700">
            <a:noFill/>
            <a:miter lim="800000"/>
            <a:headEnd type="none" w="sm" len="sm"/>
            <a:tailEnd type="none" w="med" len="lg"/>
          </a:ln>
        </p:spPr>
        <p:txBody>
          <a:bodyPr wrap="none" lIns="122745" tIns="61373" rIns="122745" bIns="61373">
            <a:spAutoFit/>
          </a:bodyPr>
          <a:lstStyle/>
          <a:p>
            <a:pPr eaLnBrk="0" hangingPunct="0"/>
            <a:r>
              <a:rPr lang="en-US" sz="1600" b="1" dirty="0"/>
              <a:t>Identification </a:t>
            </a:r>
            <a:r>
              <a:rPr lang="en-US" sz="1600" b="1" dirty="0" smtClean="0"/>
              <a:t>Info</a:t>
            </a:r>
            <a:endParaRPr lang="en-US" sz="1600" b="1" dirty="0"/>
          </a:p>
          <a:p>
            <a:pPr eaLnBrk="0" hangingPunct="0"/>
            <a:r>
              <a:rPr lang="en-US" sz="1600" b="1" dirty="0"/>
              <a:t>Transfer </a:t>
            </a:r>
            <a:r>
              <a:rPr lang="en-US" sz="1600" b="1" dirty="0" smtClean="0"/>
              <a:t>Request</a:t>
            </a:r>
            <a:endParaRPr lang="en-US" sz="1600" b="1" dirty="0"/>
          </a:p>
        </p:txBody>
      </p:sp>
      <p:sp>
        <p:nvSpPr>
          <p:cNvPr id="4134" name="Text Box 42"/>
          <p:cNvSpPr txBox="1">
            <a:spLocks noChangeArrowheads="1"/>
          </p:cNvSpPr>
          <p:nvPr/>
        </p:nvSpPr>
        <p:spPr bwMode="auto">
          <a:xfrm>
            <a:off x="2826501" y="3149934"/>
            <a:ext cx="1658786" cy="862608"/>
          </a:xfrm>
          <a:prstGeom prst="rect">
            <a:avLst/>
          </a:prstGeom>
          <a:noFill/>
          <a:ln w="12700">
            <a:noFill/>
            <a:miter lim="800000"/>
            <a:headEnd type="none" w="sm" len="sm"/>
            <a:tailEnd type="none" w="med" len="lg"/>
          </a:ln>
        </p:spPr>
        <p:txBody>
          <a:bodyPr wrap="none" lIns="122745" tIns="61373" rIns="122745" bIns="61373">
            <a:spAutoFit/>
          </a:bodyPr>
          <a:lstStyle/>
          <a:p>
            <a:pPr eaLnBrk="0" hangingPunct="0"/>
            <a:r>
              <a:rPr lang="en-US" sz="1600" b="1" dirty="0"/>
              <a:t>Account </a:t>
            </a:r>
            <a:r>
              <a:rPr lang="en-US" sz="1600" b="1" dirty="0" smtClean="0"/>
              <a:t>Balance</a:t>
            </a:r>
            <a:endParaRPr lang="en-US" sz="1600" b="1" dirty="0"/>
          </a:p>
          <a:p>
            <a:pPr eaLnBrk="0" hangingPunct="0"/>
            <a:r>
              <a:rPr lang="en-US" sz="1600" b="1" dirty="0"/>
              <a:t>Confirmation</a:t>
            </a:r>
          </a:p>
          <a:p>
            <a:pPr eaLnBrk="0" hangingPunct="0"/>
            <a:r>
              <a:rPr lang="en-US" sz="1600" b="1" dirty="0"/>
              <a:t>Receipt</a:t>
            </a:r>
          </a:p>
        </p:txBody>
      </p:sp>
      <p:sp>
        <p:nvSpPr>
          <p:cNvPr id="4135" name="Line 68"/>
          <p:cNvSpPr>
            <a:spLocks noChangeShapeType="1"/>
          </p:cNvSpPr>
          <p:nvPr/>
        </p:nvSpPr>
        <p:spPr bwMode="auto">
          <a:xfrm flipH="1">
            <a:off x="3243377" y="3111833"/>
            <a:ext cx="653879" cy="0"/>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
        <p:nvSpPr>
          <p:cNvPr id="4136" name="Line 69"/>
          <p:cNvSpPr>
            <a:spLocks noChangeShapeType="1"/>
          </p:cNvSpPr>
          <p:nvPr/>
        </p:nvSpPr>
        <p:spPr bwMode="auto">
          <a:xfrm>
            <a:off x="3243377" y="2867358"/>
            <a:ext cx="653879" cy="1587"/>
          </a:xfrm>
          <a:prstGeom prst="line">
            <a:avLst/>
          </a:prstGeom>
          <a:noFill/>
          <a:ln w="28575">
            <a:solidFill>
              <a:schemeClr val="tx1"/>
            </a:solidFill>
            <a:round/>
            <a:headEnd/>
            <a:tailEnd type="arrow" w="med" len="med"/>
          </a:ln>
        </p:spPr>
        <p:txBody>
          <a:bodyPr lIns="121899" tIns="60949" rIns="121899" bIns="60949">
            <a:spAutoFit/>
          </a:bodyPr>
          <a:lstStyle/>
          <a:p>
            <a:endParaRPr lang="en-US"/>
          </a:p>
        </p:txBody>
      </p:sp>
    </p:spTree>
  </p:cSld>
  <p:clrMapOvr>
    <a:masterClrMapping/>
  </p:clrMapOvr>
  <p:transition spd="med">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 xmlns:thm15="http://schemas.microsoft.com/office/thememl/2012/main"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23</TotalTime>
  <Words>376</Words>
  <Application>Microsoft Office PowerPoint</Application>
  <PresentationFormat>Custom</PresentationFormat>
  <Paragraphs>55</Paragraphs>
  <Slides>2</Slides>
  <Notes>1</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blank</vt:lpstr>
      <vt:lpstr>System Context Diagram Template</vt:lpstr>
      <vt:lpstr>System Context Diagram - Example</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RD.005 System Context Diagram</dc:title>
  <dc:creator>Oracle Global Methods</dc:creator>
  <cp:keywords>OUM</cp:keywords>
  <dc:description>Copyright © 2014 Oracle and/or its affiliates.  All rights reserved.</dc:description>
  <cp:lastModifiedBy>masander</cp:lastModifiedBy>
  <cp:revision>6</cp:revision>
  <dcterms:created xsi:type="dcterms:W3CDTF">2014-06-17T19:24:55Z</dcterms:created>
  <dcterms:modified xsi:type="dcterms:W3CDTF">2014-06-18T14:23:40Z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