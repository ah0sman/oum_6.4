
<file path=[Content_Types].xml><?xml version="1.0" encoding="utf-8"?>
<Types xmlns="http://schemas.openxmlformats.org/package/2006/content-types">
  <Override PartName="/ppt/slideLayouts/slideLayout3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354" r:id="rId2"/>
    <p:sldId id="258" r:id="rId3"/>
    <p:sldId id="398" r:id="rId4"/>
    <p:sldId id="400" r:id="rId5"/>
    <p:sldId id="401" r:id="rId6"/>
    <p:sldId id="402" r:id="rId7"/>
    <p:sldId id="403" r:id="rId8"/>
    <p:sldId id="404" r:id="rId9"/>
    <p:sldId id="405" r:id="rId10"/>
    <p:sldId id="406" r:id="rId11"/>
    <p:sldId id="407" r:id="rId12"/>
    <p:sldId id="408" r:id="rId13"/>
    <p:sldId id="409" r:id="rId14"/>
    <p:sldId id="410" r:id="rId15"/>
    <p:sldId id="411" r:id="rId16"/>
    <p:sldId id="412" r:id="rId17"/>
    <p:sldId id="413" r:id="rId18"/>
    <p:sldId id="414" r:id="rId19"/>
    <p:sldId id="415" r:id="rId20"/>
    <p:sldId id="416" r:id="rId21"/>
    <p:sldId id="397" r:id="rId22"/>
    <p:sldId id="289" r:id="rId23"/>
  </p:sldIdLst>
  <p:sldSz cx="12188825"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213" autoAdjust="0"/>
  </p:normalViewPr>
  <p:slideViewPr>
    <p:cSldViewPr>
      <p:cViewPr varScale="1">
        <p:scale>
          <a:sx n="64" d="100"/>
          <a:sy n="64" d="100"/>
        </p:scale>
        <p:origin x="-1578"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6/27/2014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 xmlns:p14="http://schemas.microsoft.com/office/powerpoint/2010/main"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dirty="0" smtClean="0">
                <a:cs typeface="Times New Roman" charset="0"/>
              </a:rPr>
              <a:t>Introduce each team member.  Use a game if time allows.  If social event held the night before, use results from </a:t>
            </a:r>
            <a:r>
              <a:rPr lang="en-US" dirty="0" smtClean="0">
                <a:latin typeface="Times New Roman" charset="0"/>
                <a:cs typeface="Times New Roman" charset="0"/>
              </a:rPr>
              <a:t>“</a:t>
            </a:r>
            <a:r>
              <a:rPr lang="en-US" dirty="0" smtClean="0">
                <a:cs typeface="Times New Roman" charset="0"/>
              </a:rPr>
              <a:t>Guess Who You Are</a:t>
            </a:r>
            <a:r>
              <a:rPr lang="en-US" dirty="0" smtClean="0">
                <a:latin typeface="Times New Roman" charset="0"/>
                <a:cs typeface="Times New Roman" charset="0"/>
              </a:rPr>
              <a:t>”</a:t>
            </a:r>
            <a:r>
              <a:rPr lang="en-US" dirty="0" smtClean="0">
                <a:cs typeface="Times New Roman" charset="0"/>
              </a:rPr>
              <a:t> game.  If not, before the introductions, pair up team members and have them interview each other to find out three facts </a:t>
            </a:r>
            <a:r>
              <a:rPr lang="en-US" dirty="0" smtClean="0">
                <a:latin typeface="Times New Roman" charset="0"/>
                <a:cs typeface="Times New Roman" charset="0"/>
              </a:rPr>
              <a:t>–</a:t>
            </a:r>
            <a:r>
              <a:rPr lang="en-US" dirty="0" smtClean="0">
                <a:cs typeface="Times New Roman" charset="0"/>
              </a:rPr>
              <a:t> name, home town, favorite thing (movie, music, ice cream, etc.).  Or have the team introduce each other and ask them to tell something you would not know by looking at them.</a:t>
            </a:r>
          </a:p>
        </p:txBody>
      </p:sp>
      <p:sp>
        <p:nvSpPr>
          <p:cNvPr id="4" name="Slide Number Placeholder 3"/>
          <p:cNvSpPr>
            <a:spLocks noGrp="1"/>
          </p:cNvSpPr>
          <p:nvPr>
            <p:ph type="sldNum" sz="quarter" idx="10"/>
          </p:nvPr>
        </p:nvSpPr>
        <p:spPr/>
        <p:txBody>
          <a:bodyPr/>
          <a:lstStyle/>
          <a:p>
            <a:fld id="{8C72D9AE-7182-4680-8F79-479C4181FF08}" type="slidenum">
              <a:rPr lang="en-US" smtClean="0"/>
              <a:pPr/>
              <a:t>5</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Opening remarks should be made by the customer sponsor (if available) or a higher-level manager from the customer.  These remarks should include a history of why the project was chosen, why the project is important, why the team members were selected, etc.</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7</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Enter the project mission statement if one exists</a:t>
            </a:r>
            <a:r>
              <a:rPr lang="en-US" dirty="0" smtClean="0">
                <a:cs typeface="Times New Roman" charset="0"/>
              </a:rPr>
              <a:t>.</a:t>
            </a:r>
            <a:endParaRPr lang="en-US" dirty="0" smtClean="0">
              <a:cs typeface="Times New Roman" charset="0"/>
            </a:endParaRPr>
          </a:p>
        </p:txBody>
      </p:sp>
      <p:sp>
        <p:nvSpPr>
          <p:cNvPr id="4" name="Slide Number Placeholder 3"/>
          <p:cNvSpPr>
            <a:spLocks noGrp="1"/>
          </p:cNvSpPr>
          <p:nvPr>
            <p:ph type="sldNum" sz="quarter" idx="10"/>
          </p:nvPr>
        </p:nvSpPr>
        <p:spPr/>
        <p:txBody>
          <a:bodyPr/>
          <a:lstStyle/>
          <a:p>
            <a:fld id="{8C72D9AE-7182-4680-8F79-479C4181FF08}" type="slidenum">
              <a:rPr lang="en-US" smtClean="0"/>
              <a:pPr/>
              <a:t>8</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List the objectives of the project. These should be presented by the Project Sponsor.  Relate them back to Key Success factors and overall customer goals.</a:t>
            </a:r>
          </a:p>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Enter guiding principles for the project.  These can be gleaned from the sales process.  The customer should supply these and translate them to fit the customer</a:t>
            </a:r>
            <a:r>
              <a:rPr lang="en-US" dirty="0" smtClean="0">
                <a:latin typeface="Times New Roman" charset="0"/>
                <a:cs typeface="Times New Roman" charset="0"/>
              </a:rPr>
              <a:t>’</a:t>
            </a:r>
            <a:r>
              <a:rPr lang="en-US" dirty="0" smtClean="0">
                <a:cs typeface="Times New Roman" charset="0"/>
              </a:rPr>
              <a:t>s culture.</a:t>
            </a:r>
          </a:p>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100" dirty="0" smtClean="0"/>
              <a:t>Insert diagram showing</a:t>
            </a:r>
            <a:r>
              <a:rPr lang="en-US" sz="1100" baseline="0" dirty="0" smtClean="0"/>
              <a:t> </a:t>
            </a:r>
            <a:r>
              <a:rPr lang="en-US" sz="1100" dirty="0" smtClean="0"/>
              <a:t>high-level description of the business processes and functions.</a:t>
            </a:r>
            <a:endParaRPr lang="en-US" dirty="0" smtClean="0"/>
          </a:p>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11</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100" dirty="0" smtClean="0"/>
              <a:t>Insert </a:t>
            </a:r>
            <a:r>
              <a:rPr lang="en-US" dirty="0" smtClean="0">
                <a:cs typeface="Times New Roman" charset="0"/>
              </a:rPr>
              <a:t>Project Organization Chart.</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12</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100" dirty="0" smtClean="0"/>
              <a:t>Enter the project timeline.</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13</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Append OUM</a:t>
            </a:r>
            <a:r>
              <a:rPr lang="en-US" baseline="0" dirty="0" smtClean="0">
                <a:cs typeface="Times New Roman" charset="0"/>
              </a:rPr>
              <a:t> </a:t>
            </a:r>
            <a:r>
              <a:rPr lang="en-US" dirty="0" smtClean="0">
                <a:cs typeface="Times New Roman" charset="0"/>
              </a:rPr>
              <a:t>overview slides to this presentation after this slide.</a:t>
            </a:r>
          </a:p>
        </p:txBody>
      </p:sp>
      <p:sp>
        <p:nvSpPr>
          <p:cNvPr id="4" name="Slide Number Placeholder 3"/>
          <p:cNvSpPr>
            <a:spLocks noGrp="1"/>
          </p:cNvSpPr>
          <p:nvPr>
            <p:ph type="sldNum" sz="quarter" idx="10"/>
          </p:nvPr>
        </p:nvSpPr>
        <p:spPr/>
        <p:txBody>
          <a:bodyPr/>
          <a:lstStyle/>
          <a:p>
            <a:fld id="{8C72D9AE-7182-4680-8F79-479C4181FF08}" type="slidenum">
              <a:rPr lang="en-US" smtClean="0"/>
              <a:pPr/>
              <a:t>15</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Go over basic system access information, team room location, directory structures, etc..</a:t>
            </a:r>
          </a:p>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Add pertinent next steps and dates.</a:t>
            </a:r>
          </a:p>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sldNum" sz="quarter" idx="5"/>
          </p:nvPr>
        </p:nvSpPr>
        <p:spPr>
          <a:noFill/>
        </p:spPr>
        <p:txBody>
          <a:bodyPr/>
          <a:lstStyle/>
          <a:p>
            <a:fld id="{4E846EB3-491D-46EA-9F3D-D6DB1BBDF172}" type="slidenum">
              <a:rPr lang="en-US"/>
              <a:pPr/>
              <a:t>21</a:t>
            </a:fld>
            <a:endParaRPr lang="en-US" dirty="0"/>
          </a:p>
        </p:txBody>
      </p:sp>
      <p:sp>
        <p:nvSpPr>
          <p:cNvPr id="12291" name="Rectangle 2"/>
          <p:cNvSpPr>
            <a:spLocks noGrp="1" noRot="1" noChangeAspect="1" noChangeArrowheads="1" noTextEdit="1"/>
          </p:cNvSpPr>
          <p:nvPr>
            <p:ph type="sldImg"/>
          </p:nvPr>
        </p:nvSpPr>
        <p:spPr>
          <a:xfrm>
            <a:off x="385763" y="687388"/>
            <a:ext cx="6088062" cy="3425825"/>
          </a:xfrm>
          <a:ln cap="flat"/>
        </p:spPr>
      </p:sp>
      <p:sp>
        <p:nvSpPr>
          <p:cNvPr id="12292" name="Rectangle 3"/>
          <p:cNvSpPr>
            <a:spLocks noGrp="1" noChangeArrowheads="1"/>
          </p:cNvSpPr>
          <p:nvPr>
            <p:ph type="body" idx="1"/>
          </p:nvPr>
        </p:nvSpPr>
        <p:spPr>
          <a:xfrm>
            <a:off x="914400" y="4343400"/>
            <a:ext cx="5029200" cy="4114800"/>
          </a:xfrm>
          <a:noFill/>
          <a:ln/>
        </p:spPr>
        <p:txBody>
          <a:bodyPr lIns="92066" tIns="46033" rIns="92066" bIns="46033"/>
          <a:lstStyle/>
          <a:p>
            <a:pPr defTabSz="914400">
              <a:lnSpc>
                <a:spcPct val="100000"/>
              </a:lnSpc>
              <a:spcBef>
                <a:spcPct val="30000"/>
              </a:spcBef>
            </a:pPr>
            <a:endParaRPr lang="nl-NL"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22</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64B8C7EA-9C88-41A0-A68D-B0BEEE7C4290}" type="datetime1">
              <a:rPr lang="en-US" smtClean="0"/>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62101D26-850B-407D-A4B6-901DE30741E8}" type="datetime1">
              <a:rPr lang="en-US" smtClean="0"/>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15F713EB-0478-4411-9D85-604359E07A25}" type="datetime1">
              <a:rPr lang="en-US" smtClean="0"/>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6BC61FBE-E1A0-41E6-AEFF-F61652B97477}" type="datetime1">
              <a:rPr lang="en-US" smtClean="0"/>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67D119A2-7BB5-4036-9273-C2BA6F3389BB}" type="datetime1">
              <a:rPr lang="en-US" smtClean="0"/>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14BB2FC-BF4F-47C6-8CEE-DA484AAD091B}" type="datetime1">
              <a:rPr lang="en-US" smtClean="0"/>
              <a:t>6/27/2014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D84C2E0-BD70-44A5-8638-C58D4A42EDF3}" type="datetime1">
              <a:rPr lang="en-US" smtClean="0"/>
              <a:t>6/27/2014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5C3CC08F-E8F6-4F94-9910-5503B7458FEE}" type="datetime1">
              <a:rPr lang="en-US" smtClean="0"/>
              <a:t>6/27/2014</a:t>
            </a:fld>
            <a:endParaRPr dirty="0"/>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C498E0-7134-4918-93FE-ACA5D67EE561}" type="datetime1">
              <a:rPr lang="en-US" smtClean="0"/>
              <a:t>6/27/2014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B882CFCF-73B7-45BF-BD84-5833D6FDCCD5}" type="datetime1">
              <a:rPr lang="en-US" smtClean="0"/>
              <a:t>6/27/2014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E057A92F-0D66-4B14-BABA-367BCD868DA5}"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8F3F2CE-BE13-4178-9748-052B256A6459}" type="datetime1">
              <a:rPr lang="en-US" smtClean="0"/>
              <a:t>6/27/2014</a:t>
            </a:fld>
            <a:endParaRPr lang="en-US"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68DE4C6F-25FA-4CD6-A0AA-A8CF7EB509B6}"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8F3701B1-937C-4A92-A110-14E6ECA88FF9}"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8DFF99A8-F33F-4E64-A129-27FF8BF6D155}"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7FEA603B-24F2-4464-901D-73C8FC1C6216}"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52819A11-1209-4383-8B3A-B8E5B75DDE9A}"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892674-9315-4CB3-9AF7-8820B589E19C}"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5D9151-0569-4118-9A4D-5F9D20C01B23}"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0074B08F-F0ED-4B1A-B0B5-3F23F668A5C9}" type="datetime1">
              <a:rPr lang="en-US" smtClean="0"/>
              <a:t>6/27/2014</a:t>
            </a:fld>
            <a:endParaRPr dirty="0"/>
          </a:p>
        </p:txBody>
      </p:sp>
      <p:sp>
        <p:nvSpPr>
          <p:cNvPr id="8" name="Footer Placeholder 7"/>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26C7DC8-AB69-4650-AF2A-20A6CEE1D11E}" type="datetime1">
              <a:rPr lang="en-US" smtClean="0"/>
              <a:t>6/27/2014</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A317D6D2-EB12-40A1-8AE4-652693E87CE0}" type="datetime1">
              <a:rPr lang="en-US" smtClean="0"/>
              <a:t>6/27/2014</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1BAC1F-9779-4C9F-8408-5A6C4BF27250}" type="datetime1">
              <a:rPr lang="en-US" smtClean="0"/>
              <a:t>6/27/2014</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775308-FDF0-4724-9AE4-DD32A2BF0D0F}"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199F8D-4952-40F3-B17A-1CA499DB54FA}"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7BBDB7-61F9-4B88-BDCD-3C34156B210D}"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7DDDDB-3E56-4F74-8D8F-7DB9BA7308A2}"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C6F472A8-9008-481E-87DB-C60D15BC620A}"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2776CEF2-F49F-48E9-BEFF-78A3B175426F}"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5F03C79C-765B-4730-8F76-3793C4FE591B}"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4F3E6E9A-B730-4C07-8FCA-B1B68F95E1CC}" type="datetime1">
              <a:rPr lang="en-US" smtClean="0"/>
              <a:t>6/27/2014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E881FFD0-5185-403A-BAA8-32A99D8C9B86}" type="datetime1">
              <a:rPr lang="en-US" smtClean="0"/>
              <a:t>6/27/2014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ECEFDB04-3B21-42F0-890F-D823BC99F46E}" type="datetime1">
              <a:rPr lang="en-US" smtClean="0"/>
              <a:t>6/27/2014</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54B5281D-ECFE-48F0-ADCD-EF92C07636E0}" type="datetime1">
              <a:rPr lang="en-US" smtClean="0"/>
              <a:t>6/27/2014</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02890-0F71-4201-85D3-C9757104D53A}" type="datetime1">
              <a:rPr lang="en-US" smtClean="0"/>
              <a:t>6/27/2014</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F1FD84F1-B8EE-4205-96F1-6C946EBBA07C}" type="datetime1">
              <a:rPr lang="en-US" smtClean="0"/>
              <a:t>6/27/2014</a:t>
            </a:fld>
            <a:endParaRPr lang="en-US"/>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499C36D0-E1DF-4F6D-A904-CD82D6BD282B}" type="datetime1">
              <a:rPr lang="en-US" smtClean="0"/>
              <a:t>6/27/2014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New Template_Content 2 Line Title">
    <p:spTree>
      <p:nvGrpSpPr>
        <p:cNvPr id="1" name=""/>
        <p:cNvGrpSpPr/>
        <p:nvPr/>
      </p:nvGrpSpPr>
      <p:grpSpPr>
        <a:xfrm>
          <a:off x="0" y="0"/>
          <a:ext cx="0" cy="0"/>
          <a:chOff x="0" y="0"/>
          <a:chExt cx="0" cy="0"/>
        </a:xfrm>
      </p:grpSpPr>
      <p:sp>
        <p:nvSpPr>
          <p:cNvPr id="2" name="Title 1"/>
          <p:cNvSpPr>
            <a:spLocks noGrp="1"/>
          </p:cNvSpPr>
          <p:nvPr>
            <p:ph type="title"/>
          </p:nvPr>
        </p:nvSpPr>
        <p:spPr>
          <a:xfrm>
            <a:off x="1072183" y="327385"/>
            <a:ext cx="10969924" cy="1025071"/>
          </a:xfrm>
        </p:spPr>
        <p:txBody>
          <a:bodyPr anchor="t" anchorCtr="0"/>
          <a:lstStyle/>
          <a:p>
            <a:r>
              <a:rPr lang="en-US" smtClean="0"/>
              <a:t>Click to edit Master title style</a:t>
            </a:r>
            <a:endParaRPr lang="en-US" dirty="0"/>
          </a:p>
        </p:txBody>
      </p:sp>
      <p:sp>
        <p:nvSpPr>
          <p:cNvPr id="6" name="Content Placeholder 5"/>
          <p:cNvSpPr>
            <a:spLocks noGrp="1"/>
          </p:cNvSpPr>
          <p:nvPr>
            <p:ph sz="quarter" idx="12"/>
          </p:nvPr>
        </p:nvSpPr>
        <p:spPr>
          <a:xfrm>
            <a:off x="1072183" y="2029468"/>
            <a:ext cx="10969943" cy="4083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Text Placeholder 4"/>
          <p:cNvSpPr>
            <a:spLocks noGrp="1"/>
          </p:cNvSpPr>
          <p:nvPr>
            <p:ph type="body" sz="quarter" idx="13"/>
          </p:nvPr>
        </p:nvSpPr>
        <p:spPr>
          <a:xfrm>
            <a:off x="1072183" y="1372308"/>
            <a:ext cx="10969943" cy="406400"/>
          </a:xfrm>
        </p:spPr>
        <p:txBody>
          <a:bodyPr anchor="t" anchorCtr="0">
            <a:noAutofit/>
          </a:bodyPr>
          <a:lstStyle>
            <a:lvl1pPr marL="0" indent="0">
              <a:spcAft>
                <a:spcPts val="0"/>
              </a:spcAft>
              <a:buFontTx/>
              <a:buNone/>
              <a:defRPr sz="2700">
                <a:solidFill>
                  <a:schemeClr val="accent1"/>
                </a:solidFill>
              </a:defRPr>
            </a:lvl1pPr>
            <a:lvl2pPr marL="609493" indent="0">
              <a:buFontTx/>
              <a:buNone/>
              <a:defRPr/>
            </a:lvl2pPr>
            <a:lvl3pPr marL="1218987" indent="0">
              <a:buFontTx/>
              <a:buNone/>
              <a:defRPr/>
            </a:lvl3pPr>
            <a:lvl4pPr marL="1828480" indent="0">
              <a:buFontTx/>
              <a:buNone/>
              <a:defRPr/>
            </a:lvl4pPr>
            <a:lvl5pPr marL="2437973" indent="0">
              <a:buFontTx/>
              <a:buNone/>
              <a:defRPr/>
            </a:lvl5pPr>
          </a:lstStyle>
          <a:p>
            <a:pPr lvl="0"/>
            <a:r>
              <a:rPr lang="en-US" smtClean="0"/>
              <a:t>Click to edit Master text styles</a:t>
            </a:r>
          </a:p>
        </p:txBody>
      </p:sp>
    </p:spTree>
    <p:extLst>
      <p:ext uri="{BB962C8B-B14F-4D97-AF65-F5344CB8AC3E}">
        <p14:creationId xmlns="" xmlns:p14="http://schemas.microsoft.com/office/powerpoint/2010/main" val="7790599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1"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005104AA-8C38-49CD-A5C8-98D45A2C4E03}" type="datetime1">
              <a:rPr lang="en-US" smtClean="0"/>
              <a:t>6/27/2014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 id="2147483695" r:id="rId39"/>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Project Kickoff</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dirty="0" smtClean="0"/>
              <a:t>Presenter’s Name</a:t>
            </a:r>
          </a:p>
          <a:p>
            <a:r>
              <a:rPr lang="en-US" dirty="0" smtClean="0"/>
              <a:t>Presenter’s Title</a:t>
            </a:r>
          </a:p>
          <a:p>
            <a:r>
              <a:rPr lang="en-US" dirty="0" smtClean="0"/>
              <a:t>Organization, Division or Business Unit</a:t>
            </a:r>
          </a:p>
          <a:p>
            <a:r>
              <a:rPr lang="en-US" dirty="0" smtClean="0"/>
              <a:t>Month 00, 2014</a:t>
            </a:r>
            <a:endParaRPr lang="en-US" dirty="0"/>
          </a:p>
        </p:txBody>
      </p:sp>
      <p:sp>
        <p:nvSpPr>
          <p:cNvPr id="8" name="Footer Placeholder 7"/>
          <p:cNvSpPr>
            <a:spLocks noGrp="1"/>
          </p:cNvSpPr>
          <p:nvPr>
            <p:ph type="ftr" sz="quarter" idx="11"/>
          </p:nvPr>
        </p:nvSpPr>
        <p:spPr/>
        <p:txBody>
          <a:bodyPr/>
          <a:lstStyle/>
          <a:p>
            <a:r>
              <a:rPr lang="en-US" smtClean="0"/>
              <a:t>Use Insert &gt; Header and Footer to Update Confidentiality Requirements</a:t>
            </a:r>
            <a:endParaRPr lang="en-US" dirty="0"/>
          </a:p>
        </p:txBody>
      </p:sp>
      <p:sp>
        <p:nvSpPr>
          <p:cNvPr id="7" name="TextBox 6"/>
          <p:cNvSpPr txBox="1"/>
          <p:nvPr/>
        </p:nvSpPr>
        <p:spPr>
          <a:xfrm>
            <a:off x="8761413"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spTree>
    <p:extLst>
      <p:ext uri="{BB962C8B-B14F-4D97-AF65-F5344CB8AC3E}">
        <p14:creationId xmlns="" xmlns:p14="http://schemas.microsoft.com/office/powerpoint/2010/main" val="336776055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Welcome</a:t>
            </a:r>
            <a:endParaRPr lang="en-US" dirty="0"/>
          </a:p>
        </p:txBody>
      </p:sp>
      <p:sp>
        <p:nvSpPr>
          <p:cNvPr id="4" name="Text Placeholder 3"/>
          <p:cNvSpPr>
            <a:spLocks noGrp="1"/>
          </p:cNvSpPr>
          <p:nvPr>
            <p:ph type="body" sz="quarter" idx="13"/>
          </p:nvPr>
        </p:nvSpPr>
        <p:spPr/>
        <p:txBody>
          <a:bodyPr/>
          <a:lstStyle/>
          <a:p>
            <a:r>
              <a:rPr lang="en-US" dirty="0" smtClean="0"/>
              <a:t>&lt;Meeting Objectives&gt;</a:t>
            </a:r>
            <a:endParaRPr lang="en-US" dirty="0"/>
          </a:p>
        </p:txBody>
      </p:sp>
      <p:sp>
        <p:nvSpPr>
          <p:cNvPr id="3" name="Content Placeholder 2"/>
          <p:cNvSpPr>
            <a:spLocks noGrp="1"/>
          </p:cNvSpPr>
          <p:nvPr>
            <p:ph idx="1"/>
          </p:nvPr>
        </p:nvSpPr>
        <p:spPr/>
        <p:txBody>
          <a:bodyPr/>
          <a:lstStyle/>
          <a:p>
            <a:r>
              <a:rPr lang="en-US" dirty="0" smtClean="0"/>
              <a:t>Get to know each other.</a:t>
            </a:r>
          </a:p>
          <a:p>
            <a:r>
              <a:rPr lang="en-US" dirty="0" smtClean="0"/>
              <a:t>Establish project objectives.</a:t>
            </a:r>
          </a:p>
          <a:p>
            <a:r>
              <a:rPr lang="en-US" dirty="0" smtClean="0"/>
              <a:t>Learn about project structure.</a:t>
            </a:r>
          </a:p>
          <a:p>
            <a:r>
              <a:rPr lang="en-US" dirty="0" smtClean="0"/>
              <a:t>Have fun!</a:t>
            </a:r>
          </a:p>
          <a:p>
            <a:endParaRPr lang="en-US" dirty="0" smtClean="0"/>
          </a:p>
          <a:p>
            <a:endParaRPr lang="en-US"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graphicFrame>
        <p:nvGraphicFramePr>
          <p:cNvPr id="6" name="Content Placeholder 5"/>
          <p:cNvGraphicFramePr>
            <a:graphicFrameLocks noGrp="1"/>
          </p:cNvGraphicFramePr>
          <p:nvPr>
            <p:ph idx="1"/>
          </p:nvPr>
        </p:nvGraphicFramePr>
        <p:xfrm>
          <a:off x="531813" y="1524000"/>
          <a:ext cx="11125200" cy="3708400"/>
        </p:xfrm>
        <a:graphic>
          <a:graphicData uri="http://schemas.openxmlformats.org/drawingml/2006/table">
            <a:tbl>
              <a:tblPr firstRow="1" bandRow="1">
                <a:tableStyleId>{5FD0F851-EC5A-4D38-B0AD-8093EC10F338}</a:tableStyleId>
              </a:tblPr>
              <a:tblGrid>
                <a:gridCol w="3708400"/>
                <a:gridCol w="3708400"/>
                <a:gridCol w="3708400"/>
              </a:tblGrid>
              <a:tr h="370840">
                <a:tc>
                  <a:txBody>
                    <a:bodyPr/>
                    <a:lstStyle/>
                    <a:p>
                      <a:r>
                        <a:rPr lang="en-US" b="1" dirty="0" smtClean="0"/>
                        <a:t>Topic</a:t>
                      </a:r>
                      <a:endParaRPr lang="en-US" b="1" dirty="0"/>
                    </a:p>
                  </a:txBody>
                  <a:tcPr/>
                </a:tc>
                <a:tc>
                  <a:txBody>
                    <a:bodyPr/>
                    <a:lstStyle/>
                    <a:p>
                      <a:pPr algn="ctr"/>
                      <a:r>
                        <a:rPr lang="en-US" b="1" dirty="0" smtClean="0"/>
                        <a:t>Time</a:t>
                      </a:r>
                      <a:endParaRPr lang="en-US" b="1" dirty="0"/>
                    </a:p>
                  </a:txBody>
                  <a:tcPr/>
                </a:tc>
                <a:tc>
                  <a:txBody>
                    <a:bodyPr/>
                    <a:lstStyle/>
                    <a:p>
                      <a:pPr algn="ctr"/>
                      <a:r>
                        <a:rPr lang="en-US" b="1" dirty="0" smtClean="0"/>
                        <a:t>Presenter</a:t>
                      </a:r>
                      <a:endParaRPr lang="en-US" b="1" dirty="0"/>
                    </a:p>
                  </a:txBody>
                  <a:tcPr/>
                </a:tc>
              </a:tr>
              <a:tr h="370840">
                <a:tc>
                  <a:txBody>
                    <a:bodyPr/>
                    <a:lstStyle/>
                    <a:p>
                      <a:r>
                        <a:rPr lang="en-US" b="0" dirty="0" smtClean="0"/>
                        <a:t>Team</a:t>
                      </a:r>
                      <a:r>
                        <a:rPr lang="en-US" b="0" baseline="0" dirty="0" smtClean="0"/>
                        <a:t> Introductions</a:t>
                      </a:r>
                      <a:endParaRPr lang="en-US" b="0" dirty="0"/>
                    </a:p>
                  </a:txBody>
                  <a:tcPr/>
                </a:tc>
                <a:tc>
                  <a:txBody>
                    <a:bodyPr/>
                    <a:lstStyle/>
                    <a:p>
                      <a:pPr algn="ctr"/>
                      <a:r>
                        <a:rPr lang="en-US" b="0" dirty="0" smtClean="0"/>
                        <a:t>8:30 – 9:15</a:t>
                      </a:r>
                      <a:endParaRPr lang="en-US" b="0" dirty="0"/>
                    </a:p>
                  </a:txBody>
                  <a:tcPr/>
                </a:tc>
                <a:tc>
                  <a:txBody>
                    <a:bodyPr/>
                    <a:lstStyle/>
                    <a:p>
                      <a:pPr algn="ctr"/>
                      <a:r>
                        <a:rPr lang="en-US" b="0" dirty="0" smtClean="0"/>
                        <a:t>Team</a:t>
                      </a:r>
                      <a:endParaRPr lang="en-US" b="0" dirty="0"/>
                    </a:p>
                  </a:txBody>
                  <a:tcPr/>
                </a:tc>
              </a:tr>
              <a:tr h="370840">
                <a:tc>
                  <a:txBody>
                    <a:bodyPr/>
                    <a:lstStyle/>
                    <a:p>
                      <a:r>
                        <a:rPr lang="en-US" dirty="0" smtClean="0"/>
                        <a:t>Opening Remarks</a:t>
                      </a:r>
                      <a:endParaRPr lang="en-US" dirty="0"/>
                    </a:p>
                  </a:txBody>
                  <a:tcPr/>
                </a:tc>
                <a:tc>
                  <a:txBody>
                    <a:bodyPr/>
                    <a:lstStyle/>
                    <a:p>
                      <a:pPr algn="ctr"/>
                      <a:r>
                        <a:rPr lang="en-US" dirty="0" smtClean="0"/>
                        <a:t>9:15</a:t>
                      </a:r>
                      <a:r>
                        <a:rPr lang="en-US" baseline="0" dirty="0" smtClean="0"/>
                        <a:t> – 9:30</a:t>
                      </a:r>
                      <a:endParaRPr lang="en-US" dirty="0"/>
                    </a:p>
                  </a:txBody>
                  <a:tcPr/>
                </a:tc>
                <a:tc>
                  <a:txBody>
                    <a:bodyPr/>
                    <a:lstStyle/>
                    <a:p>
                      <a:pPr algn="ctr"/>
                      <a:r>
                        <a:rPr lang="en-US" dirty="0" smtClean="0"/>
                        <a:t>Sponsor</a:t>
                      </a:r>
                      <a:endParaRPr lang="en-US" dirty="0"/>
                    </a:p>
                  </a:txBody>
                  <a:tcPr/>
                </a:tc>
              </a:tr>
              <a:tr h="370840">
                <a:tc>
                  <a:txBody>
                    <a:bodyPr/>
                    <a:lstStyle/>
                    <a:p>
                      <a:r>
                        <a:rPr lang="en-US" dirty="0" smtClean="0"/>
                        <a:t>Project Overview</a:t>
                      </a:r>
                      <a:endParaRPr lang="en-US" dirty="0"/>
                    </a:p>
                  </a:txBody>
                  <a:tcPr/>
                </a:tc>
                <a:tc>
                  <a:txBody>
                    <a:bodyPr/>
                    <a:lstStyle/>
                    <a:p>
                      <a:pPr algn="ctr"/>
                      <a:r>
                        <a:rPr lang="en-US" dirty="0" smtClean="0"/>
                        <a:t>9:15</a:t>
                      </a:r>
                      <a:r>
                        <a:rPr lang="en-US" baseline="0" dirty="0" smtClean="0"/>
                        <a:t> – 9:30</a:t>
                      </a:r>
                      <a:endParaRPr lang="en-US" dirty="0"/>
                    </a:p>
                  </a:txBody>
                  <a:tcPr/>
                </a:tc>
                <a:tc>
                  <a:txBody>
                    <a:bodyPr/>
                    <a:lstStyle/>
                    <a:p>
                      <a:pPr algn="ctr"/>
                      <a:r>
                        <a:rPr lang="en-US" dirty="0" smtClean="0"/>
                        <a:t>PMs</a:t>
                      </a:r>
                      <a:endParaRPr lang="en-US" dirty="0"/>
                    </a:p>
                  </a:txBody>
                  <a:tcPr/>
                </a:tc>
              </a:tr>
              <a:tr h="370840">
                <a:tc>
                  <a:txBody>
                    <a:bodyPr/>
                    <a:lstStyle/>
                    <a:p>
                      <a:r>
                        <a:rPr lang="en-US" dirty="0" smtClean="0"/>
                        <a:t>Break</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9:30</a:t>
                      </a:r>
                      <a:r>
                        <a:rPr lang="en-US" baseline="0" dirty="0" smtClean="0"/>
                        <a:t> – 10:15</a:t>
                      </a:r>
                      <a:endParaRPr lang="en-US" dirty="0" smtClean="0"/>
                    </a:p>
                  </a:txBody>
                  <a:tcPr/>
                </a:tc>
                <a:tc>
                  <a:txBody>
                    <a:bodyPr/>
                    <a:lstStyle/>
                    <a:p>
                      <a:pPr algn="ctr"/>
                      <a:endParaRPr lang="en-US" dirty="0"/>
                    </a:p>
                  </a:txBody>
                  <a:tcPr/>
                </a:tc>
              </a:tr>
              <a:tr h="370840">
                <a:tc>
                  <a:txBody>
                    <a:bodyPr/>
                    <a:lstStyle/>
                    <a:p>
                      <a:r>
                        <a:rPr lang="en-US" dirty="0" smtClean="0"/>
                        <a:t>Project Methodology</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10:15</a:t>
                      </a:r>
                      <a:r>
                        <a:rPr lang="en-US" baseline="0" dirty="0" smtClean="0"/>
                        <a:t> – 10:30</a:t>
                      </a:r>
                      <a:endParaRPr lang="en-US" dirty="0" smtClean="0"/>
                    </a:p>
                  </a:txBody>
                  <a:tcPr/>
                </a:tc>
                <a:tc>
                  <a:txBody>
                    <a:bodyPr/>
                    <a:lstStyle/>
                    <a:p>
                      <a:pPr algn="ctr"/>
                      <a:r>
                        <a:rPr lang="en-US" dirty="0" smtClean="0"/>
                        <a:t>PMs</a:t>
                      </a:r>
                      <a:endParaRPr lang="en-US" dirty="0"/>
                    </a:p>
                  </a:txBody>
                  <a:tcPr/>
                </a:tc>
              </a:tr>
              <a:tr h="370840">
                <a:tc>
                  <a:txBody>
                    <a:bodyPr/>
                    <a:lstStyle/>
                    <a:p>
                      <a:r>
                        <a:rPr lang="en-US" dirty="0" smtClean="0"/>
                        <a:t>Project</a:t>
                      </a:r>
                      <a:r>
                        <a:rPr lang="en-US" baseline="0" dirty="0" smtClean="0"/>
                        <a:t> Essentials</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10:30</a:t>
                      </a:r>
                      <a:r>
                        <a:rPr lang="en-US" baseline="0" dirty="0" smtClean="0"/>
                        <a:t> – 11:15</a:t>
                      </a:r>
                      <a:endParaRPr lang="en-US" dirty="0" smtClean="0"/>
                    </a:p>
                  </a:txBody>
                  <a:tcPr/>
                </a:tc>
                <a:tc>
                  <a:txBody>
                    <a:bodyPr/>
                    <a:lstStyle/>
                    <a:p>
                      <a:pPr algn="ctr"/>
                      <a:r>
                        <a:rPr lang="en-US" dirty="0" smtClean="0"/>
                        <a:t>PMs</a:t>
                      </a:r>
                      <a:endParaRPr lang="en-US" dirty="0"/>
                    </a:p>
                  </a:txBody>
                  <a:tcPr/>
                </a:tc>
              </a:tr>
              <a:tr h="370840">
                <a:tc>
                  <a:txBody>
                    <a:bodyPr/>
                    <a:lstStyle/>
                    <a:p>
                      <a:r>
                        <a:rPr lang="en-US" dirty="0" smtClean="0"/>
                        <a:t>Break</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11:15</a:t>
                      </a:r>
                      <a:r>
                        <a:rPr lang="en-US" baseline="0" dirty="0" smtClean="0"/>
                        <a:t> – 12:00</a:t>
                      </a:r>
                      <a:endParaRPr lang="en-US" dirty="0" smtClean="0"/>
                    </a:p>
                  </a:txBody>
                  <a:tcPr/>
                </a:tc>
                <a:tc>
                  <a:txBody>
                    <a:bodyPr/>
                    <a:lstStyle/>
                    <a:p>
                      <a:pPr algn="ctr"/>
                      <a:endParaRPr lang="en-US" dirty="0"/>
                    </a:p>
                  </a:txBody>
                  <a:tcPr/>
                </a:tc>
              </a:tr>
              <a:tr h="370840">
                <a:tc>
                  <a:txBody>
                    <a:bodyPr/>
                    <a:lstStyle/>
                    <a:p>
                      <a:r>
                        <a:rPr lang="en-US" dirty="0" smtClean="0"/>
                        <a:t>Next Steps</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12:15</a:t>
                      </a:r>
                      <a:r>
                        <a:rPr lang="en-US" baseline="0" dirty="0" smtClean="0"/>
                        <a:t> – 12:45</a:t>
                      </a:r>
                      <a:endParaRPr lang="en-US" dirty="0" smtClean="0"/>
                    </a:p>
                  </a:txBody>
                  <a:tcPr/>
                </a:tc>
                <a:tc>
                  <a:txBody>
                    <a:bodyPr/>
                    <a:lstStyle/>
                    <a:p>
                      <a:pPr algn="ctr"/>
                      <a:r>
                        <a:rPr lang="en-US" dirty="0" smtClean="0"/>
                        <a:t>PMs</a:t>
                      </a:r>
                      <a:endParaRPr lang="en-US" dirty="0"/>
                    </a:p>
                  </a:txBody>
                  <a:tcPr/>
                </a:tc>
              </a:tr>
              <a:tr h="370840">
                <a:tc>
                  <a:txBody>
                    <a:bodyPr/>
                    <a:lstStyle/>
                    <a:p>
                      <a:r>
                        <a:rPr lang="en-US" dirty="0" smtClean="0"/>
                        <a:t>Lunch</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12:45</a:t>
                      </a:r>
                      <a:r>
                        <a:rPr lang="en-US" baseline="0" dirty="0" smtClean="0"/>
                        <a:t> – 1:30</a:t>
                      </a:r>
                      <a:endParaRPr lang="en-US" dirty="0" smtClean="0"/>
                    </a:p>
                  </a:txBody>
                  <a:tcPr/>
                </a:tc>
                <a:tc>
                  <a:txBody>
                    <a:bodyPr/>
                    <a:lstStyle/>
                    <a:p>
                      <a:pPr algn="ctr"/>
                      <a:r>
                        <a:rPr lang="en-US" dirty="0" smtClean="0"/>
                        <a:t>Team</a:t>
                      </a:r>
                      <a:endParaRPr lang="en-US" dirty="0"/>
                    </a:p>
                  </a:txBody>
                  <a:tcPr/>
                </a:tc>
              </a:tr>
            </a:tbl>
          </a:graphicData>
        </a:graphic>
      </p:graphicFrame>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 Introductions</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Opening Remarks</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Mission Statement</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Objectives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Improve &lt;customer name&gt; competitive advantage  by doing xyz by mm/</a:t>
            </a:r>
            <a:r>
              <a:rPr lang="en-US" dirty="0" err="1" smtClean="0"/>
              <a:t>yy</a:t>
            </a:r>
            <a:r>
              <a:rPr lang="en-US" dirty="0" smtClean="0"/>
              <a:t>.</a:t>
            </a:r>
          </a:p>
          <a:p>
            <a:r>
              <a:rPr lang="en-US" dirty="0" smtClean="0"/>
              <a:t>Improve metrics:</a:t>
            </a:r>
          </a:p>
          <a:p>
            <a:pPr lvl="1"/>
            <a:r>
              <a:rPr lang="en-US" dirty="0" smtClean="0"/>
              <a:t>Metric 1</a:t>
            </a:r>
          </a:p>
          <a:p>
            <a:pPr lvl="1"/>
            <a:r>
              <a:rPr lang="en-US" dirty="0" smtClean="0"/>
              <a:t>Metric 2</a:t>
            </a:r>
          </a:p>
          <a:p>
            <a:r>
              <a:rPr lang="en-US" dirty="0" smtClean="0"/>
              <a:t>Lower costs by xx percent.</a:t>
            </a:r>
          </a:p>
          <a:p>
            <a:r>
              <a:rPr lang="en-US" dirty="0" smtClean="0"/>
              <a:t>Increase revenue by xx percent.</a:t>
            </a:r>
            <a:endParaRPr lang="en-US"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Guiding Principles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Focus on ‘best practice’ business processes.</a:t>
            </a:r>
          </a:p>
          <a:p>
            <a:r>
              <a:rPr lang="en-US" dirty="0" smtClean="0"/>
              <a:t>Minimize customizations.</a:t>
            </a:r>
          </a:p>
          <a:p>
            <a:r>
              <a:rPr lang="en-US" dirty="0" smtClean="0"/>
              <a:t>Seek a global solution.</a:t>
            </a:r>
          </a:p>
          <a:p>
            <a:r>
              <a:rPr lang="en-US" dirty="0" smtClean="0"/>
              <a:t>Minimize changes to current systems during project.</a:t>
            </a:r>
          </a:p>
          <a:p>
            <a:r>
              <a:rPr lang="en-US" dirty="0" smtClean="0"/>
              <a:t>Involve end users and stakeholders.</a:t>
            </a:r>
          </a:p>
          <a:p>
            <a:r>
              <a:rPr lang="en-US" dirty="0" smtClean="0"/>
              <a:t>Communicate, communicate, communicate…</a:t>
            </a:r>
            <a:endParaRPr lang="en-US"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High-Level Schedule</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Break Time</a:t>
            </a:r>
            <a:endParaRPr lang="en-US" dirty="0"/>
          </a:p>
        </p:txBody>
      </p:sp>
      <p:sp>
        <p:nvSpPr>
          <p:cNvPr id="3" name="Content Placeholder 2"/>
          <p:cNvSpPr>
            <a:spLocks noGrp="1"/>
          </p:cNvSpPr>
          <p:nvPr>
            <p:ph idx="1"/>
          </p:nvPr>
        </p:nvSpPr>
        <p:spPr/>
        <p:txBody>
          <a:bodyPr/>
          <a:lstStyle/>
          <a:p>
            <a:r>
              <a:rPr lang="en-US" dirty="0" smtClean="0"/>
              <a:t>Please be back in 15 minutes.</a:t>
            </a:r>
            <a:endParaRPr lang="en-US"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lang="en-US" dirty="0"/>
          </a:p>
        </p:txBody>
      </p:sp>
      <p:pic>
        <p:nvPicPr>
          <p:cNvPr id="6" name="Picture 4" descr="C:\Documents and Settings\LClark\Application Data\Microsoft\Media Catalog\Downloaded Clips\cl29\j0103830.wmf"/>
          <p:cNvPicPr>
            <a:picLocks noChangeAspect="1" noChangeArrowheads="1"/>
          </p:cNvPicPr>
          <p:nvPr/>
        </p:nvPicPr>
        <p:blipFill>
          <a:blip r:embed="rId2" cstate="print"/>
          <a:srcRect/>
          <a:stretch>
            <a:fillRect/>
          </a:stretch>
        </p:blipFill>
        <p:spPr>
          <a:xfrm>
            <a:off x="7466012" y="2133600"/>
            <a:ext cx="2830512" cy="2976562"/>
          </a:xfrm>
          <a:prstGeom prst="rect">
            <a:avLst/>
          </a:prstGeom>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Methodology</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Access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Team Location</a:t>
            </a:r>
          </a:p>
          <a:p>
            <a:r>
              <a:rPr lang="en-US" dirty="0" smtClean="0"/>
              <a:t>Development Environment</a:t>
            </a:r>
          </a:p>
          <a:p>
            <a:r>
              <a:rPr lang="en-US" dirty="0" smtClean="0"/>
              <a:t>Project Workstations</a:t>
            </a:r>
          </a:p>
          <a:p>
            <a:r>
              <a:rPr lang="en-US" dirty="0" smtClean="0"/>
              <a:t>User IDs and Passwords</a:t>
            </a:r>
            <a:endParaRPr lang="en-US" dirty="0"/>
          </a:p>
        </p:txBody>
      </p:sp>
      <p:pic>
        <p:nvPicPr>
          <p:cNvPr id="6" name="Picture 4" descr="C:\Documents and Settings\LClark\Application Data\Microsoft\Media Catalog\Downloaded Clips\cl72\j0286522.wmf"/>
          <p:cNvPicPr>
            <a:picLocks noChangeAspect="1" noChangeArrowheads="1"/>
          </p:cNvPicPr>
          <p:nvPr/>
        </p:nvPicPr>
        <p:blipFill>
          <a:blip r:embed="rId3" cstate="print"/>
          <a:srcRect/>
          <a:stretch>
            <a:fillRect/>
          </a:stretch>
        </p:blipFill>
        <p:spPr bwMode="auto">
          <a:xfrm>
            <a:off x="6945091" y="3012018"/>
            <a:ext cx="4403637" cy="3109383"/>
          </a:xfrm>
          <a:prstGeom prst="rect">
            <a:avLst/>
          </a:prstGeom>
          <a:noFill/>
          <a:ln w="9525">
            <a:noFill/>
            <a:miter lim="800000"/>
            <a:headEnd/>
            <a:tailEnd/>
          </a:ln>
        </p:spPr>
      </p:pic>
      <p:sp>
        <p:nvSpPr>
          <p:cNvPr id="7" name="Footer Placeholder 6"/>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Diary</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pPr>
              <a:lnSpc>
                <a:spcPct val="90000"/>
              </a:lnSpc>
            </a:pPr>
            <a:r>
              <a:rPr lang="en-US" dirty="0" smtClean="0"/>
              <a:t>The purpose of the project diary is to provide a single location for all relevant project documents.</a:t>
            </a:r>
          </a:p>
          <a:p>
            <a:pPr>
              <a:lnSpc>
                <a:spcPct val="90000"/>
              </a:lnSpc>
            </a:pPr>
            <a:r>
              <a:rPr lang="en-US" dirty="0" smtClean="0"/>
              <a:t>The project administrator will maintain the project diary entries.</a:t>
            </a:r>
          </a:p>
          <a:p>
            <a:pPr>
              <a:lnSpc>
                <a:spcPct val="90000"/>
              </a:lnSpc>
            </a:pPr>
            <a:r>
              <a:rPr lang="en-US" dirty="0" smtClean="0"/>
              <a:t>The electronic location of the project diary is Y:\xxx\yyyy\zzz…</a:t>
            </a:r>
          </a:p>
          <a:p>
            <a:pPr>
              <a:lnSpc>
                <a:spcPct val="90000"/>
              </a:lnSpc>
            </a:pPr>
            <a:r>
              <a:rPr lang="en-US" dirty="0" smtClean="0"/>
              <a:t>The hard-copy binder will be located at &lt;so and </a:t>
            </a:r>
            <a:r>
              <a:rPr lang="en-US" dirty="0" err="1" smtClean="0"/>
              <a:t>so’s</a:t>
            </a:r>
            <a:r>
              <a:rPr lang="en-US" dirty="0" smtClean="0"/>
              <a:t> desk&gt;.</a:t>
            </a:r>
          </a:p>
          <a:p>
            <a:endParaRPr lang="en-US" dirty="0"/>
          </a:p>
        </p:txBody>
      </p:sp>
      <p:pic>
        <p:nvPicPr>
          <p:cNvPr id="6" name="Picture 4" descr="C:\Documents and Settings\LClark\Application Data\Microsoft\Media Catalog\Downloaded Clips\cl77\j0299549.wmf"/>
          <p:cNvPicPr>
            <a:picLocks noChangeAspect="1" noChangeArrowheads="1"/>
          </p:cNvPicPr>
          <p:nvPr/>
        </p:nvPicPr>
        <p:blipFill>
          <a:blip r:embed="rId3" cstate="print"/>
          <a:srcRect/>
          <a:stretch>
            <a:fillRect/>
          </a:stretch>
        </p:blipFill>
        <p:spPr bwMode="auto">
          <a:xfrm>
            <a:off x="9514636" y="3607567"/>
            <a:ext cx="2588010" cy="2455333"/>
          </a:xfrm>
          <a:prstGeom prst="rect">
            <a:avLst/>
          </a:prstGeom>
          <a:noFill/>
          <a:ln w="9525">
            <a:noFill/>
            <a:miter lim="800000"/>
            <a:headEnd/>
            <a:tailEnd/>
          </a:ln>
        </p:spPr>
      </p:pic>
      <p:sp>
        <p:nvSpPr>
          <p:cNvPr id="7" name="Footer Placeholder 6"/>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Operating Rules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Issue </a:t>
            </a:r>
            <a:r>
              <a:rPr lang="en-US" dirty="0" smtClean="0"/>
              <a:t>Management</a:t>
            </a:r>
            <a:endParaRPr lang="en-US" dirty="0" smtClean="0"/>
          </a:p>
          <a:p>
            <a:r>
              <a:rPr lang="en-US" dirty="0" smtClean="0"/>
              <a:t>Risk </a:t>
            </a:r>
            <a:r>
              <a:rPr lang="en-US" dirty="0" smtClean="0"/>
              <a:t>Management</a:t>
            </a:r>
            <a:endParaRPr lang="en-US" dirty="0" smtClean="0"/>
          </a:p>
          <a:p>
            <a:r>
              <a:rPr lang="en-US" dirty="0" smtClean="0"/>
              <a:t>Issue and Problem log</a:t>
            </a:r>
          </a:p>
          <a:p>
            <a:r>
              <a:rPr lang="en-US" dirty="0" smtClean="0"/>
              <a:t>Status </a:t>
            </a:r>
            <a:r>
              <a:rPr lang="en-US" dirty="0" smtClean="0"/>
              <a:t>Reporting</a:t>
            </a:r>
            <a:endParaRPr lang="en-US" dirty="0" smtClean="0"/>
          </a:p>
          <a:p>
            <a:r>
              <a:rPr lang="en-US" dirty="0" smtClean="0"/>
              <a:t>Change </a:t>
            </a:r>
            <a:r>
              <a:rPr lang="en-US" dirty="0" smtClean="0"/>
              <a:t>Requests</a:t>
            </a:r>
            <a:endParaRPr lang="en-US" dirty="0" smtClean="0"/>
          </a:p>
          <a:p>
            <a:r>
              <a:rPr lang="en-US" dirty="0" smtClean="0"/>
              <a:t>Updates and </a:t>
            </a:r>
            <a:r>
              <a:rPr lang="en-US" dirty="0" smtClean="0"/>
              <a:t>Fixes</a:t>
            </a:r>
            <a:endParaRPr lang="en-US" dirty="0" smtClean="0"/>
          </a:p>
          <a:p>
            <a:r>
              <a:rPr lang="en-US" dirty="0" smtClean="0"/>
              <a:t>Reports</a:t>
            </a:r>
          </a:p>
        </p:txBody>
      </p:sp>
      <p:pic>
        <p:nvPicPr>
          <p:cNvPr id="6" name="Picture 4" descr="C:\Documents and Settings\LClark\Application Data\Microsoft\Media Catalog\Downloaded Clips\cl75\j0294214.wmf"/>
          <p:cNvPicPr>
            <a:picLocks noChangeAspect="1" noChangeArrowheads="1"/>
          </p:cNvPicPr>
          <p:nvPr/>
        </p:nvPicPr>
        <p:blipFill>
          <a:blip r:embed="rId3" cstate="print"/>
          <a:srcRect/>
          <a:stretch>
            <a:fillRect/>
          </a:stretch>
        </p:blipFill>
        <p:spPr bwMode="auto">
          <a:xfrm>
            <a:off x="6459539" y="2311015"/>
            <a:ext cx="3677809" cy="2901951"/>
          </a:xfrm>
          <a:prstGeom prst="rect">
            <a:avLst/>
          </a:prstGeom>
          <a:noFill/>
          <a:ln w="9525">
            <a:noFill/>
            <a:miter lim="800000"/>
            <a:headEnd/>
            <a:tailEnd/>
          </a:ln>
        </p:spPr>
      </p:pic>
      <p:sp>
        <p:nvSpPr>
          <p:cNvPr id="7" name="Footer Placeholder 6"/>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Break Time</a:t>
            </a:r>
            <a:endParaRPr lang="en-US" dirty="0"/>
          </a:p>
        </p:txBody>
      </p:sp>
      <p:sp>
        <p:nvSpPr>
          <p:cNvPr id="3" name="Content Placeholder 2"/>
          <p:cNvSpPr>
            <a:spLocks noGrp="1"/>
          </p:cNvSpPr>
          <p:nvPr>
            <p:ph idx="1"/>
          </p:nvPr>
        </p:nvSpPr>
        <p:spPr/>
        <p:txBody>
          <a:bodyPr/>
          <a:lstStyle/>
          <a:p>
            <a:r>
              <a:rPr lang="en-US" dirty="0" smtClean="0"/>
              <a:t>Please be back in 15 minutes.</a:t>
            </a:r>
            <a:endParaRPr lang="en-US"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lang="en-US" dirty="0"/>
          </a:p>
        </p:txBody>
      </p:sp>
      <p:pic>
        <p:nvPicPr>
          <p:cNvPr id="6" name="Picture 4" descr="C:\Documents and Settings\LClark\Application Data\Microsoft\Media Catalog\Downloaded Clips\cl29\j0103830.wmf"/>
          <p:cNvPicPr>
            <a:picLocks noChangeAspect="1" noChangeArrowheads="1"/>
          </p:cNvPicPr>
          <p:nvPr/>
        </p:nvPicPr>
        <p:blipFill>
          <a:blip r:embed="rId2" cstate="print"/>
          <a:srcRect/>
          <a:stretch>
            <a:fillRect/>
          </a:stretch>
        </p:blipFill>
        <p:spPr>
          <a:xfrm>
            <a:off x="7466012" y="2133600"/>
            <a:ext cx="2830512" cy="2976562"/>
          </a:xfrm>
          <a:prstGeom prst="rect">
            <a:avLst/>
          </a:prstGeom>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Steps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Hardware in place by </a:t>
            </a:r>
            <a:r>
              <a:rPr lang="en-US" dirty="0" err="1" smtClean="0"/>
              <a:t>dd</a:t>
            </a:r>
            <a:r>
              <a:rPr lang="en-US" dirty="0" smtClean="0"/>
              <a:t>/mm.</a:t>
            </a:r>
          </a:p>
          <a:p>
            <a:r>
              <a:rPr lang="en-US" dirty="0" smtClean="0"/>
              <a:t>Move to project room by </a:t>
            </a:r>
            <a:r>
              <a:rPr lang="en-US" dirty="0" err="1" smtClean="0"/>
              <a:t>dd</a:t>
            </a:r>
            <a:r>
              <a:rPr lang="en-US" dirty="0" smtClean="0"/>
              <a:t>/mm.</a:t>
            </a:r>
          </a:p>
          <a:p>
            <a:r>
              <a:rPr lang="en-US" dirty="0" smtClean="0"/>
              <a:t>Attend first training by </a:t>
            </a:r>
            <a:r>
              <a:rPr lang="en-US" dirty="0" err="1" smtClean="0"/>
              <a:t>dd</a:t>
            </a:r>
            <a:r>
              <a:rPr lang="en-US" dirty="0" smtClean="0"/>
              <a:t>/mm.</a:t>
            </a:r>
            <a:r>
              <a:rPr lang="en-US" sz="3700" b="1" dirty="0" smtClean="0"/>
              <a:t> </a:t>
            </a:r>
          </a:p>
          <a:p>
            <a:endParaRPr lang="en-US"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ChangeArrowheads="1"/>
          </p:cNvSpPr>
          <p:nvPr/>
        </p:nvSpPr>
        <p:spPr bwMode="invGray">
          <a:xfrm>
            <a:off x="6018212" y="2264222"/>
            <a:ext cx="3478914" cy="4666727"/>
          </a:xfrm>
          <a:prstGeom prst="rect">
            <a:avLst/>
          </a:prstGeom>
          <a:noFill/>
          <a:ln w="9525">
            <a:noFill/>
            <a:miter lim="800000"/>
            <a:headEnd/>
            <a:tailEnd/>
          </a:ln>
        </p:spPr>
        <p:txBody>
          <a:bodyPr wrap="square" lIns="122745" tIns="61373" rIns="122745" bIns="61373">
            <a:spAutoFit/>
          </a:bodyPr>
          <a:lstStyle/>
          <a:p>
            <a:pPr algn="ctr">
              <a:lnSpc>
                <a:spcPct val="80000"/>
              </a:lnSpc>
              <a:spcBef>
                <a:spcPct val="50000"/>
              </a:spcBef>
            </a:pPr>
            <a:r>
              <a:rPr lang="en-US" sz="36900" b="1" i="1" dirty="0">
                <a:solidFill>
                  <a:srgbClr val="292929"/>
                </a:solidFill>
                <a:latin typeface="Times" pitchFamily="18" charset="0"/>
              </a:rPr>
              <a:t>A</a:t>
            </a:r>
          </a:p>
        </p:txBody>
      </p:sp>
      <p:grpSp>
        <p:nvGrpSpPr>
          <p:cNvPr id="2" name="Group 1027"/>
          <p:cNvGrpSpPr>
            <a:grpSpLocks/>
          </p:cNvGrpSpPr>
          <p:nvPr/>
        </p:nvGrpSpPr>
        <p:grpSpPr bwMode="auto">
          <a:xfrm>
            <a:off x="2590125" y="228600"/>
            <a:ext cx="5713512" cy="5930900"/>
            <a:chOff x="1224" y="336"/>
            <a:chExt cx="2700" cy="3736"/>
          </a:xfrm>
        </p:grpSpPr>
        <p:sp>
          <p:nvSpPr>
            <p:cNvPr id="10244" name="Rectangle 1028"/>
            <p:cNvSpPr>
              <a:spLocks noChangeArrowheads="1"/>
            </p:cNvSpPr>
            <p:nvPr/>
          </p:nvSpPr>
          <p:spPr bwMode="invGray">
            <a:xfrm>
              <a:off x="1224" y="336"/>
              <a:ext cx="1872"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smtClean="0">
                  <a:solidFill>
                    <a:srgbClr val="292929"/>
                  </a:solidFill>
                  <a:latin typeface="Times" pitchFamily="18" charset="0"/>
                </a:rPr>
                <a:t>Q</a:t>
              </a:r>
              <a:endParaRPr lang="en-US" sz="36900" b="1" i="1" dirty="0">
                <a:solidFill>
                  <a:srgbClr val="292929"/>
                </a:solidFill>
                <a:latin typeface="Times" pitchFamily="18" charset="0"/>
              </a:endParaRPr>
            </a:p>
          </p:txBody>
        </p:sp>
        <p:sp>
          <p:nvSpPr>
            <p:cNvPr id="10245" name="Rectangle 1029"/>
            <p:cNvSpPr>
              <a:spLocks noChangeArrowheads="1"/>
            </p:cNvSpPr>
            <p:nvPr/>
          </p:nvSpPr>
          <p:spPr bwMode="invGray">
            <a:xfrm>
              <a:off x="2088" y="1152"/>
              <a:ext cx="1836"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a:solidFill>
                    <a:schemeClr val="accent1"/>
                  </a:solidFill>
                  <a:latin typeface="Times" pitchFamily="18" charset="0"/>
                </a:rPr>
                <a:t>&amp;</a:t>
              </a:r>
            </a:p>
          </p:txBody>
        </p:sp>
      </p:gr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5373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49</TotalTime>
  <Words>955</Words>
  <Application>Microsoft Office PowerPoint</Application>
  <PresentationFormat>Custom</PresentationFormat>
  <Paragraphs>162</Paragraphs>
  <Slides>22</Slides>
  <Notes>17</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blank</vt:lpstr>
      <vt:lpstr>Slide 1</vt:lpstr>
      <vt:lpstr>Project Kickoff</vt:lpstr>
      <vt:lpstr>Welcome</vt:lpstr>
      <vt:lpstr>Agenda</vt:lpstr>
      <vt:lpstr>Team Introductions</vt:lpstr>
      <vt:lpstr>Project Overview</vt:lpstr>
      <vt:lpstr>Opening Remarks</vt:lpstr>
      <vt:lpstr>Mission Statement</vt:lpstr>
      <vt:lpstr>Project Objectives</vt:lpstr>
      <vt:lpstr>Guiding Principles</vt:lpstr>
      <vt:lpstr>Scope</vt:lpstr>
      <vt:lpstr>Organization</vt:lpstr>
      <vt:lpstr>High-Level Schedule</vt:lpstr>
      <vt:lpstr>Break Time</vt:lpstr>
      <vt:lpstr>Project Methodology</vt:lpstr>
      <vt:lpstr>System Access</vt:lpstr>
      <vt:lpstr>Project Diary</vt:lpstr>
      <vt:lpstr>Operating Rules</vt:lpstr>
      <vt:lpstr>Break Time</vt:lpstr>
      <vt:lpstr>Next Steps</vt:lpstr>
      <vt:lpstr>Slide 21</vt:lpstr>
      <vt:lpstr>Slide 22</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STM.050 Project Kickoff Presentation</dc:title>
  <dc:creator>Oracle Global Methods</dc:creator>
  <cp:keywords>OUM</cp:keywords>
  <dc:description>Copyright © 2014 Oracle and/or its affiliates.  All rights reserved.</dc:description>
  <cp:lastModifiedBy>masander</cp:lastModifiedBy>
  <cp:revision>6</cp:revision>
  <dcterms:created xsi:type="dcterms:W3CDTF">2014-06-17T20:36:48Z</dcterms:created>
  <dcterms:modified xsi:type="dcterms:W3CDTF">2014-06-27T16:45:13Z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