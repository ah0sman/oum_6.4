
<file path=[Content_Types].xml><?xml version="1.0" encoding="utf-8"?>
<Types xmlns="http://schemas.openxmlformats.org/package/2006/content-types">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handoutMasterIdLst>
    <p:handoutMasterId r:id="rId5"/>
  </p:handoutMasterIdLst>
  <p:sldIdLst>
    <p:sldId id="382" r:id="rId2"/>
    <p:sldId id="383" r:id="rId3"/>
  </p:sldIdLst>
  <p:sldSz cx="12188825" cy="6858000"/>
  <p:notesSz cx="6858000" cy="9144000"/>
  <p:custDataLst>
    <p:tags r:id="rId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7" pos="335">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7F7F7F"/>
    <a:srgbClr val="0000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213" autoAdjust="0"/>
  </p:normalViewPr>
  <p:slideViewPr>
    <p:cSldViewPr>
      <p:cViewPr varScale="1">
        <p:scale>
          <a:sx n="64" d="100"/>
          <a:sy n="64" d="100"/>
        </p:scale>
        <p:origin x="-1578" y="-108"/>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gs" Target="tags/tag1.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6/27/2014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 xmlns:p14="http://schemas.microsoft.com/office/powerpoint/2010/main"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 xmlns:p14="http://schemas.microsoft.com/office/powerpoint/2010/main"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a:xfrm>
            <a:off x="871538" y="696913"/>
            <a:ext cx="5113337" cy="2878137"/>
          </a:xfrm>
          <a:ln/>
        </p:spPr>
      </p:sp>
      <p:sp>
        <p:nvSpPr>
          <p:cNvPr id="3" name="Notes Placeholder 2"/>
          <p:cNvSpPr>
            <a:spLocks noGrp="1"/>
          </p:cNvSpPr>
          <p:nvPr>
            <p:ph type="body" idx="1"/>
          </p:nvPr>
        </p:nvSpPr>
        <p:spPr/>
        <p:txBody>
          <a:bodyPr>
            <a:normAutofit lnSpcReduction="10000"/>
          </a:bodyPr>
          <a:lstStyle/>
          <a:p>
            <a:pPr>
              <a:defRPr/>
            </a:pPr>
            <a:r>
              <a:rPr lang="en-US" dirty="0" smtClean="0"/>
              <a:t>The Process Step Catalog lists the process steps or activities that make up the process. Each step should have a brief, and descriptive title. At level 3, you should classify each activity by desired degree of automation: manual, computer assisted, or fully automated.</a:t>
            </a:r>
            <a:br>
              <a:rPr lang="en-US" dirty="0" smtClean="0"/>
            </a:br>
            <a:r>
              <a:rPr lang="en-US" dirty="0" smtClean="0"/>
              <a:t/>
            </a:r>
            <a:br>
              <a:rPr lang="en-US" dirty="0" smtClean="0"/>
            </a:br>
            <a:r>
              <a:rPr lang="en-US" b="1" dirty="0" smtClean="0"/>
              <a:t>ID:  </a:t>
            </a:r>
            <a:r>
              <a:rPr lang="en-US" dirty="0" smtClean="0"/>
              <a:t>Supply a process step ID.  Think about a systematic way for numbering processes and process steps.  It might make sense to build significance into the process ID; for example, BM 01 might represent the first step in the Bill of Material process. </a:t>
            </a:r>
            <a:br>
              <a:rPr lang="en-US" dirty="0" smtClean="0"/>
            </a:br>
            <a:r>
              <a:rPr lang="en-US" b="1" dirty="0" smtClean="0"/>
              <a:t>Description:</a:t>
            </a:r>
            <a:r>
              <a:rPr lang="en-US" dirty="0" smtClean="0"/>
              <a:t>  Record the process step as clearly as possible.  If possible, use a simple verb noun format, but do not hesitate to add information for clarity.  For example, answer phone, record (order) information and so on.</a:t>
            </a:r>
            <a:br>
              <a:rPr lang="en-US" dirty="0" smtClean="0"/>
            </a:br>
            <a:r>
              <a:rPr lang="en-US" b="1" dirty="0" smtClean="0"/>
              <a:t>Frequency:</a:t>
            </a:r>
            <a:r>
              <a:rPr lang="en-US" dirty="0" smtClean="0"/>
              <a:t>  State the frequency that the process step occurs; hourly, weekly, every other order, every third piece, and so on.</a:t>
            </a:r>
            <a:br>
              <a:rPr lang="en-US" dirty="0" smtClean="0"/>
            </a:br>
            <a:r>
              <a:rPr lang="en-US" b="1" dirty="0" smtClean="0"/>
              <a:t>Notes:  </a:t>
            </a:r>
            <a:r>
              <a:rPr lang="en-US" dirty="0" smtClean="0"/>
              <a:t>Record notes as appropriate to clarify the nature of the step or record any issues which it raises.  It is possible to “key word” notes in order to later retrieve all notes with the same key word.</a:t>
            </a:r>
            <a:br>
              <a:rPr lang="en-US" dirty="0" smtClean="0"/>
            </a:br>
            <a:r>
              <a:rPr lang="en-US" b="1" dirty="0" smtClean="0"/>
              <a:t>Automation:  </a:t>
            </a:r>
            <a:r>
              <a:rPr lang="en-US" dirty="0" smtClean="0"/>
              <a:t>Identify whether the step is manual or system-assisted</a:t>
            </a:r>
            <a:br>
              <a:rPr lang="en-US" dirty="0" smtClean="0"/>
            </a:br>
            <a:r>
              <a:rPr lang="en-US" b="1" dirty="0" smtClean="0"/>
              <a:t>Function Area: </a:t>
            </a:r>
            <a:r>
              <a:rPr lang="en-US" dirty="0" smtClean="0"/>
              <a:t>Business area identified with the process</a:t>
            </a:r>
            <a:r>
              <a:rPr lang="en-US" b="1" dirty="0" smtClean="0"/>
              <a:t> </a:t>
            </a:r>
            <a:br>
              <a:rPr lang="en-US" b="1" dirty="0" smtClean="0"/>
            </a:br>
            <a:r>
              <a:rPr lang="en-US" b="1" dirty="0" smtClean="0"/>
              <a:t>Business Capability: </a:t>
            </a:r>
            <a:r>
              <a:rPr lang="en-US" dirty="0" smtClean="0"/>
              <a:t>Business capability enabled by the process</a:t>
            </a:r>
            <a:br>
              <a:rPr lang="en-US" dirty="0" smtClean="0"/>
            </a:br>
            <a:r>
              <a:rPr lang="en-US" b="1" dirty="0" smtClean="0"/>
              <a:t>Output ID: </a:t>
            </a:r>
            <a:r>
              <a:rPr lang="en-US" dirty="0" smtClean="0"/>
              <a:t>Identifier for the output of the task step</a:t>
            </a:r>
            <a:br>
              <a:rPr lang="en-US" dirty="0" smtClean="0"/>
            </a:br>
            <a:r>
              <a:rPr lang="en-US" b="1" dirty="0" smtClean="0"/>
              <a:t>Title: </a:t>
            </a:r>
            <a:r>
              <a:rPr lang="en-US" dirty="0" smtClean="0"/>
              <a:t>Title of the step output</a:t>
            </a:r>
            <a:br>
              <a:rPr lang="en-US" dirty="0" smtClean="0"/>
            </a:br>
            <a:r>
              <a:rPr lang="en-US" b="1" dirty="0" smtClean="0"/>
              <a:t>Type: </a:t>
            </a:r>
            <a:r>
              <a:rPr lang="en-US" dirty="0" smtClean="0"/>
              <a:t>Type of output</a:t>
            </a:r>
            <a:br>
              <a:rPr lang="en-US" dirty="0" smtClean="0"/>
            </a:br>
            <a:r>
              <a:rPr lang="en-US" b="1" dirty="0" smtClean="0"/>
              <a:t>Business Change: </a:t>
            </a:r>
            <a:r>
              <a:rPr lang="en-US" dirty="0" smtClean="0"/>
              <a:t>A description of changes to existing business processes or procedures. Additional notes regarding the process may also be indicated.</a:t>
            </a:r>
            <a:br>
              <a:rPr lang="en-US" dirty="0" smtClean="0"/>
            </a:br>
            <a:r>
              <a:rPr lang="en-US" b="1" dirty="0" smtClean="0"/>
              <a:t>Expected Savings from Change:</a:t>
            </a:r>
            <a:r>
              <a:rPr lang="en-US" dirty="0" smtClean="0"/>
              <a:t> State in Labor $ Savings: Labor Hours Saved / Averted, Maintenance $ Savings.</a:t>
            </a:r>
            <a:br>
              <a:rPr lang="en-US" dirty="0" smtClean="0"/>
            </a:br>
            <a:r>
              <a:rPr lang="en-US" b="1" dirty="0" smtClean="0"/>
              <a:t>Expected Improvement from Change: </a:t>
            </a:r>
            <a:r>
              <a:rPr lang="en-US" dirty="0" smtClean="0"/>
              <a:t>State in Revenue or Margin $ Gains, or New Market $ Expansion.</a:t>
            </a:r>
          </a:p>
          <a:p>
            <a:pPr>
              <a:defRPr/>
            </a:pP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1AB1A54-131B-434B-AAD1-AD1F7D7DAA2B}" type="datetime1">
              <a:rPr lang="en-US"/>
              <a:pPr/>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99320028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BCD2CDC6-9352-4ED5-B272-74DDB6DCFEAF}" type="datetime1">
              <a:rPr lang="en-US"/>
              <a:pPr/>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40415743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7C7481E7-6827-45FD-8717-13B961EEBD99}" type="datetime1">
              <a:rPr lang="en-US"/>
              <a:pPr/>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85FCE51-BA3E-43B9-8C27-47617E4B4FE5}" type="datetime1">
              <a:rPr lang="en-US"/>
              <a:pPr/>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85FCE51-BA3E-43B9-8C27-47617E4B4FE5}" type="datetime1">
              <a:rPr lang="en-US"/>
              <a:pPr/>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 xmlns:p14="http://schemas.microsoft.com/office/powerpoint/2010/main"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CECCD66E-6DF0-4B16-8ACA-D0D93A7B1DC8}" type="datetime1">
              <a:rPr lang="en-US"/>
              <a:pPr/>
              <a:t>6/27/2014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075238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E248A2DF-98E5-4437-B842-E0DCD9A6A408}" type="datetime1">
              <a:rPr lang="en-US"/>
              <a:pPr/>
              <a:t>6/27/2014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7176835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CECCD66E-6DF0-4B16-8ACA-D0D93A7B1DC8}" type="datetime1">
              <a:rPr lang="en-US"/>
              <a:pPr/>
              <a:t>6/27/2014</a:t>
            </a:fld>
            <a:endParaRPr dirty="0"/>
          </a:p>
        </p:txBody>
      </p:sp>
      <p:sp>
        <p:nvSpPr>
          <p:cNvPr id="5" name="Footer Placeholder 4"/>
          <p:cNvSpPr>
            <a:spLocks noGrp="1"/>
          </p:cNvSpPr>
          <p:nvPr>
            <p:ph type="ftr" sz="quarter" idx="11"/>
          </p:nvPr>
        </p:nvSpPr>
        <p:spPr/>
        <p:txBody>
          <a:bodyPr>
            <a:noAutofit/>
          </a:body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68122964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C35900-9CAD-4F88-ADA2-63803E0474C8}" type="datetime1">
              <a:rPr lang="en-US"/>
              <a:pPr/>
              <a:t>6/27/2014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51385333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19816439-F3A6-4E53-9E59-0015DD1FA257}" type="datetime1">
              <a:rPr lang="en-US"/>
              <a:pPr/>
              <a:t>6/27/2014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CFF0A86-8A92-4FBC-80CD-36517BAA55B7}"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67037058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E11BFD-AD4C-4A98-9D38-1958507EA4E5}" type="datetime1">
              <a:rPr lang="en-US" smtClean="0"/>
              <a:pPr/>
              <a:t>6/27/2014</a:t>
            </a:fld>
            <a:endParaRPr lang="en-US" dirty="0"/>
          </a:p>
        </p:txBody>
      </p:sp>
      <p:sp>
        <p:nvSpPr>
          <p:cNvPr id="4" name="Footer Placeholder 3"/>
          <p:cNvSpPr>
            <a:spLocks noGrp="1"/>
          </p:cNvSpPr>
          <p:nvPr>
            <p:ph type="ftr" sz="quarter" idx="11"/>
          </p:nvPr>
        </p:nvSpPr>
        <p:spPr/>
        <p:txBody>
          <a:bodyPr/>
          <a:lstStyle/>
          <a:p>
            <a:r>
              <a:rPr lang="en-US" smtClean="0"/>
              <a:t>Oracle Confidential –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 xmlns:p14="http://schemas.microsoft.com/office/powerpoint/2010/main" val="159625631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FFFBC65A-03AE-423D-B3EC-68D1D32BF9D6}"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4509846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FFFBC65A-03AE-423D-B3EC-68D1D32BF9D6}"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02776685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F189F9BA-FB97-45D5-8F27-56629FBBC98C}"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2016615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AA91E92C-9068-4C32-AE92-C97502324FE4}"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337141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95EDC5EE-48A0-4FB5-B27F-88FDBE6F1684}"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122633453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A3CED5-6656-4A7A-BB77-071ABD96C5A2}"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42812501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A3CED5-6656-4A7A-BB77-071ABD96C5A2}"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73938650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35287FB7-DD26-4AD5-8D24-298016D86790}" type="datetime1">
              <a:rPr lang="en-US"/>
              <a:pPr/>
              <a:t>6/27/2014</a:t>
            </a:fld>
            <a:endParaRPr dirty="0"/>
          </a:p>
        </p:txBody>
      </p:sp>
      <p:sp>
        <p:nvSpPr>
          <p:cNvPr id="8" name="Footer Placeholder 7"/>
          <p:cNvSpPr>
            <a:spLocks noGrp="1"/>
          </p:cNvSpPr>
          <p:nvPr>
            <p:ph type="ftr" sz="quarter" idx="11"/>
          </p:nvPr>
        </p:nvSpPr>
        <p:spPr/>
        <p:txBody>
          <a:bodyPr>
            <a:noAutofit/>
          </a:bodyPr>
          <a:lstStyle/>
          <a:p>
            <a:r>
              <a:rPr dirty="0"/>
              <a:t>Oracle Confidential – Internal/Restricted/Highly Restricted</a:t>
            </a:r>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37870018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52D99EC-ABE5-42A5-B15B-B8C044BE7365}" type="datetime1">
              <a:rPr lang="en-US"/>
              <a:pPr/>
              <a:t>6/27/2014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3769938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CD2D53DD-9B43-42E6-B664-927F3AEBDA21}" type="datetime1">
              <a:rPr lang="en-US"/>
              <a:pPr/>
              <a:t>6/27/2014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416362038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53D265-744D-4F8C-A86B-A5B53F14B0D6}" type="datetime1">
              <a:rPr lang="en-US"/>
              <a:pPr/>
              <a:t>6/27/2014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60822934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22C216A-5BF3-4B4A-AA09-367DB23952FA}"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45785070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3E2FA5-E451-48BD-84C5-AAF06D19CB12}"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05827476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B64933-8490-48F1-856F-778E124FF883}"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0898225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E6F5346-BDDE-46E4-B222-C487F9E706DD}"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9085471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A15AD86-CD0E-461B-AA18-D070A5CB2CAA}"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74544451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 xmlns:a14="http://schemas.microsoft.com/office/drawing/2010/main"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 xmlns:a14="http://schemas.microsoft.com/office/drawing/2010/main"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A15AD86-CD0E-461B-AA18-D070A5CB2CAA}"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2063404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6A15AD86-CD0E-461B-AA18-D070A5CB2CAA}"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 xmlns:a14="http://schemas.microsoft.com/office/drawing/2010/main"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86081927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6A15AD86-CD0E-461B-AA18-D070A5CB2CAA}"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 xmlns:a14="http://schemas.microsoft.com/office/drawing/2010/main"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18766017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43D5EDE7-61B4-4C98-ADE6-D86346041BA3}" type="datetime1">
              <a:rPr lang="en-US"/>
              <a:pPr/>
              <a:t>6/27/2014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93A56FF2-64EC-4614-951E-8B8E4681BF2B}" type="datetime1">
              <a:rPr lang="en-US"/>
              <a:pPr/>
              <a:t>6/27/2014</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59788944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AD051CE8-BCD3-4683-83D4-D0AC55C5EB15}" type="datetime1">
              <a:rPr lang="en-US"/>
              <a:pPr/>
              <a:t>6/27/2014</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35887190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A9802F-4D43-4C32-8177-0644B387545A}" type="datetime1">
              <a:rPr lang="en-US"/>
              <a:pPr/>
              <a:t>6/27/2014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2820860" y="2313432"/>
            <a:ext cx="6547104" cy="1832339"/>
          </a:xfrm>
          <a:prstGeom prst="rect">
            <a:avLst/>
          </a:prstGeom>
        </p:spPr>
      </p:pic>
    </p:spTree>
    <p:extLst>
      <p:ext uri="{BB962C8B-B14F-4D97-AF65-F5344CB8AC3E}">
        <p14:creationId xmlns="" xmlns:p14="http://schemas.microsoft.com/office/powerpoint/2010/main" val="370913749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 xmlns:a14="http://schemas.microsoft.com/office/drawing/2010/main" val="0"/>
              </a:ext>
            </a:extLst>
          </a:blip>
          <a:stretch>
            <a:fillRect/>
          </a:stretch>
        </p:blipFill>
        <p:spPr bwMode="black">
          <a:xfrm>
            <a:off x="3822128" y="2843826"/>
            <a:ext cx="4544568" cy="569547"/>
          </a:xfrm>
          <a:prstGeom prst="rect">
            <a:avLst/>
          </a:prstGeom>
        </p:spPr>
      </p:pic>
    </p:spTree>
    <p:extLst>
      <p:ext uri="{BB962C8B-B14F-4D97-AF65-F5344CB8AC3E}">
        <p14:creationId xmlns="" xmlns:p14="http://schemas.microsoft.com/office/powerpoint/2010/main" val="106575552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21991926-9D37-40E7-80C4-EC5F27AFCB67}" type="datetimeFigureOut">
              <a:rPr lang="en-US" smtClean="0"/>
              <a:pPr/>
              <a:t>6/27/2014</a:t>
            </a:fld>
            <a:endParaRPr lang="en-US"/>
          </a:p>
        </p:txBody>
      </p:sp>
      <p:sp>
        <p:nvSpPr>
          <p:cNvPr id="5" name="Footer Placeholder 4"/>
          <p:cNvSpPr>
            <a:spLocks noGrp="1"/>
          </p:cNvSpPr>
          <p:nvPr>
            <p:ph type="ftr" sz="quarter" idx="11"/>
          </p:nvPr>
        </p:nvSpPr>
        <p:spPr/>
        <p:txBody>
          <a:bodyPr>
            <a:noAutofit/>
          </a:bodyPr>
          <a:lstStyle/>
          <a:p>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 xmlns:p14="http://schemas.microsoft.com/office/powerpoint/2010/main" val="386218712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6D3D3DC0-E8DA-4DFB-93A6-6089D43271B1}" type="datetime1">
              <a:rPr lang="en-US"/>
              <a:pPr/>
              <a:t>6/27/2014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1734545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0"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1EE11BFD-AD4C-4A98-9D38-1958507EA4E5}" type="datetime1">
              <a:rPr lang="en-US"/>
              <a:pPr/>
              <a:t>6/27/2014</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 xmlns:p14="http://schemas.microsoft.com/office/powerpoint/2010/main"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hd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smtClean="0"/>
              <a:t>Future Process Model Template  </a:t>
            </a:r>
          </a:p>
        </p:txBody>
      </p:sp>
      <p:sp>
        <p:nvSpPr>
          <p:cNvPr id="3076" name="Rectangle 3"/>
          <p:cNvSpPr>
            <a:spLocks noChangeArrowheads="1"/>
          </p:cNvSpPr>
          <p:nvPr/>
        </p:nvSpPr>
        <p:spPr bwMode="auto">
          <a:xfrm>
            <a:off x="1206186" y="1752600"/>
            <a:ext cx="1523603" cy="762000"/>
          </a:xfrm>
          <a:prstGeom prst="rect">
            <a:avLst/>
          </a:prstGeom>
          <a:solidFill>
            <a:srgbClr val="FF0000"/>
          </a:solidFill>
          <a:ln w="12700" algn="ctr">
            <a:solidFill>
              <a:schemeClr val="tx1"/>
            </a:solidFill>
            <a:round/>
            <a:headEnd/>
            <a:tailEnd type="triangle" w="lg" len="lg"/>
          </a:ln>
        </p:spPr>
        <p:txBody>
          <a:bodyPr lIns="121899" tIns="60949" rIns="121899" bIns="60949"/>
          <a:lstStyle/>
          <a:p>
            <a:pPr algn="ctr"/>
            <a:endParaRPr lang="en-US" sz="1100" dirty="0"/>
          </a:p>
        </p:txBody>
      </p:sp>
      <p:sp>
        <p:nvSpPr>
          <p:cNvPr id="3077" name="Rectangle 4"/>
          <p:cNvSpPr>
            <a:spLocks noChangeArrowheads="1"/>
          </p:cNvSpPr>
          <p:nvPr/>
        </p:nvSpPr>
        <p:spPr bwMode="auto">
          <a:xfrm>
            <a:off x="1409333" y="1905000"/>
            <a:ext cx="1523603" cy="762000"/>
          </a:xfrm>
          <a:prstGeom prst="rect">
            <a:avLst/>
          </a:prstGeom>
          <a:solidFill>
            <a:srgbClr val="FF0000"/>
          </a:solidFill>
          <a:ln w="12700" algn="ctr">
            <a:solidFill>
              <a:schemeClr val="tx1"/>
            </a:solidFill>
            <a:round/>
            <a:headEnd/>
            <a:tailEnd type="triangle" w="lg" len="lg"/>
          </a:ln>
        </p:spPr>
        <p:txBody>
          <a:bodyPr lIns="121899" tIns="60949" rIns="121899" bIns="60949"/>
          <a:lstStyle/>
          <a:p>
            <a:pPr algn="ctr"/>
            <a:endParaRPr lang="en-US" sz="1100" dirty="0"/>
          </a:p>
        </p:txBody>
      </p:sp>
      <p:sp>
        <p:nvSpPr>
          <p:cNvPr id="33798" name="Rectangle 5"/>
          <p:cNvSpPr>
            <a:spLocks noChangeArrowheads="1"/>
          </p:cNvSpPr>
          <p:nvPr/>
        </p:nvSpPr>
        <p:spPr bwMode="auto">
          <a:xfrm>
            <a:off x="5980142" y="4800600"/>
            <a:ext cx="1523603" cy="762000"/>
          </a:xfrm>
          <a:prstGeom prst="rect">
            <a:avLst/>
          </a:prstGeom>
          <a:solidFill>
            <a:srgbClr val="FF0000"/>
          </a:solidFill>
          <a:ln w="12700" algn="ctr">
            <a:solidFill>
              <a:schemeClr val="tx1"/>
            </a:solidFill>
            <a:round/>
            <a:headEnd/>
            <a:tailEnd type="triangle" w="lg" len="lg"/>
          </a:ln>
        </p:spPr>
        <p:txBody>
          <a:bodyPr lIns="121899" tIns="60949" rIns="121899" bIns="60949"/>
          <a:lstStyle/>
          <a:p>
            <a:pPr algn="ctr">
              <a:defRPr/>
            </a:pPr>
            <a:r>
              <a:rPr lang="en-US" sz="1500" b="1" dirty="0">
                <a:solidFill>
                  <a:schemeClr val="bg1"/>
                </a:solidFill>
                <a:cs typeface="Arial" pitchFamily="34" charset="0"/>
              </a:rPr>
              <a:t>Process Name</a:t>
            </a:r>
            <a:endParaRPr lang="en-US" sz="1400" b="1" dirty="0">
              <a:solidFill>
                <a:schemeClr val="bg1"/>
              </a:solidFill>
              <a:cs typeface="Arial" pitchFamily="34" charset="0"/>
            </a:endParaRPr>
          </a:p>
          <a:p>
            <a:pPr algn="ctr">
              <a:defRPr/>
            </a:pPr>
            <a:r>
              <a:rPr lang="en-US" sz="1100" dirty="0">
                <a:solidFill>
                  <a:schemeClr val="bg1"/>
                </a:solidFill>
                <a:cs typeface="Arial" pitchFamily="34" charset="0"/>
              </a:rPr>
              <a:t>(Verb noun phrase,  </a:t>
            </a:r>
            <a:r>
              <a:rPr lang="en-US" sz="1100" dirty="0" smtClean="0">
                <a:solidFill>
                  <a:schemeClr val="bg1"/>
                </a:solidFill>
                <a:cs typeface="Arial" pitchFamily="34" charset="0"/>
              </a:rPr>
              <a:t/>
            </a:r>
            <a:br>
              <a:rPr lang="en-US" sz="1100" dirty="0" smtClean="0">
                <a:solidFill>
                  <a:schemeClr val="bg1"/>
                </a:solidFill>
                <a:cs typeface="Arial" pitchFamily="34" charset="0"/>
              </a:rPr>
            </a:br>
            <a:r>
              <a:rPr lang="en-US" sz="1100" dirty="0" smtClean="0">
                <a:solidFill>
                  <a:schemeClr val="bg1"/>
                </a:solidFill>
                <a:cs typeface="Arial" pitchFamily="34" charset="0"/>
              </a:rPr>
              <a:t>2-4 </a:t>
            </a:r>
            <a:r>
              <a:rPr lang="en-US" sz="1100" dirty="0">
                <a:solidFill>
                  <a:schemeClr val="bg1"/>
                </a:solidFill>
                <a:cs typeface="Arial" pitchFamily="34" charset="0"/>
              </a:rPr>
              <a:t>words</a:t>
            </a:r>
            <a:endParaRPr lang="en-US" sz="1100" dirty="0">
              <a:cs typeface="Arial" pitchFamily="34" charset="0"/>
            </a:endParaRPr>
          </a:p>
        </p:txBody>
      </p:sp>
      <p:sp>
        <p:nvSpPr>
          <p:cNvPr id="33799" name="Rectangle 6"/>
          <p:cNvSpPr>
            <a:spLocks noChangeArrowheads="1"/>
          </p:cNvSpPr>
          <p:nvPr/>
        </p:nvSpPr>
        <p:spPr bwMode="auto">
          <a:xfrm>
            <a:off x="8722628" y="3543300"/>
            <a:ext cx="1523603" cy="762000"/>
          </a:xfrm>
          <a:prstGeom prst="rect">
            <a:avLst/>
          </a:prstGeom>
          <a:solidFill>
            <a:srgbClr val="FF0000"/>
          </a:solidFill>
          <a:ln w="12700" algn="ctr">
            <a:solidFill>
              <a:schemeClr val="tx1"/>
            </a:solidFill>
            <a:round/>
            <a:headEnd/>
            <a:tailEnd type="triangle" w="lg" len="lg"/>
          </a:ln>
        </p:spPr>
        <p:txBody>
          <a:bodyPr lIns="121899" tIns="60949" rIns="121899" bIns="60949"/>
          <a:lstStyle/>
          <a:p>
            <a:pPr algn="ctr">
              <a:defRPr/>
            </a:pPr>
            <a:r>
              <a:rPr lang="en-US" sz="1500" b="1" dirty="0">
                <a:solidFill>
                  <a:schemeClr val="bg1"/>
                </a:solidFill>
                <a:cs typeface="Arial" pitchFamily="34" charset="0"/>
              </a:rPr>
              <a:t>Process Name</a:t>
            </a:r>
            <a:endParaRPr lang="en-US" sz="1400" b="1" dirty="0">
              <a:solidFill>
                <a:schemeClr val="bg1"/>
              </a:solidFill>
              <a:cs typeface="Arial" pitchFamily="34" charset="0"/>
            </a:endParaRPr>
          </a:p>
          <a:p>
            <a:pPr algn="ctr">
              <a:defRPr/>
            </a:pPr>
            <a:r>
              <a:rPr lang="en-US" sz="1100" dirty="0">
                <a:solidFill>
                  <a:schemeClr val="bg1"/>
                </a:solidFill>
                <a:cs typeface="Arial" pitchFamily="34" charset="0"/>
              </a:rPr>
              <a:t>(Verb noun phrase,  </a:t>
            </a:r>
            <a:r>
              <a:rPr lang="en-US" sz="1100" dirty="0" smtClean="0">
                <a:solidFill>
                  <a:schemeClr val="bg1"/>
                </a:solidFill>
                <a:cs typeface="Arial" pitchFamily="34" charset="0"/>
              </a:rPr>
              <a:t/>
            </a:r>
            <a:br>
              <a:rPr lang="en-US" sz="1100" dirty="0" smtClean="0">
                <a:solidFill>
                  <a:schemeClr val="bg1"/>
                </a:solidFill>
                <a:cs typeface="Arial" pitchFamily="34" charset="0"/>
              </a:rPr>
            </a:br>
            <a:r>
              <a:rPr lang="en-US" sz="1100" dirty="0" smtClean="0">
                <a:solidFill>
                  <a:schemeClr val="bg1"/>
                </a:solidFill>
                <a:cs typeface="Arial" pitchFamily="34" charset="0"/>
              </a:rPr>
              <a:t>2-4 </a:t>
            </a:r>
            <a:r>
              <a:rPr lang="en-US" sz="1100" dirty="0">
                <a:solidFill>
                  <a:schemeClr val="bg1"/>
                </a:solidFill>
                <a:cs typeface="Arial" pitchFamily="34" charset="0"/>
              </a:rPr>
              <a:t>words</a:t>
            </a:r>
            <a:endParaRPr lang="en-US" sz="1100" dirty="0">
              <a:cs typeface="Arial" pitchFamily="34" charset="0"/>
            </a:endParaRPr>
          </a:p>
        </p:txBody>
      </p:sp>
      <p:sp>
        <p:nvSpPr>
          <p:cNvPr id="3080" name="Rectangle 7"/>
          <p:cNvSpPr>
            <a:spLocks noChangeArrowheads="1"/>
          </p:cNvSpPr>
          <p:nvPr/>
        </p:nvSpPr>
        <p:spPr bwMode="auto">
          <a:xfrm>
            <a:off x="2323495" y="3543300"/>
            <a:ext cx="1675963" cy="762000"/>
          </a:xfrm>
          <a:prstGeom prst="rect">
            <a:avLst/>
          </a:prstGeom>
          <a:solidFill>
            <a:srgbClr val="FF0000"/>
          </a:solidFill>
          <a:ln w="12700" algn="ctr">
            <a:solidFill>
              <a:schemeClr val="tx1"/>
            </a:solidFill>
            <a:round/>
            <a:headEnd/>
            <a:tailEnd type="triangle" w="lg" len="lg"/>
          </a:ln>
        </p:spPr>
        <p:txBody>
          <a:bodyPr lIns="121899" tIns="60949" rIns="121899" bIns="60949"/>
          <a:lstStyle/>
          <a:p>
            <a:pPr algn="ctr"/>
            <a:r>
              <a:rPr lang="en-US" sz="1600" b="1" dirty="0">
                <a:solidFill>
                  <a:schemeClr val="bg1"/>
                </a:solidFill>
              </a:rPr>
              <a:t>Process Name</a:t>
            </a:r>
            <a:endParaRPr lang="en-US" sz="1500" b="1" dirty="0">
              <a:solidFill>
                <a:schemeClr val="bg1"/>
              </a:solidFill>
            </a:endParaRPr>
          </a:p>
          <a:p>
            <a:pPr algn="ctr"/>
            <a:r>
              <a:rPr lang="en-US" sz="1200" dirty="0">
                <a:solidFill>
                  <a:schemeClr val="bg1"/>
                </a:solidFill>
              </a:rPr>
              <a:t>(Verb noun phrase,  </a:t>
            </a:r>
            <a:r>
              <a:rPr lang="en-US" sz="1200" dirty="0" smtClean="0">
                <a:solidFill>
                  <a:schemeClr val="bg1"/>
                </a:solidFill>
              </a:rPr>
              <a:t/>
            </a:r>
            <a:br>
              <a:rPr lang="en-US" sz="1200" dirty="0" smtClean="0">
                <a:solidFill>
                  <a:schemeClr val="bg1"/>
                </a:solidFill>
              </a:rPr>
            </a:br>
            <a:r>
              <a:rPr lang="en-US" sz="1200" dirty="0" smtClean="0">
                <a:solidFill>
                  <a:schemeClr val="bg1"/>
                </a:solidFill>
              </a:rPr>
              <a:t>2-4 </a:t>
            </a:r>
            <a:r>
              <a:rPr lang="en-US" sz="1200" dirty="0">
                <a:solidFill>
                  <a:schemeClr val="bg1"/>
                </a:solidFill>
              </a:rPr>
              <a:t>words)</a:t>
            </a:r>
          </a:p>
        </p:txBody>
      </p:sp>
      <p:cxnSp>
        <p:nvCxnSpPr>
          <p:cNvPr id="3081" name="Straight Arrow Connector 9"/>
          <p:cNvCxnSpPr>
            <a:cxnSpLocks noChangeShapeType="1"/>
          </p:cNvCxnSpPr>
          <p:nvPr/>
        </p:nvCxnSpPr>
        <p:spPr bwMode="auto">
          <a:xfrm>
            <a:off x="8113187" y="2286000"/>
            <a:ext cx="2133044" cy="0"/>
          </a:xfrm>
          <a:prstGeom prst="straightConnector1">
            <a:avLst/>
          </a:prstGeom>
          <a:noFill/>
          <a:ln w="25400" algn="ctr">
            <a:solidFill>
              <a:schemeClr val="tx1"/>
            </a:solidFill>
            <a:round/>
            <a:headEnd/>
            <a:tailEnd type="arrow" w="med" len="med"/>
          </a:ln>
        </p:spPr>
      </p:cxnSp>
      <p:cxnSp>
        <p:nvCxnSpPr>
          <p:cNvPr id="3082" name="Straight Arrow Connector 12"/>
          <p:cNvCxnSpPr>
            <a:cxnSpLocks noChangeShapeType="1"/>
          </p:cNvCxnSpPr>
          <p:nvPr/>
        </p:nvCxnSpPr>
        <p:spPr bwMode="auto">
          <a:xfrm>
            <a:off x="8316334" y="2438400"/>
            <a:ext cx="2133044" cy="0"/>
          </a:xfrm>
          <a:prstGeom prst="straightConnector1">
            <a:avLst/>
          </a:prstGeom>
          <a:noFill/>
          <a:ln w="25400" algn="ctr">
            <a:solidFill>
              <a:schemeClr val="tx1"/>
            </a:solidFill>
            <a:round/>
            <a:headEnd/>
            <a:tailEnd type="arrow" w="med" len="med"/>
          </a:ln>
        </p:spPr>
      </p:cxnSp>
      <p:cxnSp>
        <p:nvCxnSpPr>
          <p:cNvPr id="3083" name="Straight Arrow Connector 13"/>
          <p:cNvCxnSpPr>
            <a:cxnSpLocks noChangeShapeType="1"/>
          </p:cNvCxnSpPr>
          <p:nvPr/>
        </p:nvCxnSpPr>
        <p:spPr bwMode="auto">
          <a:xfrm>
            <a:off x="8519481" y="2590800"/>
            <a:ext cx="2133044" cy="0"/>
          </a:xfrm>
          <a:prstGeom prst="straightConnector1">
            <a:avLst/>
          </a:prstGeom>
          <a:noFill/>
          <a:ln w="25400" algn="ctr">
            <a:solidFill>
              <a:schemeClr val="tx1"/>
            </a:solidFill>
            <a:round/>
            <a:headEnd/>
            <a:tailEnd type="arrow" w="med" len="med"/>
          </a:ln>
        </p:spPr>
      </p:cxnSp>
      <p:cxnSp>
        <p:nvCxnSpPr>
          <p:cNvPr id="3084" name="Straight Arrow Connector 15"/>
          <p:cNvCxnSpPr>
            <a:cxnSpLocks noChangeShapeType="1"/>
          </p:cNvCxnSpPr>
          <p:nvPr/>
        </p:nvCxnSpPr>
        <p:spPr bwMode="auto">
          <a:xfrm>
            <a:off x="7199025" y="4000500"/>
            <a:ext cx="1523603" cy="0"/>
          </a:xfrm>
          <a:prstGeom prst="straightConnector1">
            <a:avLst/>
          </a:prstGeom>
          <a:noFill/>
          <a:ln w="25400" algn="ctr">
            <a:solidFill>
              <a:schemeClr val="tx1"/>
            </a:solidFill>
            <a:round/>
            <a:headEnd/>
            <a:tailEnd type="arrow" w="med" len="med"/>
          </a:ln>
        </p:spPr>
      </p:cxnSp>
      <p:cxnSp>
        <p:nvCxnSpPr>
          <p:cNvPr id="3085" name="Straight Arrow Connector 16"/>
          <p:cNvCxnSpPr>
            <a:cxnSpLocks noChangeShapeType="1"/>
          </p:cNvCxnSpPr>
          <p:nvPr/>
        </p:nvCxnSpPr>
        <p:spPr bwMode="auto">
          <a:xfrm>
            <a:off x="3999458" y="4000500"/>
            <a:ext cx="2133044" cy="0"/>
          </a:xfrm>
          <a:prstGeom prst="straightConnector1">
            <a:avLst/>
          </a:prstGeom>
          <a:noFill/>
          <a:ln w="25400" algn="ctr">
            <a:solidFill>
              <a:schemeClr val="tx1"/>
            </a:solidFill>
            <a:round/>
            <a:headEnd/>
            <a:tailEnd type="arrow" w="med" len="med"/>
          </a:ln>
        </p:spPr>
      </p:cxnSp>
      <p:sp>
        <p:nvSpPr>
          <p:cNvPr id="3086" name="Flowchart: Decision 23"/>
          <p:cNvSpPr>
            <a:spLocks noChangeArrowheads="1"/>
          </p:cNvSpPr>
          <p:nvPr/>
        </p:nvSpPr>
        <p:spPr bwMode="auto">
          <a:xfrm>
            <a:off x="4456539" y="1943100"/>
            <a:ext cx="1015735" cy="381000"/>
          </a:xfrm>
          <a:prstGeom prst="flowChartDecision">
            <a:avLst/>
          </a:prstGeom>
          <a:solidFill>
            <a:srgbClr val="FF0000"/>
          </a:solidFill>
          <a:ln w="12700" algn="ctr">
            <a:solidFill>
              <a:schemeClr val="tx1"/>
            </a:solidFill>
            <a:round/>
            <a:headEnd/>
            <a:tailEnd type="triangle" w="lg" len="lg"/>
          </a:ln>
        </p:spPr>
        <p:txBody>
          <a:bodyPr lIns="121899" tIns="60949" rIns="121899" bIns="60949"/>
          <a:lstStyle/>
          <a:p>
            <a:pPr algn="ctr"/>
            <a:endParaRPr lang="en-US" sz="1100" dirty="0"/>
          </a:p>
        </p:txBody>
      </p:sp>
      <p:sp>
        <p:nvSpPr>
          <p:cNvPr id="3087" name="Flowchart: Decision 24"/>
          <p:cNvSpPr>
            <a:spLocks noChangeArrowheads="1"/>
          </p:cNvSpPr>
          <p:nvPr/>
        </p:nvSpPr>
        <p:spPr bwMode="auto">
          <a:xfrm>
            <a:off x="4608900" y="2057400"/>
            <a:ext cx="1015735" cy="381000"/>
          </a:xfrm>
          <a:prstGeom prst="flowChartDecision">
            <a:avLst/>
          </a:prstGeom>
          <a:solidFill>
            <a:srgbClr val="FF0000"/>
          </a:solidFill>
          <a:ln w="12700" algn="ctr">
            <a:solidFill>
              <a:schemeClr val="tx1"/>
            </a:solidFill>
            <a:round/>
            <a:headEnd/>
            <a:tailEnd type="triangle" w="lg" len="lg"/>
          </a:ln>
        </p:spPr>
        <p:txBody>
          <a:bodyPr lIns="121899" tIns="60949" rIns="121899" bIns="60949"/>
          <a:lstStyle/>
          <a:p>
            <a:pPr algn="ctr"/>
            <a:endParaRPr lang="en-US" sz="1100" dirty="0"/>
          </a:p>
        </p:txBody>
      </p:sp>
      <p:sp>
        <p:nvSpPr>
          <p:cNvPr id="3088" name="Flowchart: Decision 25"/>
          <p:cNvSpPr>
            <a:spLocks noChangeArrowheads="1"/>
          </p:cNvSpPr>
          <p:nvPr/>
        </p:nvSpPr>
        <p:spPr bwMode="auto">
          <a:xfrm>
            <a:off x="4761260" y="2171700"/>
            <a:ext cx="1015735" cy="381000"/>
          </a:xfrm>
          <a:prstGeom prst="flowChartDecision">
            <a:avLst/>
          </a:prstGeom>
          <a:solidFill>
            <a:srgbClr val="FF0000"/>
          </a:solidFill>
          <a:ln w="12700" algn="ctr">
            <a:solidFill>
              <a:schemeClr val="tx1"/>
            </a:solidFill>
            <a:round/>
            <a:headEnd/>
            <a:tailEnd type="triangle" w="lg" len="lg"/>
          </a:ln>
        </p:spPr>
        <p:txBody>
          <a:bodyPr lIns="121899" tIns="60949" rIns="121899" bIns="60949"/>
          <a:lstStyle/>
          <a:p>
            <a:pPr algn="ctr"/>
            <a:endParaRPr lang="en-US" sz="1100" dirty="0"/>
          </a:p>
        </p:txBody>
      </p:sp>
      <p:sp>
        <p:nvSpPr>
          <p:cNvPr id="3089" name="Flowchart: Decision 28"/>
          <p:cNvSpPr>
            <a:spLocks noChangeArrowheads="1"/>
          </p:cNvSpPr>
          <p:nvPr/>
        </p:nvSpPr>
        <p:spPr bwMode="auto">
          <a:xfrm>
            <a:off x="6132503" y="3771900"/>
            <a:ext cx="1015735" cy="381000"/>
          </a:xfrm>
          <a:prstGeom prst="flowChartDecision">
            <a:avLst/>
          </a:prstGeom>
          <a:solidFill>
            <a:srgbClr val="FF0000"/>
          </a:solidFill>
          <a:ln w="12700" algn="ctr">
            <a:solidFill>
              <a:schemeClr val="tx1"/>
            </a:solidFill>
            <a:round/>
            <a:headEnd/>
            <a:tailEnd type="triangle" w="lg" len="lg"/>
          </a:ln>
        </p:spPr>
        <p:txBody>
          <a:bodyPr lIns="121899" tIns="60949" rIns="121899" bIns="60949"/>
          <a:lstStyle/>
          <a:p>
            <a:pPr algn="ctr"/>
            <a:endParaRPr lang="en-US" sz="1100" dirty="0"/>
          </a:p>
        </p:txBody>
      </p:sp>
      <p:sp>
        <p:nvSpPr>
          <p:cNvPr id="35" name="TextBox 34"/>
          <p:cNvSpPr txBox="1"/>
          <p:nvPr/>
        </p:nvSpPr>
        <p:spPr>
          <a:xfrm>
            <a:off x="1256973" y="1352513"/>
            <a:ext cx="1523603" cy="400087"/>
          </a:xfrm>
          <a:prstGeom prst="rect">
            <a:avLst/>
          </a:prstGeom>
          <a:noFill/>
        </p:spPr>
        <p:txBody>
          <a:bodyPr lIns="121899" tIns="60949" rIns="121899" bIns="60949">
            <a:spAutoFit/>
          </a:bodyPr>
          <a:lstStyle/>
          <a:p>
            <a:pPr algn="ctr">
              <a:defRPr/>
            </a:pPr>
            <a:r>
              <a:rPr lang="en-US" dirty="0">
                <a:latin typeface="+mn-lt"/>
              </a:rPr>
              <a:t>Use for Tasks</a:t>
            </a:r>
          </a:p>
        </p:txBody>
      </p:sp>
      <p:sp>
        <p:nvSpPr>
          <p:cNvPr id="36" name="TextBox 35"/>
          <p:cNvSpPr txBox="1"/>
          <p:nvPr/>
        </p:nvSpPr>
        <p:spPr>
          <a:xfrm>
            <a:off x="4113688" y="1504913"/>
            <a:ext cx="1980724" cy="400087"/>
          </a:xfrm>
          <a:prstGeom prst="rect">
            <a:avLst/>
          </a:prstGeom>
          <a:noFill/>
        </p:spPr>
        <p:txBody>
          <a:bodyPr wrap="square" lIns="121899" tIns="60949" rIns="121899" bIns="60949">
            <a:spAutoFit/>
          </a:bodyPr>
          <a:lstStyle/>
          <a:p>
            <a:pPr algn="ctr">
              <a:defRPr/>
            </a:pPr>
            <a:r>
              <a:rPr lang="en-US" dirty="0">
                <a:latin typeface="+mn-lt"/>
              </a:rPr>
              <a:t>Use for </a:t>
            </a:r>
            <a:r>
              <a:rPr lang="en-US" dirty="0" smtClean="0">
                <a:latin typeface="+mn-lt"/>
              </a:rPr>
              <a:t>Decisions</a:t>
            </a:r>
            <a:endParaRPr lang="en-US" dirty="0">
              <a:latin typeface="+mn-lt"/>
            </a:endParaRPr>
          </a:p>
        </p:txBody>
      </p:sp>
      <p:sp>
        <p:nvSpPr>
          <p:cNvPr id="37" name="TextBox 36"/>
          <p:cNvSpPr txBox="1"/>
          <p:nvPr/>
        </p:nvSpPr>
        <p:spPr>
          <a:xfrm>
            <a:off x="8151812" y="1608914"/>
            <a:ext cx="1828324" cy="677086"/>
          </a:xfrm>
          <a:prstGeom prst="rect">
            <a:avLst/>
          </a:prstGeom>
          <a:noFill/>
        </p:spPr>
        <p:txBody>
          <a:bodyPr lIns="121899" tIns="60949" rIns="121899" bIns="60949">
            <a:spAutoFit/>
          </a:bodyPr>
          <a:lstStyle/>
          <a:p>
            <a:pPr algn="ctr">
              <a:defRPr/>
            </a:pPr>
            <a:r>
              <a:rPr lang="en-US" dirty="0">
                <a:latin typeface="+mn-lt"/>
              </a:rPr>
              <a:t>Use to </a:t>
            </a:r>
            <a:r>
              <a:rPr lang="en-US" dirty="0" smtClean="0">
                <a:latin typeface="+mn-lt"/>
              </a:rPr>
              <a:t>Connect </a:t>
            </a:r>
            <a:r>
              <a:rPr lang="en-US" dirty="0"/>
              <a:t>O</a:t>
            </a:r>
            <a:r>
              <a:rPr lang="en-US" dirty="0" smtClean="0">
                <a:latin typeface="+mn-lt"/>
              </a:rPr>
              <a:t>bjects</a:t>
            </a:r>
            <a:endParaRPr lang="en-US" dirty="0">
              <a:latin typeface="+mn-lt"/>
            </a:endParaRPr>
          </a:p>
        </p:txBody>
      </p:sp>
      <p:cxnSp>
        <p:nvCxnSpPr>
          <p:cNvPr id="3093" name="Straight Connector 24"/>
          <p:cNvCxnSpPr>
            <a:cxnSpLocks noChangeShapeType="1"/>
          </p:cNvCxnSpPr>
          <p:nvPr/>
        </p:nvCxnSpPr>
        <p:spPr bwMode="auto">
          <a:xfrm>
            <a:off x="1104612" y="3429000"/>
            <a:ext cx="9446339" cy="0"/>
          </a:xfrm>
          <a:prstGeom prst="line">
            <a:avLst/>
          </a:prstGeom>
          <a:noFill/>
          <a:ln w="25400" algn="ctr">
            <a:solidFill>
              <a:schemeClr val="tx1"/>
            </a:solidFill>
            <a:round/>
            <a:headEnd/>
            <a:tailEnd type="none" w="lg" len="lg"/>
          </a:ln>
        </p:spPr>
      </p:cxnSp>
      <p:cxnSp>
        <p:nvCxnSpPr>
          <p:cNvPr id="3094" name="Straight Connector 25"/>
          <p:cNvCxnSpPr>
            <a:cxnSpLocks noChangeShapeType="1"/>
          </p:cNvCxnSpPr>
          <p:nvPr/>
        </p:nvCxnSpPr>
        <p:spPr bwMode="auto">
          <a:xfrm>
            <a:off x="1104612" y="4572000"/>
            <a:ext cx="9446339" cy="0"/>
          </a:xfrm>
          <a:prstGeom prst="line">
            <a:avLst/>
          </a:prstGeom>
          <a:noFill/>
          <a:ln w="25400" algn="ctr">
            <a:solidFill>
              <a:schemeClr val="tx1"/>
            </a:solidFill>
            <a:round/>
            <a:headEnd/>
            <a:tailEnd type="none" w="lg" len="lg"/>
          </a:ln>
        </p:spPr>
      </p:cxnSp>
      <p:cxnSp>
        <p:nvCxnSpPr>
          <p:cNvPr id="3095" name="Straight Connector 26"/>
          <p:cNvCxnSpPr>
            <a:cxnSpLocks noChangeShapeType="1"/>
          </p:cNvCxnSpPr>
          <p:nvPr/>
        </p:nvCxnSpPr>
        <p:spPr bwMode="auto">
          <a:xfrm>
            <a:off x="952252" y="5715000"/>
            <a:ext cx="9446339" cy="0"/>
          </a:xfrm>
          <a:prstGeom prst="line">
            <a:avLst/>
          </a:prstGeom>
          <a:noFill/>
          <a:ln w="25400" algn="ctr">
            <a:solidFill>
              <a:schemeClr val="tx1"/>
            </a:solidFill>
            <a:round/>
            <a:headEnd/>
            <a:tailEnd type="none" w="lg" len="lg"/>
          </a:ln>
        </p:spPr>
      </p:cxnSp>
      <p:sp>
        <p:nvSpPr>
          <p:cNvPr id="28" name="TextBox 27"/>
          <p:cNvSpPr txBox="1"/>
          <p:nvPr/>
        </p:nvSpPr>
        <p:spPr>
          <a:xfrm>
            <a:off x="1180792" y="3771902"/>
            <a:ext cx="1043246" cy="415476"/>
          </a:xfrm>
          <a:prstGeom prst="rect">
            <a:avLst/>
          </a:prstGeom>
          <a:noFill/>
        </p:spPr>
        <p:txBody>
          <a:bodyPr lIns="121899" tIns="60949" rIns="121899" bIns="60949">
            <a:spAutoFit/>
          </a:bodyPr>
          <a:lstStyle/>
          <a:p>
            <a:pPr algn="ctr">
              <a:defRPr/>
            </a:pPr>
            <a:r>
              <a:rPr lang="en-US" sz="1900" dirty="0"/>
              <a:t>Actor</a:t>
            </a:r>
          </a:p>
        </p:txBody>
      </p:sp>
      <p:sp>
        <p:nvSpPr>
          <p:cNvPr id="29" name="TextBox 28"/>
          <p:cNvSpPr txBox="1"/>
          <p:nvPr/>
        </p:nvSpPr>
        <p:spPr>
          <a:xfrm>
            <a:off x="1180792" y="4800602"/>
            <a:ext cx="1043246" cy="415476"/>
          </a:xfrm>
          <a:prstGeom prst="rect">
            <a:avLst/>
          </a:prstGeom>
          <a:noFill/>
        </p:spPr>
        <p:txBody>
          <a:bodyPr lIns="121899" tIns="60949" rIns="121899" bIns="60949">
            <a:spAutoFit/>
          </a:bodyPr>
          <a:lstStyle/>
          <a:p>
            <a:pPr algn="ctr">
              <a:defRPr/>
            </a:pPr>
            <a:r>
              <a:rPr lang="en-US" sz="1900" dirty="0"/>
              <a:t>System</a:t>
            </a:r>
          </a:p>
        </p:txBody>
      </p:sp>
      <p:cxnSp>
        <p:nvCxnSpPr>
          <p:cNvPr id="3098" name="Straight Arrow Connector 15"/>
          <p:cNvCxnSpPr>
            <a:cxnSpLocks noChangeShapeType="1"/>
          </p:cNvCxnSpPr>
          <p:nvPr/>
        </p:nvCxnSpPr>
        <p:spPr bwMode="auto">
          <a:xfrm>
            <a:off x="6589584" y="4114800"/>
            <a:ext cx="0" cy="685800"/>
          </a:xfrm>
          <a:prstGeom prst="straightConnector1">
            <a:avLst/>
          </a:prstGeom>
          <a:noFill/>
          <a:ln w="25400" algn="ctr">
            <a:solidFill>
              <a:schemeClr val="tx1"/>
            </a:solidFill>
            <a:round/>
            <a:headEnd/>
            <a:tailEnd type="arrow" w="med" len="med"/>
          </a:ln>
        </p:spPr>
      </p:cxnSp>
      <p:sp>
        <p:nvSpPr>
          <p:cNvPr id="3099" name="Rectangle 7"/>
          <p:cNvSpPr>
            <a:spLocks noChangeArrowheads="1"/>
          </p:cNvSpPr>
          <p:nvPr/>
        </p:nvSpPr>
        <p:spPr bwMode="auto">
          <a:xfrm>
            <a:off x="1561693" y="2057400"/>
            <a:ext cx="1523603" cy="762000"/>
          </a:xfrm>
          <a:prstGeom prst="rect">
            <a:avLst/>
          </a:prstGeom>
          <a:solidFill>
            <a:srgbClr val="FF0000"/>
          </a:solidFill>
          <a:ln w="12700" algn="ctr">
            <a:solidFill>
              <a:schemeClr val="tx1"/>
            </a:solidFill>
            <a:round/>
            <a:headEnd/>
            <a:tailEnd type="triangle" w="lg" len="lg"/>
          </a:ln>
        </p:spPr>
        <p:txBody>
          <a:bodyPr lIns="121899" tIns="60949" rIns="121899" bIns="60949"/>
          <a:lstStyle/>
          <a:p>
            <a:pPr algn="ctr"/>
            <a:endParaRPr lang="en-US" sz="1100" dirty="0"/>
          </a:p>
        </p:txBody>
      </p:sp>
      <p:cxnSp>
        <p:nvCxnSpPr>
          <p:cNvPr id="3100" name="Straight Arrow Connector 15"/>
          <p:cNvCxnSpPr>
            <a:cxnSpLocks noChangeShapeType="1"/>
          </p:cNvCxnSpPr>
          <p:nvPr/>
        </p:nvCxnSpPr>
        <p:spPr bwMode="auto">
          <a:xfrm>
            <a:off x="7503745" y="5257800"/>
            <a:ext cx="1523603" cy="0"/>
          </a:xfrm>
          <a:prstGeom prst="straightConnector1">
            <a:avLst/>
          </a:prstGeom>
          <a:noFill/>
          <a:ln w="25400" algn="ctr">
            <a:solidFill>
              <a:schemeClr val="bg2"/>
            </a:solidFill>
            <a:round/>
            <a:headEnd/>
            <a:tailEnd type="arrow" w="med" len="med"/>
          </a:ln>
        </p:spPr>
      </p:cxnSp>
      <p:sp>
        <p:nvSpPr>
          <p:cNvPr id="32" name="Rectangle 6"/>
          <p:cNvSpPr>
            <a:spLocks noChangeArrowheads="1"/>
          </p:cNvSpPr>
          <p:nvPr/>
        </p:nvSpPr>
        <p:spPr bwMode="auto">
          <a:xfrm>
            <a:off x="9027349" y="4914900"/>
            <a:ext cx="1523603" cy="762000"/>
          </a:xfrm>
          <a:prstGeom prst="rect">
            <a:avLst/>
          </a:prstGeom>
          <a:solidFill>
            <a:srgbClr val="FF0000"/>
          </a:solidFill>
          <a:ln w="12700" algn="ctr">
            <a:solidFill>
              <a:schemeClr val="tx1"/>
            </a:solidFill>
            <a:round/>
            <a:headEnd/>
            <a:tailEnd type="triangle" w="lg" len="lg"/>
          </a:ln>
        </p:spPr>
        <p:txBody>
          <a:bodyPr lIns="121899" tIns="60949" rIns="121899" bIns="60949"/>
          <a:lstStyle/>
          <a:p>
            <a:pPr algn="ctr">
              <a:defRPr/>
            </a:pPr>
            <a:r>
              <a:rPr lang="en-US" sz="1500" b="1" dirty="0">
                <a:solidFill>
                  <a:schemeClr val="bg1"/>
                </a:solidFill>
                <a:cs typeface="Arial" pitchFamily="34" charset="0"/>
              </a:rPr>
              <a:t>Process Name</a:t>
            </a:r>
            <a:endParaRPr lang="en-US" sz="1400" b="1" dirty="0">
              <a:solidFill>
                <a:schemeClr val="bg1"/>
              </a:solidFill>
              <a:cs typeface="Arial" pitchFamily="34" charset="0"/>
            </a:endParaRPr>
          </a:p>
          <a:p>
            <a:pPr algn="ctr">
              <a:defRPr/>
            </a:pPr>
            <a:r>
              <a:rPr lang="en-US" sz="1100" dirty="0">
                <a:solidFill>
                  <a:schemeClr val="bg1"/>
                </a:solidFill>
                <a:cs typeface="Arial" pitchFamily="34" charset="0"/>
              </a:rPr>
              <a:t>(Verb noun phrase</a:t>
            </a:r>
            <a:r>
              <a:rPr lang="en-US" sz="1100">
                <a:solidFill>
                  <a:schemeClr val="bg1"/>
                </a:solidFill>
                <a:cs typeface="Arial" pitchFamily="34" charset="0"/>
              </a:rPr>
              <a:t>,  </a:t>
            </a:r>
            <a:r>
              <a:rPr lang="en-US" sz="1100" smtClean="0">
                <a:solidFill>
                  <a:schemeClr val="bg1"/>
                </a:solidFill>
                <a:cs typeface="Arial" pitchFamily="34" charset="0"/>
              </a:rPr>
              <a:t/>
            </a:r>
            <a:br>
              <a:rPr lang="en-US" sz="1100" smtClean="0">
                <a:solidFill>
                  <a:schemeClr val="bg1"/>
                </a:solidFill>
                <a:cs typeface="Arial" pitchFamily="34" charset="0"/>
              </a:rPr>
            </a:br>
            <a:r>
              <a:rPr lang="en-US" sz="1100" smtClean="0">
                <a:solidFill>
                  <a:schemeClr val="bg1"/>
                </a:solidFill>
                <a:cs typeface="Arial" pitchFamily="34" charset="0"/>
              </a:rPr>
              <a:t>2-4 </a:t>
            </a:r>
            <a:r>
              <a:rPr lang="en-US" sz="1100" dirty="0">
                <a:solidFill>
                  <a:schemeClr val="bg1"/>
                </a:solidFill>
                <a:cs typeface="Arial" pitchFamily="34" charset="0"/>
              </a:rPr>
              <a:t>words</a:t>
            </a:r>
            <a:endParaRPr lang="en-US" sz="1100" dirty="0">
              <a:cs typeface="Arial" pitchFamily="34" charset="0"/>
            </a:endParaRPr>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dirty="0" smtClean="0"/>
              <a:t>Future Process Model – Process Step Catalog</a:t>
            </a:r>
          </a:p>
        </p:txBody>
      </p:sp>
      <p:graphicFrame>
        <p:nvGraphicFramePr>
          <p:cNvPr id="8" name="Table 7"/>
          <p:cNvGraphicFramePr>
            <a:graphicFrameLocks noGrp="1"/>
          </p:cNvGraphicFramePr>
          <p:nvPr/>
        </p:nvGraphicFramePr>
        <p:xfrm>
          <a:off x="1446214" y="1757680"/>
          <a:ext cx="9293976" cy="2052320"/>
        </p:xfrm>
        <a:graphic>
          <a:graphicData uri="http://schemas.openxmlformats.org/drawingml/2006/table">
            <a:tbl>
              <a:tblPr/>
              <a:tblGrid>
                <a:gridCol w="2222225"/>
                <a:gridCol w="842011"/>
                <a:gridCol w="842011"/>
                <a:gridCol w="842011"/>
                <a:gridCol w="842011"/>
                <a:gridCol w="3703707"/>
              </a:tblGrid>
              <a:tr h="386080">
                <a:tc>
                  <a:txBody>
                    <a:bodyPr/>
                    <a:lstStyle/>
                    <a:p>
                      <a:pPr marL="0" marR="0">
                        <a:spcBef>
                          <a:spcPts val="0"/>
                        </a:spcBef>
                        <a:spcAft>
                          <a:spcPts val="600"/>
                        </a:spcAft>
                      </a:pPr>
                      <a:r>
                        <a:rPr lang="en-US" sz="800" b="1">
                          <a:latin typeface="Arial"/>
                          <a:ea typeface="Times New Roman"/>
                          <a:cs typeface="Times New Roman"/>
                        </a:rPr>
                        <a:t>ID</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marL="0" marR="0">
                        <a:spcBef>
                          <a:spcPts val="0"/>
                        </a:spcBef>
                        <a:spcAft>
                          <a:spcPts val="600"/>
                        </a:spcAft>
                      </a:pPr>
                      <a:r>
                        <a:rPr lang="en-US" sz="800" b="1">
                          <a:latin typeface="Arial"/>
                          <a:ea typeface="Times New Roman"/>
                          <a:cs typeface="Times New Roman"/>
                        </a:rPr>
                        <a:t>Description</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600"/>
                        </a:spcAft>
                      </a:pPr>
                      <a:r>
                        <a:rPr lang="en-US" sz="800" b="1">
                          <a:latin typeface="Arial"/>
                          <a:ea typeface="Times New Roman"/>
                          <a:cs typeface="Times New Roman"/>
                        </a:rPr>
                        <a:t>Frequency</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6080">
                <a:tc gridSpan="5">
                  <a:txBody>
                    <a:bodyPr/>
                    <a:lstStyle/>
                    <a:p>
                      <a:pPr marL="0" marR="0">
                        <a:spcBef>
                          <a:spcPts val="0"/>
                        </a:spcBef>
                        <a:spcAft>
                          <a:spcPts val="600"/>
                        </a:spcAft>
                      </a:pPr>
                      <a:r>
                        <a:rPr lang="en-US" sz="800" b="1">
                          <a:latin typeface="Arial"/>
                          <a:ea typeface="Times New Roman"/>
                          <a:cs typeface="Times New Roman"/>
                        </a:rPr>
                        <a:t>Notes</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600"/>
                        </a:spcAft>
                      </a:pPr>
                      <a:r>
                        <a:rPr lang="en-US" sz="800" b="1">
                          <a:latin typeface="Arial"/>
                          <a:ea typeface="Times New Roman"/>
                          <a:cs typeface="Times New Roman"/>
                        </a:rPr>
                        <a:t>Automation</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6080">
                <a:tc gridSpan="3">
                  <a:txBody>
                    <a:bodyPr/>
                    <a:lstStyle/>
                    <a:p>
                      <a:pPr marL="0" marR="0">
                        <a:spcBef>
                          <a:spcPts val="0"/>
                        </a:spcBef>
                        <a:spcAft>
                          <a:spcPts val="600"/>
                        </a:spcAft>
                      </a:pPr>
                      <a:r>
                        <a:rPr lang="en-US" sz="800" b="1">
                          <a:latin typeface="Arial"/>
                          <a:ea typeface="Times New Roman"/>
                          <a:cs typeface="Times New Roman"/>
                        </a:rPr>
                        <a:t>Function Area</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gridSpan="3">
                  <a:txBody>
                    <a:bodyPr/>
                    <a:lstStyle/>
                    <a:p>
                      <a:pPr marL="0" marR="0">
                        <a:spcBef>
                          <a:spcPts val="0"/>
                        </a:spcBef>
                        <a:spcAft>
                          <a:spcPts val="600"/>
                        </a:spcAft>
                      </a:pPr>
                      <a:r>
                        <a:rPr lang="en-US" sz="800" b="1">
                          <a:latin typeface="Arial"/>
                          <a:ea typeface="Times New Roman"/>
                          <a:cs typeface="Times New Roman"/>
                        </a:rPr>
                        <a:t>Business Capability</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r h="386080">
                <a:tc>
                  <a:txBody>
                    <a:bodyPr/>
                    <a:lstStyle/>
                    <a:p>
                      <a:pPr marL="0" marR="0">
                        <a:spcBef>
                          <a:spcPts val="0"/>
                        </a:spcBef>
                        <a:spcAft>
                          <a:spcPts val="600"/>
                        </a:spcAft>
                      </a:pPr>
                      <a:r>
                        <a:rPr lang="en-US" sz="800" b="1">
                          <a:latin typeface="Arial"/>
                          <a:ea typeface="Times New Roman"/>
                          <a:cs typeface="Times New Roman"/>
                        </a:rPr>
                        <a:t>Output ID</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marL="0" marR="0">
                        <a:spcBef>
                          <a:spcPts val="0"/>
                        </a:spcBef>
                        <a:spcAft>
                          <a:spcPts val="600"/>
                        </a:spcAft>
                      </a:pPr>
                      <a:r>
                        <a:rPr lang="en-US" sz="800" b="1">
                          <a:latin typeface="Arial"/>
                          <a:ea typeface="Times New Roman"/>
                          <a:cs typeface="Times New Roman"/>
                        </a:rPr>
                        <a:t>Title</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600"/>
                        </a:spcAft>
                      </a:pPr>
                      <a:r>
                        <a:rPr lang="en-US" sz="800" b="1">
                          <a:latin typeface="Arial"/>
                          <a:ea typeface="Times New Roman"/>
                          <a:cs typeface="Times New Roman"/>
                        </a:rPr>
                        <a:t>Type</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8000">
                <a:tc gridSpan="2">
                  <a:txBody>
                    <a:bodyPr/>
                    <a:lstStyle/>
                    <a:p>
                      <a:pPr marL="0" marR="0">
                        <a:spcBef>
                          <a:spcPts val="0"/>
                        </a:spcBef>
                        <a:spcAft>
                          <a:spcPts val="600"/>
                        </a:spcAft>
                      </a:pPr>
                      <a:r>
                        <a:rPr lang="en-US" sz="800" b="1">
                          <a:latin typeface="Arial"/>
                          <a:ea typeface="Times New Roman"/>
                          <a:cs typeface="Times New Roman"/>
                        </a:rPr>
                        <a:t>Business Change</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marL="0" marR="0">
                        <a:spcBef>
                          <a:spcPts val="0"/>
                        </a:spcBef>
                        <a:spcAft>
                          <a:spcPts val="600"/>
                        </a:spcAft>
                      </a:pPr>
                      <a:r>
                        <a:rPr lang="en-US" sz="800" b="1">
                          <a:latin typeface="Arial"/>
                          <a:ea typeface="Times New Roman"/>
                          <a:cs typeface="Times New Roman"/>
                        </a:rPr>
                        <a:t>Expected Savings from Change</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marL="0" marR="0">
                        <a:spcBef>
                          <a:spcPts val="0"/>
                        </a:spcBef>
                        <a:spcAft>
                          <a:spcPts val="600"/>
                        </a:spcAft>
                      </a:pPr>
                      <a:r>
                        <a:rPr lang="en-US" sz="800" b="1" dirty="0">
                          <a:latin typeface="Arial"/>
                          <a:ea typeface="Times New Roman"/>
                          <a:cs typeface="Times New Roman"/>
                        </a:rPr>
                        <a:t>Expected Improvement from Change</a:t>
                      </a:r>
                      <a:endParaRPr lang="en-US" sz="1100" dirty="0">
                        <a:latin typeface="Arial"/>
                        <a:ea typeface="Times New Roman"/>
                        <a:cs typeface="Times New Roman"/>
                      </a:endParaRPr>
                    </a:p>
                    <a:p>
                      <a:pPr marL="0" marR="0">
                        <a:spcBef>
                          <a:spcPts val="0"/>
                        </a:spcBef>
                        <a:spcAft>
                          <a:spcPts val="600"/>
                        </a:spcAft>
                      </a:pPr>
                      <a:r>
                        <a:rPr lang="en-US" sz="1100" dirty="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en-US"/>
                    </a:p>
                  </a:txBody>
                  <a:tcPr/>
                </a:tc>
              </a:tr>
            </a:tbl>
          </a:graphicData>
        </a:graphic>
      </p:graphicFrame>
      <p:graphicFrame>
        <p:nvGraphicFramePr>
          <p:cNvPr id="9" name="Table 8"/>
          <p:cNvGraphicFramePr>
            <a:graphicFrameLocks noGrp="1"/>
          </p:cNvGraphicFramePr>
          <p:nvPr/>
        </p:nvGraphicFramePr>
        <p:xfrm>
          <a:off x="1446212" y="3815080"/>
          <a:ext cx="9293972" cy="2052320"/>
        </p:xfrm>
        <a:graphic>
          <a:graphicData uri="http://schemas.openxmlformats.org/drawingml/2006/table">
            <a:tbl>
              <a:tblPr/>
              <a:tblGrid>
                <a:gridCol w="2222222"/>
                <a:gridCol w="842011"/>
                <a:gridCol w="842011"/>
                <a:gridCol w="842011"/>
                <a:gridCol w="842011"/>
                <a:gridCol w="3703706"/>
              </a:tblGrid>
              <a:tr h="386080">
                <a:tc>
                  <a:txBody>
                    <a:bodyPr/>
                    <a:lstStyle/>
                    <a:p>
                      <a:pPr marL="0" marR="0">
                        <a:spcBef>
                          <a:spcPts val="0"/>
                        </a:spcBef>
                        <a:spcAft>
                          <a:spcPts val="600"/>
                        </a:spcAft>
                      </a:pPr>
                      <a:r>
                        <a:rPr lang="en-US" sz="800" b="1" dirty="0">
                          <a:latin typeface="Arial"/>
                          <a:ea typeface="Times New Roman"/>
                          <a:cs typeface="Times New Roman"/>
                        </a:rPr>
                        <a:t>ID</a:t>
                      </a:r>
                      <a:endParaRPr lang="en-US" sz="1100" dirty="0">
                        <a:latin typeface="Arial"/>
                        <a:ea typeface="Times New Roman"/>
                        <a:cs typeface="Times New Roman"/>
                      </a:endParaRPr>
                    </a:p>
                    <a:p>
                      <a:pPr marL="0" marR="0">
                        <a:spcBef>
                          <a:spcPts val="0"/>
                        </a:spcBef>
                        <a:spcAft>
                          <a:spcPts val="600"/>
                        </a:spcAft>
                      </a:pPr>
                      <a:r>
                        <a:rPr lang="en-US" sz="1100" dirty="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marL="0" marR="0">
                        <a:spcBef>
                          <a:spcPts val="0"/>
                        </a:spcBef>
                        <a:spcAft>
                          <a:spcPts val="600"/>
                        </a:spcAft>
                      </a:pPr>
                      <a:r>
                        <a:rPr lang="en-US" sz="800" b="1">
                          <a:latin typeface="Arial"/>
                          <a:ea typeface="Times New Roman"/>
                          <a:cs typeface="Times New Roman"/>
                        </a:rPr>
                        <a:t>Description</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600"/>
                        </a:spcAft>
                      </a:pPr>
                      <a:r>
                        <a:rPr lang="en-US" sz="800" b="1">
                          <a:latin typeface="Arial"/>
                          <a:ea typeface="Times New Roman"/>
                          <a:cs typeface="Times New Roman"/>
                        </a:rPr>
                        <a:t>Frequency</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6080">
                <a:tc gridSpan="5">
                  <a:txBody>
                    <a:bodyPr/>
                    <a:lstStyle/>
                    <a:p>
                      <a:pPr marL="0" marR="0">
                        <a:spcBef>
                          <a:spcPts val="0"/>
                        </a:spcBef>
                        <a:spcAft>
                          <a:spcPts val="600"/>
                        </a:spcAft>
                      </a:pPr>
                      <a:r>
                        <a:rPr lang="en-US" sz="800" b="1">
                          <a:latin typeface="Arial"/>
                          <a:ea typeface="Times New Roman"/>
                          <a:cs typeface="Times New Roman"/>
                        </a:rPr>
                        <a:t>Notes</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600"/>
                        </a:spcAft>
                      </a:pPr>
                      <a:r>
                        <a:rPr lang="en-US" sz="800" b="1">
                          <a:latin typeface="Arial"/>
                          <a:ea typeface="Times New Roman"/>
                          <a:cs typeface="Times New Roman"/>
                        </a:rPr>
                        <a:t>Automation</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6080">
                <a:tc gridSpan="3">
                  <a:txBody>
                    <a:bodyPr/>
                    <a:lstStyle/>
                    <a:p>
                      <a:pPr marL="0" marR="0">
                        <a:spcBef>
                          <a:spcPts val="0"/>
                        </a:spcBef>
                        <a:spcAft>
                          <a:spcPts val="600"/>
                        </a:spcAft>
                      </a:pPr>
                      <a:r>
                        <a:rPr lang="en-US" sz="800" b="1" dirty="0">
                          <a:latin typeface="Arial"/>
                          <a:ea typeface="Times New Roman"/>
                          <a:cs typeface="Times New Roman"/>
                        </a:rPr>
                        <a:t>Function Area</a:t>
                      </a:r>
                      <a:endParaRPr lang="en-US" sz="1100" dirty="0">
                        <a:latin typeface="Arial"/>
                        <a:ea typeface="Times New Roman"/>
                        <a:cs typeface="Times New Roman"/>
                      </a:endParaRPr>
                    </a:p>
                    <a:p>
                      <a:pPr marL="0" marR="0">
                        <a:spcBef>
                          <a:spcPts val="0"/>
                        </a:spcBef>
                        <a:spcAft>
                          <a:spcPts val="600"/>
                        </a:spcAft>
                      </a:pPr>
                      <a:r>
                        <a:rPr lang="en-US" sz="1100" dirty="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gridSpan="3">
                  <a:txBody>
                    <a:bodyPr/>
                    <a:lstStyle/>
                    <a:p>
                      <a:pPr marL="0" marR="0">
                        <a:spcBef>
                          <a:spcPts val="0"/>
                        </a:spcBef>
                        <a:spcAft>
                          <a:spcPts val="600"/>
                        </a:spcAft>
                      </a:pPr>
                      <a:r>
                        <a:rPr lang="en-US" sz="800" b="1" dirty="0">
                          <a:latin typeface="Arial"/>
                          <a:ea typeface="Times New Roman"/>
                          <a:cs typeface="Times New Roman"/>
                        </a:rPr>
                        <a:t>Business Capability</a:t>
                      </a:r>
                      <a:endParaRPr lang="en-US" sz="1100" dirty="0">
                        <a:latin typeface="Arial"/>
                        <a:ea typeface="Times New Roman"/>
                        <a:cs typeface="Times New Roman"/>
                      </a:endParaRPr>
                    </a:p>
                    <a:p>
                      <a:pPr marL="0" marR="0">
                        <a:spcBef>
                          <a:spcPts val="0"/>
                        </a:spcBef>
                        <a:spcAft>
                          <a:spcPts val="600"/>
                        </a:spcAft>
                      </a:pPr>
                      <a:r>
                        <a:rPr lang="en-US" sz="1100" dirty="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r h="386080">
                <a:tc>
                  <a:txBody>
                    <a:bodyPr/>
                    <a:lstStyle/>
                    <a:p>
                      <a:pPr marL="0" marR="0">
                        <a:spcBef>
                          <a:spcPts val="0"/>
                        </a:spcBef>
                        <a:spcAft>
                          <a:spcPts val="600"/>
                        </a:spcAft>
                      </a:pPr>
                      <a:r>
                        <a:rPr lang="en-US" sz="800" b="1">
                          <a:latin typeface="Arial"/>
                          <a:ea typeface="Times New Roman"/>
                          <a:cs typeface="Times New Roman"/>
                        </a:rPr>
                        <a:t>Output ID</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marL="0" marR="0">
                        <a:spcBef>
                          <a:spcPts val="0"/>
                        </a:spcBef>
                        <a:spcAft>
                          <a:spcPts val="600"/>
                        </a:spcAft>
                      </a:pPr>
                      <a:r>
                        <a:rPr lang="en-US" sz="800" b="1">
                          <a:latin typeface="Arial"/>
                          <a:ea typeface="Times New Roman"/>
                          <a:cs typeface="Times New Roman"/>
                        </a:rPr>
                        <a:t>Title</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600"/>
                        </a:spcAft>
                      </a:pPr>
                      <a:r>
                        <a:rPr lang="en-US" sz="800" b="1">
                          <a:latin typeface="Arial"/>
                          <a:ea typeface="Times New Roman"/>
                          <a:cs typeface="Times New Roman"/>
                        </a:rPr>
                        <a:t>Type</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8000">
                <a:tc gridSpan="2">
                  <a:txBody>
                    <a:bodyPr/>
                    <a:lstStyle/>
                    <a:p>
                      <a:pPr marL="0" marR="0">
                        <a:spcBef>
                          <a:spcPts val="0"/>
                        </a:spcBef>
                        <a:spcAft>
                          <a:spcPts val="600"/>
                        </a:spcAft>
                      </a:pPr>
                      <a:r>
                        <a:rPr lang="en-US" sz="800" b="1">
                          <a:latin typeface="Arial"/>
                          <a:ea typeface="Times New Roman"/>
                          <a:cs typeface="Times New Roman"/>
                        </a:rPr>
                        <a:t>Business Change</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marL="0" marR="0">
                        <a:spcBef>
                          <a:spcPts val="0"/>
                        </a:spcBef>
                        <a:spcAft>
                          <a:spcPts val="600"/>
                        </a:spcAft>
                      </a:pPr>
                      <a:r>
                        <a:rPr lang="en-US" sz="800" b="1">
                          <a:latin typeface="Arial"/>
                          <a:ea typeface="Times New Roman"/>
                          <a:cs typeface="Times New Roman"/>
                        </a:rPr>
                        <a:t>Expected Savings from Change</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marL="0" marR="0">
                        <a:spcBef>
                          <a:spcPts val="0"/>
                        </a:spcBef>
                        <a:spcAft>
                          <a:spcPts val="600"/>
                        </a:spcAft>
                      </a:pPr>
                      <a:r>
                        <a:rPr lang="en-US" sz="800" b="1" dirty="0">
                          <a:latin typeface="Arial"/>
                          <a:ea typeface="Times New Roman"/>
                          <a:cs typeface="Times New Roman"/>
                        </a:rPr>
                        <a:t>Expected Improvement from Change</a:t>
                      </a:r>
                      <a:endParaRPr lang="en-US" sz="1100" dirty="0">
                        <a:latin typeface="Arial"/>
                        <a:ea typeface="Times New Roman"/>
                        <a:cs typeface="Times New Roman"/>
                      </a:endParaRPr>
                    </a:p>
                    <a:p>
                      <a:pPr marL="0" marR="0">
                        <a:spcBef>
                          <a:spcPts val="0"/>
                        </a:spcBef>
                        <a:spcAft>
                          <a:spcPts val="600"/>
                        </a:spcAft>
                      </a:pPr>
                      <a:r>
                        <a:rPr lang="en-US" sz="1100" dirty="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en-US"/>
                    </a:p>
                  </a:txBody>
                  <a:tcPr/>
                </a:tc>
              </a:tr>
            </a:tbl>
          </a:graphicData>
        </a:graphic>
      </p:graphicFrame>
    </p:spTree>
  </p:cSld>
  <p:clrMapOvr>
    <a:masterClrMapping/>
  </p:clrMapOvr>
  <p:transition spd="med">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 xmlns:thm15="http://schemas.microsoft.com/office/thememl/2012/main"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30</TotalTime>
  <Words>174</Words>
  <Application>Microsoft Office PowerPoint</Application>
  <PresentationFormat>Custom</PresentationFormat>
  <Paragraphs>68</Paragraphs>
  <Slides>2</Slides>
  <Notes>1</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blank</vt:lpstr>
      <vt:lpstr>Future Process Model Template  </vt:lpstr>
      <vt:lpstr>Future Process Model – Process Step Catalog</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RD.011 Future Process Model</dc:title>
  <dc:creator>Oracle Global Methods</dc:creator>
  <cp:keywords>OUM</cp:keywords>
  <dc:description>Copyright © 2014 Oracle and/or its affiliates.  All rights reserved.</dc:description>
  <cp:lastModifiedBy>masander</cp:lastModifiedBy>
  <cp:revision>8</cp:revision>
  <dcterms:created xsi:type="dcterms:W3CDTF">2014-06-17T19:24:55Z</dcterms:created>
  <dcterms:modified xsi:type="dcterms:W3CDTF">2014-06-27T16:56:53Z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